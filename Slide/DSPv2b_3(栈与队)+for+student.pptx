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89"/>
  </p:notesMasterIdLst>
  <p:sldIdLst>
    <p:sldId id="497" r:id="rId3"/>
    <p:sldId id="262" r:id="rId4"/>
    <p:sldId id="263" r:id="rId5"/>
    <p:sldId id="322" r:id="rId6"/>
    <p:sldId id="264" r:id="rId7"/>
    <p:sldId id="265" r:id="rId8"/>
    <p:sldId id="266" r:id="rId9"/>
    <p:sldId id="267" r:id="rId10"/>
    <p:sldId id="268" r:id="rId11"/>
    <p:sldId id="269" r:id="rId12"/>
    <p:sldId id="323" r:id="rId13"/>
    <p:sldId id="270" r:id="rId14"/>
    <p:sldId id="271" r:id="rId15"/>
    <p:sldId id="272" r:id="rId16"/>
    <p:sldId id="273" r:id="rId17"/>
    <p:sldId id="274" r:id="rId18"/>
    <p:sldId id="275" r:id="rId19"/>
    <p:sldId id="276" r:id="rId20"/>
    <p:sldId id="277" r:id="rId21"/>
    <p:sldId id="278" r:id="rId22"/>
    <p:sldId id="279" r:id="rId23"/>
    <p:sldId id="281" r:id="rId24"/>
    <p:sldId id="282" r:id="rId25"/>
    <p:sldId id="283" r:id="rId26"/>
    <p:sldId id="284" r:id="rId27"/>
    <p:sldId id="285" r:id="rId28"/>
    <p:sldId id="286" r:id="rId29"/>
    <p:sldId id="287" r:id="rId30"/>
    <p:sldId id="288" r:id="rId31"/>
    <p:sldId id="324" r:id="rId32"/>
    <p:sldId id="325" r:id="rId33"/>
    <p:sldId id="326" r:id="rId34"/>
    <p:sldId id="329" r:id="rId35"/>
    <p:sldId id="327" r:id="rId36"/>
    <p:sldId id="328" r:id="rId37"/>
    <p:sldId id="344" r:id="rId38"/>
    <p:sldId id="350" r:id="rId39"/>
    <p:sldId id="351" r:id="rId40"/>
    <p:sldId id="352" r:id="rId41"/>
    <p:sldId id="330" r:id="rId42"/>
    <p:sldId id="331" r:id="rId43"/>
    <p:sldId id="332" r:id="rId44"/>
    <p:sldId id="333" r:id="rId45"/>
    <p:sldId id="289" r:id="rId46"/>
    <p:sldId id="290" r:id="rId47"/>
    <p:sldId id="291" r:id="rId48"/>
    <p:sldId id="292" r:id="rId49"/>
    <p:sldId id="293" r:id="rId50"/>
    <p:sldId id="334" r:id="rId51"/>
    <p:sldId id="296" r:id="rId52"/>
    <p:sldId id="297" r:id="rId53"/>
    <p:sldId id="353" r:id="rId54"/>
    <p:sldId id="354" r:id="rId55"/>
    <p:sldId id="298" r:id="rId56"/>
    <p:sldId id="299" r:id="rId57"/>
    <p:sldId id="300" r:id="rId58"/>
    <p:sldId id="498" r:id="rId59"/>
    <p:sldId id="301" r:id="rId60"/>
    <p:sldId id="302" r:id="rId61"/>
    <p:sldId id="337" r:id="rId62"/>
    <p:sldId id="303" r:id="rId63"/>
    <p:sldId id="304" r:id="rId64"/>
    <p:sldId id="305" r:id="rId65"/>
    <p:sldId id="306" r:id="rId66"/>
    <p:sldId id="309" r:id="rId67"/>
    <p:sldId id="310" r:id="rId68"/>
    <p:sldId id="311" r:id="rId69"/>
    <p:sldId id="312" r:id="rId70"/>
    <p:sldId id="313" r:id="rId71"/>
    <p:sldId id="314" r:id="rId72"/>
    <p:sldId id="315" r:id="rId73"/>
    <p:sldId id="316" r:id="rId74"/>
    <p:sldId id="317" r:id="rId75"/>
    <p:sldId id="338" r:id="rId76"/>
    <p:sldId id="339" r:id="rId77"/>
    <p:sldId id="340" r:id="rId78"/>
    <p:sldId id="341" r:id="rId79"/>
    <p:sldId id="342" r:id="rId80"/>
    <p:sldId id="343" r:id="rId81"/>
    <p:sldId id="346" r:id="rId82"/>
    <p:sldId id="349" r:id="rId83"/>
    <p:sldId id="318" r:id="rId84"/>
    <p:sldId id="319" r:id="rId85"/>
    <p:sldId id="320" r:id="rId86"/>
    <p:sldId id="321" r:id="rId87"/>
    <p:sldId id="260" r:id="rId8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30" end="88"/>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7" d="100"/>
          <a:sy n="87" d="100"/>
        </p:scale>
        <p:origin x="499" y="62"/>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notesMaster" Target="notesMasters/notesMaster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presProps" Target="pres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heme" Target="theme/theme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9.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F806877-4418-4F4E-A2C6-3EF7A69D3004}" type="datetimeFigureOut">
              <a:rPr lang="zh-CN" altLang="en-US" smtClean="0"/>
              <a:pPr/>
              <a:t>2025/3/27</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25FB9B-91CA-4EC1-A365-86E821EF3C4D}" type="slidenum">
              <a:rPr lang="zh-CN" altLang="en-US" smtClean="0"/>
              <a:pPr/>
              <a:t>‹#›</a:t>
            </a:fld>
            <a:endParaRPr lang="zh-CN" altLang="en-US"/>
          </a:p>
        </p:txBody>
      </p:sp>
    </p:spTree>
    <p:extLst>
      <p:ext uri="{BB962C8B-B14F-4D97-AF65-F5344CB8AC3E}">
        <p14:creationId xmlns:p14="http://schemas.microsoft.com/office/powerpoint/2010/main" val="3431275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a:xfrm>
            <a:off x="381000" y="685800"/>
            <a:ext cx="6096000" cy="3429000"/>
          </a:xfrm>
          <a:ln/>
        </p:spPr>
      </p:sp>
      <p:sp>
        <p:nvSpPr>
          <p:cNvPr id="90115" name="备注占位符 2"/>
          <p:cNvSpPr>
            <a:spLocks noGrp="1"/>
          </p:cNvSpPr>
          <p:nvPr>
            <p:ph type="body" idx="1"/>
          </p:nvPr>
        </p:nvSpPr>
        <p:spPr>
          <a:noFill/>
          <a:ln w="9525"/>
        </p:spPr>
        <p:txBody>
          <a:bodyPr/>
          <a:lstStyle/>
          <a:p>
            <a:r>
              <a:rPr lang="zh-CN" altLang="en-US">
                <a:ea typeface="宋体" charset="-122"/>
              </a:rPr>
              <a:t>现实生活中的栈的例子：比如，航班登机，拥挤的大巴上客，摞起来的盘子，弹夹装弹和射击时出弹</a:t>
            </a:r>
            <a:endParaRPr lang="en-US" altLang="zh-CN">
              <a:ea typeface="宋体" charset="-122"/>
            </a:endParaRPr>
          </a:p>
          <a:p>
            <a:r>
              <a:rPr lang="zh-CN" altLang="en-US">
                <a:ea typeface="宋体" charset="-122"/>
              </a:rPr>
              <a:t>软件方面的应用：函数的逐级调用。</a:t>
            </a:r>
            <a:endParaRPr lang="en-US" altLang="zh-CN">
              <a:ea typeface="宋体" charset="-122"/>
            </a:endParaRPr>
          </a:p>
          <a:p>
            <a:endParaRPr lang="zh-CN" altLang="en-US">
              <a:ea typeface="宋体" charset="-122"/>
            </a:endParaRPr>
          </a:p>
        </p:txBody>
      </p:sp>
      <p:sp>
        <p:nvSpPr>
          <p:cNvPr id="90116" name="灯片编号占位符 3"/>
          <p:cNvSpPr>
            <a:spLocks noGrp="1"/>
          </p:cNvSpPr>
          <p:nvPr>
            <p:ph type="sldNum" sz="quarter" idx="5"/>
          </p:nvPr>
        </p:nvSpPr>
        <p:spPr>
          <a:noFill/>
        </p:spPr>
        <p:txBody>
          <a:bodyPr/>
          <a:lstStyle/>
          <a:p>
            <a:fld id="{17E5856D-5A33-418B-BDFF-D20C7902DEB4}" type="slidenum">
              <a:rPr lang="zh-CN" altLang="en-US" smtClean="0">
                <a:ea typeface="宋体" charset="-122"/>
              </a:rPr>
              <a:pPr/>
              <a:t>3</a:t>
            </a:fld>
            <a:endParaRPr lang="en-US" altLang="zh-CN">
              <a:ea typeface="宋体"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F1451660-495C-46F8-8D13-68ABB35B8F0A}" type="slidenum">
              <a:rPr lang="zh-CN" altLang="en-US" smtClean="0">
                <a:ea typeface="宋体" charset="-122"/>
              </a:rPr>
              <a:pPr/>
              <a:t>5</a:t>
            </a:fld>
            <a:endParaRPr lang="en-US" altLang="zh-CN">
              <a:ea typeface="宋体" charset="-122"/>
            </a:endParaRPr>
          </a:p>
        </p:txBody>
      </p:sp>
      <p:sp>
        <p:nvSpPr>
          <p:cNvPr id="91139" name="Rectangle 2"/>
          <p:cNvSpPr>
            <a:spLocks noGrp="1" noRot="1" noChangeAspect="1" noChangeArrowheads="1" noTextEdit="1"/>
          </p:cNvSpPr>
          <p:nvPr>
            <p:ph type="sldImg"/>
          </p:nvPr>
        </p:nvSpPr>
        <p:spPr>
          <a:xfrm>
            <a:off x="381000" y="685800"/>
            <a:ext cx="6096000" cy="3429000"/>
          </a:xfrm>
          <a:ln/>
        </p:spPr>
      </p:sp>
      <p:sp>
        <p:nvSpPr>
          <p:cNvPr id="91140" name="Rectangle 3"/>
          <p:cNvSpPr>
            <a:spLocks noGrp="1" noChangeArrowheads="1"/>
          </p:cNvSpPr>
          <p:nvPr>
            <p:ph type="body" idx="1"/>
          </p:nvPr>
        </p:nvSpPr>
        <p:spPr>
          <a:noFill/>
          <a:ln w="9525"/>
        </p:spPr>
        <p:txBody>
          <a:bodyPr/>
          <a:lstStyle/>
          <a:p>
            <a:pPr eaLnBrk="1" hangingPunct="1"/>
            <a:endParaRPr lang="zh-CN" altLang="en-US">
              <a:ea typeface="宋体"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F0942BFF-3A1A-4AA7-99D8-ED9FB313B961}" type="slidenum">
              <a:rPr lang="zh-CN" altLang="en-US" smtClean="0">
                <a:ea typeface="宋体" charset="-122"/>
              </a:rPr>
              <a:pPr/>
              <a:t>6</a:t>
            </a:fld>
            <a:endParaRPr lang="en-US" altLang="zh-CN">
              <a:ea typeface="宋体" charset="-122"/>
            </a:endParaRPr>
          </a:p>
        </p:txBody>
      </p:sp>
      <p:sp>
        <p:nvSpPr>
          <p:cNvPr id="92163" name="Rectangle 2"/>
          <p:cNvSpPr>
            <a:spLocks noGrp="1" noRot="1" noChangeAspect="1" noChangeArrowheads="1" noTextEdit="1"/>
          </p:cNvSpPr>
          <p:nvPr>
            <p:ph type="sldImg"/>
          </p:nvPr>
        </p:nvSpPr>
        <p:spPr>
          <a:xfrm>
            <a:off x="381000" y="685800"/>
            <a:ext cx="6096000" cy="3429000"/>
          </a:xfrm>
          <a:ln/>
        </p:spPr>
      </p:sp>
      <p:sp>
        <p:nvSpPr>
          <p:cNvPr id="92164" name="Rectangle 3"/>
          <p:cNvSpPr>
            <a:spLocks noGrp="1" noChangeArrowheads="1"/>
          </p:cNvSpPr>
          <p:nvPr>
            <p:ph type="body" idx="1"/>
          </p:nvPr>
        </p:nvSpPr>
        <p:spPr>
          <a:noFill/>
          <a:ln w="9525"/>
        </p:spPr>
        <p:txBody>
          <a:bodyPr/>
          <a:lstStyle/>
          <a:p>
            <a:pPr eaLnBrk="1" hangingPunct="1"/>
            <a:endParaRPr lang="zh-CN" altLang="en-US">
              <a:ea typeface="宋体"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p>
            <a:fld id="{3DB97F91-C62B-4DBD-AD2F-168409F23288}" type="slidenum">
              <a:rPr lang="en-US" altLang="zh-CN" smtClean="0"/>
              <a:pPr/>
              <a:t>37</a:t>
            </a:fld>
            <a:endParaRPr lang="en-US" altLang="zh-CN"/>
          </a:p>
        </p:txBody>
      </p:sp>
      <p:sp>
        <p:nvSpPr>
          <p:cNvPr id="134147" name="Rectangle 2"/>
          <p:cNvSpPr>
            <a:spLocks noGrp="1" noRot="1" noChangeAspect="1" noChangeArrowheads="1" noTextEdit="1"/>
          </p:cNvSpPr>
          <p:nvPr>
            <p:ph type="sldImg"/>
          </p:nvPr>
        </p:nvSpPr>
        <p:spPr>
          <a:xfrm>
            <a:off x="381000" y="685800"/>
            <a:ext cx="6096000" cy="3429000"/>
          </a:xfrm>
          <a:ln/>
        </p:spPr>
      </p:sp>
      <p:sp>
        <p:nvSpPr>
          <p:cNvPr id="134148"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fld id="{8D59F0EA-3882-4785-8B28-D29F84DCC5C1}" type="slidenum">
              <a:rPr lang="en-US" altLang="zh-CN" smtClean="0"/>
              <a:pPr/>
              <a:t>38</a:t>
            </a:fld>
            <a:endParaRPr lang="en-US" altLang="zh-CN"/>
          </a:p>
        </p:txBody>
      </p:sp>
      <p:sp>
        <p:nvSpPr>
          <p:cNvPr id="135171" name="Rectangle 2"/>
          <p:cNvSpPr>
            <a:spLocks noGrp="1" noRot="1" noChangeAspect="1" noChangeArrowheads="1" noTextEdit="1"/>
          </p:cNvSpPr>
          <p:nvPr>
            <p:ph type="sldImg"/>
          </p:nvPr>
        </p:nvSpPr>
        <p:spPr>
          <a:xfrm>
            <a:off x="381000" y="685800"/>
            <a:ext cx="6096000" cy="3429000"/>
          </a:xfrm>
          <a:ln/>
        </p:spPr>
      </p:sp>
      <p:sp>
        <p:nvSpPr>
          <p:cNvPr id="135172"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p>
            <a:fld id="{F50E30E9-DB14-49BB-805B-89CBC96E1552}" type="slidenum">
              <a:rPr lang="en-US" altLang="zh-CN" smtClean="0"/>
              <a:pPr/>
              <a:t>39</a:t>
            </a:fld>
            <a:endParaRPr lang="en-US" altLang="zh-CN"/>
          </a:p>
        </p:txBody>
      </p:sp>
      <p:sp>
        <p:nvSpPr>
          <p:cNvPr id="136195" name="Rectangle 2"/>
          <p:cNvSpPr>
            <a:spLocks noGrp="1" noRot="1" noChangeAspect="1" noChangeArrowheads="1" noTextEdit="1"/>
          </p:cNvSpPr>
          <p:nvPr>
            <p:ph type="sldImg"/>
          </p:nvPr>
        </p:nvSpPr>
        <p:spPr>
          <a:xfrm>
            <a:off x="381000" y="685800"/>
            <a:ext cx="6096000" cy="3429000"/>
          </a:xfrm>
          <a:ln/>
        </p:spPr>
      </p:sp>
      <p:sp>
        <p:nvSpPr>
          <p:cNvPr id="136196"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B25FB9B-91CA-4EC1-A365-86E821EF3C4D}" type="slidenum">
              <a:rPr lang="zh-CN" altLang="en-US" smtClean="0"/>
              <a:pPr/>
              <a:t>49</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B25FB9B-91CA-4EC1-A365-86E821EF3C4D}" type="slidenum">
              <a:rPr lang="zh-CN" altLang="en-US" smtClean="0"/>
              <a:pPr/>
              <a:t>51</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p>
            <a:fld id="{40759D50-981C-41F4-B620-FE8F1DC7DB6D}" type="slidenum">
              <a:rPr lang="en-US" altLang="zh-CN" smtClean="0"/>
              <a:pPr/>
              <a:t>52</a:t>
            </a:fld>
            <a:endParaRPr lang="en-US" altLang="zh-CN"/>
          </a:p>
        </p:txBody>
      </p:sp>
      <p:sp>
        <p:nvSpPr>
          <p:cNvPr id="125955" name="Rectangle 2"/>
          <p:cNvSpPr>
            <a:spLocks noGrp="1" noRot="1" noChangeAspect="1" noChangeArrowheads="1" noTextEdit="1"/>
          </p:cNvSpPr>
          <p:nvPr>
            <p:ph type="sldImg"/>
          </p:nvPr>
        </p:nvSpPr>
        <p:spPr>
          <a:xfrm>
            <a:off x="381000" y="685800"/>
            <a:ext cx="6096000" cy="3429000"/>
          </a:xfrm>
          <a:ln/>
        </p:spPr>
      </p:sp>
      <p:sp>
        <p:nvSpPr>
          <p:cNvPr id="125956"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p:spPr>
        <p:txBody>
          <a:bodyPr/>
          <a:lstStyle/>
          <a:p>
            <a:fld id="{A9A4CA81-8A47-41B1-97A5-58B9C7D07A85}" type="slidenum">
              <a:rPr lang="en-US" altLang="zh-CN" smtClean="0"/>
              <a:pPr/>
              <a:t>53</a:t>
            </a:fld>
            <a:endParaRPr lang="en-US" altLang="zh-CN"/>
          </a:p>
        </p:txBody>
      </p:sp>
      <p:sp>
        <p:nvSpPr>
          <p:cNvPr id="126979" name="Rectangle 2"/>
          <p:cNvSpPr>
            <a:spLocks noGrp="1" noRot="1" noChangeAspect="1" noChangeArrowheads="1" noTextEdit="1"/>
          </p:cNvSpPr>
          <p:nvPr>
            <p:ph type="sldImg"/>
          </p:nvPr>
        </p:nvSpPr>
        <p:spPr>
          <a:xfrm>
            <a:off x="381000" y="685800"/>
            <a:ext cx="6096000" cy="3429000"/>
          </a:xfrm>
          <a:ln/>
        </p:spPr>
      </p:sp>
      <p:sp>
        <p:nvSpPr>
          <p:cNvPr id="126980"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25FB9B-91CA-4EC1-A365-86E821EF3C4D}" type="slidenum">
              <a:rPr lang="zh-CN" altLang="en-US" smtClean="0"/>
              <a:pPr/>
              <a:t>78</a:t>
            </a:fld>
            <a:endParaRPr lang="zh-CN" altLang="en-US"/>
          </a:p>
        </p:txBody>
      </p:sp>
    </p:spTree>
    <p:extLst>
      <p:ext uri="{BB962C8B-B14F-4D97-AF65-F5344CB8AC3E}">
        <p14:creationId xmlns:p14="http://schemas.microsoft.com/office/powerpoint/2010/main" val="211545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2.xml"/><Relationship Id="rId1" Type="http://schemas.openxmlformats.org/officeDocument/2006/relationships/vmlDrawing" Target="../drawings/vmlDrawing2.v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oleObject" Target="../embeddings/oleObject2.bin"/></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2.xml"/><Relationship Id="rId1" Type="http://schemas.openxmlformats.org/officeDocument/2006/relationships/vmlDrawing" Target="../drawings/vmlDrawing3.v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oleObject" Target="../embeddings/oleObject3.bin"/></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2.xml"/><Relationship Id="rId1" Type="http://schemas.openxmlformats.org/officeDocument/2006/relationships/vmlDrawing" Target="../drawings/vmlDrawing4.v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oleObject" Target="../embeddings/oleObject4.bin"/></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6.jpeg"/><Relationship Id="rId7"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vmlDrawing" Target="../drawings/vmlDrawing5.vml"/><Relationship Id="rId6" Type="http://schemas.openxmlformats.org/officeDocument/2006/relationships/image" Target="../media/image7.png"/><Relationship Id="rId5" Type="http://schemas.openxmlformats.org/officeDocument/2006/relationships/image" Target="../media/image5.png"/><Relationship Id="rId10" Type="http://schemas.openxmlformats.org/officeDocument/2006/relationships/oleObject" Target="../embeddings/oleObject7.bin"/><Relationship Id="rId4" Type="http://schemas.openxmlformats.org/officeDocument/2006/relationships/oleObject" Target="../embeddings/oleObject5.bin"/><Relationship Id="rId9"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2.xml"/><Relationship Id="rId1" Type="http://schemas.openxmlformats.org/officeDocument/2006/relationships/vmlDrawing" Target="../drawings/vmlDrawing6.v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oleObject" Target="../embeddings/oleObject8.bin"/></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470381"/>
            <a:ext cx="9144000" cy="2387600"/>
          </a:xfrm>
        </p:spPr>
        <p:txBody>
          <a:bodyPr anchor="b"/>
          <a:lstStyle>
            <a:lvl1pPr algn="ctr">
              <a:defRPr sz="6000"/>
            </a:lvl1pPr>
          </a:lstStyle>
          <a:p>
            <a:r>
              <a:rPr lang="zh-CN" altLang="en-US"/>
              <a:t>单击此处编辑母版标题样式</a:t>
            </a:r>
            <a:endParaRPr lang="zh-CN" altLang="en-US" dirty="0"/>
          </a:p>
        </p:txBody>
      </p:sp>
      <p:sp>
        <p:nvSpPr>
          <p:cNvPr id="3" name="副标题 2"/>
          <p:cNvSpPr>
            <a:spLocks noGrp="1"/>
          </p:cNvSpPr>
          <p:nvPr>
            <p:ph type="subTitle" idx="1"/>
          </p:nvPr>
        </p:nvSpPr>
        <p:spPr>
          <a:xfrm>
            <a:off x="1524000" y="3950056"/>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pic>
        <p:nvPicPr>
          <p:cNvPr id="7" name="图片 6" descr="C:\Users\len\Desktop\7-140129231040534.png">
            <a:extLst>
              <a:ext uri="{FF2B5EF4-FFF2-40B4-BE49-F238E27FC236}">
                <a16:creationId xmlns:a16="http://schemas.microsoft.com/office/drawing/2014/main" id="{25584F60-1743-47D3-80C9-4D83B06D528B}"/>
              </a:ext>
            </a:extLst>
          </p:cNvPr>
          <p:cNvPicPr/>
          <p:nvPr/>
        </p:nvPicPr>
        <p:blipFill rotWithShape="1">
          <a:blip r:embed="rId2" cstate="email">
            <a:extLst>
              <a:ext uri="{28A0092B-C50C-407E-A947-70E740481C1C}">
                <a14:useLocalDpi xmlns:a14="http://schemas.microsoft.com/office/drawing/2010/main" val="0"/>
              </a:ext>
            </a:extLst>
          </a:blip>
          <a:srcRect/>
          <a:stretch>
            <a:fillRect/>
          </a:stretch>
        </p:blipFill>
        <p:spPr bwMode="auto">
          <a:xfrm>
            <a:off x="5229" y="99025"/>
            <a:ext cx="5111520" cy="1080000"/>
          </a:xfrm>
          <a:prstGeom prst="rect">
            <a:avLst/>
          </a:prstGeom>
          <a:noFill/>
          <a:ln>
            <a:noFill/>
          </a:ln>
        </p:spPr>
      </p:pic>
      <p:pic>
        <p:nvPicPr>
          <p:cNvPr id="8" name="图片 9" descr="20100914173821095744.jpg">
            <a:extLst>
              <a:ext uri="{FF2B5EF4-FFF2-40B4-BE49-F238E27FC236}">
                <a16:creationId xmlns:a16="http://schemas.microsoft.com/office/drawing/2014/main" id="{08E8F41D-86FF-43D8-9D1A-9157DFF8AD0D}"/>
              </a:ext>
            </a:extLst>
          </p:cNvPr>
          <p:cNvPicPr>
            <a:picLocks noChangeAspect="1"/>
          </p:cNvPicPr>
          <p:nvPr/>
        </p:nvPicPr>
        <p:blipFill rotWithShape="1">
          <a:blip r:embed="rId3" cstate="email">
            <a:extLst>
              <a:ext uri="{28A0092B-C50C-407E-A947-70E740481C1C}">
                <a14:useLocalDpi xmlns:a14="http://schemas.microsoft.com/office/drawing/2010/main" val="0"/>
              </a:ext>
            </a:extLst>
          </a:blip>
          <a:srcRect/>
          <a:stretch>
            <a:fillRect/>
          </a:stretch>
        </p:blipFill>
        <p:spPr bwMode="auto">
          <a:xfrm>
            <a:off x="6098622" y="99024"/>
            <a:ext cx="2947924" cy="1080000"/>
          </a:xfrm>
          <a:prstGeom prst="rect">
            <a:avLst/>
          </a:prstGeom>
          <a:ln w="38100">
            <a:noFill/>
            <a:miter lim="800000"/>
            <a:headEnd/>
            <a:tailEnd/>
          </a:ln>
          <a:effectLst>
            <a:outerShdw blurRad="50800" dist="38100" dir="2700000" algn="tl" rotWithShape="0">
              <a:srgbClr val="000000">
                <a:alpha val="43000"/>
              </a:srgbClr>
            </a:outerShdw>
          </a:effectLst>
        </p:spPr>
      </p:pic>
      <p:pic>
        <p:nvPicPr>
          <p:cNvPr id="9" name="Picture 6" descr="C:\Users\lenovo\Desktop\030.jpg">
            <a:extLst>
              <a:ext uri="{FF2B5EF4-FFF2-40B4-BE49-F238E27FC236}">
                <a16:creationId xmlns:a16="http://schemas.microsoft.com/office/drawing/2014/main" id="{2E8AD5D8-0839-434F-B1D9-1E621675DD33}"/>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9129182" y="99024"/>
            <a:ext cx="2954999" cy="1080000"/>
          </a:xfrm>
          <a:prstGeom prst="rect">
            <a:avLst/>
          </a:prstGeom>
          <a:ln w="38100">
            <a:noFill/>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6273485"/>
      </p:ext>
    </p:extLst>
  </p:cSld>
  <p:clrMapOvr>
    <a:masterClrMapping/>
  </p:clrMapOvr>
  <p:transition>
    <p:fade/>
  </p:transition>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136525"/>
            <a:ext cx="10515600" cy="690113"/>
          </a:xfrm>
        </p:spPr>
        <p:txBody>
          <a:bodyPr>
            <a:noAutofit/>
          </a:bodyPr>
          <a:lstStyle>
            <a:lvl1pPr>
              <a:defRPr sz="3600">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544285" y="1168141"/>
            <a:ext cx="10515600" cy="4351338"/>
          </a:xfrm>
        </p:spPr>
        <p:txBody>
          <a:bodyPr/>
          <a:lstStyle>
            <a:lvl1pPr>
              <a:buFont typeface="Wingdings" panose="05000000000000000000" pitchFamily="2" charset="2"/>
              <a:buChar char="l"/>
              <a:defRPr>
                <a:latin typeface="微软雅黑" panose="020B0503020204020204" pitchFamily="34" charset="-122"/>
                <a:ea typeface="微软雅黑" panose="020B0503020204020204" pitchFamily="34" charset="-122"/>
              </a:defRPr>
            </a:lvl1pPr>
            <a:lvl2pPr>
              <a:buFont typeface="Wingdings" panose="05000000000000000000" pitchFamily="2" charset="2"/>
              <a:buChar char="Ø"/>
              <a:defRPr>
                <a:latin typeface="微软雅黑" panose="020B0503020204020204" pitchFamily="34" charset="-122"/>
                <a:ea typeface="微软雅黑" panose="020B0503020204020204" pitchFamily="34" charset="-122"/>
              </a:defRPr>
            </a:lvl2pPr>
            <a:lvl3pPr>
              <a:buFont typeface="Wingdings" panose="05000000000000000000" pitchFamily="2" charset="2"/>
              <a:buChar char="ü"/>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a:xfrm>
            <a:off x="9231085" y="6352721"/>
            <a:ext cx="2743200" cy="365125"/>
          </a:xfrm>
        </p:spPr>
        <p:txBody>
          <a:bodyPr/>
          <a:lstStyle/>
          <a:p>
            <a:pPr>
              <a:defRPr/>
            </a:pPr>
            <a:fld id="{EE5104C4-9BBA-4869-957B-C459F96FE33D}" type="slidenum">
              <a:rPr lang="zh-CN" altLang="en-US" smtClean="0"/>
              <a:pPr>
                <a:defRPr/>
              </a:pPr>
              <a:t>‹#›</a:t>
            </a:fld>
            <a:endParaRPr lang="en-US" altLang="zh-CN"/>
          </a:p>
        </p:txBody>
      </p:sp>
      <p:sp>
        <p:nvSpPr>
          <p:cNvPr id="7" name="矩形 6"/>
          <p:cNvSpPr/>
          <p:nvPr/>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8" name="直接连接符 7"/>
          <p:cNvCxnSpPr/>
          <p:nvPr/>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9" name="图片 8" descr="C:\Users\len\Desktop\7-140129231040534.png"/>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Tree>
    <p:extLst>
      <p:ext uri="{BB962C8B-B14F-4D97-AF65-F5344CB8AC3E}">
        <p14:creationId xmlns:p14="http://schemas.microsoft.com/office/powerpoint/2010/main" val="2372935023"/>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7" name="矩形 6"/>
          <p:cNvSpPr/>
          <p:nvPr/>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8" name="直接连接符 7"/>
          <p:cNvCxnSpPr/>
          <p:nvPr/>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9" name="图片 8" descr="C:\Users\len\Desktop\7-140129231040534.png"/>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Tree>
    <p:extLst>
      <p:ext uri="{BB962C8B-B14F-4D97-AF65-F5344CB8AC3E}">
        <p14:creationId xmlns:p14="http://schemas.microsoft.com/office/powerpoint/2010/main" val="1912485156"/>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8" name="矩形 7"/>
          <p:cNvSpPr/>
          <p:nvPr/>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9" name="直接连接符 8"/>
          <p:cNvCxnSpPr/>
          <p:nvPr/>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10" name="图片 9" descr="C:\Users\len\Desktop\7-140129231040534.png"/>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Tree>
    <p:extLst>
      <p:ext uri="{BB962C8B-B14F-4D97-AF65-F5344CB8AC3E}">
        <p14:creationId xmlns:p14="http://schemas.microsoft.com/office/powerpoint/2010/main" val="3065074492"/>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10" name="矩形 9"/>
          <p:cNvSpPr/>
          <p:nvPr/>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11" name="直接连接符 10"/>
          <p:cNvCxnSpPr/>
          <p:nvPr/>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12" name="图片 11" descr="C:\Users\len\Desktop\7-140129231040534.png"/>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Tree>
    <p:extLst>
      <p:ext uri="{BB962C8B-B14F-4D97-AF65-F5344CB8AC3E}">
        <p14:creationId xmlns:p14="http://schemas.microsoft.com/office/powerpoint/2010/main" val="2904663738"/>
      </p:ext>
    </p:extLst>
  </p:cSld>
  <p:clrMapOvr>
    <a:masterClrMapping/>
  </p:clrMapOvr>
  <p:transition>
    <p:fade/>
  </p:transition>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dirty="0"/>
          </a:p>
        </p:txBody>
      </p:sp>
      <p:sp>
        <p:nvSpPr>
          <p:cNvPr id="6" name="矩形 5"/>
          <p:cNvSpPr/>
          <p:nvPr/>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7" name="直接连接符 6"/>
          <p:cNvCxnSpPr/>
          <p:nvPr/>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8" name="图片 7" descr="C:\Users\len\Desktop\7-140129231040534.png"/>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Tree>
    <p:extLst>
      <p:ext uri="{BB962C8B-B14F-4D97-AF65-F5344CB8AC3E}">
        <p14:creationId xmlns:p14="http://schemas.microsoft.com/office/powerpoint/2010/main" val="2749922556"/>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5" name="矩形 4"/>
          <p:cNvSpPr/>
          <p:nvPr/>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6" name="直接连接符 5"/>
          <p:cNvCxnSpPr/>
          <p:nvPr/>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7" name="图片 6" descr="C:\Users\len\Desktop\7-140129231040534.png"/>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Tree>
    <p:extLst>
      <p:ext uri="{BB962C8B-B14F-4D97-AF65-F5344CB8AC3E}">
        <p14:creationId xmlns:p14="http://schemas.microsoft.com/office/powerpoint/2010/main" val="317768128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8" name="矩形 7"/>
          <p:cNvSpPr/>
          <p:nvPr/>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9" name="直接连接符 8"/>
          <p:cNvCxnSpPr/>
          <p:nvPr/>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10" name="图片 9" descr="C:\Users\len\Desktop\7-140129231040534.png"/>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Tree>
    <p:extLst>
      <p:ext uri="{BB962C8B-B14F-4D97-AF65-F5344CB8AC3E}">
        <p14:creationId xmlns:p14="http://schemas.microsoft.com/office/powerpoint/2010/main" val="2177498465"/>
      </p:ext>
    </p:extLst>
  </p:cSld>
  <p:clrMapOvr>
    <a:masterClrMapping/>
  </p:clrMapOvr>
  <p:transition>
    <p:fade/>
  </p:transition>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8" name="矩形 7"/>
          <p:cNvSpPr/>
          <p:nvPr/>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9" name="直接连接符 8"/>
          <p:cNvCxnSpPr/>
          <p:nvPr/>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10" name="图片 9" descr="C:\Users\len\Desktop\7-140129231040534.png"/>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Tree>
    <p:extLst>
      <p:ext uri="{BB962C8B-B14F-4D97-AF65-F5344CB8AC3E}">
        <p14:creationId xmlns:p14="http://schemas.microsoft.com/office/powerpoint/2010/main" val="983428812"/>
      </p:ext>
    </p:extLst>
  </p:cSld>
  <p:clrMapOvr>
    <a:masterClrMapping/>
  </p:clrMapOvr>
  <p:transition>
    <p:fade/>
  </p:transition>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r>
              <a:rPr lang="zh-CN" altLang="en-US"/>
              <a:t>第一讲 绪论</a:t>
            </a:r>
            <a:endParaRPr lang="zh-CN" altLang="en-US" dirty="0"/>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dirty="0"/>
          </a:p>
        </p:txBody>
      </p:sp>
      <p:sp>
        <p:nvSpPr>
          <p:cNvPr id="7" name="矩形 6"/>
          <p:cNvSpPr/>
          <p:nvPr/>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8" name="直接连接符 7"/>
          <p:cNvCxnSpPr/>
          <p:nvPr/>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9" name="图片 8" descr="C:\Users\len\Desktop\7-140129231040534.png"/>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Tree>
    <p:extLst>
      <p:ext uri="{BB962C8B-B14F-4D97-AF65-F5344CB8AC3E}">
        <p14:creationId xmlns:p14="http://schemas.microsoft.com/office/powerpoint/2010/main" val="4206344667"/>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3609536"/>
      </p:ext>
    </p:extLst>
  </p:cSld>
  <p:clrMapOvr>
    <a:masterClrMapping/>
  </p:clrMapOvr>
  <p:transition>
    <p:fade/>
  </p:transition>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4" descr="图片1副本"/>
          <p:cNvPicPr>
            <a:picLocks noChangeAspect="1" noChangeArrowheads="1"/>
          </p:cNvPicPr>
          <p:nvPr/>
        </p:nvPicPr>
        <p:blipFill>
          <a:blip r:embed="rId3">
            <a:lum bright="10000" contrast="60000"/>
            <a:extLst>
              <a:ext uri="{28A0092B-C50C-407E-A947-70E740481C1C}">
                <a14:useLocalDpi xmlns:a14="http://schemas.microsoft.com/office/drawing/2010/main" val="0"/>
              </a:ext>
            </a:extLst>
          </a:blip>
          <a:srcRect/>
          <a:stretch>
            <a:fillRect/>
          </a:stretch>
        </p:blipFill>
        <p:spPr bwMode="auto">
          <a:xfrm>
            <a:off x="0" y="1"/>
            <a:ext cx="12192000" cy="1196975"/>
          </a:xfrm>
          <a:prstGeom prst="rect">
            <a:avLst/>
          </a:prstGeom>
          <a:noFill/>
          <a:ln w="38100">
            <a:noFill/>
            <a:miter lim="800000"/>
            <a:headEnd/>
            <a:tailEnd/>
          </a:ln>
        </p:spPr>
      </p:pic>
      <p:graphicFrame>
        <p:nvGraphicFramePr>
          <p:cNvPr id="5" name="Object 2"/>
          <p:cNvGraphicFramePr>
            <a:graphicFrameLocks noChangeAspect="1"/>
          </p:cNvGraphicFramePr>
          <p:nvPr/>
        </p:nvGraphicFramePr>
        <p:xfrm>
          <a:off x="0" y="6783388"/>
          <a:ext cx="12192000" cy="74612"/>
        </p:xfrm>
        <a:graphic>
          <a:graphicData uri="http://schemas.openxmlformats.org/presentationml/2006/ole">
            <mc:AlternateContent xmlns:mc="http://schemas.openxmlformats.org/markup-compatibility/2006">
              <mc:Choice xmlns:v="urn:schemas-microsoft-com:vml" Requires="v">
                <p:oleObj spid="_x0000_s2050" name="Image" r:id="rId4" imgW="11328400" imgH="4572000" progId="">
                  <p:embed/>
                </p:oleObj>
              </mc:Choice>
              <mc:Fallback>
                <p:oleObj name="Image" r:id="rId4" imgW="11328400" imgH="4572000" progId="">
                  <p:embed/>
                  <p:pic>
                    <p:nvPicPr>
                      <p:cNvPr id="5" name="Object 2"/>
                      <p:cNvPicPr>
                        <a:picLocks noChangeAspect="1" noChangeArrowheads="1"/>
                      </p:cNvPicPr>
                      <p:nvPr/>
                    </p:nvPicPr>
                    <p:blipFill>
                      <a:blip r:embed="rId5">
                        <a:lum bright="-6000" contrast="6000"/>
                        <a:extLst>
                          <a:ext uri="{28A0092B-C50C-407E-A947-70E740481C1C}">
                            <a14:useLocalDpi xmlns:a14="http://schemas.microsoft.com/office/drawing/2010/main" val="0"/>
                          </a:ext>
                        </a:extLst>
                      </a:blip>
                      <a:srcRect/>
                      <a:stretch>
                        <a:fillRect/>
                      </a:stretch>
                    </p:blipFill>
                    <p:spPr bwMode="auto">
                      <a:xfrm>
                        <a:off x="0" y="6783388"/>
                        <a:ext cx="12192000" cy="74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Picture 13" descr="E:\MY DOC\北航简介\LOGO\BUAA LOGO.gif"/>
          <p:cNvPicPr>
            <a:picLocks noChangeAspect="1" noChangeArrowheads="1"/>
          </p:cNvPicPr>
          <p:nvPr userDrawn="1"/>
        </p:nvPicPr>
        <p:blipFill>
          <a:blip r:embed="rId6" cstate="screen">
            <a:lum contrast="-40000"/>
            <a:extLst>
              <a:ext uri="{28A0092B-C50C-407E-A947-70E740481C1C}">
                <a14:useLocalDpi xmlns:a14="http://schemas.microsoft.com/office/drawing/2010/main" val="0"/>
              </a:ext>
            </a:extLst>
          </a:blip>
          <a:srcRect/>
          <a:stretch>
            <a:fillRect/>
          </a:stretch>
        </p:blipFill>
        <p:spPr bwMode="auto">
          <a:xfrm>
            <a:off x="10856385" y="133350"/>
            <a:ext cx="1246716" cy="935038"/>
          </a:xfrm>
          <a:prstGeom prst="rect">
            <a:avLst/>
          </a:prstGeom>
          <a:noFill/>
          <a:ln w="9525">
            <a:noFill/>
            <a:miter lim="800000"/>
            <a:headEnd/>
            <a:tailEnd/>
          </a:ln>
        </p:spPr>
      </p:pic>
      <p:sp>
        <p:nvSpPr>
          <p:cNvPr id="2" name="标题 1"/>
          <p:cNvSpPr>
            <a:spLocks noGrp="1"/>
          </p:cNvSpPr>
          <p:nvPr>
            <p:ph type="ctrTitle"/>
          </p:nvPr>
        </p:nvSpPr>
        <p:spPr>
          <a:xfrm>
            <a:off x="914400" y="2130428"/>
            <a:ext cx="10363200" cy="1470025"/>
          </a:xfrm>
        </p:spPr>
        <p:txBody>
          <a:bodyPr/>
          <a:lstStyle/>
          <a:p>
            <a:r>
              <a:rPr lang="zh-CN" altLang="en-US"/>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7" name="Rectangle 7"/>
          <p:cNvSpPr>
            <a:spLocks noGrp="1" noChangeArrowheads="1"/>
          </p:cNvSpPr>
          <p:nvPr>
            <p:ph type="sldNum" sz="quarter" idx="10"/>
          </p:nvPr>
        </p:nvSpPr>
        <p:spPr>
          <a:xfrm>
            <a:off x="11664952" y="6456364"/>
            <a:ext cx="527049" cy="401637"/>
          </a:xfrm>
        </p:spPr>
        <p:txBody>
          <a:bodyPr/>
          <a:lstStyle>
            <a:lvl1pPr>
              <a:defRPr/>
            </a:lvl1pPr>
          </a:lstStyle>
          <a:p>
            <a:pPr>
              <a:defRPr/>
            </a:pPr>
            <a:fld id="{2CB2CA6E-B8B8-4C1E-807F-DB4F326F9549}" type="slidenum">
              <a:rPr lang="zh-CN" altLang="en-US">
                <a:solidFill>
                  <a:srgbClr val="000000"/>
                </a:solidFill>
              </a:rPr>
              <a:t>‹#›</a:t>
            </a:fld>
            <a:endParaRPr lang="en-US" altLang="zh-CN" dirty="0">
              <a:solidFill>
                <a:srgbClr val="000000"/>
              </a:solidFill>
            </a:endParaRPr>
          </a:p>
        </p:txBody>
      </p:sp>
    </p:spTree>
    <p:extLst>
      <p:ext uri="{BB962C8B-B14F-4D97-AF65-F5344CB8AC3E}">
        <p14:creationId xmlns:p14="http://schemas.microsoft.com/office/powerpoint/2010/main" val="544821504"/>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pic>
        <p:nvPicPr>
          <p:cNvPr id="4" name="Picture 24" descr="图片1副本"/>
          <p:cNvPicPr>
            <a:picLocks noChangeAspect="1" noChangeArrowheads="1"/>
          </p:cNvPicPr>
          <p:nvPr userDrawn="1"/>
        </p:nvPicPr>
        <p:blipFill>
          <a:blip r:embed="rId3">
            <a:lum bright="10000" contrast="60000"/>
            <a:extLst>
              <a:ext uri="{28A0092B-C50C-407E-A947-70E740481C1C}">
                <a14:useLocalDpi xmlns:a14="http://schemas.microsoft.com/office/drawing/2010/main" val="0"/>
              </a:ext>
            </a:extLst>
          </a:blip>
          <a:srcRect/>
          <a:stretch>
            <a:fillRect/>
          </a:stretch>
        </p:blipFill>
        <p:spPr bwMode="auto">
          <a:xfrm>
            <a:off x="0" y="1"/>
            <a:ext cx="12192000" cy="1196975"/>
          </a:xfrm>
          <a:prstGeom prst="rect">
            <a:avLst/>
          </a:prstGeom>
          <a:noFill/>
          <a:ln w="38100">
            <a:noFill/>
            <a:miter lim="800000"/>
            <a:headEnd/>
            <a:tailEnd/>
          </a:ln>
        </p:spPr>
      </p:pic>
      <p:graphicFrame>
        <p:nvGraphicFramePr>
          <p:cNvPr id="5" name="Object 2"/>
          <p:cNvGraphicFramePr>
            <a:graphicFrameLocks noChangeAspect="1"/>
          </p:cNvGraphicFramePr>
          <p:nvPr/>
        </p:nvGraphicFramePr>
        <p:xfrm>
          <a:off x="0" y="6783388"/>
          <a:ext cx="12192000" cy="74612"/>
        </p:xfrm>
        <a:graphic>
          <a:graphicData uri="http://schemas.openxmlformats.org/presentationml/2006/ole">
            <mc:AlternateContent xmlns:mc="http://schemas.openxmlformats.org/markup-compatibility/2006">
              <mc:Choice xmlns:v="urn:schemas-microsoft-com:vml" Requires="v">
                <p:oleObj spid="_x0000_s3074" name="Image" r:id="rId4" imgW="11328400" imgH="4572000" progId="">
                  <p:embed/>
                </p:oleObj>
              </mc:Choice>
              <mc:Fallback>
                <p:oleObj name="Image" r:id="rId4" imgW="11328400" imgH="4572000" progId="">
                  <p:embed/>
                  <p:pic>
                    <p:nvPicPr>
                      <p:cNvPr id="5" name="Object 2"/>
                      <p:cNvPicPr>
                        <a:picLocks noChangeAspect="1" noChangeArrowheads="1"/>
                      </p:cNvPicPr>
                      <p:nvPr/>
                    </p:nvPicPr>
                    <p:blipFill>
                      <a:blip r:embed="rId5">
                        <a:lum bright="-6000" contrast="6000"/>
                        <a:extLst>
                          <a:ext uri="{28A0092B-C50C-407E-A947-70E740481C1C}">
                            <a14:useLocalDpi xmlns:a14="http://schemas.microsoft.com/office/drawing/2010/main" val="0"/>
                          </a:ext>
                        </a:extLst>
                      </a:blip>
                      <a:srcRect/>
                      <a:stretch>
                        <a:fillRect/>
                      </a:stretch>
                    </p:blipFill>
                    <p:spPr bwMode="auto">
                      <a:xfrm>
                        <a:off x="0" y="6783388"/>
                        <a:ext cx="12192000" cy="74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Picture 13" descr="E:\MY DOC\北航简介\LOGO\BUAA LOGO.gif"/>
          <p:cNvPicPr>
            <a:picLocks noChangeAspect="1" noChangeArrowheads="1"/>
          </p:cNvPicPr>
          <p:nvPr userDrawn="1"/>
        </p:nvPicPr>
        <p:blipFill>
          <a:blip r:embed="rId6" cstate="screen">
            <a:lum contrast="-40000"/>
            <a:extLst>
              <a:ext uri="{28A0092B-C50C-407E-A947-70E740481C1C}">
                <a14:useLocalDpi xmlns:a14="http://schemas.microsoft.com/office/drawing/2010/main" val="0"/>
              </a:ext>
            </a:extLst>
          </a:blip>
          <a:srcRect/>
          <a:stretch>
            <a:fillRect/>
          </a:stretch>
        </p:blipFill>
        <p:spPr bwMode="auto">
          <a:xfrm>
            <a:off x="10856385" y="133350"/>
            <a:ext cx="1246716" cy="935038"/>
          </a:xfrm>
          <a:prstGeom prst="rect">
            <a:avLst/>
          </a:prstGeom>
          <a:noFill/>
          <a:ln w="9525">
            <a:noFill/>
            <a:miter lim="800000"/>
            <a:headEnd/>
            <a:tailEnd/>
          </a:ln>
        </p:spPr>
      </p:pic>
      <p:sp>
        <p:nvSpPr>
          <p:cNvPr id="2" name="标题 1"/>
          <p:cNvSpPr>
            <a:spLocks noGrp="1"/>
          </p:cNvSpPr>
          <p:nvPr>
            <p:ph type="title"/>
          </p:nvPr>
        </p:nvSpPr>
        <p:spPr/>
        <p:txBody>
          <a:bodyPr/>
          <a:lstStyle>
            <a:lvl1pPr>
              <a:defRPr sz="4400"/>
            </a:lvl1pPr>
          </a:lstStyle>
          <a:p>
            <a:r>
              <a:rPr lang="zh-CN" altLang="en-US"/>
              <a:t>单击此处编辑母版标题样式</a:t>
            </a:r>
            <a:endParaRPr lang="zh-CN" altLang="en-US" dirty="0"/>
          </a:p>
        </p:txBody>
      </p:sp>
      <p:sp>
        <p:nvSpPr>
          <p:cNvPr id="3" name="内容占位符 2"/>
          <p:cNvSpPr>
            <a:spLocks noGrp="1"/>
          </p:cNvSpPr>
          <p:nvPr>
            <p:ph idx="1"/>
          </p:nvPr>
        </p:nvSpPr>
        <p:spPr/>
        <p:txBody>
          <a:bodyPr/>
          <a:lstStyle>
            <a:lvl1pPr marL="342900" indent="-342900">
              <a:lnSpc>
                <a:spcPct val="110000"/>
              </a:lnSpc>
              <a:buFont typeface="Wingdings" panose="05000000000000000000" pitchFamily="2" charset="2"/>
              <a:buChar char="p"/>
              <a:defRPr sz="3200">
                <a:latin typeface="+mn-ea"/>
                <a:ea typeface="+mn-ea"/>
              </a:defRPr>
            </a:lvl1pPr>
            <a:lvl2pPr>
              <a:lnSpc>
                <a:spcPct val="110000"/>
              </a:lnSpc>
              <a:defRPr sz="2800">
                <a:latin typeface="+mn-ea"/>
                <a:ea typeface="+mn-ea"/>
              </a:defRPr>
            </a:lvl2pPr>
            <a:lvl3pPr>
              <a:lnSpc>
                <a:spcPct val="110000"/>
              </a:lnSpc>
              <a:defRPr sz="2400">
                <a:latin typeface="+mn-ea"/>
                <a:ea typeface="+mn-ea"/>
              </a:defRPr>
            </a:lvl3pPr>
            <a:lvl4pPr>
              <a:lnSpc>
                <a:spcPct val="110000"/>
              </a:lnSpc>
              <a:defRPr sz="2000">
                <a:latin typeface="+mn-ea"/>
                <a:ea typeface="+mn-ea"/>
              </a:defRPr>
            </a:lvl4pPr>
            <a:lvl5pPr>
              <a:lnSpc>
                <a:spcPct val="110000"/>
              </a:lnSpc>
              <a:defRPr sz="2000">
                <a:latin typeface="+mn-ea"/>
                <a:ea typeface="+mn-ea"/>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892994847"/>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pic>
        <p:nvPicPr>
          <p:cNvPr id="4" name="Picture 24" descr="图片1副本"/>
          <p:cNvPicPr>
            <a:picLocks noChangeAspect="1" noChangeArrowheads="1"/>
          </p:cNvPicPr>
          <p:nvPr/>
        </p:nvPicPr>
        <p:blipFill>
          <a:blip r:embed="rId3">
            <a:lum bright="10000" contrast="60000"/>
            <a:extLst>
              <a:ext uri="{28A0092B-C50C-407E-A947-70E740481C1C}">
                <a14:useLocalDpi xmlns:a14="http://schemas.microsoft.com/office/drawing/2010/main" val="0"/>
              </a:ext>
            </a:extLst>
          </a:blip>
          <a:srcRect/>
          <a:stretch>
            <a:fillRect/>
          </a:stretch>
        </p:blipFill>
        <p:spPr bwMode="auto">
          <a:xfrm>
            <a:off x="0" y="1"/>
            <a:ext cx="12192000" cy="1196975"/>
          </a:xfrm>
          <a:prstGeom prst="rect">
            <a:avLst/>
          </a:prstGeom>
          <a:noFill/>
          <a:ln w="38100">
            <a:noFill/>
            <a:miter lim="800000"/>
            <a:headEnd/>
            <a:tailEnd/>
          </a:ln>
        </p:spPr>
      </p:pic>
      <p:graphicFrame>
        <p:nvGraphicFramePr>
          <p:cNvPr id="5" name="Object 2"/>
          <p:cNvGraphicFramePr>
            <a:graphicFrameLocks noChangeAspect="1"/>
          </p:cNvGraphicFramePr>
          <p:nvPr/>
        </p:nvGraphicFramePr>
        <p:xfrm>
          <a:off x="0" y="6783388"/>
          <a:ext cx="12192000" cy="74612"/>
        </p:xfrm>
        <a:graphic>
          <a:graphicData uri="http://schemas.openxmlformats.org/presentationml/2006/ole">
            <mc:AlternateContent xmlns:mc="http://schemas.openxmlformats.org/markup-compatibility/2006">
              <mc:Choice xmlns:v="urn:schemas-microsoft-com:vml" Requires="v">
                <p:oleObj spid="_x0000_s4098" name="Image" r:id="rId4" imgW="11328400" imgH="4572000" progId="">
                  <p:embed/>
                </p:oleObj>
              </mc:Choice>
              <mc:Fallback>
                <p:oleObj name="Image" r:id="rId4" imgW="11328400" imgH="4572000" progId="">
                  <p:embed/>
                  <p:pic>
                    <p:nvPicPr>
                      <p:cNvPr id="5" name="Object 2"/>
                      <p:cNvPicPr>
                        <a:picLocks noChangeAspect="1" noChangeArrowheads="1"/>
                      </p:cNvPicPr>
                      <p:nvPr/>
                    </p:nvPicPr>
                    <p:blipFill>
                      <a:blip r:embed="rId5">
                        <a:lum bright="-6000" contrast="6000"/>
                        <a:extLst>
                          <a:ext uri="{28A0092B-C50C-407E-A947-70E740481C1C}">
                            <a14:useLocalDpi xmlns:a14="http://schemas.microsoft.com/office/drawing/2010/main" val="0"/>
                          </a:ext>
                        </a:extLst>
                      </a:blip>
                      <a:srcRect/>
                      <a:stretch>
                        <a:fillRect/>
                      </a:stretch>
                    </p:blipFill>
                    <p:spPr bwMode="auto">
                      <a:xfrm>
                        <a:off x="0" y="6783388"/>
                        <a:ext cx="12192000" cy="74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Picture 13" descr="E:\MY DOC\北航简介\LOGO\BUAA LOGO.gif"/>
          <p:cNvPicPr>
            <a:picLocks noChangeAspect="1" noChangeArrowheads="1"/>
          </p:cNvPicPr>
          <p:nvPr userDrawn="1"/>
        </p:nvPicPr>
        <p:blipFill>
          <a:blip r:embed="rId6" cstate="screen">
            <a:lum contrast="-40000"/>
            <a:extLst>
              <a:ext uri="{28A0092B-C50C-407E-A947-70E740481C1C}">
                <a14:useLocalDpi xmlns:a14="http://schemas.microsoft.com/office/drawing/2010/main" val="0"/>
              </a:ext>
            </a:extLst>
          </a:blip>
          <a:srcRect/>
          <a:stretch>
            <a:fillRect/>
          </a:stretch>
        </p:blipFill>
        <p:spPr bwMode="auto">
          <a:xfrm>
            <a:off x="10856385" y="133350"/>
            <a:ext cx="1246716" cy="935038"/>
          </a:xfrm>
          <a:prstGeom prst="rect">
            <a:avLst/>
          </a:prstGeom>
          <a:noFill/>
          <a:ln w="9525">
            <a:noFill/>
            <a:miter lim="800000"/>
            <a:headEnd/>
            <a:tailEnd/>
          </a:ln>
        </p:spPr>
      </p:pic>
      <p:sp>
        <p:nvSpPr>
          <p:cNvPr id="2" name="标题 1"/>
          <p:cNvSpPr>
            <a:spLocks noGrp="1"/>
          </p:cNvSpPr>
          <p:nvPr>
            <p:ph type="title"/>
          </p:nvPr>
        </p:nvSpPr>
        <p:spPr>
          <a:xfrm>
            <a:off x="963084" y="4406903"/>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7" name="Rectangle 7"/>
          <p:cNvSpPr>
            <a:spLocks noGrp="1" noChangeArrowheads="1"/>
          </p:cNvSpPr>
          <p:nvPr>
            <p:ph type="sldNum" sz="quarter" idx="10"/>
          </p:nvPr>
        </p:nvSpPr>
        <p:spPr>
          <a:xfrm>
            <a:off x="11664952" y="6456364"/>
            <a:ext cx="527049" cy="401637"/>
          </a:xfrm>
        </p:spPr>
        <p:txBody>
          <a:bodyPr/>
          <a:lstStyle>
            <a:lvl1pPr>
              <a:defRPr/>
            </a:lvl1pPr>
          </a:lstStyle>
          <a:p>
            <a:pPr>
              <a:defRPr/>
            </a:pPr>
            <a:fld id="{98F80E97-1390-428D-9CB7-AFD5FEE76DF2}" type="slidenum">
              <a:rPr lang="zh-CN" altLang="en-US">
                <a:solidFill>
                  <a:srgbClr val="000000"/>
                </a:solidFill>
              </a:rPr>
              <a:t>‹#›</a:t>
            </a:fld>
            <a:endParaRPr lang="en-US" altLang="zh-CN" dirty="0">
              <a:solidFill>
                <a:srgbClr val="000000"/>
              </a:solidFill>
            </a:endParaRPr>
          </a:p>
        </p:txBody>
      </p:sp>
    </p:spTree>
    <p:extLst>
      <p:ext uri="{BB962C8B-B14F-4D97-AF65-F5344CB8AC3E}">
        <p14:creationId xmlns:p14="http://schemas.microsoft.com/office/powerpoint/2010/main" val="1429656073"/>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pic>
        <p:nvPicPr>
          <p:cNvPr id="2" name="Picture 24" descr="图片1副本"/>
          <p:cNvPicPr>
            <a:picLocks noChangeAspect="1" noChangeArrowheads="1"/>
          </p:cNvPicPr>
          <p:nvPr/>
        </p:nvPicPr>
        <p:blipFill>
          <a:blip r:embed="rId3">
            <a:lum bright="10000" contrast="60000"/>
            <a:extLst>
              <a:ext uri="{28A0092B-C50C-407E-A947-70E740481C1C}">
                <a14:useLocalDpi xmlns:a14="http://schemas.microsoft.com/office/drawing/2010/main" val="0"/>
              </a:ext>
            </a:extLst>
          </a:blip>
          <a:srcRect/>
          <a:stretch>
            <a:fillRect/>
          </a:stretch>
        </p:blipFill>
        <p:spPr bwMode="auto">
          <a:xfrm>
            <a:off x="0" y="1"/>
            <a:ext cx="12192000" cy="1196975"/>
          </a:xfrm>
          <a:prstGeom prst="rect">
            <a:avLst/>
          </a:prstGeom>
          <a:noFill/>
          <a:ln w="38100">
            <a:noFill/>
            <a:miter lim="800000"/>
            <a:headEnd/>
            <a:tailEnd/>
          </a:ln>
        </p:spPr>
      </p:pic>
      <p:graphicFrame>
        <p:nvGraphicFramePr>
          <p:cNvPr id="3" name="Object 2"/>
          <p:cNvGraphicFramePr>
            <a:graphicFrameLocks noChangeAspect="1"/>
          </p:cNvGraphicFramePr>
          <p:nvPr/>
        </p:nvGraphicFramePr>
        <p:xfrm>
          <a:off x="0" y="6783388"/>
          <a:ext cx="12192000" cy="74612"/>
        </p:xfrm>
        <a:graphic>
          <a:graphicData uri="http://schemas.openxmlformats.org/presentationml/2006/ole">
            <mc:AlternateContent xmlns:mc="http://schemas.openxmlformats.org/markup-compatibility/2006">
              <mc:Choice xmlns:v="urn:schemas-microsoft-com:vml" Requires="v">
                <p:oleObj spid="_x0000_s5122" name="Image" r:id="rId4" imgW="11328400" imgH="4572000" progId="">
                  <p:embed/>
                </p:oleObj>
              </mc:Choice>
              <mc:Fallback>
                <p:oleObj name="Image" r:id="rId4" imgW="11328400" imgH="4572000" progId="">
                  <p:embed/>
                  <p:pic>
                    <p:nvPicPr>
                      <p:cNvPr id="3" name="Object 2"/>
                      <p:cNvPicPr>
                        <a:picLocks noChangeAspect="1" noChangeArrowheads="1"/>
                      </p:cNvPicPr>
                      <p:nvPr/>
                    </p:nvPicPr>
                    <p:blipFill>
                      <a:blip r:embed="rId5">
                        <a:lum bright="-6000" contrast="6000"/>
                        <a:extLst>
                          <a:ext uri="{28A0092B-C50C-407E-A947-70E740481C1C}">
                            <a14:useLocalDpi xmlns:a14="http://schemas.microsoft.com/office/drawing/2010/main" val="0"/>
                          </a:ext>
                        </a:extLst>
                      </a:blip>
                      <a:srcRect/>
                      <a:stretch>
                        <a:fillRect/>
                      </a:stretch>
                    </p:blipFill>
                    <p:spPr bwMode="auto">
                      <a:xfrm>
                        <a:off x="0" y="6783388"/>
                        <a:ext cx="12192000" cy="74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 name="Picture 13" descr="E:\MY DOC\北航简介\LOGO\BUAA LOGO.gif"/>
          <p:cNvPicPr>
            <a:picLocks noChangeAspect="1" noChangeArrowheads="1"/>
          </p:cNvPicPr>
          <p:nvPr userDrawn="1"/>
        </p:nvPicPr>
        <p:blipFill>
          <a:blip r:embed="rId6" cstate="screen">
            <a:lum contrast="-40000"/>
            <a:extLst>
              <a:ext uri="{28A0092B-C50C-407E-A947-70E740481C1C}">
                <a14:useLocalDpi xmlns:a14="http://schemas.microsoft.com/office/drawing/2010/main" val="0"/>
              </a:ext>
            </a:extLst>
          </a:blip>
          <a:srcRect/>
          <a:stretch>
            <a:fillRect/>
          </a:stretch>
        </p:blipFill>
        <p:spPr bwMode="auto">
          <a:xfrm>
            <a:off x="10856385" y="133350"/>
            <a:ext cx="1246716" cy="935038"/>
          </a:xfrm>
          <a:prstGeom prst="rect">
            <a:avLst/>
          </a:prstGeom>
          <a:noFill/>
          <a:ln w="9525">
            <a:noFill/>
            <a:miter lim="800000"/>
            <a:headEnd/>
            <a:tailEnd/>
          </a:ln>
        </p:spPr>
      </p:pic>
      <p:graphicFrame>
        <p:nvGraphicFramePr>
          <p:cNvPr id="5" name="Object 3"/>
          <p:cNvGraphicFramePr>
            <a:graphicFrameLocks noChangeAspect="1"/>
          </p:cNvGraphicFramePr>
          <p:nvPr/>
        </p:nvGraphicFramePr>
        <p:xfrm>
          <a:off x="0" y="-27384"/>
          <a:ext cx="12192000" cy="2060575"/>
        </p:xfrm>
        <a:graphic>
          <a:graphicData uri="http://schemas.openxmlformats.org/presentationml/2006/ole">
            <mc:AlternateContent xmlns:mc="http://schemas.openxmlformats.org/markup-compatibility/2006">
              <mc:Choice xmlns:v="urn:schemas-microsoft-com:vml" Requires="v">
                <p:oleObj spid="_x0000_s5123" name="Image" r:id="rId7" imgW="11328400" imgH="4572000" progId="">
                  <p:embed/>
                </p:oleObj>
              </mc:Choice>
              <mc:Fallback>
                <p:oleObj name="Image" r:id="rId7" imgW="11328400" imgH="4572000" progId="">
                  <p:embed/>
                  <p:pic>
                    <p:nvPicPr>
                      <p:cNvPr id="5" name="Object 3"/>
                      <p:cNvPicPr>
                        <a:picLocks noChangeAspect="1" noChangeArrowheads="1"/>
                      </p:cNvPicPr>
                      <p:nvPr/>
                    </p:nvPicPr>
                    <p:blipFill>
                      <a:blip r:embed="rId5">
                        <a:lum bright="10000" contrast="60000"/>
                        <a:extLst>
                          <a:ext uri="{28A0092B-C50C-407E-A947-70E740481C1C}">
                            <a14:useLocalDpi xmlns:a14="http://schemas.microsoft.com/office/drawing/2010/main" val="0"/>
                          </a:ext>
                        </a:extLst>
                      </a:blip>
                      <a:srcRect/>
                      <a:stretch>
                        <a:fillRect/>
                      </a:stretch>
                    </p:blipFill>
                    <p:spPr bwMode="auto">
                      <a:xfrm>
                        <a:off x="0" y="-27384"/>
                        <a:ext cx="12192000" cy="2060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Picture 10" descr="buaaname"/>
          <p:cNvPicPr>
            <a:picLocks noChangeAspect="1" noChangeArrowheads="1"/>
          </p:cNvPicPr>
          <p:nvPr userDrawn="1"/>
        </p:nvPicPr>
        <p:blipFill>
          <a:blip r:embed="rId8">
            <a:lum bright="100000" contrast="18000"/>
            <a:extLst>
              <a:ext uri="{28A0092B-C50C-407E-A947-70E740481C1C}">
                <a14:useLocalDpi xmlns:a14="http://schemas.microsoft.com/office/drawing/2010/main" val="0"/>
              </a:ext>
            </a:extLst>
          </a:blip>
          <a:srcRect/>
          <a:stretch>
            <a:fillRect/>
          </a:stretch>
        </p:blipFill>
        <p:spPr bwMode="auto">
          <a:xfrm>
            <a:off x="3251565" y="476672"/>
            <a:ext cx="7164916" cy="1014412"/>
          </a:xfrm>
          <a:prstGeom prst="rect">
            <a:avLst/>
          </a:prstGeom>
          <a:noFill/>
          <a:ln>
            <a:noFill/>
          </a:ln>
          <a:effectLst>
            <a:outerShdw blurRad="63500" dist="38099" dir="2700000" algn="ctr" rotWithShape="0">
              <a:schemeClr val="tx1">
                <a:alpha val="74998"/>
              </a:schemeClr>
            </a:outerShdw>
          </a:effectLst>
        </p:spPr>
      </p:pic>
      <p:pic>
        <p:nvPicPr>
          <p:cNvPr id="7" name="Picture 11" descr="xh"/>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1583631" y="478260"/>
            <a:ext cx="1344083" cy="1006475"/>
          </a:xfrm>
          <a:prstGeom prst="rect">
            <a:avLst/>
          </a:prstGeom>
          <a:noFill/>
          <a:ln>
            <a:noFill/>
          </a:ln>
          <a:effectLst>
            <a:outerShdw blurRad="63500" dist="38099" dir="2700000" algn="ctr" rotWithShape="0">
              <a:schemeClr val="tx1">
                <a:alpha val="74998"/>
              </a:schemeClr>
            </a:outerShdw>
          </a:effectLst>
        </p:spPr>
      </p:pic>
      <p:graphicFrame>
        <p:nvGraphicFramePr>
          <p:cNvPr id="8" name="Object 4"/>
          <p:cNvGraphicFramePr>
            <a:graphicFrameLocks noChangeAspect="1"/>
          </p:cNvGraphicFramePr>
          <p:nvPr/>
        </p:nvGraphicFramePr>
        <p:xfrm>
          <a:off x="-2117" y="5589588"/>
          <a:ext cx="12192001" cy="1295400"/>
        </p:xfrm>
        <a:graphic>
          <a:graphicData uri="http://schemas.openxmlformats.org/presentationml/2006/ole">
            <mc:AlternateContent xmlns:mc="http://schemas.openxmlformats.org/markup-compatibility/2006">
              <mc:Choice xmlns:v="urn:schemas-microsoft-com:vml" Requires="v">
                <p:oleObj spid="_x0000_s5124" name="Image" r:id="rId10" imgW="11328400" imgH="4572000" progId="">
                  <p:embed/>
                </p:oleObj>
              </mc:Choice>
              <mc:Fallback>
                <p:oleObj name="Image" r:id="rId10" imgW="11328400" imgH="4572000" progId="">
                  <p:embed/>
                  <p:pic>
                    <p:nvPicPr>
                      <p:cNvPr id="8" name="Object 4"/>
                      <p:cNvPicPr>
                        <a:picLocks noChangeAspect="1" noChangeArrowheads="1"/>
                      </p:cNvPicPr>
                      <p:nvPr/>
                    </p:nvPicPr>
                    <p:blipFill>
                      <a:blip r:embed="rId5">
                        <a:lum bright="10000" contrast="60000"/>
                        <a:extLst>
                          <a:ext uri="{28A0092B-C50C-407E-A947-70E740481C1C}">
                            <a14:useLocalDpi xmlns:a14="http://schemas.microsoft.com/office/drawing/2010/main" val="0"/>
                          </a:ext>
                        </a:extLst>
                      </a:blip>
                      <a:srcRect/>
                      <a:stretch>
                        <a:fillRect/>
                      </a:stretch>
                    </p:blipFill>
                    <p:spPr bwMode="auto">
                      <a:xfrm>
                        <a:off x="-2117" y="5589588"/>
                        <a:ext cx="12192001" cy="1295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7"/>
          <p:cNvSpPr>
            <a:spLocks noGrp="1" noChangeArrowheads="1"/>
          </p:cNvSpPr>
          <p:nvPr>
            <p:ph type="sldNum" sz="quarter" idx="10"/>
          </p:nvPr>
        </p:nvSpPr>
        <p:spPr>
          <a:xfrm>
            <a:off x="11664952" y="6456364"/>
            <a:ext cx="527049" cy="401637"/>
          </a:xfrm>
        </p:spPr>
        <p:txBody>
          <a:bodyPr/>
          <a:lstStyle>
            <a:lvl1pPr>
              <a:defRPr/>
            </a:lvl1pPr>
          </a:lstStyle>
          <a:p>
            <a:pPr>
              <a:defRPr/>
            </a:pPr>
            <a:fld id="{ABB493F5-76DC-4FED-A09A-349FDC8B8813}" type="slidenum">
              <a:rPr lang="zh-CN" altLang="en-US">
                <a:solidFill>
                  <a:srgbClr val="000000"/>
                </a:solidFill>
              </a:rPr>
              <a:t>‹#›</a:t>
            </a:fld>
            <a:endParaRPr lang="en-US" altLang="zh-CN" dirty="0">
              <a:solidFill>
                <a:srgbClr val="000000"/>
              </a:solidFill>
            </a:endParaRPr>
          </a:p>
        </p:txBody>
      </p:sp>
    </p:spTree>
    <p:extLst>
      <p:ext uri="{BB962C8B-B14F-4D97-AF65-F5344CB8AC3E}">
        <p14:creationId xmlns:p14="http://schemas.microsoft.com/office/powerpoint/2010/main" val="1171736068"/>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Demo, Video etc. &quot;special&quot; slides">
    <p:spTree>
      <p:nvGrpSpPr>
        <p:cNvPr id="1" name=""/>
        <p:cNvGrpSpPr/>
        <p:nvPr/>
      </p:nvGrpSpPr>
      <p:grpSpPr>
        <a:xfrm>
          <a:off x="0" y="0"/>
          <a:ext cx="0" cy="0"/>
          <a:chOff x="0" y="0"/>
          <a:chExt cx="0" cy="0"/>
        </a:xfrm>
      </p:grpSpPr>
      <p:pic>
        <p:nvPicPr>
          <p:cNvPr id="4" name="Picture 24" descr="图片1副本"/>
          <p:cNvPicPr>
            <a:picLocks noChangeAspect="1" noChangeArrowheads="1"/>
          </p:cNvPicPr>
          <p:nvPr/>
        </p:nvPicPr>
        <p:blipFill>
          <a:blip r:embed="rId3">
            <a:lum bright="10000" contrast="60000"/>
            <a:extLst>
              <a:ext uri="{28A0092B-C50C-407E-A947-70E740481C1C}">
                <a14:useLocalDpi xmlns:a14="http://schemas.microsoft.com/office/drawing/2010/main" val="0"/>
              </a:ext>
            </a:extLst>
          </a:blip>
          <a:srcRect/>
          <a:stretch>
            <a:fillRect/>
          </a:stretch>
        </p:blipFill>
        <p:spPr bwMode="auto">
          <a:xfrm>
            <a:off x="0" y="1"/>
            <a:ext cx="12192000" cy="1196975"/>
          </a:xfrm>
          <a:prstGeom prst="rect">
            <a:avLst/>
          </a:prstGeom>
          <a:noFill/>
          <a:ln w="38100">
            <a:noFill/>
            <a:miter lim="800000"/>
            <a:headEnd/>
            <a:tailEnd/>
          </a:ln>
        </p:spPr>
      </p:pic>
      <p:graphicFrame>
        <p:nvGraphicFramePr>
          <p:cNvPr id="5" name="Object 2"/>
          <p:cNvGraphicFramePr>
            <a:graphicFrameLocks noChangeAspect="1"/>
          </p:cNvGraphicFramePr>
          <p:nvPr/>
        </p:nvGraphicFramePr>
        <p:xfrm>
          <a:off x="0" y="6783388"/>
          <a:ext cx="12192000" cy="74612"/>
        </p:xfrm>
        <a:graphic>
          <a:graphicData uri="http://schemas.openxmlformats.org/presentationml/2006/ole">
            <mc:AlternateContent xmlns:mc="http://schemas.openxmlformats.org/markup-compatibility/2006">
              <mc:Choice xmlns:v="urn:schemas-microsoft-com:vml" Requires="v">
                <p:oleObj spid="_x0000_s6146" name="Image" r:id="rId4" imgW="11328400" imgH="4572000" progId="">
                  <p:embed/>
                </p:oleObj>
              </mc:Choice>
              <mc:Fallback>
                <p:oleObj name="Image" r:id="rId4" imgW="11328400" imgH="4572000" progId="">
                  <p:embed/>
                  <p:pic>
                    <p:nvPicPr>
                      <p:cNvPr id="5" name="Object 2"/>
                      <p:cNvPicPr>
                        <a:picLocks noChangeAspect="1" noChangeArrowheads="1"/>
                      </p:cNvPicPr>
                      <p:nvPr/>
                    </p:nvPicPr>
                    <p:blipFill>
                      <a:blip r:embed="rId5">
                        <a:lum bright="-6000" contrast="6000"/>
                        <a:extLst>
                          <a:ext uri="{28A0092B-C50C-407E-A947-70E740481C1C}">
                            <a14:useLocalDpi xmlns:a14="http://schemas.microsoft.com/office/drawing/2010/main" val="0"/>
                          </a:ext>
                        </a:extLst>
                      </a:blip>
                      <a:srcRect/>
                      <a:stretch>
                        <a:fillRect/>
                      </a:stretch>
                    </p:blipFill>
                    <p:spPr bwMode="auto">
                      <a:xfrm>
                        <a:off x="0" y="6783388"/>
                        <a:ext cx="12192000" cy="74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Picture 13" descr="E:\MY DOC\北航简介\LOGO\BUAA LOGO.gif"/>
          <p:cNvPicPr>
            <a:picLocks noChangeAspect="1" noChangeArrowheads="1"/>
          </p:cNvPicPr>
          <p:nvPr userDrawn="1"/>
        </p:nvPicPr>
        <p:blipFill>
          <a:blip r:embed="rId6" cstate="screen">
            <a:lum contrast="-40000"/>
            <a:extLst>
              <a:ext uri="{28A0092B-C50C-407E-A947-70E740481C1C}">
                <a14:useLocalDpi xmlns:a14="http://schemas.microsoft.com/office/drawing/2010/main" val="0"/>
              </a:ext>
            </a:extLst>
          </a:blip>
          <a:srcRect/>
          <a:stretch>
            <a:fillRect/>
          </a:stretch>
        </p:blipFill>
        <p:spPr bwMode="auto">
          <a:xfrm>
            <a:off x="10856385" y="133350"/>
            <a:ext cx="1246716" cy="935038"/>
          </a:xfrm>
          <a:prstGeom prst="rect">
            <a:avLst/>
          </a:prstGeom>
          <a:noFill/>
          <a:ln w="9525">
            <a:noFill/>
            <a:miter lim="800000"/>
            <a:headEnd/>
            <a:tailEnd/>
          </a:ln>
        </p:spPr>
      </p:pic>
      <p:sp>
        <p:nvSpPr>
          <p:cNvPr id="2" name="Title 1"/>
          <p:cNvSpPr>
            <a:spLocks noGrp="1"/>
          </p:cNvSpPr>
          <p:nvPr>
            <p:ph type="ctrTitle"/>
          </p:nvPr>
        </p:nvSpPr>
        <p:spPr>
          <a:xfrm>
            <a:off x="545483" y="33298"/>
            <a:ext cx="9390944" cy="1235462"/>
          </a:xfrm>
        </p:spPr>
        <p:txBody>
          <a:bodyPr>
            <a:noAutofit/>
          </a:bodyPr>
          <a:lstStyle>
            <a:lvl1pPr>
              <a:lnSpc>
                <a:spcPct val="90000"/>
              </a:lnSpc>
              <a:defRPr sz="4000" b="1">
                <a:effectLst/>
                <a:latin typeface="微软雅黑" panose="020B0503020204020204" pitchFamily="34" charset="-122"/>
                <a:ea typeface="微软雅黑" panose="020B0503020204020204" pitchFamily="34" charset="-122"/>
              </a:defRPr>
            </a:lvl1pPr>
          </a:lstStyle>
          <a:p>
            <a:r>
              <a:rPr lang="zh-CN" altLang="en-US"/>
              <a:t>单击此处编辑母版标题样式</a:t>
            </a:r>
            <a:endParaRPr lang="en-US" dirty="0"/>
          </a:p>
        </p:txBody>
      </p:sp>
      <p:sp>
        <p:nvSpPr>
          <p:cNvPr id="3" name="Subtitle 2"/>
          <p:cNvSpPr>
            <a:spLocks noGrp="1"/>
          </p:cNvSpPr>
          <p:nvPr>
            <p:ph type="subTitle" idx="1"/>
          </p:nvPr>
        </p:nvSpPr>
        <p:spPr>
          <a:xfrm>
            <a:off x="911424" y="1916835"/>
            <a:ext cx="9390944" cy="461665"/>
          </a:xfrm>
        </p:spPr>
        <p:txBody>
          <a:bodyPr>
            <a:noAutofit/>
          </a:bodyPr>
          <a:lstStyle>
            <a:lvl1pPr marL="0" indent="0" algn="l">
              <a:lnSpc>
                <a:spcPct val="90000"/>
              </a:lnSpc>
              <a:spcBef>
                <a:spcPts val="0"/>
              </a:spcBef>
              <a:buNone/>
              <a:defRPr sz="3600" b="1">
                <a:solidFill>
                  <a:schemeClr val="tx1">
                    <a:tint val="75000"/>
                  </a:schemeClr>
                </a:solidFill>
                <a:latin typeface="楷体_GB2312" panose="02010609030101010101" pitchFamily="49" charset="-122"/>
                <a:ea typeface="楷体_GB2312" panose="02010609030101010101" pitchFamily="49"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Tree>
    <p:extLst>
      <p:ext uri="{BB962C8B-B14F-4D97-AF65-F5344CB8AC3E}">
        <p14:creationId xmlns:p14="http://schemas.microsoft.com/office/powerpoint/2010/main" val="231654772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slideLayout" Target="../slideLayouts/slideLayout14.xml"/><Relationship Id="rId7" Type="http://schemas.openxmlformats.org/officeDocument/2006/relationships/vmlDrawing" Target="../drawings/vmlDrawing1.v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11" Type="http://schemas.openxmlformats.org/officeDocument/2006/relationships/image" Target="../media/image7.png"/><Relationship Id="rId5" Type="http://schemas.openxmlformats.org/officeDocument/2006/relationships/slideLayout" Target="../slideLayouts/slideLayout16.xml"/><Relationship Id="rId10" Type="http://schemas.openxmlformats.org/officeDocument/2006/relationships/image" Target="../media/image5.png"/><Relationship Id="rId4" Type="http://schemas.openxmlformats.org/officeDocument/2006/relationships/slideLayout" Target="../slideLayouts/slideLayout15.xml"/><Relationship Id="rId9"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305215077"/>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ransition>
    <p:fade/>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5368" name="Picture 24" descr="图片1副本"/>
          <p:cNvPicPr>
            <a:picLocks noChangeAspect="1" noChangeArrowheads="1"/>
          </p:cNvPicPr>
          <p:nvPr/>
        </p:nvPicPr>
        <p:blipFill>
          <a:blip r:embed="rId8">
            <a:lum bright="10000" contrast="60000"/>
            <a:extLst>
              <a:ext uri="{28A0092B-C50C-407E-A947-70E740481C1C}">
                <a14:useLocalDpi xmlns:a14="http://schemas.microsoft.com/office/drawing/2010/main" val="0"/>
              </a:ext>
            </a:extLst>
          </a:blip>
          <a:srcRect/>
          <a:stretch>
            <a:fillRect/>
          </a:stretch>
        </p:blipFill>
        <p:spPr bwMode="auto">
          <a:xfrm>
            <a:off x="0" y="1"/>
            <a:ext cx="12192000" cy="1196975"/>
          </a:xfrm>
          <a:prstGeom prst="rect">
            <a:avLst/>
          </a:prstGeom>
          <a:noFill/>
          <a:ln w="38100">
            <a:noFill/>
            <a:miter lim="800000"/>
            <a:headEnd/>
            <a:tailEnd/>
          </a:ln>
        </p:spPr>
      </p:pic>
      <p:graphicFrame>
        <p:nvGraphicFramePr>
          <p:cNvPr id="15366" name="Object 6"/>
          <p:cNvGraphicFramePr>
            <a:graphicFrameLocks noChangeAspect="1"/>
          </p:cNvGraphicFramePr>
          <p:nvPr/>
        </p:nvGraphicFramePr>
        <p:xfrm>
          <a:off x="0" y="6783388"/>
          <a:ext cx="12192000" cy="74612"/>
        </p:xfrm>
        <a:graphic>
          <a:graphicData uri="http://schemas.openxmlformats.org/presentationml/2006/ole">
            <mc:AlternateContent xmlns:mc="http://schemas.openxmlformats.org/markup-compatibility/2006">
              <mc:Choice xmlns:v="urn:schemas-microsoft-com:vml" Requires="v">
                <p:oleObj spid="_x0000_s1026" name="Image" r:id="rId9" imgW="11328400" imgH="4572000" progId="">
                  <p:embed/>
                </p:oleObj>
              </mc:Choice>
              <mc:Fallback>
                <p:oleObj name="Image" r:id="rId9" imgW="11328400" imgH="4572000" progId="">
                  <p:embed/>
                  <p:pic>
                    <p:nvPicPr>
                      <p:cNvPr id="15366" name="Object 6"/>
                      <p:cNvPicPr>
                        <a:picLocks noChangeAspect="1" noChangeArrowheads="1"/>
                      </p:cNvPicPr>
                      <p:nvPr/>
                    </p:nvPicPr>
                    <p:blipFill>
                      <a:blip r:embed="rId10">
                        <a:lum bright="-6000" contrast="6000"/>
                        <a:extLst>
                          <a:ext uri="{28A0092B-C50C-407E-A947-70E740481C1C}">
                            <a14:useLocalDpi xmlns:a14="http://schemas.microsoft.com/office/drawing/2010/main" val="0"/>
                          </a:ext>
                        </a:extLst>
                      </a:blip>
                      <a:srcRect/>
                      <a:stretch>
                        <a:fillRect/>
                      </a:stretch>
                    </p:blipFill>
                    <p:spPr bwMode="auto">
                      <a:xfrm>
                        <a:off x="0" y="6783388"/>
                        <a:ext cx="12192000" cy="74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9" name="Rectangle 3"/>
          <p:cNvSpPr>
            <a:spLocks noGrp="1" noChangeArrowheads="1"/>
          </p:cNvSpPr>
          <p:nvPr>
            <p:ph type="body" idx="1"/>
          </p:nvPr>
        </p:nvSpPr>
        <p:spPr bwMode="auto">
          <a:xfrm>
            <a:off x="383118" y="1330326"/>
            <a:ext cx="11446933" cy="5256213"/>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 name="Rectangle 22"/>
          <p:cNvSpPr>
            <a:spLocks noGrp="1" noChangeArrowheads="1"/>
          </p:cNvSpPr>
          <p:nvPr>
            <p:ph type="title"/>
          </p:nvPr>
        </p:nvSpPr>
        <p:spPr bwMode="auto">
          <a:xfrm>
            <a:off x="131234" y="44450"/>
            <a:ext cx="11857567" cy="1143000"/>
          </a:xfrm>
          <a:prstGeom prst="rect">
            <a:avLst/>
          </a:prstGeom>
          <a:noFill/>
          <a:ln>
            <a:noFill/>
          </a:ln>
          <a:effectLst>
            <a:outerShdw blurRad="63500" dist="46662" dir="2115817" algn="ctr" rotWithShape="0">
              <a:schemeClr val="tx1">
                <a:alpha val="74998"/>
              </a:schemeClr>
            </a:outerShdw>
          </a:effectLst>
        </p:spPr>
        <p:txBody>
          <a:bodyPr vert="horz" wrap="square" lIns="91440" tIns="45720" rIns="91440" bIns="45720" numCol="1" anchor="ctr" anchorCtr="0" compatLnSpc="1"/>
          <a:lstStyle/>
          <a:p>
            <a:pPr lvl="0"/>
            <a:r>
              <a:rPr lang="zh-CN" altLang="en-US" dirty="0"/>
              <a:t>单击此处编辑母版标题样式</a:t>
            </a:r>
          </a:p>
        </p:txBody>
      </p:sp>
      <p:pic>
        <p:nvPicPr>
          <p:cNvPr id="15371" name="Picture 13" descr="E:\MY DOC\北航简介\LOGO\BUAA LOGO.gif"/>
          <p:cNvPicPr>
            <a:picLocks noChangeAspect="1" noChangeArrowheads="1"/>
          </p:cNvPicPr>
          <p:nvPr/>
        </p:nvPicPr>
        <p:blipFill>
          <a:blip r:embed="rId11" cstate="screen">
            <a:lum contrast="-40000"/>
            <a:extLst>
              <a:ext uri="{28A0092B-C50C-407E-A947-70E740481C1C}">
                <a14:useLocalDpi xmlns:a14="http://schemas.microsoft.com/office/drawing/2010/main" val="0"/>
              </a:ext>
            </a:extLst>
          </a:blip>
          <a:srcRect/>
          <a:stretch>
            <a:fillRect/>
          </a:stretch>
        </p:blipFill>
        <p:spPr bwMode="auto">
          <a:xfrm>
            <a:off x="10856385" y="133350"/>
            <a:ext cx="1246716" cy="935038"/>
          </a:xfrm>
          <a:prstGeom prst="rect">
            <a:avLst/>
          </a:prstGeom>
          <a:noFill/>
          <a:ln w="9525">
            <a:noFill/>
            <a:miter lim="800000"/>
            <a:headEnd/>
            <a:tailEnd/>
          </a:ln>
        </p:spPr>
      </p:pic>
      <p:sp>
        <p:nvSpPr>
          <p:cNvPr id="7" name="Rectangle 7"/>
          <p:cNvSpPr>
            <a:spLocks noGrp="1" noChangeArrowheads="1"/>
          </p:cNvSpPr>
          <p:nvPr>
            <p:ph type="sldNum" sz="quarter" idx="4"/>
          </p:nvPr>
        </p:nvSpPr>
        <p:spPr bwMode="auto">
          <a:xfrm>
            <a:off x="11279717" y="6456364"/>
            <a:ext cx="912283" cy="401637"/>
          </a:xfrm>
          <a:prstGeom prst="rect">
            <a:avLst/>
          </a:prstGeom>
          <a:noFill/>
        </p:spPr>
        <p:txBody>
          <a:bodyPr vert="horz" wrap="square" lIns="91440" tIns="45720" rIns="91440" bIns="45720" numCol="1" anchor="t" anchorCtr="0" compatLnSpc="1"/>
          <a:lstStyle>
            <a:lvl1pPr algn="r" eaLnBrk="0" hangingPunct="0">
              <a:defRPr sz="1400" b="1">
                <a:latin typeface="Arial" panose="020B0604020202020204" pitchFamily="34" charset="0"/>
                <a:ea typeface="黑体" panose="02010609060101010101" pitchFamily="2" charset="-122"/>
              </a:defRPr>
            </a:lvl1pPr>
          </a:lstStyle>
          <a:p>
            <a:pPr fontAlgn="base">
              <a:spcBef>
                <a:spcPct val="0"/>
              </a:spcBef>
              <a:spcAft>
                <a:spcPct val="0"/>
              </a:spcAft>
              <a:defRPr/>
            </a:pPr>
            <a:fld id="{F53BC0E7-4266-4B26-97D6-D2DCCE068E2C}" type="slidenum">
              <a:rPr lang="zh-CN" altLang="en-US">
                <a:solidFill>
                  <a:srgbClr val="000000"/>
                </a:solidFill>
              </a:rPr>
              <a:t>‹#›</a:t>
            </a:fld>
            <a:endParaRPr lang="en-US" altLang="zh-CN" dirty="0">
              <a:solidFill>
                <a:srgbClr val="000000"/>
              </a:solidFill>
            </a:endParaRPr>
          </a:p>
        </p:txBody>
      </p:sp>
    </p:spTree>
    <p:extLst>
      <p:ext uri="{BB962C8B-B14F-4D97-AF65-F5344CB8AC3E}">
        <p14:creationId xmlns:p14="http://schemas.microsoft.com/office/powerpoint/2010/main" val="2675231856"/>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Lst>
  <p:transition>
    <p:fade/>
  </p:transition>
  <p:hf hdr="0" ftr="0" dt="0"/>
  <p:txStyles>
    <p:titleStyle>
      <a:lvl1pPr algn="ctr" rtl="0" eaLnBrk="1" fontAlgn="base" hangingPunct="1">
        <a:spcBef>
          <a:spcPct val="0"/>
        </a:spcBef>
        <a:spcAft>
          <a:spcPct val="0"/>
        </a:spcAft>
        <a:defRPr kumimoji="1" sz="40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algn="ctr" rtl="0" eaLnBrk="1" fontAlgn="base" hangingPunct="1">
        <a:spcBef>
          <a:spcPct val="0"/>
        </a:spcBef>
        <a:spcAft>
          <a:spcPct val="0"/>
        </a:spcAft>
        <a:defRPr kumimoji="1" sz="40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2pPr>
      <a:lvl3pPr algn="ctr" rtl="0" eaLnBrk="1" fontAlgn="base" hangingPunct="1">
        <a:spcBef>
          <a:spcPct val="0"/>
        </a:spcBef>
        <a:spcAft>
          <a:spcPct val="0"/>
        </a:spcAft>
        <a:defRPr kumimoji="1" sz="40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3pPr>
      <a:lvl4pPr algn="ctr" rtl="0" eaLnBrk="1" fontAlgn="base" hangingPunct="1">
        <a:spcBef>
          <a:spcPct val="0"/>
        </a:spcBef>
        <a:spcAft>
          <a:spcPct val="0"/>
        </a:spcAft>
        <a:defRPr kumimoji="1" sz="40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4pPr>
      <a:lvl5pPr algn="ctr" rtl="0" eaLnBrk="1" fontAlgn="base" hangingPunct="1">
        <a:spcBef>
          <a:spcPct val="0"/>
        </a:spcBef>
        <a:spcAft>
          <a:spcPct val="0"/>
        </a:spcAft>
        <a:defRPr kumimoji="1" sz="40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5pPr>
      <a:lvl6pPr marL="457200" algn="ctr" rtl="0" eaLnBrk="1" fontAlgn="base" hangingPunct="1">
        <a:spcBef>
          <a:spcPct val="0"/>
        </a:spcBef>
        <a:spcAft>
          <a:spcPct val="0"/>
        </a:spcAft>
        <a:defRPr sz="5200">
          <a:solidFill>
            <a:schemeClr val="bg1"/>
          </a:solidFill>
          <a:latin typeface="Arial" panose="020B0604020202020204" pitchFamily="34" charset="0"/>
          <a:ea typeface="黑体" panose="02010609060101010101" pitchFamily="2" charset="-122"/>
        </a:defRPr>
      </a:lvl6pPr>
      <a:lvl7pPr marL="914400" algn="ctr" rtl="0" eaLnBrk="1" fontAlgn="base" hangingPunct="1">
        <a:spcBef>
          <a:spcPct val="0"/>
        </a:spcBef>
        <a:spcAft>
          <a:spcPct val="0"/>
        </a:spcAft>
        <a:defRPr sz="5200">
          <a:solidFill>
            <a:schemeClr val="bg1"/>
          </a:solidFill>
          <a:latin typeface="Arial" panose="020B0604020202020204" pitchFamily="34" charset="0"/>
          <a:ea typeface="黑体" panose="02010609060101010101" pitchFamily="2" charset="-122"/>
        </a:defRPr>
      </a:lvl7pPr>
      <a:lvl8pPr marL="1371600" algn="ctr" rtl="0" eaLnBrk="1" fontAlgn="base" hangingPunct="1">
        <a:spcBef>
          <a:spcPct val="0"/>
        </a:spcBef>
        <a:spcAft>
          <a:spcPct val="0"/>
        </a:spcAft>
        <a:defRPr sz="5200">
          <a:solidFill>
            <a:schemeClr val="bg1"/>
          </a:solidFill>
          <a:latin typeface="Arial" panose="020B0604020202020204" pitchFamily="34" charset="0"/>
          <a:ea typeface="黑体" panose="02010609060101010101" pitchFamily="2" charset="-122"/>
        </a:defRPr>
      </a:lvl8pPr>
      <a:lvl9pPr marL="1828800" algn="ctr" rtl="0" eaLnBrk="1" fontAlgn="base" hangingPunct="1">
        <a:spcBef>
          <a:spcPct val="0"/>
        </a:spcBef>
        <a:spcAft>
          <a:spcPct val="0"/>
        </a:spcAft>
        <a:defRPr sz="5200">
          <a:solidFill>
            <a:schemeClr val="bg1"/>
          </a:solidFill>
          <a:latin typeface="Arial" panose="020B0604020202020204" pitchFamily="34" charset="0"/>
          <a:ea typeface="黑体" panose="02010609060101010101" pitchFamily="2" charset="-122"/>
        </a:defRPr>
      </a:lvl9pPr>
    </p:titleStyle>
    <p:bodyStyle>
      <a:lvl1pPr marL="342900" indent="-342900" algn="l" rtl="0" eaLnBrk="1" fontAlgn="base" hangingPunct="1">
        <a:lnSpc>
          <a:spcPct val="110000"/>
        </a:lnSpc>
        <a:spcBef>
          <a:spcPts val="600"/>
        </a:spcBef>
        <a:spcAft>
          <a:spcPct val="0"/>
        </a:spcAft>
        <a:buClr>
          <a:srgbClr val="0000CC"/>
        </a:buClr>
        <a:buSzPct val="75000"/>
        <a:buFont typeface="Wingdings" panose="05000000000000000000" pitchFamily="2" charset="2"/>
        <a:buChar char="p"/>
        <a:defRPr kumimoji="1" sz="3600">
          <a:solidFill>
            <a:schemeClr val="tx1"/>
          </a:solidFill>
          <a:latin typeface="+mn-lt"/>
          <a:ea typeface="+mn-ea"/>
          <a:cs typeface="微软雅黑" panose="020B0503020204020204" pitchFamily="34" charset="-122"/>
        </a:defRPr>
      </a:lvl1pPr>
      <a:lvl2pPr marL="742950" indent="-285750" algn="l" rtl="0" eaLnBrk="1" fontAlgn="base" hangingPunct="1">
        <a:lnSpc>
          <a:spcPct val="110000"/>
        </a:lnSpc>
        <a:spcBef>
          <a:spcPts val="600"/>
        </a:spcBef>
        <a:spcAft>
          <a:spcPct val="0"/>
        </a:spcAft>
        <a:buClr>
          <a:srgbClr val="0000CC"/>
        </a:buClr>
        <a:buSzPct val="60000"/>
        <a:buFont typeface="Wingdings" panose="05000000000000000000" pitchFamily="2" charset="2"/>
        <a:buChar char="Ø"/>
        <a:defRPr kumimoji="1" sz="3200">
          <a:solidFill>
            <a:schemeClr val="tx1"/>
          </a:solidFill>
          <a:latin typeface="+mn-lt"/>
          <a:ea typeface="+mn-ea"/>
          <a:cs typeface="微软雅黑" panose="020B0503020204020204" pitchFamily="34" charset="-122"/>
        </a:defRPr>
      </a:lvl2pPr>
      <a:lvl3pPr marL="1143000" indent="-228600" algn="l" rtl="0" eaLnBrk="1" fontAlgn="base" hangingPunct="1">
        <a:lnSpc>
          <a:spcPct val="110000"/>
        </a:lnSpc>
        <a:spcBef>
          <a:spcPts val="600"/>
        </a:spcBef>
        <a:spcAft>
          <a:spcPct val="0"/>
        </a:spcAft>
        <a:buClr>
          <a:srgbClr val="0000CC"/>
        </a:buClr>
        <a:buChar char="•"/>
        <a:defRPr kumimoji="1" sz="2800">
          <a:solidFill>
            <a:schemeClr val="tx1"/>
          </a:solidFill>
          <a:latin typeface="+mn-lt"/>
          <a:ea typeface="+mn-ea"/>
          <a:cs typeface="微软雅黑" panose="020B0503020204020204" pitchFamily="34" charset="-122"/>
        </a:defRPr>
      </a:lvl3pPr>
      <a:lvl4pPr marL="1600200" indent="-228600" algn="l" rtl="0" eaLnBrk="1" fontAlgn="base" hangingPunct="1">
        <a:lnSpc>
          <a:spcPct val="110000"/>
        </a:lnSpc>
        <a:spcBef>
          <a:spcPts val="600"/>
        </a:spcBef>
        <a:spcAft>
          <a:spcPct val="0"/>
        </a:spcAft>
        <a:buClr>
          <a:srgbClr val="0000FF"/>
        </a:buClr>
        <a:buFont typeface="Arial" panose="020B0604020202020204" pitchFamily="34" charset="0"/>
        <a:buChar char="–"/>
        <a:defRPr kumimoji="1" sz="2400">
          <a:solidFill>
            <a:schemeClr val="tx1"/>
          </a:solidFill>
          <a:latin typeface="+mn-lt"/>
          <a:ea typeface="+mn-ea"/>
          <a:cs typeface="微软雅黑" panose="020B0503020204020204" pitchFamily="34" charset="-122"/>
        </a:defRPr>
      </a:lvl4pPr>
      <a:lvl5pPr marL="2057400" indent="-228600" algn="l" rtl="0" eaLnBrk="1" fontAlgn="base" hangingPunct="1">
        <a:lnSpc>
          <a:spcPct val="110000"/>
        </a:lnSpc>
        <a:spcBef>
          <a:spcPts val="600"/>
        </a:spcBef>
        <a:spcAft>
          <a:spcPct val="0"/>
        </a:spcAft>
        <a:buClr>
          <a:srgbClr val="0000FF"/>
        </a:buClr>
        <a:buFont typeface="Arial" panose="020B0604020202020204" pitchFamily="34" charset="0"/>
        <a:buChar char="»"/>
        <a:defRPr kumimoji="1" sz="2000">
          <a:solidFill>
            <a:schemeClr val="tx1"/>
          </a:solidFill>
          <a:latin typeface="+mn-lt"/>
          <a:ea typeface="+mn-ea"/>
          <a:cs typeface="微软雅黑" panose="020B0503020204020204" pitchFamily="34" charset="-122"/>
        </a:defRPr>
      </a:lvl5pPr>
      <a:lvl6pPr marL="2514600" indent="-228600" algn="l" rtl="0" eaLnBrk="1" fontAlgn="base" hangingPunct="1">
        <a:lnSpc>
          <a:spcPct val="90000"/>
        </a:lnSpc>
        <a:spcBef>
          <a:spcPct val="20000"/>
        </a:spcBef>
        <a:spcAft>
          <a:spcPct val="0"/>
        </a:spcAft>
        <a:buClr>
          <a:srgbClr val="042672"/>
        </a:buClr>
        <a:buChar char="»"/>
        <a:defRPr sz="2400">
          <a:solidFill>
            <a:schemeClr val="tx1"/>
          </a:solidFill>
          <a:latin typeface="+mn-lt"/>
          <a:ea typeface="+mn-ea"/>
        </a:defRPr>
      </a:lvl6pPr>
      <a:lvl7pPr marL="2971800" indent="-228600" algn="l" rtl="0" eaLnBrk="1" fontAlgn="base" hangingPunct="1">
        <a:lnSpc>
          <a:spcPct val="90000"/>
        </a:lnSpc>
        <a:spcBef>
          <a:spcPct val="20000"/>
        </a:spcBef>
        <a:spcAft>
          <a:spcPct val="0"/>
        </a:spcAft>
        <a:buClr>
          <a:srgbClr val="042672"/>
        </a:buClr>
        <a:buChar char="»"/>
        <a:defRPr sz="2400">
          <a:solidFill>
            <a:schemeClr val="tx1"/>
          </a:solidFill>
          <a:latin typeface="+mn-lt"/>
          <a:ea typeface="+mn-ea"/>
        </a:defRPr>
      </a:lvl7pPr>
      <a:lvl8pPr marL="3429000" indent="-228600" algn="l" rtl="0" eaLnBrk="1" fontAlgn="base" hangingPunct="1">
        <a:lnSpc>
          <a:spcPct val="90000"/>
        </a:lnSpc>
        <a:spcBef>
          <a:spcPct val="20000"/>
        </a:spcBef>
        <a:spcAft>
          <a:spcPct val="0"/>
        </a:spcAft>
        <a:buClr>
          <a:srgbClr val="042672"/>
        </a:buClr>
        <a:buChar char="»"/>
        <a:defRPr sz="2400">
          <a:solidFill>
            <a:schemeClr val="tx1"/>
          </a:solidFill>
          <a:latin typeface="+mn-lt"/>
          <a:ea typeface="+mn-ea"/>
        </a:defRPr>
      </a:lvl8pPr>
      <a:lvl9pPr marL="3886200" indent="-228600" algn="l" rtl="0" eaLnBrk="1" fontAlgn="base" hangingPunct="1">
        <a:lnSpc>
          <a:spcPct val="90000"/>
        </a:lnSpc>
        <a:spcBef>
          <a:spcPct val="20000"/>
        </a:spcBef>
        <a:spcAft>
          <a:spcPct val="0"/>
        </a:spcAft>
        <a:buClr>
          <a:srgbClr val="042672"/>
        </a:buClr>
        <a:buChar char="»"/>
        <a:defRPr sz="2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86.xml"/><Relationship Id="rId1" Type="http://schemas.openxmlformats.org/officeDocument/2006/relationships/slideLayout" Target="../slideLayouts/slideLayout7.xml"/><Relationship Id="rId5" Type="http://schemas.openxmlformats.org/officeDocument/2006/relationships/slide" Target="slide9.xml"/><Relationship Id="rId4" Type="http://schemas.openxmlformats.org/officeDocument/2006/relationships/slide" Target="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6.xml"/><Relationship Id="rId1" Type="http://schemas.openxmlformats.org/officeDocument/2006/relationships/vmlDrawing" Target="../drawings/vmlDrawing7.vml"/><Relationship Id="rId4" Type="http://schemas.openxmlformats.org/officeDocument/2006/relationships/image" Target="../media/image18.wmf"/></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19.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C4D389-B489-419F-BA0D-5B06D8621C43}"/>
              </a:ext>
            </a:extLst>
          </p:cNvPr>
          <p:cNvSpPr>
            <a:spLocks noGrp="1"/>
          </p:cNvSpPr>
          <p:nvPr>
            <p:ph type="ctrTitle"/>
          </p:nvPr>
        </p:nvSpPr>
        <p:spPr>
          <a:xfrm>
            <a:off x="1524000" y="1470381"/>
            <a:ext cx="9144000" cy="2064843"/>
          </a:xfrm>
        </p:spPr>
        <p:txBody>
          <a:bodyPr>
            <a:normAutofit/>
          </a:bodyPr>
          <a:lstStyle/>
          <a:p>
            <a:r>
              <a:rPr lang="zh-CN" altLang="en-US" b="1" dirty="0">
                <a:ea typeface="宋体" pitchFamily="2" charset="-122"/>
              </a:rPr>
              <a:t>数据结构与程序设计</a:t>
            </a:r>
            <a:br>
              <a:rPr lang="en-US" altLang="zh-CN" dirty="0">
                <a:ea typeface="宋体" pitchFamily="2" charset="-122"/>
              </a:rPr>
            </a:br>
            <a:r>
              <a:rPr lang="en-US" altLang="zh-CN" sz="4000" dirty="0">
                <a:ea typeface="宋体" pitchFamily="2" charset="-122"/>
              </a:rPr>
              <a:t>(</a:t>
            </a:r>
            <a:r>
              <a:rPr lang="en-US" altLang="zh-CN" sz="4000" dirty="0">
                <a:solidFill>
                  <a:srgbClr val="7030A0"/>
                </a:solidFill>
                <a:ea typeface="宋体" pitchFamily="2" charset="-122"/>
              </a:rPr>
              <a:t>D</a:t>
            </a:r>
            <a:r>
              <a:rPr lang="en-US" altLang="zh-CN" sz="4000" dirty="0">
                <a:ea typeface="宋体" pitchFamily="2" charset="-122"/>
              </a:rPr>
              <a:t>ata </a:t>
            </a:r>
            <a:r>
              <a:rPr lang="en-US" altLang="zh-CN" sz="4000" dirty="0">
                <a:solidFill>
                  <a:srgbClr val="7030A0"/>
                </a:solidFill>
                <a:ea typeface="宋体" pitchFamily="2" charset="-122"/>
              </a:rPr>
              <a:t>S</a:t>
            </a:r>
            <a:r>
              <a:rPr lang="en-US" altLang="zh-CN" sz="4000" dirty="0">
                <a:ea typeface="宋体" pitchFamily="2" charset="-122"/>
              </a:rPr>
              <a:t>tructure and </a:t>
            </a:r>
            <a:r>
              <a:rPr lang="en-US" altLang="zh-CN" sz="4000" dirty="0">
                <a:solidFill>
                  <a:srgbClr val="7030A0"/>
                </a:solidFill>
                <a:ea typeface="宋体" pitchFamily="2" charset="-122"/>
              </a:rPr>
              <a:t>P</a:t>
            </a:r>
            <a:r>
              <a:rPr lang="en-US" altLang="zh-CN" sz="4000" dirty="0">
                <a:ea typeface="宋体" pitchFamily="2" charset="-122"/>
              </a:rPr>
              <a:t>rogramming)</a:t>
            </a:r>
            <a:endParaRPr lang="zh-CN" altLang="en-US" dirty="0"/>
          </a:p>
        </p:txBody>
      </p:sp>
      <p:sp>
        <p:nvSpPr>
          <p:cNvPr id="3" name="副标题 2">
            <a:extLst>
              <a:ext uri="{FF2B5EF4-FFF2-40B4-BE49-F238E27FC236}">
                <a16:creationId xmlns:a16="http://schemas.microsoft.com/office/drawing/2014/main" id="{80ABD463-757F-4363-B87D-3DC40E24C096}"/>
              </a:ext>
            </a:extLst>
          </p:cNvPr>
          <p:cNvSpPr>
            <a:spLocks noGrp="1"/>
          </p:cNvSpPr>
          <p:nvPr>
            <p:ph type="subTitle" idx="1"/>
          </p:nvPr>
        </p:nvSpPr>
        <p:spPr>
          <a:xfrm>
            <a:off x="1521363" y="3892667"/>
            <a:ext cx="9144000" cy="1699170"/>
          </a:xfrm>
        </p:spPr>
        <p:txBody>
          <a:bodyPr anchor="ctr" anchorCtr="1">
            <a:normAutofit/>
          </a:bodyPr>
          <a:lstStyle/>
          <a:p>
            <a:pPr marL="0" indent="0" algn="ctr">
              <a:buNone/>
            </a:pPr>
            <a:r>
              <a:rPr lang="zh-CN" altLang="en-US" sz="4000" dirty="0">
                <a:latin typeface="隶书" panose="02010509060101010101" pitchFamily="49" charset="-122"/>
                <a:ea typeface="隶书" panose="02010509060101010101" pitchFamily="49" charset="-122"/>
              </a:rPr>
              <a:t>数据结构</a:t>
            </a:r>
            <a:endParaRPr lang="en-US" altLang="zh-CN" sz="4000" dirty="0">
              <a:latin typeface="隶书" panose="02010509060101010101" pitchFamily="49" charset="-122"/>
              <a:ea typeface="隶书" panose="02010509060101010101" pitchFamily="49" charset="-122"/>
            </a:endParaRPr>
          </a:p>
          <a:p>
            <a:pPr eaLnBrk="0" fontAlgn="base" hangingPunct="0">
              <a:lnSpc>
                <a:spcPts val="2200"/>
              </a:lnSpc>
              <a:spcBef>
                <a:spcPct val="60000"/>
              </a:spcBef>
              <a:spcAft>
                <a:spcPct val="0"/>
              </a:spcAft>
              <a:buClr>
                <a:srgbClr val="D60093"/>
              </a:buClr>
              <a:buSzPct val="70000"/>
            </a:pPr>
            <a:r>
              <a:rPr lang="zh-CN" altLang="en-US" sz="3200" dirty="0">
                <a:latin typeface="楷体" panose="02010609060101010101" pitchFamily="49" charset="-122"/>
                <a:ea typeface="楷体" panose="02010609060101010101" pitchFamily="49" charset="-122"/>
              </a:rPr>
              <a:t>栈与队</a:t>
            </a:r>
            <a:endParaRPr lang="en-US" altLang="zh-CN" sz="3200" dirty="0">
              <a:latin typeface="楷体" panose="02010609060101010101" pitchFamily="49" charset="-122"/>
              <a:ea typeface="楷体" panose="02010609060101010101" pitchFamily="49" charset="-122"/>
            </a:endParaRPr>
          </a:p>
          <a:p>
            <a:pPr marL="0" indent="0" algn="ctr" eaLnBrk="1" hangingPunct="1">
              <a:lnSpc>
                <a:spcPts val="1800"/>
              </a:lnSpc>
              <a:buNone/>
            </a:pPr>
            <a:r>
              <a:rPr lang="en-US" altLang="zh-CN" sz="2800" b="0" dirty="0">
                <a:solidFill>
                  <a:schemeClr val="tx1">
                    <a:lumMod val="50000"/>
                    <a:lumOff val="50000"/>
                  </a:schemeClr>
                </a:solidFill>
                <a:latin typeface="楷体" pitchFamily="49" charset="-122"/>
                <a:ea typeface="楷体" pitchFamily="49" charset="-122"/>
              </a:rPr>
              <a:t>(Stack and Queue)</a:t>
            </a:r>
          </a:p>
        </p:txBody>
      </p:sp>
    </p:spTree>
    <p:extLst>
      <p:ext uri="{BB962C8B-B14F-4D97-AF65-F5344CB8AC3E}">
        <p14:creationId xmlns:p14="http://schemas.microsoft.com/office/powerpoint/2010/main" val="346386043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Text Box 5"/>
          <p:cNvSpPr txBox="1">
            <a:spLocks noChangeArrowheads="1"/>
          </p:cNvSpPr>
          <p:nvPr/>
        </p:nvSpPr>
        <p:spPr bwMode="auto">
          <a:xfrm flipH="1">
            <a:off x="9183689" y="4065589"/>
            <a:ext cx="1335087" cy="396875"/>
          </a:xfrm>
          <a:prstGeom prst="rect">
            <a:avLst/>
          </a:prstGeom>
          <a:noFill/>
          <a:ln w="12699">
            <a:noFill/>
            <a:miter lim="800000"/>
            <a:headEnd/>
            <a:tailEnd/>
          </a:ln>
          <a:effectLst/>
        </p:spPr>
        <p:txBody>
          <a:bodyPr>
            <a:spAutoFit/>
          </a:bodyPr>
          <a:lstStyle/>
          <a:p>
            <a:pPr>
              <a:spcBef>
                <a:spcPct val="50000"/>
              </a:spcBef>
              <a:defRPr/>
            </a:pPr>
            <a:r>
              <a:rPr lang="zh-CN" altLang="en-US" sz="2000" b="1" dirty="0">
                <a:solidFill>
                  <a:schemeClr val="accent6"/>
                </a:solidFill>
                <a:latin typeface="黑体" pitchFamily="49" charset="-122"/>
                <a:ea typeface="黑体" pitchFamily="49" charset="-122"/>
              </a:rPr>
              <a:t>逻辑结构</a:t>
            </a:r>
          </a:p>
        </p:txBody>
      </p:sp>
      <p:grpSp>
        <p:nvGrpSpPr>
          <p:cNvPr id="2" name="Group 6"/>
          <p:cNvGrpSpPr>
            <a:grpSpLocks/>
          </p:cNvGrpSpPr>
          <p:nvPr/>
        </p:nvGrpSpPr>
        <p:grpSpPr bwMode="auto">
          <a:xfrm>
            <a:off x="3024189" y="4289425"/>
            <a:ext cx="2714625" cy="2368550"/>
            <a:chOff x="1346" y="2228"/>
            <a:chExt cx="1595" cy="1406"/>
          </a:xfrm>
        </p:grpSpPr>
        <p:sp>
          <p:nvSpPr>
            <p:cNvPr id="27708" name="Line 7"/>
            <p:cNvSpPr>
              <a:spLocks noChangeShapeType="1"/>
            </p:cNvSpPr>
            <p:nvPr/>
          </p:nvSpPr>
          <p:spPr bwMode="auto">
            <a:xfrm flipH="1">
              <a:off x="1346" y="2228"/>
              <a:ext cx="1595" cy="1406"/>
            </a:xfrm>
            <a:prstGeom prst="line">
              <a:avLst/>
            </a:prstGeom>
            <a:noFill/>
            <a:ln w="38100">
              <a:solidFill>
                <a:srgbClr val="FF0033"/>
              </a:solidFill>
              <a:round/>
              <a:headEnd/>
              <a:tailEnd type="triangle" w="med" len="med"/>
            </a:ln>
          </p:spPr>
          <p:txBody>
            <a:bodyPr wrap="none" anchor="ctr">
              <a:spAutoFit/>
            </a:bodyPr>
            <a:lstStyle/>
            <a:p>
              <a:endParaRPr lang="zh-CN" altLang="en-US"/>
            </a:p>
          </p:txBody>
        </p:sp>
        <p:sp>
          <p:nvSpPr>
            <p:cNvPr id="27709" name="Line 9"/>
            <p:cNvSpPr>
              <a:spLocks noChangeShapeType="1"/>
            </p:cNvSpPr>
            <p:nvPr/>
          </p:nvSpPr>
          <p:spPr bwMode="auto">
            <a:xfrm>
              <a:off x="2623" y="2425"/>
              <a:ext cx="0" cy="180"/>
            </a:xfrm>
            <a:prstGeom prst="line">
              <a:avLst/>
            </a:prstGeom>
            <a:noFill/>
            <a:ln w="38100">
              <a:solidFill>
                <a:srgbClr val="FF0033"/>
              </a:solidFill>
              <a:round/>
              <a:headEnd/>
              <a:tailEnd/>
            </a:ln>
          </p:spPr>
          <p:txBody>
            <a:bodyPr wrap="none" anchor="ctr">
              <a:spAutoFit/>
            </a:bodyPr>
            <a:lstStyle/>
            <a:p>
              <a:endParaRPr lang="zh-CN" altLang="en-US"/>
            </a:p>
          </p:txBody>
        </p:sp>
        <p:sp>
          <p:nvSpPr>
            <p:cNvPr id="27710" name="Line 11"/>
            <p:cNvSpPr>
              <a:spLocks noChangeShapeType="1"/>
            </p:cNvSpPr>
            <p:nvPr/>
          </p:nvSpPr>
          <p:spPr bwMode="auto">
            <a:xfrm>
              <a:off x="2292" y="2715"/>
              <a:ext cx="0" cy="180"/>
            </a:xfrm>
            <a:prstGeom prst="line">
              <a:avLst/>
            </a:prstGeom>
            <a:noFill/>
            <a:ln w="38100">
              <a:solidFill>
                <a:srgbClr val="FF0033"/>
              </a:solidFill>
              <a:round/>
              <a:headEnd/>
              <a:tailEnd/>
            </a:ln>
          </p:spPr>
          <p:txBody>
            <a:bodyPr wrap="none" anchor="ctr">
              <a:spAutoFit/>
            </a:bodyPr>
            <a:lstStyle/>
            <a:p>
              <a:endParaRPr lang="zh-CN" altLang="en-US"/>
            </a:p>
          </p:txBody>
        </p:sp>
        <p:sp>
          <p:nvSpPr>
            <p:cNvPr id="27711" name="Line 13"/>
            <p:cNvSpPr>
              <a:spLocks noChangeShapeType="1"/>
            </p:cNvSpPr>
            <p:nvPr/>
          </p:nvSpPr>
          <p:spPr bwMode="auto">
            <a:xfrm>
              <a:off x="1928" y="3033"/>
              <a:ext cx="0" cy="180"/>
            </a:xfrm>
            <a:prstGeom prst="line">
              <a:avLst/>
            </a:prstGeom>
            <a:noFill/>
            <a:ln w="38100">
              <a:solidFill>
                <a:srgbClr val="FF0033"/>
              </a:solidFill>
              <a:round/>
              <a:headEnd/>
              <a:tailEnd/>
            </a:ln>
          </p:spPr>
          <p:txBody>
            <a:bodyPr anchor="ctr">
              <a:spAutoFit/>
            </a:bodyPr>
            <a:lstStyle/>
            <a:p>
              <a:endParaRPr lang="zh-CN" altLang="en-US"/>
            </a:p>
          </p:txBody>
        </p:sp>
        <p:sp>
          <p:nvSpPr>
            <p:cNvPr id="27712" name="Line 18"/>
            <p:cNvSpPr>
              <a:spLocks noChangeShapeType="1"/>
            </p:cNvSpPr>
            <p:nvPr/>
          </p:nvSpPr>
          <p:spPr bwMode="auto">
            <a:xfrm>
              <a:off x="1578" y="3327"/>
              <a:ext cx="0" cy="180"/>
            </a:xfrm>
            <a:prstGeom prst="line">
              <a:avLst/>
            </a:prstGeom>
            <a:noFill/>
            <a:ln w="38100">
              <a:solidFill>
                <a:srgbClr val="FF0033"/>
              </a:solidFill>
              <a:round/>
              <a:headEnd/>
              <a:tailEnd/>
            </a:ln>
          </p:spPr>
          <p:txBody>
            <a:bodyPr anchor="ctr">
              <a:spAutoFit/>
            </a:bodyPr>
            <a:lstStyle/>
            <a:p>
              <a:endParaRPr lang="zh-CN" altLang="en-US"/>
            </a:p>
          </p:txBody>
        </p:sp>
      </p:grpSp>
      <p:sp>
        <p:nvSpPr>
          <p:cNvPr id="27652" name="Text Box 19"/>
          <p:cNvSpPr txBox="1">
            <a:spLocks noChangeArrowheads="1"/>
          </p:cNvSpPr>
          <p:nvPr/>
        </p:nvSpPr>
        <p:spPr bwMode="auto">
          <a:xfrm>
            <a:off x="1931988" y="6157914"/>
            <a:ext cx="1878012" cy="396875"/>
          </a:xfrm>
          <a:prstGeom prst="rect">
            <a:avLst/>
          </a:prstGeom>
          <a:noFill/>
          <a:ln w="12699">
            <a:noFill/>
            <a:miter lim="800000"/>
            <a:headEnd/>
            <a:tailEnd/>
          </a:ln>
        </p:spPr>
        <p:txBody>
          <a:bodyPr>
            <a:spAutoFit/>
          </a:bodyPr>
          <a:lstStyle/>
          <a:p>
            <a:pPr>
              <a:spcBef>
                <a:spcPct val="50000"/>
              </a:spcBef>
            </a:pPr>
            <a:r>
              <a:rPr lang="zh-CN" altLang="en-US" sz="2000" b="1">
                <a:solidFill>
                  <a:srgbClr val="FF0000"/>
                </a:solidFill>
                <a:latin typeface="黑体" pitchFamily="2" charset="-122"/>
                <a:ea typeface="黑体" pitchFamily="2" charset="-122"/>
              </a:rPr>
              <a:t>存储结构</a:t>
            </a:r>
          </a:p>
        </p:txBody>
      </p:sp>
      <p:sp>
        <p:nvSpPr>
          <p:cNvPr id="3094" name="Text Box 22"/>
          <p:cNvSpPr txBox="1">
            <a:spLocks noChangeArrowheads="1"/>
          </p:cNvSpPr>
          <p:nvPr/>
        </p:nvSpPr>
        <p:spPr bwMode="auto">
          <a:xfrm>
            <a:off x="4106863" y="966789"/>
            <a:ext cx="3211512" cy="396875"/>
          </a:xfrm>
          <a:prstGeom prst="rect">
            <a:avLst/>
          </a:prstGeom>
          <a:noFill/>
          <a:ln w="12699">
            <a:noFill/>
            <a:miter lim="800000"/>
            <a:headEnd/>
            <a:tailEnd/>
          </a:ln>
          <a:effectLst/>
        </p:spPr>
        <p:txBody>
          <a:bodyPr>
            <a:spAutoFit/>
          </a:bodyPr>
          <a:lstStyle/>
          <a:p>
            <a:pPr algn="ctr">
              <a:spcBef>
                <a:spcPct val="50000"/>
              </a:spcBef>
              <a:defRPr/>
            </a:pPr>
            <a:r>
              <a:rPr lang="zh-CN" altLang="en-US" sz="2000" b="1" dirty="0">
                <a:solidFill>
                  <a:schemeClr val="accent1">
                    <a:lumMod val="25000"/>
                  </a:schemeClr>
                </a:solidFill>
                <a:effectLst>
                  <a:outerShdw blurRad="38100" dist="38100" dir="2700000" algn="tl">
                    <a:srgbClr val="C0C0C0"/>
                  </a:outerShdw>
                </a:effectLst>
                <a:latin typeface="黑体" pitchFamily="49" charset="-122"/>
                <a:ea typeface="黑体" pitchFamily="49" charset="-122"/>
              </a:rPr>
              <a:t>运算</a:t>
            </a:r>
          </a:p>
        </p:txBody>
      </p:sp>
      <p:grpSp>
        <p:nvGrpSpPr>
          <p:cNvPr id="8" name="Group 23"/>
          <p:cNvGrpSpPr>
            <a:grpSpLocks/>
          </p:cNvGrpSpPr>
          <p:nvPr/>
        </p:nvGrpSpPr>
        <p:grpSpPr bwMode="auto">
          <a:xfrm>
            <a:off x="5605464" y="1290638"/>
            <a:ext cx="231775" cy="3009900"/>
            <a:chOff x="2266" y="566"/>
            <a:chExt cx="146" cy="1851"/>
          </a:xfrm>
        </p:grpSpPr>
        <p:sp>
          <p:nvSpPr>
            <p:cNvPr id="3096" name="Line 24"/>
            <p:cNvSpPr>
              <a:spLocks noChangeShapeType="1"/>
            </p:cNvSpPr>
            <p:nvPr/>
          </p:nvSpPr>
          <p:spPr bwMode="auto">
            <a:xfrm flipH="1" flipV="1">
              <a:off x="2334" y="566"/>
              <a:ext cx="29" cy="1851"/>
            </a:xfrm>
            <a:prstGeom prst="line">
              <a:avLst/>
            </a:prstGeom>
            <a:noFill/>
            <a:ln w="38100">
              <a:solidFill>
                <a:schemeClr val="accent1">
                  <a:lumMod val="25000"/>
                </a:schemeClr>
              </a:solidFill>
              <a:round/>
              <a:headEnd/>
              <a:tailEnd type="triangle" w="med" len="med"/>
            </a:ln>
            <a:effectLst/>
          </p:spPr>
          <p:txBody>
            <a:bodyPr anchor="ctr">
              <a:spAutoFit/>
            </a:bodyPr>
            <a:lstStyle/>
            <a:p>
              <a:pPr eaLnBrk="1" hangingPunct="1">
                <a:defRPr/>
              </a:pPr>
              <a:endParaRPr lang="zh-CN" altLang="en-US">
                <a:latin typeface="Arial" charset="0"/>
                <a:ea typeface="宋体" pitchFamily="2" charset="-122"/>
              </a:endParaRPr>
            </a:p>
          </p:txBody>
        </p:sp>
        <p:sp>
          <p:nvSpPr>
            <p:cNvPr id="3098" name="Line 26"/>
            <p:cNvSpPr>
              <a:spLocks noChangeShapeType="1"/>
            </p:cNvSpPr>
            <p:nvPr/>
          </p:nvSpPr>
          <p:spPr bwMode="auto">
            <a:xfrm>
              <a:off x="2267" y="1145"/>
              <a:ext cx="145" cy="0"/>
            </a:xfrm>
            <a:prstGeom prst="line">
              <a:avLst/>
            </a:prstGeom>
            <a:noFill/>
            <a:ln w="38100">
              <a:solidFill>
                <a:schemeClr val="accent1">
                  <a:lumMod val="25000"/>
                </a:schemeClr>
              </a:solidFill>
              <a:round/>
              <a:headEnd/>
              <a:tailEnd/>
            </a:ln>
            <a:effectLst/>
          </p:spPr>
          <p:txBody>
            <a:bodyPr anchor="ctr">
              <a:spAutoFit/>
            </a:bodyPr>
            <a:lstStyle/>
            <a:p>
              <a:pPr eaLnBrk="1" hangingPunct="1">
                <a:defRPr/>
              </a:pPr>
              <a:endParaRPr lang="zh-CN" altLang="en-US">
                <a:latin typeface="Arial" charset="0"/>
                <a:ea typeface="宋体" pitchFamily="2" charset="-122"/>
              </a:endParaRPr>
            </a:p>
          </p:txBody>
        </p:sp>
        <p:sp>
          <p:nvSpPr>
            <p:cNvPr id="3" name="Line 27"/>
            <p:cNvSpPr>
              <a:spLocks noChangeShapeType="1"/>
            </p:cNvSpPr>
            <p:nvPr/>
          </p:nvSpPr>
          <p:spPr bwMode="auto">
            <a:xfrm>
              <a:off x="2267" y="1327"/>
              <a:ext cx="145" cy="0"/>
            </a:xfrm>
            <a:prstGeom prst="line">
              <a:avLst/>
            </a:prstGeom>
            <a:noFill/>
            <a:ln w="38100">
              <a:solidFill>
                <a:schemeClr val="accent1">
                  <a:lumMod val="25000"/>
                </a:schemeClr>
              </a:solidFill>
              <a:round/>
              <a:headEnd/>
              <a:tailEnd/>
            </a:ln>
            <a:effectLst/>
          </p:spPr>
          <p:txBody>
            <a:bodyPr anchor="ctr">
              <a:spAutoFit/>
            </a:bodyPr>
            <a:lstStyle/>
            <a:p>
              <a:pPr eaLnBrk="1" hangingPunct="1">
                <a:defRPr/>
              </a:pPr>
              <a:endParaRPr lang="zh-CN" altLang="en-US">
                <a:latin typeface="Arial" charset="0"/>
                <a:ea typeface="宋体" pitchFamily="2" charset="-122"/>
              </a:endParaRPr>
            </a:p>
          </p:txBody>
        </p:sp>
        <p:sp>
          <p:nvSpPr>
            <p:cNvPr id="4" name="Line 28"/>
            <p:cNvSpPr>
              <a:spLocks noChangeShapeType="1"/>
            </p:cNvSpPr>
            <p:nvPr/>
          </p:nvSpPr>
          <p:spPr bwMode="auto">
            <a:xfrm>
              <a:off x="2267" y="1497"/>
              <a:ext cx="145" cy="0"/>
            </a:xfrm>
            <a:prstGeom prst="line">
              <a:avLst/>
            </a:prstGeom>
            <a:noFill/>
            <a:ln w="38100">
              <a:solidFill>
                <a:schemeClr val="accent1">
                  <a:lumMod val="25000"/>
                </a:schemeClr>
              </a:solidFill>
              <a:round/>
              <a:headEnd/>
              <a:tailEnd/>
            </a:ln>
            <a:effectLst/>
          </p:spPr>
          <p:txBody>
            <a:bodyPr anchor="ctr">
              <a:spAutoFit/>
            </a:bodyPr>
            <a:lstStyle/>
            <a:p>
              <a:pPr eaLnBrk="1" hangingPunct="1">
                <a:defRPr/>
              </a:pPr>
              <a:endParaRPr lang="zh-CN" altLang="en-US">
                <a:latin typeface="Arial" charset="0"/>
                <a:ea typeface="宋体" pitchFamily="2" charset="-122"/>
              </a:endParaRPr>
            </a:p>
          </p:txBody>
        </p:sp>
        <p:sp>
          <p:nvSpPr>
            <p:cNvPr id="5" name="Line 29"/>
            <p:cNvSpPr>
              <a:spLocks noChangeShapeType="1"/>
            </p:cNvSpPr>
            <p:nvPr/>
          </p:nvSpPr>
          <p:spPr bwMode="auto">
            <a:xfrm>
              <a:off x="2266" y="1682"/>
              <a:ext cx="145" cy="0"/>
            </a:xfrm>
            <a:prstGeom prst="line">
              <a:avLst/>
            </a:prstGeom>
            <a:noFill/>
            <a:ln w="38100">
              <a:solidFill>
                <a:schemeClr val="accent1">
                  <a:lumMod val="25000"/>
                </a:schemeClr>
              </a:solidFill>
              <a:round/>
              <a:headEnd/>
              <a:tailEnd/>
            </a:ln>
            <a:effectLst/>
          </p:spPr>
          <p:txBody>
            <a:bodyPr anchor="ctr">
              <a:spAutoFit/>
            </a:bodyPr>
            <a:lstStyle/>
            <a:p>
              <a:pPr eaLnBrk="1" hangingPunct="1">
                <a:defRPr/>
              </a:pPr>
              <a:endParaRPr lang="zh-CN" altLang="en-US">
                <a:latin typeface="Arial" charset="0"/>
                <a:ea typeface="宋体" pitchFamily="2" charset="-122"/>
              </a:endParaRPr>
            </a:p>
          </p:txBody>
        </p:sp>
        <p:sp>
          <p:nvSpPr>
            <p:cNvPr id="6" name="Line 30"/>
            <p:cNvSpPr>
              <a:spLocks noChangeShapeType="1"/>
            </p:cNvSpPr>
            <p:nvPr/>
          </p:nvSpPr>
          <p:spPr bwMode="auto">
            <a:xfrm>
              <a:off x="2266" y="1858"/>
              <a:ext cx="145" cy="0"/>
            </a:xfrm>
            <a:prstGeom prst="line">
              <a:avLst/>
            </a:prstGeom>
            <a:noFill/>
            <a:ln w="38100">
              <a:solidFill>
                <a:schemeClr val="accent1">
                  <a:lumMod val="25000"/>
                </a:schemeClr>
              </a:solidFill>
              <a:round/>
              <a:headEnd/>
              <a:tailEnd/>
            </a:ln>
            <a:effectLst/>
          </p:spPr>
          <p:txBody>
            <a:bodyPr anchor="ctr">
              <a:spAutoFit/>
            </a:bodyPr>
            <a:lstStyle/>
            <a:p>
              <a:pPr eaLnBrk="1" hangingPunct="1">
                <a:defRPr/>
              </a:pPr>
              <a:endParaRPr lang="zh-CN" altLang="en-US">
                <a:latin typeface="Arial" charset="0"/>
                <a:ea typeface="宋体" pitchFamily="2" charset="-122"/>
              </a:endParaRPr>
            </a:p>
          </p:txBody>
        </p:sp>
        <p:sp>
          <p:nvSpPr>
            <p:cNvPr id="7" name="Line 31"/>
            <p:cNvSpPr>
              <a:spLocks noChangeShapeType="1"/>
            </p:cNvSpPr>
            <p:nvPr/>
          </p:nvSpPr>
          <p:spPr bwMode="auto">
            <a:xfrm>
              <a:off x="2266" y="2041"/>
              <a:ext cx="145" cy="0"/>
            </a:xfrm>
            <a:prstGeom prst="line">
              <a:avLst/>
            </a:prstGeom>
            <a:noFill/>
            <a:ln w="38100">
              <a:solidFill>
                <a:schemeClr val="accent1">
                  <a:lumMod val="25000"/>
                </a:schemeClr>
              </a:solidFill>
              <a:round/>
              <a:headEnd/>
              <a:tailEnd/>
            </a:ln>
            <a:effectLst/>
          </p:spPr>
          <p:txBody>
            <a:bodyPr anchor="ctr">
              <a:spAutoFit/>
            </a:bodyPr>
            <a:lstStyle/>
            <a:p>
              <a:pPr eaLnBrk="1" hangingPunct="1">
                <a:defRPr/>
              </a:pPr>
              <a:endParaRPr lang="zh-CN" altLang="en-US">
                <a:latin typeface="Arial" charset="0"/>
                <a:ea typeface="宋体" pitchFamily="2" charset="-122"/>
              </a:endParaRPr>
            </a:p>
          </p:txBody>
        </p:sp>
        <p:sp>
          <p:nvSpPr>
            <p:cNvPr id="3104" name="Line 32"/>
            <p:cNvSpPr>
              <a:spLocks noChangeShapeType="1"/>
            </p:cNvSpPr>
            <p:nvPr/>
          </p:nvSpPr>
          <p:spPr bwMode="auto">
            <a:xfrm>
              <a:off x="2266" y="963"/>
              <a:ext cx="145" cy="0"/>
            </a:xfrm>
            <a:prstGeom prst="line">
              <a:avLst/>
            </a:prstGeom>
            <a:noFill/>
            <a:ln w="38100">
              <a:solidFill>
                <a:schemeClr val="accent1">
                  <a:lumMod val="25000"/>
                </a:schemeClr>
              </a:solidFill>
              <a:round/>
              <a:headEnd/>
              <a:tailEnd/>
            </a:ln>
            <a:effectLst/>
          </p:spPr>
          <p:txBody>
            <a:bodyPr anchor="ctr">
              <a:spAutoFit/>
            </a:bodyPr>
            <a:lstStyle/>
            <a:p>
              <a:pPr eaLnBrk="1" hangingPunct="1">
                <a:defRPr/>
              </a:pPr>
              <a:endParaRPr lang="zh-CN" altLang="en-US">
                <a:latin typeface="Arial" charset="0"/>
                <a:ea typeface="宋体" pitchFamily="2" charset="-122"/>
              </a:endParaRPr>
            </a:p>
          </p:txBody>
        </p:sp>
      </p:grpSp>
      <p:sp>
        <p:nvSpPr>
          <p:cNvPr id="3105" name="Text Box 33"/>
          <p:cNvSpPr txBox="1">
            <a:spLocks noChangeArrowheads="1"/>
          </p:cNvSpPr>
          <p:nvPr/>
        </p:nvSpPr>
        <p:spPr bwMode="auto">
          <a:xfrm>
            <a:off x="5819776" y="3451225"/>
            <a:ext cx="1044575" cy="338138"/>
          </a:xfrm>
          <a:prstGeom prst="rect">
            <a:avLst/>
          </a:prstGeom>
          <a:noFill/>
          <a:ln w="12699">
            <a:noFill/>
            <a:miter lim="800000"/>
            <a:headEnd/>
            <a:tailEnd/>
          </a:ln>
          <a:effectLst/>
        </p:spPr>
        <p:txBody>
          <a:bodyPr>
            <a:spAutoFit/>
          </a:bodyPr>
          <a:lstStyle/>
          <a:p>
            <a:pPr>
              <a:spcBef>
                <a:spcPct val="50000"/>
              </a:spcBef>
              <a:defRPr/>
            </a:pPr>
            <a:r>
              <a:rPr lang="zh-CN" altLang="en-US" sz="1600" b="1" dirty="0">
                <a:solidFill>
                  <a:schemeClr val="accent1">
                    <a:lumMod val="25000"/>
                  </a:schemeClr>
                </a:solidFill>
                <a:effectLst>
                  <a:outerShdw blurRad="38100" dist="38100" dir="2700000" algn="tl">
                    <a:srgbClr val="C0C0C0"/>
                  </a:outerShdw>
                </a:effectLst>
                <a:latin typeface="黑体" pitchFamily="49" charset="-122"/>
                <a:ea typeface="黑体" pitchFamily="49" charset="-122"/>
              </a:rPr>
              <a:t>建立结构</a:t>
            </a:r>
          </a:p>
        </p:txBody>
      </p:sp>
      <p:sp>
        <p:nvSpPr>
          <p:cNvPr id="3107" name="Line 35"/>
          <p:cNvSpPr>
            <a:spLocks noChangeShapeType="1"/>
          </p:cNvSpPr>
          <p:nvPr/>
        </p:nvSpPr>
        <p:spPr bwMode="auto">
          <a:xfrm flipH="1">
            <a:off x="5995988" y="4170363"/>
            <a:ext cx="0" cy="258762"/>
          </a:xfrm>
          <a:prstGeom prst="line">
            <a:avLst/>
          </a:prstGeom>
          <a:noFill/>
          <a:ln w="38100">
            <a:solidFill>
              <a:schemeClr val="accent2">
                <a:lumMod val="75000"/>
              </a:schemeClr>
            </a:solidFill>
            <a:round/>
            <a:headEnd/>
            <a:tailEnd/>
          </a:ln>
          <a:effectLst/>
        </p:spPr>
        <p:txBody>
          <a:bodyPr anchor="ctr">
            <a:spAutoFit/>
          </a:bodyPr>
          <a:lstStyle/>
          <a:p>
            <a:pPr eaLnBrk="1" hangingPunct="1">
              <a:defRPr/>
            </a:pPr>
            <a:endParaRPr lang="zh-CN" altLang="en-US">
              <a:latin typeface="Arial" charset="0"/>
              <a:ea typeface="宋体" pitchFamily="2" charset="-122"/>
            </a:endParaRPr>
          </a:p>
        </p:txBody>
      </p:sp>
      <p:sp>
        <p:nvSpPr>
          <p:cNvPr id="3108" name="Line 36"/>
          <p:cNvSpPr>
            <a:spLocks noChangeShapeType="1"/>
          </p:cNvSpPr>
          <p:nvPr/>
        </p:nvSpPr>
        <p:spPr bwMode="auto">
          <a:xfrm flipH="1">
            <a:off x="6350000" y="4170363"/>
            <a:ext cx="0" cy="258762"/>
          </a:xfrm>
          <a:prstGeom prst="line">
            <a:avLst/>
          </a:prstGeom>
          <a:noFill/>
          <a:ln w="38100">
            <a:solidFill>
              <a:schemeClr val="accent2">
                <a:lumMod val="75000"/>
              </a:schemeClr>
            </a:solidFill>
            <a:round/>
            <a:headEnd/>
            <a:tailEnd/>
          </a:ln>
          <a:effectLst/>
        </p:spPr>
        <p:txBody>
          <a:bodyPr anchor="ctr">
            <a:spAutoFit/>
          </a:bodyPr>
          <a:lstStyle/>
          <a:p>
            <a:pPr eaLnBrk="1" hangingPunct="1">
              <a:defRPr/>
            </a:pPr>
            <a:endParaRPr lang="zh-CN" altLang="en-US">
              <a:latin typeface="Arial" charset="0"/>
              <a:ea typeface="宋体" pitchFamily="2" charset="-122"/>
            </a:endParaRPr>
          </a:p>
        </p:txBody>
      </p:sp>
      <p:sp>
        <p:nvSpPr>
          <p:cNvPr id="3109" name="Line 37"/>
          <p:cNvSpPr>
            <a:spLocks noChangeShapeType="1"/>
          </p:cNvSpPr>
          <p:nvPr/>
        </p:nvSpPr>
        <p:spPr bwMode="auto">
          <a:xfrm flipH="1">
            <a:off x="6689725" y="4170363"/>
            <a:ext cx="0" cy="258762"/>
          </a:xfrm>
          <a:prstGeom prst="line">
            <a:avLst/>
          </a:prstGeom>
          <a:noFill/>
          <a:ln w="38100">
            <a:solidFill>
              <a:schemeClr val="accent2">
                <a:lumMod val="75000"/>
              </a:schemeClr>
            </a:solidFill>
            <a:round/>
            <a:headEnd/>
            <a:tailEnd/>
          </a:ln>
          <a:effectLst/>
        </p:spPr>
        <p:txBody>
          <a:bodyPr anchor="ctr">
            <a:spAutoFit/>
          </a:bodyPr>
          <a:lstStyle/>
          <a:p>
            <a:pPr eaLnBrk="1" hangingPunct="1">
              <a:defRPr/>
            </a:pPr>
            <a:endParaRPr lang="zh-CN" altLang="en-US">
              <a:latin typeface="Arial" charset="0"/>
              <a:ea typeface="宋体" pitchFamily="2" charset="-122"/>
            </a:endParaRPr>
          </a:p>
        </p:txBody>
      </p:sp>
      <p:sp>
        <p:nvSpPr>
          <p:cNvPr id="3110" name="Line 38"/>
          <p:cNvSpPr>
            <a:spLocks noChangeShapeType="1"/>
          </p:cNvSpPr>
          <p:nvPr/>
        </p:nvSpPr>
        <p:spPr bwMode="auto">
          <a:xfrm flipH="1">
            <a:off x="7029450" y="4170363"/>
            <a:ext cx="0" cy="258762"/>
          </a:xfrm>
          <a:prstGeom prst="line">
            <a:avLst/>
          </a:prstGeom>
          <a:noFill/>
          <a:ln w="38100">
            <a:solidFill>
              <a:schemeClr val="accent2">
                <a:lumMod val="75000"/>
              </a:schemeClr>
            </a:solidFill>
            <a:round/>
            <a:headEnd/>
            <a:tailEnd/>
          </a:ln>
          <a:effectLst/>
        </p:spPr>
        <p:txBody>
          <a:bodyPr anchor="ctr">
            <a:spAutoFit/>
          </a:bodyPr>
          <a:lstStyle/>
          <a:p>
            <a:pPr eaLnBrk="1" hangingPunct="1">
              <a:defRPr/>
            </a:pPr>
            <a:endParaRPr lang="zh-CN" altLang="en-US">
              <a:latin typeface="Arial" charset="0"/>
              <a:ea typeface="宋体" pitchFamily="2" charset="-122"/>
            </a:endParaRPr>
          </a:p>
        </p:txBody>
      </p:sp>
      <p:sp>
        <p:nvSpPr>
          <p:cNvPr id="3111" name="Line 39"/>
          <p:cNvSpPr>
            <a:spLocks noChangeShapeType="1"/>
          </p:cNvSpPr>
          <p:nvPr/>
        </p:nvSpPr>
        <p:spPr bwMode="auto">
          <a:xfrm flipH="1">
            <a:off x="7369175" y="4170363"/>
            <a:ext cx="0" cy="258762"/>
          </a:xfrm>
          <a:prstGeom prst="line">
            <a:avLst/>
          </a:prstGeom>
          <a:noFill/>
          <a:ln w="38100">
            <a:solidFill>
              <a:schemeClr val="accent2">
                <a:lumMod val="75000"/>
              </a:schemeClr>
            </a:solidFill>
            <a:round/>
            <a:headEnd/>
            <a:tailEnd/>
          </a:ln>
          <a:effectLst/>
        </p:spPr>
        <p:txBody>
          <a:bodyPr anchor="ctr">
            <a:spAutoFit/>
          </a:bodyPr>
          <a:lstStyle/>
          <a:p>
            <a:pPr eaLnBrk="1" hangingPunct="1">
              <a:defRPr/>
            </a:pPr>
            <a:endParaRPr lang="zh-CN" altLang="en-US">
              <a:latin typeface="Arial" charset="0"/>
              <a:ea typeface="宋体" pitchFamily="2" charset="-122"/>
            </a:endParaRPr>
          </a:p>
        </p:txBody>
      </p:sp>
      <p:sp>
        <p:nvSpPr>
          <p:cNvPr id="3112" name="Line 40"/>
          <p:cNvSpPr>
            <a:spLocks noChangeShapeType="1"/>
          </p:cNvSpPr>
          <p:nvPr/>
        </p:nvSpPr>
        <p:spPr bwMode="auto">
          <a:xfrm flipH="1">
            <a:off x="7712075" y="4170363"/>
            <a:ext cx="0" cy="258762"/>
          </a:xfrm>
          <a:prstGeom prst="line">
            <a:avLst/>
          </a:prstGeom>
          <a:noFill/>
          <a:ln w="38100">
            <a:solidFill>
              <a:schemeClr val="accent2">
                <a:lumMod val="75000"/>
              </a:schemeClr>
            </a:solidFill>
            <a:round/>
            <a:headEnd/>
            <a:tailEnd/>
          </a:ln>
          <a:effectLst/>
        </p:spPr>
        <p:txBody>
          <a:bodyPr anchor="ctr">
            <a:spAutoFit/>
          </a:bodyPr>
          <a:lstStyle/>
          <a:p>
            <a:pPr eaLnBrk="1" hangingPunct="1">
              <a:defRPr/>
            </a:pPr>
            <a:endParaRPr lang="zh-CN" altLang="en-US">
              <a:latin typeface="Arial" charset="0"/>
              <a:ea typeface="宋体" pitchFamily="2" charset="-122"/>
            </a:endParaRPr>
          </a:p>
        </p:txBody>
      </p:sp>
      <p:sp>
        <p:nvSpPr>
          <p:cNvPr id="3113" name="Line 41"/>
          <p:cNvSpPr>
            <a:spLocks noChangeShapeType="1"/>
          </p:cNvSpPr>
          <p:nvPr/>
        </p:nvSpPr>
        <p:spPr bwMode="auto">
          <a:xfrm flipH="1">
            <a:off x="8039100" y="4170363"/>
            <a:ext cx="0" cy="258762"/>
          </a:xfrm>
          <a:prstGeom prst="line">
            <a:avLst/>
          </a:prstGeom>
          <a:noFill/>
          <a:ln w="38100">
            <a:solidFill>
              <a:schemeClr val="accent2">
                <a:lumMod val="75000"/>
              </a:schemeClr>
            </a:solidFill>
            <a:round/>
            <a:headEnd/>
            <a:tailEnd/>
          </a:ln>
          <a:effectLst/>
        </p:spPr>
        <p:txBody>
          <a:bodyPr anchor="ctr">
            <a:spAutoFit/>
          </a:bodyPr>
          <a:lstStyle/>
          <a:p>
            <a:pPr eaLnBrk="1" hangingPunct="1">
              <a:defRPr/>
            </a:pPr>
            <a:endParaRPr lang="zh-CN" altLang="en-US">
              <a:latin typeface="Arial" charset="0"/>
              <a:ea typeface="宋体" pitchFamily="2" charset="-122"/>
            </a:endParaRPr>
          </a:p>
        </p:txBody>
      </p:sp>
      <p:sp>
        <p:nvSpPr>
          <p:cNvPr id="3114" name="Line 42"/>
          <p:cNvSpPr>
            <a:spLocks noChangeShapeType="1"/>
          </p:cNvSpPr>
          <p:nvPr/>
        </p:nvSpPr>
        <p:spPr bwMode="auto">
          <a:xfrm flipH="1">
            <a:off x="8364538" y="4170363"/>
            <a:ext cx="0" cy="258762"/>
          </a:xfrm>
          <a:prstGeom prst="line">
            <a:avLst/>
          </a:prstGeom>
          <a:noFill/>
          <a:ln w="38100">
            <a:solidFill>
              <a:schemeClr val="accent2">
                <a:lumMod val="75000"/>
              </a:schemeClr>
            </a:solidFill>
            <a:round/>
            <a:headEnd/>
            <a:tailEnd/>
          </a:ln>
          <a:effectLst/>
        </p:spPr>
        <p:txBody>
          <a:bodyPr anchor="ctr">
            <a:spAutoFit/>
          </a:bodyPr>
          <a:lstStyle/>
          <a:p>
            <a:pPr eaLnBrk="1" hangingPunct="1">
              <a:defRPr/>
            </a:pPr>
            <a:endParaRPr lang="zh-CN" altLang="en-US">
              <a:latin typeface="Arial" charset="0"/>
              <a:ea typeface="宋体" pitchFamily="2" charset="-122"/>
            </a:endParaRPr>
          </a:p>
        </p:txBody>
      </p:sp>
      <p:sp>
        <p:nvSpPr>
          <p:cNvPr id="3115" name="Line 43"/>
          <p:cNvSpPr>
            <a:spLocks noChangeShapeType="1"/>
          </p:cNvSpPr>
          <p:nvPr/>
        </p:nvSpPr>
        <p:spPr bwMode="auto">
          <a:xfrm flipH="1">
            <a:off x="8709025" y="4170363"/>
            <a:ext cx="0" cy="258762"/>
          </a:xfrm>
          <a:prstGeom prst="line">
            <a:avLst/>
          </a:prstGeom>
          <a:noFill/>
          <a:ln w="38100">
            <a:solidFill>
              <a:schemeClr val="accent2">
                <a:lumMod val="75000"/>
              </a:schemeClr>
            </a:solidFill>
            <a:round/>
            <a:headEnd/>
            <a:tailEnd/>
          </a:ln>
          <a:effectLst/>
        </p:spPr>
        <p:txBody>
          <a:bodyPr anchor="ctr">
            <a:spAutoFit/>
          </a:bodyPr>
          <a:lstStyle/>
          <a:p>
            <a:pPr eaLnBrk="1" hangingPunct="1">
              <a:defRPr/>
            </a:pPr>
            <a:endParaRPr lang="zh-CN" altLang="en-US">
              <a:latin typeface="Arial" charset="0"/>
              <a:ea typeface="宋体" pitchFamily="2" charset="-122"/>
            </a:endParaRPr>
          </a:p>
        </p:txBody>
      </p:sp>
      <p:sp>
        <p:nvSpPr>
          <p:cNvPr id="3116" name="Line 44"/>
          <p:cNvSpPr>
            <a:spLocks noChangeShapeType="1"/>
          </p:cNvSpPr>
          <p:nvPr/>
        </p:nvSpPr>
        <p:spPr bwMode="auto">
          <a:xfrm>
            <a:off x="5726113" y="4289425"/>
            <a:ext cx="3402012" cy="0"/>
          </a:xfrm>
          <a:prstGeom prst="line">
            <a:avLst/>
          </a:prstGeom>
          <a:noFill/>
          <a:ln w="38100">
            <a:solidFill>
              <a:schemeClr val="accent2">
                <a:lumMod val="75000"/>
              </a:schemeClr>
            </a:solidFill>
            <a:round/>
            <a:headEnd/>
            <a:tailEnd type="triangle" w="med" len="med"/>
          </a:ln>
          <a:effectLst/>
        </p:spPr>
        <p:txBody>
          <a:bodyPr anchor="ctr">
            <a:spAutoFit/>
          </a:bodyPr>
          <a:lstStyle/>
          <a:p>
            <a:pPr eaLnBrk="1" hangingPunct="1">
              <a:defRPr/>
            </a:pPr>
            <a:endParaRPr lang="zh-CN" altLang="en-US">
              <a:latin typeface="Arial" charset="0"/>
              <a:ea typeface="宋体" pitchFamily="2" charset="-122"/>
            </a:endParaRPr>
          </a:p>
        </p:txBody>
      </p:sp>
      <p:sp>
        <p:nvSpPr>
          <p:cNvPr id="3117" name="Line 45"/>
          <p:cNvSpPr>
            <a:spLocks noChangeShapeType="1"/>
          </p:cNvSpPr>
          <p:nvPr/>
        </p:nvSpPr>
        <p:spPr bwMode="auto">
          <a:xfrm>
            <a:off x="5708651" y="1704975"/>
            <a:ext cx="3267075" cy="0"/>
          </a:xfrm>
          <a:prstGeom prst="line">
            <a:avLst/>
          </a:prstGeom>
          <a:noFill/>
          <a:ln w="12699">
            <a:solidFill>
              <a:schemeClr val="accent2">
                <a:lumMod val="75000"/>
              </a:schemeClr>
            </a:solidFill>
            <a:round/>
            <a:headEnd/>
            <a:tailEnd/>
          </a:ln>
          <a:effectLst/>
        </p:spPr>
        <p:txBody>
          <a:bodyPr wrap="none" anchor="ctr">
            <a:spAutoFit/>
          </a:bodyPr>
          <a:lstStyle/>
          <a:p>
            <a:pPr eaLnBrk="1" hangingPunct="1">
              <a:defRPr/>
            </a:pPr>
            <a:endParaRPr lang="zh-CN" altLang="en-US">
              <a:latin typeface="Arial" charset="0"/>
              <a:ea typeface="宋体" pitchFamily="2" charset="-122"/>
            </a:endParaRPr>
          </a:p>
        </p:txBody>
      </p:sp>
      <p:sp>
        <p:nvSpPr>
          <p:cNvPr id="3118" name="Line 46"/>
          <p:cNvSpPr>
            <a:spLocks noChangeShapeType="1"/>
          </p:cNvSpPr>
          <p:nvPr/>
        </p:nvSpPr>
        <p:spPr bwMode="auto">
          <a:xfrm>
            <a:off x="3221039" y="6484938"/>
            <a:ext cx="3267075" cy="0"/>
          </a:xfrm>
          <a:prstGeom prst="line">
            <a:avLst/>
          </a:prstGeom>
          <a:noFill/>
          <a:ln w="12699">
            <a:solidFill>
              <a:schemeClr val="accent2">
                <a:lumMod val="75000"/>
              </a:schemeClr>
            </a:solidFill>
            <a:round/>
            <a:headEnd/>
            <a:tailEnd/>
          </a:ln>
          <a:effectLst/>
        </p:spPr>
        <p:txBody>
          <a:bodyPr wrap="none" anchor="ctr">
            <a:spAutoFit/>
          </a:bodyPr>
          <a:lstStyle/>
          <a:p>
            <a:pPr eaLnBrk="1" hangingPunct="1">
              <a:defRPr/>
            </a:pPr>
            <a:endParaRPr lang="zh-CN" altLang="en-US">
              <a:latin typeface="Arial" charset="0"/>
              <a:ea typeface="宋体" pitchFamily="2" charset="-122"/>
            </a:endParaRPr>
          </a:p>
        </p:txBody>
      </p:sp>
      <p:sp>
        <p:nvSpPr>
          <p:cNvPr id="3119" name="Line 47"/>
          <p:cNvSpPr>
            <a:spLocks noChangeShapeType="1"/>
          </p:cNvSpPr>
          <p:nvPr/>
        </p:nvSpPr>
        <p:spPr bwMode="auto">
          <a:xfrm>
            <a:off x="3251201" y="3859213"/>
            <a:ext cx="3267075" cy="0"/>
          </a:xfrm>
          <a:prstGeom prst="line">
            <a:avLst/>
          </a:prstGeom>
          <a:noFill/>
          <a:ln w="12699">
            <a:solidFill>
              <a:schemeClr val="accent2">
                <a:lumMod val="75000"/>
              </a:schemeClr>
            </a:solidFill>
            <a:round/>
            <a:headEnd/>
            <a:tailEnd/>
          </a:ln>
          <a:effectLst/>
        </p:spPr>
        <p:txBody>
          <a:bodyPr wrap="none" anchor="ctr">
            <a:spAutoFit/>
          </a:bodyPr>
          <a:lstStyle/>
          <a:p>
            <a:pPr eaLnBrk="1" hangingPunct="1">
              <a:defRPr/>
            </a:pPr>
            <a:endParaRPr lang="zh-CN" altLang="en-US">
              <a:latin typeface="Arial" charset="0"/>
              <a:ea typeface="宋体" pitchFamily="2" charset="-122"/>
            </a:endParaRPr>
          </a:p>
        </p:txBody>
      </p:sp>
      <p:sp>
        <p:nvSpPr>
          <p:cNvPr id="3120" name="Line 48"/>
          <p:cNvSpPr>
            <a:spLocks noChangeShapeType="1"/>
          </p:cNvSpPr>
          <p:nvPr/>
        </p:nvSpPr>
        <p:spPr bwMode="auto">
          <a:xfrm flipV="1">
            <a:off x="3219450" y="3829051"/>
            <a:ext cx="0" cy="2640013"/>
          </a:xfrm>
          <a:prstGeom prst="line">
            <a:avLst/>
          </a:prstGeom>
          <a:noFill/>
          <a:ln w="12699">
            <a:solidFill>
              <a:schemeClr val="accent2">
                <a:lumMod val="75000"/>
              </a:schemeClr>
            </a:solidFill>
            <a:round/>
            <a:headEnd/>
            <a:tailEnd/>
          </a:ln>
          <a:effectLst/>
        </p:spPr>
        <p:txBody>
          <a:bodyPr anchor="ctr">
            <a:spAutoFit/>
          </a:bodyPr>
          <a:lstStyle/>
          <a:p>
            <a:pPr eaLnBrk="1" hangingPunct="1">
              <a:defRPr/>
            </a:pPr>
            <a:endParaRPr lang="zh-CN" altLang="en-US">
              <a:latin typeface="Arial" charset="0"/>
              <a:ea typeface="宋体" pitchFamily="2" charset="-122"/>
            </a:endParaRPr>
          </a:p>
        </p:txBody>
      </p:sp>
      <p:sp>
        <p:nvSpPr>
          <p:cNvPr id="3121" name="Line 49"/>
          <p:cNvSpPr>
            <a:spLocks noChangeShapeType="1"/>
          </p:cNvSpPr>
          <p:nvPr/>
        </p:nvSpPr>
        <p:spPr bwMode="auto">
          <a:xfrm flipV="1">
            <a:off x="8963025" y="1709738"/>
            <a:ext cx="0" cy="2640012"/>
          </a:xfrm>
          <a:prstGeom prst="line">
            <a:avLst/>
          </a:prstGeom>
          <a:noFill/>
          <a:ln w="12699">
            <a:solidFill>
              <a:schemeClr val="accent2">
                <a:lumMod val="75000"/>
              </a:schemeClr>
            </a:solidFill>
            <a:round/>
            <a:headEnd/>
            <a:tailEnd/>
          </a:ln>
          <a:effectLst/>
        </p:spPr>
        <p:txBody>
          <a:bodyPr anchor="ctr">
            <a:spAutoFit/>
          </a:bodyPr>
          <a:lstStyle/>
          <a:p>
            <a:pPr eaLnBrk="1" hangingPunct="1">
              <a:defRPr/>
            </a:pPr>
            <a:endParaRPr lang="zh-CN" altLang="en-US">
              <a:latin typeface="Arial" charset="0"/>
              <a:ea typeface="宋体" pitchFamily="2" charset="-122"/>
            </a:endParaRPr>
          </a:p>
        </p:txBody>
      </p:sp>
      <p:sp>
        <p:nvSpPr>
          <p:cNvPr id="3122" name="Line 50"/>
          <p:cNvSpPr>
            <a:spLocks noChangeShapeType="1"/>
          </p:cNvSpPr>
          <p:nvPr/>
        </p:nvSpPr>
        <p:spPr bwMode="auto">
          <a:xfrm flipV="1">
            <a:off x="6477000" y="3860801"/>
            <a:ext cx="0" cy="2640013"/>
          </a:xfrm>
          <a:prstGeom prst="line">
            <a:avLst/>
          </a:prstGeom>
          <a:noFill/>
          <a:ln w="12699">
            <a:solidFill>
              <a:schemeClr val="accent2">
                <a:lumMod val="75000"/>
              </a:schemeClr>
            </a:solidFill>
            <a:round/>
            <a:headEnd/>
            <a:tailEnd/>
          </a:ln>
          <a:effectLst/>
        </p:spPr>
        <p:txBody>
          <a:bodyPr anchor="ctr">
            <a:spAutoFit/>
          </a:bodyPr>
          <a:lstStyle/>
          <a:p>
            <a:pPr eaLnBrk="1" hangingPunct="1">
              <a:defRPr/>
            </a:pPr>
            <a:endParaRPr lang="zh-CN" altLang="en-US">
              <a:latin typeface="Arial" charset="0"/>
              <a:ea typeface="宋体" pitchFamily="2" charset="-122"/>
            </a:endParaRPr>
          </a:p>
        </p:txBody>
      </p:sp>
      <p:sp>
        <p:nvSpPr>
          <p:cNvPr id="3123" name="Line 51"/>
          <p:cNvSpPr>
            <a:spLocks noChangeShapeType="1"/>
          </p:cNvSpPr>
          <p:nvPr/>
        </p:nvSpPr>
        <p:spPr bwMode="auto">
          <a:xfrm flipV="1">
            <a:off x="6484938" y="4291013"/>
            <a:ext cx="2476500" cy="2190750"/>
          </a:xfrm>
          <a:prstGeom prst="line">
            <a:avLst/>
          </a:prstGeom>
          <a:noFill/>
          <a:ln w="12699">
            <a:solidFill>
              <a:schemeClr val="accent2">
                <a:lumMod val="75000"/>
              </a:schemeClr>
            </a:solidFill>
            <a:round/>
            <a:headEnd/>
            <a:tailEnd/>
          </a:ln>
          <a:effectLst/>
        </p:spPr>
        <p:txBody>
          <a:bodyPr wrap="none" anchor="ctr">
            <a:spAutoFit/>
          </a:bodyPr>
          <a:lstStyle/>
          <a:p>
            <a:pPr eaLnBrk="1" hangingPunct="1">
              <a:defRPr/>
            </a:pPr>
            <a:endParaRPr lang="zh-CN" altLang="en-US">
              <a:latin typeface="Arial" charset="0"/>
              <a:ea typeface="宋体" pitchFamily="2" charset="-122"/>
            </a:endParaRPr>
          </a:p>
        </p:txBody>
      </p:sp>
      <p:sp>
        <p:nvSpPr>
          <p:cNvPr id="3124" name="Line 52"/>
          <p:cNvSpPr>
            <a:spLocks noChangeShapeType="1"/>
          </p:cNvSpPr>
          <p:nvPr/>
        </p:nvSpPr>
        <p:spPr bwMode="auto">
          <a:xfrm flipV="1">
            <a:off x="3221039" y="1708151"/>
            <a:ext cx="2490787" cy="2163763"/>
          </a:xfrm>
          <a:prstGeom prst="line">
            <a:avLst/>
          </a:prstGeom>
          <a:noFill/>
          <a:ln w="12699">
            <a:solidFill>
              <a:schemeClr val="accent2">
                <a:lumMod val="75000"/>
              </a:schemeClr>
            </a:solidFill>
            <a:round/>
            <a:headEnd/>
            <a:tailEnd/>
          </a:ln>
          <a:effectLst/>
        </p:spPr>
        <p:txBody>
          <a:bodyPr anchor="ctr">
            <a:spAutoFit/>
          </a:bodyPr>
          <a:lstStyle/>
          <a:p>
            <a:pPr eaLnBrk="1" hangingPunct="1">
              <a:defRPr/>
            </a:pPr>
            <a:endParaRPr lang="zh-CN" altLang="en-US">
              <a:latin typeface="Arial" charset="0"/>
              <a:ea typeface="宋体" pitchFamily="2" charset="-122"/>
            </a:endParaRPr>
          </a:p>
        </p:txBody>
      </p:sp>
      <p:sp>
        <p:nvSpPr>
          <p:cNvPr id="3125" name="Line 53"/>
          <p:cNvSpPr>
            <a:spLocks noChangeShapeType="1"/>
          </p:cNvSpPr>
          <p:nvPr/>
        </p:nvSpPr>
        <p:spPr bwMode="auto">
          <a:xfrm flipV="1">
            <a:off x="6491288" y="1681163"/>
            <a:ext cx="2476500" cy="2190750"/>
          </a:xfrm>
          <a:prstGeom prst="line">
            <a:avLst/>
          </a:prstGeom>
          <a:noFill/>
          <a:ln w="12699">
            <a:solidFill>
              <a:schemeClr val="accent2">
                <a:lumMod val="75000"/>
              </a:schemeClr>
            </a:solidFill>
            <a:round/>
            <a:headEnd/>
            <a:tailEnd/>
          </a:ln>
          <a:effectLst/>
        </p:spPr>
        <p:txBody>
          <a:bodyPr wrap="none" anchor="ctr">
            <a:spAutoFit/>
          </a:bodyPr>
          <a:lstStyle/>
          <a:p>
            <a:pPr eaLnBrk="1" hangingPunct="1">
              <a:defRPr/>
            </a:pPr>
            <a:endParaRPr lang="zh-CN" altLang="en-US">
              <a:latin typeface="Arial" charset="0"/>
              <a:ea typeface="宋体" pitchFamily="2" charset="-122"/>
            </a:endParaRPr>
          </a:p>
        </p:txBody>
      </p:sp>
      <p:grpSp>
        <p:nvGrpSpPr>
          <p:cNvPr id="9" name="Group 54"/>
          <p:cNvGrpSpPr>
            <a:grpSpLocks/>
          </p:cNvGrpSpPr>
          <p:nvPr/>
        </p:nvGrpSpPr>
        <p:grpSpPr bwMode="auto">
          <a:xfrm>
            <a:off x="5745164" y="4427539"/>
            <a:ext cx="3214687" cy="1444625"/>
            <a:chOff x="2354" y="2187"/>
            <a:chExt cx="2025" cy="910"/>
          </a:xfrm>
        </p:grpSpPr>
        <p:sp>
          <p:nvSpPr>
            <p:cNvPr id="27690" name="Text Box 55"/>
            <p:cNvSpPr txBox="1">
              <a:spLocks noChangeArrowheads="1"/>
            </p:cNvSpPr>
            <p:nvPr/>
          </p:nvSpPr>
          <p:spPr bwMode="auto">
            <a:xfrm>
              <a:off x="2354" y="2187"/>
              <a:ext cx="271" cy="693"/>
            </a:xfrm>
            <a:prstGeom prst="rect">
              <a:avLst/>
            </a:prstGeom>
            <a:noFill/>
            <a:ln w="12699">
              <a:noFill/>
              <a:miter lim="800000"/>
              <a:headEnd/>
              <a:tailEnd/>
            </a:ln>
          </p:spPr>
          <p:txBody>
            <a:bodyPr vert="eaVert">
              <a:spAutoFit/>
            </a:bodyPr>
            <a:lstStyle/>
            <a:p>
              <a:pPr>
                <a:spcBef>
                  <a:spcPct val="50000"/>
                </a:spcBef>
              </a:pPr>
              <a:r>
                <a:rPr lang="zh-CN" altLang="en-US" sz="1600" b="1">
                  <a:solidFill>
                    <a:srgbClr val="000000"/>
                  </a:solidFill>
                  <a:latin typeface="黑体" pitchFamily="2" charset="-122"/>
                  <a:ea typeface="黑体" pitchFamily="2" charset="-122"/>
                </a:rPr>
                <a:t>线性表</a:t>
              </a:r>
              <a:endParaRPr lang="en-US" altLang="zh-CN" sz="1600" b="1">
                <a:solidFill>
                  <a:srgbClr val="000000"/>
                </a:solidFill>
                <a:latin typeface="黑体" pitchFamily="2" charset="-122"/>
                <a:ea typeface="黑体" pitchFamily="2" charset="-122"/>
              </a:endParaRPr>
            </a:p>
          </p:txBody>
        </p:sp>
        <p:sp>
          <p:nvSpPr>
            <p:cNvPr id="27691" name="Text Box 56"/>
            <p:cNvSpPr txBox="1">
              <a:spLocks noChangeArrowheads="1"/>
            </p:cNvSpPr>
            <p:nvPr/>
          </p:nvSpPr>
          <p:spPr bwMode="auto">
            <a:xfrm>
              <a:off x="3027" y="2187"/>
              <a:ext cx="271" cy="685"/>
            </a:xfrm>
            <a:prstGeom prst="rect">
              <a:avLst/>
            </a:prstGeom>
            <a:noFill/>
            <a:ln w="12699">
              <a:noFill/>
              <a:miter lim="800000"/>
              <a:headEnd/>
              <a:tailEnd/>
            </a:ln>
          </p:spPr>
          <p:txBody>
            <a:bodyPr vert="eaVert">
              <a:spAutoFit/>
            </a:bodyPr>
            <a:lstStyle/>
            <a:p>
              <a:pPr>
                <a:spcBef>
                  <a:spcPct val="50000"/>
                </a:spcBef>
              </a:pPr>
              <a:r>
                <a:rPr lang="zh-CN" altLang="en-US" sz="1600" b="1">
                  <a:solidFill>
                    <a:srgbClr val="000000"/>
                  </a:solidFill>
                  <a:latin typeface="黑体" pitchFamily="2" charset="-122"/>
                  <a:ea typeface="黑体" pitchFamily="2" charset="-122"/>
                </a:rPr>
                <a:t>广义表</a:t>
              </a:r>
            </a:p>
          </p:txBody>
        </p:sp>
        <p:sp>
          <p:nvSpPr>
            <p:cNvPr id="27692" name="Text Box 57"/>
            <p:cNvSpPr txBox="1">
              <a:spLocks noChangeArrowheads="1"/>
            </p:cNvSpPr>
            <p:nvPr/>
          </p:nvSpPr>
          <p:spPr bwMode="auto">
            <a:xfrm>
              <a:off x="3247" y="2187"/>
              <a:ext cx="271" cy="730"/>
            </a:xfrm>
            <a:prstGeom prst="rect">
              <a:avLst/>
            </a:prstGeom>
            <a:noFill/>
            <a:ln w="12699">
              <a:noFill/>
              <a:miter lim="800000"/>
              <a:headEnd/>
              <a:tailEnd/>
            </a:ln>
          </p:spPr>
          <p:txBody>
            <a:bodyPr vert="eaVert">
              <a:spAutoFit/>
            </a:bodyPr>
            <a:lstStyle/>
            <a:p>
              <a:pPr>
                <a:spcBef>
                  <a:spcPct val="50000"/>
                </a:spcBef>
              </a:pPr>
              <a:r>
                <a:rPr lang="zh-CN" altLang="en-US" sz="1600" b="1">
                  <a:solidFill>
                    <a:srgbClr val="000000"/>
                  </a:solidFill>
                  <a:latin typeface="黑体" pitchFamily="2" charset="-122"/>
                  <a:ea typeface="黑体" pitchFamily="2" charset="-122"/>
                </a:rPr>
                <a:t>串</a:t>
              </a:r>
              <a:endParaRPr lang="zh-CN" altLang="en-US" sz="1600" b="1">
                <a:latin typeface="黑体" pitchFamily="2" charset="-122"/>
                <a:ea typeface="黑体" pitchFamily="2" charset="-122"/>
              </a:endParaRPr>
            </a:p>
          </p:txBody>
        </p:sp>
        <p:sp>
          <p:nvSpPr>
            <p:cNvPr id="3130" name="Text Box 58"/>
            <p:cNvSpPr txBox="1">
              <a:spLocks noChangeArrowheads="1"/>
            </p:cNvSpPr>
            <p:nvPr/>
          </p:nvSpPr>
          <p:spPr bwMode="auto">
            <a:xfrm>
              <a:off x="3857" y="2187"/>
              <a:ext cx="271" cy="368"/>
            </a:xfrm>
            <a:prstGeom prst="rect">
              <a:avLst/>
            </a:prstGeom>
            <a:noFill/>
            <a:ln w="12699">
              <a:noFill/>
              <a:miter lim="800000"/>
              <a:headEnd/>
              <a:tailEnd/>
            </a:ln>
            <a:effectLst/>
          </p:spPr>
          <p:txBody>
            <a:bodyPr vert="eaVert">
              <a:spAutoFit/>
            </a:bodyPr>
            <a:lstStyle/>
            <a:p>
              <a:pPr>
                <a:spcBef>
                  <a:spcPct val="50000"/>
                </a:spcBef>
                <a:defRPr/>
              </a:pPr>
              <a:r>
                <a:rPr lang="zh-CN" altLang="en-US" sz="1600" b="1" dirty="0">
                  <a:solidFill>
                    <a:schemeClr val="accent6"/>
                  </a:solidFill>
                  <a:latin typeface="黑体" pitchFamily="49" charset="-122"/>
                  <a:ea typeface="黑体" pitchFamily="49" charset="-122"/>
                </a:rPr>
                <a:t>树</a:t>
              </a:r>
            </a:p>
          </p:txBody>
        </p:sp>
        <p:sp>
          <p:nvSpPr>
            <p:cNvPr id="3131" name="Text Box 59"/>
            <p:cNvSpPr txBox="1">
              <a:spLocks noChangeArrowheads="1"/>
            </p:cNvSpPr>
            <p:nvPr/>
          </p:nvSpPr>
          <p:spPr bwMode="auto">
            <a:xfrm>
              <a:off x="3683" y="2187"/>
              <a:ext cx="271" cy="685"/>
            </a:xfrm>
            <a:prstGeom prst="rect">
              <a:avLst/>
            </a:prstGeom>
            <a:noFill/>
            <a:ln w="12699">
              <a:noFill/>
              <a:miter lim="800000"/>
              <a:headEnd/>
              <a:tailEnd/>
            </a:ln>
            <a:effectLst/>
          </p:spPr>
          <p:txBody>
            <a:bodyPr vert="eaVert">
              <a:spAutoFit/>
            </a:bodyPr>
            <a:lstStyle/>
            <a:p>
              <a:pPr>
                <a:spcBef>
                  <a:spcPct val="50000"/>
                </a:spcBef>
                <a:defRPr/>
              </a:pPr>
              <a:r>
                <a:rPr lang="zh-CN" altLang="en-US" sz="1600" b="1" dirty="0">
                  <a:solidFill>
                    <a:schemeClr val="accent6"/>
                  </a:solidFill>
                  <a:latin typeface="黑体" pitchFamily="49" charset="-122"/>
                  <a:ea typeface="黑体" pitchFamily="49" charset="-122"/>
                </a:rPr>
                <a:t>二叉树</a:t>
              </a:r>
            </a:p>
          </p:txBody>
        </p:sp>
        <p:sp>
          <p:nvSpPr>
            <p:cNvPr id="27695" name="Text Box 60"/>
            <p:cNvSpPr txBox="1">
              <a:spLocks noChangeArrowheads="1"/>
            </p:cNvSpPr>
            <p:nvPr/>
          </p:nvSpPr>
          <p:spPr bwMode="auto">
            <a:xfrm>
              <a:off x="3455" y="2187"/>
              <a:ext cx="271" cy="685"/>
            </a:xfrm>
            <a:prstGeom prst="rect">
              <a:avLst/>
            </a:prstGeom>
            <a:noFill/>
            <a:ln w="12699">
              <a:noFill/>
              <a:miter lim="800000"/>
              <a:headEnd/>
              <a:tailEnd/>
            </a:ln>
          </p:spPr>
          <p:txBody>
            <a:bodyPr vert="eaVert">
              <a:spAutoFit/>
            </a:bodyPr>
            <a:lstStyle/>
            <a:p>
              <a:pPr>
                <a:spcBef>
                  <a:spcPct val="50000"/>
                </a:spcBef>
              </a:pPr>
              <a:r>
                <a:rPr lang="zh-CN" altLang="en-US" sz="1600" b="1">
                  <a:solidFill>
                    <a:srgbClr val="000000"/>
                  </a:solidFill>
                  <a:latin typeface="黑体" pitchFamily="2" charset="-122"/>
                  <a:ea typeface="黑体" pitchFamily="2" charset="-122"/>
                </a:rPr>
                <a:t>文件</a:t>
              </a:r>
            </a:p>
          </p:txBody>
        </p:sp>
        <p:sp>
          <p:nvSpPr>
            <p:cNvPr id="3133" name="Text Box 61"/>
            <p:cNvSpPr txBox="1">
              <a:spLocks noChangeArrowheads="1"/>
            </p:cNvSpPr>
            <p:nvPr/>
          </p:nvSpPr>
          <p:spPr bwMode="auto">
            <a:xfrm>
              <a:off x="4108" y="2187"/>
              <a:ext cx="271" cy="368"/>
            </a:xfrm>
            <a:prstGeom prst="rect">
              <a:avLst/>
            </a:prstGeom>
            <a:noFill/>
            <a:ln w="12699">
              <a:noFill/>
              <a:miter lim="800000"/>
              <a:headEnd/>
              <a:tailEnd/>
            </a:ln>
            <a:effectLst/>
          </p:spPr>
          <p:txBody>
            <a:bodyPr vert="eaVert">
              <a:spAutoFit/>
            </a:bodyPr>
            <a:lstStyle/>
            <a:p>
              <a:pPr>
                <a:spcBef>
                  <a:spcPct val="50000"/>
                </a:spcBef>
                <a:defRPr/>
              </a:pPr>
              <a:r>
                <a:rPr lang="zh-CN" altLang="en-US" sz="1600" b="1" dirty="0">
                  <a:solidFill>
                    <a:schemeClr val="accent6"/>
                  </a:solidFill>
                  <a:latin typeface="黑体" pitchFamily="49" charset="-122"/>
                  <a:ea typeface="黑体" pitchFamily="49" charset="-122"/>
                </a:rPr>
                <a:t>图</a:t>
              </a:r>
            </a:p>
          </p:txBody>
        </p:sp>
        <p:sp>
          <p:nvSpPr>
            <p:cNvPr id="27697" name="Text Box 62"/>
            <p:cNvSpPr txBox="1">
              <a:spLocks noChangeArrowheads="1"/>
            </p:cNvSpPr>
            <p:nvPr/>
          </p:nvSpPr>
          <p:spPr bwMode="auto">
            <a:xfrm>
              <a:off x="2604" y="2187"/>
              <a:ext cx="271" cy="368"/>
            </a:xfrm>
            <a:prstGeom prst="rect">
              <a:avLst/>
            </a:prstGeom>
            <a:noFill/>
            <a:ln w="12699">
              <a:noFill/>
              <a:miter lim="800000"/>
              <a:headEnd/>
              <a:tailEnd/>
            </a:ln>
          </p:spPr>
          <p:txBody>
            <a:bodyPr vert="eaVert">
              <a:spAutoFit/>
            </a:bodyPr>
            <a:lstStyle/>
            <a:p>
              <a:pPr algn="ctr">
                <a:spcBef>
                  <a:spcPct val="50000"/>
                </a:spcBef>
              </a:pPr>
              <a:endParaRPr lang="zh-CN" altLang="zh-CN" sz="1600" b="1">
                <a:ea typeface="宋体" charset="-122"/>
              </a:endParaRPr>
            </a:p>
          </p:txBody>
        </p:sp>
        <p:sp>
          <p:nvSpPr>
            <p:cNvPr id="27698" name="Text Box 63"/>
            <p:cNvSpPr txBox="1">
              <a:spLocks noChangeArrowheads="1"/>
            </p:cNvSpPr>
            <p:nvPr/>
          </p:nvSpPr>
          <p:spPr bwMode="auto">
            <a:xfrm>
              <a:off x="2591" y="2187"/>
              <a:ext cx="271" cy="368"/>
            </a:xfrm>
            <a:prstGeom prst="rect">
              <a:avLst/>
            </a:prstGeom>
            <a:noFill/>
            <a:ln w="12699">
              <a:noFill/>
              <a:miter lim="800000"/>
              <a:headEnd/>
              <a:tailEnd/>
            </a:ln>
          </p:spPr>
          <p:txBody>
            <a:bodyPr vert="eaVert">
              <a:spAutoFit/>
            </a:bodyPr>
            <a:lstStyle/>
            <a:p>
              <a:pPr>
                <a:spcBef>
                  <a:spcPct val="50000"/>
                </a:spcBef>
              </a:pPr>
              <a:r>
                <a:rPr lang="zh-CN" altLang="en-US" sz="1600" b="1">
                  <a:solidFill>
                    <a:srgbClr val="000000"/>
                  </a:solidFill>
                  <a:latin typeface="黑体" pitchFamily="2" charset="-122"/>
                  <a:ea typeface="黑体" pitchFamily="2" charset="-122"/>
                </a:rPr>
                <a:t>数组</a:t>
              </a:r>
            </a:p>
          </p:txBody>
        </p:sp>
        <p:sp>
          <p:nvSpPr>
            <p:cNvPr id="27699" name="Text Box 64"/>
            <p:cNvSpPr txBox="1">
              <a:spLocks noChangeArrowheads="1"/>
            </p:cNvSpPr>
            <p:nvPr/>
          </p:nvSpPr>
          <p:spPr bwMode="auto">
            <a:xfrm>
              <a:off x="2801" y="2187"/>
              <a:ext cx="271" cy="910"/>
            </a:xfrm>
            <a:prstGeom prst="rect">
              <a:avLst/>
            </a:prstGeom>
            <a:noFill/>
            <a:ln w="12699">
              <a:noFill/>
              <a:miter lim="800000"/>
              <a:headEnd/>
              <a:tailEnd/>
            </a:ln>
          </p:spPr>
          <p:txBody>
            <a:bodyPr vert="eaVert">
              <a:spAutoFit/>
            </a:bodyPr>
            <a:lstStyle/>
            <a:p>
              <a:pPr>
                <a:spcBef>
                  <a:spcPct val="50000"/>
                </a:spcBef>
              </a:pPr>
              <a:r>
                <a:rPr lang="zh-CN" altLang="en-US" sz="1600" b="1" dirty="0">
                  <a:solidFill>
                    <a:srgbClr val="000000"/>
                  </a:solidFill>
                  <a:latin typeface="黑体" pitchFamily="2" charset="-122"/>
                  <a:ea typeface="黑体" pitchFamily="2" charset="-122"/>
                </a:rPr>
                <a:t>栈和队</a:t>
              </a:r>
            </a:p>
          </p:txBody>
        </p:sp>
      </p:grpSp>
      <p:sp>
        <p:nvSpPr>
          <p:cNvPr id="27676" name="Text Box 55"/>
          <p:cNvSpPr txBox="1">
            <a:spLocks noChangeArrowheads="1"/>
          </p:cNvSpPr>
          <p:nvPr/>
        </p:nvSpPr>
        <p:spPr bwMode="auto">
          <a:xfrm>
            <a:off x="4993602" y="3462339"/>
            <a:ext cx="430887" cy="1100137"/>
          </a:xfrm>
          <a:prstGeom prst="rect">
            <a:avLst/>
          </a:prstGeom>
          <a:noFill/>
          <a:ln w="12699">
            <a:noFill/>
            <a:miter lim="800000"/>
            <a:headEnd/>
            <a:tailEnd/>
          </a:ln>
        </p:spPr>
        <p:txBody>
          <a:bodyPr vert="eaVert">
            <a:spAutoFit/>
          </a:bodyPr>
          <a:lstStyle/>
          <a:p>
            <a:pPr algn="r">
              <a:spcBef>
                <a:spcPct val="50000"/>
              </a:spcBef>
            </a:pPr>
            <a:r>
              <a:rPr lang="zh-CN" altLang="en-US" sz="1600" b="1">
                <a:solidFill>
                  <a:srgbClr val="800000"/>
                </a:solidFill>
                <a:latin typeface="黑体" pitchFamily="2" charset="-122"/>
                <a:ea typeface="黑体" pitchFamily="2" charset="-122"/>
              </a:rPr>
              <a:t>顺序存储</a:t>
            </a:r>
            <a:endParaRPr lang="en-US" altLang="zh-CN" sz="1600" b="1">
              <a:solidFill>
                <a:srgbClr val="800000"/>
              </a:solidFill>
              <a:latin typeface="黑体" pitchFamily="2" charset="-122"/>
              <a:ea typeface="黑体" pitchFamily="2" charset="-122"/>
            </a:endParaRPr>
          </a:p>
        </p:txBody>
      </p:sp>
      <p:sp>
        <p:nvSpPr>
          <p:cNvPr id="27677" name="Text Box 55"/>
          <p:cNvSpPr txBox="1">
            <a:spLocks noChangeArrowheads="1"/>
          </p:cNvSpPr>
          <p:nvPr/>
        </p:nvSpPr>
        <p:spPr bwMode="auto">
          <a:xfrm>
            <a:off x="4452264" y="3994150"/>
            <a:ext cx="430887" cy="1100138"/>
          </a:xfrm>
          <a:prstGeom prst="rect">
            <a:avLst/>
          </a:prstGeom>
          <a:noFill/>
          <a:ln w="12699">
            <a:noFill/>
            <a:miter lim="800000"/>
            <a:headEnd/>
            <a:tailEnd/>
          </a:ln>
        </p:spPr>
        <p:txBody>
          <a:bodyPr vert="eaVert">
            <a:spAutoFit/>
          </a:bodyPr>
          <a:lstStyle/>
          <a:p>
            <a:pPr algn="r">
              <a:spcBef>
                <a:spcPct val="50000"/>
              </a:spcBef>
            </a:pPr>
            <a:r>
              <a:rPr lang="zh-CN" altLang="en-US" sz="1600" b="1">
                <a:solidFill>
                  <a:srgbClr val="800000"/>
                </a:solidFill>
                <a:latin typeface="黑体" pitchFamily="2" charset="-122"/>
                <a:ea typeface="黑体" pitchFamily="2" charset="-122"/>
              </a:rPr>
              <a:t>链式存储</a:t>
            </a:r>
            <a:endParaRPr lang="en-US" altLang="zh-CN" sz="1600" b="1">
              <a:solidFill>
                <a:srgbClr val="800000"/>
              </a:solidFill>
              <a:latin typeface="黑体" pitchFamily="2" charset="-122"/>
              <a:ea typeface="黑体" pitchFamily="2" charset="-122"/>
            </a:endParaRPr>
          </a:p>
        </p:txBody>
      </p:sp>
      <p:sp>
        <p:nvSpPr>
          <p:cNvPr id="27678" name="Text Box 55"/>
          <p:cNvSpPr txBox="1">
            <a:spLocks noChangeArrowheads="1"/>
          </p:cNvSpPr>
          <p:nvPr/>
        </p:nvSpPr>
        <p:spPr bwMode="auto">
          <a:xfrm>
            <a:off x="3879177" y="4530725"/>
            <a:ext cx="430887" cy="1100138"/>
          </a:xfrm>
          <a:prstGeom prst="rect">
            <a:avLst/>
          </a:prstGeom>
          <a:noFill/>
          <a:ln w="12699">
            <a:noFill/>
            <a:miter lim="800000"/>
            <a:headEnd/>
            <a:tailEnd/>
          </a:ln>
        </p:spPr>
        <p:txBody>
          <a:bodyPr vert="eaVert">
            <a:spAutoFit/>
          </a:bodyPr>
          <a:lstStyle/>
          <a:p>
            <a:pPr algn="r">
              <a:spcBef>
                <a:spcPct val="50000"/>
              </a:spcBef>
            </a:pPr>
            <a:r>
              <a:rPr lang="zh-CN" altLang="en-US" sz="1600" b="1">
                <a:solidFill>
                  <a:srgbClr val="800000"/>
                </a:solidFill>
                <a:latin typeface="黑体" pitchFamily="2" charset="-122"/>
                <a:ea typeface="黑体" pitchFamily="2" charset="-122"/>
              </a:rPr>
              <a:t>索引</a:t>
            </a:r>
            <a:endParaRPr lang="en-US" altLang="zh-CN" sz="1600" b="1">
              <a:solidFill>
                <a:srgbClr val="800000"/>
              </a:solidFill>
              <a:latin typeface="黑体" pitchFamily="2" charset="-122"/>
              <a:ea typeface="黑体" pitchFamily="2" charset="-122"/>
            </a:endParaRPr>
          </a:p>
        </p:txBody>
      </p:sp>
      <p:sp>
        <p:nvSpPr>
          <p:cNvPr id="27679" name="Text Box 55"/>
          <p:cNvSpPr txBox="1">
            <a:spLocks noChangeArrowheads="1"/>
          </p:cNvSpPr>
          <p:nvPr/>
        </p:nvSpPr>
        <p:spPr bwMode="auto">
          <a:xfrm>
            <a:off x="3318789" y="4981575"/>
            <a:ext cx="430887" cy="1100138"/>
          </a:xfrm>
          <a:prstGeom prst="rect">
            <a:avLst/>
          </a:prstGeom>
          <a:noFill/>
          <a:ln w="12699">
            <a:noFill/>
            <a:miter lim="800000"/>
            <a:headEnd/>
            <a:tailEnd/>
          </a:ln>
        </p:spPr>
        <p:txBody>
          <a:bodyPr vert="eaVert">
            <a:spAutoFit/>
          </a:bodyPr>
          <a:lstStyle/>
          <a:p>
            <a:pPr algn="r">
              <a:spcBef>
                <a:spcPct val="50000"/>
              </a:spcBef>
            </a:pPr>
            <a:r>
              <a:rPr lang="zh-CN" altLang="en-US" sz="1600" b="1">
                <a:solidFill>
                  <a:srgbClr val="800000"/>
                </a:solidFill>
                <a:latin typeface="黑体" pitchFamily="2" charset="-122"/>
                <a:ea typeface="黑体" pitchFamily="2" charset="-122"/>
              </a:rPr>
              <a:t>散列</a:t>
            </a:r>
            <a:endParaRPr lang="en-US" altLang="zh-CN" sz="1600" b="1">
              <a:solidFill>
                <a:srgbClr val="800000"/>
              </a:solidFill>
              <a:latin typeface="黑体" pitchFamily="2" charset="-122"/>
              <a:ea typeface="黑体" pitchFamily="2" charset="-122"/>
            </a:endParaRPr>
          </a:p>
        </p:txBody>
      </p:sp>
      <p:sp>
        <p:nvSpPr>
          <p:cNvPr id="71" name="矩形 70"/>
          <p:cNvSpPr/>
          <p:nvPr/>
        </p:nvSpPr>
        <p:spPr>
          <a:xfrm>
            <a:off x="5807075" y="3160713"/>
            <a:ext cx="1003300" cy="336550"/>
          </a:xfrm>
          <a:prstGeom prst="rect">
            <a:avLst/>
          </a:prstGeom>
        </p:spPr>
        <p:txBody>
          <a:bodyPr wrap="none">
            <a:spAutoFit/>
          </a:bodyPr>
          <a:lstStyle/>
          <a:p>
            <a:pPr>
              <a:spcBef>
                <a:spcPct val="50000"/>
              </a:spcBef>
              <a:defRPr/>
            </a:pPr>
            <a:r>
              <a:rPr lang="zh-CN" altLang="en-US" sz="1600" b="1" dirty="0">
                <a:solidFill>
                  <a:schemeClr val="accent1">
                    <a:lumMod val="25000"/>
                  </a:schemeClr>
                </a:solidFill>
                <a:effectLst>
                  <a:outerShdw blurRad="38100" dist="38100" dir="2700000" algn="tl">
                    <a:srgbClr val="C0C0C0"/>
                  </a:outerShdw>
                </a:effectLst>
                <a:latin typeface="黑体" pitchFamily="49" charset="-122"/>
                <a:ea typeface="黑体" pitchFamily="49" charset="-122"/>
              </a:rPr>
              <a:t>清除结构</a:t>
            </a:r>
          </a:p>
        </p:txBody>
      </p:sp>
      <p:sp>
        <p:nvSpPr>
          <p:cNvPr id="72" name="矩形 71"/>
          <p:cNvSpPr/>
          <p:nvPr/>
        </p:nvSpPr>
        <p:spPr>
          <a:xfrm>
            <a:off x="5808664" y="2878138"/>
            <a:ext cx="1412875" cy="336550"/>
          </a:xfrm>
          <a:prstGeom prst="rect">
            <a:avLst/>
          </a:prstGeom>
        </p:spPr>
        <p:txBody>
          <a:bodyPr wrap="none">
            <a:spAutoFit/>
          </a:bodyPr>
          <a:lstStyle/>
          <a:p>
            <a:pPr>
              <a:spcBef>
                <a:spcPct val="50000"/>
              </a:spcBef>
              <a:defRPr/>
            </a:pPr>
            <a:r>
              <a:rPr lang="zh-CN" altLang="en-US" sz="1600" b="1" dirty="0">
                <a:solidFill>
                  <a:schemeClr val="accent1">
                    <a:lumMod val="25000"/>
                  </a:schemeClr>
                </a:solidFill>
                <a:effectLst>
                  <a:outerShdw blurRad="38100" dist="38100" dir="2700000" algn="tl">
                    <a:srgbClr val="C0C0C0"/>
                  </a:outerShdw>
                </a:effectLst>
                <a:latin typeface="黑体" pitchFamily="49" charset="-122"/>
                <a:ea typeface="黑体" pitchFamily="49" charset="-122"/>
              </a:rPr>
              <a:t>插入数据元素</a:t>
            </a:r>
          </a:p>
        </p:txBody>
      </p:sp>
      <p:sp>
        <p:nvSpPr>
          <p:cNvPr id="73" name="矩形 72"/>
          <p:cNvSpPr/>
          <p:nvPr/>
        </p:nvSpPr>
        <p:spPr>
          <a:xfrm>
            <a:off x="5808664" y="2592388"/>
            <a:ext cx="1412875" cy="336550"/>
          </a:xfrm>
          <a:prstGeom prst="rect">
            <a:avLst/>
          </a:prstGeom>
        </p:spPr>
        <p:txBody>
          <a:bodyPr wrap="none">
            <a:spAutoFit/>
          </a:bodyPr>
          <a:lstStyle/>
          <a:p>
            <a:pPr>
              <a:spcBef>
                <a:spcPct val="50000"/>
              </a:spcBef>
              <a:defRPr/>
            </a:pPr>
            <a:r>
              <a:rPr lang="zh-CN" altLang="en-US" sz="1600" b="1" dirty="0">
                <a:solidFill>
                  <a:schemeClr val="accent1">
                    <a:lumMod val="25000"/>
                  </a:schemeClr>
                </a:solidFill>
                <a:effectLst>
                  <a:outerShdw blurRad="38100" dist="38100" dir="2700000" algn="tl">
                    <a:srgbClr val="C0C0C0"/>
                  </a:outerShdw>
                </a:effectLst>
                <a:latin typeface="黑体" pitchFamily="49" charset="-122"/>
                <a:ea typeface="黑体" pitchFamily="49" charset="-122"/>
              </a:rPr>
              <a:t>删除数据元素</a:t>
            </a:r>
          </a:p>
        </p:txBody>
      </p:sp>
      <p:sp>
        <p:nvSpPr>
          <p:cNvPr id="74" name="矩形 73"/>
          <p:cNvSpPr/>
          <p:nvPr/>
        </p:nvSpPr>
        <p:spPr>
          <a:xfrm>
            <a:off x="5802314" y="2316163"/>
            <a:ext cx="1412875" cy="336550"/>
          </a:xfrm>
          <a:prstGeom prst="rect">
            <a:avLst/>
          </a:prstGeom>
        </p:spPr>
        <p:txBody>
          <a:bodyPr wrap="none">
            <a:spAutoFit/>
          </a:bodyPr>
          <a:lstStyle/>
          <a:p>
            <a:pPr>
              <a:spcBef>
                <a:spcPct val="50000"/>
              </a:spcBef>
              <a:defRPr/>
            </a:pPr>
            <a:r>
              <a:rPr lang="zh-CN" altLang="en-US" sz="1600" b="1" dirty="0">
                <a:solidFill>
                  <a:schemeClr val="accent1">
                    <a:lumMod val="25000"/>
                  </a:schemeClr>
                </a:solidFill>
                <a:effectLst>
                  <a:outerShdw blurRad="38100" dist="38100" dir="2700000" algn="tl">
                    <a:srgbClr val="C0C0C0"/>
                  </a:outerShdw>
                </a:effectLst>
                <a:latin typeface="黑体" pitchFamily="49" charset="-122"/>
                <a:ea typeface="黑体" pitchFamily="49" charset="-122"/>
              </a:rPr>
              <a:t>修改数据元素</a:t>
            </a:r>
          </a:p>
        </p:txBody>
      </p:sp>
      <p:sp>
        <p:nvSpPr>
          <p:cNvPr id="75" name="矩形 74"/>
          <p:cNvSpPr/>
          <p:nvPr/>
        </p:nvSpPr>
        <p:spPr>
          <a:xfrm>
            <a:off x="5791201" y="2038350"/>
            <a:ext cx="593725" cy="336550"/>
          </a:xfrm>
          <a:prstGeom prst="rect">
            <a:avLst/>
          </a:prstGeom>
        </p:spPr>
        <p:txBody>
          <a:bodyPr wrap="none">
            <a:spAutoFit/>
          </a:bodyPr>
          <a:lstStyle/>
          <a:p>
            <a:pPr>
              <a:spcBef>
                <a:spcPct val="50000"/>
              </a:spcBef>
              <a:defRPr/>
            </a:pPr>
            <a:r>
              <a:rPr lang="zh-CN" altLang="en-US" sz="1600" b="1" dirty="0">
                <a:solidFill>
                  <a:schemeClr val="accent1">
                    <a:lumMod val="25000"/>
                  </a:schemeClr>
                </a:solidFill>
                <a:effectLst>
                  <a:outerShdw blurRad="38100" dist="38100" dir="2700000" algn="tl">
                    <a:srgbClr val="C0C0C0"/>
                  </a:outerShdw>
                </a:effectLst>
                <a:latin typeface="黑体" pitchFamily="49" charset="-122"/>
                <a:ea typeface="黑体" pitchFamily="49" charset="-122"/>
              </a:rPr>
              <a:t>排序</a:t>
            </a:r>
          </a:p>
        </p:txBody>
      </p:sp>
      <p:sp>
        <p:nvSpPr>
          <p:cNvPr id="76" name="矩形 75"/>
          <p:cNvSpPr/>
          <p:nvPr/>
        </p:nvSpPr>
        <p:spPr>
          <a:xfrm>
            <a:off x="5780089" y="1733550"/>
            <a:ext cx="593725" cy="336550"/>
          </a:xfrm>
          <a:prstGeom prst="rect">
            <a:avLst/>
          </a:prstGeom>
        </p:spPr>
        <p:txBody>
          <a:bodyPr wrap="none">
            <a:spAutoFit/>
          </a:bodyPr>
          <a:lstStyle/>
          <a:p>
            <a:pPr>
              <a:spcBef>
                <a:spcPct val="50000"/>
              </a:spcBef>
              <a:defRPr/>
            </a:pPr>
            <a:r>
              <a:rPr lang="zh-CN" altLang="en-US" sz="1600" b="1" dirty="0">
                <a:solidFill>
                  <a:schemeClr val="accent1">
                    <a:lumMod val="25000"/>
                  </a:schemeClr>
                </a:solidFill>
                <a:effectLst>
                  <a:outerShdw blurRad="38100" dist="38100" dir="2700000" algn="tl">
                    <a:srgbClr val="C0C0C0"/>
                  </a:outerShdw>
                </a:effectLst>
                <a:latin typeface="黑体" pitchFamily="49" charset="-122"/>
                <a:ea typeface="黑体" pitchFamily="49" charset="-122"/>
              </a:rPr>
              <a:t>检索</a:t>
            </a:r>
          </a:p>
        </p:txBody>
      </p:sp>
      <p:sp>
        <p:nvSpPr>
          <p:cNvPr id="78" name="矩形 77"/>
          <p:cNvSpPr/>
          <p:nvPr/>
        </p:nvSpPr>
        <p:spPr>
          <a:xfrm>
            <a:off x="924944" y="79377"/>
            <a:ext cx="9361040" cy="708025"/>
          </a:xfrm>
          <a:prstGeom prst="rect">
            <a:avLst/>
          </a:prstGeom>
          <a:solidFill>
            <a:srgbClr val="000099"/>
          </a:solidFill>
        </p:spPr>
        <p:style>
          <a:lnRef idx="0">
            <a:schemeClr val="accent2"/>
          </a:lnRef>
          <a:fillRef idx="3">
            <a:schemeClr val="accent2"/>
          </a:fillRef>
          <a:effectRef idx="3">
            <a:schemeClr val="accent2"/>
          </a:effectRef>
          <a:fontRef idx="minor">
            <a:schemeClr val="lt1"/>
          </a:fontRef>
        </p:style>
        <p:txBody>
          <a:bodyPr wrap="none" anchor="ctr"/>
          <a:lstStyle/>
          <a:p>
            <a:pPr algn="ctr" eaLnBrk="1" hangingPunct="1">
              <a:defRPr/>
            </a:pPr>
            <a:r>
              <a:rPr lang="en-US" altLang="zh-CN" sz="4000" b="1" dirty="0">
                <a:solidFill>
                  <a:srgbClr val="FFFFFF"/>
                </a:solidFill>
                <a:latin typeface="微软雅黑" pitchFamily="34" charset="-122"/>
                <a:ea typeface="微软雅黑" pitchFamily="34" charset="-122"/>
              </a:rPr>
              <a:t> </a:t>
            </a:r>
            <a:r>
              <a:rPr lang="zh-CN" altLang="en-US" sz="4000" b="1" dirty="0">
                <a:solidFill>
                  <a:srgbClr val="FFCC00"/>
                </a:solidFill>
                <a:latin typeface="微软雅黑" pitchFamily="34" charset="-122"/>
                <a:ea typeface="微软雅黑" pitchFamily="34" charset="-122"/>
              </a:rPr>
              <a:t>数据结构的基本问题空间</a:t>
            </a:r>
            <a:endParaRPr lang="en-US" altLang="zh-CN" sz="4000" b="1" dirty="0">
              <a:solidFill>
                <a:srgbClr val="FFCC00"/>
              </a:solidFill>
              <a:latin typeface="微软雅黑" pitchFamily="34" charset="-122"/>
              <a:ea typeface="微软雅黑" pitchFamily="34" charset="-122"/>
            </a:endParaRPr>
          </a:p>
        </p:txBody>
      </p:sp>
      <p:sp>
        <p:nvSpPr>
          <p:cNvPr id="306240" name="AutoShape 64"/>
          <p:cNvSpPr>
            <a:spLocks noChangeArrowheads="1"/>
          </p:cNvSpPr>
          <p:nvPr/>
        </p:nvSpPr>
        <p:spPr bwMode="auto">
          <a:xfrm>
            <a:off x="7810865" y="5870573"/>
            <a:ext cx="3095625" cy="908050"/>
          </a:xfrm>
          <a:prstGeom prst="wedgeRoundRectCallout">
            <a:avLst>
              <a:gd name="adj1" fmla="val -79284"/>
              <a:gd name="adj2" fmla="val -204500"/>
              <a:gd name="adj3" fmla="val 16667"/>
            </a:avLst>
          </a:prstGeom>
          <a:solidFill>
            <a:srgbClr val="800000"/>
          </a:solidFill>
          <a:ln w="12700" cap="sq">
            <a:solidFill>
              <a:schemeClr val="tx1"/>
            </a:solidFill>
            <a:miter lim="800000"/>
            <a:headEnd type="none" w="sm" len="sm"/>
            <a:tailEnd type="none" w="sm" len="sm"/>
          </a:ln>
          <a:effectLst>
            <a:outerShdw dist="89803" dir="2700000" algn="ctr" rotWithShape="0">
              <a:schemeClr val="bg1"/>
            </a:outerShdw>
          </a:effectLst>
        </p:spPr>
        <p:txBody>
          <a:bodyPr/>
          <a:lstStyle/>
          <a:p>
            <a:pPr algn="ctr">
              <a:defRPr/>
            </a:pPr>
            <a:r>
              <a:rPr lang="zh-CN" altLang="en-US" sz="4000" b="1" dirty="0">
                <a:solidFill>
                  <a:srgbClr val="FFFF00"/>
                </a:solidFill>
                <a:effectLst>
                  <a:outerShdw blurRad="38100" dist="38100" dir="2700000" algn="tl">
                    <a:srgbClr val="000000"/>
                  </a:outerShdw>
                </a:effectLst>
                <a:ea typeface="黑体" pitchFamily="2" charset="-122"/>
              </a:rPr>
              <a:t>栈和队</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6240"/>
                                        </p:tgtEl>
                                        <p:attrNameLst>
                                          <p:attrName>style.visibility</p:attrName>
                                        </p:attrNameLst>
                                      </p:cBhvr>
                                      <p:to>
                                        <p:strVal val="visible"/>
                                      </p:to>
                                    </p:set>
                                    <p:anim calcmode="lin" valueType="num">
                                      <p:cBhvr additive="base">
                                        <p:cTn id="7" dur="500" fill="hold"/>
                                        <p:tgtEl>
                                          <p:spTgt spid="306240"/>
                                        </p:tgtEl>
                                        <p:attrNameLst>
                                          <p:attrName>ppt_x</p:attrName>
                                        </p:attrNameLst>
                                      </p:cBhvr>
                                      <p:tavLst>
                                        <p:tav tm="0">
                                          <p:val>
                                            <p:strVal val="#ppt_x"/>
                                          </p:val>
                                        </p:tav>
                                        <p:tav tm="100000">
                                          <p:val>
                                            <p:strVal val="#ppt_x"/>
                                          </p:val>
                                        </p:tav>
                                      </p:tavLst>
                                    </p:anim>
                                    <p:anim calcmode="lin" valueType="num">
                                      <p:cBhvr additive="base">
                                        <p:cTn id="8" dur="500" fill="hold"/>
                                        <p:tgtEl>
                                          <p:spTgt spid="3062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24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994"/>
          <p:cNvSpPr>
            <a:spLocks noChangeArrowheads="1"/>
          </p:cNvSpPr>
          <p:nvPr/>
        </p:nvSpPr>
        <p:spPr bwMode="auto">
          <a:xfrm>
            <a:off x="3779839" y="2560638"/>
            <a:ext cx="4275137" cy="436562"/>
          </a:xfrm>
          <a:prstGeom prst="rect">
            <a:avLst/>
          </a:prstGeom>
          <a:noFill/>
          <a:ln w="9525">
            <a:noFill/>
            <a:miter lim="800000"/>
            <a:headEnd/>
            <a:tailEnd/>
          </a:ln>
        </p:spPr>
        <p:txBody>
          <a:bodyPr/>
          <a:lstStyle/>
          <a:p>
            <a:endParaRPr lang="zh-CN" altLang="en-US"/>
          </a:p>
        </p:txBody>
      </p:sp>
      <p:sp>
        <p:nvSpPr>
          <p:cNvPr id="28675" name="Oval 1135"/>
          <p:cNvSpPr>
            <a:spLocks noChangeArrowheads="1"/>
          </p:cNvSpPr>
          <p:nvPr/>
        </p:nvSpPr>
        <p:spPr bwMode="auto">
          <a:xfrm>
            <a:off x="2566988" y="1484313"/>
            <a:ext cx="6934200" cy="3276600"/>
          </a:xfrm>
          <a:prstGeom prst="ellipse">
            <a:avLst/>
          </a:prstGeom>
          <a:gradFill rotWithShape="0">
            <a:gsLst>
              <a:gs pos="0">
                <a:srgbClr val="0000CC"/>
              </a:gs>
              <a:gs pos="100000">
                <a:srgbClr val="FF0066"/>
              </a:gs>
            </a:gsLst>
            <a:lin ang="5400000" scaled="1"/>
          </a:gradFill>
          <a:ln w="12700" cap="sq">
            <a:noFill/>
            <a:round/>
            <a:headEnd type="none" w="sm" len="sm"/>
            <a:tailEnd type="none" w="sm" len="sm"/>
          </a:ln>
          <a:effectLst>
            <a:outerShdw dist="136783" dir="4091915" algn="ctr" rotWithShape="0">
              <a:srgbClr val="969696"/>
            </a:outerShdw>
          </a:effectLst>
        </p:spPr>
        <p:txBody>
          <a:bodyPr wrap="none" anchor="ctr"/>
          <a:lstStyle/>
          <a:p>
            <a:pPr algn="ctr"/>
            <a:endParaRPr lang="zh-CN" altLang="en-US" b="1">
              <a:solidFill>
                <a:srgbClr val="FFFF00"/>
              </a:solidFill>
            </a:endParaRPr>
          </a:p>
        </p:txBody>
      </p:sp>
      <p:sp>
        <p:nvSpPr>
          <p:cNvPr id="28676" name="Rectangle 1137"/>
          <p:cNvSpPr>
            <a:spLocks noChangeArrowheads="1"/>
          </p:cNvSpPr>
          <p:nvPr/>
        </p:nvSpPr>
        <p:spPr bwMode="auto">
          <a:xfrm>
            <a:off x="2843213" y="2209800"/>
            <a:ext cx="6858000" cy="1371600"/>
          </a:xfrm>
          <a:prstGeom prst="rect">
            <a:avLst/>
          </a:prstGeom>
          <a:noFill/>
          <a:ln w="9525">
            <a:noFill/>
            <a:miter lim="800000"/>
            <a:headEnd/>
            <a:tailEnd/>
          </a:ln>
          <a:effectLst>
            <a:outerShdw dist="45791" dir="2021404" algn="ctr" rotWithShape="0">
              <a:srgbClr val="000000"/>
            </a:outerShdw>
          </a:effectLst>
        </p:spPr>
        <p:txBody>
          <a:bodyPr lIns="0" tIns="0" rIns="0" bIns="0">
            <a:spAutoFit/>
          </a:bodyPr>
          <a:lstStyle/>
          <a:p>
            <a:pPr>
              <a:lnSpc>
                <a:spcPct val="75000"/>
              </a:lnSpc>
            </a:pPr>
            <a:r>
              <a:rPr lang="zh-CN" altLang="en-US" sz="6000" b="1" dirty="0">
                <a:solidFill>
                  <a:srgbClr val="FFFF00"/>
                </a:solidFill>
                <a:latin typeface="隶书" pitchFamily="49" charset="-122"/>
                <a:ea typeface="隶书" pitchFamily="49" charset="-122"/>
              </a:rPr>
              <a:t>  第三讲 </a:t>
            </a:r>
          </a:p>
          <a:p>
            <a:pPr>
              <a:lnSpc>
                <a:spcPct val="75000"/>
              </a:lnSpc>
            </a:pPr>
            <a:r>
              <a:rPr lang="zh-CN" altLang="en-US" sz="6000" b="1" dirty="0">
                <a:solidFill>
                  <a:srgbClr val="FFFF00"/>
                </a:solidFill>
                <a:latin typeface="隶书" pitchFamily="49" charset="-122"/>
                <a:ea typeface="隶书" pitchFamily="49" charset="-122"/>
              </a:rPr>
              <a:t>     栈和队列</a:t>
            </a:r>
          </a:p>
        </p:txBody>
      </p:sp>
    </p:spTree>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4</a:t>
            </a:fld>
            <a:endParaRPr lang="zh-CN" altLang="en-US"/>
          </a:p>
        </p:txBody>
      </p:sp>
      <p:pic>
        <p:nvPicPr>
          <p:cNvPr id="74754" name="Picture 2"/>
          <p:cNvPicPr>
            <a:picLocks noChangeAspect="1" noChangeArrowheads="1"/>
          </p:cNvPicPr>
          <p:nvPr/>
        </p:nvPicPr>
        <p:blipFill>
          <a:blip r:embed="rId2" cstate="print"/>
          <a:srcRect/>
          <a:stretch>
            <a:fillRect/>
          </a:stretch>
        </p:blipFill>
        <p:spPr bwMode="auto">
          <a:xfrm>
            <a:off x="1703512" y="188640"/>
            <a:ext cx="6019800" cy="3581400"/>
          </a:xfrm>
          <a:prstGeom prst="rect">
            <a:avLst/>
          </a:prstGeom>
          <a:noFill/>
          <a:ln w="9525">
            <a:noFill/>
            <a:miter lim="800000"/>
            <a:headEnd/>
            <a:tailEnd/>
          </a:ln>
        </p:spPr>
      </p:pic>
      <p:pic>
        <p:nvPicPr>
          <p:cNvPr id="74755" name="Picture 3"/>
          <p:cNvPicPr>
            <a:picLocks noChangeAspect="1" noChangeArrowheads="1"/>
          </p:cNvPicPr>
          <p:nvPr/>
        </p:nvPicPr>
        <p:blipFill>
          <a:blip r:embed="rId3" cstate="print"/>
          <a:srcRect/>
          <a:stretch>
            <a:fillRect/>
          </a:stretch>
        </p:blipFill>
        <p:spPr bwMode="auto">
          <a:xfrm>
            <a:off x="3143672" y="1196752"/>
            <a:ext cx="6286500" cy="4286250"/>
          </a:xfrm>
          <a:prstGeom prst="rect">
            <a:avLst/>
          </a:prstGeom>
          <a:noFill/>
          <a:ln w="9525">
            <a:noFill/>
            <a:miter lim="800000"/>
            <a:headEnd/>
            <a:tailEnd/>
          </a:ln>
        </p:spPr>
      </p:pic>
      <p:pic>
        <p:nvPicPr>
          <p:cNvPr id="74756" name="Picture 4"/>
          <p:cNvPicPr>
            <a:picLocks noChangeAspect="1" noChangeArrowheads="1"/>
          </p:cNvPicPr>
          <p:nvPr/>
        </p:nvPicPr>
        <p:blipFill>
          <a:blip r:embed="rId4" cstate="print"/>
          <a:srcRect/>
          <a:stretch>
            <a:fillRect/>
          </a:stretch>
        </p:blipFill>
        <p:spPr bwMode="auto">
          <a:xfrm>
            <a:off x="4295776" y="3717032"/>
            <a:ext cx="6372225" cy="2304256"/>
          </a:xfrm>
          <a:prstGeom prst="rect">
            <a:avLst/>
          </a:prstGeom>
          <a:noFill/>
          <a:ln w="9525">
            <a:noFill/>
            <a:miter lim="800000"/>
            <a:headEnd/>
            <a:tailEnd/>
          </a:ln>
        </p:spPr>
      </p:pic>
      <p:sp>
        <p:nvSpPr>
          <p:cNvPr id="6" name="椭圆 5"/>
          <p:cNvSpPr/>
          <p:nvPr/>
        </p:nvSpPr>
        <p:spPr bwMode="auto">
          <a:xfrm>
            <a:off x="2351584" y="0"/>
            <a:ext cx="504056" cy="562630"/>
          </a:xfrm>
          <a:prstGeom prst="ellipse">
            <a:avLst/>
          </a:prstGeom>
          <a:noFill/>
          <a:ln w="571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eaLnBrk="0" fontAlgn="base" hangingPunct="0">
              <a:spcBef>
                <a:spcPct val="0"/>
              </a:spcBef>
              <a:spcAft>
                <a:spcPct val="0"/>
              </a:spcAft>
            </a:pPr>
            <a:endParaRPr lang="zh-CN" altLang="en-US" sz="2000" b="1">
              <a:latin typeface="Arial" charset="0"/>
              <a:ea typeface="宋体" charset="-122"/>
            </a:endParaRPr>
          </a:p>
        </p:txBody>
      </p:sp>
      <p:sp>
        <p:nvSpPr>
          <p:cNvPr id="7" name="椭圆 6"/>
          <p:cNvSpPr/>
          <p:nvPr/>
        </p:nvSpPr>
        <p:spPr bwMode="auto">
          <a:xfrm>
            <a:off x="3071664" y="1196752"/>
            <a:ext cx="648072" cy="562630"/>
          </a:xfrm>
          <a:prstGeom prst="ellipse">
            <a:avLst/>
          </a:prstGeom>
          <a:noFill/>
          <a:ln w="571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eaLnBrk="0" fontAlgn="base" hangingPunct="0">
              <a:spcBef>
                <a:spcPct val="0"/>
              </a:spcBef>
              <a:spcAft>
                <a:spcPct val="0"/>
              </a:spcAft>
            </a:pPr>
            <a:endParaRPr lang="zh-CN" altLang="en-US" sz="2000" b="1">
              <a:latin typeface="Arial" charset="0"/>
              <a:ea typeface="宋体" charset="-122"/>
            </a:endParaRPr>
          </a:p>
        </p:txBody>
      </p:sp>
      <p:sp>
        <p:nvSpPr>
          <p:cNvPr id="8" name="椭圆 7"/>
          <p:cNvSpPr/>
          <p:nvPr/>
        </p:nvSpPr>
        <p:spPr bwMode="auto">
          <a:xfrm>
            <a:off x="4871864" y="4437112"/>
            <a:ext cx="5040560" cy="562630"/>
          </a:xfrm>
          <a:prstGeom prst="ellipse">
            <a:avLst/>
          </a:prstGeom>
          <a:noFill/>
          <a:ln w="571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eaLnBrk="0" fontAlgn="base" hangingPunct="0">
              <a:spcBef>
                <a:spcPct val="0"/>
              </a:spcBef>
              <a:spcAft>
                <a:spcPct val="0"/>
              </a:spcAft>
            </a:pPr>
            <a:endParaRPr lang="zh-CN" altLang="en-US" sz="2000" b="1">
              <a:latin typeface="Arial" charset="0"/>
              <a:ea typeface="宋体" charset="-122"/>
            </a:endParaRPr>
          </a:p>
        </p:txBody>
      </p:sp>
      <p:grpSp>
        <p:nvGrpSpPr>
          <p:cNvPr id="9" name="组合 19"/>
          <p:cNvGrpSpPr/>
          <p:nvPr/>
        </p:nvGrpSpPr>
        <p:grpSpPr>
          <a:xfrm>
            <a:off x="9408368" y="-37121"/>
            <a:ext cx="2715790" cy="1833625"/>
            <a:chOff x="0" y="188639"/>
            <a:chExt cx="2229108" cy="898524"/>
          </a:xfrm>
        </p:grpSpPr>
        <p:grpSp>
          <p:nvGrpSpPr>
            <p:cNvPr id="10" name="Group 7"/>
            <p:cNvGrpSpPr>
              <a:grpSpLocks/>
            </p:cNvGrpSpPr>
            <p:nvPr/>
          </p:nvGrpSpPr>
          <p:grpSpPr bwMode="auto">
            <a:xfrm>
              <a:off x="0" y="188639"/>
              <a:ext cx="2229108" cy="898524"/>
              <a:chOff x="476" y="506"/>
              <a:chExt cx="499" cy="565"/>
            </a:xfrm>
          </p:grpSpPr>
          <p:sp>
            <p:nvSpPr>
              <p:cNvPr id="13" name="Freeform 8"/>
              <p:cNvSpPr>
                <a:spLocks/>
              </p:cNvSpPr>
              <p:nvPr/>
            </p:nvSpPr>
            <p:spPr bwMode="auto">
              <a:xfrm>
                <a:off x="476" y="506"/>
                <a:ext cx="499" cy="565"/>
              </a:xfrm>
              <a:custGeom>
                <a:avLst/>
                <a:gdLst>
                  <a:gd name="T0" fmla="*/ 7 w 710"/>
                  <a:gd name="T1" fmla="*/ 134 h 616"/>
                  <a:gd name="T2" fmla="*/ 13 w 710"/>
                  <a:gd name="T3" fmla="*/ 284 h 616"/>
                  <a:gd name="T4" fmla="*/ 84 w 710"/>
                  <a:gd name="T5" fmla="*/ 242 h 616"/>
                  <a:gd name="T6" fmla="*/ 77 w 710"/>
                  <a:gd name="T7" fmla="*/ 91 h 616"/>
                  <a:gd name="T8" fmla="*/ 66 w 710"/>
                  <a:gd name="T9" fmla="*/ 79 h 616"/>
                  <a:gd name="T10" fmla="*/ 16 w 710"/>
                  <a:gd name="T11" fmla="*/ 62 h 616"/>
                  <a:gd name="T12" fmla="*/ 9 w 710"/>
                  <a:gd name="T13" fmla="*/ 91 h 616"/>
                  <a:gd name="T14" fmla="*/ 8 w 710"/>
                  <a:gd name="T15" fmla="*/ 105 h 616"/>
                  <a:gd name="T16" fmla="*/ 7 w 710"/>
                  <a:gd name="T17" fmla="*/ 134 h 6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0" h="616">
                    <a:moveTo>
                      <a:pt x="58" y="225"/>
                    </a:moveTo>
                    <a:cubicBezTo>
                      <a:pt x="63" y="383"/>
                      <a:pt x="0" y="441"/>
                      <a:pt x="107" y="477"/>
                    </a:cubicBezTo>
                    <a:cubicBezTo>
                      <a:pt x="511" y="472"/>
                      <a:pt x="586" y="616"/>
                      <a:pt x="690" y="407"/>
                    </a:cubicBezTo>
                    <a:cubicBezTo>
                      <a:pt x="688" y="366"/>
                      <a:pt x="710" y="188"/>
                      <a:pt x="634" y="154"/>
                    </a:cubicBezTo>
                    <a:cubicBezTo>
                      <a:pt x="601" y="139"/>
                      <a:pt x="585" y="139"/>
                      <a:pt x="550" y="133"/>
                    </a:cubicBezTo>
                    <a:cubicBezTo>
                      <a:pt x="462" y="0"/>
                      <a:pt x="367" y="101"/>
                      <a:pt x="135" y="105"/>
                    </a:cubicBezTo>
                    <a:cubicBezTo>
                      <a:pt x="112" y="120"/>
                      <a:pt x="102" y="139"/>
                      <a:pt x="79" y="154"/>
                    </a:cubicBezTo>
                    <a:cubicBezTo>
                      <a:pt x="74" y="161"/>
                      <a:pt x="66" y="167"/>
                      <a:pt x="65" y="175"/>
                    </a:cubicBezTo>
                    <a:cubicBezTo>
                      <a:pt x="60" y="231"/>
                      <a:pt x="93" y="242"/>
                      <a:pt x="58" y="225"/>
                    </a:cubicBezTo>
                    <a:close/>
                  </a:path>
                </a:pathLst>
              </a:custGeom>
              <a:solidFill>
                <a:srgbClr val="99CCFF"/>
              </a:solidFill>
              <a:ln w="9525" cap="flat" cmpd="sng">
                <a:noFill/>
                <a:prstDash val="solid"/>
                <a:round/>
                <a:headEnd/>
                <a:tailEnd/>
              </a:ln>
              <a:effectLst>
                <a:outerShdw dist="45791" dir="2021404" algn="ctr" rotWithShape="0">
                  <a:srgbClr val="7B7B7B"/>
                </a:outerShdw>
              </a:effectLst>
            </p:spPr>
            <p:txBody>
              <a:bodyPr wrap="none" anchor="ctr"/>
              <a:lstStyle/>
              <a:p>
                <a:endParaRPr lang="zh-CN" altLang="en-US"/>
              </a:p>
            </p:txBody>
          </p:sp>
          <p:sp>
            <p:nvSpPr>
              <p:cNvPr id="14" name="Rectangle 9"/>
              <p:cNvSpPr>
                <a:spLocks noChangeArrowheads="1"/>
              </p:cNvSpPr>
              <p:nvPr/>
            </p:nvSpPr>
            <p:spPr bwMode="auto">
              <a:xfrm>
                <a:off x="502" y="638"/>
                <a:ext cx="370" cy="319"/>
              </a:xfrm>
              <a:prstGeom prst="rect">
                <a:avLst/>
              </a:prstGeom>
              <a:noFill/>
              <a:ln w="9525">
                <a:noFill/>
                <a:miter lim="800000"/>
                <a:headEnd/>
                <a:tailEnd/>
              </a:ln>
              <a:effectLst>
                <a:outerShdw dist="28398" dir="3806097" algn="ctr" rotWithShape="0">
                  <a:schemeClr val="bg1"/>
                </a:outerShdw>
              </a:effectLst>
            </p:spPr>
            <p:txBody>
              <a:bodyPr wrap="square" anchor="ctr">
                <a:spAutoFit/>
              </a:bodyPr>
              <a:lstStyle/>
              <a:p>
                <a:pPr>
                  <a:lnSpc>
                    <a:spcPts val="1700"/>
                  </a:lnSpc>
                </a:pPr>
                <a:r>
                  <a:rPr lang="zh-CN" altLang="en-US" sz="2400" dirty="0">
                    <a:solidFill>
                      <a:srgbClr val="7030A0"/>
                    </a:solidFill>
                    <a:ea typeface="华文新魏" pitchFamily="2" charset="-122"/>
                  </a:rPr>
                  <a:t>这些</a:t>
                </a:r>
                <a:r>
                  <a:rPr lang="zh-CN" altLang="en-US" sz="2400" dirty="0">
                    <a:solidFill>
                      <a:srgbClr val="C00000"/>
                    </a:solidFill>
                    <a:ea typeface="华文新魏" pitchFamily="2" charset="-122"/>
                  </a:rPr>
                  <a:t>红圈</a:t>
                </a:r>
                <a:r>
                  <a:rPr lang="zh-CN" altLang="en-US" sz="2400" dirty="0">
                    <a:solidFill>
                      <a:srgbClr val="7030A0"/>
                    </a:solidFill>
                    <a:ea typeface="华文新魏" pitchFamily="2" charset="-122"/>
                  </a:rPr>
                  <a:t>所标注的功能所涉及的数据是如何组织的</a:t>
                </a:r>
                <a:r>
                  <a:rPr lang="zh-CN" altLang="en-US" sz="4400" dirty="0">
                    <a:solidFill>
                      <a:srgbClr val="7030A0"/>
                    </a:solidFill>
                    <a:ea typeface="华文新魏" pitchFamily="2" charset="-122"/>
                  </a:rPr>
                  <a:t> </a:t>
                </a:r>
              </a:p>
            </p:txBody>
          </p:sp>
        </p:grpSp>
        <p:sp>
          <p:nvSpPr>
            <p:cNvPr id="11" name="Freeform 31"/>
            <p:cNvSpPr>
              <a:spLocks/>
            </p:cNvSpPr>
            <p:nvPr/>
          </p:nvSpPr>
          <p:spPr bwMode="auto">
            <a:xfrm rot="530513">
              <a:off x="1703082" y="426414"/>
              <a:ext cx="413605" cy="393319"/>
            </a:xfrm>
            <a:custGeom>
              <a:avLst/>
              <a:gdLst>
                <a:gd name="T0" fmla="*/ 19595 w 439"/>
                <a:gd name="T1" fmla="*/ 374 h 683"/>
                <a:gd name="T2" fmla="*/ 25351 w 439"/>
                <a:gd name="T3" fmla="*/ 278 h 683"/>
                <a:gd name="T4" fmla="*/ 35572 w 439"/>
                <a:gd name="T5" fmla="*/ 336 h 683"/>
                <a:gd name="T6" fmla="*/ 34644 w 439"/>
                <a:gd name="T7" fmla="*/ 491 h 683"/>
                <a:gd name="T8" fmla="*/ 22332 w 439"/>
                <a:gd name="T9" fmla="*/ 616 h 683"/>
                <a:gd name="T10" fmla="*/ 20008 w 439"/>
                <a:gd name="T11" fmla="*/ 958 h 683"/>
                <a:gd name="T12" fmla="*/ 22332 w 439"/>
                <a:gd name="T13" fmla="*/ 1066 h 683"/>
                <a:gd name="T14" fmla="*/ 18298 w 439"/>
                <a:gd name="T15" fmla="*/ 1183 h 683"/>
                <a:gd name="T16" fmla="*/ 19221 w 439"/>
                <a:gd name="T17" fmla="*/ 1302 h 683"/>
                <a:gd name="T18" fmla="*/ 27843 w 439"/>
                <a:gd name="T19" fmla="*/ 1382 h 683"/>
                <a:gd name="T20" fmla="*/ 39233 w 439"/>
                <a:gd name="T21" fmla="*/ 1327 h 683"/>
                <a:gd name="T22" fmla="*/ 42887 w 439"/>
                <a:gd name="T23" fmla="*/ 1183 h 683"/>
                <a:gd name="T24" fmla="*/ 38303 w 439"/>
                <a:gd name="T25" fmla="*/ 1045 h 683"/>
                <a:gd name="T26" fmla="*/ 43302 w 439"/>
                <a:gd name="T27" fmla="*/ 972 h 683"/>
                <a:gd name="T28" fmla="*/ 43302 w 439"/>
                <a:gd name="T29" fmla="*/ 781 h 683"/>
                <a:gd name="T30" fmla="*/ 56046 w 439"/>
                <a:gd name="T31" fmla="*/ 621 h 683"/>
                <a:gd name="T32" fmla="*/ 57387 w 439"/>
                <a:gd name="T33" fmla="*/ 378 h 683"/>
                <a:gd name="T34" fmla="*/ 49144 w 439"/>
                <a:gd name="T35" fmla="*/ 118 h 683"/>
                <a:gd name="T36" fmla="*/ 32792 w 439"/>
                <a:gd name="T37" fmla="*/ 0 h 683"/>
                <a:gd name="T38" fmla="*/ 14637 w 439"/>
                <a:gd name="T39" fmla="*/ 78 h 683"/>
                <a:gd name="T40" fmla="*/ 4071 w 439"/>
                <a:gd name="T41" fmla="*/ 232 h 683"/>
                <a:gd name="T42" fmla="*/ 0 w 439"/>
                <a:gd name="T43" fmla="*/ 473 h 683"/>
                <a:gd name="T44" fmla="*/ 514 w 439"/>
                <a:gd name="T45" fmla="*/ 616 h 683"/>
                <a:gd name="T46" fmla="*/ 19221 w 439"/>
                <a:gd name="T47" fmla="*/ 598 h 683"/>
                <a:gd name="T48" fmla="*/ 19595 w 439"/>
                <a:gd name="T49" fmla="*/ 374 h 68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39" h="683">
                  <a:moveTo>
                    <a:pt x="150" y="185"/>
                  </a:moveTo>
                  <a:lnTo>
                    <a:pt x="194" y="138"/>
                  </a:lnTo>
                  <a:lnTo>
                    <a:pt x="272" y="167"/>
                  </a:lnTo>
                  <a:lnTo>
                    <a:pt x="265" y="244"/>
                  </a:lnTo>
                  <a:lnTo>
                    <a:pt x="171" y="304"/>
                  </a:lnTo>
                  <a:lnTo>
                    <a:pt x="153" y="474"/>
                  </a:lnTo>
                  <a:lnTo>
                    <a:pt x="171" y="527"/>
                  </a:lnTo>
                  <a:lnTo>
                    <a:pt x="140" y="585"/>
                  </a:lnTo>
                  <a:lnTo>
                    <a:pt x="147" y="645"/>
                  </a:lnTo>
                  <a:lnTo>
                    <a:pt x="213" y="683"/>
                  </a:lnTo>
                  <a:lnTo>
                    <a:pt x="300" y="656"/>
                  </a:lnTo>
                  <a:lnTo>
                    <a:pt x="328" y="585"/>
                  </a:lnTo>
                  <a:lnTo>
                    <a:pt x="293" y="518"/>
                  </a:lnTo>
                  <a:lnTo>
                    <a:pt x="331" y="480"/>
                  </a:lnTo>
                  <a:lnTo>
                    <a:pt x="331" y="387"/>
                  </a:lnTo>
                  <a:lnTo>
                    <a:pt x="429" y="308"/>
                  </a:lnTo>
                  <a:lnTo>
                    <a:pt x="439" y="188"/>
                  </a:lnTo>
                  <a:lnTo>
                    <a:pt x="376" y="59"/>
                  </a:lnTo>
                  <a:lnTo>
                    <a:pt x="251" y="0"/>
                  </a:lnTo>
                  <a:lnTo>
                    <a:pt x="112" y="38"/>
                  </a:lnTo>
                  <a:lnTo>
                    <a:pt x="31" y="115"/>
                  </a:lnTo>
                  <a:lnTo>
                    <a:pt x="0" y="234"/>
                  </a:lnTo>
                  <a:lnTo>
                    <a:pt x="4" y="304"/>
                  </a:lnTo>
                  <a:lnTo>
                    <a:pt x="147" y="296"/>
                  </a:lnTo>
                  <a:lnTo>
                    <a:pt x="150" y="185"/>
                  </a:lnTo>
                  <a:close/>
                </a:path>
              </a:pathLst>
            </a:custGeom>
            <a:solidFill>
              <a:srgbClr val="FF0000"/>
            </a:solidFill>
            <a:ln w="9525">
              <a:solidFill>
                <a:srgbClr val="00FFFF"/>
              </a:solidFill>
              <a:round/>
              <a:headEnd/>
              <a:tailEnd/>
            </a:ln>
            <a:effectLst>
              <a:outerShdw dist="40161" dir="1106097" algn="ctr" rotWithShape="0">
                <a:srgbClr val="808080"/>
              </a:outerShdw>
            </a:effectLst>
          </p:spPr>
          <p:txBody>
            <a:bodyPr/>
            <a:lstStyle/>
            <a:p>
              <a:endParaRPr lang="zh-CN" altLang="en-US" dirty="0">
                <a:solidFill>
                  <a:srgbClr val="FF0000"/>
                </a:solidFill>
              </a:endParaRPr>
            </a:p>
          </p:txBody>
        </p:sp>
        <p:sp>
          <p:nvSpPr>
            <p:cNvPr id="12" name="Freeform 33"/>
            <p:cNvSpPr>
              <a:spLocks/>
            </p:cNvSpPr>
            <p:nvPr/>
          </p:nvSpPr>
          <p:spPr bwMode="auto">
            <a:xfrm rot="530513">
              <a:off x="1780191" y="839838"/>
              <a:ext cx="152631" cy="62012"/>
            </a:xfrm>
            <a:custGeom>
              <a:avLst/>
              <a:gdLst>
                <a:gd name="T0" fmla="*/ 5777 w 126"/>
                <a:gd name="T1" fmla="*/ 0 h 109"/>
                <a:gd name="T2" fmla="*/ 1145 w 126"/>
                <a:gd name="T3" fmla="*/ 45 h 109"/>
                <a:gd name="T4" fmla="*/ 0 w 126"/>
                <a:gd name="T5" fmla="*/ 165 h 109"/>
                <a:gd name="T6" fmla="*/ 3612 w 126"/>
                <a:gd name="T7" fmla="*/ 248 h 109"/>
                <a:gd name="T8" fmla="*/ 12576 w 126"/>
                <a:gd name="T9" fmla="*/ 248 h 109"/>
                <a:gd name="T10" fmla="*/ 16178 w 126"/>
                <a:gd name="T11" fmla="*/ 151 h 109"/>
                <a:gd name="T12" fmla="*/ 13076 w 126"/>
                <a:gd name="T13" fmla="*/ 32 h 109"/>
                <a:gd name="T14" fmla="*/ 5777 w 126"/>
                <a:gd name="T15" fmla="*/ 0 h 10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6" h="109">
                  <a:moveTo>
                    <a:pt x="45" y="0"/>
                  </a:moveTo>
                  <a:lnTo>
                    <a:pt x="9" y="20"/>
                  </a:lnTo>
                  <a:lnTo>
                    <a:pt x="0" y="73"/>
                  </a:lnTo>
                  <a:lnTo>
                    <a:pt x="28" y="109"/>
                  </a:lnTo>
                  <a:lnTo>
                    <a:pt x="98" y="109"/>
                  </a:lnTo>
                  <a:lnTo>
                    <a:pt x="126" y="66"/>
                  </a:lnTo>
                  <a:lnTo>
                    <a:pt x="102" y="14"/>
                  </a:lnTo>
                  <a:lnTo>
                    <a:pt x="45" y="0"/>
                  </a:lnTo>
                  <a:close/>
                </a:path>
              </a:pathLst>
            </a:custGeom>
            <a:solidFill>
              <a:srgbClr val="FF3300"/>
            </a:solidFill>
            <a:ln w="9525">
              <a:solidFill>
                <a:srgbClr val="00FFFF"/>
              </a:solidFill>
              <a:round/>
              <a:headEnd/>
              <a:tailEnd/>
            </a:ln>
            <a:effectLst>
              <a:outerShdw dist="40161" dir="1106097" algn="ctr" rotWithShape="0">
                <a:srgbClr val="808080"/>
              </a:outerShdw>
            </a:effectLst>
          </p:spPr>
          <p:txBody>
            <a:bodyPr/>
            <a:lstStyle/>
            <a:p>
              <a:endParaRPr lang="zh-CN" altLang="en-US"/>
            </a:p>
          </p:txBody>
        </p:sp>
      </p:grpSp>
      <p:grpSp>
        <p:nvGrpSpPr>
          <p:cNvPr id="15" name="Group 38"/>
          <p:cNvGrpSpPr>
            <a:grpSpLocks/>
          </p:cNvGrpSpPr>
          <p:nvPr/>
        </p:nvGrpSpPr>
        <p:grpSpPr bwMode="auto">
          <a:xfrm>
            <a:off x="2106080" y="5508192"/>
            <a:ext cx="8361684" cy="1224136"/>
            <a:chOff x="289" y="1200"/>
            <a:chExt cx="5136" cy="2352"/>
          </a:xfrm>
        </p:grpSpPr>
        <p:sp>
          <p:nvSpPr>
            <p:cNvPr id="16" name="Freeform 9"/>
            <p:cNvSpPr>
              <a:spLocks/>
            </p:cNvSpPr>
            <p:nvPr/>
          </p:nvSpPr>
          <p:spPr bwMode="auto">
            <a:xfrm>
              <a:off x="289" y="1200"/>
              <a:ext cx="5136" cy="2352"/>
            </a:xfrm>
            <a:custGeom>
              <a:avLst/>
              <a:gdLst>
                <a:gd name="T0" fmla="*/ 517 w 4969"/>
                <a:gd name="T1" fmla="*/ 63 h 2578"/>
                <a:gd name="T2" fmla="*/ 1684 w 4969"/>
                <a:gd name="T3" fmla="*/ 68 h 2578"/>
                <a:gd name="T4" fmla="*/ 2638 w 4969"/>
                <a:gd name="T5" fmla="*/ 39 h 2578"/>
                <a:gd name="T6" fmla="*/ 3377 w 4969"/>
                <a:gd name="T7" fmla="*/ 63 h 2578"/>
                <a:gd name="T8" fmla="*/ 4047 w 4969"/>
                <a:gd name="T9" fmla="*/ 99 h 2578"/>
                <a:gd name="T10" fmla="*/ 5455 w 4969"/>
                <a:gd name="T11" fmla="*/ 93 h 2578"/>
                <a:gd name="T12" fmla="*/ 6011 w 4969"/>
                <a:gd name="T13" fmla="*/ 63 h 2578"/>
                <a:gd name="T14" fmla="*/ 6211 w 4969"/>
                <a:gd name="T15" fmla="*/ 111 h 2578"/>
                <a:gd name="T16" fmla="*/ 6181 w 4969"/>
                <a:gd name="T17" fmla="*/ 129 h 2578"/>
                <a:gd name="T18" fmla="*/ 6154 w 4969"/>
                <a:gd name="T19" fmla="*/ 349 h 2578"/>
                <a:gd name="T20" fmla="*/ 6124 w 4969"/>
                <a:gd name="T21" fmla="*/ 539 h 2578"/>
                <a:gd name="T22" fmla="*/ 6099 w 4969"/>
                <a:gd name="T23" fmla="*/ 884 h 2578"/>
                <a:gd name="T24" fmla="*/ 6111 w 4969"/>
                <a:gd name="T25" fmla="*/ 826 h 2578"/>
                <a:gd name="T26" fmla="*/ 6124 w 4969"/>
                <a:gd name="T27" fmla="*/ 794 h 2578"/>
                <a:gd name="T28" fmla="*/ 6140 w 4969"/>
                <a:gd name="T29" fmla="*/ 826 h 2578"/>
                <a:gd name="T30" fmla="*/ 6169 w 4969"/>
                <a:gd name="T31" fmla="*/ 842 h 2578"/>
                <a:gd name="T32" fmla="*/ 6140 w 4969"/>
                <a:gd name="T33" fmla="*/ 1336 h 2578"/>
                <a:gd name="T34" fmla="*/ 4789 w 4969"/>
                <a:gd name="T35" fmla="*/ 1329 h 2578"/>
                <a:gd name="T36" fmla="*/ 4871 w 4969"/>
                <a:gd name="T37" fmla="*/ 1324 h 2578"/>
                <a:gd name="T38" fmla="*/ 3535 w 4969"/>
                <a:gd name="T39" fmla="*/ 1316 h 2578"/>
                <a:gd name="T40" fmla="*/ 2083 w 4969"/>
                <a:gd name="T41" fmla="*/ 1299 h 2578"/>
                <a:gd name="T42" fmla="*/ 1242 w 4969"/>
                <a:gd name="T43" fmla="*/ 1299 h 2578"/>
                <a:gd name="T44" fmla="*/ 161 w 4969"/>
                <a:gd name="T45" fmla="*/ 1353 h 2578"/>
                <a:gd name="T46" fmla="*/ 90 w 4969"/>
                <a:gd name="T47" fmla="*/ 663 h 2578"/>
                <a:gd name="T48" fmla="*/ 133 w 4969"/>
                <a:gd name="T49" fmla="*/ 82 h 2578"/>
                <a:gd name="T50" fmla="*/ 190 w 4969"/>
                <a:gd name="T51" fmla="*/ 88 h 2578"/>
                <a:gd name="T52" fmla="*/ 275 w 4969"/>
                <a:gd name="T53" fmla="*/ 99 h 2578"/>
                <a:gd name="T54" fmla="*/ 389 w 4969"/>
                <a:gd name="T55" fmla="*/ 52 h 2578"/>
                <a:gd name="T56" fmla="*/ 517 w 4969"/>
                <a:gd name="T57" fmla="*/ 63 h 2578"/>
                <a:gd name="T58" fmla="*/ 517 w 4969"/>
                <a:gd name="T59" fmla="*/ 63 h 257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969" h="2578">
                  <a:moveTo>
                    <a:pt x="410" y="121"/>
                  </a:moveTo>
                  <a:cubicBezTo>
                    <a:pt x="749" y="132"/>
                    <a:pt x="984" y="140"/>
                    <a:pt x="1336" y="132"/>
                  </a:cubicBezTo>
                  <a:cubicBezTo>
                    <a:pt x="1588" y="105"/>
                    <a:pt x="1841" y="98"/>
                    <a:pt x="2093" y="76"/>
                  </a:cubicBezTo>
                  <a:cubicBezTo>
                    <a:pt x="1871" y="226"/>
                    <a:pt x="2499" y="91"/>
                    <a:pt x="2680" y="121"/>
                  </a:cubicBezTo>
                  <a:cubicBezTo>
                    <a:pt x="3241" y="111"/>
                    <a:pt x="3496" y="0"/>
                    <a:pt x="3211" y="189"/>
                  </a:cubicBezTo>
                  <a:cubicBezTo>
                    <a:pt x="2900" y="395"/>
                    <a:pt x="3956" y="182"/>
                    <a:pt x="4329" y="178"/>
                  </a:cubicBezTo>
                  <a:cubicBezTo>
                    <a:pt x="4474" y="140"/>
                    <a:pt x="4621" y="130"/>
                    <a:pt x="4770" y="121"/>
                  </a:cubicBezTo>
                  <a:cubicBezTo>
                    <a:pt x="4910" y="140"/>
                    <a:pt x="4969" y="91"/>
                    <a:pt x="4928" y="212"/>
                  </a:cubicBezTo>
                  <a:cubicBezTo>
                    <a:pt x="4924" y="225"/>
                    <a:pt x="4913" y="234"/>
                    <a:pt x="4905" y="245"/>
                  </a:cubicBezTo>
                  <a:cubicBezTo>
                    <a:pt x="4854" y="402"/>
                    <a:pt x="4898" y="255"/>
                    <a:pt x="4883" y="663"/>
                  </a:cubicBezTo>
                  <a:cubicBezTo>
                    <a:pt x="4875" y="867"/>
                    <a:pt x="4874" y="861"/>
                    <a:pt x="4860" y="1025"/>
                  </a:cubicBezTo>
                  <a:cubicBezTo>
                    <a:pt x="4855" y="1243"/>
                    <a:pt x="4838" y="1462"/>
                    <a:pt x="4838" y="1680"/>
                  </a:cubicBezTo>
                  <a:cubicBezTo>
                    <a:pt x="4838" y="1718"/>
                    <a:pt x="4844" y="1605"/>
                    <a:pt x="4849" y="1567"/>
                  </a:cubicBezTo>
                  <a:cubicBezTo>
                    <a:pt x="4851" y="1548"/>
                    <a:pt x="4856" y="1529"/>
                    <a:pt x="4860" y="1510"/>
                  </a:cubicBezTo>
                  <a:cubicBezTo>
                    <a:pt x="4864" y="1529"/>
                    <a:pt x="4864" y="1549"/>
                    <a:pt x="4871" y="1567"/>
                  </a:cubicBezTo>
                  <a:cubicBezTo>
                    <a:pt x="4876" y="1580"/>
                    <a:pt x="4894" y="1587"/>
                    <a:pt x="4894" y="1601"/>
                  </a:cubicBezTo>
                  <a:cubicBezTo>
                    <a:pt x="4894" y="1913"/>
                    <a:pt x="4879" y="2226"/>
                    <a:pt x="4871" y="2538"/>
                  </a:cubicBezTo>
                  <a:cubicBezTo>
                    <a:pt x="4514" y="2534"/>
                    <a:pt x="4156" y="2535"/>
                    <a:pt x="3799" y="2527"/>
                  </a:cubicBezTo>
                  <a:cubicBezTo>
                    <a:pt x="3776" y="2527"/>
                    <a:pt x="3889" y="2517"/>
                    <a:pt x="3866" y="2516"/>
                  </a:cubicBezTo>
                  <a:cubicBezTo>
                    <a:pt x="3512" y="2508"/>
                    <a:pt x="3159" y="2508"/>
                    <a:pt x="2805" y="2504"/>
                  </a:cubicBezTo>
                  <a:cubicBezTo>
                    <a:pt x="2734" y="2506"/>
                    <a:pt x="1040" y="2578"/>
                    <a:pt x="1653" y="2470"/>
                  </a:cubicBezTo>
                  <a:cubicBezTo>
                    <a:pt x="1450" y="2572"/>
                    <a:pt x="1204" y="2516"/>
                    <a:pt x="986" y="2470"/>
                  </a:cubicBezTo>
                  <a:cubicBezTo>
                    <a:pt x="872" y="2472"/>
                    <a:pt x="318" y="2382"/>
                    <a:pt x="128" y="2572"/>
                  </a:cubicBezTo>
                  <a:cubicBezTo>
                    <a:pt x="0" y="2261"/>
                    <a:pt x="85" y="1659"/>
                    <a:pt x="71" y="1262"/>
                  </a:cubicBezTo>
                  <a:cubicBezTo>
                    <a:pt x="81" y="466"/>
                    <a:pt x="28" y="556"/>
                    <a:pt x="105" y="155"/>
                  </a:cubicBezTo>
                  <a:cubicBezTo>
                    <a:pt x="120" y="159"/>
                    <a:pt x="138" y="157"/>
                    <a:pt x="151" y="166"/>
                  </a:cubicBezTo>
                  <a:cubicBezTo>
                    <a:pt x="211" y="206"/>
                    <a:pt x="126" y="211"/>
                    <a:pt x="218" y="189"/>
                  </a:cubicBezTo>
                  <a:cubicBezTo>
                    <a:pt x="244" y="150"/>
                    <a:pt x="269" y="125"/>
                    <a:pt x="309" y="99"/>
                  </a:cubicBezTo>
                  <a:cubicBezTo>
                    <a:pt x="348" y="107"/>
                    <a:pt x="373" y="111"/>
                    <a:pt x="410" y="121"/>
                  </a:cubicBezTo>
                  <a:cubicBezTo>
                    <a:pt x="410" y="121"/>
                    <a:pt x="501" y="150"/>
                    <a:pt x="410" y="121"/>
                  </a:cubicBezTo>
                  <a:close/>
                </a:path>
              </a:pathLst>
            </a:custGeom>
            <a:solidFill>
              <a:srgbClr val="C9E4FF"/>
            </a:solidFill>
            <a:ln w="31750" cap="sq" cmpd="sng">
              <a:noFill/>
              <a:prstDash val="solid"/>
              <a:round/>
              <a:headEnd/>
              <a:tailEnd/>
            </a:ln>
            <a:effectLst>
              <a:outerShdw dist="224686" dir="2837437" algn="ctr" rotWithShape="0">
                <a:srgbClr val="B9B9B9"/>
              </a:outerShdw>
            </a:effectLst>
          </p:spPr>
          <p:txBody>
            <a:bodyPr wrap="none" anchor="ctr"/>
            <a:lstStyle/>
            <a:p>
              <a:endParaRPr lang="zh-CN" altLang="en-US"/>
            </a:p>
          </p:txBody>
        </p:sp>
        <p:sp>
          <p:nvSpPr>
            <p:cNvPr id="17" name="Text Box 10"/>
            <p:cNvSpPr txBox="1">
              <a:spLocks noChangeArrowheads="1"/>
            </p:cNvSpPr>
            <p:nvPr/>
          </p:nvSpPr>
          <p:spPr bwMode="auto">
            <a:xfrm>
              <a:off x="687" y="1668"/>
              <a:ext cx="4499" cy="1124"/>
            </a:xfrm>
            <a:prstGeom prst="rect">
              <a:avLst/>
            </a:prstGeom>
            <a:noFill/>
            <a:ln w="9525">
              <a:noFill/>
              <a:miter lim="800000"/>
              <a:headEnd/>
              <a:tailEnd/>
            </a:ln>
          </p:spPr>
          <p:txBody>
            <a:bodyPr wrap="square">
              <a:spAutoFit/>
            </a:bodyPr>
            <a:lstStyle/>
            <a:p>
              <a:pPr algn="just" fontAlgn="base">
                <a:spcBef>
                  <a:spcPct val="0"/>
                </a:spcBef>
              </a:pPr>
              <a:r>
                <a:rPr lang="zh-CN" altLang="en-US" sz="2600" dirty="0">
                  <a:solidFill>
                    <a:srgbClr val="000080"/>
                  </a:solidFill>
                  <a:latin typeface="幼圆" pitchFamily="49" charset="-122"/>
                  <a:ea typeface="幼圆" pitchFamily="49" charset="-122"/>
                </a:rPr>
                <a:t>   </a:t>
              </a:r>
              <a:r>
                <a:rPr lang="zh-CN" altLang="en-US" sz="3200" b="1" dirty="0">
                  <a:solidFill>
                    <a:srgbClr val="000080"/>
                  </a:solidFill>
                  <a:latin typeface="幼圆" pitchFamily="49" charset="-122"/>
                  <a:ea typeface="幼圆" pitchFamily="49" charset="-122"/>
                </a:rPr>
                <a:t>栈</a:t>
              </a:r>
              <a:r>
                <a:rPr lang="zh-CN" altLang="en-US" sz="2600" dirty="0">
                  <a:solidFill>
                    <a:srgbClr val="000080"/>
                  </a:solidFill>
                  <a:latin typeface="幼圆" pitchFamily="49" charset="-122"/>
                  <a:ea typeface="幼圆" pitchFamily="49" charset="-122"/>
                </a:rPr>
                <a:t>和</a:t>
              </a:r>
              <a:r>
                <a:rPr lang="zh-CN" altLang="en-US" sz="3200" b="1" dirty="0">
                  <a:solidFill>
                    <a:srgbClr val="000080"/>
                  </a:solidFill>
                  <a:latin typeface="幼圆" pitchFamily="49" charset="-122"/>
                  <a:ea typeface="幼圆" pitchFamily="49" charset="-122"/>
                </a:rPr>
                <a:t>队</a:t>
              </a:r>
              <a:r>
                <a:rPr lang="zh-CN" altLang="en-US" sz="2600" dirty="0">
                  <a:solidFill>
                    <a:srgbClr val="000080"/>
                  </a:solidFill>
                  <a:latin typeface="幼圆" pitchFamily="49" charset="-122"/>
                  <a:ea typeface="幼圆" pitchFamily="49" charset="-122"/>
                </a:rPr>
                <a:t>是解决问题时常用的数据组织方式</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4754"/>
                                        </p:tgtEl>
                                        <p:attrNameLst>
                                          <p:attrName>style.visibility</p:attrName>
                                        </p:attrNameLst>
                                      </p:cBhvr>
                                      <p:to>
                                        <p:strVal val="visible"/>
                                      </p:to>
                                    </p:set>
                                    <p:anim calcmode="lin" valueType="num">
                                      <p:cBhvr additive="base">
                                        <p:cTn id="7" dur="500" fill="hold"/>
                                        <p:tgtEl>
                                          <p:spTgt spid="74754"/>
                                        </p:tgtEl>
                                        <p:attrNameLst>
                                          <p:attrName>ppt_x</p:attrName>
                                        </p:attrNameLst>
                                      </p:cBhvr>
                                      <p:tavLst>
                                        <p:tav tm="0">
                                          <p:val>
                                            <p:strVal val="#ppt_x"/>
                                          </p:val>
                                        </p:tav>
                                        <p:tav tm="100000">
                                          <p:val>
                                            <p:strVal val="#ppt_x"/>
                                          </p:val>
                                        </p:tav>
                                      </p:tavLst>
                                    </p:anim>
                                    <p:anim calcmode="lin" valueType="num">
                                      <p:cBhvr additive="base">
                                        <p:cTn id="8" dur="500" fill="hold"/>
                                        <p:tgtEl>
                                          <p:spTgt spid="7475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linds(horizontal)">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74755"/>
                                        </p:tgtEl>
                                        <p:attrNameLst>
                                          <p:attrName>style.visibility</p:attrName>
                                        </p:attrNameLst>
                                      </p:cBhvr>
                                      <p:to>
                                        <p:strVal val="visible"/>
                                      </p:to>
                                    </p:set>
                                    <p:anim calcmode="lin" valueType="num">
                                      <p:cBhvr additive="base">
                                        <p:cTn id="18" dur="500" fill="hold"/>
                                        <p:tgtEl>
                                          <p:spTgt spid="74755"/>
                                        </p:tgtEl>
                                        <p:attrNameLst>
                                          <p:attrName>ppt_x</p:attrName>
                                        </p:attrNameLst>
                                      </p:cBhvr>
                                      <p:tavLst>
                                        <p:tav tm="0">
                                          <p:val>
                                            <p:strVal val="#ppt_x"/>
                                          </p:val>
                                        </p:tav>
                                        <p:tav tm="100000">
                                          <p:val>
                                            <p:strVal val="#ppt_x"/>
                                          </p:val>
                                        </p:tav>
                                      </p:tavLst>
                                    </p:anim>
                                    <p:anim calcmode="lin" valueType="num">
                                      <p:cBhvr additive="base">
                                        <p:cTn id="19" dur="500" fill="hold"/>
                                        <p:tgtEl>
                                          <p:spTgt spid="7475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blinds(horizontal)">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4756"/>
                                        </p:tgtEl>
                                        <p:attrNameLst>
                                          <p:attrName>style.visibility</p:attrName>
                                        </p:attrNameLst>
                                      </p:cBhvr>
                                      <p:to>
                                        <p:strVal val="visible"/>
                                      </p:to>
                                    </p:set>
                                    <p:anim calcmode="lin" valueType="num">
                                      <p:cBhvr additive="base">
                                        <p:cTn id="29" dur="500" fill="hold"/>
                                        <p:tgtEl>
                                          <p:spTgt spid="74756"/>
                                        </p:tgtEl>
                                        <p:attrNameLst>
                                          <p:attrName>ppt_x</p:attrName>
                                        </p:attrNameLst>
                                      </p:cBhvr>
                                      <p:tavLst>
                                        <p:tav tm="0">
                                          <p:val>
                                            <p:strVal val="#ppt_x"/>
                                          </p:val>
                                        </p:tav>
                                        <p:tav tm="100000">
                                          <p:val>
                                            <p:strVal val="#ppt_x"/>
                                          </p:val>
                                        </p:tav>
                                      </p:tavLst>
                                    </p:anim>
                                    <p:anim calcmode="lin" valueType="num">
                                      <p:cBhvr additive="base">
                                        <p:cTn id="30" dur="500" fill="hold"/>
                                        <p:tgtEl>
                                          <p:spTgt spid="7475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blinds(horizontal)">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blinds(horizontal)">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2" fill="hold"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wipe(right)">
                                      <p:cBhvr>
                                        <p:cTn id="4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959768" y="322178"/>
            <a:ext cx="8035924" cy="6234197"/>
            <a:chOff x="283" y="234"/>
            <a:chExt cx="5062" cy="3591"/>
          </a:xfrm>
        </p:grpSpPr>
        <p:sp>
          <p:nvSpPr>
            <p:cNvPr id="29715" name="Freeform 3"/>
            <p:cNvSpPr>
              <a:spLocks/>
            </p:cNvSpPr>
            <p:nvPr/>
          </p:nvSpPr>
          <p:spPr bwMode="auto">
            <a:xfrm>
              <a:off x="503" y="288"/>
              <a:ext cx="4842" cy="3537"/>
            </a:xfrm>
            <a:custGeom>
              <a:avLst/>
              <a:gdLst>
                <a:gd name="T0" fmla="*/ 15 w 4842"/>
                <a:gd name="T1" fmla="*/ 58 h 3537"/>
                <a:gd name="T2" fmla="*/ 27 w 4842"/>
                <a:gd name="T3" fmla="*/ 542 h 3537"/>
                <a:gd name="T4" fmla="*/ 38 w 4842"/>
                <a:gd name="T5" fmla="*/ 576 h 3537"/>
                <a:gd name="T6" fmla="*/ 85 w 4842"/>
                <a:gd name="T7" fmla="*/ 1429 h 3537"/>
                <a:gd name="T8" fmla="*/ 108 w 4842"/>
                <a:gd name="T9" fmla="*/ 1820 h 3537"/>
                <a:gd name="T10" fmla="*/ 142 w 4842"/>
                <a:gd name="T11" fmla="*/ 3111 h 3537"/>
                <a:gd name="T12" fmla="*/ 119 w 4842"/>
                <a:gd name="T13" fmla="*/ 3387 h 3537"/>
                <a:gd name="T14" fmla="*/ 73 w 4842"/>
                <a:gd name="T15" fmla="*/ 3410 h 3537"/>
                <a:gd name="T16" fmla="*/ 61 w 4842"/>
                <a:gd name="T17" fmla="*/ 3445 h 3537"/>
                <a:gd name="T18" fmla="*/ 1144 w 4842"/>
                <a:gd name="T19" fmla="*/ 3479 h 3537"/>
                <a:gd name="T20" fmla="*/ 1582 w 4842"/>
                <a:gd name="T21" fmla="*/ 3468 h 3537"/>
                <a:gd name="T22" fmla="*/ 1594 w 4842"/>
                <a:gd name="T23" fmla="*/ 3410 h 3537"/>
                <a:gd name="T24" fmla="*/ 1951 w 4842"/>
                <a:gd name="T25" fmla="*/ 3456 h 3537"/>
                <a:gd name="T26" fmla="*/ 2354 w 4842"/>
                <a:gd name="T27" fmla="*/ 3525 h 3537"/>
                <a:gd name="T28" fmla="*/ 3817 w 4842"/>
                <a:gd name="T29" fmla="*/ 3537 h 3537"/>
                <a:gd name="T30" fmla="*/ 4405 w 4842"/>
                <a:gd name="T31" fmla="*/ 3502 h 3537"/>
                <a:gd name="T32" fmla="*/ 4842 w 4842"/>
                <a:gd name="T33" fmla="*/ 3433 h 3537"/>
                <a:gd name="T34" fmla="*/ 4727 w 4842"/>
                <a:gd name="T35" fmla="*/ 3330 h 3537"/>
                <a:gd name="T36" fmla="*/ 4635 w 4842"/>
                <a:gd name="T37" fmla="*/ 1233 h 3537"/>
                <a:gd name="T38" fmla="*/ 4646 w 4842"/>
                <a:gd name="T39" fmla="*/ 1106 h 3537"/>
                <a:gd name="T40" fmla="*/ 4681 w 4842"/>
                <a:gd name="T41" fmla="*/ 1118 h 3537"/>
                <a:gd name="T42" fmla="*/ 4693 w 4842"/>
                <a:gd name="T43" fmla="*/ 1083 h 3537"/>
                <a:gd name="T44" fmla="*/ 4531 w 4842"/>
                <a:gd name="T45" fmla="*/ 438 h 3537"/>
                <a:gd name="T46" fmla="*/ 4520 w 4842"/>
                <a:gd name="T47" fmla="*/ 185 h 3537"/>
                <a:gd name="T48" fmla="*/ 4554 w 4842"/>
                <a:gd name="T49" fmla="*/ 150 h 3537"/>
                <a:gd name="T50" fmla="*/ 4497 w 4842"/>
                <a:gd name="T51" fmla="*/ 162 h 3537"/>
                <a:gd name="T52" fmla="*/ 4393 w 4842"/>
                <a:gd name="T53" fmla="*/ 173 h 3537"/>
                <a:gd name="T54" fmla="*/ 2527 w 4842"/>
                <a:gd name="T55" fmla="*/ 162 h 3537"/>
                <a:gd name="T56" fmla="*/ 868 w 4842"/>
                <a:gd name="T57" fmla="*/ 139 h 3537"/>
                <a:gd name="T58" fmla="*/ 511 w 4842"/>
                <a:gd name="T59" fmla="*/ 23 h 3537"/>
                <a:gd name="T60" fmla="*/ 396 w 4842"/>
                <a:gd name="T61" fmla="*/ 0 h 3537"/>
                <a:gd name="T62" fmla="*/ 200 w 4842"/>
                <a:gd name="T63" fmla="*/ 12 h 3537"/>
                <a:gd name="T64" fmla="*/ 131 w 4842"/>
                <a:gd name="T65" fmla="*/ 46 h 3537"/>
                <a:gd name="T66" fmla="*/ 15 w 4842"/>
                <a:gd name="T67" fmla="*/ 58 h 353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842" h="3537">
                  <a:moveTo>
                    <a:pt x="15" y="58"/>
                  </a:moveTo>
                  <a:cubicBezTo>
                    <a:pt x="19" y="219"/>
                    <a:pt x="20" y="381"/>
                    <a:pt x="27" y="542"/>
                  </a:cubicBezTo>
                  <a:cubicBezTo>
                    <a:pt x="28" y="554"/>
                    <a:pt x="38" y="564"/>
                    <a:pt x="38" y="576"/>
                  </a:cubicBezTo>
                  <a:cubicBezTo>
                    <a:pt x="49" y="836"/>
                    <a:pt x="30" y="1161"/>
                    <a:pt x="85" y="1429"/>
                  </a:cubicBezTo>
                  <a:cubicBezTo>
                    <a:pt x="89" y="1559"/>
                    <a:pt x="106" y="1689"/>
                    <a:pt x="108" y="1820"/>
                  </a:cubicBezTo>
                  <a:cubicBezTo>
                    <a:pt x="130" y="3047"/>
                    <a:pt x="0" y="2659"/>
                    <a:pt x="142" y="3111"/>
                  </a:cubicBezTo>
                  <a:cubicBezTo>
                    <a:pt x="134" y="3203"/>
                    <a:pt x="140" y="3297"/>
                    <a:pt x="119" y="3387"/>
                  </a:cubicBezTo>
                  <a:cubicBezTo>
                    <a:pt x="115" y="3404"/>
                    <a:pt x="85" y="3398"/>
                    <a:pt x="73" y="3410"/>
                  </a:cubicBezTo>
                  <a:cubicBezTo>
                    <a:pt x="64" y="3419"/>
                    <a:pt x="65" y="3433"/>
                    <a:pt x="61" y="3445"/>
                  </a:cubicBezTo>
                  <a:cubicBezTo>
                    <a:pt x="502" y="3525"/>
                    <a:pt x="145" y="3468"/>
                    <a:pt x="1144" y="3479"/>
                  </a:cubicBezTo>
                  <a:cubicBezTo>
                    <a:pt x="1290" y="3490"/>
                    <a:pt x="1436" y="3509"/>
                    <a:pt x="1582" y="3468"/>
                  </a:cubicBezTo>
                  <a:cubicBezTo>
                    <a:pt x="1601" y="3463"/>
                    <a:pt x="1590" y="3429"/>
                    <a:pt x="1594" y="3410"/>
                  </a:cubicBezTo>
                  <a:cubicBezTo>
                    <a:pt x="1715" y="3421"/>
                    <a:pt x="1831" y="3442"/>
                    <a:pt x="1951" y="3456"/>
                  </a:cubicBezTo>
                  <a:cubicBezTo>
                    <a:pt x="2090" y="3491"/>
                    <a:pt x="2212" y="3502"/>
                    <a:pt x="2354" y="3525"/>
                  </a:cubicBezTo>
                  <a:cubicBezTo>
                    <a:pt x="2731" y="3520"/>
                    <a:pt x="3407" y="3466"/>
                    <a:pt x="3817" y="3537"/>
                  </a:cubicBezTo>
                  <a:cubicBezTo>
                    <a:pt x="4031" y="3525"/>
                    <a:pt x="4182" y="3510"/>
                    <a:pt x="4405" y="3502"/>
                  </a:cubicBezTo>
                  <a:cubicBezTo>
                    <a:pt x="4588" y="3443"/>
                    <a:pt x="4574" y="3454"/>
                    <a:pt x="4842" y="3433"/>
                  </a:cubicBezTo>
                  <a:cubicBezTo>
                    <a:pt x="4737" y="3419"/>
                    <a:pt x="4748" y="3429"/>
                    <a:pt x="4727" y="3330"/>
                  </a:cubicBezTo>
                  <a:cubicBezTo>
                    <a:pt x="4717" y="2637"/>
                    <a:pt x="4708" y="1924"/>
                    <a:pt x="4635" y="1233"/>
                  </a:cubicBezTo>
                  <a:cubicBezTo>
                    <a:pt x="4639" y="1191"/>
                    <a:pt x="4630" y="1145"/>
                    <a:pt x="4646" y="1106"/>
                  </a:cubicBezTo>
                  <a:cubicBezTo>
                    <a:pt x="4651" y="1095"/>
                    <a:pt x="4670" y="1123"/>
                    <a:pt x="4681" y="1118"/>
                  </a:cubicBezTo>
                  <a:cubicBezTo>
                    <a:pt x="4692" y="1113"/>
                    <a:pt x="4689" y="1095"/>
                    <a:pt x="4693" y="1083"/>
                  </a:cubicBezTo>
                  <a:cubicBezTo>
                    <a:pt x="4660" y="865"/>
                    <a:pt x="4631" y="638"/>
                    <a:pt x="4531" y="438"/>
                  </a:cubicBezTo>
                  <a:cubicBezTo>
                    <a:pt x="4513" y="343"/>
                    <a:pt x="4493" y="293"/>
                    <a:pt x="4520" y="185"/>
                  </a:cubicBezTo>
                  <a:cubicBezTo>
                    <a:pt x="4524" y="169"/>
                    <a:pt x="4566" y="162"/>
                    <a:pt x="4554" y="150"/>
                  </a:cubicBezTo>
                  <a:cubicBezTo>
                    <a:pt x="4540" y="136"/>
                    <a:pt x="4516" y="159"/>
                    <a:pt x="4497" y="162"/>
                  </a:cubicBezTo>
                  <a:cubicBezTo>
                    <a:pt x="4462" y="167"/>
                    <a:pt x="4428" y="169"/>
                    <a:pt x="4393" y="173"/>
                  </a:cubicBezTo>
                  <a:cubicBezTo>
                    <a:pt x="3622" y="166"/>
                    <a:pt x="3216" y="147"/>
                    <a:pt x="2527" y="162"/>
                  </a:cubicBezTo>
                  <a:cubicBezTo>
                    <a:pt x="2036" y="229"/>
                    <a:pt x="1390" y="149"/>
                    <a:pt x="868" y="139"/>
                  </a:cubicBezTo>
                  <a:cubicBezTo>
                    <a:pt x="746" y="107"/>
                    <a:pt x="631" y="63"/>
                    <a:pt x="511" y="23"/>
                  </a:cubicBezTo>
                  <a:cubicBezTo>
                    <a:pt x="474" y="11"/>
                    <a:pt x="434" y="10"/>
                    <a:pt x="396" y="0"/>
                  </a:cubicBezTo>
                  <a:cubicBezTo>
                    <a:pt x="331" y="4"/>
                    <a:pt x="265" y="2"/>
                    <a:pt x="200" y="12"/>
                  </a:cubicBezTo>
                  <a:cubicBezTo>
                    <a:pt x="175" y="16"/>
                    <a:pt x="156" y="42"/>
                    <a:pt x="131" y="46"/>
                  </a:cubicBezTo>
                  <a:cubicBezTo>
                    <a:pt x="93" y="52"/>
                    <a:pt x="54" y="54"/>
                    <a:pt x="15" y="58"/>
                  </a:cubicBezTo>
                  <a:close/>
                </a:path>
              </a:pathLst>
            </a:custGeom>
            <a:solidFill>
              <a:srgbClr val="CCFFFF"/>
            </a:solidFill>
            <a:ln w="12700" cap="sq" cmpd="sng">
              <a:noFill/>
              <a:prstDash val="solid"/>
              <a:round/>
              <a:headEnd type="none" w="sm" len="sm"/>
              <a:tailEnd type="none" w="sm" len="sm"/>
            </a:ln>
            <a:effectLst>
              <a:outerShdw dist="271792" dir="2244321" algn="ctr" rotWithShape="0">
                <a:srgbClr val="777777"/>
              </a:outerShdw>
            </a:effectLst>
          </p:spPr>
          <p:txBody>
            <a:bodyPr/>
            <a:lstStyle/>
            <a:p>
              <a:endParaRPr lang="zh-CN" altLang="en-US"/>
            </a:p>
          </p:txBody>
        </p:sp>
        <p:grpSp>
          <p:nvGrpSpPr>
            <p:cNvPr id="3" name="Group 4"/>
            <p:cNvGrpSpPr>
              <a:grpSpLocks/>
            </p:cNvGrpSpPr>
            <p:nvPr/>
          </p:nvGrpSpPr>
          <p:grpSpPr bwMode="auto">
            <a:xfrm rot="-389169">
              <a:off x="283" y="234"/>
              <a:ext cx="2112" cy="551"/>
              <a:chOff x="2742" y="218"/>
              <a:chExt cx="2112" cy="551"/>
            </a:xfrm>
          </p:grpSpPr>
          <p:sp>
            <p:nvSpPr>
              <p:cNvPr id="29717" name="Oval 5"/>
              <p:cNvSpPr>
                <a:spLocks noChangeArrowheads="1"/>
              </p:cNvSpPr>
              <p:nvPr/>
            </p:nvSpPr>
            <p:spPr bwMode="auto">
              <a:xfrm>
                <a:off x="2742" y="218"/>
                <a:ext cx="2112" cy="528"/>
              </a:xfrm>
              <a:prstGeom prst="ellipse">
                <a:avLst/>
              </a:prstGeom>
              <a:gradFill rotWithShape="0">
                <a:gsLst>
                  <a:gs pos="0">
                    <a:srgbClr val="FF00FF"/>
                  </a:gs>
                  <a:gs pos="50000">
                    <a:srgbClr val="760076"/>
                  </a:gs>
                  <a:gs pos="100000">
                    <a:srgbClr val="FF00FF"/>
                  </a:gs>
                </a:gsLst>
                <a:lin ang="5400000" scaled="1"/>
              </a:gradFill>
              <a:ln w="12700" cap="sq">
                <a:noFill/>
                <a:round/>
                <a:headEnd type="none" w="sm" len="sm"/>
                <a:tailEnd type="none" w="sm" len="sm"/>
              </a:ln>
            </p:spPr>
            <p:txBody>
              <a:bodyPr wrap="none" anchor="ctr"/>
              <a:lstStyle/>
              <a:p>
                <a:endParaRPr lang="zh-CN" altLang="en-US"/>
              </a:p>
            </p:txBody>
          </p:sp>
          <p:grpSp>
            <p:nvGrpSpPr>
              <p:cNvPr id="4" name="Group 6"/>
              <p:cNvGrpSpPr>
                <a:grpSpLocks/>
              </p:cNvGrpSpPr>
              <p:nvPr/>
            </p:nvGrpSpPr>
            <p:grpSpPr bwMode="auto">
              <a:xfrm>
                <a:off x="3025" y="370"/>
                <a:ext cx="1749" cy="399"/>
                <a:chOff x="1201" y="1342"/>
                <a:chExt cx="1749" cy="399"/>
              </a:xfrm>
            </p:grpSpPr>
            <p:sp>
              <p:nvSpPr>
                <p:cNvPr id="29719" name="Text Box 7"/>
                <p:cNvSpPr txBox="1">
                  <a:spLocks noChangeArrowheads="1"/>
                </p:cNvSpPr>
                <p:nvPr/>
              </p:nvSpPr>
              <p:spPr bwMode="auto">
                <a:xfrm>
                  <a:off x="1198" y="1340"/>
                  <a:ext cx="420" cy="390"/>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wrap="none">
                  <a:spAutoFit/>
                </a:bodyPr>
                <a:lstStyle/>
                <a:p>
                  <a:r>
                    <a:rPr lang="zh-CN" altLang="en-US" sz="3800" b="1">
                      <a:solidFill>
                        <a:srgbClr val="FFFF00"/>
                      </a:solidFill>
                      <a:ea typeface="华文新魏" pitchFamily="2" charset="-122"/>
                    </a:rPr>
                    <a:t>在</a:t>
                  </a:r>
                </a:p>
              </p:txBody>
            </p:sp>
            <p:sp>
              <p:nvSpPr>
                <p:cNvPr id="29720" name="Rectangle 8"/>
                <p:cNvSpPr>
                  <a:spLocks noChangeArrowheads="1"/>
                </p:cNvSpPr>
                <p:nvPr/>
              </p:nvSpPr>
              <p:spPr bwMode="auto">
                <a:xfrm>
                  <a:off x="1459" y="1337"/>
                  <a:ext cx="420" cy="390"/>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wrap="none">
                  <a:spAutoFit/>
                </a:bodyPr>
                <a:lstStyle/>
                <a:p>
                  <a:r>
                    <a:rPr lang="zh-CN" altLang="en-US" sz="3800" b="1">
                      <a:solidFill>
                        <a:srgbClr val="FFFF00"/>
                      </a:solidFill>
                      <a:ea typeface="华文新魏" pitchFamily="2" charset="-122"/>
                    </a:rPr>
                    <a:t>计</a:t>
                  </a:r>
                </a:p>
              </p:txBody>
            </p:sp>
            <p:sp>
              <p:nvSpPr>
                <p:cNvPr id="29721" name="Rectangle 9"/>
                <p:cNvSpPr>
                  <a:spLocks noChangeArrowheads="1"/>
                </p:cNvSpPr>
                <p:nvPr/>
              </p:nvSpPr>
              <p:spPr bwMode="auto">
                <a:xfrm>
                  <a:off x="1713" y="1339"/>
                  <a:ext cx="420" cy="390"/>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wrap="none">
                  <a:spAutoFit/>
                </a:bodyPr>
                <a:lstStyle/>
                <a:p>
                  <a:r>
                    <a:rPr lang="zh-CN" altLang="en-US" sz="3800" b="1">
                      <a:solidFill>
                        <a:srgbClr val="FFFF00"/>
                      </a:solidFill>
                      <a:ea typeface="华文新魏" pitchFamily="2" charset="-122"/>
                    </a:rPr>
                    <a:t>算</a:t>
                  </a:r>
                </a:p>
              </p:txBody>
            </p:sp>
            <p:sp>
              <p:nvSpPr>
                <p:cNvPr id="29722" name="Rectangle 10"/>
                <p:cNvSpPr>
                  <a:spLocks noChangeArrowheads="1"/>
                </p:cNvSpPr>
                <p:nvPr/>
              </p:nvSpPr>
              <p:spPr bwMode="auto">
                <a:xfrm>
                  <a:off x="1987" y="1352"/>
                  <a:ext cx="420" cy="389"/>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wrap="none">
                  <a:spAutoFit/>
                </a:bodyPr>
                <a:lstStyle/>
                <a:p>
                  <a:r>
                    <a:rPr lang="zh-CN" altLang="en-US" sz="3800" b="1">
                      <a:solidFill>
                        <a:srgbClr val="FFFF00"/>
                      </a:solidFill>
                      <a:ea typeface="华文新魏" pitchFamily="2" charset="-122"/>
                    </a:rPr>
                    <a:t>机</a:t>
                  </a:r>
                </a:p>
              </p:txBody>
            </p:sp>
            <p:sp>
              <p:nvSpPr>
                <p:cNvPr id="29723" name="Rectangle 11"/>
                <p:cNvSpPr>
                  <a:spLocks noChangeArrowheads="1"/>
                </p:cNvSpPr>
                <p:nvPr/>
              </p:nvSpPr>
              <p:spPr bwMode="auto">
                <a:xfrm>
                  <a:off x="2263" y="1338"/>
                  <a:ext cx="420" cy="389"/>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wrap="none">
                  <a:spAutoFit/>
                </a:bodyPr>
                <a:lstStyle/>
                <a:p>
                  <a:r>
                    <a:rPr lang="zh-CN" altLang="en-US" sz="3800" b="1">
                      <a:solidFill>
                        <a:srgbClr val="FFFF00"/>
                      </a:solidFill>
                      <a:ea typeface="华文新魏" pitchFamily="2" charset="-122"/>
                    </a:rPr>
                    <a:t>领</a:t>
                  </a:r>
                </a:p>
              </p:txBody>
            </p:sp>
            <p:sp>
              <p:nvSpPr>
                <p:cNvPr id="29724" name="Rectangle 12"/>
                <p:cNvSpPr>
                  <a:spLocks noChangeArrowheads="1"/>
                </p:cNvSpPr>
                <p:nvPr/>
              </p:nvSpPr>
              <p:spPr bwMode="auto">
                <a:xfrm>
                  <a:off x="2527" y="1339"/>
                  <a:ext cx="420" cy="389"/>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wrap="none">
                  <a:spAutoFit/>
                </a:bodyPr>
                <a:lstStyle/>
                <a:p>
                  <a:r>
                    <a:rPr lang="zh-CN" altLang="en-US" sz="3800" b="1">
                      <a:solidFill>
                        <a:srgbClr val="FFFF00"/>
                      </a:solidFill>
                      <a:ea typeface="华文新魏" pitchFamily="2" charset="-122"/>
                    </a:rPr>
                    <a:t>域</a:t>
                  </a:r>
                </a:p>
              </p:txBody>
            </p:sp>
          </p:grpSp>
        </p:grpSp>
      </p:grpSp>
      <p:grpSp>
        <p:nvGrpSpPr>
          <p:cNvPr id="29" name="组合 28"/>
          <p:cNvGrpSpPr/>
          <p:nvPr/>
        </p:nvGrpSpPr>
        <p:grpSpPr>
          <a:xfrm>
            <a:off x="3160713" y="1390650"/>
            <a:ext cx="4476750" cy="1308100"/>
            <a:chOff x="1636713" y="1390650"/>
            <a:chExt cx="4476750" cy="1308100"/>
          </a:xfrm>
        </p:grpSpPr>
        <p:sp>
          <p:nvSpPr>
            <p:cNvPr id="303117" name="Text Box 13"/>
            <p:cNvSpPr txBox="1">
              <a:spLocks noChangeArrowheads="1"/>
            </p:cNvSpPr>
            <p:nvPr/>
          </p:nvSpPr>
          <p:spPr bwMode="auto">
            <a:xfrm>
              <a:off x="1636713" y="1390650"/>
              <a:ext cx="1828800" cy="549275"/>
            </a:xfrm>
            <a:prstGeom prst="rect">
              <a:avLst/>
            </a:prstGeom>
            <a:noFill/>
            <a:ln w="12700" cap="sq">
              <a:noFill/>
              <a:miter lim="800000"/>
              <a:headEnd type="none" w="sm" len="sm"/>
              <a:tailEnd type="none" w="sm" len="sm"/>
            </a:ln>
          </p:spPr>
          <p:txBody>
            <a:bodyPr>
              <a:spAutoFit/>
            </a:bodyPr>
            <a:lstStyle/>
            <a:p>
              <a:r>
                <a:rPr lang="zh-CN" altLang="en-US" sz="3000" b="1">
                  <a:solidFill>
                    <a:schemeClr val="accent2"/>
                  </a:solidFill>
                  <a:ea typeface="黑体" pitchFamily="2" charset="-122"/>
                </a:rPr>
                <a:t>程序设计</a:t>
              </a:r>
            </a:p>
          </p:txBody>
        </p:sp>
        <p:sp>
          <p:nvSpPr>
            <p:cNvPr id="303118" name="Text Box 14"/>
            <p:cNvSpPr txBox="1">
              <a:spLocks noChangeArrowheads="1"/>
            </p:cNvSpPr>
            <p:nvPr/>
          </p:nvSpPr>
          <p:spPr bwMode="auto">
            <a:xfrm>
              <a:off x="2516188" y="1828800"/>
              <a:ext cx="2987675" cy="488950"/>
            </a:xfrm>
            <a:prstGeom prst="rect">
              <a:avLst/>
            </a:prstGeom>
            <a:noFill/>
            <a:ln w="12700" cap="sq">
              <a:noFill/>
              <a:miter lim="800000"/>
              <a:headEnd type="none" w="sm" len="sm"/>
              <a:tailEnd type="none" w="sm" len="sm"/>
            </a:ln>
          </p:spPr>
          <p:txBody>
            <a:bodyPr>
              <a:spAutoFit/>
            </a:bodyPr>
            <a:lstStyle/>
            <a:p>
              <a:r>
                <a:rPr lang="zh-CN" altLang="en-US" sz="2600" b="1">
                  <a:solidFill>
                    <a:srgbClr val="003399"/>
                  </a:solidFill>
                  <a:ea typeface="幼圆" pitchFamily="49" charset="-122"/>
                </a:rPr>
                <a:t>回溯法</a:t>
              </a:r>
            </a:p>
          </p:txBody>
        </p:sp>
        <p:sp>
          <p:nvSpPr>
            <p:cNvPr id="303119" name="Text Box 15"/>
            <p:cNvSpPr txBox="1">
              <a:spLocks noChangeArrowheads="1"/>
            </p:cNvSpPr>
            <p:nvPr/>
          </p:nvSpPr>
          <p:spPr bwMode="auto">
            <a:xfrm>
              <a:off x="2516188" y="2209800"/>
              <a:ext cx="3597275" cy="488950"/>
            </a:xfrm>
            <a:prstGeom prst="rect">
              <a:avLst/>
            </a:prstGeom>
            <a:noFill/>
            <a:ln w="12700" cap="sq">
              <a:noFill/>
              <a:miter lim="800000"/>
              <a:headEnd type="none" w="sm" len="sm"/>
              <a:tailEnd type="none" w="sm" len="sm"/>
            </a:ln>
          </p:spPr>
          <p:txBody>
            <a:bodyPr>
              <a:spAutoFit/>
            </a:bodyPr>
            <a:lstStyle/>
            <a:p>
              <a:r>
                <a:rPr lang="zh-CN" altLang="en-US" sz="2600" b="1">
                  <a:solidFill>
                    <a:srgbClr val="003399"/>
                  </a:solidFill>
                  <a:ea typeface="幼圆" pitchFamily="49" charset="-122"/>
                </a:rPr>
                <a:t>递归程序的执行过程</a:t>
              </a:r>
            </a:p>
          </p:txBody>
        </p:sp>
      </p:grpSp>
      <p:grpSp>
        <p:nvGrpSpPr>
          <p:cNvPr id="30" name="组合 29"/>
          <p:cNvGrpSpPr/>
          <p:nvPr/>
        </p:nvGrpSpPr>
        <p:grpSpPr>
          <a:xfrm>
            <a:off x="3160713" y="2705100"/>
            <a:ext cx="5524500" cy="1270000"/>
            <a:chOff x="1636713" y="2705100"/>
            <a:chExt cx="5524500" cy="1270000"/>
          </a:xfrm>
        </p:grpSpPr>
        <p:sp>
          <p:nvSpPr>
            <p:cNvPr id="303120" name="Text Box 16"/>
            <p:cNvSpPr txBox="1">
              <a:spLocks noChangeArrowheads="1"/>
            </p:cNvSpPr>
            <p:nvPr/>
          </p:nvSpPr>
          <p:spPr bwMode="auto">
            <a:xfrm>
              <a:off x="1636713" y="2705100"/>
              <a:ext cx="1866900" cy="549275"/>
            </a:xfrm>
            <a:prstGeom prst="rect">
              <a:avLst/>
            </a:prstGeom>
            <a:noFill/>
            <a:ln w="12700" cap="sq">
              <a:noFill/>
              <a:miter lim="800000"/>
              <a:headEnd type="none" w="sm" len="sm"/>
              <a:tailEnd type="none" w="sm" len="sm"/>
            </a:ln>
          </p:spPr>
          <p:txBody>
            <a:bodyPr>
              <a:spAutoFit/>
            </a:bodyPr>
            <a:lstStyle/>
            <a:p>
              <a:r>
                <a:rPr lang="zh-CN" altLang="en-US" sz="3000" b="1">
                  <a:solidFill>
                    <a:schemeClr val="accent2"/>
                  </a:solidFill>
                  <a:ea typeface="黑体" pitchFamily="2" charset="-122"/>
                </a:rPr>
                <a:t>编译程序</a:t>
              </a:r>
            </a:p>
          </p:txBody>
        </p:sp>
        <p:sp>
          <p:nvSpPr>
            <p:cNvPr id="303121" name="Text Box 17"/>
            <p:cNvSpPr txBox="1">
              <a:spLocks noChangeArrowheads="1"/>
            </p:cNvSpPr>
            <p:nvPr/>
          </p:nvSpPr>
          <p:spPr bwMode="auto">
            <a:xfrm>
              <a:off x="2513013" y="3124200"/>
              <a:ext cx="4648200" cy="488950"/>
            </a:xfrm>
            <a:prstGeom prst="rect">
              <a:avLst/>
            </a:prstGeom>
            <a:noFill/>
            <a:ln w="12700" cap="sq">
              <a:noFill/>
              <a:miter lim="800000"/>
              <a:headEnd type="none" w="sm" len="sm"/>
              <a:tailEnd type="none" w="sm" len="sm"/>
            </a:ln>
          </p:spPr>
          <p:txBody>
            <a:bodyPr>
              <a:spAutoFit/>
            </a:bodyPr>
            <a:lstStyle/>
            <a:p>
              <a:r>
                <a:rPr lang="zh-CN" altLang="en-US" sz="2600" b="1">
                  <a:solidFill>
                    <a:srgbClr val="003399"/>
                  </a:solidFill>
                  <a:ea typeface="幼圆" pitchFamily="49" charset="-122"/>
                </a:rPr>
                <a:t>变量的存储空间的分配</a:t>
              </a:r>
            </a:p>
          </p:txBody>
        </p:sp>
        <p:sp>
          <p:nvSpPr>
            <p:cNvPr id="303122" name="Text Box 18"/>
            <p:cNvSpPr txBox="1">
              <a:spLocks noChangeArrowheads="1"/>
            </p:cNvSpPr>
            <p:nvPr/>
          </p:nvSpPr>
          <p:spPr bwMode="auto">
            <a:xfrm>
              <a:off x="2513013" y="3486150"/>
              <a:ext cx="4648200" cy="488950"/>
            </a:xfrm>
            <a:prstGeom prst="rect">
              <a:avLst/>
            </a:prstGeom>
            <a:noFill/>
            <a:ln w="12700" cap="sq">
              <a:noFill/>
              <a:miter lim="800000"/>
              <a:headEnd type="none" w="sm" len="sm"/>
              <a:tailEnd type="none" w="sm" len="sm"/>
            </a:ln>
          </p:spPr>
          <p:txBody>
            <a:bodyPr>
              <a:spAutoFit/>
            </a:bodyPr>
            <a:lstStyle/>
            <a:p>
              <a:r>
                <a:rPr lang="zh-CN" altLang="en-US" sz="2600" b="1">
                  <a:solidFill>
                    <a:srgbClr val="003399"/>
                  </a:solidFill>
                  <a:ea typeface="幼圆" pitchFamily="49" charset="-122"/>
                </a:rPr>
                <a:t>表达式的翻译与求值计算</a:t>
              </a:r>
            </a:p>
          </p:txBody>
        </p:sp>
      </p:grpSp>
      <p:grpSp>
        <p:nvGrpSpPr>
          <p:cNvPr id="31" name="组合 30"/>
          <p:cNvGrpSpPr/>
          <p:nvPr/>
        </p:nvGrpSpPr>
        <p:grpSpPr>
          <a:xfrm>
            <a:off x="3160713" y="4000500"/>
            <a:ext cx="5143500" cy="908050"/>
            <a:chOff x="1636713" y="4000500"/>
            <a:chExt cx="5143500" cy="908050"/>
          </a:xfrm>
        </p:grpSpPr>
        <p:sp>
          <p:nvSpPr>
            <p:cNvPr id="303123" name="Text Box 19"/>
            <p:cNvSpPr txBox="1">
              <a:spLocks noChangeArrowheads="1"/>
            </p:cNvSpPr>
            <p:nvPr/>
          </p:nvSpPr>
          <p:spPr bwMode="auto">
            <a:xfrm>
              <a:off x="1636713" y="4000500"/>
              <a:ext cx="1866900" cy="549275"/>
            </a:xfrm>
            <a:prstGeom prst="rect">
              <a:avLst/>
            </a:prstGeom>
            <a:noFill/>
            <a:ln w="12700" cap="sq">
              <a:noFill/>
              <a:miter lim="800000"/>
              <a:headEnd type="none" w="sm" len="sm"/>
              <a:tailEnd type="none" w="sm" len="sm"/>
            </a:ln>
          </p:spPr>
          <p:txBody>
            <a:bodyPr>
              <a:spAutoFit/>
            </a:bodyPr>
            <a:lstStyle/>
            <a:p>
              <a:r>
                <a:rPr lang="zh-CN" altLang="en-US" sz="3000" b="1" dirty="0">
                  <a:solidFill>
                    <a:schemeClr val="accent2"/>
                  </a:solidFill>
                  <a:ea typeface="黑体" pitchFamily="2" charset="-122"/>
                </a:rPr>
                <a:t>操作系统</a:t>
              </a:r>
            </a:p>
          </p:txBody>
        </p:sp>
        <p:sp>
          <p:nvSpPr>
            <p:cNvPr id="303124" name="Text Box 20"/>
            <p:cNvSpPr txBox="1">
              <a:spLocks noChangeArrowheads="1"/>
            </p:cNvSpPr>
            <p:nvPr/>
          </p:nvSpPr>
          <p:spPr bwMode="auto">
            <a:xfrm>
              <a:off x="2493963" y="4419600"/>
              <a:ext cx="4286250" cy="488950"/>
            </a:xfrm>
            <a:prstGeom prst="rect">
              <a:avLst/>
            </a:prstGeom>
            <a:noFill/>
            <a:ln w="12700" cap="sq">
              <a:noFill/>
              <a:miter lim="800000"/>
              <a:headEnd type="none" w="sm" len="sm"/>
              <a:tailEnd type="none" w="sm" len="sm"/>
            </a:ln>
          </p:spPr>
          <p:txBody>
            <a:bodyPr>
              <a:spAutoFit/>
            </a:bodyPr>
            <a:lstStyle/>
            <a:p>
              <a:r>
                <a:rPr lang="zh-CN" altLang="en-US" sz="2600" b="1">
                  <a:solidFill>
                    <a:srgbClr val="003399"/>
                  </a:solidFill>
                  <a:ea typeface="幼圆" pitchFamily="49" charset="-122"/>
                </a:rPr>
                <a:t>作业调度、进程调度</a:t>
              </a:r>
            </a:p>
          </p:txBody>
        </p:sp>
      </p:grpSp>
      <p:grpSp>
        <p:nvGrpSpPr>
          <p:cNvPr id="5" name="Group 23"/>
          <p:cNvGrpSpPr>
            <a:grpSpLocks/>
          </p:cNvGrpSpPr>
          <p:nvPr/>
        </p:nvGrpSpPr>
        <p:grpSpPr bwMode="auto">
          <a:xfrm>
            <a:off x="8075617" y="1581150"/>
            <a:ext cx="1052513" cy="2228850"/>
            <a:chOff x="4128" y="1236"/>
            <a:chExt cx="663" cy="1404"/>
          </a:xfrm>
        </p:grpSpPr>
        <p:sp>
          <p:nvSpPr>
            <p:cNvPr id="29713" name="AutoShape 24"/>
            <p:cNvSpPr>
              <a:spLocks/>
            </p:cNvSpPr>
            <p:nvPr/>
          </p:nvSpPr>
          <p:spPr bwMode="auto">
            <a:xfrm>
              <a:off x="4128" y="1236"/>
              <a:ext cx="192" cy="1404"/>
            </a:xfrm>
            <a:prstGeom prst="rightBrace">
              <a:avLst>
                <a:gd name="adj1" fmla="val 60937"/>
                <a:gd name="adj2" fmla="val 49106"/>
              </a:avLst>
            </a:prstGeom>
            <a:noFill/>
            <a:ln w="50800" cap="sq">
              <a:solidFill>
                <a:srgbClr val="FF3300"/>
              </a:solidFill>
              <a:round/>
              <a:headEnd type="none" w="sm" len="sm"/>
              <a:tailEnd type="none" w="sm" len="sm"/>
            </a:ln>
          </p:spPr>
          <p:txBody>
            <a:bodyPr wrap="none" anchor="ctr"/>
            <a:lstStyle/>
            <a:p>
              <a:endParaRPr lang="zh-CN" altLang="en-US"/>
            </a:p>
          </p:txBody>
        </p:sp>
        <p:sp>
          <p:nvSpPr>
            <p:cNvPr id="7186" name="Rectangle 25"/>
            <p:cNvSpPr>
              <a:spLocks noChangeArrowheads="1"/>
            </p:cNvSpPr>
            <p:nvPr/>
          </p:nvSpPr>
          <p:spPr bwMode="auto">
            <a:xfrm>
              <a:off x="4368" y="1632"/>
              <a:ext cx="423" cy="623"/>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pPr>
                <a:lnSpc>
                  <a:spcPct val="75000"/>
                </a:lnSpc>
                <a:defRPr/>
              </a:pPr>
              <a:endParaRPr lang="zh-CN" altLang="en-US" sz="3800" b="1" dirty="0">
                <a:solidFill>
                  <a:schemeClr val="bg1">
                    <a:lumMod val="50000"/>
                    <a:lumOff val="50000"/>
                  </a:schemeClr>
                </a:solidFill>
                <a:ea typeface="华文新魏" pitchFamily="2" charset="-122"/>
              </a:endParaRPr>
            </a:p>
            <a:p>
              <a:pPr>
                <a:lnSpc>
                  <a:spcPct val="75000"/>
                </a:lnSpc>
                <a:defRPr/>
              </a:pPr>
              <a:r>
                <a:rPr lang="zh-CN" altLang="en-US" sz="3800" b="1" dirty="0">
                  <a:solidFill>
                    <a:srgbClr val="FF3300"/>
                  </a:solidFill>
                  <a:ea typeface="华文新魏" pitchFamily="2" charset="-122"/>
                </a:rPr>
                <a:t>栈</a:t>
              </a:r>
            </a:p>
          </p:txBody>
        </p:sp>
      </p:grpSp>
      <p:grpSp>
        <p:nvGrpSpPr>
          <p:cNvPr id="6" name="Group 31"/>
          <p:cNvGrpSpPr>
            <a:grpSpLocks/>
          </p:cNvGrpSpPr>
          <p:nvPr/>
        </p:nvGrpSpPr>
        <p:grpSpPr bwMode="auto">
          <a:xfrm>
            <a:off x="8075613" y="4191000"/>
            <a:ext cx="1066800" cy="1830388"/>
            <a:chOff x="4127" y="2640"/>
            <a:chExt cx="672" cy="1153"/>
          </a:xfrm>
        </p:grpSpPr>
        <p:sp>
          <p:nvSpPr>
            <p:cNvPr id="29711" name="AutoShape 27"/>
            <p:cNvSpPr>
              <a:spLocks/>
            </p:cNvSpPr>
            <p:nvPr/>
          </p:nvSpPr>
          <p:spPr bwMode="auto">
            <a:xfrm>
              <a:off x="4127" y="2640"/>
              <a:ext cx="204" cy="1153"/>
            </a:xfrm>
            <a:prstGeom prst="rightBrace">
              <a:avLst>
                <a:gd name="adj1" fmla="val 47100"/>
                <a:gd name="adj2" fmla="val 49106"/>
              </a:avLst>
            </a:prstGeom>
            <a:noFill/>
            <a:ln w="50800" cap="sq">
              <a:solidFill>
                <a:srgbClr val="FF3300"/>
              </a:solidFill>
              <a:round/>
              <a:headEnd type="none" w="sm" len="sm"/>
              <a:tailEnd type="none" w="sm" len="sm"/>
            </a:ln>
          </p:spPr>
          <p:txBody>
            <a:bodyPr wrap="none" anchor="ctr"/>
            <a:lstStyle/>
            <a:p>
              <a:endParaRPr lang="zh-CN" altLang="en-US"/>
            </a:p>
          </p:txBody>
        </p:sp>
        <p:sp>
          <p:nvSpPr>
            <p:cNvPr id="29712" name="Rectangle 28"/>
            <p:cNvSpPr>
              <a:spLocks noChangeArrowheads="1"/>
            </p:cNvSpPr>
            <p:nvPr/>
          </p:nvSpPr>
          <p:spPr bwMode="auto">
            <a:xfrm>
              <a:off x="4379" y="2868"/>
              <a:ext cx="420" cy="607"/>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wrap="none">
              <a:spAutoFit/>
            </a:bodyPr>
            <a:lstStyle/>
            <a:p>
              <a:pPr>
                <a:lnSpc>
                  <a:spcPct val="75000"/>
                </a:lnSpc>
              </a:pPr>
              <a:r>
                <a:rPr lang="zh-CN" altLang="en-US" sz="3800" b="1" dirty="0">
                  <a:solidFill>
                    <a:srgbClr val="FF3300"/>
                  </a:solidFill>
                  <a:ea typeface="华文新魏" pitchFamily="2" charset="-122"/>
                </a:rPr>
                <a:t>队</a:t>
              </a:r>
            </a:p>
            <a:p>
              <a:pPr>
                <a:lnSpc>
                  <a:spcPct val="75000"/>
                </a:lnSpc>
              </a:pPr>
              <a:endParaRPr lang="zh-CN" altLang="en-US" sz="3800" b="1" dirty="0">
                <a:solidFill>
                  <a:srgbClr val="FF3300"/>
                </a:solidFill>
                <a:ea typeface="华文新魏" pitchFamily="2" charset="-122"/>
              </a:endParaRPr>
            </a:p>
          </p:txBody>
        </p:sp>
      </p:grpSp>
      <p:grpSp>
        <p:nvGrpSpPr>
          <p:cNvPr id="32" name="组合 31"/>
          <p:cNvGrpSpPr/>
          <p:nvPr/>
        </p:nvGrpSpPr>
        <p:grpSpPr>
          <a:xfrm>
            <a:off x="3216276" y="4941888"/>
            <a:ext cx="5484813" cy="963612"/>
            <a:chOff x="1692275" y="4941888"/>
            <a:chExt cx="5484813" cy="963612"/>
          </a:xfrm>
        </p:grpSpPr>
        <p:sp>
          <p:nvSpPr>
            <p:cNvPr id="303133" name="Text Box 29"/>
            <p:cNvSpPr txBox="1">
              <a:spLocks noChangeArrowheads="1"/>
            </p:cNvSpPr>
            <p:nvPr/>
          </p:nvSpPr>
          <p:spPr bwMode="auto">
            <a:xfrm>
              <a:off x="1692275" y="4941888"/>
              <a:ext cx="1866900" cy="549275"/>
            </a:xfrm>
            <a:prstGeom prst="rect">
              <a:avLst/>
            </a:prstGeom>
            <a:noFill/>
            <a:ln w="12700" cap="sq">
              <a:noFill/>
              <a:miter lim="800000"/>
              <a:headEnd type="none" w="sm" len="sm"/>
              <a:tailEnd type="none" w="sm" len="sm"/>
            </a:ln>
          </p:spPr>
          <p:txBody>
            <a:bodyPr>
              <a:spAutoFit/>
            </a:bodyPr>
            <a:lstStyle/>
            <a:p>
              <a:r>
                <a:rPr lang="zh-CN" altLang="en-US" sz="3000" b="1">
                  <a:solidFill>
                    <a:schemeClr val="accent2"/>
                  </a:solidFill>
                  <a:ea typeface="黑体" pitchFamily="2" charset="-122"/>
                </a:rPr>
                <a:t>后续章节</a:t>
              </a:r>
            </a:p>
          </p:txBody>
        </p:sp>
        <p:sp>
          <p:nvSpPr>
            <p:cNvPr id="303134" name="Text Box 30"/>
            <p:cNvSpPr txBox="1">
              <a:spLocks noChangeArrowheads="1"/>
            </p:cNvSpPr>
            <p:nvPr/>
          </p:nvSpPr>
          <p:spPr bwMode="auto">
            <a:xfrm>
              <a:off x="2528888" y="5416550"/>
              <a:ext cx="4648200" cy="488950"/>
            </a:xfrm>
            <a:prstGeom prst="rect">
              <a:avLst/>
            </a:prstGeom>
            <a:noFill/>
            <a:ln w="12700" cap="sq">
              <a:noFill/>
              <a:miter lim="800000"/>
              <a:headEnd type="none" w="sm" len="sm"/>
              <a:tailEnd type="none" w="sm" len="sm"/>
            </a:ln>
          </p:spPr>
          <p:txBody>
            <a:bodyPr>
              <a:spAutoFit/>
            </a:bodyPr>
            <a:lstStyle/>
            <a:p>
              <a:r>
                <a:rPr lang="zh-CN" altLang="en-US" sz="2600" b="1">
                  <a:solidFill>
                    <a:srgbClr val="003399"/>
                  </a:solidFill>
                  <a:ea typeface="幼圆" pitchFamily="49" charset="-122"/>
                </a:rPr>
                <a:t>二叉树的层次遍历</a:t>
              </a:r>
              <a:r>
                <a:rPr lang="en-US" altLang="zh-CN" sz="2600" b="1">
                  <a:solidFill>
                    <a:srgbClr val="003399"/>
                  </a:solidFill>
                  <a:ea typeface="幼圆" pitchFamily="49" charset="-122"/>
                </a:rPr>
                <a:t>……</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linds(horizontal)">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blinds(horizontal)">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checkerboard(across)">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blinds(horizontal)">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blinds(horizontal)">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additive="base">
                                        <p:cTn id="32" dur="500" fill="hold"/>
                                        <p:tgtEl>
                                          <p:spTgt spid="6"/>
                                        </p:tgtEl>
                                        <p:attrNameLst>
                                          <p:attrName>ppt_x</p:attrName>
                                        </p:attrNameLst>
                                      </p:cBhvr>
                                      <p:tavLst>
                                        <p:tav tm="0">
                                          <p:val>
                                            <p:strVal val="#ppt_x"/>
                                          </p:val>
                                        </p:tav>
                                        <p:tav tm="100000">
                                          <p:val>
                                            <p:strVal val="#ppt_x"/>
                                          </p:val>
                                        </p:tav>
                                      </p:tavLst>
                                    </p:anim>
                                    <p:anim calcmode="lin" valueType="num">
                                      <p:cBhvr additive="base">
                                        <p:cTn id="3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9"/>
          <p:cNvSpPr txBox="1">
            <a:spLocks noChangeArrowheads="1"/>
          </p:cNvSpPr>
          <p:nvPr/>
        </p:nvSpPr>
        <p:spPr bwMode="auto">
          <a:xfrm>
            <a:off x="984786" y="97777"/>
            <a:ext cx="4288353" cy="707886"/>
          </a:xfrm>
          <a:prstGeom prst="rect">
            <a:avLst/>
          </a:prstGeom>
          <a:noFill/>
          <a:ln w="12700" cap="sq">
            <a:noFill/>
            <a:miter lim="800000"/>
            <a:headEnd type="none" w="sm" len="sm"/>
            <a:tailEnd type="none" w="sm" len="sm"/>
          </a:ln>
        </p:spPr>
        <p:txBody>
          <a:bodyPr wrap="none">
            <a:spAutoFit/>
          </a:bodyPr>
          <a:lstStyle/>
          <a:p>
            <a:r>
              <a:rPr lang="zh-CN" altLang="en-US" sz="4000" b="1" dirty="0">
                <a:solidFill>
                  <a:srgbClr val="000099"/>
                </a:solidFill>
                <a:ea typeface="微软雅黑" pitchFamily="34" charset="-122"/>
              </a:rPr>
              <a:t>栈和队的整体印象</a:t>
            </a:r>
          </a:p>
        </p:txBody>
      </p:sp>
      <p:sp>
        <p:nvSpPr>
          <p:cNvPr id="307309" name="Text Box 109"/>
          <p:cNvSpPr txBox="1">
            <a:spLocks noChangeArrowheads="1"/>
          </p:cNvSpPr>
          <p:nvPr/>
        </p:nvSpPr>
        <p:spPr bwMode="auto">
          <a:xfrm>
            <a:off x="4943475" y="5588001"/>
            <a:ext cx="5392738" cy="1200329"/>
          </a:xfrm>
          <a:prstGeom prst="rect">
            <a:avLst/>
          </a:prstGeom>
          <a:noFill/>
          <a:ln w="12700" cap="sq">
            <a:noFill/>
            <a:miter lim="800000"/>
            <a:headEnd type="none" w="sm" len="sm"/>
            <a:tailEnd type="none" w="sm" len="sm"/>
          </a:ln>
        </p:spPr>
        <p:txBody>
          <a:bodyPr>
            <a:spAutoFit/>
          </a:bodyPr>
          <a:lstStyle/>
          <a:p>
            <a:r>
              <a:rPr lang="zh-CN" altLang="en-US" sz="2400" b="1" dirty="0">
                <a:solidFill>
                  <a:srgbClr val="000066"/>
                </a:solidFill>
                <a:ea typeface="微软雅黑" pitchFamily="34" charset="-122"/>
              </a:rPr>
              <a:t>逻辑结构：</a:t>
            </a:r>
            <a:r>
              <a:rPr lang="zh-CN" altLang="en-US" sz="2400" b="1" dirty="0">
                <a:ea typeface="微软雅黑" pitchFamily="34" charset="-122"/>
              </a:rPr>
              <a:t>线性结构</a:t>
            </a:r>
          </a:p>
          <a:p>
            <a:r>
              <a:rPr lang="zh-CN" altLang="en-US" sz="2400" b="1" dirty="0">
                <a:solidFill>
                  <a:srgbClr val="000066"/>
                </a:solidFill>
                <a:ea typeface="微软雅黑" pitchFamily="34" charset="-122"/>
              </a:rPr>
              <a:t>特　　点：</a:t>
            </a:r>
            <a:r>
              <a:rPr lang="zh-CN" altLang="en-US" sz="2400" b="1" dirty="0">
                <a:ea typeface="微软雅黑" pitchFamily="34" charset="-122"/>
              </a:rPr>
              <a:t>操作仅允许在线性表一端或两端进行，是一般线性表操作的子集</a:t>
            </a:r>
          </a:p>
        </p:txBody>
      </p:sp>
      <p:grpSp>
        <p:nvGrpSpPr>
          <p:cNvPr id="2" name="Group 114"/>
          <p:cNvGrpSpPr>
            <a:grpSpLocks/>
          </p:cNvGrpSpPr>
          <p:nvPr/>
        </p:nvGrpSpPr>
        <p:grpSpPr bwMode="auto">
          <a:xfrm>
            <a:off x="1657350" y="1196977"/>
            <a:ext cx="3716338" cy="5567363"/>
            <a:chOff x="84" y="754"/>
            <a:chExt cx="2341" cy="3507"/>
          </a:xfrm>
        </p:grpSpPr>
        <p:sp>
          <p:nvSpPr>
            <p:cNvPr id="30755" name="Line 31"/>
            <p:cNvSpPr>
              <a:spLocks noChangeShapeType="1"/>
            </p:cNvSpPr>
            <p:nvPr/>
          </p:nvSpPr>
          <p:spPr bwMode="auto">
            <a:xfrm>
              <a:off x="1018" y="1214"/>
              <a:ext cx="0" cy="2112"/>
            </a:xfrm>
            <a:prstGeom prst="line">
              <a:avLst/>
            </a:prstGeom>
            <a:noFill/>
            <a:ln w="31750" cap="sq">
              <a:solidFill>
                <a:srgbClr val="333300"/>
              </a:solidFill>
              <a:round/>
              <a:headEnd type="none" w="sm" len="sm"/>
              <a:tailEnd type="none" w="sm" len="sm"/>
            </a:ln>
          </p:spPr>
          <p:txBody>
            <a:bodyPr/>
            <a:lstStyle/>
            <a:p>
              <a:endParaRPr lang="zh-CN" altLang="en-US"/>
            </a:p>
          </p:txBody>
        </p:sp>
        <p:sp>
          <p:nvSpPr>
            <p:cNvPr id="30756" name="Line 32"/>
            <p:cNvSpPr>
              <a:spLocks noChangeShapeType="1"/>
            </p:cNvSpPr>
            <p:nvPr/>
          </p:nvSpPr>
          <p:spPr bwMode="auto">
            <a:xfrm>
              <a:off x="1517" y="1207"/>
              <a:ext cx="0" cy="2112"/>
            </a:xfrm>
            <a:prstGeom prst="line">
              <a:avLst/>
            </a:prstGeom>
            <a:noFill/>
            <a:ln w="31750" cap="sq">
              <a:solidFill>
                <a:srgbClr val="003300"/>
              </a:solidFill>
              <a:round/>
              <a:headEnd type="none" w="sm" len="sm"/>
              <a:tailEnd type="none" w="sm" len="sm"/>
            </a:ln>
          </p:spPr>
          <p:txBody>
            <a:bodyPr/>
            <a:lstStyle/>
            <a:p>
              <a:endParaRPr lang="zh-CN" altLang="en-US"/>
            </a:p>
          </p:txBody>
        </p:sp>
        <p:sp>
          <p:nvSpPr>
            <p:cNvPr id="30757" name="Line 33"/>
            <p:cNvSpPr>
              <a:spLocks noChangeShapeType="1"/>
            </p:cNvSpPr>
            <p:nvPr/>
          </p:nvSpPr>
          <p:spPr bwMode="auto">
            <a:xfrm>
              <a:off x="1011" y="3326"/>
              <a:ext cx="506" cy="0"/>
            </a:xfrm>
            <a:prstGeom prst="line">
              <a:avLst/>
            </a:prstGeom>
            <a:noFill/>
            <a:ln w="31750" cap="sq">
              <a:solidFill>
                <a:srgbClr val="003300"/>
              </a:solidFill>
              <a:round/>
              <a:headEnd type="none" w="sm" len="sm"/>
              <a:tailEnd type="none" w="sm" len="sm"/>
            </a:ln>
          </p:spPr>
          <p:txBody>
            <a:bodyPr/>
            <a:lstStyle/>
            <a:p>
              <a:endParaRPr lang="zh-CN" altLang="en-US"/>
            </a:p>
          </p:txBody>
        </p:sp>
        <p:sp>
          <p:nvSpPr>
            <p:cNvPr id="30758" name="Line 34"/>
            <p:cNvSpPr>
              <a:spLocks noChangeShapeType="1"/>
            </p:cNvSpPr>
            <p:nvPr/>
          </p:nvSpPr>
          <p:spPr bwMode="auto">
            <a:xfrm>
              <a:off x="1011" y="3038"/>
              <a:ext cx="506" cy="0"/>
            </a:xfrm>
            <a:prstGeom prst="line">
              <a:avLst/>
            </a:prstGeom>
            <a:noFill/>
            <a:ln w="25400" cap="sq">
              <a:solidFill>
                <a:srgbClr val="333300"/>
              </a:solidFill>
              <a:round/>
              <a:headEnd type="none" w="sm" len="sm"/>
              <a:tailEnd type="none" w="sm" len="sm"/>
            </a:ln>
          </p:spPr>
          <p:txBody>
            <a:bodyPr/>
            <a:lstStyle/>
            <a:p>
              <a:endParaRPr lang="zh-CN" altLang="en-US"/>
            </a:p>
          </p:txBody>
        </p:sp>
        <p:sp>
          <p:nvSpPr>
            <p:cNvPr id="30759" name="Line 35"/>
            <p:cNvSpPr>
              <a:spLocks noChangeShapeType="1"/>
            </p:cNvSpPr>
            <p:nvPr/>
          </p:nvSpPr>
          <p:spPr bwMode="auto">
            <a:xfrm>
              <a:off x="1011" y="2750"/>
              <a:ext cx="506" cy="0"/>
            </a:xfrm>
            <a:prstGeom prst="line">
              <a:avLst/>
            </a:prstGeom>
            <a:noFill/>
            <a:ln w="25400" cap="sq">
              <a:solidFill>
                <a:srgbClr val="003300"/>
              </a:solidFill>
              <a:round/>
              <a:headEnd type="none" w="sm" len="sm"/>
              <a:tailEnd type="none" w="sm" len="sm"/>
            </a:ln>
          </p:spPr>
          <p:txBody>
            <a:bodyPr/>
            <a:lstStyle/>
            <a:p>
              <a:endParaRPr lang="zh-CN" altLang="en-US"/>
            </a:p>
          </p:txBody>
        </p:sp>
        <p:sp>
          <p:nvSpPr>
            <p:cNvPr id="30760" name="Line 36"/>
            <p:cNvSpPr>
              <a:spLocks noChangeShapeType="1"/>
            </p:cNvSpPr>
            <p:nvPr/>
          </p:nvSpPr>
          <p:spPr bwMode="auto">
            <a:xfrm>
              <a:off x="1011" y="2462"/>
              <a:ext cx="506" cy="0"/>
            </a:xfrm>
            <a:prstGeom prst="line">
              <a:avLst/>
            </a:prstGeom>
            <a:noFill/>
            <a:ln w="25400" cap="sq">
              <a:solidFill>
                <a:srgbClr val="003300"/>
              </a:solidFill>
              <a:round/>
              <a:headEnd type="none" w="sm" len="sm"/>
              <a:tailEnd type="none" w="sm" len="sm"/>
            </a:ln>
          </p:spPr>
          <p:txBody>
            <a:bodyPr/>
            <a:lstStyle/>
            <a:p>
              <a:endParaRPr lang="zh-CN" altLang="en-US"/>
            </a:p>
          </p:txBody>
        </p:sp>
        <p:sp>
          <p:nvSpPr>
            <p:cNvPr id="30761" name="Line 37"/>
            <p:cNvSpPr>
              <a:spLocks noChangeShapeType="1"/>
            </p:cNvSpPr>
            <p:nvPr/>
          </p:nvSpPr>
          <p:spPr bwMode="auto">
            <a:xfrm>
              <a:off x="1011" y="2137"/>
              <a:ext cx="506" cy="0"/>
            </a:xfrm>
            <a:prstGeom prst="line">
              <a:avLst/>
            </a:prstGeom>
            <a:noFill/>
            <a:ln w="25400" cap="sq">
              <a:solidFill>
                <a:srgbClr val="003300"/>
              </a:solidFill>
              <a:round/>
              <a:headEnd type="none" w="sm" len="sm"/>
              <a:tailEnd type="none" w="sm" len="sm"/>
            </a:ln>
          </p:spPr>
          <p:txBody>
            <a:bodyPr/>
            <a:lstStyle/>
            <a:p>
              <a:endParaRPr lang="zh-CN" altLang="en-US"/>
            </a:p>
          </p:txBody>
        </p:sp>
        <p:sp>
          <p:nvSpPr>
            <p:cNvPr id="30762" name="Line 38"/>
            <p:cNvSpPr>
              <a:spLocks noChangeShapeType="1"/>
            </p:cNvSpPr>
            <p:nvPr/>
          </p:nvSpPr>
          <p:spPr bwMode="auto">
            <a:xfrm>
              <a:off x="1011" y="1838"/>
              <a:ext cx="506" cy="0"/>
            </a:xfrm>
            <a:prstGeom prst="line">
              <a:avLst/>
            </a:prstGeom>
            <a:noFill/>
            <a:ln w="25400" cap="sq">
              <a:solidFill>
                <a:srgbClr val="003300"/>
              </a:solidFill>
              <a:round/>
              <a:headEnd type="none" w="sm" len="sm"/>
              <a:tailEnd type="none" w="sm" len="sm"/>
            </a:ln>
          </p:spPr>
          <p:txBody>
            <a:bodyPr/>
            <a:lstStyle/>
            <a:p>
              <a:endParaRPr lang="zh-CN" altLang="en-US"/>
            </a:p>
          </p:txBody>
        </p:sp>
        <p:sp>
          <p:nvSpPr>
            <p:cNvPr id="30763" name="Line 39"/>
            <p:cNvSpPr>
              <a:spLocks noChangeShapeType="1"/>
            </p:cNvSpPr>
            <p:nvPr/>
          </p:nvSpPr>
          <p:spPr bwMode="auto">
            <a:xfrm>
              <a:off x="1011" y="1553"/>
              <a:ext cx="506" cy="0"/>
            </a:xfrm>
            <a:prstGeom prst="line">
              <a:avLst/>
            </a:prstGeom>
            <a:noFill/>
            <a:ln w="25400" cap="sq">
              <a:solidFill>
                <a:srgbClr val="003300"/>
              </a:solidFill>
              <a:round/>
              <a:headEnd type="none" w="sm" len="sm"/>
              <a:tailEnd type="none" w="sm" len="sm"/>
            </a:ln>
          </p:spPr>
          <p:txBody>
            <a:bodyPr/>
            <a:lstStyle/>
            <a:p>
              <a:endParaRPr lang="zh-CN" altLang="en-US"/>
            </a:p>
          </p:txBody>
        </p:sp>
        <p:sp>
          <p:nvSpPr>
            <p:cNvPr id="307240" name="AutoShape 40"/>
            <p:cNvSpPr>
              <a:spLocks noChangeArrowheads="1"/>
            </p:cNvSpPr>
            <p:nvPr/>
          </p:nvSpPr>
          <p:spPr bwMode="auto">
            <a:xfrm flipH="1">
              <a:off x="1252" y="935"/>
              <a:ext cx="864" cy="615"/>
            </a:xfrm>
            <a:custGeom>
              <a:avLst/>
              <a:gdLst>
                <a:gd name="G0" fmla="+- -852620 0 0"/>
                <a:gd name="G1" fmla="+- -9846504 0 0"/>
                <a:gd name="G2" fmla="+- -852620 0 -9846504"/>
                <a:gd name="G3" fmla="+- 10800 0 0"/>
                <a:gd name="G4" fmla="+- 0 0 -852620"/>
                <a:gd name="T0" fmla="*/ 360 256 1"/>
                <a:gd name="T1" fmla="*/ 0 256 1"/>
                <a:gd name="G5" fmla="+- G2 T0 T1"/>
                <a:gd name="G6" fmla="?: G2 G2 G5"/>
                <a:gd name="G7" fmla="+- 0 0 G6"/>
                <a:gd name="G8" fmla="+- 7569 0 0"/>
                <a:gd name="G9" fmla="+- 0 0 -9846504"/>
                <a:gd name="G10" fmla="+- 7569 0 2700"/>
                <a:gd name="G11" fmla="cos G10 -852620"/>
                <a:gd name="G12" fmla="sin G10 -852620"/>
                <a:gd name="G13" fmla="cos 13500 -852620"/>
                <a:gd name="G14" fmla="sin 13500 -852620"/>
                <a:gd name="G15" fmla="+- G11 10800 0"/>
                <a:gd name="G16" fmla="+- G12 10800 0"/>
                <a:gd name="G17" fmla="+- G13 10800 0"/>
                <a:gd name="G18" fmla="+- G14 10800 0"/>
                <a:gd name="G19" fmla="*/ 7569 1 2"/>
                <a:gd name="G20" fmla="+- G19 5400 0"/>
                <a:gd name="G21" fmla="cos G20 -852620"/>
                <a:gd name="G22" fmla="sin G20 -852620"/>
                <a:gd name="G23" fmla="+- G21 10800 0"/>
                <a:gd name="G24" fmla="+- G12 G23 G22"/>
                <a:gd name="G25" fmla="+- G22 G23 G11"/>
                <a:gd name="G26" fmla="cos 10800 -852620"/>
                <a:gd name="G27" fmla="sin 10800 -852620"/>
                <a:gd name="G28" fmla="cos 7569 -852620"/>
                <a:gd name="G29" fmla="sin 7569 -852620"/>
                <a:gd name="G30" fmla="+- G26 10800 0"/>
                <a:gd name="G31" fmla="+- G27 10800 0"/>
                <a:gd name="G32" fmla="+- G28 10800 0"/>
                <a:gd name="G33" fmla="+- G29 10800 0"/>
                <a:gd name="G34" fmla="+- G19 5400 0"/>
                <a:gd name="G35" fmla="cos G34 -9846504"/>
                <a:gd name="G36" fmla="sin G34 -9846504"/>
                <a:gd name="G37" fmla="+/ -9846504 -852620 2"/>
                <a:gd name="T2" fmla="*/ 180 256 1"/>
                <a:gd name="T3" fmla="*/ 0 256 1"/>
                <a:gd name="G38" fmla="+- G37 T2 T3"/>
                <a:gd name="G39" fmla="?: G2 G37 G38"/>
                <a:gd name="G40" fmla="cos 10800 G39"/>
                <a:gd name="G41" fmla="sin 10800 G39"/>
                <a:gd name="G42" fmla="cos 7569 G39"/>
                <a:gd name="G43" fmla="sin 7569 G39"/>
                <a:gd name="G44" fmla="+- G40 10800 0"/>
                <a:gd name="G45" fmla="+- G41 10800 0"/>
                <a:gd name="G46" fmla="+- G42 10800 0"/>
                <a:gd name="G47" fmla="+- G43 10800 0"/>
                <a:gd name="G48" fmla="+- G35 10800 0"/>
                <a:gd name="G49" fmla="+- G36 10800 0"/>
                <a:gd name="T4" fmla="*/ 12372 w 21600"/>
                <a:gd name="T5" fmla="*/ 115 h 21600"/>
                <a:gd name="T6" fmla="*/ 2825 w 21600"/>
                <a:gd name="T7" fmla="*/ 6241 h 21600"/>
                <a:gd name="T8" fmla="*/ 11902 w 21600"/>
                <a:gd name="T9" fmla="*/ 3311 h 21600"/>
                <a:gd name="T10" fmla="*/ 23953 w 21600"/>
                <a:gd name="T11" fmla="*/ 7760 h 21600"/>
                <a:gd name="T12" fmla="*/ 20720 w 21600"/>
                <a:gd name="T13" fmla="*/ 12937 h 21600"/>
                <a:gd name="T14" fmla="*/ 15544 w 21600"/>
                <a:gd name="T15" fmla="*/ 9703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8174" y="9096"/>
                  </a:moveTo>
                  <a:cubicBezTo>
                    <a:pt x="17381" y="5662"/>
                    <a:pt x="14323" y="3231"/>
                    <a:pt x="10800" y="3231"/>
                  </a:cubicBezTo>
                  <a:cubicBezTo>
                    <a:pt x="8084" y="3230"/>
                    <a:pt x="5576" y="4685"/>
                    <a:pt x="4228" y="7043"/>
                  </a:cubicBezTo>
                  <a:lnTo>
                    <a:pt x="1423" y="5440"/>
                  </a:lnTo>
                  <a:cubicBezTo>
                    <a:pt x="3346" y="2076"/>
                    <a:pt x="6924" y="-1"/>
                    <a:pt x="10800" y="0"/>
                  </a:cubicBezTo>
                  <a:cubicBezTo>
                    <a:pt x="15828" y="0"/>
                    <a:pt x="20190" y="3469"/>
                    <a:pt x="21322" y="8368"/>
                  </a:cubicBezTo>
                  <a:lnTo>
                    <a:pt x="23953" y="7760"/>
                  </a:lnTo>
                  <a:lnTo>
                    <a:pt x="20720" y="12937"/>
                  </a:lnTo>
                  <a:lnTo>
                    <a:pt x="15544" y="9703"/>
                  </a:lnTo>
                  <a:lnTo>
                    <a:pt x="18174" y="9096"/>
                  </a:lnTo>
                  <a:close/>
                </a:path>
              </a:pathLst>
            </a:custGeom>
            <a:gradFill rotWithShape="0">
              <a:gsLst>
                <a:gs pos="0">
                  <a:schemeClr val="accent1">
                    <a:gamma/>
                    <a:shade val="46275"/>
                    <a:invGamma/>
                  </a:schemeClr>
                </a:gs>
                <a:gs pos="50000">
                  <a:schemeClr val="accent1"/>
                </a:gs>
                <a:gs pos="100000">
                  <a:schemeClr val="accent1">
                    <a:gamma/>
                    <a:shade val="46275"/>
                    <a:invGamma/>
                  </a:schemeClr>
                </a:gs>
              </a:gsLst>
              <a:lin ang="18900000" scaled="1"/>
            </a:gradFill>
            <a:ln w="28575" cap="sq">
              <a:solidFill>
                <a:srgbClr val="FFFF00"/>
              </a:solidFill>
              <a:miter lim="800000"/>
              <a:headEnd type="none" w="sm" len="sm"/>
              <a:tailEnd type="none" w="sm" len="sm"/>
            </a:ln>
            <a:effectLst>
              <a:outerShdw dist="35921" dir="2700000" algn="ctr" rotWithShape="0">
                <a:srgbClr val="B2B2B2"/>
              </a:outerShdw>
            </a:effectLst>
          </p:spPr>
          <p:txBody>
            <a:bodyPr wrap="none" anchor="ctr"/>
            <a:lstStyle/>
            <a:p>
              <a:pPr>
                <a:defRPr/>
              </a:pPr>
              <a:endParaRPr lang="zh-CN" altLang="en-US"/>
            </a:p>
          </p:txBody>
        </p:sp>
        <p:sp>
          <p:nvSpPr>
            <p:cNvPr id="307241" name="AutoShape 41"/>
            <p:cNvSpPr>
              <a:spLocks noChangeArrowheads="1"/>
            </p:cNvSpPr>
            <p:nvPr/>
          </p:nvSpPr>
          <p:spPr bwMode="auto">
            <a:xfrm rot="1528362" flipH="1">
              <a:off x="424" y="968"/>
              <a:ext cx="816" cy="615"/>
            </a:xfrm>
            <a:custGeom>
              <a:avLst/>
              <a:gdLst>
                <a:gd name="G0" fmla="+- -852620 0 0"/>
                <a:gd name="G1" fmla="+- -9846504 0 0"/>
                <a:gd name="G2" fmla="+- -852620 0 -9846504"/>
                <a:gd name="G3" fmla="+- 10800 0 0"/>
                <a:gd name="G4" fmla="+- 0 0 -852620"/>
                <a:gd name="T0" fmla="*/ 360 256 1"/>
                <a:gd name="T1" fmla="*/ 0 256 1"/>
                <a:gd name="G5" fmla="+- G2 T0 T1"/>
                <a:gd name="G6" fmla="?: G2 G2 G5"/>
                <a:gd name="G7" fmla="+- 0 0 G6"/>
                <a:gd name="G8" fmla="+- 7569 0 0"/>
                <a:gd name="G9" fmla="+- 0 0 -9846504"/>
                <a:gd name="G10" fmla="+- 7569 0 2700"/>
                <a:gd name="G11" fmla="cos G10 -852620"/>
                <a:gd name="G12" fmla="sin G10 -852620"/>
                <a:gd name="G13" fmla="cos 13500 -852620"/>
                <a:gd name="G14" fmla="sin 13500 -852620"/>
                <a:gd name="G15" fmla="+- G11 10800 0"/>
                <a:gd name="G16" fmla="+- G12 10800 0"/>
                <a:gd name="G17" fmla="+- G13 10800 0"/>
                <a:gd name="G18" fmla="+- G14 10800 0"/>
                <a:gd name="G19" fmla="*/ 7569 1 2"/>
                <a:gd name="G20" fmla="+- G19 5400 0"/>
                <a:gd name="G21" fmla="cos G20 -852620"/>
                <a:gd name="G22" fmla="sin G20 -852620"/>
                <a:gd name="G23" fmla="+- G21 10800 0"/>
                <a:gd name="G24" fmla="+- G12 G23 G22"/>
                <a:gd name="G25" fmla="+- G22 G23 G11"/>
                <a:gd name="G26" fmla="cos 10800 -852620"/>
                <a:gd name="G27" fmla="sin 10800 -852620"/>
                <a:gd name="G28" fmla="cos 7569 -852620"/>
                <a:gd name="G29" fmla="sin 7569 -852620"/>
                <a:gd name="G30" fmla="+- G26 10800 0"/>
                <a:gd name="G31" fmla="+- G27 10800 0"/>
                <a:gd name="G32" fmla="+- G28 10800 0"/>
                <a:gd name="G33" fmla="+- G29 10800 0"/>
                <a:gd name="G34" fmla="+- G19 5400 0"/>
                <a:gd name="G35" fmla="cos G34 -9846504"/>
                <a:gd name="G36" fmla="sin G34 -9846504"/>
                <a:gd name="G37" fmla="+/ -9846504 -852620 2"/>
                <a:gd name="T2" fmla="*/ 180 256 1"/>
                <a:gd name="T3" fmla="*/ 0 256 1"/>
                <a:gd name="G38" fmla="+- G37 T2 T3"/>
                <a:gd name="G39" fmla="?: G2 G37 G38"/>
                <a:gd name="G40" fmla="cos 10800 G39"/>
                <a:gd name="G41" fmla="sin 10800 G39"/>
                <a:gd name="G42" fmla="cos 7569 G39"/>
                <a:gd name="G43" fmla="sin 7569 G39"/>
                <a:gd name="G44" fmla="+- G40 10800 0"/>
                <a:gd name="G45" fmla="+- G41 10800 0"/>
                <a:gd name="G46" fmla="+- G42 10800 0"/>
                <a:gd name="G47" fmla="+- G43 10800 0"/>
                <a:gd name="G48" fmla="+- G35 10800 0"/>
                <a:gd name="G49" fmla="+- G36 10800 0"/>
                <a:gd name="T4" fmla="*/ 12372 w 21600"/>
                <a:gd name="T5" fmla="*/ 115 h 21600"/>
                <a:gd name="T6" fmla="*/ 2825 w 21600"/>
                <a:gd name="T7" fmla="*/ 6241 h 21600"/>
                <a:gd name="T8" fmla="*/ 11902 w 21600"/>
                <a:gd name="T9" fmla="*/ 3311 h 21600"/>
                <a:gd name="T10" fmla="*/ 23953 w 21600"/>
                <a:gd name="T11" fmla="*/ 7760 h 21600"/>
                <a:gd name="T12" fmla="*/ 20720 w 21600"/>
                <a:gd name="T13" fmla="*/ 12937 h 21600"/>
                <a:gd name="T14" fmla="*/ 15544 w 21600"/>
                <a:gd name="T15" fmla="*/ 9703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8174" y="9096"/>
                  </a:moveTo>
                  <a:cubicBezTo>
                    <a:pt x="17381" y="5662"/>
                    <a:pt x="14323" y="3231"/>
                    <a:pt x="10800" y="3231"/>
                  </a:cubicBezTo>
                  <a:cubicBezTo>
                    <a:pt x="8084" y="3230"/>
                    <a:pt x="5576" y="4685"/>
                    <a:pt x="4228" y="7043"/>
                  </a:cubicBezTo>
                  <a:lnTo>
                    <a:pt x="1423" y="5440"/>
                  </a:lnTo>
                  <a:cubicBezTo>
                    <a:pt x="3346" y="2076"/>
                    <a:pt x="6924" y="-1"/>
                    <a:pt x="10800" y="0"/>
                  </a:cubicBezTo>
                  <a:cubicBezTo>
                    <a:pt x="15828" y="0"/>
                    <a:pt x="20190" y="3469"/>
                    <a:pt x="21322" y="8368"/>
                  </a:cubicBezTo>
                  <a:lnTo>
                    <a:pt x="23953" y="7760"/>
                  </a:lnTo>
                  <a:lnTo>
                    <a:pt x="20720" y="12937"/>
                  </a:lnTo>
                  <a:lnTo>
                    <a:pt x="15544" y="9703"/>
                  </a:lnTo>
                  <a:lnTo>
                    <a:pt x="18174" y="9096"/>
                  </a:lnTo>
                  <a:close/>
                </a:path>
              </a:pathLst>
            </a:custGeom>
            <a:gradFill rotWithShape="0">
              <a:gsLst>
                <a:gs pos="0">
                  <a:schemeClr val="accent1">
                    <a:gamma/>
                    <a:shade val="46275"/>
                    <a:invGamma/>
                  </a:schemeClr>
                </a:gs>
                <a:gs pos="50000">
                  <a:schemeClr val="accent1"/>
                </a:gs>
                <a:gs pos="100000">
                  <a:schemeClr val="accent1">
                    <a:gamma/>
                    <a:shade val="46275"/>
                    <a:invGamma/>
                  </a:schemeClr>
                </a:gs>
              </a:gsLst>
              <a:lin ang="2700000" scaled="1"/>
            </a:gradFill>
            <a:ln w="28575" cap="sq">
              <a:solidFill>
                <a:srgbClr val="FFFF00"/>
              </a:solidFill>
              <a:miter lim="800000"/>
              <a:headEnd type="none" w="sm" len="sm"/>
              <a:tailEnd type="none" w="sm" len="sm"/>
            </a:ln>
            <a:effectLst>
              <a:outerShdw dist="35921" dir="2700000" algn="ctr" rotWithShape="0">
                <a:srgbClr val="B2B2B2"/>
              </a:outerShdw>
            </a:effectLst>
          </p:spPr>
          <p:txBody>
            <a:bodyPr wrap="none" anchor="ctr"/>
            <a:lstStyle/>
            <a:p>
              <a:pPr>
                <a:defRPr/>
              </a:pPr>
              <a:endParaRPr lang="zh-CN" altLang="en-US"/>
            </a:p>
          </p:txBody>
        </p:sp>
        <p:sp>
          <p:nvSpPr>
            <p:cNvPr id="30766" name="Text Box 42"/>
            <p:cNvSpPr txBox="1">
              <a:spLocks noChangeArrowheads="1"/>
            </p:cNvSpPr>
            <p:nvPr/>
          </p:nvSpPr>
          <p:spPr bwMode="auto">
            <a:xfrm>
              <a:off x="1041" y="2975"/>
              <a:ext cx="300" cy="349"/>
            </a:xfrm>
            <a:prstGeom prst="rect">
              <a:avLst/>
            </a:prstGeom>
            <a:noFill/>
            <a:ln w="12700" cap="sq">
              <a:noFill/>
              <a:miter lim="800000"/>
              <a:headEnd type="none" w="sm" len="sm"/>
              <a:tailEnd type="none" w="sm" len="sm"/>
            </a:ln>
          </p:spPr>
          <p:txBody>
            <a:bodyPr wrap="none">
              <a:spAutoFit/>
            </a:bodyPr>
            <a:lstStyle/>
            <a:p>
              <a:r>
                <a:rPr lang="en-US" altLang="zh-CN" sz="3000" b="1">
                  <a:solidFill>
                    <a:srgbClr val="0000CC"/>
                  </a:solidFill>
                </a:rPr>
                <a:t>a</a:t>
              </a:r>
              <a:r>
                <a:rPr lang="en-US" altLang="zh-CN" sz="3000" b="1" baseline="-16000">
                  <a:solidFill>
                    <a:srgbClr val="0000CC"/>
                  </a:solidFill>
                </a:rPr>
                <a:t>1</a:t>
              </a:r>
            </a:p>
          </p:txBody>
        </p:sp>
        <p:sp>
          <p:nvSpPr>
            <p:cNvPr id="30767" name="Text Box 43"/>
            <p:cNvSpPr txBox="1">
              <a:spLocks noChangeArrowheads="1"/>
            </p:cNvSpPr>
            <p:nvPr/>
          </p:nvSpPr>
          <p:spPr bwMode="auto">
            <a:xfrm>
              <a:off x="1031" y="2687"/>
              <a:ext cx="419" cy="346"/>
            </a:xfrm>
            <a:prstGeom prst="rect">
              <a:avLst/>
            </a:prstGeom>
            <a:noFill/>
            <a:ln w="12700" cap="sq">
              <a:noFill/>
              <a:miter lim="800000"/>
              <a:headEnd type="none" w="sm" len="sm"/>
              <a:tailEnd type="none" w="sm" len="sm"/>
            </a:ln>
          </p:spPr>
          <p:txBody>
            <a:bodyPr>
              <a:spAutoFit/>
            </a:bodyPr>
            <a:lstStyle/>
            <a:p>
              <a:r>
                <a:rPr lang="en-US" altLang="zh-CN" sz="3000" b="1">
                  <a:solidFill>
                    <a:srgbClr val="0000CC"/>
                  </a:solidFill>
                </a:rPr>
                <a:t>a</a:t>
              </a:r>
              <a:r>
                <a:rPr lang="en-US" altLang="zh-CN" sz="3000" b="1" baseline="-16000">
                  <a:solidFill>
                    <a:srgbClr val="0000CC"/>
                  </a:solidFill>
                </a:rPr>
                <a:t>2</a:t>
              </a:r>
            </a:p>
          </p:txBody>
        </p:sp>
        <p:sp>
          <p:nvSpPr>
            <p:cNvPr id="30768" name="Text Box 44"/>
            <p:cNvSpPr txBox="1">
              <a:spLocks noChangeArrowheads="1"/>
            </p:cNvSpPr>
            <p:nvPr/>
          </p:nvSpPr>
          <p:spPr bwMode="auto">
            <a:xfrm>
              <a:off x="1031" y="2399"/>
              <a:ext cx="300" cy="349"/>
            </a:xfrm>
            <a:prstGeom prst="rect">
              <a:avLst/>
            </a:prstGeom>
            <a:noFill/>
            <a:ln w="12700" cap="sq">
              <a:noFill/>
              <a:miter lim="800000"/>
              <a:headEnd type="none" w="sm" len="sm"/>
              <a:tailEnd type="none" w="sm" len="sm"/>
            </a:ln>
          </p:spPr>
          <p:txBody>
            <a:bodyPr wrap="none">
              <a:spAutoFit/>
            </a:bodyPr>
            <a:lstStyle/>
            <a:p>
              <a:r>
                <a:rPr lang="en-US" altLang="zh-CN" sz="3000" b="1">
                  <a:solidFill>
                    <a:srgbClr val="0000CC"/>
                  </a:solidFill>
                </a:rPr>
                <a:t>a</a:t>
              </a:r>
              <a:r>
                <a:rPr lang="en-US" altLang="zh-CN" sz="3000" b="1" baseline="-16000">
                  <a:solidFill>
                    <a:srgbClr val="0000CC"/>
                  </a:solidFill>
                </a:rPr>
                <a:t>3</a:t>
              </a:r>
            </a:p>
          </p:txBody>
        </p:sp>
        <p:sp>
          <p:nvSpPr>
            <p:cNvPr id="30769" name="Text Box 45"/>
            <p:cNvSpPr txBox="1">
              <a:spLocks noChangeArrowheads="1"/>
            </p:cNvSpPr>
            <p:nvPr/>
          </p:nvSpPr>
          <p:spPr bwMode="auto">
            <a:xfrm>
              <a:off x="1031" y="1775"/>
              <a:ext cx="463" cy="349"/>
            </a:xfrm>
            <a:prstGeom prst="rect">
              <a:avLst/>
            </a:prstGeom>
            <a:noFill/>
            <a:ln w="12700" cap="sq">
              <a:noFill/>
              <a:miter lim="800000"/>
              <a:headEnd type="none" w="sm" len="sm"/>
              <a:tailEnd type="none" w="sm" len="sm"/>
            </a:ln>
          </p:spPr>
          <p:txBody>
            <a:bodyPr wrap="none">
              <a:spAutoFit/>
            </a:bodyPr>
            <a:lstStyle/>
            <a:p>
              <a:r>
                <a:rPr lang="en-US" altLang="zh-CN" sz="3000" b="1">
                  <a:solidFill>
                    <a:srgbClr val="0000CC"/>
                  </a:solidFill>
                </a:rPr>
                <a:t>a</a:t>
              </a:r>
              <a:r>
                <a:rPr lang="en-US" altLang="zh-CN" sz="3000" b="1" baseline="-16000">
                  <a:solidFill>
                    <a:srgbClr val="0000CC"/>
                  </a:solidFill>
                </a:rPr>
                <a:t>n</a:t>
              </a:r>
              <a:r>
                <a:rPr lang="en-US" altLang="zh-CN" sz="3000" b="1" baseline="-16000">
                  <a:solidFill>
                    <a:srgbClr val="0000CC"/>
                  </a:solidFill>
                  <a:latin typeface="宋体" charset="-122"/>
                  <a:ea typeface="宋体" charset="-122"/>
                </a:rPr>
                <a:t>-</a:t>
              </a:r>
              <a:r>
                <a:rPr lang="en-US" altLang="zh-CN" sz="3000" b="1" baseline="-16000">
                  <a:solidFill>
                    <a:srgbClr val="0000CC"/>
                  </a:solidFill>
                </a:rPr>
                <a:t>1</a:t>
              </a:r>
            </a:p>
          </p:txBody>
        </p:sp>
        <p:sp>
          <p:nvSpPr>
            <p:cNvPr id="30770" name="Text Box 46"/>
            <p:cNvSpPr txBox="1">
              <a:spLocks noChangeArrowheads="1"/>
            </p:cNvSpPr>
            <p:nvPr/>
          </p:nvSpPr>
          <p:spPr bwMode="auto">
            <a:xfrm>
              <a:off x="1031" y="1502"/>
              <a:ext cx="366" cy="346"/>
            </a:xfrm>
            <a:prstGeom prst="rect">
              <a:avLst/>
            </a:prstGeom>
            <a:noFill/>
            <a:ln w="12700" cap="sq">
              <a:noFill/>
              <a:miter lim="800000"/>
              <a:headEnd type="none" w="sm" len="sm"/>
              <a:tailEnd type="none" w="sm" len="sm"/>
            </a:ln>
          </p:spPr>
          <p:txBody>
            <a:bodyPr>
              <a:spAutoFit/>
            </a:bodyPr>
            <a:lstStyle/>
            <a:p>
              <a:r>
                <a:rPr lang="en-US" altLang="zh-CN" sz="3000" b="1">
                  <a:solidFill>
                    <a:srgbClr val="0000CC"/>
                  </a:solidFill>
                </a:rPr>
                <a:t>a</a:t>
              </a:r>
              <a:r>
                <a:rPr lang="en-US" altLang="zh-CN" sz="3000" b="1" baseline="-16000">
                  <a:solidFill>
                    <a:srgbClr val="0000CC"/>
                  </a:solidFill>
                </a:rPr>
                <a:t>n</a:t>
              </a:r>
            </a:p>
          </p:txBody>
        </p:sp>
        <p:sp>
          <p:nvSpPr>
            <p:cNvPr id="30771" name="Text Box 47"/>
            <p:cNvSpPr txBox="1">
              <a:spLocks noChangeArrowheads="1"/>
            </p:cNvSpPr>
            <p:nvPr/>
          </p:nvSpPr>
          <p:spPr bwMode="auto">
            <a:xfrm>
              <a:off x="1051" y="2076"/>
              <a:ext cx="308" cy="339"/>
            </a:xfrm>
            <a:prstGeom prst="rect">
              <a:avLst/>
            </a:prstGeom>
            <a:noFill/>
            <a:ln w="12700" cap="sq">
              <a:noFill/>
              <a:miter lim="800000"/>
              <a:headEnd type="none" w="sm" len="sm"/>
              <a:tailEnd type="none" w="sm" len="sm"/>
            </a:ln>
          </p:spPr>
          <p:txBody>
            <a:bodyPr wrap="none">
              <a:spAutoFit/>
            </a:bodyPr>
            <a:lstStyle/>
            <a:p>
              <a:r>
                <a:rPr lang="zh-CN" altLang="en-US" sz="2900" b="1">
                  <a:solidFill>
                    <a:srgbClr val="0000CC"/>
                  </a:solidFill>
                  <a:ea typeface="宋体" charset="-122"/>
                  <a:cs typeface="Times New Roman" pitchFamily="18" charset="0"/>
                </a:rPr>
                <a:t>…</a:t>
              </a:r>
            </a:p>
          </p:txBody>
        </p:sp>
        <p:sp>
          <p:nvSpPr>
            <p:cNvPr id="30772" name="Text Box 48"/>
            <p:cNvSpPr txBox="1">
              <a:spLocks noChangeArrowheads="1"/>
            </p:cNvSpPr>
            <p:nvPr/>
          </p:nvSpPr>
          <p:spPr bwMode="auto">
            <a:xfrm>
              <a:off x="2038" y="799"/>
              <a:ext cx="387" cy="558"/>
            </a:xfrm>
            <a:prstGeom prst="rect">
              <a:avLst/>
            </a:prstGeom>
            <a:noFill/>
            <a:ln w="12700" cap="sq">
              <a:noFill/>
              <a:miter lim="800000"/>
              <a:headEnd type="none" w="sm" len="sm"/>
              <a:tailEnd type="none" w="sm" len="sm"/>
            </a:ln>
            <a:effectLst>
              <a:outerShdw dist="17961" dir="2700000" algn="ctr" rotWithShape="0">
                <a:schemeClr val="bg2"/>
              </a:outerShdw>
            </a:effectLst>
          </p:spPr>
          <p:txBody>
            <a:bodyPr>
              <a:spAutoFit/>
            </a:bodyPr>
            <a:lstStyle/>
            <a:p>
              <a:r>
                <a:rPr lang="zh-CN" altLang="en-US" sz="2600" b="1">
                  <a:solidFill>
                    <a:srgbClr val="FF3300"/>
                  </a:solidFill>
                  <a:ea typeface="黑体" pitchFamily="2" charset="-122"/>
                </a:rPr>
                <a:t>进</a:t>
              </a:r>
            </a:p>
            <a:p>
              <a:r>
                <a:rPr lang="zh-CN" altLang="en-US" sz="2600" b="1">
                  <a:solidFill>
                    <a:srgbClr val="FF3300"/>
                  </a:solidFill>
                  <a:ea typeface="黑体" pitchFamily="2" charset="-122"/>
                </a:rPr>
                <a:t>栈</a:t>
              </a:r>
            </a:p>
          </p:txBody>
        </p:sp>
        <p:sp>
          <p:nvSpPr>
            <p:cNvPr id="30773" name="Text Box 49"/>
            <p:cNvSpPr txBox="1">
              <a:spLocks noChangeArrowheads="1"/>
            </p:cNvSpPr>
            <p:nvPr/>
          </p:nvSpPr>
          <p:spPr bwMode="auto">
            <a:xfrm>
              <a:off x="84" y="817"/>
              <a:ext cx="466" cy="558"/>
            </a:xfrm>
            <a:prstGeom prst="rect">
              <a:avLst/>
            </a:prstGeom>
            <a:noFill/>
            <a:ln w="12700" cap="sq">
              <a:noFill/>
              <a:miter lim="800000"/>
              <a:headEnd type="none" w="sm" len="sm"/>
              <a:tailEnd type="none" w="sm" len="sm"/>
            </a:ln>
            <a:effectLst>
              <a:outerShdw dist="17961" dir="2700000" algn="ctr" rotWithShape="0">
                <a:schemeClr val="bg2"/>
              </a:outerShdw>
            </a:effectLst>
          </p:spPr>
          <p:txBody>
            <a:bodyPr>
              <a:spAutoFit/>
            </a:bodyPr>
            <a:lstStyle/>
            <a:p>
              <a:r>
                <a:rPr lang="zh-CN" altLang="en-US" sz="2600" b="1">
                  <a:solidFill>
                    <a:srgbClr val="FF3300"/>
                  </a:solidFill>
                  <a:ea typeface="黑体" pitchFamily="2" charset="-122"/>
                </a:rPr>
                <a:t>退</a:t>
              </a:r>
            </a:p>
            <a:p>
              <a:r>
                <a:rPr lang="zh-CN" altLang="en-US" sz="2600" b="1">
                  <a:solidFill>
                    <a:srgbClr val="FF3300"/>
                  </a:solidFill>
                  <a:ea typeface="黑体" pitchFamily="2" charset="-122"/>
                </a:rPr>
                <a:t>栈</a:t>
              </a:r>
            </a:p>
          </p:txBody>
        </p:sp>
        <p:sp>
          <p:nvSpPr>
            <p:cNvPr id="30774" name="AutoShape 50"/>
            <p:cNvSpPr>
              <a:spLocks noChangeArrowheads="1"/>
            </p:cNvSpPr>
            <p:nvPr/>
          </p:nvSpPr>
          <p:spPr bwMode="auto">
            <a:xfrm>
              <a:off x="634" y="1646"/>
              <a:ext cx="336" cy="114"/>
            </a:xfrm>
            <a:prstGeom prst="rightArrow">
              <a:avLst>
                <a:gd name="adj1" fmla="val 50000"/>
                <a:gd name="adj2" fmla="val 73684"/>
              </a:avLst>
            </a:prstGeom>
            <a:gradFill rotWithShape="1">
              <a:gsLst>
                <a:gs pos="0">
                  <a:srgbClr val="761800"/>
                </a:gs>
                <a:gs pos="50000">
                  <a:srgbClr val="FF3300"/>
                </a:gs>
                <a:gs pos="100000">
                  <a:srgbClr val="761800"/>
                </a:gs>
              </a:gsLst>
              <a:lin ang="5400000" scaled="1"/>
            </a:gradFill>
            <a:ln w="12700" cap="sq">
              <a:solidFill>
                <a:schemeClr val="accent1"/>
              </a:solidFill>
              <a:miter lim="800000"/>
              <a:headEnd type="none" w="sm" len="sm"/>
              <a:tailEnd type="none" w="sm" len="sm"/>
            </a:ln>
            <a:effectLst>
              <a:outerShdw dist="35921" dir="2700000" algn="ctr" rotWithShape="0">
                <a:srgbClr val="B2B2B2"/>
              </a:outerShdw>
            </a:effectLst>
          </p:spPr>
          <p:txBody>
            <a:bodyPr wrap="none" anchor="ctr"/>
            <a:lstStyle/>
            <a:p>
              <a:endParaRPr lang="zh-CN" altLang="en-US"/>
            </a:p>
          </p:txBody>
        </p:sp>
        <p:sp>
          <p:nvSpPr>
            <p:cNvPr id="30775" name="Text Box 51"/>
            <p:cNvSpPr txBox="1">
              <a:spLocks noChangeArrowheads="1"/>
            </p:cNvSpPr>
            <p:nvPr/>
          </p:nvSpPr>
          <p:spPr bwMode="auto">
            <a:xfrm>
              <a:off x="229" y="1427"/>
              <a:ext cx="479" cy="317"/>
            </a:xfrm>
            <a:prstGeom prst="rect">
              <a:avLst/>
            </a:prstGeom>
            <a:noFill/>
            <a:ln w="12700" cap="sq">
              <a:noFill/>
              <a:miter lim="800000"/>
              <a:headEnd type="none" w="sm" len="sm"/>
              <a:tailEnd type="none" w="sm" len="sm"/>
            </a:ln>
            <a:effectLst>
              <a:outerShdw dist="17961" dir="2700000" algn="ctr" rotWithShape="0">
                <a:schemeClr val="bg2"/>
              </a:outerShdw>
            </a:effectLst>
          </p:spPr>
          <p:txBody>
            <a:bodyPr>
              <a:spAutoFit/>
            </a:bodyPr>
            <a:lstStyle/>
            <a:p>
              <a:r>
                <a:rPr lang="en-US" altLang="zh-CN" sz="2700" b="1" i="1">
                  <a:solidFill>
                    <a:srgbClr val="FF3300"/>
                  </a:solidFill>
                </a:rPr>
                <a:t>top</a:t>
              </a:r>
            </a:p>
          </p:txBody>
        </p:sp>
        <p:sp>
          <p:nvSpPr>
            <p:cNvPr id="30776" name="Text Box 52"/>
            <p:cNvSpPr txBox="1">
              <a:spLocks noChangeArrowheads="1"/>
            </p:cNvSpPr>
            <p:nvPr/>
          </p:nvSpPr>
          <p:spPr bwMode="auto">
            <a:xfrm>
              <a:off x="158" y="1665"/>
              <a:ext cx="606" cy="250"/>
            </a:xfrm>
            <a:prstGeom prst="rect">
              <a:avLst/>
            </a:prstGeom>
            <a:noFill/>
            <a:ln w="12700" cap="sq">
              <a:noFill/>
              <a:miter lim="800000"/>
              <a:headEnd type="none" w="sm" len="sm"/>
              <a:tailEnd type="none" w="sm" len="sm"/>
            </a:ln>
          </p:spPr>
          <p:txBody>
            <a:bodyPr>
              <a:spAutoFit/>
            </a:bodyPr>
            <a:lstStyle/>
            <a:p>
              <a:r>
                <a:rPr lang="zh-CN" altLang="en-US" sz="2000" b="1" i="1">
                  <a:solidFill>
                    <a:srgbClr val="003399"/>
                  </a:solidFill>
                  <a:latin typeface="黑体" pitchFamily="2" charset="-122"/>
                  <a:ea typeface="黑体" pitchFamily="2" charset="-122"/>
                </a:rPr>
                <a:t>栈顶 </a:t>
              </a:r>
            </a:p>
          </p:txBody>
        </p:sp>
        <p:sp>
          <p:nvSpPr>
            <p:cNvPr id="30777" name="Text Box 53"/>
            <p:cNvSpPr txBox="1">
              <a:spLocks noChangeArrowheads="1"/>
            </p:cNvSpPr>
            <p:nvPr/>
          </p:nvSpPr>
          <p:spPr bwMode="auto">
            <a:xfrm>
              <a:off x="184" y="3053"/>
              <a:ext cx="535" cy="250"/>
            </a:xfrm>
            <a:prstGeom prst="rect">
              <a:avLst/>
            </a:prstGeom>
            <a:noFill/>
            <a:ln w="12700" cap="sq">
              <a:noFill/>
              <a:miter lim="800000"/>
              <a:headEnd type="none" w="sm" len="sm"/>
              <a:tailEnd type="none" w="sm" len="sm"/>
            </a:ln>
          </p:spPr>
          <p:txBody>
            <a:bodyPr>
              <a:spAutoFit/>
            </a:bodyPr>
            <a:lstStyle/>
            <a:p>
              <a:r>
                <a:rPr lang="zh-CN" altLang="en-US" sz="2000" b="1" i="1">
                  <a:solidFill>
                    <a:srgbClr val="003399"/>
                  </a:solidFill>
                  <a:latin typeface="黑体" pitchFamily="2" charset="-122"/>
                  <a:ea typeface="黑体" pitchFamily="2" charset="-122"/>
                </a:rPr>
                <a:t>栈底 </a:t>
              </a:r>
            </a:p>
          </p:txBody>
        </p:sp>
        <p:sp>
          <p:nvSpPr>
            <p:cNvPr id="30778" name="AutoShape 54"/>
            <p:cNvSpPr>
              <a:spLocks noChangeArrowheads="1"/>
            </p:cNvSpPr>
            <p:nvPr/>
          </p:nvSpPr>
          <p:spPr bwMode="auto">
            <a:xfrm>
              <a:off x="634" y="3143"/>
              <a:ext cx="336" cy="114"/>
            </a:xfrm>
            <a:prstGeom prst="rightArrow">
              <a:avLst>
                <a:gd name="adj1" fmla="val 50000"/>
                <a:gd name="adj2" fmla="val 73684"/>
              </a:avLst>
            </a:prstGeom>
            <a:gradFill rotWithShape="1">
              <a:gsLst>
                <a:gs pos="0">
                  <a:srgbClr val="761800"/>
                </a:gs>
                <a:gs pos="50000">
                  <a:srgbClr val="FF3300"/>
                </a:gs>
                <a:gs pos="100000">
                  <a:srgbClr val="761800"/>
                </a:gs>
              </a:gsLst>
              <a:lin ang="5400000" scaled="1"/>
            </a:gradFill>
            <a:ln w="12700" cap="sq">
              <a:solidFill>
                <a:schemeClr val="accent1"/>
              </a:solidFill>
              <a:miter lim="800000"/>
              <a:headEnd type="none" w="sm" len="sm"/>
              <a:tailEnd type="none" w="sm" len="sm"/>
            </a:ln>
            <a:effectLst>
              <a:outerShdw dist="35921" dir="2700000" algn="ctr" rotWithShape="0">
                <a:srgbClr val="B2B2B2"/>
              </a:outerShdw>
            </a:effectLst>
          </p:spPr>
          <p:txBody>
            <a:bodyPr wrap="none" anchor="ctr"/>
            <a:lstStyle/>
            <a:p>
              <a:endParaRPr lang="zh-CN" altLang="en-US"/>
            </a:p>
          </p:txBody>
        </p:sp>
        <p:sp>
          <p:nvSpPr>
            <p:cNvPr id="30779" name="Text Box 57"/>
            <p:cNvSpPr txBox="1">
              <a:spLocks noChangeArrowheads="1"/>
            </p:cNvSpPr>
            <p:nvPr/>
          </p:nvSpPr>
          <p:spPr bwMode="auto">
            <a:xfrm>
              <a:off x="1066" y="754"/>
              <a:ext cx="262" cy="233"/>
            </a:xfrm>
            <a:prstGeom prst="rect">
              <a:avLst/>
            </a:prstGeom>
            <a:noFill/>
            <a:ln w="12700" cap="sq">
              <a:noFill/>
              <a:miter lim="800000"/>
              <a:headEnd type="none" w="sm" len="sm"/>
              <a:tailEnd type="none" w="sm" len="sm"/>
            </a:ln>
          </p:spPr>
          <p:txBody>
            <a:bodyPr wrap="none">
              <a:spAutoFit/>
            </a:bodyPr>
            <a:lstStyle/>
            <a:p>
              <a:r>
                <a:rPr lang="zh-CN" altLang="en-US" b="1" dirty="0">
                  <a:solidFill>
                    <a:srgbClr val="000000"/>
                  </a:solidFill>
                  <a:ea typeface="微软雅黑" pitchFamily="34" charset="-122"/>
                </a:rPr>
                <a:t>栈</a:t>
              </a:r>
            </a:p>
          </p:txBody>
        </p:sp>
        <p:sp>
          <p:nvSpPr>
            <p:cNvPr id="30780" name="Text Box 110"/>
            <p:cNvSpPr txBox="1">
              <a:spLocks noChangeArrowheads="1"/>
            </p:cNvSpPr>
            <p:nvPr/>
          </p:nvSpPr>
          <p:spPr bwMode="auto">
            <a:xfrm>
              <a:off x="612" y="3385"/>
              <a:ext cx="1344" cy="427"/>
            </a:xfrm>
            <a:prstGeom prst="rect">
              <a:avLst/>
            </a:prstGeom>
            <a:noFill/>
            <a:ln w="12700" cap="sq">
              <a:noFill/>
              <a:miter lim="800000"/>
              <a:headEnd type="none" w="sm" len="sm"/>
              <a:tailEnd type="none" w="sm" len="sm"/>
            </a:ln>
            <a:effectLst/>
          </p:spPr>
          <p:txBody>
            <a:bodyPr wrap="none">
              <a:spAutoFit/>
            </a:bodyPr>
            <a:lstStyle/>
            <a:p>
              <a:r>
                <a:rPr lang="zh-CN" altLang="en-US" sz="2000" b="1" dirty="0">
                  <a:solidFill>
                    <a:srgbClr val="800000"/>
                  </a:solidFill>
                  <a:ea typeface="微软雅黑" pitchFamily="34" charset="-122"/>
                </a:rPr>
                <a:t>后进先出</a:t>
              </a:r>
              <a:endParaRPr lang="en-US" altLang="zh-CN" sz="2000" b="1" dirty="0">
                <a:solidFill>
                  <a:srgbClr val="800000"/>
                </a:solidFill>
                <a:ea typeface="微软雅黑" pitchFamily="34" charset="-122"/>
              </a:endParaRPr>
            </a:p>
            <a:p>
              <a:r>
                <a:rPr lang="en-US" altLang="zh-CN" dirty="0">
                  <a:solidFill>
                    <a:srgbClr val="800000"/>
                  </a:solidFill>
                  <a:ea typeface="微软雅黑" pitchFamily="34" charset="-122"/>
                </a:rPr>
                <a:t>(Last In First </a:t>
              </a:r>
              <a:r>
                <a:rPr lang="en-US" altLang="zh-CN" dirty="0" err="1">
                  <a:solidFill>
                    <a:srgbClr val="800000"/>
                  </a:solidFill>
                  <a:ea typeface="微软雅黑" pitchFamily="34" charset="-122"/>
                </a:rPr>
                <a:t>Out,</a:t>
              </a:r>
              <a:r>
                <a:rPr lang="en-US" altLang="zh-CN" b="1" dirty="0" err="1">
                  <a:solidFill>
                    <a:srgbClr val="800000"/>
                  </a:solidFill>
                  <a:ea typeface="微软雅黑" pitchFamily="34" charset="-122"/>
                </a:rPr>
                <a:t>LIFO</a:t>
              </a:r>
              <a:r>
                <a:rPr lang="en-US" altLang="zh-CN" dirty="0">
                  <a:solidFill>
                    <a:srgbClr val="800000"/>
                  </a:solidFill>
                  <a:ea typeface="微软雅黑" pitchFamily="34" charset="-122"/>
                </a:rPr>
                <a:t>)</a:t>
              </a:r>
              <a:endParaRPr lang="zh-CN" altLang="en-US" sz="2000" dirty="0">
                <a:solidFill>
                  <a:srgbClr val="800000"/>
                </a:solidFill>
                <a:ea typeface="微软雅黑" pitchFamily="34" charset="-122"/>
              </a:endParaRPr>
            </a:p>
          </p:txBody>
        </p:sp>
        <p:sp>
          <p:nvSpPr>
            <p:cNvPr id="30781" name="Text Box 112"/>
            <p:cNvSpPr txBox="1">
              <a:spLocks noChangeArrowheads="1"/>
            </p:cNvSpPr>
            <p:nvPr/>
          </p:nvSpPr>
          <p:spPr bwMode="auto">
            <a:xfrm>
              <a:off x="567" y="3819"/>
              <a:ext cx="1237" cy="442"/>
            </a:xfrm>
            <a:prstGeom prst="rect">
              <a:avLst/>
            </a:prstGeom>
            <a:noFill/>
            <a:ln w="12700" cap="sq">
              <a:noFill/>
              <a:miter lim="800000"/>
              <a:headEnd type="none" w="sm" len="sm"/>
              <a:tailEnd type="none" w="sm" len="sm"/>
            </a:ln>
          </p:spPr>
          <p:txBody>
            <a:bodyPr>
              <a:spAutoFit/>
            </a:bodyPr>
            <a:lstStyle/>
            <a:p>
              <a:r>
                <a:rPr lang="zh-CN" altLang="en-US" sz="2000" b="1">
                  <a:solidFill>
                    <a:srgbClr val="000066"/>
                  </a:solidFill>
                  <a:ea typeface="微软雅黑" pitchFamily="34" charset="-122"/>
                </a:rPr>
                <a:t>适于处理具有递归结构的数据</a:t>
              </a:r>
            </a:p>
          </p:txBody>
        </p:sp>
      </p:grpSp>
      <p:grpSp>
        <p:nvGrpSpPr>
          <p:cNvPr id="3" name="Group 115"/>
          <p:cNvGrpSpPr>
            <a:grpSpLocks/>
          </p:cNvGrpSpPr>
          <p:nvPr/>
        </p:nvGrpSpPr>
        <p:grpSpPr bwMode="auto">
          <a:xfrm>
            <a:off x="4367808" y="1556793"/>
            <a:ext cx="6121400" cy="4040187"/>
            <a:chOff x="1791" y="979"/>
            <a:chExt cx="3856" cy="2545"/>
          </a:xfrm>
        </p:grpSpPr>
        <p:grpSp>
          <p:nvGrpSpPr>
            <p:cNvPr id="4" name="Group 82"/>
            <p:cNvGrpSpPr>
              <a:grpSpLocks/>
            </p:cNvGrpSpPr>
            <p:nvPr/>
          </p:nvGrpSpPr>
          <p:grpSpPr bwMode="auto">
            <a:xfrm>
              <a:off x="1791" y="1428"/>
              <a:ext cx="3696" cy="697"/>
              <a:chOff x="768" y="1709"/>
              <a:chExt cx="3696" cy="697"/>
            </a:xfrm>
          </p:grpSpPr>
          <p:sp>
            <p:nvSpPr>
              <p:cNvPr id="30740" name="Rectangle 83"/>
              <p:cNvSpPr>
                <a:spLocks noChangeArrowheads="1"/>
              </p:cNvSpPr>
              <p:nvPr/>
            </p:nvSpPr>
            <p:spPr bwMode="auto">
              <a:xfrm>
                <a:off x="1152" y="2120"/>
                <a:ext cx="288"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30741" name="Rectangle 84"/>
              <p:cNvSpPr>
                <a:spLocks noChangeArrowheads="1"/>
              </p:cNvSpPr>
              <p:nvPr/>
            </p:nvSpPr>
            <p:spPr bwMode="auto">
              <a:xfrm>
                <a:off x="1440" y="2120"/>
                <a:ext cx="288"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30742" name="Rectangle 85"/>
              <p:cNvSpPr>
                <a:spLocks noChangeArrowheads="1"/>
              </p:cNvSpPr>
              <p:nvPr/>
            </p:nvSpPr>
            <p:spPr bwMode="auto">
              <a:xfrm>
                <a:off x="1728" y="2120"/>
                <a:ext cx="288"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30743" name="Rectangle 86"/>
              <p:cNvSpPr>
                <a:spLocks noChangeArrowheads="1"/>
              </p:cNvSpPr>
              <p:nvPr/>
            </p:nvSpPr>
            <p:spPr bwMode="auto">
              <a:xfrm>
                <a:off x="2016" y="2120"/>
                <a:ext cx="288" cy="240"/>
              </a:xfrm>
              <a:prstGeom prst="rect">
                <a:avLst/>
              </a:prstGeom>
              <a:noFill/>
              <a:ln w="19050" cap="sq">
                <a:solidFill>
                  <a:srgbClr val="003366"/>
                </a:solidFill>
                <a:miter lim="800000"/>
                <a:headEnd type="none" w="sm" len="sm"/>
                <a:tailEnd type="none" w="sm" len="sm"/>
              </a:ln>
            </p:spPr>
            <p:txBody>
              <a:bodyPr wrap="none" anchor="ctr"/>
              <a:lstStyle/>
              <a:p>
                <a:endParaRPr lang="zh-CN" altLang="en-US"/>
              </a:p>
            </p:txBody>
          </p:sp>
          <p:sp>
            <p:nvSpPr>
              <p:cNvPr id="30744" name="Rectangle 87"/>
              <p:cNvSpPr>
                <a:spLocks noChangeArrowheads="1"/>
              </p:cNvSpPr>
              <p:nvPr/>
            </p:nvSpPr>
            <p:spPr bwMode="auto">
              <a:xfrm>
                <a:off x="4176" y="2120"/>
                <a:ext cx="288"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30745" name="Rectangle 88"/>
              <p:cNvSpPr>
                <a:spLocks noChangeArrowheads="1"/>
              </p:cNvSpPr>
              <p:nvPr/>
            </p:nvSpPr>
            <p:spPr bwMode="auto">
              <a:xfrm>
                <a:off x="2880" y="2120"/>
                <a:ext cx="288" cy="240"/>
              </a:xfrm>
              <a:prstGeom prst="rect">
                <a:avLst/>
              </a:prstGeom>
              <a:noFill/>
              <a:ln w="19050" cap="sq">
                <a:solidFill>
                  <a:srgbClr val="003366"/>
                </a:solidFill>
                <a:miter lim="800000"/>
                <a:headEnd type="none" w="sm" len="sm"/>
                <a:tailEnd type="none" w="sm" len="sm"/>
              </a:ln>
            </p:spPr>
            <p:txBody>
              <a:bodyPr wrap="none" anchor="ctr"/>
              <a:lstStyle/>
              <a:p>
                <a:endParaRPr lang="zh-CN" altLang="en-US"/>
              </a:p>
            </p:txBody>
          </p:sp>
          <p:sp>
            <p:nvSpPr>
              <p:cNvPr id="30746" name="Rectangle 89"/>
              <p:cNvSpPr>
                <a:spLocks noChangeArrowheads="1"/>
              </p:cNvSpPr>
              <p:nvPr/>
            </p:nvSpPr>
            <p:spPr bwMode="auto">
              <a:xfrm>
                <a:off x="2592" y="2120"/>
                <a:ext cx="288"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30747" name="Line 90"/>
              <p:cNvSpPr>
                <a:spLocks noChangeShapeType="1"/>
              </p:cNvSpPr>
              <p:nvPr/>
            </p:nvSpPr>
            <p:spPr bwMode="auto">
              <a:xfrm>
                <a:off x="3120" y="2120"/>
                <a:ext cx="1104" cy="0"/>
              </a:xfrm>
              <a:prstGeom prst="line">
                <a:avLst/>
              </a:prstGeom>
              <a:noFill/>
              <a:ln w="19050" cap="sq">
                <a:solidFill>
                  <a:srgbClr val="003300"/>
                </a:solidFill>
                <a:round/>
                <a:headEnd type="none" w="sm" len="sm"/>
                <a:tailEnd type="none" w="sm" len="sm"/>
              </a:ln>
            </p:spPr>
            <p:txBody>
              <a:bodyPr/>
              <a:lstStyle/>
              <a:p>
                <a:endParaRPr lang="zh-CN" altLang="en-US"/>
              </a:p>
            </p:txBody>
          </p:sp>
          <p:sp>
            <p:nvSpPr>
              <p:cNvPr id="30748" name="Line 91"/>
              <p:cNvSpPr>
                <a:spLocks noChangeShapeType="1"/>
              </p:cNvSpPr>
              <p:nvPr/>
            </p:nvSpPr>
            <p:spPr bwMode="auto">
              <a:xfrm>
                <a:off x="3120" y="2360"/>
                <a:ext cx="1104" cy="0"/>
              </a:xfrm>
              <a:prstGeom prst="line">
                <a:avLst/>
              </a:prstGeom>
              <a:noFill/>
              <a:ln w="19050" cap="sq">
                <a:solidFill>
                  <a:srgbClr val="003300"/>
                </a:solidFill>
                <a:round/>
                <a:headEnd type="none" w="sm" len="sm"/>
                <a:tailEnd type="none" w="sm" len="sm"/>
              </a:ln>
            </p:spPr>
            <p:txBody>
              <a:bodyPr/>
              <a:lstStyle/>
              <a:p>
                <a:endParaRPr lang="zh-CN" altLang="en-US"/>
              </a:p>
            </p:txBody>
          </p:sp>
          <p:sp>
            <p:nvSpPr>
              <p:cNvPr id="30749" name="Text Box 92"/>
              <p:cNvSpPr txBox="1">
                <a:spLocks noChangeArrowheads="1"/>
              </p:cNvSpPr>
              <p:nvPr/>
            </p:nvSpPr>
            <p:spPr bwMode="auto">
              <a:xfrm>
                <a:off x="768" y="1709"/>
                <a:ext cx="3410" cy="446"/>
              </a:xfrm>
              <a:prstGeom prst="rect">
                <a:avLst/>
              </a:prstGeom>
              <a:noFill/>
              <a:ln w="12700" cap="sq">
                <a:noFill/>
                <a:miter lim="800000"/>
                <a:headEnd type="none" w="sm" len="sm"/>
                <a:tailEnd type="none" w="sm" len="sm"/>
              </a:ln>
            </p:spPr>
            <p:txBody>
              <a:bodyPr wrap="none">
                <a:spAutoFit/>
              </a:bodyPr>
              <a:lstStyle/>
              <a:p>
                <a:r>
                  <a:rPr lang="en-US" altLang="zh-CN" sz="2400" b="1" dirty="0"/>
                  <a:t>QUEUE[0..M–1]</a:t>
                </a:r>
              </a:p>
              <a:p>
                <a:r>
                  <a:rPr lang="en-US" altLang="zh-CN" sz="1600" b="1" dirty="0"/>
                  <a:t>             0       1        2      3        4       5                                              </a:t>
                </a:r>
                <a:r>
                  <a:rPr lang="en-US" altLang="zh-CN" sz="1400" b="1" dirty="0"/>
                  <a:t>M-1</a:t>
                </a:r>
              </a:p>
            </p:txBody>
          </p:sp>
          <p:sp>
            <p:nvSpPr>
              <p:cNvPr id="30750" name="Text Box 93"/>
              <p:cNvSpPr txBox="1">
                <a:spLocks noChangeArrowheads="1"/>
              </p:cNvSpPr>
              <p:nvPr/>
            </p:nvSpPr>
            <p:spPr bwMode="auto">
              <a:xfrm>
                <a:off x="1740" y="2052"/>
                <a:ext cx="228" cy="327"/>
              </a:xfrm>
              <a:prstGeom prst="rect">
                <a:avLst/>
              </a:prstGeom>
              <a:noFill/>
              <a:ln w="12700" cap="sq">
                <a:noFill/>
                <a:miter lim="800000"/>
                <a:headEnd type="none" w="sm" len="sm"/>
                <a:tailEnd type="none" w="sm" len="sm"/>
              </a:ln>
            </p:spPr>
            <p:txBody>
              <a:bodyPr wrap="none">
                <a:spAutoFit/>
              </a:bodyPr>
              <a:lstStyle/>
              <a:p>
                <a:r>
                  <a:rPr lang="en-US" altLang="zh-CN" sz="2800" b="1">
                    <a:solidFill>
                      <a:schemeClr val="bg1"/>
                    </a:solidFill>
                  </a:rPr>
                  <a:t>a</a:t>
                </a:r>
              </a:p>
            </p:txBody>
          </p:sp>
          <p:sp>
            <p:nvSpPr>
              <p:cNvPr id="30751" name="Text Box 94"/>
              <p:cNvSpPr txBox="1">
                <a:spLocks noChangeArrowheads="1"/>
              </p:cNvSpPr>
              <p:nvPr/>
            </p:nvSpPr>
            <p:spPr bwMode="auto">
              <a:xfrm>
                <a:off x="2064" y="2076"/>
                <a:ext cx="229" cy="330"/>
              </a:xfrm>
              <a:prstGeom prst="rect">
                <a:avLst/>
              </a:prstGeom>
              <a:noFill/>
              <a:ln w="12700" cap="sq">
                <a:noFill/>
                <a:miter lim="800000"/>
                <a:headEnd type="none" w="sm" len="sm"/>
                <a:tailEnd type="none" w="sm" len="sm"/>
              </a:ln>
            </p:spPr>
            <p:txBody>
              <a:bodyPr wrap="none">
                <a:spAutoFit/>
              </a:bodyPr>
              <a:lstStyle/>
              <a:p>
                <a:r>
                  <a:rPr lang="en-US" altLang="zh-CN" sz="2800" b="1" dirty="0"/>
                  <a:t>b</a:t>
                </a:r>
              </a:p>
            </p:txBody>
          </p:sp>
          <p:sp>
            <p:nvSpPr>
              <p:cNvPr id="30752" name="Text Box 95"/>
              <p:cNvSpPr txBox="1">
                <a:spLocks noChangeArrowheads="1"/>
              </p:cNvSpPr>
              <p:nvPr/>
            </p:nvSpPr>
            <p:spPr bwMode="auto">
              <a:xfrm>
                <a:off x="2327" y="2064"/>
                <a:ext cx="219" cy="330"/>
              </a:xfrm>
              <a:prstGeom prst="rect">
                <a:avLst/>
              </a:prstGeom>
              <a:noFill/>
              <a:ln w="12700" cap="sq">
                <a:noFill/>
                <a:miter lim="800000"/>
                <a:headEnd type="none" w="sm" len="sm"/>
                <a:tailEnd type="none" w="sm" len="sm"/>
              </a:ln>
            </p:spPr>
            <p:txBody>
              <a:bodyPr wrap="none">
                <a:spAutoFit/>
              </a:bodyPr>
              <a:lstStyle/>
              <a:p>
                <a:r>
                  <a:rPr lang="en-US" altLang="zh-CN" sz="2800" b="1" dirty="0"/>
                  <a:t>c</a:t>
                </a:r>
              </a:p>
            </p:txBody>
          </p:sp>
          <p:sp>
            <p:nvSpPr>
              <p:cNvPr id="30753" name="Text Box 96"/>
              <p:cNvSpPr txBox="1">
                <a:spLocks noChangeArrowheads="1"/>
              </p:cNvSpPr>
              <p:nvPr/>
            </p:nvSpPr>
            <p:spPr bwMode="auto">
              <a:xfrm>
                <a:off x="2639" y="2073"/>
                <a:ext cx="229" cy="330"/>
              </a:xfrm>
              <a:prstGeom prst="rect">
                <a:avLst/>
              </a:prstGeom>
              <a:noFill/>
              <a:ln w="12700" cap="sq">
                <a:noFill/>
                <a:miter lim="800000"/>
                <a:headEnd type="none" w="sm" len="sm"/>
                <a:tailEnd type="none" w="sm" len="sm"/>
              </a:ln>
            </p:spPr>
            <p:txBody>
              <a:bodyPr wrap="none">
                <a:spAutoFit/>
              </a:bodyPr>
              <a:lstStyle/>
              <a:p>
                <a:r>
                  <a:rPr lang="en-US" altLang="zh-CN" sz="2800" b="1">
                    <a:solidFill>
                      <a:schemeClr val="bg1"/>
                    </a:solidFill>
                  </a:rPr>
                  <a:t>d</a:t>
                </a:r>
              </a:p>
            </p:txBody>
          </p:sp>
          <p:sp>
            <p:nvSpPr>
              <p:cNvPr id="30754" name="Rectangle 97"/>
              <p:cNvSpPr>
                <a:spLocks noChangeArrowheads="1"/>
              </p:cNvSpPr>
              <p:nvPr/>
            </p:nvSpPr>
            <p:spPr bwMode="auto">
              <a:xfrm>
                <a:off x="2304" y="2120"/>
                <a:ext cx="288" cy="240"/>
              </a:xfrm>
              <a:prstGeom prst="rect">
                <a:avLst/>
              </a:prstGeom>
              <a:noFill/>
              <a:ln w="19050" cap="sq">
                <a:solidFill>
                  <a:srgbClr val="003366"/>
                </a:solidFill>
                <a:miter lim="800000"/>
                <a:headEnd type="none" w="sm" len="sm"/>
                <a:tailEnd type="none" w="sm" len="sm"/>
              </a:ln>
            </p:spPr>
            <p:txBody>
              <a:bodyPr wrap="none" anchor="ctr"/>
              <a:lstStyle/>
              <a:p>
                <a:endParaRPr lang="zh-CN" altLang="en-US" dirty="0"/>
              </a:p>
            </p:txBody>
          </p:sp>
        </p:grpSp>
        <p:sp>
          <p:nvSpPr>
            <p:cNvPr id="30727" name="Text Box 98"/>
            <p:cNvSpPr txBox="1">
              <a:spLocks noChangeArrowheads="1"/>
            </p:cNvSpPr>
            <p:nvPr/>
          </p:nvSpPr>
          <p:spPr bwMode="auto">
            <a:xfrm>
              <a:off x="2763" y="1771"/>
              <a:ext cx="228" cy="327"/>
            </a:xfrm>
            <a:prstGeom prst="rect">
              <a:avLst/>
            </a:prstGeom>
            <a:noFill/>
            <a:ln w="12700" cap="sq">
              <a:noFill/>
              <a:miter lim="800000"/>
              <a:headEnd type="none" w="sm" len="sm"/>
              <a:tailEnd type="none" w="sm" len="sm"/>
            </a:ln>
          </p:spPr>
          <p:txBody>
            <a:bodyPr wrap="none">
              <a:spAutoFit/>
            </a:bodyPr>
            <a:lstStyle/>
            <a:p>
              <a:r>
                <a:rPr lang="en-US" altLang="zh-CN" sz="2800" b="1" dirty="0">
                  <a:solidFill>
                    <a:srgbClr val="00FF00"/>
                  </a:solidFill>
                </a:rPr>
                <a:t>a</a:t>
              </a:r>
            </a:p>
          </p:txBody>
        </p:sp>
        <p:sp>
          <p:nvSpPr>
            <p:cNvPr id="30728" name="Rectangle 99"/>
            <p:cNvSpPr>
              <a:spLocks noChangeArrowheads="1"/>
            </p:cNvSpPr>
            <p:nvPr/>
          </p:nvSpPr>
          <p:spPr bwMode="auto">
            <a:xfrm>
              <a:off x="3663" y="1795"/>
              <a:ext cx="229" cy="330"/>
            </a:xfrm>
            <a:prstGeom prst="rect">
              <a:avLst/>
            </a:prstGeom>
            <a:noFill/>
            <a:ln w="12700" cap="sq">
              <a:noFill/>
              <a:miter lim="800000"/>
              <a:headEnd type="none" w="sm" len="sm"/>
              <a:tailEnd type="none" w="sm" len="sm"/>
            </a:ln>
          </p:spPr>
          <p:txBody>
            <a:bodyPr wrap="none">
              <a:spAutoFit/>
            </a:bodyPr>
            <a:lstStyle/>
            <a:p>
              <a:r>
                <a:rPr lang="en-US" altLang="zh-CN" sz="2800" b="1" dirty="0">
                  <a:solidFill>
                    <a:srgbClr val="FF00FF"/>
                  </a:solidFill>
                </a:rPr>
                <a:t>d</a:t>
              </a:r>
              <a:endParaRPr lang="zh-CN" altLang="en-US" sz="2800" b="1" dirty="0">
                <a:solidFill>
                  <a:srgbClr val="FF00FF"/>
                </a:solidFill>
              </a:endParaRPr>
            </a:p>
          </p:txBody>
        </p:sp>
        <p:grpSp>
          <p:nvGrpSpPr>
            <p:cNvPr id="5" name="Group 100"/>
            <p:cNvGrpSpPr>
              <a:grpSpLocks/>
            </p:cNvGrpSpPr>
            <p:nvPr/>
          </p:nvGrpSpPr>
          <p:grpSpPr bwMode="auto">
            <a:xfrm>
              <a:off x="3567" y="2124"/>
              <a:ext cx="608" cy="410"/>
              <a:chOff x="2544" y="2280"/>
              <a:chExt cx="608" cy="410"/>
            </a:xfrm>
          </p:grpSpPr>
          <p:sp>
            <p:nvSpPr>
              <p:cNvPr id="30738" name="Text Box 101"/>
              <p:cNvSpPr txBox="1">
                <a:spLocks noChangeArrowheads="1"/>
              </p:cNvSpPr>
              <p:nvPr/>
            </p:nvSpPr>
            <p:spPr bwMode="auto">
              <a:xfrm>
                <a:off x="2544" y="2421"/>
                <a:ext cx="608" cy="269"/>
              </a:xfrm>
              <a:prstGeom prst="rect">
                <a:avLst/>
              </a:prstGeom>
              <a:noFill/>
              <a:ln w="12700" cap="sq">
                <a:noFill/>
                <a:miter lim="800000"/>
                <a:headEnd type="none" w="sm" len="sm"/>
                <a:tailEnd type="none" w="sm" len="sm"/>
              </a:ln>
            </p:spPr>
            <p:txBody>
              <a:bodyPr>
                <a:spAutoFit/>
              </a:bodyPr>
              <a:lstStyle/>
              <a:p>
                <a:r>
                  <a:rPr lang="en-US" altLang="zh-CN" sz="2200" b="1">
                    <a:solidFill>
                      <a:srgbClr val="000066"/>
                    </a:solidFill>
                  </a:rPr>
                  <a:t>rear</a:t>
                </a:r>
              </a:p>
            </p:txBody>
          </p:sp>
          <p:sp>
            <p:nvSpPr>
              <p:cNvPr id="30739" name="AutoShape 102"/>
              <p:cNvSpPr>
                <a:spLocks noChangeArrowheads="1"/>
              </p:cNvSpPr>
              <p:nvPr/>
            </p:nvSpPr>
            <p:spPr bwMode="auto">
              <a:xfrm>
                <a:off x="2693" y="2280"/>
                <a:ext cx="91" cy="181"/>
              </a:xfrm>
              <a:prstGeom prst="upArrow">
                <a:avLst>
                  <a:gd name="adj1" fmla="val 50000"/>
                  <a:gd name="adj2" fmla="val 49725"/>
                </a:avLst>
              </a:prstGeom>
              <a:solidFill>
                <a:srgbClr val="FF0000"/>
              </a:solidFill>
              <a:ln w="31750" cap="sq">
                <a:solidFill>
                  <a:srgbClr val="FFFF00"/>
                </a:solidFill>
                <a:miter lim="800000"/>
                <a:headEnd type="none" w="sm" len="sm"/>
                <a:tailEnd type="none" w="sm" len="sm"/>
              </a:ln>
              <a:effectLst>
                <a:outerShdw dist="12700" dir="5400000" algn="ctr" rotWithShape="0">
                  <a:srgbClr val="000000"/>
                </a:outerShdw>
              </a:effectLst>
            </p:spPr>
            <p:txBody>
              <a:bodyPr vert="eaVert" wrap="none" anchor="ctr"/>
              <a:lstStyle/>
              <a:p>
                <a:endParaRPr lang="zh-CN" altLang="en-US"/>
              </a:p>
            </p:txBody>
          </p:sp>
        </p:grpSp>
        <p:grpSp>
          <p:nvGrpSpPr>
            <p:cNvPr id="6" name="Group 103"/>
            <p:cNvGrpSpPr>
              <a:grpSpLocks/>
            </p:cNvGrpSpPr>
            <p:nvPr/>
          </p:nvGrpSpPr>
          <p:grpSpPr bwMode="auto">
            <a:xfrm>
              <a:off x="2401" y="2119"/>
              <a:ext cx="608" cy="415"/>
              <a:chOff x="1378" y="2275"/>
              <a:chExt cx="608" cy="415"/>
            </a:xfrm>
          </p:grpSpPr>
          <p:sp>
            <p:nvSpPr>
              <p:cNvPr id="30736" name="Text Box 104"/>
              <p:cNvSpPr txBox="1">
                <a:spLocks noChangeArrowheads="1"/>
              </p:cNvSpPr>
              <p:nvPr/>
            </p:nvSpPr>
            <p:spPr bwMode="auto">
              <a:xfrm>
                <a:off x="1378" y="2421"/>
                <a:ext cx="608" cy="269"/>
              </a:xfrm>
              <a:prstGeom prst="rect">
                <a:avLst/>
              </a:prstGeom>
              <a:noFill/>
              <a:ln w="12700" cap="sq">
                <a:noFill/>
                <a:miter lim="800000"/>
                <a:headEnd type="none" w="sm" len="sm"/>
                <a:tailEnd type="none" w="sm" len="sm"/>
              </a:ln>
            </p:spPr>
            <p:txBody>
              <a:bodyPr>
                <a:spAutoFit/>
              </a:bodyPr>
              <a:lstStyle/>
              <a:p>
                <a:r>
                  <a:rPr lang="en-US" altLang="zh-CN" sz="2200" b="1">
                    <a:solidFill>
                      <a:srgbClr val="000066"/>
                    </a:solidFill>
                  </a:rPr>
                  <a:t>Front</a:t>
                </a:r>
                <a:endParaRPr lang="zh-CN" altLang="en-US" sz="2200" b="1">
                  <a:solidFill>
                    <a:srgbClr val="000066"/>
                  </a:solidFill>
                </a:endParaRPr>
              </a:p>
            </p:txBody>
          </p:sp>
          <p:sp>
            <p:nvSpPr>
              <p:cNvPr id="30737" name="AutoShape 105"/>
              <p:cNvSpPr>
                <a:spLocks noChangeArrowheads="1"/>
              </p:cNvSpPr>
              <p:nvPr/>
            </p:nvSpPr>
            <p:spPr bwMode="auto">
              <a:xfrm>
                <a:off x="1565" y="2275"/>
                <a:ext cx="91" cy="181"/>
              </a:xfrm>
              <a:prstGeom prst="upArrow">
                <a:avLst>
                  <a:gd name="adj1" fmla="val 50000"/>
                  <a:gd name="adj2" fmla="val 49725"/>
                </a:avLst>
              </a:prstGeom>
              <a:solidFill>
                <a:srgbClr val="FF0000"/>
              </a:solidFill>
              <a:ln w="31750" cap="sq">
                <a:solidFill>
                  <a:srgbClr val="FFFF00"/>
                </a:solidFill>
                <a:miter lim="800000"/>
                <a:headEnd type="none" w="sm" len="sm"/>
                <a:tailEnd type="none" w="sm" len="sm"/>
              </a:ln>
              <a:effectLst>
                <a:outerShdw dist="12700" dir="5400000" algn="ctr" rotWithShape="0">
                  <a:srgbClr val="000000"/>
                </a:outerShdw>
              </a:effectLst>
            </p:spPr>
            <p:txBody>
              <a:bodyPr vert="eaVert" wrap="none" anchor="ctr"/>
              <a:lstStyle/>
              <a:p>
                <a:endParaRPr lang="zh-CN" altLang="en-US"/>
              </a:p>
            </p:txBody>
          </p:sp>
        </p:grpSp>
        <p:sp>
          <p:nvSpPr>
            <p:cNvPr id="30731" name="Text Box 106"/>
            <p:cNvSpPr txBox="1">
              <a:spLocks noChangeArrowheads="1"/>
            </p:cNvSpPr>
            <p:nvPr/>
          </p:nvSpPr>
          <p:spPr bwMode="auto">
            <a:xfrm>
              <a:off x="2376" y="2518"/>
              <a:ext cx="534" cy="308"/>
            </a:xfrm>
            <a:prstGeom prst="rect">
              <a:avLst/>
            </a:prstGeom>
            <a:noFill/>
            <a:ln w="12700" cap="sq">
              <a:noFill/>
              <a:miter lim="800000"/>
              <a:headEnd type="none" w="sm" len="sm"/>
              <a:tailEnd type="none" w="sm" len="sm"/>
            </a:ln>
            <a:effectLst>
              <a:outerShdw dist="35921" dir="2700000" algn="ctr" rotWithShape="0">
                <a:srgbClr val="000000"/>
              </a:outerShdw>
            </a:effectLst>
          </p:spPr>
          <p:txBody>
            <a:bodyPr wrap="none">
              <a:spAutoFit/>
            </a:bodyPr>
            <a:lstStyle/>
            <a:p>
              <a:r>
                <a:rPr lang="zh-CN" altLang="en-US" sz="2600" b="1">
                  <a:solidFill>
                    <a:srgbClr val="FF3300"/>
                  </a:solidFill>
                  <a:ea typeface="黑体" pitchFamily="2" charset="-122"/>
                </a:rPr>
                <a:t>出队</a:t>
              </a:r>
            </a:p>
          </p:txBody>
        </p:sp>
        <p:sp>
          <p:nvSpPr>
            <p:cNvPr id="30732" name="Text Box 107"/>
            <p:cNvSpPr txBox="1">
              <a:spLocks noChangeArrowheads="1"/>
            </p:cNvSpPr>
            <p:nvPr/>
          </p:nvSpPr>
          <p:spPr bwMode="auto">
            <a:xfrm>
              <a:off x="3482" y="2530"/>
              <a:ext cx="534" cy="308"/>
            </a:xfrm>
            <a:prstGeom prst="rect">
              <a:avLst/>
            </a:prstGeom>
            <a:noFill/>
            <a:ln w="12700" cap="sq">
              <a:noFill/>
              <a:miter lim="800000"/>
              <a:headEnd type="none" w="sm" len="sm"/>
              <a:tailEnd type="none" w="sm" len="sm"/>
            </a:ln>
            <a:effectLst>
              <a:outerShdw dist="35921" dir="2700000" algn="ctr" rotWithShape="0">
                <a:srgbClr val="000000"/>
              </a:outerShdw>
            </a:effectLst>
          </p:spPr>
          <p:txBody>
            <a:bodyPr wrap="none">
              <a:spAutoFit/>
            </a:bodyPr>
            <a:lstStyle/>
            <a:p>
              <a:r>
                <a:rPr lang="zh-CN" altLang="en-US" sz="2600" b="1">
                  <a:solidFill>
                    <a:srgbClr val="FF3300"/>
                  </a:solidFill>
                  <a:ea typeface="黑体" pitchFamily="2" charset="-122"/>
                </a:rPr>
                <a:t>进队</a:t>
              </a:r>
            </a:p>
          </p:txBody>
        </p:sp>
        <p:sp>
          <p:nvSpPr>
            <p:cNvPr id="30733" name="Text Box 108"/>
            <p:cNvSpPr txBox="1">
              <a:spLocks noChangeArrowheads="1"/>
            </p:cNvSpPr>
            <p:nvPr/>
          </p:nvSpPr>
          <p:spPr bwMode="auto">
            <a:xfrm>
              <a:off x="3341" y="979"/>
              <a:ext cx="407" cy="233"/>
            </a:xfrm>
            <a:prstGeom prst="rect">
              <a:avLst/>
            </a:prstGeom>
            <a:noFill/>
            <a:ln w="12700" cap="sq">
              <a:noFill/>
              <a:miter lim="800000"/>
              <a:headEnd type="none" w="sm" len="sm"/>
              <a:tailEnd type="none" w="sm" len="sm"/>
            </a:ln>
          </p:spPr>
          <p:txBody>
            <a:bodyPr wrap="none">
              <a:spAutoFit/>
            </a:bodyPr>
            <a:lstStyle/>
            <a:p>
              <a:r>
                <a:rPr lang="zh-CN" altLang="en-US" b="1">
                  <a:solidFill>
                    <a:srgbClr val="000000"/>
                  </a:solidFill>
                  <a:ea typeface="微软雅黑" pitchFamily="34" charset="-122"/>
                </a:rPr>
                <a:t>队列</a:t>
              </a:r>
            </a:p>
          </p:txBody>
        </p:sp>
        <p:sp>
          <p:nvSpPr>
            <p:cNvPr id="30734" name="Text Box 111"/>
            <p:cNvSpPr txBox="1">
              <a:spLocks noChangeArrowheads="1"/>
            </p:cNvSpPr>
            <p:nvPr/>
          </p:nvSpPr>
          <p:spPr bwMode="auto">
            <a:xfrm>
              <a:off x="2471" y="2975"/>
              <a:ext cx="1355" cy="427"/>
            </a:xfrm>
            <a:prstGeom prst="rect">
              <a:avLst/>
            </a:prstGeom>
            <a:noFill/>
            <a:ln w="12700" cap="sq">
              <a:noFill/>
              <a:miter lim="800000"/>
              <a:headEnd type="none" w="sm" len="sm"/>
              <a:tailEnd type="none" w="sm" len="sm"/>
            </a:ln>
            <a:effectLst/>
          </p:spPr>
          <p:txBody>
            <a:bodyPr wrap="none">
              <a:spAutoFit/>
            </a:bodyPr>
            <a:lstStyle/>
            <a:p>
              <a:r>
                <a:rPr lang="zh-CN" altLang="en-US" sz="2000" b="1" dirty="0">
                  <a:solidFill>
                    <a:srgbClr val="800000"/>
                  </a:solidFill>
                  <a:ea typeface="微软雅黑" pitchFamily="34" charset="-122"/>
                </a:rPr>
                <a:t>先进先出</a:t>
              </a:r>
              <a:endParaRPr lang="en-US" altLang="zh-CN" sz="2000" b="1" dirty="0">
                <a:solidFill>
                  <a:srgbClr val="800000"/>
                </a:solidFill>
                <a:ea typeface="微软雅黑" pitchFamily="34" charset="-122"/>
              </a:endParaRPr>
            </a:p>
            <a:p>
              <a:r>
                <a:rPr lang="en-US" altLang="zh-CN" dirty="0">
                  <a:solidFill>
                    <a:srgbClr val="800000"/>
                  </a:solidFill>
                  <a:ea typeface="微软雅黑" pitchFamily="34" charset="-122"/>
                </a:rPr>
                <a:t>(First In First </a:t>
              </a:r>
              <a:r>
                <a:rPr lang="en-US" altLang="zh-CN" dirty="0" err="1">
                  <a:solidFill>
                    <a:srgbClr val="800000"/>
                  </a:solidFill>
                  <a:ea typeface="微软雅黑" pitchFamily="34" charset="-122"/>
                </a:rPr>
                <a:t>Out,</a:t>
              </a:r>
              <a:r>
                <a:rPr lang="en-US" altLang="zh-CN" b="1" dirty="0" err="1">
                  <a:solidFill>
                    <a:srgbClr val="800000"/>
                  </a:solidFill>
                  <a:ea typeface="微软雅黑" pitchFamily="34" charset="-122"/>
                </a:rPr>
                <a:t>FIFO</a:t>
              </a:r>
              <a:r>
                <a:rPr lang="en-US" altLang="zh-CN" dirty="0">
                  <a:solidFill>
                    <a:srgbClr val="800000"/>
                  </a:solidFill>
                  <a:ea typeface="微软雅黑" pitchFamily="34" charset="-122"/>
                </a:rPr>
                <a:t>)</a:t>
              </a:r>
              <a:endParaRPr lang="zh-CN" altLang="en-US" dirty="0">
                <a:solidFill>
                  <a:srgbClr val="800000"/>
                </a:solidFill>
                <a:ea typeface="微软雅黑" pitchFamily="34" charset="-122"/>
              </a:endParaRPr>
            </a:p>
          </p:txBody>
        </p:sp>
        <p:sp>
          <p:nvSpPr>
            <p:cNvPr id="30735" name="Text Box 113"/>
            <p:cNvSpPr txBox="1">
              <a:spLocks noChangeArrowheads="1"/>
            </p:cNvSpPr>
            <p:nvPr/>
          </p:nvSpPr>
          <p:spPr bwMode="auto">
            <a:xfrm>
              <a:off x="3810" y="2890"/>
              <a:ext cx="1837" cy="634"/>
            </a:xfrm>
            <a:prstGeom prst="rect">
              <a:avLst/>
            </a:prstGeom>
            <a:noFill/>
            <a:ln w="12700" cap="sq">
              <a:noFill/>
              <a:miter lim="800000"/>
              <a:headEnd type="none" w="sm" len="sm"/>
              <a:tailEnd type="none" w="sm" len="sm"/>
            </a:ln>
          </p:spPr>
          <p:txBody>
            <a:bodyPr>
              <a:spAutoFit/>
            </a:bodyPr>
            <a:lstStyle/>
            <a:p>
              <a:r>
                <a:rPr lang="zh-CN" altLang="en-US" sz="2000" b="1">
                  <a:solidFill>
                    <a:srgbClr val="000066"/>
                  </a:solidFill>
                  <a:ea typeface="微软雅黑" pitchFamily="34" charset="-122"/>
                </a:rPr>
                <a:t>适于存放需要按一定次序依次处理但尚未处理的数据</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xit" presetSubtype="0" fill="hold" nodeType="clickEffect">
                                  <p:stCondLst>
                                    <p:cond delay="0"/>
                                  </p:stCondLst>
                                  <p:childTnLst>
                                    <p:set>
                                      <p:cBhvr>
                                        <p:cTn id="12" dur="1" fill="hold">
                                          <p:stCondLst>
                                            <p:cond delay="0"/>
                                          </p:stCondLst>
                                        </p:cTn>
                                        <p:tgtEl>
                                          <p:spTgt spid="2"/>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ppt_x"/>
                                          </p:val>
                                        </p:tav>
                                        <p:tav tm="100000">
                                          <p:val>
                                            <p:strVal val="#ppt_x"/>
                                          </p:val>
                                        </p:tav>
                                      </p:tavLst>
                                    </p:anim>
                                    <p:anim calcmode="lin" valueType="num">
                                      <p:cBhvr additive="base">
                                        <p:cTn id="2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07309"/>
                                        </p:tgtEl>
                                        <p:attrNameLst>
                                          <p:attrName>style.visibility</p:attrName>
                                        </p:attrNameLst>
                                      </p:cBhvr>
                                      <p:to>
                                        <p:strVal val="visible"/>
                                      </p:to>
                                    </p:set>
                                    <p:anim calcmode="lin" valueType="num">
                                      <p:cBhvr additive="base">
                                        <p:cTn id="29" dur="500" fill="hold"/>
                                        <p:tgtEl>
                                          <p:spTgt spid="307309"/>
                                        </p:tgtEl>
                                        <p:attrNameLst>
                                          <p:attrName>ppt_x</p:attrName>
                                        </p:attrNameLst>
                                      </p:cBhvr>
                                      <p:tavLst>
                                        <p:tav tm="0">
                                          <p:val>
                                            <p:strVal val="#ppt_x"/>
                                          </p:val>
                                        </p:tav>
                                        <p:tav tm="100000">
                                          <p:val>
                                            <p:strVal val="#ppt_x"/>
                                          </p:val>
                                        </p:tav>
                                      </p:tavLst>
                                    </p:anim>
                                    <p:anim calcmode="lin" valueType="num">
                                      <p:cBhvr additive="base">
                                        <p:cTn id="30" dur="500" fill="hold"/>
                                        <p:tgtEl>
                                          <p:spTgt spid="3073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30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2279576" y="692696"/>
            <a:ext cx="7391400" cy="4953000"/>
          </a:xfrm>
          <a:prstGeom prst="rect">
            <a:avLst/>
          </a:prstGeom>
          <a:gradFill rotWithShape="0">
            <a:gsLst>
              <a:gs pos="0">
                <a:srgbClr val="0000FF"/>
              </a:gs>
              <a:gs pos="100000">
                <a:srgbClr val="000076"/>
              </a:gs>
            </a:gsLst>
            <a:path path="rect">
              <a:fillToRect r="100000" b="100000"/>
            </a:path>
          </a:gradFill>
          <a:ln w="12700" cap="sq">
            <a:noFill/>
            <a:miter lim="800000"/>
            <a:headEnd type="none" w="sm" len="sm"/>
            <a:tailEnd type="none" w="sm" len="sm"/>
          </a:ln>
          <a:effectLst>
            <a:outerShdw dist="278533" dir="2810857" algn="ctr" rotWithShape="0">
              <a:srgbClr val="B2B2B2"/>
            </a:outerShdw>
          </a:effectLst>
        </p:spPr>
        <p:txBody>
          <a:bodyPr wrap="none" anchor="ctr"/>
          <a:lstStyle/>
          <a:p>
            <a:endParaRPr lang="zh-CN" altLang="en-US"/>
          </a:p>
        </p:txBody>
      </p:sp>
      <p:sp>
        <p:nvSpPr>
          <p:cNvPr id="305155" name="Rectangle 3"/>
          <p:cNvSpPr>
            <a:spLocks noChangeArrowheads="1"/>
          </p:cNvSpPr>
          <p:nvPr/>
        </p:nvSpPr>
        <p:spPr bwMode="auto">
          <a:xfrm>
            <a:off x="3048000" y="1530350"/>
            <a:ext cx="4724400" cy="533400"/>
          </a:xfrm>
          <a:prstGeom prst="rect">
            <a:avLst/>
          </a:prstGeom>
          <a:noFill/>
          <a:ln w="9525">
            <a:noFill/>
            <a:miter lim="800000"/>
            <a:headEnd/>
            <a:tailEnd/>
          </a:ln>
        </p:spPr>
        <p:txBody>
          <a:bodyPr lIns="92075" tIns="46038" rIns="92075" bIns="46038"/>
          <a:lstStyle/>
          <a:p>
            <a:pPr marL="342900" indent="-342900">
              <a:lnSpc>
                <a:spcPct val="90000"/>
              </a:lnSpc>
              <a:spcBef>
                <a:spcPct val="20000"/>
              </a:spcBef>
              <a:buClr>
                <a:schemeClr val="tx2"/>
              </a:buClr>
            </a:pPr>
            <a:r>
              <a:rPr kumimoji="1" lang="en-US" altLang="zh-CN" sz="2800" b="1" dirty="0">
                <a:solidFill>
                  <a:srgbClr val="FFFF00"/>
                </a:solidFill>
                <a:ea typeface="幼圆" pitchFamily="49" charset="-122"/>
              </a:rPr>
              <a:t>3</a:t>
            </a:r>
            <a:r>
              <a:rPr kumimoji="1" lang="zh-CN" altLang="en-US" sz="2800" b="1" dirty="0">
                <a:solidFill>
                  <a:srgbClr val="FFFF00"/>
                </a:solidFill>
                <a:ea typeface="幼圆" pitchFamily="49" charset="-122"/>
              </a:rPr>
              <a:t>.1</a:t>
            </a:r>
            <a:r>
              <a:rPr kumimoji="1" lang="zh-CN" altLang="en-US" sz="2800" b="1" dirty="0">
                <a:solidFill>
                  <a:srgbClr val="FFFF00"/>
                </a:solidFill>
                <a:latin typeface="幼圆" pitchFamily="49" charset="-122"/>
                <a:ea typeface="幼圆" pitchFamily="49" charset="-122"/>
              </a:rPr>
              <a:t> 栈的基本概念</a:t>
            </a:r>
            <a:endParaRPr kumimoji="1" lang="zh-CN" altLang="en-US" sz="2800" b="1" dirty="0">
              <a:solidFill>
                <a:srgbClr val="00FFCC"/>
              </a:solidFill>
              <a:latin typeface="幼圆" pitchFamily="49" charset="-122"/>
              <a:ea typeface="幼圆" pitchFamily="49" charset="-122"/>
            </a:endParaRPr>
          </a:p>
        </p:txBody>
      </p:sp>
      <p:sp>
        <p:nvSpPr>
          <p:cNvPr id="305156" name="Rectangle 4"/>
          <p:cNvSpPr>
            <a:spLocks noChangeArrowheads="1"/>
          </p:cNvSpPr>
          <p:nvPr/>
        </p:nvSpPr>
        <p:spPr bwMode="auto">
          <a:xfrm>
            <a:off x="3048000" y="1946275"/>
            <a:ext cx="5181600" cy="523220"/>
          </a:xfrm>
          <a:prstGeom prst="rect">
            <a:avLst/>
          </a:prstGeom>
          <a:noFill/>
          <a:ln w="12700" cap="sq">
            <a:noFill/>
            <a:miter lim="800000"/>
            <a:headEnd type="none" w="sm" len="sm"/>
            <a:tailEnd type="none" w="sm" len="sm"/>
          </a:ln>
        </p:spPr>
        <p:txBody>
          <a:bodyPr>
            <a:spAutoFit/>
          </a:bodyPr>
          <a:lstStyle/>
          <a:p>
            <a:pPr eaLnBrk="1" hangingPunct="1">
              <a:spcBef>
                <a:spcPct val="20000"/>
              </a:spcBef>
              <a:buClr>
                <a:schemeClr val="tx2"/>
              </a:buClr>
            </a:pPr>
            <a:r>
              <a:rPr kumimoji="1" lang="en-US" altLang="zh-CN" sz="2800" b="1" dirty="0">
                <a:solidFill>
                  <a:srgbClr val="FFFF00"/>
                </a:solidFill>
                <a:ea typeface="幼圆" pitchFamily="49" charset="-122"/>
              </a:rPr>
              <a:t>3</a:t>
            </a:r>
            <a:r>
              <a:rPr kumimoji="1" lang="zh-CN" altLang="en-US" sz="2800" b="1" dirty="0">
                <a:solidFill>
                  <a:srgbClr val="FFFF00"/>
                </a:solidFill>
                <a:ea typeface="幼圆" pitchFamily="49" charset="-122"/>
              </a:rPr>
              <a:t>.2</a:t>
            </a:r>
            <a:r>
              <a:rPr kumimoji="1" lang="zh-CN" altLang="en-US" sz="2800" b="1" dirty="0">
                <a:solidFill>
                  <a:srgbClr val="FFFF00"/>
                </a:solidFill>
                <a:latin typeface="幼圆" pitchFamily="49" charset="-122"/>
                <a:ea typeface="幼圆" pitchFamily="49" charset="-122"/>
              </a:rPr>
              <a:t> 栈的顺序存储结构</a:t>
            </a:r>
            <a:endParaRPr kumimoji="1" lang="zh-CN" altLang="en-US" sz="2800" b="1" dirty="0">
              <a:solidFill>
                <a:srgbClr val="00FFCC"/>
              </a:solidFill>
              <a:latin typeface="幼圆" pitchFamily="49" charset="-122"/>
              <a:ea typeface="幼圆" pitchFamily="49" charset="-122"/>
            </a:endParaRPr>
          </a:p>
        </p:txBody>
      </p:sp>
      <p:sp>
        <p:nvSpPr>
          <p:cNvPr id="305157" name="Rectangle 5">
            <a:hlinkClick r:id="rId2" action="ppaction://hlinksldjump"/>
          </p:cNvPr>
          <p:cNvSpPr>
            <a:spLocks noChangeArrowheads="1"/>
          </p:cNvSpPr>
          <p:nvPr/>
        </p:nvSpPr>
        <p:spPr bwMode="auto">
          <a:xfrm>
            <a:off x="3048000" y="2433638"/>
            <a:ext cx="5029200" cy="523220"/>
          </a:xfrm>
          <a:prstGeom prst="rect">
            <a:avLst/>
          </a:prstGeom>
          <a:noFill/>
          <a:ln w="12700" cap="sq">
            <a:noFill/>
            <a:miter lim="800000"/>
            <a:headEnd type="none" w="sm" len="sm"/>
            <a:tailEnd type="none" w="sm" len="sm"/>
          </a:ln>
        </p:spPr>
        <p:txBody>
          <a:bodyPr>
            <a:spAutoFit/>
          </a:bodyPr>
          <a:lstStyle/>
          <a:p>
            <a:pPr eaLnBrk="1" hangingPunct="1">
              <a:spcBef>
                <a:spcPct val="20000"/>
              </a:spcBef>
              <a:buClr>
                <a:schemeClr val="tx2"/>
              </a:buClr>
            </a:pPr>
            <a:r>
              <a:rPr kumimoji="1" lang="en-US" altLang="zh-CN" sz="2800" b="1" dirty="0">
                <a:solidFill>
                  <a:srgbClr val="FFFF00"/>
                </a:solidFill>
                <a:ea typeface="幼圆" pitchFamily="49" charset="-122"/>
              </a:rPr>
              <a:t>3</a:t>
            </a:r>
            <a:r>
              <a:rPr kumimoji="1" lang="zh-CN" altLang="en-US" sz="2800" b="1" dirty="0">
                <a:solidFill>
                  <a:srgbClr val="FFFF00"/>
                </a:solidFill>
                <a:ea typeface="幼圆" pitchFamily="49" charset="-122"/>
              </a:rPr>
              <a:t>.3</a:t>
            </a:r>
            <a:r>
              <a:rPr kumimoji="1" lang="zh-CN" altLang="en-US" sz="2800" b="1" dirty="0">
                <a:solidFill>
                  <a:srgbClr val="FFFF00"/>
                </a:solidFill>
                <a:latin typeface="幼圆" pitchFamily="49" charset="-122"/>
                <a:ea typeface="幼圆" pitchFamily="49" charset="-122"/>
              </a:rPr>
              <a:t> 栈的链式存储结构</a:t>
            </a:r>
            <a:endParaRPr kumimoji="1" lang="zh-CN" altLang="en-US" sz="2800" b="1" dirty="0">
              <a:solidFill>
                <a:srgbClr val="00FFCC"/>
              </a:solidFill>
              <a:latin typeface="幼圆" pitchFamily="49" charset="-122"/>
              <a:ea typeface="幼圆" pitchFamily="49" charset="-122"/>
            </a:endParaRPr>
          </a:p>
        </p:txBody>
      </p:sp>
      <p:sp>
        <p:nvSpPr>
          <p:cNvPr id="305159" name="Rectangle 7">
            <a:hlinkClick r:id="rId3" action="ppaction://hlinksldjump"/>
          </p:cNvPr>
          <p:cNvSpPr>
            <a:spLocks noChangeArrowheads="1"/>
          </p:cNvSpPr>
          <p:nvPr/>
        </p:nvSpPr>
        <p:spPr bwMode="auto">
          <a:xfrm>
            <a:off x="3048000" y="3400425"/>
            <a:ext cx="4191000" cy="523220"/>
          </a:xfrm>
          <a:prstGeom prst="rect">
            <a:avLst/>
          </a:prstGeom>
          <a:noFill/>
          <a:ln w="12700" cap="sq">
            <a:noFill/>
            <a:miter lim="800000"/>
            <a:headEnd type="none" w="sm" len="sm"/>
            <a:tailEnd type="none" w="sm" len="sm"/>
          </a:ln>
        </p:spPr>
        <p:txBody>
          <a:bodyPr>
            <a:spAutoFit/>
          </a:bodyPr>
          <a:lstStyle/>
          <a:p>
            <a:pPr eaLnBrk="1" hangingPunct="1">
              <a:spcBef>
                <a:spcPct val="20000"/>
              </a:spcBef>
              <a:buClr>
                <a:schemeClr val="tx2"/>
              </a:buClr>
            </a:pPr>
            <a:r>
              <a:rPr kumimoji="1" lang="en-US" altLang="zh-CN" sz="2800" b="1" dirty="0">
                <a:solidFill>
                  <a:srgbClr val="FFFF00"/>
                </a:solidFill>
                <a:ea typeface="幼圆" pitchFamily="49" charset="-122"/>
              </a:rPr>
              <a:t>3</a:t>
            </a:r>
            <a:r>
              <a:rPr kumimoji="1" lang="zh-CN" altLang="en-US" sz="2800" b="1" dirty="0">
                <a:solidFill>
                  <a:srgbClr val="FFFF00"/>
                </a:solidFill>
                <a:ea typeface="幼圆" pitchFamily="49" charset="-122"/>
              </a:rPr>
              <a:t>.</a:t>
            </a:r>
            <a:r>
              <a:rPr kumimoji="1" lang="en-US" altLang="zh-CN" sz="2800" b="1" dirty="0">
                <a:solidFill>
                  <a:srgbClr val="FFFF00"/>
                </a:solidFill>
                <a:ea typeface="幼圆" pitchFamily="49" charset="-122"/>
              </a:rPr>
              <a:t>4</a:t>
            </a:r>
            <a:r>
              <a:rPr kumimoji="1" lang="en-US" altLang="zh-CN" sz="2800" b="1" dirty="0">
                <a:solidFill>
                  <a:srgbClr val="FFFF00"/>
                </a:solidFill>
                <a:latin typeface="幼圆" pitchFamily="49" charset="-122"/>
                <a:ea typeface="幼圆" pitchFamily="49" charset="-122"/>
              </a:rPr>
              <a:t> </a:t>
            </a:r>
            <a:r>
              <a:rPr kumimoji="1" lang="zh-CN" altLang="en-US" sz="2800" b="1" dirty="0">
                <a:solidFill>
                  <a:srgbClr val="FFFF00"/>
                </a:solidFill>
                <a:latin typeface="幼圆" pitchFamily="49" charset="-122"/>
                <a:ea typeface="幼圆" pitchFamily="49" charset="-122"/>
              </a:rPr>
              <a:t>队的基本概念</a:t>
            </a:r>
            <a:endParaRPr kumimoji="1" lang="zh-CN" altLang="en-US" sz="2800" b="1" dirty="0">
              <a:solidFill>
                <a:srgbClr val="00FFCC"/>
              </a:solidFill>
              <a:latin typeface="幼圆" pitchFamily="49" charset="-122"/>
              <a:ea typeface="幼圆" pitchFamily="49" charset="-122"/>
            </a:endParaRPr>
          </a:p>
        </p:txBody>
      </p:sp>
      <p:sp>
        <p:nvSpPr>
          <p:cNvPr id="305160" name="Rectangle 8">
            <a:hlinkClick r:id="rId4" action="ppaction://hlinksldjump"/>
          </p:cNvPr>
          <p:cNvSpPr>
            <a:spLocks noChangeArrowheads="1"/>
          </p:cNvSpPr>
          <p:nvPr/>
        </p:nvSpPr>
        <p:spPr bwMode="auto">
          <a:xfrm>
            <a:off x="3048000" y="3892550"/>
            <a:ext cx="5715000" cy="523220"/>
          </a:xfrm>
          <a:prstGeom prst="rect">
            <a:avLst/>
          </a:prstGeom>
          <a:noFill/>
          <a:ln w="12700" cap="sq">
            <a:noFill/>
            <a:miter lim="800000"/>
            <a:headEnd type="none" w="sm" len="sm"/>
            <a:tailEnd type="none" w="sm" len="sm"/>
          </a:ln>
        </p:spPr>
        <p:txBody>
          <a:bodyPr>
            <a:spAutoFit/>
          </a:bodyPr>
          <a:lstStyle/>
          <a:p>
            <a:pPr eaLnBrk="1" hangingPunct="1">
              <a:spcBef>
                <a:spcPct val="20000"/>
              </a:spcBef>
              <a:buClr>
                <a:schemeClr val="tx2"/>
              </a:buClr>
            </a:pPr>
            <a:r>
              <a:rPr kumimoji="1" lang="en-US" altLang="zh-CN" sz="2800" b="1" dirty="0">
                <a:solidFill>
                  <a:srgbClr val="FFFF00"/>
                </a:solidFill>
                <a:ea typeface="幼圆" pitchFamily="49" charset="-122"/>
              </a:rPr>
              <a:t>3</a:t>
            </a:r>
            <a:r>
              <a:rPr kumimoji="1" lang="zh-CN" altLang="en-US" sz="2800" b="1" dirty="0">
                <a:solidFill>
                  <a:srgbClr val="FFFF00"/>
                </a:solidFill>
                <a:ea typeface="幼圆" pitchFamily="49" charset="-122"/>
              </a:rPr>
              <a:t>.</a:t>
            </a:r>
            <a:r>
              <a:rPr kumimoji="1" lang="en-US" altLang="zh-CN" sz="2800" b="1" dirty="0">
                <a:solidFill>
                  <a:srgbClr val="FFFF00"/>
                </a:solidFill>
                <a:ea typeface="幼圆" pitchFamily="49" charset="-122"/>
              </a:rPr>
              <a:t>5</a:t>
            </a:r>
            <a:r>
              <a:rPr kumimoji="1" lang="en-US" altLang="zh-CN" sz="2800" b="1" dirty="0">
                <a:solidFill>
                  <a:srgbClr val="FFFF00"/>
                </a:solidFill>
                <a:latin typeface="幼圆" pitchFamily="49" charset="-122"/>
                <a:ea typeface="幼圆" pitchFamily="49" charset="-122"/>
              </a:rPr>
              <a:t> </a:t>
            </a:r>
            <a:r>
              <a:rPr kumimoji="1" lang="zh-CN" altLang="en-US" sz="2800" b="1" dirty="0">
                <a:solidFill>
                  <a:srgbClr val="FFFF00"/>
                </a:solidFill>
                <a:latin typeface="幼圆" pitchFamily="49" charset="-122"/>
                <a:ea typeface="幼圆" pitchFamily="49" charset="-122"/>
              </a:rPr>
              <a:t>队的顺序存储结构</a:t>
            </a:r>
            <a:endParaRPr kumimoji="1" lang="zh-CN" altLang="en-US" sz="2800" b="1" dirty="0">
              <a:solidFill>
                <a:srgbClr val="00FFCC"/>
              </a:solidFill>
              <a:latin typeface="幼圆" pitchFamily="49" charset="-122"/>
              <a:ea typeface="幼圆" pitchFamily="49" charset="-122"/>
            </a:endParaRPr>
          </a:p>
        </p:txBody>
      </p:sp>
      <p:sp>
        <p:nvSpPr>
          <p:cNvPr id="305161" name="Rectangle 9">
            <a:hlinkClick r:id="rId5" action="ppaction://hlinksldjump"/>
          </p:cNvPr>
          <p:cNvSpPr>
            <a:spLocks noChangeArrowheads="1"/>
          </p:cNvSpPr>
          <p:nvPr/>
        </p:nvSpPr>
        <p:spPr bwMode="auto">
          <a:xfrm>
            <a:off x="3048000" y="4384675"/>
            <a:ext cx="5410200" cy="523220"/>
          </a:xfrm>
          <a:prstGeom prst="rect">
            <a:avLst/>
          </a:prstGeom>
          <a:noFill/>
          <a:ln w="12700" cap="sq">
            <a:noFill/>
            <a:miter lim="800000"/>
            <a:headEnd type="none" w="sm" len="sm"/>
            <a:tailEnd type="none" w="sm" len="sm"/>
          </a:ln>
        </p:spPr>
        <p:txBody>
          <a:bodyPr>
            <a:spAutoFit/>
          </a:bodyPr>
          <a:lstStyle/>
          <a:p>
            <a:pPr eaLnBrk="1" hangingPunct="1">
              <a:spcBef>
                <a:spcPct val="20000"/>
              </a:spcBef>
              <a:buClr>
                <a:schemeClr val="tx2"/>
              </a:buClr>
            </a:pPr>
            <a:r>
              <a:rPr kumimoji="1" lang="en-US" altLang="zh-CN" sz="2800" b="1" dirty="0">
                <a:solidFill>
                  <a:srgbClr val="FFFF00"/>
                </a:solidFill>
                <a:ea typeface="幼圆" pitchFamily="49" charset="-122"/>
              </a:rPr>
              <a:t>3</a:t>
            </a:r>
            <a:r>
              <a:rPr kumimoji="1" lang="zh-CN" altLang="en-US" sz="2800" b="1" dirty="0">
                <a:solidFill>
                  <a:srgbClr val="FFFF00"/>
                </a:solidFill>
                <a:ea typeface="幼圆" pitchFamily="49" charset="-122"/>
              </a:rPr>
              <a:t>.</a:t>
            </a:r>
            <a:r>
              <a:rPr kumimoji="1" lang="en-US" altLang="zh-CN" sz="2800" b="1" dirty="0">
                <a:solidFill>
                  <a:srgbClr val="FFFF00"/>
                </a:solidFill>
                <a:ea typeface="幼圆" pitchFamily="49" charset="-122"/>
              </a:rPr>
              <a:t>6</a:t>
            </a:r>
            <a:r>
              <a:rPr kumimoji="1" lang="en-US" altLang="zh-CN" sz="2800" b="1" dirty="0">
                <a:solidFill>
                  <a:srgbClr val="FFFF00"/>
                </a:solidFill>
                <a:latin typeface="幼圆" pitchFamily="49" charset="-122"/>
                <a:ea typeface="幼圆" pitchFamily="49" charset="-122"/>
              </a:rPr>
              <a:t> </a:t>
            </a:r>
            <a:r>
              <a:rPr kumimoji="1" lang="zh-CN" altLang="en-US" sz="2800" b="1" dirty="0">
                <a:solidFill>
                  <a:srgbClr val="FFFF00"/>
                </a:solidFill>
                <a:latin typeface="幼圆" pitchFamily="49" charset="-122"/>
                <a:ea typeface="幼圆" pitchFamily="49" charset="-122"/>
              </a:rPr>
              <a:t>队的链式存储结构</a:t>
            </a:r>
            <a:endParaRPr kumimoji="1" lang="zh-CN" altLang="en-US" sz="2800" b="1" dirty="0">
              <a:solidFill>
                <a:srgbClr val="00FFCC"/>
              </a:solidFill>
              <a:latin typeface="幼圆" pitchFamily="49" charset="-122"/>
              <a:ea typeface="幼圆" pitchFamily="49" charset="-122"/>
            </a:endParaRPr>
          </a:p>
        </p:txBody>
      </p:sp>
      <p:sp>
        <p:nvSpPr>
          <p:cNvPr id="31753" name="AutoShape 10"/>
          <p:cNvSpPr>
            <a:spLocks noChangeArrowheads="1"/>
          </p:cNvSpPr>
          <p:nvPr/>
        </p:nvSpPr>
        <p:spPr bwMode="auto">
          <a:xfrm>
            <a:off x="7485063" y="803275"/>
            <a:ext cx="2819400" cy="838200"/>
          </a:xfrm>
          <a:prstGeom prst="cloudCallout">
            <a:avLst>
              <a:gd name="adj1" fmla="val -48144"/>
              <a:gd name="adj2" fmla="val 82764"/>
            </a:avLst>
          </a:prstGeom>
          <a:solidFill>
            <a:srgbClr val="FFFF97"/>
          </a:solidFill>
          <a:ln w="12700" cap="sq">
            <a:solidFill>
              <a:srgbClr val="969696"/>
            </a:solidFill>
            <a:round/>
            <a:headEnd type="none" w="sm" len="sm"/>
            <a:tailEnd type="none" w="sm" len="sm"/>
          </a:ln>
          <a:effectLst>
            <a:outerShdw dist="109250" dir="2132261" algn="ctr" rotWithShape="0">
              <a:srgbClr val="B2B2B2"/>
            </a:outerShdw>
          </a:effectLst>
        </p:spPr>
        <p:txBody>
          <a:bodyPr/>
          <a:lstStyle/>
          <a:p>
            <a:pPr algn="ctr"/>
            <a:endParaRPr lang="zh-CN" altLang="en-US" sz="2400" b="1"/>
          </a:p>
        </p:txBody>
      </p:sp>
      <p:sp>
        <p:nvSpPr>
          <p:cNvPr id="31754" name="Text Box 11"/>
          <p:cNvSpPr txBox="1">
            <a:spLocks noChangeArrowheads="1"/>
          </p:cNvSpPr>
          <p:nvPr/>
        </p:nvSpPr>
        <p:spPr bwMode="auto">
          <a:xfrm>
            <a:off x="7813675" y="850900"/>
            <a:ext cx="2514600" cy="641350"/>
          </a:xfrm>
          <a:prstGeom prst="rect">
            <a:avLst/>
          </a:prstGeom>
          <a:noFill/>
          <a:ln w="12700" cap="sq">
            <a:noFill/>
            <a:miter lim="800000"/>
            <a:headEnd type="none" w="sm" len="sm"/>
            <a:tailEnd type="none" w="sm" len="sm"/>
          </a:ln>
          <a:effectLst>
            <a:outerShdw dist="28398" dir="1593903" algn="ctr" rotWithShape="0">
              <a:schemeClr val="bg1"/>
            </a:outerShdw>
          </a:effectLst>
        </p:spPr>
        <p:txBody>
          <a:bodyPr>
            <a:spAutoFit/>
          </a:bodyPr>
          <a:lstStyle/>
          <a:p>
            <a:r>
              <a:rPr lang="zh-CN" altLang="en-US" sz="3600" b="1" i="1">
                <a:solidFill>
                  <a:srgbClr val="FF3300"/>
                </a:solidFill>
                <a:ea typeface="黑体" pitchFamily="2" charset="-122"/>
              </a:rPr>
              <a:t>本章内容</a:t>
            </a:r>
          </a:p>
        </p:txBody>
      </p:sp>
      <p:grpSp>
        <p:nvGrpSpPr>
          <p:cNvPr id="2" name="Group 12"/>
          <p:cNvGrpSpPr>
            <a:grpSpLocks/>
          </p:cNvGrpSpPr>
          <p:nvPr/>
        </p:nvGrpSpPr>
        <p:grpSpPr bwMode="auto">
          <a:xfrm>
            <a:off x="8328026" y="1704976"/>
            <a:ext cx="1293813" cy="1076325"/>
            <a:chOff x="3756" y="3310"/>
            <a:chExt cx="815" cy="678"/>
          </a:xfrm>
        </p:grpSpPr>
        <p:sp>
          <p:nvSpPr>
            <p:cNvPr id="31757" name="Rectangle 13"/>
            <p:cNvSpPr>
              <a:spLocks noChangeArrowheads="1"/>
            </p:cNvSpPr>
            <p:nvPr/>
          </p:nvSpPr>
          <p:spPr bwMode="auto">
            <a:xfrm>
              <a:off x="3855" y="3440"/>
              <a:ext cx="635" cy="408"/>
            </a:xfrm>
            <a:prstGeom prst="rect">
              <a:avLst/>
            </a:prstGeom>
            <a:solidFill>
              <a:srgbClr val="D9D9D9"/>
            </a:solidFill>
            <a:ln w="114300">
              <a:solidFill>
                <a:srgbClr val="FF0000"/>
              </a:solidFill>
              <a:miter lim="800000"/>
              <a:headEnd/>
              <a:tailEnd/>
            </a:ln>
          </p:spPr>
          <p:txBody>
            <a:bodyPr wrap="none" anchor="ctr"/>
            <a:lstStyle/>
            <a:p>
              <a:endParaRPr lang="zh-CN" altLang="en-US"/>
            </a:p>
          </p:txBody>
        </p:sp>
        <p:sp>
          <p:nvSpPr>
            <p:cNvPr id="31758" name="Freeform 14"/>
            <p:cNvSpPr>
              <a:spLocks/>
            </p:cNvSpPr>
            <p:nvPr/>
          </p:nvSpPr>
          <p:spPr bwMode="auto">
            <a:xfrm rot="-4617144">
              <a:off x="3760" y="3753"/>
              <a:ext cx="116" cy="34"/>
            </a:xfrm>
            <a:custGeom>
              <a:avLst/>
              <a:gdLst>
                <a:gd name="T0" fmla="*/ 1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1 w 248"/>
                <a:gd name="T25" fmla="*/ 0 h 191"/>
                <a:gd name="T26" fmla="*/ 1 w 248"/>
                <a:gd name="T27" fmla="*/ 0 h 191"/>
                <a:gd name="T28" fmla="*/ 1 w 248"/>
                <a:gd name="T29" fmla="*/ 0 h 191"/>
                <a:gd name="T30" fmla="*/ 1 w 248"/>
                <a:gd name="T31" fmla="*/ 0 h 191"/>
                <a:gd name="T32" fmla="*/ 1 w 248"/>
                <a:gd name="T33" fmla="*/ 0 h 191"/>
                <a:gd name="T34" fmla="*/ 1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headEnd/>
              <a:tailEnd/>
            </a:ln>
          </p:spPr>
          <p:txBody>
            <a:bodyPr wrap="none" anchor="ctr"/>
            <a:lstStyle/>
            <a:p>
              <a:endParaRPr lang="zh-CN" altLang="en-US"/>
            </a:p>
          </p:txBody>
        </p:sp>
        <p:sp>
          <p:nvSpPr>
            <p:cNvPr id="31759" name="Freeform 15"/>
            <p:cNvSpPr>
              <a:spLocks/>
            </p:cNvSpPr>
            <p:nvPr/>
          </p:nvSpPr>
          <p:spPr bwMode="auto">
            <a:xfrm rot="3000623">
              <a:off x="4413" y="3375"/>
              <a:ext cx="141" cy="59"/>
            </a:xfrm>
            <a:custGeom>
              <a:avLst/>
              <a:gdLst>
                <a:gd name="T0" fmla="*/ 3 w 248"/>
                <a:gd name="T1" fmla="*/ 0 h 191"/>
                <a:gd name="T2" fmla="*/ 2 w 248"/>
                <a:gd name="T3" fmla="*/ 0 h 191"/>
                <a:gd name="T4" fmla="*/ 2 w 248"/>
                <a:gd name="T5" fmla="*/ 0 h 191"/>
                <a:gd name="T6" fmla="*/ 1 w 248"/>
                <a:gd name="T7" fmla="*/ 0 h 191"/>
                <a:gd name="T8" fmla="*/ 1 w 248"/>
                <a:gd name="T9" fmla="*/ 0 h 191"/>
                <a:gd name="T10" fmla="*/ 0 w 248"/>
                <a:gd name="T11" fmla="*/ 0 h 191"/>
                <a:gd name="T12" fmla="*/ 1 w 248"/>
                <a:gd name="T13" fmla="*/ 0 h 191"/>
                <a:gd name="T14" fmla="*/ 1 w 248"/>
                <a:gd name="T15" fmla="*/ 0 h 191"/>
                <a:gd name="T16" fmla="*/ 1 w 248"/>
                <a:gd name="T17" fmla="*/ 0 h 191"/>
                <a:gd name="T18" fmla="*/ 1 w 248"/>
                <a:gd name="T19" fmla="*/ 0 h 191"/>
                <a:gd name="T20" fmla="*/ 2 w 248"/>
                <a:gd name="T21" fmla="*/ 0 h 191"/>
                <a:gd name="T22" fmla="*/ 2 w 248"/>
                <a:gd name="T23" fmla="*/ 0 h 191"/>
                <a:gd name="T24" fmla="*/ 3 w 248"/>
                <a:gd name="T25" fmla="*/ 0 h 191"/>
                <a:gd name="T26" fmla="*/ 3 w 248"/>
                <a:gd name="T27" fmla="*/ 0 h 191"/>
                <a:gd name="T28" fmla="*/ 4 w 248"/>
                <a:gd name="T29" fmla="*/ 0 h 191"/>
                <a:gd name="T30" fmla="*/ 5 w 248"/>
                <a:gd name="T31" fmla="*/ 0 h 191"/>
                <a:gd name="T32" fmla="*/ 3 w 248"/>
                <a:gd name="T33" fmla="*/ 0 h 191"/>
                <a:gd name="T34" fmla="*/ 3 w 248"/>
                <a:gd name="T35" fmla="*/ 0 h 191"/>
                <a:gd name="T36" fmla="*/ 3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headEnd/>
              <a:tailEnd/>
            </a:ln>
          </p:spPr>
          <p:txBody>
            <a:bodyPr wrap="none" anchor="ctr"/>
            <a:lstStyle/>
            <a:p>
              <a:endParaRPr lang="zh-CN" altLang="en-US"/>
            </a:p>
          </p:txBody>
        </p:sp>
        <p:sp>
          <p:nvSpPr>
            <p:cNvPr id="31760" name="Freeform 16"/>
            <p:cNvSpPr>
              <a:spLocks/>
            </p:cNvSpPr>
            <p:nvPr/>
          </p:nvSpPr>
          <p:spPr bwMode="auto">
            <a:xfrm rot="18599377" flipH="1">
              <a:off x="4453" y="3813"/>
              <a:ext cx="141" cy="77"/>
            </a:xfrm>
            <a:custGeom>
              <a:avLst/>
              <a:gdLst>
                <a:gd name="T0" fmla="*/ 3 w 248"/>
                <a:gd name="T1" fmla="*/ 0 h 191"/>
                <a:gd name="T2" fmla="*/ 2 w 248"/>
                <a:gd name="T3" fmla="*/ 0 h 191"/>
                <a:gd name="T4" fmla="*/ 2 w 248"/>
                <a:gd name="T5" fmla="*/ 0 h 191"/>
                <a:gd name="T6" fmla="*/ 1 w 248"/>
                <a:gd name="T7" fmla="*/ 0 h 191"/>
                <a:gd name="T8" fmla="*/ 1 w 248"/>
                <a:gd name="T9" fmla="*/ 0 h 191"/>
                <a:gd name="T10" fmla="*/ 0 w 248"/>
                <a:gd name="T11" fmla="*/ 0 h 191"/>
                <a:gd name="T12" fmla="*/ 1 w 248"/>
                <a:gd name="T13" fmla="*/ 0 h 191"/>
                <a:gd name="T14" fmla="*/ 1 w 248"/>
                <a:gd name="T15" fmla="*/ 0 h 191"/>
                <a:gd name="T16" fmla="*/ 1 w 248"/>
                <a:gd name="T17" fmla="*/ 0 h 191"/>
                <a:gd name="T18" fmla="*/ 1 w 248"/>
                <a:gd name="T19" fmla="*/ 0 h 191"/>
                <a:gd name="T20" fmla="*/ 2 w 248"/>
                <a:gd name="T21" fmla="*/ 0 h 191"/>
                <a:gd name="T22" fmla="*/ 2 w 248"/>
                <a:gd name="T23" fmla="*/ 0 h 191"/>
                <a:gd name="T24" fmla="*/ 3 w 248"/>
                <a:gd name="T25" fmla="*/ 0 h 191"/>
                <a:gd name="T26" fmla="*/ 3 w 248"/>
                <a:gd name="T27" fmla="*/ 0 h 191"/>
                <a:gd name="T28" fmla="*/ 4 w 248"/>
                <a:gd name="T29" fmla="*/ 0 h 191"/>
                <a:gd name="T30" fmla="*/ 5 w 248"/>
                <a:gd name="T31" fmla="*/ 0 h 191"/>
                <a:gd name="T32" fmla="*/ 3 w 248"/>
                <a:gd name="T33" fmla="*/ 0 h 191"/>
                <a:gd name="T34" fmla="*/ 3 w 248"/>
                <a:gd name="T35" fmla="*/ 0 h 191"/>
                <a:gd name="T36" fmla="*/ 3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headEnd/>
              <a:tailEnd/>
            </a:ln>
          </p:spPr>
          <p:txBody>
            <a:bodyPr wrap="none" anchor="ctr"/>
            <a:lstStyle/>
            <a:p>
              <a:endParaRPr lang="zh-CN" altLang="en-US"/>
            </a:p>
          </p:txBody>
        </p:sp>
        <p:sp>
          <p:nvSpPr>
            <p:cNvPr id="31761" name="Freeform 17"/>
            <p:cNvSpPr>
              <a:spLocks/>
            </p:cNvSpPr>
            <p:nvPr/>
          </p:nvSpPr>
          <p:spPr bwMode="auto">
            <a:xfrm rot="18599377" flipH="1">
              <a:off x="3965" y="3357"/>
              <a:ext cx="141" cy="48"/>
            </a:xfrm>
            <a:custGeom>
              <a:avLst/>
              <a:gdLst>
                <a:gd name="T0" fmla="*/ 3 w 248"/>
                <a:gd name="T1" fmla="*/ 0 h 191"/>
                <a:gd name="T2" fmla="*/ 2 w 248"/>
                <a:gd name="T3" fmla="*/ 0 h 191"/>
                <a:gd name="T4" fmla="*/ 2 w 248"/>
                <a:gd name="T5" fmla="*/ 0 h 191"/>
                <a:gd name="T6" fmla="*/ 1 w 248"/>
                <a:gd name="T7" fmla="*/ 0 h 191"/>
                <a:gd name="T8" fmla="*/ 1 w 248"/>
                <a:gd name="T9" fmla="*/ 0 h 191"/>
                <a:gd name="T10" fmla="*/ 0 w 248"/>
                <a:gd name="T11" fmla="*/ 0 h 191"/>
                <a:gd name="T12" fmla="*/ 1 w 248"/>
                <a:gd name="T13" fmla="*/ 0 h 191"/>
                <a:gd name="T14" fmla="*/ 1 w 248"/>
                <a:gd name="T15" fmla="*/ 0 h 191"/>
                <a:gd name="T16" fmla="*/ 1 w 248"/>
                <a:gd name="T17" fmla="*/ 0 h 191"/>
                <a:gd name="T18" fmla="*/ 1 w 248"/>
                <a:gd name="T19" fmla="*/ 0 h 191"/>
                <a:gd name="T20" fmla="*/ 2 w 248"/>
                <a:gd name="T21" fmla="*/ 0 h 191"/>
                <a:gd name="T22" fmla="*/ 2 w 248"/>
                <a:gd name="T23" fmla="*/ 0 h 191"/>
                <a:gd name="T24" fmla="*/ 3 w 248"/>
                <a:gd name="T25" fmla="*/ 0 h 191"/>
                <a:gd name="T26" fmla="*/ 3 w 248"/>
                <a:gd name="T27" fmla="*/ 0 h 191"/>
                <a:gd name="T28" fmla="*/ 4 w 248"/>
                <a:gd name="T29" fmla="*/ 0 h 191"/>
                <a:gd name="T30" fmla="*/ 5 w 248"/>
                <a:gd name="T31" fmla="*/ 0 h 191"/>
                <a:gd name="T32" fmla="*/ 3 w 248"/>
                <a:gd name="T33" fmla="*/ 0 h 191"/>
                <a:gd name="T34" fmla="*/ 3 w 248"/>
                <a:gd name="T35" fmla="*/ 0 h 191"/>
                <a:gd name="T36" fmla="*/ 3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headEnd/>
              <a:tailEnd/>
            </a:ln>
          </p:spPr>
          <p:txBody>
            <a:bodyPr wrap="none" anchor="ctr"/>
            <a:lstStyle/>
            <a:p>
              <a:endParaRPr lang="zh-CN" altLang="en-US"/>
            </a:p>
          </p:txBody>
        </p:sp>
        <p:sp>
          <p:nvSpPr>
            <p:cNvPr id="31762" name="Freeform 18"/>
            <p:cNvSpPr>
              <a:spLocks/>
            </p:cNvSpPr>
            <p:nvPr/>
          </p:nvSpPr>
          <p:spPr bwMode="auto">
            <a:xfrm rot="7962202">
              <a:off x="4451" y="3465"/>
              <a:ext cx="113" cy="43"/>
            </a:xfrm>
            <a:custGeom>
              <a:avLst/>
              <a:gdLst>
                <a:gd name="T0" fmla="*/ 1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1 w 248"/>
                <a:gd name="T29" fmla="*/ 0 h 191"/>
                <a:gd name="T30" fmla="*/ 1 w 248"/>
                <a:gd name="T31" fmla="*/ 0 h 191"/>
                <a:gd name="T32" fmla="*/ 1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headEnd/>
              <a:tailEnd/>
            </a:ln>
          </p:spPr>
          <p:txBody>
            <a:bodyPr wrap="none" anchor="ctr"/>
            <a:lstStyle/>
            <a:p>
              <a:endParaRPr lang="zh-CN" altLang="en-US"/>
            </a:p>
          </p:txBody>
        </p:sp>
        <p:sp>
          <p:nvSpPr>
            <p:cNvPr id="31763" name="Freeform 19"/>
            <p:cNvSpPr>
              <a:spLocks/>
            </p:cNvSpPr>
            <p:nvPr/>
          </p:nvSpPr>
          <p:spPr bwMode="auto">
            <a:xfrm rot="7513901">
              <a:off x="3779" y="3403"/>
              <a:ext cx="141" cy="36"/>
            </a:xfrm>
            <a:custGeom>
              <a:avLst/>
              <a:gdLst>
                <a:gd name="T0" fmla="*/ 3 w 248"/>
                <a:gd name="T1" fmla="*/ 0 h 191"/>
                <a:gd name="T2" fmla="*/ 2 w 248"/>
                <a:gd name="T3" fmla="*/ 0 h 191"/>
                <a:gd name="T4" fmla="*/ 2 w 248"/>
                <a:gd name="T5" fmla="*/ 0 h 191"/>
                <a:gd name="T6" fmla="*/ 1 w 248"/>
                <a:gd name="T7" fmla="*/ 0 h 191"/>
                <a:gd name="T8" fmla="*/ 1 w 248"/>
                <a:gd name="T9" fmla="*/ 0 h 191"/>
                <a:gd name="T10" fmla="*/ 0 w 248"/>
                <a:gd name="T11" fmla="*/ 0 h 191"/>
                <a:gd name="T12" fmla="*/ 1 w 248"/>
                <a:gd name="T13" fmla="*/ 0 h 191"/>
                <a:gd name="T14" fmla="*/ 1 w 248"/>
                <a:gd name="T15" fmla="*/ 0 h 191"/>
                <a:gd name="T16" fmla="*/ 1 w 248"/>
                <a:gd name="T17" fmla="*/ 0 h 191"/>
                <a:gd name="T18" fmla="*/ 1 w 248"/>
                <a:gd name="T19" fmla="*/ 0 h 191"/>
                <a:gd name="T20" fmla="*/ 2 w 248"/>
                <a:gd name="T21" fmla="*/ 0 h 191"/>
                <a:gd name="T22" fmla="*/ 2 w 248"/>
                <a:gd name="T23" fmla="*/ 0 h 191"/>
                <a:gd name="T24" fmla="*/ 3 w 248"/>
                <a:gd name="T25" fmla="*/ 0 h 191"/>
                <a:gd name="T26" fmla="*/ 3 w 248"/>
                <a:gd name="T27" fmla="*/ 0 h 191"/>
                <a:gd name="T28" fmla="*/ 4 w 248"/>
                <a:gd name="T29" fmla="*/ 0 h 191"/>
                <a:gd name="T30" fmla="*/ 5 w 248"/>
                <a:gd name="T31" fmla="*/ 0 h 191"/>
                <a:gd name="T32" fmla="*/ 3 w 248"/>
                <a:gd name="T33" fmla="*/ 0 h 191"/>
                <a:gd name="T34" fmla="*/ 3 w 248"/>
                <a:gd name="T35" fmla="*/ 0 h 191"/>
                <a:gd name="T36" fmla="*/ 3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headEnd/>
              <a:tailEnd/>
            </a:ln>
          </p:spPr>
          <p:txBody>
            <a:bodyPr wrap="none" anchor="ctr"/>
            <a:lstStyle/>
            <a:p>
              <a:endParaRPr lang="zh-CN" altLang="en-US"/>
            </a:p>
          </p:txBody>
        </p:sp>
        <p:sp>
          <p:nvSpPr>
            <p:cNvPr id="31764" name="Freeform 20"/>
            <p:cNvSpPr>
              <a:spLocks/>
            </p:cNvSpPr>
            <p:nvPr/>
          </p:nvSpPr>
          <p:spPr bwMode="auto">
            <a:xfrm rot="-5160831">
              <a:off x="4060" y="3850"/>
              <a:ext cx="100" cy="59"/>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headEnd/>
              <a:tailEnd/>
            </a:ln>
          </p:spPr>
          <p:txBody>
            <a:bodyPr wrap="none" anchor="ctr"/>
            <a:lstStyle/>
            <a:p>
              <a:endParaRPr lang="zh-CN" altLang="en-US"/>
            </a:p>
          </p:txBody>
        </p:sp>
        <p:sp>
          <p:nvSpPr>
            <p:cNvPr id="31765" name="Freeform 21"/>
            <p:cNvSpPr>
              <a:spLocks/>
            </p:cNvSpPr>
            <p:nvPr/>
          </p:nvSpPr>
          <p:spPr bwMode="auto">
            <a:xfrm rot="-2250248">
              <a:off x="3851" y="3566"/>
              <a:ext cx="84" cy="36"/>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headEnd/>
              <a:tailEnd/>
            </a:ln>
          </p:spPr>
          <p:txBody>
            <a:bodyPr wrap="none" anchor="ctr"/>
            <a:lstStyle/>
            <a:p>
              <a:endParaRPr lang="zh-CN" altLang="en-US"/>
            </a:p>
          </p:txBody>
        </p:sp>
        <p:sp>
          <p:nvSpPr>
            <p:cNvPr id="31766" name="Freeform 22"/>
            <p:cNvSpPr>
              <a:spLocks/>
            </p:cNvSpPr>
            <p:nvPr/>
          </p:nvSpPr>
          <p:spPr bwMode="auto">
            <a:xfrm rot="558124">
              <a:off x="4243" y="3859"/>
              <a:ext cx="109" cy="52"/>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1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headEnd/>
              <a:tailEnd/>
            </a:ln>
          </p:spPr>
          <p:txBody>
            <a:bodyPr wrap="none" anchor="ctr"/>
            <a:lstStyle/>
            <a:p>
              <a:endParaRPr lang="zh-CN" altLang="en-US"/>
            </a:p>
          </p:txBody>
        </p:sp>
        <p:sp>
          <p:nvSpPr>
            <p:cNvPr id="31767" name="Freeform 23"/>
            <p:cNvSpPr>
              <a:spLocks/>
            </p:cNvSpPr>
            <p:nvPr/>
          </p:nvSpPr>
          <p:spPr bwMode="auto">
            <a:xfrm>
              <a:off x="4409" y="3673"/>
              <a:ext cx="63" cy="73"/>
            </a:xfrm>
            <a:custGeom>
              <a:avLst/>
              <a:gdLst>
                <a:gd name="T0" fmla="*/ 0 w 157"/>
                <a:gd name="T1" fmla="*/ 0 h 172"/>
                <a:gd name="T2" fmla="*/ 0 w 157"/>
                <a:gd name="T3" fmla="*/ 0 h 172"/>
                <a:gd name="T4" fmla="*/ 0 w 157"/>
                <a:gd name="T5" fmla="*/ 0 h 172"/>
                <a:gd name="T6" fmla="*/ 0 w 157"/>
                <a:gd name="T7" fmla="*/ 0 h 172"/>
                <a:gd name="T8" fmla="*/ 0 w 157"/>
                <a:gd name="T9" fmla="*/ 0 h 172"/>
                <a:gd name="T10" fmla="*/ 0 w 157"/>
                <a:gd name="T11" fmla="*/ 0 h 172"/>
                <a:gd name="T12" fmla="*/ 0 w 157"/>
                <a:gd name="T13" fmla="*/ 0 h 172"/>
                <a:gd name="T14" fmla="*/ 0 w 157"/>
                <a:gd name="T15" fmla="*/ 0 h 172"/>
                <a:gd name="T16" fmla="*/ 0 w 157"/>
                <a:gd name="T17" fmla="*/ 0 h 1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7"/>
                <a:gd name="T28" fmla="*/ 0 h 172"/>
                <a:gd name="T29" fmla="*/ 157 w 157"/>
                <a:gd name="T30" fmla="*/ 172 h 17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7" h="172">
                  <a:moveTo>
                    <a:pt x="156" y="16"/>
                  </a:moveTo>
                  <a:cubicBezTo>
                    <a:pt x="133" y="8"/>
                    <a:pt x="128" y="0"/>
                    <a:pt x="108" y="24"/>
                  </a:cubicBezTo>
                  <a:cubicBezTo>
                    <a:pt x="103" y="31"/>
                    <a:pt x="106" y="42"/>
                    <a:pt x="100" y="48"/>
                  </a:cubicBezTo>
                  <a:cubicBezTo>
                    <a:pt x="94" y="54"/>
                    <a:pt x="84" y="53"/>
                    <a:pt x="76" y="56"/>
                  </a:cubicBezTo>
                  <a:cubicBezTo>
                    <a:pt x="64" y="74"/>
                    <a:pt x="0" y="172"/>
                    <a:pt x="68" y="104"/>
                  </a:cubicBezTo>
                  <a:cubicBezTo>
                    <a:pt x="106" y="161"/>
                    <a:pt x="86" y="166"/>
                    <a:pt x="124" y="128"/>
                  </a:cubicBezTo>
                  <a:cubicBezTo>
                    <a:pt x="144" y="68"/>
                    <a:pt x="126" y="142"/>
                    <a:pt x="116" y="80"/>
                  </a:cubicBezTo>
                  <a:cubicBezTo>
                    <a:pt x="113" y="60"/>
                    <a:pt x="138" y="42"/>
                    <a:pt x="148" y="32"/>
                  </a:cubicBezTo>
                  <a:cubicBezTo>
                    <a:pt x="157" y="5"/>
                    <a:pt x="156" y="0"/>
                    <a:pt x="156" y="16"/>
                  </a:cubicBezTo>
                  <a:close/>
                </a:path>
              </a:pathLst>
            </a:custGeom>
            <a:solidFill>
              <a:srgbClr val="FFFFFF"/>
            </a:solidFill>
            <a:ln w="12700" cap="flat" cmpd="sng">
              <a:noFill/>
              <a:prstDash val="solid"/>
              <a:round/>
              <a:headEnd/>
              <a:tailEnd/>
            </a:ln>
          </p:spPr>
          <p:txBody>
            <a:bodyPr wrap="none" anchor="ctr"/>
            <a:lstStyle/>
            <a:p>
              <a:endParaRPr lang="zh-CN" altLang="en-US"/>
            </a:p>
          </p:txBody>
        </p:sp>
        <p:sp>
          <p:nvSpPr>
            <p:cNvPr id="31768" name="Freeform 24"/>
            <p:cNvSpPr>
              <a:spLocks/>
            </p:cNvSpPr>
            <p:nvPr/>
          </p:nvSpPr>
          <p:spPr bwMode="auto">
            <a:xfrm>
              <a:off x="3926" y="3780"/>
              <a:ext cx="88" cy="84"/>
            </a:xfrm>
            <a:custGeom>
              <a:avLst/>
              <a:gdLst>
                <a:gd name="T0" fmla="*/ 2 w 157"/>
                <a:gd name="T1" fmla="*/ 0 h 172"/>
                <a:gd name="T2" fmla="*/ 2 w 157"/>
                <a:gd name="T3" fmla="*/ 0 h 172"/>
                <a:gd name="T4" fmla="*/ 2 w 157"/>
                <a:gd name="T5" fmla="*/ 0 h 172"/>
                <a:gd name="T6" fmla="*/ 1 w 157"/>
                <a:gd name="T7" fmla="*/ 0 h 172"/>
                <a:gd name="T8" fmla="*/ 1 w 157"/>
                <a:gd name="T9" fmla="*/ 0 h 172"/>
                <a:gd name="T10" fmla="*/ 2 w 157"/>
                <a:gd name="T11" fmla="*/ 0 h 172"/>
                <a:gd name="T12" fmla="*/ 2 w 157"/>
                <a:gd name="T13" fmla="*/ 0 h 172"/>
                <a:gd name="T14" fmla="*/ 2 w 157"/>
                <a:gd name="T15" fmla="*/ 0 h 172"/>
                <a:gd name="T16" fmla="*/ 2 w 157"/>
                <a:gd name="T17" fmla="*/ 0 h 1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7"/>
                <a:gd name="T28" fmla="*/ 0 h 172"/>
                <a:gd name="T29" fmla="*/ 157 w 157"/>
                <a:gd name="T30" fmla="*/ 172 h 17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7" h="172">
                  <a:moveTo>
                    <a:pt x="156" y="16"/>
                  </a:moveTo>
                  <a:cubicBezTo>
                    <a:pt x="133" y="8"/>
                    <a:pt x="128" y="0"/>
                    <a:pt x="108" y="24"/>
                  </a:cubicBezTo>
                  <a:cubicBezTo>
                    <a:pt x="103" y="31"/>
                    <a:pt x="106" y="42"/>
                    <a:pt x="100" y="48"/>
                  </a:cubicBezTo>
                  <a:cubicBezTo>
                    <a:pt x="94" y="54"/>
                    <a:pt x="84" y="53"/>
                    <a:pt x="76" y="56"/>
                  </a:cubicBezTo>
                  <a:cubicBezTo>
                    <a:pt x="64" y="74"/>
                    <a:pt x="0" y="172"/>
                    <a:pt x="68" y="104"/>
                  </a:cubicBezTo>
                  <a:cubicBezTo>
                    <a:pt x="106" y="161"/>
                    <a:pt x="86" y="166"/>
                    <a:pt x="124" y="128"/>
                  </a:cubicBezTo>
                  <a:cubicBezTo>
                    <a:pt x="144" y="68"/>
                    <a:pt x="126" y="142"/>
                    <a:pt x="116" y="80"/>
                  </a:cubicBezTo>
                  <a:cubicBezTo>
                    <a:pt x="113" y="60"/>
                    <a:pt x="138" y="42"/>
                    <a:pt x="148" y="32"/>
                  </a:cubicBezTo>
                  <a:cubicBezTo>
                    <a:pt x="157" y="5"/>
                    <a:pt x="156" y="0"/>
                    <a:pt x="156" y="16"/>
                  </a:cubicBezTo>
                  <a:close/>
                </a:path>
              </a:pathLst>
            </a:custGeom>
            <a:solidFill>
              <a:srgbClr val="FFFFFF"/>
            </a:solidFill>
            <a:ln w="12700" cap="flat" cmpd="sng">
              <a:noFill/>
              <a:prstDash val="solid"/>
              <a:round/>
              <a:headEnd/>
              <a:tailEnd/>
            </a:ln>
          </p:spPr>
          <p:txBody>
            <a:bodyPr wrap="none" anchor="ctr"/>
            <a:lstStyle/>
            <a:p>
              <a:endParaRPr lang="zh-CN" altLang="en-US"/>
            </a:p>
          </p:txBody>
        </p:sp>
        <p:sp>
          <p:nvSpPr>
            <p:cNvPr id="31769" name="Freeform 25"/>
            <p:cNvSpPr>
              <a:spLocks/>
            </p:cNvSpPr>
            <p:nvPr/>
          </p:nvSpPr>
          <p:spPr bwMode="auto">
            <a:xfrm rot="6855375">
              <a:off x="4466" y="3558"/>
              <a:ext cx="141" cy="68"/>
            </a:xfrm>
            <a:custGeom>
              <a:avLst/>
              <a:gdLst>
                <a:gd name="T0" fmla="*/ 3 w 248"/>
                <a:gd name="T1" fmla="*/ 0 h 191"/>
                <a:gd name="T2" fmla="*/ 2 w 248"/>
                <a:gd name="T3" fmla="*/ 0 h 191"/>
                <a:gd name="T4" fmla="*/ 2 w 248"/>
                <a:gd name="T5" fmla="*/ 0 h 191"/>
                <a:gd name="T6" fmla="*/ 1 w 248"/>
                <a:gd name="T7" fmla="*/ 0 h 191"/>
                <a:gd name="T8" fmla="*/ 1 w 248"/>
                <a:gd name="T9" fmla="*/ 0 h 191"/>
                <a:gd name="T10" fmla="*/ 0 w 248"/>
                <a:gd name="T11" fmla="*/ 0 h 191"/>
                <a:gd name="T12" fmla="*/ 1 w 248"/>
                <a:gd name="T13" fmla="*/ 0 h 191"/>
                <a:gd name="T14" fmla="*/ 1 w 248"/>
                <a:gd name="T15" fmla="*/ 0 h 191"/>
                <a:gd name="T16" fmla="*/ 1 w 248"/>
                <a:gd name="T17" fmla="*/ 0 h 191"/>
                <a:gd name="T18" fmla="*/ 1 w 248"/>
                <a:gd name="T19" fmla="*/ 0 h 191"/>
                <a:gd name="T20" fmla="*/ 2 w 248"/>
                <a:gd name="T21" fmla="*/ 0 h 191"/>
                <a:gd name="T22" fmla="*/ 2 w 248"/>
                <a:gd name="T23" fmla="*/ 0 h 191"/>
                <a:gd name="T24" fmla="*/ 3 w 248"/>
                <a:gd name="T25" fmla="*/ 0 h 191"/>
                <a:gd name="T26" fmla="*/ 3 w 248"/>
                <a:gd name="T27" fmla="*/ 0 h 191"/>
                <a:gd name="T28" fmla="*/ 4 w 248"/>
                <a:gd name="T29" fmla="*/ 0 h 191"/>
                <a:gd name="T30" fmla="*/ 5 w 248"/>
                <a:gd name="T31" fmla="*/ 0 h 191"/>
                <a:gd name="T32" fmla="*/ 3 w 248"/>
                <a:gd name="T33" fmla="*/ 0 h 191"/>
                <a:gd name="T34" fmla="*/ 3 w 248"/>
                <a:gd name="T35" fmla="*/ 0 h 191"/>
                <a:gd name="T36" fmla="*/ 3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headEnd/>
              <a:tailEnd/>
            </a:ln>
          </p:spPr>
          <p:txBody>
            <a:bodyPr wrap="none" anchor="ctr"/>
            <a:lstStyle/>
            <a:p>
              <a:endParaRPr lang="zh-CN" altLang="en-US"/>
            </a:p>
          </p:txBody>
        </p:sp>
        <p:sp>
          <p:nvSpPr>
            <p:cNvPr id="31770" name="Freeform 26"/>
            <p:cNvSpPr>
              <a:spLocks/>
            </p:cNvSpPr>
            <p:nvPr/>
          </p:nvSpPr>
          <p:spPr bwMode="auto">
            <a:xfrm rot="6442629">
              <a:off x="3819" y="3833"/>
              <a:ext cx="84" cy="48"/>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headEnd/>
              <a:tailEnd/>
            </a:ln>
          </p:spPr>
          <p:txBody>
            <a:bodyPr wrap="none" anchor="ctr"/>
            <a:lstStyle/>
            <a:p>
              <a:endParaRPr lang="zh-CN" altLang="en-US"/>
            </a:p>
          </p:txBody>
        </p:sp>
        <p:sp>
          <p:nvSpPr>
            <p:cNvPr id="31771" name="Freeform 27"/>
            <p:cNvSpPr>
              <a:spLocks/>
            </p:cNvSpPr>
            <p:nvPr/>
          </p:nvSpPr>
          <p:spPr bwMode="auto">
            <a:xfrm rot="558124">
              <a:off x="4195" y="3768"/>
              <a:ext cx="109" cy="86"/>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1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headEnd/>
              <a:tailEnd/>
            </a:ln>
          </p:spPr>
          <p:txBody>
            <a:bodyPr wrap="none" anchor="ctr"/>
            <a:lstStyle/>
            <a:p>
              <a:endParaRPr lang="zh-CN" altLang="en-US"/>
            </a:p>
          </p:txBody>
        </p:sp>
        <p:sp>
          <p:nvSpPr>
            <p:cNvPr id="31772" name="Freeform 28"/>
            <p:cNvSpPr>
              <a:spLocks/>
            </p:cNvSpPr>
            <p:nvPr/>
          </p:nvSpPr>
          <p:spPr bwMode="auto">
            <a:xfrm rot="558124">
              <a:off x="4152" y="3449"/>
              <a:ext cx="77" cy="52"/>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headEnd/>
              <a:tailEnd/>
            </a:ln>
          </p:spPr>
          <p:txBody>
            <a:bodyPr wrap="none" anchor="ctr"/>
            <a:lstStyle/>
            <a:p>
              <a:endParaRPr lang="zh-CN" altLang="en-US"/>
            </a:p>
          </p:txBody>
        </p:sp>
        <p:sp>
          <p:nvSpPr>
            <p:cNvPr id="31773" name="Freeform 29"/>
            <p:cNvSpPr>
              <a:spLocks/>
            </p:cNvSpPr>
            <p:nvPr/>
          </p:nvSpPr>
          <p:spPr bwMode="auto">
            <a:xfrm flipH="1">
              <a:off x="3766" y="3528"/>
              <a:ext cx="88" cy="84"/>
            </a:xfrm>
            <a:custGeom>
              <a:avLst/>
              <a:gdLst>
                <a:gd name="T0" fmla="*/ 2 w 157"/>
                <a:gd name="T1" fmla="*/ 0 h 172"/>
                <a:gd name="T2" fmla="*/ 2 w 157"/>
                <a:gd name="T3" fmla="*/ 0 h 172"/>
                <a:gd name="T4" fmla="*/ 2 w 157"/>
                <a:gd name="T5" fmla="*/ 0 h 172"/>
                <a:gd name="T6" fmla="*/ 1 w 157"/>
                <a:gd name="T7" fmla="*/ 0 h 172"/>
                <a:gd name="T8" fmla="*/ 1 w 157"/>
                <a:gd name="T9" fmla="*/ 0 h 172"/>
                <a:gd name="T10" fmla="*/ 2 w 157"/>
                <a:gd name="T11" fmla="*/ 0 h 172"/>
                <a:gd name="T12" fmla="*/ 2 w 157"/>
                <a:gd name="T13" fmla="*/ 0 h 172"/>
                <a:gd name="T14" fmla="*/ 2 w 157"/>
                <a:gd name="T15" fmla="*/ 0 h 172"/>
                <a:gd name="T16" fmla="*/ 2 w 157"/>
                <a:gd name="T17" fmla="*/ 0 h 1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7"/>
                <a:gd name="T28" fmla="*/ 0 h 172"/>
                <a:gd name="T29" fmla="*/ 157 w 157"/>
                <a:gd name="T30" fmla="*/ 172 h 17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7" h="172">
                  <a:moveTo>
                    <a:pt x="156" y="16"/>
                  </a:moveTo>
                  <a:cubicBezTo>
                    <a:pt x="133" y="8"/>
                    <a:pt x="128" y="0"/>
                    <a:pt x="108" y="24"/>
                  </a:cubicBezTo>
                  <a:cubicBezTo>
                    <a:pt x="103" y="31"/>
                    <a:pt x="106" y="42"/>
                    <a:pt x="100" y="48"/>
                  </a:cubicBezTo>
                  <a:cubicBezTo>
                    <a:pt x="94" y="54"/>
                    <a:pt x="84" y="53"/>
                    <a:pt x="76" y="56"/>
                  </a:cubicBezTo>
                  <a:cubicBezTo>
                    <a:pt x="64" y="74"/>
                    <a:pt x="0" y="172"/>
                    <a:pt x="68" y="104"/>
                  </a:cubicBezTo>
                  <a:cubicBezTo>
                    <a:pt x="106" y="161"/>
                    <a:pt x="86" y="166"/>
                    <a:pt x="124" y="128"/>
                  </a:cubicBezTo>
                  <a:cubicBezTo>
                    <a:pt x="144" y="68"/>
                    <a:pt x="126" y="142"/>
                    <a:pt x="116" y="80"/>
                  </a:cubicBezTo>
                  <a:cubicBezTo>
                    <a:pt x="113" y="60"/>
                    <a:pt x="138" y="42"/>
                    <a:pt x="148" y="32"/>
                  </a:cubicBezTo>
                  <a:cubicBezTo>
                    <a:pt x="157" y="5"/>
                    <a:pt x="156" y="0"/>
                    <a:pt x="156" y="16"/>
                  </a:cubicBezTo>
                  <a:close/>
                </a:path>
              </a:pathLst>
            </a:custGeom>
            <a:solidFill>
              <a:srgbClr val="FFFFFF"/>
            </a:solidFill>
            <a:ln w="12700" cap="flat" cmpd="sng">
              <a:noFill/>
              <a:prstDash val="solid"/>
              <a:round/>
              <a:headEnd/>
              <a:tailEnd/>
            </a:ln>
          </p:spPr>
          <p:txBody>
            <a:bodyPr wrap="none" anchor="ctr"/>
            <a:lstStyle/>
            <a:p>
              <a:endParaRPr lang="zh-CN" altLang="en-US"/>
            </a:p>
          </p:txBody>
        </p:sp>
        <p:sp>
          <p:nvSpPr>
            <p:cNvPr id="31774" name="Freeform 30"/>
            <p:cNvSpPr>
              <a:spLocks/>
            </p:cNvSpPr>
            <p:nvPr/>
          </p:nvSpPr>
          <p:spPr bwMode="auto">
            <a:xfrm rot="558124">
              <a:off x="3876" y="3655"/>
              <a:ext cx="77" cy="52"/>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headEnd/>
              <a:tailEnd/>
            </a:ln>
          </p:spPr>
          <p:txBody>
            <a:bodyPr wrap="none" anchor="ctr"/>
            <a:lstStyle/>
            <a:p>
              <a:endParaRPr lang="zh-CN" altLang="en-US"/>
            </a:p>
          </p:txBody>
        </p:sp>
        <p:sp>
          <p:nvSpPr>
            <p:cNvPr id="31775" name="Freeform 31"/>
            <p:cNvSpPr>
              <a:spLocks/>
            </p:cNvSpPr>
            <p:nvPr/>
          </p:nvSpPr>
          <p:spPr bwMode="auto">
            <a:xfrm rot="558124">
              <a:off x="4422" y="3786"/>
              <a:ext cx="77" cy="52"/>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headEnd/>
              <a:tailEnd/>
            </a:ln>
          </p:spPr>
          <p:txBody>
            <a:bodyPr wrap="none" anchor="ctr"/>
            <a:lstStyle/>
            <a:p>
              <a:endParaRPr lang="zh-CN" altLang="en-US"/>
            </a:p>
          </p:txBody>
        </p:sp>
        <p:sp>
          <p:nvSpPr>
            <p:cNvPr id="31776" name="Freeform 32"/>
            <p:cNvSpPr>
              <a:spLocks/>
            </p:cNvSpPr>
            <p:nvPr/>
          </p:nvSpPr>
          <p:spPr bwMode="auto">
            <a:xfrm rot="558124">
              <a:off x="3878" y="3457"/>
              <a:ext cx="109" cy="52"/>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1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headEnd/>
              <a:tailEnd/>
            </a:ln>
          </p:spPr>
          <p:txBody>
            <a:bodyPr wrap="none" anchor="ctr"/>
            <a:lstStyle/>
            <a:p>
              <a:endParaRPr lang="zh-CN" altLang="en-US"/>
            </a:p>
          </p:txBody>
        </p:sp>
        <p:sp>
          <p:nvSpPr>
            <p:cNvPr id="31777" name="Freeform 33"/>
            <p:cNvSpPr>
              <a:spLocks/>
            </p:cNvSpPr>
            <p:nvPr/>
          </p:nvSpPr>
          <p:spPr bwMode="auto">
            <a:xfrm>
              <a:off x="4218" y="3383"/>
              <a:ext cx="113" cy="48"/>
            </a:xfrm>
            <a:custGeom>
              <a:avLst/>
              <a:gdLst>
                <a:gd name="T0" fmla="*/ 1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1 w 248"/>
                <a:gd name="T29" fmla="*/ 0 h 191"/>
                <a:gd name="T30" fmla="*/ 1 w 248"/>
                <a:gd name="T31" fmla="*/ 0 h 191"/>
                <a:gd name="T32" fmla="*/ 1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headEnd/>
              <a:tailEnd/>
            </a:ln>
          </p:spPr>
          <p:txBody>
            <a:bodyPr wrap="none" anchor="ctr"/>
            <a:lstStyle/>
            <a:p>
              <a:endParaRPr lang="zh-CN" altLang="en-US"/>
            </a:p>
          </p:txBody>
        </p:sp>
        <p:sp>
          <p:nvSpPr>
            <p:cNvPr id="31778" name="Freeform 34"/>
            <p:cNvSpPr>
              <a:spLocks/>
            </p:cNvSpPr>
            <p:nvPr/>
          </p:nvSpPr>
          <p:spPr bwMode="auto">
            <a:xfrm rot="-4012660">
              <a:off x="3872" y="3880"/>
              <a:ext cx="141" cy="48"/>
            </a:xfrm>
            <a:custGeom>
              <a:avLst/>
              <a:gdLst>
                <a:gd name="T0" fmla="*/ 3 w 248"/>
                <a:gd name="T1" fmla="*/ 0 h 191"/>
                <a:gd name="T2" fmla="*/ 2 w 248"/>
                <a:gd name="T3" fmla="*/ 0 h 191"/>
                <a:gd name="T4" fmla="*/ 2 w 248"/>
                <a:gd name="T5" fmla="*/ 0 h 191"/>
                <a:gd name="T6" fmla="*/ 1 w 248"/>
                <a:gd name="T7" fmla="*/ 0 h 191"/>
                <a:gd name="T8" fmla="*/ 1 w 248"/>
                <a:gd name="T9" fmla="*/ 0 h 191"/>
                <a:gd name="T10" fmla="*/ 0 w 248"/>
                <a:gd name="T11" fmla="*/ 0 h 191"/>
                <a:gd name="T12" fmla="*/ 1 w 248"/>
                <a:gd name="T13" fmla="*/ 0 h 191"/>
                <a:gd name="T14" fmla="*/ 1 w 248"/>
                <a:gd name="T15" fmla="*/ 0 h 191"/>
                <a:gd name="T16" fmla="*/ 1 w 248"/>
                <a:gd name="T17" fmla="*/ 0 h 191"/>
                <a:gd name="T18" fmla="*/ 1 w 248"/>
                <a:gd name="T19" fmla="*/ 0 h 191"/>
                <a:gd name="T20" fmla="*/ 2 w 248"/>
                <a:gd name="T21" fmla="*/ 0 h 191"/>
                <a:gd name="T22" fmla="*/ 2 w 248"/>
                <a:gd name="T23" fmla="*/ 0 h 191"/>
                <a:gd name="T24" fmla="*/ 3 w 248"/>
                <a:gd name="T25" fmla="*/ 0 h 191"/>
                <a:gd name="T26" fmla="*/ 3 w 248"/>
                <a:gd name="T27" fmla="*/ 0 h 191"/>
                <a:gd name="T28" fmla="*/ 4 w 248"/>
                <a:gd name="T29" fmla="*/ 0 h 191"/>
                <a:gd name="T30" fmla="*/ 5 w 248"/>
                <a:gd name="T31" fmla="*/ 0 h 191"/>
                <a:gd name="T32" fmla="*/ 3 w 248"/>
                <a:gd name="T33" fmla="*/ 0 h 191"/>
                <a:gd name="T34" fmla="*/ 3 w 248"/>
                <a:gd name="T35" fmla="*/ 0 h 191"/>
                <a:gd name="T36" fmla="*/ 3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headEnd/>
              <a:tailEnd/>
            </a:ln>
          </p:spPr>
          <p:txBody>
            <a:bodyPr wrap="none" anchor="ctr"/>
            <a:lstStyle/>
            <a:p>
              <a:endParaRPr lang="zh-CN" altLang="en-US"/>
            </a:p>
          </p:txBody>
        </p:sp>
        <p:sp>
          <p:nvSpPr>
            <p:cNvPr id="31779" name="Freeform 35"/>
            <p:cNvSpPr>
              <a:spLocks/>
            </p:cNvSpPr>
            <p:nvPr/>
          </p:nvSpPr>
          <p:spPr bwMode="auto">
            <a:xfrm rot="18599377" flipH="1">
              <a:off x="4009" y="3404"/>
              <a:ext cx="158" cy="27"/>
            </a:xfrm>
            <a:custGeom>
              <a:avLst/>
              <a:gdLst>
                <a:gd name="T0" fmla="*/ 8 w 248"/>
                <a:gd name="T1" fmla="*/ 0 h 191"/>
                <a:gd name="T2" fmla="*/ 4 w 248"/>
                <a:gd name="T3" fmla="*/ 0 h 191"/>
                <a:gd name="T4" fmla="*/ 4 w 248"/>
                <a:gd name="T5" fmla="*/ 0 h 191"/>
                <a:gd name="T6" fmla="*/ 3 w 248"/>
                <a:gd name="T7" fmla="*/ 0 h 191"/>
                <a:gd name="T8" fmla="*/ 1 w 248"/>
                <a:gd name="T9" fmla="*/ 0 h 191"/>
                <a:gd name="T10" fmla="*/ 0 w 248"/>
                <a:gd name="T11" fmla="*/ 0 h 191"/>
                <a:gd name="T12" fmla="*/ 1 w 248"/>
                <a:gd name="T13" fmla="*/ 0 h 191"/>
                <a:gd name="T14" fmla="*/ 2 w 248"/>
                <a:gd name="T15" fmla="*/ 0 h 191"/>
                <a:gd name="T16" fmla="*/ 2 w 248"/>
                <a:gd name="T17" fmla="*/ 0 h 191"/>
                <a:gd name="T18" fmla="*/ 3 w 248"/>
                <a:gd name="T19" fmla="*/ 0 h 191"/>
                <a:gd name="T20" fmla="*/ 4 w 248"/>
                <a:gd name="T21" fmla="*/ 0 h 191"/>
                <a:gd name="T22" fmla="*/ 4 w 248"/>
                <a:gd name="T23" fmla="*/ 0 h 191"/>
                <a:gd name="T24" fmla="*/ 7 w 248"/>
                <a:gd name="T25" fmla="*/ 0 h 191"/>
                <a:gd name="T26" fmla="*/ 7 w 248"/>
                <a:gd name="T27" fmla="*/ 0 h 191"/>
                <a:gd name="T28" fmla="*/ 8 w 248"/>
                <a:gd name="T29" fmla="*/ 0 h 191"/>
                <a:gd name="T30" fmla="*/ 11 w 248"/>
                <a:gd name="T31" fmla="*/ 0 h 191"/>
                <a:gd name="T32" fmla="*/ 8 w 248"/>
                <a:gd name="T33" fmla="*/ 0 h 191"/>
                <a:gd name="T34" fmla="*/ 7 w 248"/>
                <a:gd name="T35" fmla="*/ 0 h 191"/>
                <a:gd name="T36" fmla="*/ 6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headEnd/>
              <a:tailEnd/>
            </a:ln>
          </p:spPr>
          <p:txBody>
            <a:bodyPr wrap="none" anchor="ctr"/>
            <a:lstStyle/>
            <a:p>
              <a:endParaRPr lang="zh-CN" altLang="en-US"/>
            </a:p>
          </p:txBody>
        </p:sp>
        <p:sp>
          <p:nvSpPr>
            <p:cNvPr id="31780" name="Freeform 36"/>
            <p:cNvSpPr>
              <a:spLocks/>
            </p:cNvSpPr>
            <p:nvPr/>
          </p:nvSpPr>
          <p:spPr bwMode="auto">
            <a:xfrm rot="18599377" flipH="1">
              <a:off x="4077" y="3871"/>
              <a:ext cx="188" cy="45"/>
            </a:xfrm>
            <a:custGeom>
              <a:avLst/>
              <a:gdLst>
                <a:gd name="T0" fmla="*/ 27 w 248"/>
                <a:gd name="T1" fmla="*/ 0 h 191"/>
                <a:gd name="T2" fmla="*/ 16 w 248"/>
                <a:gd name="T3" fmla="*/ 0 h 191"/>
                <a:gd name="T4" fmla="*/ 13 w 248"/>
                <a:gd name="T5" fmla="*/ 0 h 191"/>
                <a:gd name="T6" fmla="*/ 8 w 248"/>
                <a:gd name="T7" fmla="*/ 0 h 191"/>
                <a:gd name="T8" fmla="*/ 4 w 248"/>
                <a:gd name="T9" fmla="*/ 0 h 191"/>
                <a:gd name="T10" fmla="*/ 0 w 248"/>
                <a:gd name="T11" fmla="*/ 0 h 191"/>
                <a:gd name="T12" fmla="*/ 4 w 248"/>
                <a:gd name="T13" fmla="*/ 0 h 191"/>
                <a:gd name="T14" fmla="*/ 6 w 248"/>
                <a:gd name="T15" fmla="*/ 0 h 191"/>
                <a:gd name="T16" fmla="*/ 6 w 248"/>
                <a:gd name="T17" fmla="*/ 0 h 191"/>
                <a:gd name="T18" fmla="*/ 11 w 248"/>
                <a:gd name="T19" fmla="*/ 0 h 191"/>
                <a:gd name="T20" fmla="*/ 14 w 248"/>
                <a:gd name="T21" fmla="*/ 0 h 191"/>
                <a:gd name="T22" fmla="*/ 16 w 248"/>
                <a:gd name="T23" fmla="*/ 0 h 191"/>
                <a:gd name="T24" fmla="*/ 24 w 248"/>
                <a:gd name="T25" fmla="*/ 0 h 191"/>
                <a:gd name="T26" fmla="*/ 25 w 248"/>
                <a:gd name="T27" fmla="*/ 0 h 191"/>
                <a:gd name="T28" fmla="*/ 29 w 248"/>
                <a:gd name="T29" fmla="*/ 0 h 191"/>
                <a:gd name="T30" fmla="*/ 36 w 248"/>
                <a:gd name="T31" fmla="*/ 0 h 191"/>
                <a:gd name="T32" fmla="*/ 27 w 248"/>
                <a:gd name="T33" fmla="*/ 0 h 191"/>
                <a:gd name="T34" fmla="*/ 25 w 248"/>
                <a:gd name="T35" fmla="*/ 0 h 191"/>
                <a:gd name="T36" fmla="*/ 2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headEnd/>
              <a:tailEnd/>
            </a:ln>
          </p:spPr>
          <p:txBody>
            <a:bodyPr wrap="none" anchor="ctr"/>
            <a:lstStyle/>
            <a:p>
              <a:endParaRPr lang="zh-CN" altLang="en-US"/>
            </a:p>
          </p:txBody>
        </p:sp>
        <p:sp>
          <p:nvSpPr>
            <p:cNvPr id="31781" name="Freeform 37"/>
            <p:cNvSpPr>
              <a:spLocks/>
            </p:cNvSpPr>
            <p:nvPr/>
          </p:nvSpPr>
          <p:spPr bwMode="auto">
            <a:xfrm rot="558124">
              <a:off x="3756" y="3657"/>
              <a:ext cx="77" cy="52"/>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headEnd/>
              <a:tailEnd/>
            </a:ln>
          </p:spPr>
          <p:txBody>
            <a:bodyPr wrap="none" anchor="ctr"/>
            <a:lstStyle/>
            <a:p>
              <a:endParaRPr lang="zh-CN" altLang="en-US"/>
            </a:p>
          </p:txBody>
        </p:sp>
        <p:sp>
          <p:nvSpPr>
            <p:cNvPr id="31782" name="Freeform 38"/>
            <p:cNvSpPr>
              <a:spLocks/>
            </p:cNvSpPr>
            <p:nvPr/>
          </p:nvSpPr>
          <p:spPr bwMode="auto">
            <a:xfrm rot="558124">
              <a:off x="4379" y="3871"/>
              <a:ext cx="77" cy="52"/>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headEnd/>
              <a:tailEnd/>
            </a:ln>
          </p:spPr>
          <p:txBody>
            <a:bodyPr wrap="none" anchor="ctr"/>
            <a:lstStyle/>
            <a:p>
              <a:endParaRPr lang="zh-CN" altLang="en-US"/>
            </a:p>
          </p:txBody>
        </p:sp>
        <p:sp>
          <p:nvSpPr>
            <p:cNvPr id="31783" name="Freeform 39"/>
            <p:cNvSpPr>
              <a:spLocks/>
            </p:cNvSpPr>
            <p:nvPr/>
          </p:nvSpPr>
          <p:spPr bwMode="auto">
            <a:xfrm rot="558124">
              <a:off x="4345" y="3463"/>
              <a:ext cx="77" cy="52"/>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headEnd/>
              <a:tailEnd/>
            </a:ln>
          </p:spPr>
          <p:txBody>
            <a:bodyPr wrap="none" anchor="ctr"/>
            <a:lstStyle/>
            <a:p>
              <a:endParaRPr lang="zh-CN" altLang="en-US"/>
            </a:p>
          </p:txBody>
        </p:sp>
        <p:sp>
          <p:nvSpPr>
            <p:cNvPr id="31784" name="Freeform 40"/>
            <p:cNvSpPr>
              <a:spLocks/>
            </p:cNvSpPr>
            <p:nvPr/>
          </p:nvSpPr>
          <p:spPr bwMode="auto">
            <a:xfrm rot="-237609">
              <a:off x="4404" y="3579"/>
              <a:ext cx="77" cy="52"/>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headEnd/>
              <a:tailEnd/>
            </a:ln>
          </p:spPr>
          <p:txBody>
            <a:bodyPr wrap="none" anchor="ctr"/>
            <a:lstStyle/>
            <a:p>
              <a:endParaRPr lang="zh-CN" altLang="en-US"/>
            </a:p>
          </p:txBody>
        </p:sp>
        <p:sp>
          <p:nvSpPr>
            <p:cNvPr id="31785" name="Freeform 41"/>
            <p:cNvSpPr>
              <a:spLocks/>
            </p:cNvSpPr>
            <p:nvPr/>
          </p:nvSpPr>
          <p:spPr bwMode="auto">
            <a:xfrm rot="558124">
              <a:off x="4014" y="3872"/>
              <a:ext cx="109" cy="52"/>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1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headEnd/>
              <a:tailEnd/>
            </a:ln>
          </p:spPr>
          <p:txBody>
            <a:bodyPr wrap="none" anchor="ctr"/>
            <a:lstStyle/>
            <a:p>
              <a:endParaRPr lang="zh-CN" altLang="en-US"/>
            </a:p>
          </p:txBody>
        </p:sp>
        <p:sp>
          <p:nvSpPr>
            <p:cNvPr id="31786" name="Freeform 42"/>
            <p:cNvSpPr>
              <a:spLocks/>
            </p:cNvSpPr>
            <p:nvPr/>
          </p:nvSpPr>
          <p:spPr bwMode="auto">
            <a:xfrm rot="-4841876">
              <a:off x="4482" y="3702"/>
              <a:ext cx="109" cy="52"/>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1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headEnd/>
              <a:tailEnd/>
            </a:ln>
          </p:spPr>
          <p:txBody>
            <a:bodyPr wrap="none" anchor="ctr"/>
            <a:lstStyle/>
            <a:p>
              <a:endParaRPr lang="zh-CN" altLang="en-US"/>
            </a:p>
          </p:txBody>
        </p:sp>
        <p:sp>
          <p:nvSpPr>
            <p:cNvPr id="31787" name="Freeform 43"/>
            <p:cNvSpPr>
              <a:spLocks/>
            </p:cNvSpPr>
            <p:nvPr/>
          </p:nvSpPr>
          <p:spPr bwMode="auto">
            <a:xfrm rot="-4617144">
              <a:off x="3843" y="3491"/>
              <a:ext cx="116" cy="34"/>
            </a:xfrm>
            <a:custGeom>
              <a:avLst/>
              <a:gdLst>
                <a:gd name="T0" fmla="*/ 1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1 w 248"/>
                <a:gd name="T25" fmla="*/ 0 h 191"/>
                <a:gd name="T26" fmla="*/ 1 w 248"/>
                <a:gd name="T27" fmla="*/ 0 h 191"/>
                <a:gd name="T28" fmla="*/ 1 w 248"/>
                <a:gd name="T29" fmla="*/ 0 h 191"/>
                <a:gd name="T30" fmla="*/ 1 w 248"/>
                <a:gd name="T31" fmla="*/ 0 h 191"/>
                <a:gd name="T32" fmla="*/ 1 w 248"/>
                <a:gd name="T33" fmla="*/ 0 h 191"/>
                <a:gd name="T34" fmla="*/ 1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headEnd/>
              <a:tailEnd/>
            </a:ln>
          </p:spPr>
          <p:txBody>
            <a:bodyPr wrap="none" anchor="ctr"/>
            <a:lstStyle/>
            <a:p>
              <a:endParaRPr lang="zh-CN" altLang="en-US"/>
            </a:p>
          </p:txBody>
        </p:sp>
        <p:sp>
          <p:nvSpPr>
            <p:cNvPr id="31788" name="Rectangle 44"/>
            <p:cNvSpPr>
              <a:spLocks noChangeArrowheads="1"/>
            </p:cNvSpPr>
            <p:nvPr/>
          </p:nvSpPr>
          <p:spPr bwMode="auto">
            <a:xfrm>
              <a:off x="3893" y="3477"/>
              <a:ext cx="553" cy="336"/>
            </a:xfrm>
            <a:prstGeom prst="rect">
              <a:avLst/>
            </a:prstGeom>
            <a:solidFill>
              <a:srgbClr val="D9D9D9"/>
            </a:solidFill>
            <a:ln w="12700">
              <a:noFill/>
              <a:miter lim="800000"/>
              <a:headEnd/>
              <a:tailEnd/>
            </a:ln>
          </p:spPr>
          <p:txBody>
            <a:bodyPr wrap="none" anchor="ctr"/>
            <a:lstStyle/>
            <a:p>
              <a:endParaRPr lang="zh-CN" altLang="en-US"/>
            </a:p>
          </p:txBody>
        </p:sp>
        <p:sp>
          <p:nvSpPr>
            <p:cNvPr id="31789" name="Text Box 45"/>
            <p:cNvSpPr txBox="1">
              <a:spLocks noChangeArrowheads="1"/>
            </p:cNvSpPr>
            <p:nvPr/>
          </p:nvSpPr>
          <p:spPr bwMode="auto">
            <a:xfrm>
              <a:off x="3913" y="3445"/>
              <a:ext cx="504" cy="291"/>
            </a:xfrm>
            <a:prstGeom prst="rect">
              <a:avLst/>
            </a:prstGeom>
            <a:noFill/>
            <a:ln w="12700">
              <a:noFill/>
              <a:miter lim="800000"/>
              <a:headEnd/>
              <a:tailEnd/>
            </a:ln>
            <a:effectLst>
              <a:outerShdw algn="ctr" rotWithShape="0">
                <a:srgbClr val="000000"/>
              </a:outerShdw>
            </a:effectLst>
          </p:spPr>
          <p:txBody>
            <a:bodyPr wrap="none">
              <a:spAutoFit/>
            </a:bodyPr>
            <a:lstStyle/>
            <a:p>
              <a:pPr algn="ctr" eaLnBrk="1" hangingPunct="1"/>
              <a:r>
                <a:rPr kumimoji="1" lang="zh-CN" altLang="en-US" sz="2400" b="1" dirty="0">
                  <a:solidFill>
                    <a:srgbClr val="FF0000"/>
                  </a:solidFill>
                  <a:ea typeface="华文彩云" pitchFamily="2" charset="-122"/>
                </a:rPr>
                <a:t>重点</a:t>
              </a:r>
            </a:p>
          </p:txBody>
        </p:sp>
      </p:gr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5155"/>
                                        </p:tgtEl>
                                        <p:attrNameLst>
                                          <p:attrName>style.visibility</p:attrName>
                                        </p:attrNameLst>
                                      </p:cBhvr>
                                      <p:to>
                                        <p:strVal val="visible"/>
                                      </p:to>
                                    </p:set>
                                    <p:animEffect transition="in" filter="blinds(horizontal)">
                                      <p:cBhvr>
                                        <p:cTn id="7" dur="500"/>
                                        <p:tgtEl>
                                          <p:spTgt spid="30515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05157"/>
                                        </p:tgtEl>
                                        <p:attrNameLst>
                                          <p:attrName>style.visibility</p:attrName>
                                        </p:attrNameLst>
                                      </p:cBhvr>
                                      <p:to>
                                        <p:strVal val="visible"/>
                                      </p:to>
                                    </p:set>
                                    <p:animEffect transition="in" filter="blinds(horizontal)">
                                      <p:cBhvr>
                                        <p:cTn id="10" dur="500"/>
                                        <p:tgtEl>
                                          <p:spTgt spid="305157"/>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05159"/>
                                        </p:tgtEl>
                                        <p:attrNameLst>
                                          <p:attrName>style.visibility</p:attrName>
                                        </p:attrNameLst>
                                      </p:cBhvr>
                                      <p:to>
                                        <p:strVal val="visible"/>
                                      </p:to>
                                    </p:set>
                                    <p:animEffect transition="in" filter="blinds(horizontal)">
                                      <p:cBhvr>
                                        <p:cTn id="15" dur="500"/>
                                        <p:tgtEl>
                                          <p:spTgt spid="305159"/>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05161"/>
                                        </p:tgtEl>
                                        <p:attrNameLst>
                                          <p:attrName>style.visibility</p:attrName>
                                        </p:attrNameLst>
                                      </p:cBhvr>
                                      <p:to>
                                        <p:strVal val="visible"/>
                                      </p:to>
                                    </p:set>
                                    <p:animEffect transition="in" filter="blinds(horizontal)">
                                      <p:cBhvr>
                                        <p:cTn id="18" dur="500"/>
                                        <p:tgtEl>
                                          <p:spTgt spid="305161"/>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528"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p:cTn id="23" dur="500" fill="hold"/>
                                        <p:tgtEl>
                                          <p:spTgt spid="2"/>
                                        </p:tgtEl>
                                        <p:attrNameLst>
                                          <p:attrName>ppt_w</p:attrName>
                                        </p:attrNameLst>
                                      </p:cBhvr>
                                      <p:tavLst>
                                        <p:tav tm="0">
                                          <p:val>
                                            <p:fltVal val="0"/>
                                          </p:val>
                                        </p:tav>
                                        <p:tav tm="100000">
                                          <p:val>
                                            <p:strVal val="#ppt_w"/>
                                          </p:val>
                                        </p:tav>
                                      </p:tavLst>
                                    </p:anim>
                                    <p:anim calcmode="lin" valueType="num">
                                      <p:cBhvr>
                                        <p:cTn id="24" dur="500" fill="hold"/>
                                        <p:tgtEl>
                                          <p:spTgt spid="2"/>
                                        </p:tgtEl>
                                        <p:attrNameLst>
                                          <p:attrName>ppt_h</p:attrName>
                                        </p:attrNameLst>
                                      </p:cBhvr>
                                      <p:tavLst>
                                        <p:tav tm="0">
                                          <p:val>
                                            <p:fltVal val="0"/>
                                          </p:val>
                                        </p:tav>
                                        <p:tav tm="100000">
                                          <p:val>
                                            <p:strVal val="#ppt_h"/>
                                          </p:val>
                                        </p:tav>
                                      </p:tavLst>
                                    </p:anim>
                                    <p:anim calcmode="lin" valueType="num">
                                      <p:cBhvr>
                                        <p:cTn id="25" dur="500" fill="hold"/>
                                        <p:tgtEl>
                                          <p:spTgt spid="2"/>
                                        </p:tgtEl>
                                        <p:attrNameLst>
                                          <p:attrName>ppt_x</p:attrName>
                                        </p:attrNameLst>
                                      </p:cBhvr>
                                      <p:tavLst>
                                        <p:tav tm="0">
                                          <p:val>
                                            <p:fltVal val="0.5"/>
                                          </p:val>
                                        </p:tav>
                                        <p:tav tm="100000">
                                          <p:val>
                                            <p:strVal val="#ppt_x"/>
                                          </p:val>
                                        </p:tav>
                                      </p:tavLst>
                                    </p:anim>
                                    <p:anim calcmode="lin" valueType="num">
                                      <p:cBhvr>
                                        <p:cTn id="26" dur="500" fill="hold"/>
                                        <p:tgtEl>
                                          <p:spTgt spid="2"/>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5" grpId="0"/>
      <p:bldP spid="305157" grpId="0"/>
      <p:bldP spid="305159" grpId="0"/>
      <p:bldP spid="30516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936625" y="109536"/>
            <a:ext cx="4495800" cy="704850"/>
            <a:chOff x="336" y="384"/>
            <a:chExt cx="2832" cy="444"/>
          </a:xfrm>
        </p:grpSpPr>
        <p:sp>
          <p:nvSpPr>
            <p:cNvPr id="32833" name="Rectangle 3"/>
            <p:cNvSpPr>
              <a:spLocks noChangeArrowheads="1"/>
            </p:cNvSpPr>
            <p:nvPr/>
          </p:nvSpPr>
          <p:spPr bwMode="auto">
            <a:xfrm>
              <a:off x="336" y="384"/>
              <a:ext cx="2832" cy="432"/>
            </a:xfrm>
            <a:prstGeom prst="rect">
              <a:avLst/>
            </a:prstGeom>
            <a:gradFill rotWithShape="0">
              <a:gsLst>
                <a:gs pos="0">
                  <a:srgbClr val="760000"/>
                </a:gs>
                <a:gs pos="50000">
                  <a:srgbClr val="FF0000"/>
                </a:gs>
                <a:gs pos="100000">
                  <a:srgbClr val="760000"/>
                </a:gs>
              </a:gsLst>
              <a:lin ang="2700000" scaled="1"/>
            </a:gradFill>
            <a:ln w="12700" cap="sq">
              <a:noFill/>
              <a:miter lim="800000"/>
              <a:headEnd type="none" w="sm" len="sm"/>
              <a:tailEnd type="none" w="sm" len="sm"/>
            </a:ln>
            <a:effectLst>
              <a:outerShdw dist="152928" dir="2498012" algn="ctr" rotWithShape="0">
                <a:srgbClr val="B2B2B2"/>
              </a:outerShdw>
            </a:effectLst>
          </p:spPr>
          <p:txBody>
            <a:bodyPr wrap="none" anchor="ctr"/>
            <a:lstStyle/>
            <a:p>
              <a:endParaRPr lang="zh-CN" altLang="en-US"/>
            </a:p>
          </p:txBody>
        </p:sp>
        <p:sp>
          <p:nvSpPr>
            <p:cNvPr id="32834" name="Rectangle 4"/>
            <p:cNvSpPr>
              <a:spLocks noChangeArrowheads="1"/>
            </p:cNvSpPr>
            <p:nvPr/>
          </p:nvSpPr>
          <p:spPr bwMode="auto">
            <a:xfrm>
              <a:off x="444" y="424"/>
              <a:ext cx="2676" cy="404"/>
            </a:xfrm>
            <a:prstGeom prst="rect">
              <a:avLst/>
            </a:prstGeom>
            <a:noFill/>
            <a:ln w="12700" cap="sq">
              <a:noFill/>
              <a:miter lim="800000"/>
              <a:headEnd type="none" w="sm" len="sm"/>
              <a:tailEnd type="none" w="sm" len="sm"/>
            </a:ln>
            <a:effectLst>
              <a:outerShdw dist="25400" algn="ctr" rotWithShape="0">
                <a:schemeClr val="bg2"/>
              </a:outerShdw>
            </a:effectLst>
          </p:spPr>
          <p:txBody>
            <a:bodyPr>
              <a:spAutoFit/>
            </a:bodyPr>
            <a:lstStyle/>
            <a:p>
              <a:r>
                <a:rPr kumimoji="1" lang="en-US" altLang="zh-CN" sz="3600" b="1" dirty="0">
                  <a:solidFill>
                    <a:srgbClr val="FFFFFF"/>
                  </a:solidFill>
                  <a:ea typeface="宋体" charset="-122"/>
                </a:rPr>
                <a:t>3.</a:t>
              </a:r>
              <a:r>
                <a:rPr kumimoji="1" lang="zh-CN" altLang="en-US" sz="3600" b="1" dirty="0">
                  <a:solidFill>
                    <a:srgbClr val="FFFFFF"/>
                  </a:solidFill>
                  <a:ea typeface="宋体" charset="-122"/>
                </a:rPr>
                <a:t>1</a:t>
              </a:r>
              <a:r>
                <a:rPr kumimoji="1" lang="zh-CN" altLang="en-US" sz="3600" dirty="0">
                  <a:solidFill>
                    <a:srgbClr val="FFFFFF"/>
                  </a:solidFill>
                  <a:ea typeface="宋体" charset="-122"/>
                </a:rPr>
                <a:t> </a:t>
              </a:r>
              <a:r>
                <a:rPr kumimoji="1" lang="zh-CN" altLang="en-US" sz="3600" b="1" dirty="0">
                  <a:solidFill>
                    <a:srgbClr val="FFFFFF"/>
                  </a:solidFill>
                </a:rPr>
                <a:t>栈的基本概念</a:t>
              </a:r>
            </a:p>
          </p:txBody>
        </p:sp>
      </p:grpSp>
      <p:grpSp>
        <p:nvGrpSpPr>
          <p:cNvPr id="3" name="Group 5"/>
          <p:cNvGrpSpPr>
            <a:grpSpLocks/>
          </p:cNvGrpSpPr>
          <p:nvPr/>
        </p:nvGrpSpPr>
        <p:grpSpPr bwMode="auto">
          <a:xfrm>
            <a:off x="936625" y="1772816"/>
            <a:ext cx="8323263" cy="1847850"/>
            <a:chOff x="384" y="1152"/>
            <a:chExt cx="5243" cy="1164"/>
          </a:xfrm>
        </p:grpSpPr>
        <p:sp>
          <p:nvSpPr>
            <p:cNvPr id="32830" name="Rectangle 6"/>
            <p:cNvSpPr>
              <a:spLocks noChangeArrowheads="1"/>
            </p:cNvSpPr>
            <p:nvPr/>
          </p:nvSpPr>
          <p:spPr bwMode="auto">
            <a:xfrm>
              <a:off x="384" y="1152"/>
              <a:ext cx="5052" cy="1164"/>
            </a:xfrm>
            <a:prstGeom prst="rect">
              <a:avLst/>
            </a:prstGeom>
            <a:gradFill rotWithShape="0">
              <a:gsLst>
                <a:gs pos="0">
                  <a:srgbClr val="0000FF"/>
                </a:gs>
                <a:gs pos="50000">
                  <a:srgbClr val="000076"/>
                </a:gs>
                <a:gs pos="100000">
                  <a:srgbClr val="0000FF"/>
                </a:gs>
              </a:gsLst>
              <a:lin ang="5400000" scaled="1"/>
            </a:gradFill>
            <a:ln w="12700" cap="sq">
              <a:noFill/>
              <a:miter lim="800000"/>
              <a:headEnd type="none" w="sm" len="sm"/>
              <a:tailEnd type="none" w="sm" len="sm"/>
            </a:ln>
            <a:effectLst>
              <a:outerShdw dist="188799" dir="2536421" algn="ctr" rotWithShape="0">
                <a:srgbClr val="B2B2B2"/>
              </a:outerShdw>
            </a:effectLst>
          </p:spPr>
          <p:txBody>
            <a:bodyPr wrap="none" anchor="ctr"/>
            <a:lstStyle/>
            <a:p>
              <a:endParaRPr lang="zh-CN" altLang="en-US"/>
            </a:p>
          </p:txBody>
        </p:sp>
        <p:sp>
          <p:nvSpPr>
            <p:cNvPr id="32831" name="Text Box 7"/>
            <p:cNvSpPr txBox="1">
              <a:spLocks noChangeArrowheads="1"/>
            </p:cNvSpPr>
            <p:nvPr/>
          </p:nvSpPr>
          <p:spPr bwMode="auto">
            <a:xfrm>
              <a:off x="623" y="1238"/>
              <a:ext cx="5004" cy="958"/>
            </a:xfrm>
            <a:prstGeom prst="rect">
              <a:avLst/>
            </a:prstGeom>
            <a:noFill/>
            <a:ln w="12700" cap="sq">
              <a:noFill/>
              <a:miter lim="800000"/>
              <a:headEnd type="none" w="sm" len="sm"/>
              <a:tailEnd type="none" w="sm" len="sm"/>
            </a:ln>
          </p:spPr>
          <p:txBody>
            <a:bodyPr>
              <a:spAutoFit/>
            </a:bodyPr>
            <a:lstStyle/>
            <a:p>
              <a:pPr eaLnBrk="1" hangingPunct="1">
                <a:lnSpc>
                  <a:spcPct val="90000"/>
                </a:lnSpc>
              </a:pPr>
              <a:r>
                <a:rPr kumimoji="1" lang="zh-CN" altLang="en-US" sz="2600" b="1" dirty="0">
                  <a:solidFill>
                    <a:srgbClr val="FFFFFF"/>
                  </a:solidFill>
                  <a:latin typeface="幼圆" pitchFamily="49" charset="-122"/>
                  <a:ea typeface="幼圆" pitchFamily="49" charset="-122"/>
                </a:rPr>
                <a:t>          是一种只允许在</a:t>
              </a:r>
              <a:r>
                <a:rPr kumimoji="1" lang="zh-CN" altLang="en-US" sz="2600" b="1" dirty="0">
                  <a:solidFill>
                    <a:srgbClr val="FFFF00"/>
                  </a:solidFill>
                  <a:latin typeface="幼圆" pitchFamily="49" charset="-122"/>
                  <a:ea typeface="幼圆" pitchFamily="49" charset="-122"/>
                </a:rPr>
                <a:t>表</a:t>
              </a:r>
              <a:r>
                <a:rPr kumimoji="1" lang="zh-CN" altLang="en-US" sz="2600" b="1" dirty="0">
                  <a:solidFill>
                    <a:srgbClr val="FFFFFF"/>
                  </a:solidFill>
                  <a:latin typeface="幼圆" pitchFamily="49" charset="-122"/>
                  <a:ea typeface="幼圆" pitchFamily="49" charset="-122"/>
                </a:rPr>
                <a:t>的一端进行插入操</a:t>
              </a:r>
            </a:p>
            <a:p>
              <a:pPr eaLnBrk="1" hangingPunct="1">
                <a:lnSpc>
                  <a:spcPct val="90000"/>
                </a:lnSpc>
              </a:pPr>
              <a:r>
                <a:rPr kumimoji="1" lang="zh-CN" altLang="en-US" sz="2600" b="1" dirty="0">
                  <a:solidFill>
                    <a:srgbClr val="FFFFFF"/>
                  </a:solidFill>
                  <a:latin typeface="幼圆" pitchFamily="49" charset="-122"/>
                  <a:ea typeface="幼圆" pitchFamily="49" charset="-122"/>
                </a:rPr>
                <a:t>作和删除操作的线性表。允许操作的一端称为</a:t>
              </a:r>
              <a:r>
                <a:rPr kumimoji="1" lang="zh-CN" altLang="en-US" sz="2600" b="1" dirty="0">
                  <a:solidFill>
                    <a:srgbClr val="FFFF00"/>
                  </a:solidFill>
                  <a:latin typeface="幼圆" pitchFamily="49" charset="-122"/>
                  <a:ea typeface="幼圆" pitchFamily="49" charset="-122"/>
                </a:rPr>
                <a:t>栈</a:t>
              </a:r>
            </a:p>
            <a:p>
              <a:pPr eaLnBrk="1" hangingPunct="1">
                <a:lnSpc>
                  <a:spcPct val="90000"/>
                </a:lnSpc>
              </a:pPr>
              <a:r>
                <a:rPr kumimoji="1" lang="zh-CN" altLang="en-US" sz="2600" b="1" dirty="0">
                  <a:solidFill>
                    <a:srgbClr val="FFFF00"/>
                  </a:solidFill>
                  <a:latin typeface="幼圆" pitchFamily="49" charset="-122"/>
                  <a:ea typeface="幼圆" pitchFamily="49" charset="-122"/>
                </a:rPr>
                <a:t>顶</a:t>
              </a:r>
              <a:r>
                <a:rPr kumimoji="1" lang="zh-CN" altLang="en-US" sz="2600" b="1" dirty="0">
                  <a:solidFill>
                    <a:srgbClr val="FFFFFF"/>
                  </a:solidFill>
                  <a:latin typeface="幼圆" pitchFamily="49" charset="-122"/>
                  <a:ea typeface="幼圆" pitchFamily="49" charset="-122"/>
                </a:rPr>
                <a:t>，栈顶元素的位置由一个称为</a:t>
              </a:r>
              <a:r>
                <a:rPr kumimoji="1" lang="zh-CN" altLang="en-US" sz="2600" b="1" dirty="0">
                  <a:solidFill>
                    <a:srgbClr val="FFFF00"/>
                  </a:solidFill>
                  <a:latin typeface="黑体" pitchFamily="2" charset="-122"/>
                  <a:ea typeface="黑体" pitchFamily="2" charset="-122"/>
                </a:rPr>
                <a:t>栈顶位置</a:t>
              </a:r>
              <a:r>
                <a:rPr kumimoji="1" lang="zh-CN" altLang="en-US" sz="2600" b="1" dirty="0">
                  <a:solidFill>
                    <a:srgbClr val="FFFFFF"/>
                  </a:solidFill>
                  <a:latin typeface="幼圆" pitchFamily="49" charset="-122"/>
                  <a:ea typeface="幼圆" pitchFamily="49" charset="-122"/>
                </a:rPr>
                <a:t>的变量</a:t>
              </a:r>
            </a:p>
            <a:p>
              <a:pPr eaLnBrk="1" hangingPunct="1">
                <a:lnSpc>
                  <a:spcPct val="90000"/>
                </a:lnSpc>
              </a:pPr>
              <a:r>
                <a:rPr kumimoji="1" lang="zh-CN" altLang="en-US" sz="2600" b="1" dirty="0">
                  <a:solidFill>
                    <a:srgbClr val="FFFFFF"/>
                  </a:solidFill>
                  <a:latin typeface="幼圆" pitchFamily="49" charset="-122"/>
                  <a:ea typeface="幼圆" pitchFamily="49" charset="-122"/>
                </a:rPr>
                <a:t>给出。当表中没有元素时，称之为</a:t>
              </a:r>
              <a:r>
                <a:rPr kumimoji="1" lang="zh-CN" altLang="en-US" sz="2600" b="1" dirty="0">
                  <a:solidFill>
                    <a:srgbClr val="FFFF00"/>
                  </a:solidFill>
                  <a:latin typeface="黑体" pitchFamily="2" charset="-122"/>
                  <a:ea typeface="黑体" pitchFamily="2" charset="-122"/>
                </a:rPr>
                <a:t>空栈</a:t>
              </a:r>
              <a:r>
                <a:rPr kumimoji="1" lang="zh-CN" altLang="en-US" sz="2600" b="1" dirty="0">
                  <a:solidFill>
                    <a:srgbClr val="FFFFFF"/>
                  </a:solidFill>
                  <a:latin typeface="幼圆" pitchFamily="49" charset="-122"/>
                  <a:ea typeface="幼圆" pitchFamily="49" charset="-122"/>
                </a:rPr>
                <a:t>。</a:t>
              </a:r>
            </a:p>
          </p:txBody>
        </p:sp>
        <p:sp>
          <p:nvSpPr>
            <p:cNvPr id="32832" name="Rectangle 8"/>
            <p:cNvSpPr>
              <a:spLocks noChangeArrowheads="1"/>
            </p:cNvSpPr>
            <p:nvPr/>
          </p:nvSpPr>
          <p:spPr bwMode="auto">
            <a:xfrm>
              <a:off x="567" y="1165"/>
              <a:ext cx="1216" cy="378"/>
            </a:xfrm>
            <a:prstGeom prst="rect">
              <a:avLst/>
            </a:prstGeom>
            <a:noFill/>
            <a:ln w="12700" cap="sq">
              <a:noFill/>
              <a:miter lim="800000"/>
              <a:headEnd type="none" w="sm" len="sm"/>
              <a:tailEnd type="none" w="sm" len="sm"/>
            </a:ln>
            <a:effectLst>
              <a:outerShdw dist="45791" dir="2021404" algn="ctr" rotWithShape="0">
                <a:schemeClr val="bg1"/>
              </a:outerShdw>
            </a:effectLst>
          </p:spPr>
          <p:txBody>
            <a:bodyPr wrap="square">
              <a:spAutoFit/>
            </a:bodyPr>
            <a:lstStyle/>
            <a:p>
              <a:r>
                <a:rPr kumimoji="1" lang="zh-CN" altLang="en-US" sz="3300" b="1" dirty="0">
                  <a:solidFill>
                    <a:srgbClr val="FFFF00"/>
                  </a:solidFill>
                  <a:ea typeface="黑体" pitchFamily="2" charset="-122"/>
                </a:rPr>
                <a:t>栈</a:t>
              </a:r>
              <a:r>
                <a:rPr kumimoji="1" lang="en-US" altLang="zh-CN" sz="3300" b="1" dirty="0">
                  <a:solidFill>
                    <a:srgbClr val="FFFF00"/>
                  </a:solidFill>
                  <a:ea typeface="黑体" pitchFamily="2" charset="-122"/>
                </a:rPr>
                <a:t>(Stack)</a:t>
              </a:r>
              <a:endParaRPr kumimoji="1" lang="zh-CN" altLang="en-US" sz="3300" b="1" dirty="0">
                <a:solidFill>
                  <a:srgbClr val="FFFF00"/>
                </a:solidFill>
                <a:ea typeface="黑体" pitchFamily="2" charset="-122"/>
              </a:endParaRPr>
            </a:p>
          </p:txBody>
        </p:sp>
      </p:grpSp>
      <p:grpSp>
        <p:nvGrpSpPr>
          <p:cNvPr id="4" name="Group 9"/>
          <p:cNvGrpSpPr>
            <a:grpSpLocks/>
          </p:cNvGrpSpPr>
          <p:nvPr/>
        </p:nvGrpSpPr>
        <p:grpSpPr bwMode="auto">
          <a:xfrm>
            <a:off x="7389019" y="394208"/>
            <a:ext cx="3135312" cy="762000"/>
            <a:chOff x="3888" y="672"/>
            <a:chExt cx="1975" cy="480"/>
          </a:xfrm>
        </p:grpSpPr>
        <p:sp>
          <p:nvSpPr>
            <p:cNvPr id="32828" name="AutoShape 10"/>
            <p:cNvSpPr>
              <a:spLocks noChangeArrowheads="1"/>
            </p:cNvSpPr>
            <p:nvPr/>
          </p:nvSpPr>
          <p:spPr bwMode="auto">
            <a:xfrm>
              <a:off x="3888" y="672"/>
              <a:ext cx="1632" cy="480"/>
            </a:xfrm>
            <a:prstGeom prst="cloudCallout">
              <a:avLst>
                <a:gd name="adj1" fmla="val -50120"/>
                <a:gd name="adj2" fmla="val 79167"/>
              </a:avLst>
            </a:prstGeom>
            <a:solidFill>
              <a:srgbClr val="FFFF23"/>
            </a:solidFill>
            <a:ln w="28575" cap="sq">
              <a:solidFill>
                <a:srgbClr val="C0C0C0"/>
              </a:solidFill>
              <a:round/>
              <a:headEnd type="none" w="sm" len="sm"/>
              <a:tailEnd type="none" w="sm" len="sm"/>
            </a:ln>
            <a:effectLst>
              <a:outerShdw dist="113592" dir="1593903" algn="ctr" rotWithShape="0">
                <a:srgbClr val="B2B2B2"/>
              </a:outerShdw>
            </a:effectLst>
          </p:spPr>
          <p:txBody>
            <a:bodyPr wrap="none" anchor="ctr"/>
            <a:lstStyle/>
            <a:p>
              <a:pPr algn="ctr"/>
              <a:endParaRPr lang="zh-CN" altLang="en-US" sz="2400" b="1"/>
            </a:p>
          </p:txBody>
        </p:sp>
        <p:sp>
          <p:nvSpPr>
            <p:cNvPr id="32829" name="Text Box 11"/>
            <p:cNvSpPr txBox="1">
              <a:spLocks noChangeArrowheads="1"/>
            </p:cNvSpPr>
            <p:nvPr/>
          </p:nvSpPr>
          <p:spPr bwMode="auto">
            <a:xfrm>
              <a:off x="4087" y="716"/>
              <a:ext cx="1776" cy="291"/>
            </a:xfrm>
            <a:prstGeom prst="rect">
              <a:avLst/>
            </a:prstGeom>
            <a:noFill/>
            <a:ln w="12700" cap="sq">
              <a:noFill/>
              <a:miter lim="800000"/>
              <a:headEnd type="none" w="sm" len="sm"/>
              <a:tailEnd type="none" w="sm" len="sm"/>
            </a:ln>
            <a:effectLst>
              <a:outerShdw dist="28398" dir="3806097" algn="ctr" rotWithShape="0">
                <a:schemeClr val="bg1"/>
              </a:outerShdw>
            </a:effectLst>
          </p:spPr>
          <p:txBody>
            <a:bodyPr>
              <a:spAutoFit/>
            </a:bodyPr>
            <a:lstStyle/>
            <a:p>
              <a:r>
                <a:rPr lang="zh-CN" altLang="en-US" sz="2400" b="1" i="1" dirty="0">
                  <a:solidFill>
                    <a:srgbClr val="FF0000"/>
                  </a:solidFill>
                  <a:ea typeface="黑体" pitchFamily="2" charset="-122"/>
                </a:rPr>
                <a:t>后进先出</a:t>
              </a:r>
            </a:p>
          </p:txBody>
        </p:sp>
      </p:grpSp>
      <p:grpSp>
        <p:nvGrpSpPr>
          <p:cNvPr id="5" name="Group 12"/>
          <p:cNvGrpSpPr>
            <a:grpSpLocks/>
          </p:cNvGrpSpPr>
          <p:nvPr/>
        </p:nvGrpSpPr>
        <p:grpSpPr bwMode="auto">
          <a:xfrm>
            <a:off x="2139949" y="4241379"/>
            <a:ext cx="3810000" cy="381000"/>
            <a:chOff x="1200" y="3120"/>
            <a:chExt cx="2400" cy="240"/>
          </a:xfrm>
        </p:grpSpPr>
        <p:sp>
          <p:nvSpPr>
            <p:cNvPr id="32818" name="Rectangle 13"/>
            <p:cNvSpPr>
              <a:spLocks noChangeArrowheads="1"/>
            </p:cNvSpPr>
            <p:nvPr/>
          </p:nvSpPr>
          <p:spPr bwMode="auto">
            <a:xfrm>
              <a:off x="1200" y="3120"/>
              <a:ext cx="240" cy="240"/>
            </a:xfrm>
            <a:prstGeom prst="rect">
              <a:avLst/>
            </a:prstGeom>
            <a:noFill/>
            <a:ln w="22225" cap="sq">
              <a:solidFill>
                <a:srgbClr val="003300"/>
              </a:solidFill>
              <a:miter lim="800000"/>
              <a:headEnd type="none" w="sm" len="sm"/>
              <a:tailEnd type="none" w="sm" len="sm"/>
            </a:ln>
          </p:spPr>
          <p:txBody>
            <a:bodyPr wrap="none" anchor="ctr"/>
            <a:lstStyle/>
            <a:p>
              <a:endParaRPr lang="zh-CN" altLang="en-US"/>
            </a:p>
          </p:txBody>
        </p:sp>
        <p:sp>
          <p:nvSpPr>
            <p:cNvPr id="32819" name="Rectangle 14"/>
            <p:cNvSpPr>
              <a:spLocks noChangeArrowheads="1"/>
            </p:cNvSpPr>
            <p:nvPr/>
          </p:nvSpPr>
          <p:spPr bwMode="auto">
            <a:xfrm>
              <a:off x="1440" y="3120"/>
              <a:ext cx="240" cy="240"/>
            </a:xfrm>
            <a:prstGeom prst="rect">
              <a:avLst/>
            </a:prstGeom>
            <a:noFill/>
            <a:ln w="22225" cap="sq">
              <a:solidFill>
                <a:srgbClr val="003300"/>
              </a:solidFill>
              <a:miter lim="800000"/>
              <a:headEnd type="none" w="sm" len="sm"/>
              <a:tailEnd type="none" w="sm" len="sm"/>
            </a:ln>
          </p:spPr>
          <p:txBody>
            <a:bodyPr wrap="none" anchor="ctr"/>
            <a:lstStyle/>
            <a:p>
              <a:endParaRPr lang="zh-CN" altLang="en-US"/>
            </a:p>
          </p:txBody>
        </p:sp>
        <p:sp>
          <p:nvSpPr>
            <p:cNvPr id="32820" name="Rectangle 15"/>
            <p:cNvSpPr>
              <a:spLocks noChangeArrowheads="1"/>
            </p:cNvSpPr>
            <p:nvPr/>
          </p:nvSpPr>
          <p:spPr bwMode="auto">
            <a:xfrm>
              <a:off x="1680" y="3120"/>
              <a:ext cx="240" cy="240"/>
            </a:xfrm>
            <a:prstGeom prst="rect">
              <a:avLst/>
            </a:prstGeom>
            <a:noFill/>
            <a:ln w="22225" cap="sq">
              <a:solidFill>
                <a:srgbClr val="003300"/>
              </a:solidFill>
              <a:miter lim="800000"/>
              <a:headEnd type="none" w="sm" len="sm"/>
              <a:tailEnd type="none" w="sm" len="sm"/>
            </a:ln>
          </p:spPr>
          <p:txBody>
            <a:bodyPr wrap="none" anchor="ctr"/>
            <a:lstStyle/>
            <a:p>
              <a:endParaRPr lang="zh-CN" altLang="en-US"/>
            </a:p>
          </p:txBody>
        </p:sp>
        <p:sp>
          <p:nvSpPr>
            <p:cNvPr id="32821" name="Rectangle 16"/>
            <p:cNvSpPr>
              <a:spLocks noChangeArrowheads="1"/>
            </p:cNvSpPr>
            <p:nvPr/>
          </p:nvSpPr>
          <p:spPr bwMode="auto">
            <a:xfrm>
              <a:off x="1920" y="3120"/>
              <a:ext cx="240" cy="240"/>
            </a:xfrm>
            <a:prstGeom prst="rect">
              <a:avLst/>
            </a:prstGeom>
            <a:noFill/>
            <a:ln w="22225" cap="sq">
              <a:solidFill>
                <a:srgbClr val="003300"/>
              </a:solidFill>
              <a:miter lim="800000"/>
              <a:headEnd type="none" w="sm" len="sm"/>
              <a:tailEnd type="none" w="sm" len="sm"/>
            </a:ln>
          </p:spPr>
          <p:txBody>
            <a:bodyPr wrap="none" anchor="ctr"/>
            <a:lstStyle/>
            <a:p>
              <a:endParaRPr lang="zh-CN" altLang="en-US"/>
            </a:p>
          </p:txBody>
        </p:sp>
        <p:sp>
          <p:nvSpPr>
            <p:cNvPr id="32822" name="Rectangle 17"/>
            <p:cNvSpPr>
              <a:spLocks noChangeArrowheads="1"/>
            </p:cNvSpPr>
            <p:nvPr/>
          </p:nvSpPr>
          <p:spPr bwMode="auto">
            <a:xfrm>
              <a:off x="2160" y="3120"/>
              <a:ext cx="240" cy="240"/>
            </a:xfrm>
            <a:prstGeom prst="rect">
              <a:avLst/>
            </a:prstGeom>
            <a:noFill/>
            <a:ln w="22225" cap="sq">
              <a:solidFill>
                <a:srgbClr val="003300"/>
              </a:solidFill>
              <a:miter lim="800000"/>
              <a:headEnd type="none" w="sm" len="sm"/>
              <a:tailEnd type="none" w="sm" len="sm"/>
            </a:ln>
          </p:spPr>
          <p:txBody>
            <a:bodyPr wrap="none" anchor="ctr"/>
            <a:lstStyle/>
            <a:p>
              <a:endParaRPr lang="zh-CN" altLang="en-US"/>
            </a:p>
          </p:txBody>
        </p:sp>
        <p:sp>
          <p:nvSpPr>
            <p:cNvPr id="32823" name="Rectangle 18"/>
            <p:cNvSpPr>
              <a:spLocks noChangeArrowheads="1"/>
            </p:cNvSpPr>
            <p:nvPr/>
          </p:nvSpPr>
          <p:spPr bwMode="auto">
            <a:xfrm>
              <a:off x="2400" y="3120"/>
              <a:ext cx="240" cy="240"/>
            </a:xfrm>
            <a:prstGeom prst="rect">
              <a:avLst/>
            </a:prstGeom>
            <a:noFill/>
            <a:ln w="22225" cap="sq">
              <a:solidFill>
                <a:srgbClr val="003300"/>
              </a:solidFill>
              <a:miter lim="800000"/>
              <a:headEnd type="none" w="sm" len="sm"/>
              <a:tailEnd type="none" w="sm" len="sm"/>
            </a:ln>
          </p:spPr>
          <p:txBody>
            <a:bodyPr wrap="none" anchor="ctr"/>
            <a:lstStyle/>
            <a:p>
              <a:endParaRPr lang="zh-CN" altLang="en-US"/>
            </a:p>
          </p:txBody>
        </p:sp>
        <p:sp>
          <p:nvSpPr>
            <p:cNvPr id="32824" name="Rectangle 19"/>
            <p:cNvSpPr>
              <a:spLocks noChangeArrowheads="1"/>
            </p:cNvSpPr>
            <p:nvPr/>
          </p:nvSpPr>
          <p:spPr bwMode="auto">
            <a:xfrm>
              <a:off x="2640" y="3120"/>
              <a:ext cx="240" cy="240"/>
            </a:xfrm>
            <a:prstGeom prst="rect">
              <a:avLst/>
            </a:prstGeom>
            <a:noFill/>
            <a:ln w="22225" cap="sq">
              <a:solidFill>
                <a:srgbClr val="003300"/>
              </a:solidFill>
              <a:miter lim="800000"/>
              <a:headEnd type="none" w="sm" len="sm"/>
              <a:tailEnd type="none" w="sm" len="sm"/>
            </a:ln>
          </p:spPr>
          <p:txBody>
            <a:bodyPr wrap="none" anchor="ctr"/>
            <a:lstStyle/>
            <a:p>
              <a:endParaRPr lang="zh-CN" altLang="en-US"/>
            </a:p>
          </p:txBody>
        </p:sp>
        <p:sp>
          <p:nvSpPr>
            <p:cNvPr id="32825" name="Rectangle 20"/>
            <p:cNvSpPr>
              <a:spLocks noChangeArrowheads="1"/>
            </p:cNvSpPr>
            <p:nvPr/>
          </p:nvSpPr>
          <p:spPr bwMode="auto">
            <a:xfrm>
              <a:off x="2880" y="3120"/>
              <a:ext cx="240" cy="240"/>
            </a:xfrm>
            <a:prstGeom prst="rect">
              <a:avLst/>
            </a:prstGeom>
            <a:noFill/>
            <a:ln w="22225" cap="sq">
              <a:solidFill>
                <a:srgbClr val="003300"/>
              </a:solidFill>
              <a:miter lim="800000"/>
              <a:headEnd type="none" w="sm" len="sm"/>
              <a:tailEnd type="none" w="sm" len="sm"/>
            </a:ln>
          </p:spPr>
          <p:txBody>
            <a:bodyPr wrap="none" anchor="ctr"/>
            <a:lstStyle/>
            <a:p>
              <a:endParaRPr lang="zh-CN" altLang="en-US"/>
            </a:p>
          </p:txBody>
        </p:sp>
        <p:sp>
          <p:nvSpPr>
            <p:cNvPr id="32826" name="Rectangle 21"/>
            <p:cNvSpPr>
              <a:spLocks noChangeArrowheads="1"/>
            </p:cNvSpPr>
            <p:nvPr/>
          </p:nvSpPr>
          <p:spPr bwMode="auto">
            <a:xfrm>
              <a:off x="3120" y="3120"/>
              <a:ext cx="240" cy="240"/>
            </a:xfrm>
            <a:prstGeom prst="rect">
              <a:avLst/>
            </a:prstGeom>
            <a:noFill/>
            <a:ln w="22225" cap="sq">
              <a:solidFill>
                <a:srgbClr val="003300"/>
              </a:solidFill>
              <a:miter lim="800000"/>
              <a:headEnd type="none" w="sm" len="sm"/>
              <a:tailEnd type="none" w="sm" len="sm"/>
            </a:ln>
          </p:spPr>
          <p:txBody>
            <a:bodyPr wrap="none" anchor="ctr"/>
            <a:lstStyle/>
            <a:p>
              <a:endParaRPr lang="zh-CN" altLang="en-US"/>
            </a:p>
          </p:txBody>
        </p:sp>
        <p:sp>
          <p:nvSpPr>
            <p:cNvPr id="32827" name="Rectangle 22"/>
            <p:cNvSpPr>
              <a:spLocks noChangeArrowheads="1"/>
            </p:cNvSpPr>
            <p:nvPr/>
          </p:nvSpPr>
          <p:spPr bwMode="auto">
            <a:xfrm>
              <a:off x="3360" y="3120"/>
              <a:ext cx="240" cy="240"/>
            </a:xfrm>
            <a:prstGeom prst="rect">
              <a:avLst/>
            </a:prstGeom>
            <a:noFill/>
            <a:ln w="22225" cap="sq">
              <a:solidFill>
                <a:srgbClr val="003300"/>
              </a:solidFill>
              <a:miter lim="800000"/>
              <a:headEnd type="none" w="sm" len="sm"/>
              <a:tailEnd type="none" w="sm" len="sm"/>
            </a:ln>
          </p:spPr>
          <p:txBody>
            <a:bodyPr wrap="none" anchor="ctr"/>
            <a:lstStyle/>
            <a:p>
              <a:endParaRPr lang="zh-CN" altLang="en-US"/>
            </a:p>
          </p:txBody>
        </p:sp>
      </p:grpSp>
      <p:sp>
        <p:nvSpPr>
          <p:cNvPr id="273431" name="Text Box 23"/>
          <p:cNvSpPr txBox="1">
            <a:spLocks noChangeArrowheads="1"/>
          </p:cNvSpPr>
          <p:nvPr/>
        </p:nvSpPr>
        <p:spPr bwMode="auto">
          <a:xfrm>
            <a:off x="2158999" y="4165179"/>
            <a:ext cx="361950" cy="519112"/>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CC"/>
                </a:solidFill>
              </a:rPr>
              <a:t>a</a:t>
            </a:r>
          </a:p>
        </p:txBody>
      </p:sp>
      <p:sp>
        <p:nvSpPr>
          <p:cNvPr id="273432" name="Text Box 24"/>
          <p:cNvSpPr txBox="1">
            <a:spLocks noChangeArrowheads="1"/>
          </p:cNvSpPr>
          <p:nvPr/>
        </p:nvSpPr>
        <p:spPr bwMode="auto">
          <a:xfrm>
            <a:off x="2520949" y="4179466"/>
            <a:ext cx="364202" cy="52322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CC"/>
                </a:solidFill>
              </a:rPr>
              <a:t>b</a:t>
            </a:r>
          </a:p>
        </p:txBody>
      </p:sp>
      <p:sp>
        <p:nvSpPr>
          <p:cNvPr id="273433" name="Text Box 25"/>
          <p:cNvSpPr txBox="1">
            <a:spLocks noChangeArrowheads="1"/>
          </p:cNvSpPr>
          <p:nvPr/>
        </p:nvSpPr>
        <p:spPr bwMode="auto">
          <a:xfrm>
            <a:off x="2901949" y="4160416"/>
            <a:ext cx="348172" cy="52322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CC"/>
                </a:solidFill>
              </a:rPr>
              <a:t>c</a:t>
            </a:r>
          </a:p>
        </p:txBody>
      </p:sp>
      <p:sp>
        <p:nvSpPr>
          <p:cNvPr id="273434" name="Text Box 26"/>
          <p:cNvSpPr txBox="1">
            <a:spLocks noChangeArrowheads="1"/>
          </p:cNvSpPr>
          <p:nvPr/>
        </p:nvSpPr>
        <p:spPr bwMode="auto">
          <a:xfrm>
            <a:off x="3263899" y="4179466"/>
            <a:ext cx="364202" cy="52322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CC"/>
                </a:solidFill>
              </a:rPr>
              <a:t>d</a:t>
            </a:r>
          </a:p>
        </p:txBody>
      </p:sp>
      <p:sp>
        <p:nvSpPr>
          <p:cNvPr id="273435" name="Text Box 27"/>
          <p:cNvSpPr txBox="1">
            <a:spLocks noChangeArrowheads="1"/>
          </p:cNvSpPr>
          <p:nvPr/>
        </p:nvSpPr>
        <p:spPr bwMode="auto">
          <a:xfrm>
            <a:off x="3663949" y="4158829"/>
            <a:ext cx="348172" cy="523220"/>
          </a:xfrm>
          <a:prstGeom prst="rect">
            <a:avLst/>
          </a:prstGeom>
          <a:noFill/>
          <a:ln w="12700" cap="sq">
            <a:noFill/>
            <a:miter lim="800000"/>
            <a:headEnd type="none" w="sm" len="sm"/>
            <a:tailEnd type="none" w="sm" len="sm"/>
          </a:ln>
        </p:spPr>
        <p:txBody>
          <a:bodyPr wrap="none">
            <a:spAutoFit/>
          </a:bodyPr>
          <a:lstStyle/>
          <a:p>
            <a:r>
              <a:rPr lang="en-US" altLang="zh-CN" sz="2800" b="1">
                <a:solidFill>
                  <a:schemeClr val="accent2"/>
                </a:solidFill>
              </a:rPr>
              <a:t>e</a:t>
            </a:r>
          </a:p>
        </p:txBody>
      </p:sp>
      <p:sp>
        <p:nvSpPr>
          <p:cNvPr id="273436" name="Text Box 28"/>
          <p:cNvSpPr txBox="1">
            <a:spLocks noChangeArrowheads="1"/>
          </p:cNvSpPr>
          <p:nvPr/>
        </p:nvSpPr>
        <p:spPr bwMode="auto">
          <a:xfrm>
            <a:off x="4044949" y="4203279"/>
            <a:ext cx="336550" cy="457200"/>
          </a:xfrm>
          <a:prstGeom prst="rect">
            <a:avLst/>
          </a:prstGeom>
          <a:noFill/>
          <a:ln w="12700" cap="sq">
            <a:noFill/>
            <a:miter lim="800000"/>
            <a:headEnd type="none" w="sm" len="sm"/>
            <a:tailEnd type="none" w="sm" len="sm"/>
          </a:ln>
        </p:spPr>
        <p:txBody>
          <a:bodyPr wrap="none">
            <a:spAutoFit/>
          </a:bodyPr>
          <a:lstStyle/>
          <a:p>
            <a:r>
              <a:rPr lang="en-US" altLang="zh-CN" sz="2400" b="1">
                <a:solidFill>
                  <a:schemeClr val="accent2"/>
                </a:solidFill>
              </a:rPr>
              <a:t>x</a:t>
            </a:r>
          </a:p>
        </p:txBody>
      </p:sp>
      <p:grpSp>
        <p:nvGrpSpPr>
          <p:cNvPr id="6" name="Group 29"/>
          <p:cNvGrpSpPr>
            <a:grpSpLocks/>
          </p:cNvGrpSpPr>
          <p:nvPr/>
        </p:nvGrpSpPr>
        <p:grpSpPr bwMode="auto">
          <a:xfrm>
            <a:off x="3511550" y="4643021"/>
            <a:ext cx="576263" cy="614363"/>
            <a:chOff x="2160" y="3120"/>
            <a:chExt cx="363" cy="387"/>
          </a:xfrm>
        </p:grpSpPr>
        <p:sp>
          <p:nvSpPr>
            <p:cNvPr id="32816" name="Line 30"/>
            <p:cNvSpPr>
              <a:spLocks noChangeShapeType="1"/>
            </p:cNvSpPr>
            <p:nvPr/>
          </p:nvSpPr>
          <p:spPr bwMode="auto">
            <a:xfrm flipV="1">
              <a:off x="2352" y="3120"/>
              <a:ext cx="0" cy="144"/>
            </a:xfrm>
            <a:prstGeom prst="line">
              <a:avLst/>
            </a:prstGeom>
            <a:noFill/>
            <a:ln w="38100" cap="sq">
              <a:solidFill>
                <a:srgbClr val="FF3300"/>
              </a:solidFill>
              <a:round/>
              <a:headEnd type="none" w="sm" len="sm"/>
              <a:tailEnd type="triangle" w="sm" len="sm"/>
            </a:ln>
          </p:spPr>
          <p:txBody>
            <a:bodyPr/>
            <a:lstStyle/>
            <a:p>
              <a:endParaRPr lang="zh-CN" altLang="en-US"/>
            </a:p>
          </p:txBody>
        </p:sp>
        <p:sp>
          <p:nvSpPr>
            <p:cNvPr id="32817" name="Text Box 31"/>
            <p:cNvSpPr txBox="1">
              <a:spLocks noChangeArrowheads="1"/>
            </p:cNvSpPr>
            <p:nvPr/>
          </p:nvSpPr>
          <p:spPr bwMode="auto">
            <a:xfrm>
              <a:off x="2160" y="3216"/>
              <a:ext cx="363" cy="291"/>
            </a:xfrm>
            <a:prstGeom prst="rect">
              <a:avLst/>
            </a:prstGeom>
            <a:noFill/>
            <a:ln w="12700" cap="sq">
              <a:noFill/>
              <a:miter lim="800000"/>
              <a:headEnd type="none" w="sm" len="sm"/>
              <a:tailEnd type="none" w="sm" len="sm"/>
            </a:ln>
          </p:spPr>
          <p:txBody>
            <a:bodyPr wrap="none">
              <a:spAutoFit/>
            </a:bodyPr>
            <a:lstStyle/>
            <a:p>
              <a:r>
                <a:rPr lang="en-US" altLang="zh-CN" sz="2400" b="1">
                  <a:solidFill>
                    <a:srgbClr val="FF3300"/>
                  </a:solidFill>
                </a:rPr>
                <a:t>top</a:t>
              </a:r>
            </a:p>
          </p:txBody>
        </p:sp>
      </p:grpSp>
      <p:grpSp>
        <p:nvGrpSpPr>
          <p:cNvPr id="7" name="Group 77"/>
          <p:cNvGrpSpPr>
            <a:grpSpLocks/>
          </p:cNvGrpSpPr>
          <p:nvPr/>
        </p:nvGrpSpPr>
        <p:grpSpPr bwMode="auto">
          <a:xfrm>
            <a:off x="3675063" y="4643016"/>
            <a:ext cx="515937" cy="266700"/>
            <a:chOff x="2109" y="2968"/>
            <a:chExt cx="325" cy="168"/>
          </a:xfrm>
        </p:grpSpPr>
        <p:sp>
          <p:nvSpPr>
            <p:cNvPr id="32814" name="Rectangle 33"/>
            <p:cNvSpPr>
              <a:spLocks noChangeArrowheads="1"/>
            </p:cNvSpPr>
            <p:nvPr/>
          </p:nvSpPr>
          <p:spPr bwMode="auto">
            <a:xfrm>
              <a:off x="2109" y="2968"/>
              <a:ext cx="209" cy="168"/>
            </a:xfrm>
            <a:prstGeom prst="rect">
              <a:avLst/>
            </a:prstGeom>
            <a:solidFill>
              <a:srgbClr val="FFFFFF"/>
            </a:solidFill>
            <a:ln w="12700" cap="sq">
              <a:noFill/>
              <a:miter lim="800000"/>
              <a:headEnd type="none" w="sm" len="sm"/>
              <a:tailEnd type="none" w="sm" len="sm"/>
            </a:ln>
          </p:spPr>
          <p:txBody>
            <a:bodyPr wrap="none" anchor="ctr"/>
            <a:lstStyle/>
            <a:p>
              <a:endParaRPr lang="zh-CN" altLang="en-US"/>
            </a:p>
          </p:txBody>
        </p:sp>
        <p:sp>
          <p:nvSpPr>
            <p:cNvPr id="32815" name="Line 34"/>
            <p:cNvSpPr>
              <a:spLocks noChangeShapeType="1"/>
            </p:cNvSpPr>
            <p:nvPr/>
          </p:nvSpPr>
          <p:spPr bwMode="auto">
            <a:xfrm flipV="1">
              <a:off x="2290" y="2976"/>
              <a:ext cx="144" cy="137"/>
            </a:xfrm>
            <a:prstGeom prst="line">
              <a:avLst/>
            </a:prstGeom>
            <a:noFill/>
            <a:ln w="22225" cap="sq">
              <a:solidFill>
                <a:srgbClr val="FF0000"/>
              </a:solidFill>
              <a:round/>
              <a:headEnd type="none" w="sm" len="sm"/>
              <a:tailEnd type="triangle" w="med" len="med"/>
            </a:ln>
          </p:spPr>
          <p:txBody>
            <a:bodyPr/>
            <a:lstStyle/>
            <a:p>
              <a:endParaRPr lang="zh-CN" altLang="en-US"/>
            </a:p>
          </p:txBody>
        </p:sp>
      </p:grpSp>
      <p:grpSp>
        <p:nvGrpSpPr>
          <p:cNvPr id="8" name="Group 35"/>
          <p:cNvGrpSpPr>
            <a:grpSpLocks/>
          </p:cNvGrpSpPr>
          <p:nvPr/>
        </p:nvGrpSpPr>
        <p:grpSpPr bwMode="auto">
          <a:xfrm>
            <a:off x="6254749" y="4195341"/>
            <a:ext cx="1295400" cy="503238"/>
            <a:chOff x="3888" y="2755"/>
            <a:chExt cx="816" cy="317"/>
          </a:xfrm>
        </p:grpSpPr>
        <p:sp>
          <p:nvSpPr>
            <p:cNvPr id="32812" name="AutoShape 36"/>
            <p:cNvSpPr>
              <a:spLocks noChangeArrowheads="1"/>
            </p:cNvSpPr>
            <p:nvPr/>
          </p:nvSpPr>
          <p:spPr bwMode="auto">
            <a:xfrm>
              <a:off x="3888" y="2781"/>
              <a:ext cx="816" cy="288"/>
            </a:xfrm>
            <a:prstGeom prst="wedgeEllipseCallout">
              <a:avLst>
                <a:gd name="adj1" fmla="val -68995"/>
                <a:gd name="adj2" fmla="val 4861"/>
              </a:avLst>
            </a:prstGeom>
            <a:gradFill rotWithShape="0">
              <a:gsLst>
                <a:gs pos="0">
                  <a:srgbClr val="760000"/>
                </a:gs>
                <a:gs pos="50000">
                  <a:srgbClr val="FF0000"/>
                </a:gs>
                <a:gs pos="100000">
                  <a:srgbClr val="760000"/>
                </a:gs>
              </a:gsLst>
              <a:lin ang="18900000" scaled="1"/>
            </a:gradFill>
            <a:ln w="19050" cap="sq">
              <a:solidFill>
                <a:schemeClr val="tx2"/>
              </a:solidFill>
              <a:miter lim="800000"/>
              <a:headEnd type="none" w="sm" len="sm"/>
              <a:tailEnd type="none" w="sm" len="sm"/>
            </a:ln>
            <a:effectLst>
              <a:outerShdw dist="71842" dir="2700000" algn="ctr" rotWithShape="0">
                <a:srgbClr val="B2B2B2"/>
              </a:outerShdw>
            </a:effectLst>
          </p:spPr>
          <p:txBody>
            <a:bodyPr/>
            <a:lstStyle/>
            <a:p>
              <a:pPr algn="ctr"/>
              <a:endParaRPr lang="zh-CN" altLang="en-US" b="1"/>
            </a:p>
          </p:txBody>
        </p:sp>
        <p:sp>
          <p:nvSpPr>
            <p:cNvPr id="32813" name="Text Box 37"/>
            <p:cNvSpPr txBox="1">
              <a:spLocks noChangeArrowheads="1"/>
            </p:cNvSpPr>
            <p:nvPr/>
          </p:nvSpPr>
          <p:spPr bwMode="auto">
            <a:xfrm>
              <a:off x="3973" y="2755"/>
              <a:ext cx="731" cy="317"/>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a:spAutoFit/>
            </a:bodyPr>
            <a:lstStyle/>
            <a:p>
              <a:r>
                <a:rPr lang="zh-CN" altLang="en-US" sz="2700" b="1" i="1">
                  <a:solidFill>
                    <a:srgbClr val="FFFFFF"/>
                  </a:solidFill>
                  <a:ea typeface="黑体" pitchFamily="2" charset="-122"/>
                </a:rPr>
                <a:t>进栈</a:t>
              </a:r>
            </a:p>
          </p:txBody>
        </p:sp>
      </p:grpSp>
      <p:grpSp>
        <p:nvGrpSpPr>
          <p:cNvPr id="9" name="Group 38"/>
          <p:cNvGrpSpPr>
            <a:grpSpLocks/>
          </p:cNvGrpSpPr>
          <p:nvPr/>
        </p:nvGrpSpPr>
        <p:grpSpPr bwMode="auto">
          <a:xfrm>
            <a:off x="2139949" y="5384383"/>
            <a:ext cx="3810000" cy="1090613"/>
            <a:chOff x="1296" y="3504"/>
            <a:chExt cx="2400" cy="687"/>
          </a:xfrm>
        </p:grpSpPr>
        <p:grpSp>
          <p:nvGrpSpPr>
            <p:cNvPr id="10" name="Group 39"/>
            <p:cNvGrpSpPr>
              <a:grpSpLocks/>
            </p:cNvGrpSpPr>
            <p:nvPr/>
          </p:nvGrpSpPr>
          <p:grpSpPr bwMode="auto">
            <a:xfrm>
              <a:off x="1296" y="3552"/>
              <a:ext cx="2400" cy="240"/>
              <a:chOff x="1200" y="3120"/>
              <a:chExt cx="2400" cy="240"/>
            </a:xfrm>
          </p:grpSpPr>
          <p:sp>
            <p:nvSpPr>
              <p:cNvPr id="32802" name="Rectangle 40"/>
              <p:cNvSpPr>
                <a:spLocks noChangeArrowheads="1"/>
              </p:cNvSpPr>
              <p:nvPr/>
            </p:nvSpPr>
            <p:spPr bwMode="auto">
              <a:xfrm>
                <a:off x="1200" y="3120"/>
                <a:ext cx="240"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32803" name="Rectangle 41"/>
              <p:cNvSpPr>
                <a:spLocks noChangeArrowheads="1"/>
              </p:cNvSpPr>
              <p:nvPr/>
            </p:nvSpPr>
            <p:spPr bwMode="auto">
              <a:xfrm>
                <a:off x="1440" y="3120"/>
                <a:ext cx="240"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32804" name="Rectangle 42"/>
              <p:cNvSpPr>
                <a:spLocks noChangeArrowheads="1"/>
              </p:cNvSpPr>
              <p:nvPr/>
            </p:nvSpPr>
            <p:spPr bwMode="auto">
              <a:xfrm>
                <a:off x="1680" y="3120"/>
                <a:ext cx="240"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32805" name="Rectangle 43"/>
              <p:cNvSpPr>
                <a:spLocks noChangeArrowheads="1"/>
              </p:cNvSpPr>
              <p:nvPr/>
            </p:nvSpPr>
            <p:spPr bwMode="auto">
              <a:xfrm>
                <a:off x="1920" y="3120"/>
                <a:ext cx="240"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32806" name="Rectangle 44"/>
              <p:cNvSpPr>
                <a:spLocks noChangeArrowheads="1"/>
              </p:cNvSpPr>
              <p:nvPr/>
            </p:nvSpPr>
            <p:spPr bwMode="auto">
              <a:xfrm>
                <a:off x="2160" y="3120"/>
                <a:ext cx="240"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32807" name="Rectangle 45"/>
              <p:cNvSpPr>
                <a:spLocks noChangeArrowheads="1"/>
              </p:cNvSpPr>
              <p:nvPr/>
            </p:nvSpPr>
            <p:spPr bwMode="auto">
              <a:xfrm>
                <a:off x="2400" y="3120"/>
                <a:ext cx="240"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32808" name="Rectangle 46"/>
              <p:cNvSpPr>
                <a:spLocks noChangeArrowheads="1"/>
              </p:cNvSpPr>
              <p:nvPr/>
            </p:nvSpPr>
            <p:spPr bwMode="auto">
              <a:xfrm>
                <a:off x="2640" y="3120"/>
                <a:ext cx="240"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32809" name="Rectangle 47"/>
              <p:cNvSpPr>
                <a:spLocks noChangeArrowheads="1"/>
              </p:cNvSpPr>
              <p:nvPr/>
            </p:nvSpPr>
            <p:spPr bwMode="auto">
              <a:xfrm>
                <a:off x="2880" y="3120"/>
                <a:ext cx="240"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32810" name="Rectangle 48"/>
              <p:cNvSpPr>
                <a:spLocks noChangeArrowheads="1"/>
              </p:cNvSpPr>
              <p:nvPr/>
            </p:nvSpPr>
            <p:spPr bwMode="auto">
              <a:xfrm>
                <a:off x="3120" y="3120"/>
                <a:ext cx="240"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32811" name="Rectangle 49"/>
              <p:cNvSpPr>
                <a:spLocks noChangeArrowheads="1"/>
              </p:cNvSpPr>
              <p:nvPr/>
            </p:nvSpPr>
            <p:spPr bwMode="auto">
              <a:xfrm>
                <a:off x="3360" y="3120"/>
                <a:ext cx="240"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grpSp>
        <p:sp>
          <p:nvSpPr>
            <p:cNvPr id="32795" name="Text Box 50"/>
            <p:cNvSpPr txBox="1">
              <a:spLocks noChangeArrowheads="1"/>
            </p:cNvSpPr>
            <p:nvPr/>
          </p:nvSpPr>
          <p:spPr bwMode="auto">
            <a:xfrm>
              <a:off x="1993" y="3504"/>
              <a:ext cx="229" cy="33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CC"/>
                  </a:solidFill>
                </a:rPr>
                <a:t>d</a:t>
              </a:r>
            </a:p>
          </p:txBody>
        </p:sp>
        <p:sp>
          <p:nvSpPr>
            <p:cNvPr id="32796" name="Text Box 51"/>
            <p:cNvSpPr txBox="1">
              <a:spLocks noChangeArrowheads="1"/>
            </p:cNvSpPr>
            <p:nvPr/>
          </p:nvSpPr>
          <p:spPr bwMode="auto">
            <a:xfrm>
              <a:off x="1776" y="3504"/>
              <a:ext cx="219" cy="33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CC"/>
                  </a:solidFill>
                </a:rPr>
                <a:t>c</a:t>
              </a:r>
            </a:p>
          </p:txBody>
        </p:sp>
        <p:sp>
          <p:nvSpPr>
            <p:cNvPr id="32797" name="Text Box 52"/>
            <p:cNvSpPr txBox="1">
              <a:spLocks noChangeArrowheads="1"/>
            </p:cNvSpPr>
            <p:nvPr/>
          </p:nvSpPr>
          <p:spPr bwMode="auto">
            <a:xfrm>
              <a:off x="1536" y="3513"/>
              <a:ext cx="229" cy="33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CC"/>
                  </a:solidFill>
                </a:rPr>
                <a:t>b</a:t>
              </a:r>
            </a:p>
          </p:txBody>
        </p:sp>
        <p:sp>
          <p:nvSpPr>
            <p:cNvPr id="32798" name="Text Box 53"/>
            <p:cNvSpPr txBox="1">
              <a:spLocks noChangeArrowheads="1"/>
            </p:cNvSpPr>
            <p:nvPr/>
          </p:nvSpPr>
          <p:spPr bwMode="auto">
            <a:xfrm>
              <a:off x="1296" y="3504"/>
              <a:ext cx="228" cy="327"/>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CC"/>
                  </a:solidFill>
                </a:rPr>
                <a:t>a</a:t>
              </a:r>
            </a:p>
          </p:txBody>
        </p:sp>
        <p:sp>
          <p:nvSpPr>
            <p:cNvPr id="32799" name="Text Box 54"/>
            <p:cNvSpPr txBox="1">
              <a:spLocks noChangeArrowheads="1"/>
            </p:cNvSpPr>
            <p:nvPr/>
          </p:nvSpPr>
          <p:spPr bwMode="auto">
            <a:xfrm>
              <a:off x="2256" y="3504"/>
              <a:ext cx="219" cy="33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CC"/>
                  </a:solidFill>
                </a:rPr>
                <a:t>e</a:t>
              </a:r>
            </a:p>
          </p:txBody>
        </p:sp>
        <p:sp>
          <p:nvSpPr>
            <p:cNvPr id="32800" name="Line 55"/>
            <p:cNvSpPr>
              <a:spLocks noChangeShapeType="1"/>
            </p:cNvSpPr>
            <p:nvPr/>
          </p:nvSpPr>
          <p:spPr bwMode="auto">
            <a:xfrm flipV="1">
              <a:off x="2352" y="3816"/>
              <a:ext cx="0" cy="144"/>
            </a:xfrm>
            <a:prstGeom prst="line">
              <a:avLst/>
            </a:prstGeom>
            <a:noFill/>
            <a:ln w="38100" cap="sq">
              <a:solidFill>
                <a:srgbClr val="FF3300"/>
              </a:solidFill>
              <a:round/>
              <a:headEnd type="none" w="sm" len="sm"/>
              <a:tailEnd type="triangle" w="sm" len="sm"/>
            </a:ln>
          </p:spPr>
          <p:txBody>
            <a:bodyPr/>
            <a:lstStyle/>
            <a:p>
              <a:endParaRPr lang="zh-CN" altLang="en-US"/>
            </a:p>
          </p:txBody>
        </p:sp>
        <p:sp>
          <p:nvSpPr>
            <p:cNvPr id="32801" name="Text Box 56"/>
            <p:cNvSpPr txBox="1">
              <a:spLocks noChangeArrowheads="1"/>
            </p:cNvSpPr>
            <p:nvPr/>
          </p:nvSpPr>
          <p:spPr bwMode="auto">
            <a:xfrm>
              <a:off x="2160" y="3900"/>
              <a:ext cx="363" cy="291"/>
            </a:xfrm>
            <a:prstGeom prst="rect">
              <a:avLst/>
            </a:prstGeom>
            <a:noFill/>
            <a:ln w="12700" cap="sq">
              <a:noFill/>
              <a:miter lim="800000"/>
              <a:headEnd type="none" w="sm" len="sm"/>
              <a:tailEnd type="none" w="sm" len="sm"/>
            </a:ln>
          </p:spPr>
          <p:txBody>
            <a:bodyPr wrap="none">
              <a:spAutoFit/>
            </a:bodyPr>
            <a:lstStyle/>
            <a:p>
              <a:r>
                <a:rPr lang="en-US" altLang="zh-CN" sz="2400" b="1">
                  <a:solidFill>
                    <a:srgbClr val="FF3300"/>
                  </a:solidFill>
                </a:rPr>
                <a:t>top</a:t>
              </a:r>
            </a:p>
          </p:txBody>
        </p:sp>
      </p:grpSp>
      <p:sp>
        <p:nvSpPr>
          <p:cNvPr id="273465" name="Rectangle 57"/>
          <p:cNvSpPr>
            <a:spLocks noChangeArrowheads="1"/>
          </p:cNvSpPr>
          <p:nvPr/>
        </p:nvSpPr>
        <p:spPr bwMode="auto">
          <a:xfrm>
            <a:off x="3721099" y="5517729"/>
            <a:ext cx="228600" cy="304800"/>
          </a:xfrm>
          <a:prstGeom prst="rect">
            <a:avLst/>
          </a:prstGeom>
          <a:solidFill>
            <a:srgbClr val="FFFFFF"/>
          </a:solidFill>
          <a:ln w="12700" cap="sq">
            <a:noFill/>
            <a:miter lim="800000"/>
            <a:headEnd type="none" w="sm" len="sm"/>
            <a:tailEnd type="none" w="sm" len="sm"/>
          </a:ln>
        </p:spPr>
        <p:txBody>
          <a:bodyPr wrap="none" anchor="ctr"/>
          <a:lstStyle/>
          <a:p>
            <a:endParaRPr lang="zh-CN" altLang="en-US"/>
          </a:p>
        </p:txBody>
      </p:sp>
      <p:grpSp>
        <p:nvGrpSpPr>
          <p:cNvPr id="11" name="Group 58"/>
          <p:cNvGrpSpPr>
            <a:grpSpLocks/>
          </p:cNvGrpSpPr>
          <p:nvPr/>
        </p:nvGrpSpPr>
        <p:grpSpPr bwMode="auto">
          <a:xfrm>
            <a:off x="3435349" y="5841579"/>
            <a:ext cx="628650" cy="285750"/>
            <a:chOff x="2112" y="3792"/>
            <a:chExt cx="396" cy="180"/>
          </a:xfrm>
        </p:grpSpPr>
        <p:sp>
          <p:nvSpPr>
            <p:cNvPr id="32792" name="Rectangle 59"/>
            <p:cNvSpPr>
              <a:spLocks noChangeArrowheads="1"/>
            </p:cNvSpPr>
            <p:nvPr/>
          </p:nvSpPr>
          <p:spPr bwMode="auto">
            <a:xfrm>
              <a:off x="2268" y="3804"/>
              <a:ext cx="240" cy="168"/>
            </a:xfrm>
            <a:prstGeom prst="rect">
              <a:avLst/>
            </a:prstGeom>
            <a:solidFill>
              <a:srgbClr val="FFFFFF"/>
            </a:solidFill>
            <a:ln w="12700" cap="sq">
              <a:noFill/>
              <a:miter lim="800000"/>
              <a:headEnd type="none" w="sm" len="sm"/>
              <a:tailEnd type="none" w="sm" len="sm"/>
            </a:ln>
          </p:spPr>
          <p:txBody>
            <a:bodyPr wrap="none" anchor="ctr"/>
            <a:lstStyle/>
            <a:p>
              <a:endParaRPr lang="zh-CN" altLang="en-US"/>
            </a:p>
          </p:txBody>
        </p:sp>
        <p:sp>
          <p:nvSpPr>
            <p:cNvPr id="32793" name="Line 60"/>
            <p:cNvSpPr>
              <a:spLocks noChangeShapeType="1"/>
            </p:cNvSpPr>
            <p:nvPr/>
          </p:nvSpPr>
          <p:spPr bwMode="auto">
            <a:xfrm flipH="1" flipV="1">
              <a:off x="2112" y="3792"/>
              <a:ext cx="96" cy="144"/>
            </a:xfrm>
            <a:prstGeom prst="line">
              <a:avLst/>
            </a:prstGeom>
            <a:noFill/>
            <a:ln w="19050" cap="sq">
              <a:solidFill>
                <a:srgbClr val="FF0000"/>
              </a:solidFill>
              <a:round/>
              <a:headEnd type="none" w="sm" len="sm"/>
              <a:tailEnd type="triangle" w="sm" len="lg"/>
            </a:ln>
          </p:spPr>
          <p:txBody>
            <a:bodyPr/>
            <a:lstStyle/>
            <a:p>
              <a:endParaRPr lang="zh-CN" altLang="en-US"/>
            </a:p>
          </p:txBody>
        </p:sp>
      </p:grpSp>
      <p:grpSp>
        <p:nvGrpSpPr>
          <p:cNvPr id="12" name="Group 71"/>
          <p:cNvGrpSpPr>
            <a:grpSpLocks/>
          </p:cNvGrpSpPr>
          <p:nvPr/>
        </p:nvGrpSpPr>
        <p:grpSpPr bwMode="auto">
          <a:xfrm>
            <a:off x="936624" y="1052091"/>
            <a:ext cx="3341688" cy="592138"/>
            <a:chOff x="384" y="742"/>
            <a:chExt cx="2105" cy="373"/>
          </a:xfrm>
        </p:grpSpPr>
        <p:sp>
          <p:nvSpPr>
            <p:cNvPr id="32790" name="Rectangle 72"/>
            <p:cNvSpPr>
              <a:spLocks noChangeArrowheads="1"/>
            </p:cNvSpPr>
            <p:nvPr/>
          </p:nvSpPr>
          <p:spPr bwMode="auto">
            <a:xfrm>
              <a:off x="384" y="742"/>
              <a:ext cx="1968" cy="373"/>
            </a:xfrm>
            <a:prstGeom prst="rect">
              <a:avLst/>
            </a:prstGeom>
            <a:solidFill>
              <a:srgbClr val="FFFFB5"/>
            </a:solidFill>
            <a:ln w="12700" cap="sq">
              <a:noFill/>
              <a:miter lim="800000"/>
              <a:headEnd type="none" w="sm" len="sm"/>
              <a:tailEnd type="none" w="sm" len="sm"/>
            </a:ln>
            <a:effectLst>
              <a:outerShdw dist="71842" dir="2700000" algn="ctr" rotWithShape="0">
                <a:srgbClr val="B2B2B2"/>
              </a:outerShdw>
            </a:effectLst>
          </p:spPr>
          <p:txBody>
            <a:bodyPr wrap="none" anchor="ctr"/>
            <a:lstStyle/>
            <a:p>
              <a:endParaRPr lang="zh-CN" altLang="en-US"/>
            </a:p>
          </p:txBody>
        </p:sp>
        <p:sp>
          <p:nvSpPr>
            <p:cNvPr id="32791" name="Text Box 73"/>
            <p:cNvSpPr txBox="1">
              <a:spLocks noChangeArrowheads="1"/>
            </p:cNvSpPr>
            <p:nvPr/>
          </p:nvSpPr>
          <p:spPr bwMode="auto">
            <a:xfrm>
              <a:off x="473" y="754"/>
              <a:ext cx="2016" cy="356"/>
            </a:xfrm>
            <a:prstGeom prst="rect">
              <a:avLst/>
            </a:prstGeom>
            <a:noFill/>
            <a:ln w="12700" cap="sq">
              <a:noFill/>
              <a:miter lim="800000"/>
              <a:headEnd type="none" w="sm" len="sm"/>
              <a:tailEnd type="none" w="sm" len="sm"/>
            </a:ln>
          </p:spPr>
          <p:txBody>
            <a:bodyPr>
              <a:spAutoFit/>
            </a:bodyPr>
            <a:lstStyle/>
            <a:p>
              <a:pPr eaLnBrk="1" hangingPunct="1"/>
              <a:r>
                <a:rPr kumimoji="1" lang="en-US" altLang="zh-CN" sz="3100" b="1" dirty="0">
                  <a:solidFill>
                    <a:srgbClr val="000099"/>
                  </a:solidFill>
                </a:rPr>
                <a:t>(</a:t>
              </a:r>
              <a:r>
                <a:rPr kumimoji="1" lang="zh-CN" altLang="en-US" sz="3100" b="1" dirty="0">
                  <a:solidFill>
                    <a:srgbClr val="000099"/>
                  </a:solidFill>
                </a:rPr>
                <a:t>一</a:t>
              </a:r>
              <a:r>
                <a:rPr kumimoji="1" lang="en-US" altLang="zh-CN" sz="3100" b="1" dirty="0">
                  <a:solidFill>
                    <a:srgbClr val="000099"/>
                  </a:solidFill>
                </a:rPr>
                <a:t>)</a:t>
              </a:r>
              <a:r>
                <a:rPr kumimoji="1" lang="zh-CN" altLang="en-US" sz="3100" dirty="0">
                  <a:solidFill>
                    <a:srgbClr val="000099"/>
                  </a:solidFill>
                  <a:ea typeface="宋体" charset="-122"/>
                </a:rPr>
                <a:t> </a:t>
              </a:r>
              <a:r>
                <a:rPr kumimoji="1" lang="zh-CN" altLang="en-US" sz="3100" b="1" dirty="0">
                  <a:solidFill>
                    <a:srgbClr val="000099"/>
                  </a:solidFill>
                </a:rPr>
                <a:t>栈的定义</a:t>
              </a:r>
              <a:endParaRPr kumimoji="1" lang="zh-CN" altLang="en-US" sz="3100" dirty="0">
                <a:solidFill>
                  <a:srgbClr val="000099"/>
                </a:solidFill>
              </a:endParaRPr>
            </a:p>
          </p:txBody>
        </p:sp>
      </p:grpSp>
      <p:grpSp>
        <p:nvGrpSpPr>
          <p:cNvPr id="13" name="Group 74"/>
          <p:cNvGrpSpPr>
            <a:grpSpLocks/>
          </p:cNvGrpSpPr>
          <p:nvPr/>
        </p:nvGrpSpPr>
        <p:grpSpPr bwMode="auto">
          <a:xfrm>
            <a:off x="6261100" y="5355805"/>
            <a:ext cx="1552575" cy="503237"/>
            <a:chOff x="3892" y="3486"/>
            <a:chExt cx="978" cy="317"/>
          </a:xfrm>
        </p:grpSpPr>
        <p:sp>
          <p:nvSpPr>
            <p:cNvPr id="32788" name="AutoShape 75"/>
            <p:cNvSpPr>
              <a:spLocks noChangeArrowheads="1"/>
            </p:cNvSpPr>
            <p:nvPr/>
          </p:nvSpPr>
          <p:spPr bwMode="auto">
            <a:xfrm>
              <a:off x="3892" y="3512"/>
              <a:ext cx="816" cy="288"/>
            </a:xfrm>
            <a:prstGeom prst="wedgeEllipseCallout">
              <a:avLst>
                <a:gd name="adj1" fmla="val -68995"/>
                <a:gd name="adj2" fmla="val 4861"/>
              </a:avLst>
            </a:prstGeom>
            <a:gradFill rotWithShape="0">
              <a:gsLst>
                <a:gs pos="0">
                  <a:srgbClr val="760000"/>
                </a:gs>
                <a:gs pos="50000">
                  <a:srgbClr val="FF0000"/>
                </a:gs>
                <a:gs pos="100000">
                  <a:srgbClr val="760000"/>
                </a:gs>
              </a:gsLst>
              <a:lin ang="18900000" scaled="1"/>
            </a:gradFill>
            <a:ln w="19050" cap="sq">
              <a:solidFill>
                <a:schemeClr val="tx2"/>
              </a:solidFill>
              <a:miter lim="800000"/>
              <a:headEnd type="none" w="sm" len="sm"/>
              <a:tailEnd type="none" w="sm" len="sm"/>
            </a:ln>
            <a:effectLst>
              <a:outerShdw dist="71842" dir="2700000" algn="ctr" rotWithShape="0">
                <a:srgbClr val="B2B2B2"/>
              </a:outerShdw>
            </a:effectLst>
          </p:spPr>
          <p:txBody>
            <a:bodyPr/>
            <a:lstStyle/>
            <a:p>
              <a:pPr algn="ctr"/>
              <a:endParaRPr lang="zh-CN" altLang="en-US" b="1"/>
            </a:p>
          </p:txBody>
        </p:sp>
        <p:sp>
          <p:nvSpPr>
            <p:cNvPr id="32789" name="Text Box 76"/>
            <p:cNvSpPr txBox="1">
              <a:spLocks noChangeArrowheads="1"/>
            </p:cNvSpPr>
            <p:nvPr/>
          </p:nvSpPr>
          <p:spPr bwMode="auto">
            <a:xfrm>
              <a:off x="3999" y="3486"/>
              <a:ext cx="871" cy="317"/>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a:spAutoFit/>
            </a:bodyPr>
            <a:lstStyle/>
            <a:p>
              <a:r>
                <a:rPr lang="zh-CN" altLang="en-US" sz="2700" b="1" i="1">
                  <a:solidFill>
                    <a:srgbClr val="FFFFFF"/>
                  </a:solidFill>
                  <a:ea typeface="黑体" pitchFamily="2" charset="-122"/>
                </a:rPr>
                <a:t>出栈</a:t>
              </a: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7" presetClass="entr" presetSubtype="2"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0" fill="hold"/>
                                        <p:tgtEl>
                                          <p:spTgt spid="4"/>
                                        </p:tgtEl>
                                        <p:attrNameLst>
                                          <p:attrName>ppt_x</p:attrName>
                                        </p:attrNameLst>
                                      </p:cBhvr>
                                      <p:tavLst>
                                        <p:tav tm="0">
                                          <p:val>
                                            <p:strVal val="1+#ppt_w/2"/>
                                          </p:val>
                                        </p:tav>
                                        <p:tav tm="100000">
                                          <p:val>
                                            <p:strVal val="#ppt_x"/>
                                          </p:val>
                                        </p:tav>
                                      </p:tavLst>
                                    </p:anim>
                                    <p:anim calcmode="lin" valueType="num">
                                      <p:cBhvr additive="base">
                                        <p:cTn id="13" dur="5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273431"/>
                                        </p:tgtEl>
                                        <p:attrNameLst>
                                          <p:attrName>style.visibility</p:attrName>
                                        </p:attrNameLst>
                                      </p:cBhvr>
                                      <p:to>
                                        <p:strVal val="visible"/>
                                      </p:to>
                                    </p:set>
                                    <p:anim calcmode="lin" valueType="num">
                                      <p:cBhvr additive="base">
                                        <p:cTn id="23" dur="500" fill="hold"/>
                                        <p:tgtEl>
                                          <p:spTgt spid="273431"/>
                                        </p:tgtEl>
                                        <p:attrNameLst>
                                          <p:attrName>ppt_x</p:attrName>
                                        </p:attrNameLst>
                                      </p:cBhvr>
                                      <p:tavLst>
                                        <p:tav tm="0">
                                          <p:val>
                                            <p:strVal val="1+#ppt_w/2"/>
                                          </p:val>
                                        </p:tav>
                                        <p:tav tm="100000">
                                          <p:val>
                                            <p:strVal val="#ppt_x"/>
                                          </p:val>
                                        </p:tav>
                                      </p:tavLst>
                                    </p:anim>
                                    <p:anim calcmode="lin" valueType="num">
                                      <p:cBhvr additive="base">
                                        <p:cTn id="24" dur="500" fill="hold"/>
                                        <p:tgtEl>
                                          <p:spTgt spid="273431"/>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273432"/>
                                        </p:tgtEl>
                                        <p:attrNameLst>
                                          <p:attrName>style.visibility</p:attrName>
                                        </p:attrNameLst>
                                      </p:cBhvr>
                                      <p:to>
                                        <p:strVal val="visible"/>
                                      </p:to>
                                    </p:set>
                                    <p:anim calcmode="lin" valueType="num">
                                      <p:cBhvr additive="base">
                                        <p:cTn id="29" dur="500" fill="hold"/>
                                        <p:tgtEl>
                                          <p:spTgt spid="273432"/>
                                        </p:tgtEl>
                                        <p:attrNameLst>
                                          <p:attrName>ppt_x</p:attrName>
                                        </p:attrNameLst>
                                      </p:cBhvr>
                                      <p:tavLst>
                                        <p:tav tm="0">
                                          <p:val>
                                            <p:strVal val="1+#ppt_w/2"/>
                                          </p:val>
                                        </p:tav>
                                        <p:tav tm="100000">
                                          <p:val>
                                            <p:strVal val="#ppt_x"/>
                                          </p:val>
                                        </p:tav>
                                      </p:tavLst>
                                    </p:anim>
                                    <p:anim calcmode="lin" valueType="num">
                                      <p:cBhvr additive="base">
                                        <p:cTn id="30" dur="500" fill="hold"/>
                                        <p:tgtEl>
                                          <p:spTgt spid="273432"/>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273433"/>
                                        </p:tgtEl>
                                        <p:attrNameLst>
                                          <p:attrName>style.visibility</p:attrName>
                                        </p:attrNameLst>
                                      </p:cBhvr>
                                      <p:to>
                                        <p:strVal val="visible"/>
                                      </p:to>
                                    </p:set>
                                    <p:anim calcmode="lin" valueType="num">
                                      <p:cBhvr additive="base">
                                        <p:cTn id="35" dur="500" fill="hold"/>
                                        <p:tgtEl>
                                          <p:spTgt spid="273433"/>
                                        </p:tgtEl>
                                        <p:attrNameLst>
                                          <p:attrName>ppt_x</p:attrName>
                                        </p:attrNameLst>
                                      </p:cBhvr>
                                      <p:tavLst>
                                        <p:tav tm="0">
                                          <p:val>
                                            <p:strVal val="1+#ppt_w/2"/>
                                          </p:val>
                                        </p:tav>
                                        <p:tav tm="100000">
                                          <p:val>
                                            <p:strVal val="#ppt_x"/>
                                          </p:val>
                                        </p:tav>
                                      </p:tavLst>
                                    </p:anim>
                                    <p:anim calcmode="lin" valueType="num">
                                      <p:cBhvr additive="base">
                                        <p:cTn id="36" dur="500" fill="hold"/>
                                        <p:tgtEl>
                                          <p:spTgt spid="273433"/>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273434"/>
                                        </p:tgtEl>
                                        <p:attrNameLst>
                                          <p:attrName>style.visibility</p:attrName>
                                        </p:attrNameLst>
                                      </p:cBhvr>
                                      <p:to>
                                        <p:strVal val="visible"/>
                                      </p:to>
                                    </p:set>
                                    <p:anim calcmode="lin" valueType="num">
                                      <p:cBhvr additive="base">
                                        <p:cTn id="41" dur="500" fill="hold"/>
                                        <p:tgtEl>
                                          <p:spTgt spid="273434"/>
                                        </p:tgtEl>
                                        <p:attrNameLst>
                                          <p:attrName>ppt_x</p:attrName>
                                        </p:attrNameLst>
                                      </p:cBhvr>
                                      <p:tavLst>
                                        <p:tav tm="0">
                                          <p:val>
                                            <p:strVal val="1+#ppt_w/2"/>
                                          </p:val>
                                        </p:tav>
                                        <p:tav tm="100000">
                                          <p:val>
                                            <p:strVal val="#ppt_x"/>
                                          </p:val>
                                        </p:tav>
                                      </p:tavLst>
                                    </p:anim>
                                    <p:anim calcmode="lin" valueType="num">
                                      <p:cBhvr additive="base">
                                        <p:cTn id="42" dur="500" fill="hold"/>
                                        <p:tgtEl>
                                          <p:spTgt spid="273434"/>
                                        </p:tgtEl>
                                        <p:attrNameLst>
                                          <p:attrName>ppt_y</p:attrName>
                                        </p:attrNameLst>
                                      </p:cBhvr>
                                      <p:tavLst>
                                        <p:tav tm="0">
                                          <p:val>
                                            <p:strVal val="#ppt_y"/>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2" fill="hold" grpId="0" nodeType="clickEffect">
                                  <p:stCondLst>
                                    <p:cond delay="0"/>
                                  </p:stCondLst>
                                  <p:childTnLst>
                                    <p:set>
                                      <p:cBhvr>
                                        <p:cTn id="46" dur="1" fill="hold">
                                          <p:stCondLst>
                                            <p:cond delay="0"/>
                                          </p:stCondLst>
                                        </p:cTn>
                                        <p:tgtEl>
                                          <p:spTgt spid="273435"/>
                                        </p:tgtEl>
                                        <p:attrNameLst>
                                          <p:attrName>style.visibility</p:attrName>
                                        </p:attrNameLst>
                                      </p:cBhvr>
                                      <p:to>
                                        <p:strVal val="visible"/>
                                      </p:to>
                                    </p:set>
                                    <p:anim calcmode="lin" valueType="num">
                                      <p:cBhvr additive="base">
                                        <p:cTn id="47" dur="500" fill="hold"/>
                                        <p:tgtEl>
                                          <p:spTgt spid="273435"/>
                                        </p:tgtEl>
                                        <p:attrNameLst>
                                          <p:attrName>ppt_x</p:attrName>
                                        </p:attrNameLst>
                                      </p:cBhvr>
                                      <p:tavLst>
                                        <p:tav tm="0">
                                          <p:val>
                                            <p:strVal val="1+#ppt_w/2"/>
                                          </p:val>
                                        </p:tav>
                                        <p:tav tm="100000">
                                          <p:val>
                                            <p:strVal val="#ppt_x"/>
                                          </p:val>
                                        </p:tav>
                                      </p:tavLst>
                                    </p:anim>
                                    <p:anim calcmode="lin" valueType="num">
                                      <p:cBhvr additive="base">
                                        <p:cTn id="48" dur="500" fill="hold"/>
                                        <p:tgtEl>
                                          <p:spTgt spid="273435"/>
                                        </p:tgtEl>
                                        <p:attrNameLst>
                                          <p:attrName>ppt_y</p:attrName>
                                        </p:attrNameLst>
                                      </p:cBhvr>
                                      <p:tavLst>
                                        <p:tav tm="0">
                                          <p:val>
                                            <p:strVal val="#ppt_y"/>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4" fill="hold" nodeType="click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wipe(down)">
                                      <p:cBhvr>
                                        <p:cTn id="53" dur="500"/>
                                        <p:tgtEl>
                                          <p:spTgt spid="6"/>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 presetClass="entr" presetSubtype="2" fill="hold" grpId="0" nodeType="clickEffect">
                                  <p:stCondLst>
                                    <p:cond delay="0"/>
                                  </p:stCondLst>
                                  <p:childTnLst>
                                    <p:set>
                                      <p:cBhvr>
                                        <p:cTn id="57" dur="1" fill="hold">
                                          <p:stCondLst>
                                            <p:cond delay="0"/>
                                          </p:stCondLst>
                                        </p:cTn>
                                        <p:tgtEl>
                                          <p:spTgt spid="273436"/>
                                        </p:tgtEl>
                                        <p:attrNameLst>
                                          <p:attrName>style.visibility</p:attrName>
                                        </p:attrNameLst>
                                      </p:cBhvr>
                                      <p:to>
                                        <p:strVal val="visible"/>
                                      </p:to>
                                    </p:set>
                                    <p:anim calcmode="lin" valueType="num">
                                      <p:cBhvr additive="base">
                                        <p:cTn id="58" dur="500" fill="hold"/>
                                        <p:tgtEl>
                                          <p:spTgt spid="273436"/>
                                        </p:tgtEl>
                                        <p:attrNameLst>
                                          <p:attrName>ppt_x</p:attrName>
                                        </p:attrNameLst>
                                      </p:cBhvr>
                                      <p:tavLst>
                                        <p:tav tm="0">
                                          <p:val>
                                            <p:strVal val="1+#ppt_w/2"/>
                                          </p:val>
                                        </p:tav>
                                        <p:tav tm="100000">
                                          <p:val>
                                            <p:strVal val="#ppt_x"/>
                                          </p:val>
                                        </p:tav>
                                      </p:tavLst>
                                    </p:anim>
                                    <p:anim calcmode="lin" valueType="num">
                                      <p:cBhvr additive="base">
                                        <p:cTn id="59" dur="500" fill="hold"/>
                                        <p:tgtEl>
                                          <p:spTgt spid="273436"/>
                                        </p:tgtEl>
                                        <p:attrNameLst>
                                          <p:attrName>ppt_y</p:attrName>
                                        </p:attrNameLst>
                                      </p:cBhvr>
                                      <p:tavLst>
                                        <p:tav tm="0">
                                          <p:val>
                                            <p:strVal val="#ppt_y"/>
                                          </p:val>
                                        </p:tav>
                                        <p:tav tm="100000">
                                          <p:val>
                                            <p:strVal val="#ppt_y"/>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4" fill="hold" nodeType="clickEffect">
                                  <p:stCondLst>
                                    <p:cond delay="0"/>
                                  </p:stCondLst>
                                  <p:childTnLst>
                                    <p:set>
                                      <p:cBhvr>
                                        <p:cTn id="63" dur="1" fill="hold">
                                          <p:stCondLst>
                                            <p:cond delay="0"/>
                                          </p:stCondLst>
                                        </p:cTn>
                                        <p:tgtEl>
                                          <p:spTgt spid="7"/>
                                        </p:tgtEl>
                                        <p:attrNameLst>
                                          <p:attrName>style.visibility</p:attrName>
                                        </p:attrNameLst>
                                      </p:cBhvr>
                                      <p:to>
                                        <p:strVal val="visible"/>
                                      </p:to>
                                    </p:set>
                                    <p:animEffect transition="in" filter="wipe(down)">
                                      <p:cBhvr>
                                        <p:cTn id="64" dur="500"/>
                                        <p:tgtEl>
                                          <p:spTgt spid="7"/>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2" fill="hold" nodeType="clickEffect">
                                  <p:stCondLst>
                                    <p:cond delay="0"/>
                                  </p:stCondLst>
                                  <p:childTnLst>
                                    <p:set>
                                      <p:cBhvr>
                                        <p:cTn id="68" dur="1" fill="hold">
                                          <p:stCondLst>
                                            <p:cond delay="0"/>
                                          </p:stCondLst>
                                        </p:cTn>
                                        <p:tgtEl>
                                          <p:spTgt spid="8"/>
                                        </p:tgtEl>
                                        <p:attrNameLst>
                                          <p:attrName>style.visibility</p:attrName>
                                        </p:attrNameLst>
                                      </p:cBhvr>
                                      <p:to>
                                        <p:strVal val="visible"/>
                                      </p:to>
                                    </p:set>
                                    <p:animEffect transition="in" filter="wipe(right)">
                                      <p:cBhvr>
                                        <p:cTn id="69" dur="500"/>
                                        <p:tgtEl>
                                          <p:spTgt spid="8"/>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9"/>
                                        </p:tgtEl>
                                        <p:attrNameLst>
                                          <p:attrName>style.visibility</p:attrName>
                                        </p:attrNameLst>
                                      </p:cBhvr>
                                      <p:to>
                                        <p:strVal val="visible"/>
                                      </p:to>
                                    </p:set>
                                    <p:animEffect transition="in" filter="wipe(left)">
                                      <p:cBhvr>
                                        <p:cTn id="74" dur="500"/>
                                        <p:tgtEl>
                                          <p:spTgt spid="9"/>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2" fill="hold" nodeType="clickEffect">
                                  <p:stCondLst>
                                    <p:cond delay="0"/>
                                  </p:stCondLst>
                                  <p:childTnLst>
                                    <p:set>
                                      <p:cBhvr>
                                        <p:cTn id="78" dur="1" fill="hold">
                                          <p:stCondLst>
                                            <p:cond delay="0"/>
                                          </p:stCondLst>
                                        </p:cTn>
                                        <p:tgtEl>
                                          <p:spTgt spid="11"/>
                                        </p:tgtEl>
                                        <p:attrNameLst>
                                          <p:attrName>style.visibility</p:attrName>
                                        </p:attrNameLst>
                                      </p:cBhvr>
                                      <p:to>
                                        <p:strVal val="visible"/>
                                      </p:to>
                                    </p:set>
                                    <p:animEffect transition="in" filter="wipe(right)">
                                      <p:cBhvr>
                                        <p:cTn id="79" dur="500"/>
                                        <p:tgtEl>
                                          <p:spTgt spid="11"/>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9" presetClass="entr" presetSubtype="0" fill="hold" grpId="0" nodeType="clickEffect">
                                  <p:stCondLst>
                                    <p:cond delay="0"/>
                                  </p:stCondLst>
                                  <p:childTnLst>
                                    <p:set>
                                      <p:cBhvr>
                                        <p:cTn id="83" dur="1" fill="hold">
                                          <p:stCondLst>
                                            <p:cond delay="0"/>
                                          </p:stCondLst>
                                        </p:cTn>
                                        <p:tgtEl>
                                          <p:spTgt spid="273465"/>
                                        </p:tgtEl>
                                        <p:attrNameLst>
                                          <p:attrName>style.visibility</p:attrName>
                                        </p:attrNameLst>
                                      </p:cBhvr>
                                      <p:to>
                                        <p:strVal val="visible"/>
                                      </p:to>
                                    </p:set>
                                    <p:animEffect transition="in" filter="dissolve">
                                      <p:cBhvr>
                                        <p:cTn id="84" dur="500"/>
                                        <p:tgtEl>
                                          <p:spTgt spid="273465"/>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2" fill="hold" nodeType="clickEffect">
                                  <p:stCondLst>
                                    <p:cond delay="0"/>
                                  </p:stCondLst>
                                  <p:childTnLst>
                                    <p:set>
                                      <p:cBhvr>
                                        <p:cTn id="88" dur="1" fill="hold">
                                          <p:stCondLst>
                                            <p:cond delay="0"/>
                                          </p:stCondLst>
                                        </p:cTn>
                                        <p:tgtEl>
                                          <p:spTgt spid="13"/>
                                        </p:tgtEl>
                                        <p:attrNameLst>
                                          <p:attrName>style.visibility</p:attrName>
                                        </p:attrNameLst>
                                      </p:cBhvr>
                                      <p:to>
                                        <p:strVal val="visible"/>
                                      </p:to>
                                    </p:set>
                                    <p:animEffect transition="in" filter="wipe(right)">
                                      <p:cBhvr>
                                        <p:cTn id="8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31" grpId="0" autoUpdateAnimBg="0"/>
      <p:bldP spid="273432" grpId="0" autoUpdateAnimBg="0"/>
      <p:bldP spid="273433" grpId="0" autoUpdateAnimBg="0"/>
      <p:bldP spid="273434" grpId="0" autoUpdateAnimBg="0"/>
      <p:bldP spid="273435" grpId="0" autoUpdateAnimBg="0"/>
      <p:bldP spid="273436" grpId="0" autoUpdateAnimBg="0"/>
      <p:bldP spid="27346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0"/>
          <p:cNvGrpSpPr>
            <a:grpSpLocks/>
          </p:cNvGrpSpPr>
          <p:nvPr/>
        </p:nvGrpSpPr>
        <p:grpSpPr bwMode="auto">
          <a:xfrm>
            <a:off x="1774826" y="476251"/>
            <a:ext cx="4994275" cy="3921125"/>
            <a:chOff x="868" y="767"/>
            <a:chExt cx="3146" cy="2470"/>
          </a:xfrm>
        </p:grpSpPr>
        <p:sp>
          <p:nvSpPr>
            <p:cNvPr id="33802" name="Line 3"/>
            <p:cNvSpPr>
              <a:spLocks noChangeShapeType="1"/>
            </p:cNvSpPr>
            <p:nvPr/>
          </p:nvSpPr>
          <p:spPr bwMode="auto">
            <a:xfrm>
              <a:off x="1728" y="1125"/>
              <a:ext cx="0" cy="2112"/>
            </a:xfrm>
            <a:prstGeom prst="line">
              <a:avLst/>
            </a:prstGeom>
            <a:noFill/>
            <a:ln w="31750" cap="sq">
              <a:solidFill>
                <a:srgbClr val="333300"/>
              </a:solidFill>
              <a:round/>
              <a:headEnd type="none" w="sm" len="sm"/>
              <a:tailEnd type="none" w="sm" len="sm"/>
            </a:ln>
          </p:spPr>
          <p:txBody>
            <a:bodyPr/>
            <a:lstStyle/>
            <a:p>
              <a:endParaRPr lang="zh-CN" altLang="en-US"/>
            </a:p>
          </p:txBody>
        </p:sp>
        <p:sp>
          <p:nvSpPr>
            <p:cNvPr id="33803" name="Line 4"/>
            <p:cNvSpPr>
              <a:spLocks noChangeShapeType="1"/>
            </p:cNvSpPr>
            <p:nvPr/>
          </p:nvSpPr>
          <p:spPr bwMode="auto">
            <a:xfrm>
              <a:off x="3168" y="1125"/>
              <a:ext cx="0" cy="2112"/>
            </a:xfrm>
            <a:prstGeom prst="line">
              <a:avLst/>
            </a:prstGeom>
            <a:noFill/>
            <a:ln w="31750" cap="sq">
              <a:solidFill>
                <a:srgbClr val="003300"/>
              </a:solidFill>
              <a:round/>
              <a:headEnd type="none" w="sm" len="sm"/>
              <a:tailEnd type="none" w="sm" len="sm"/>
            </a:ln>
          </p:spPr>
          <p:txBody>
            <a:bodyPr/>
            <a:lstStyle/>
            <a:p>
              <a:endParaRPr lang="zh-CN" altLang="en-US"/>
            </a:p>
          </p:txBody>
        </p:sp>
        <p:sp>
          <p:nvSpPr>
            <p:cNvPr id="33804" name="Line 5"/>
            <p:cNvSpPr>
              <a:spLocks noChangeShapeType="1"/>
            </p:cNvSpPr>
            <p:nvPr/>
          </p:nvSpPr>
          <p:spPr bwMode="auto">
            <a:xfrm>
              <a:off x="1728" y="3237"/>
              <a:ext cx="1440" cy="0"/>
            </a:xfrm>
            <a:prstGeom prst="line">
              <a:avLst/>
            </a:prstGeom>
            <a:noFill/>
            <a:ln w="31750" cap="sq">
              <a:solidFill>
                <a:srgbClr val="003300"/>
              </a:solidFill>
              <a:round/>
              <a:headEnd type="none" w="sm" len="sm"/>
              <a:tailEnd type="none" w="sm" len="sm"/>
            </a:ln>
          </p:spPr>
          <p:txBody>
            <a:bodyPr/>
            <a:lstStyle/>
            <a:p>
              <a:endParaRPr lang="zh-CN" altLang="en-US"/>
            </a:p>
          </p:txBody>
        </p:sp>
        <p:sp>
          <p:nvSpPr>
            <p:cNvPr id="33805" name="Line 6"/>
            <p:cNvSpPr>
              <a:spLocks noChangeShapeType="1"/>
            </p:cNvSpPr>
            <p:nvPr/>
          </p:nvSpPr>
          <p:spPr bwMode="auto">
            <a:xfrm>
              <a:off x="1728" y="2949"/>
              <a:ext cx="1440" cy="0"/>
            </a:xfrm>
            <a:prstGeom prst="line">
              <a:avLst/>
            </a:prstGeom>
            <a:noFill/>
            <a:ln w="25400" cap="sq">
              <a:solidFill>
                <a:srgbClr val="333300"/>
              </a:solidFill>
              <a:round/>
              <a:headEnd type="none" w="sm" len="sm"/>
              <a:tailEnd type="none" w="sm" len="sm"/>
            </a:ln>
          </p:spPr>
          <p:txBody>
            <a:bodyPr/>
            <a:lstStyle/>
            <a:p>
              <a:endParaRPr lang="zh-CN" altLang="en-US"/>
            </a:p>
          </p:txBody>
        </p:sp>
        <p:sp>
          <p:nvSpPr>
            <p:cNvPr id="33806" name="Line 7"/>
            <p:cNvSpPr>
              <a:spLocks noChangeShapeType="1"/>
            </p:cNvSpPr>
            <p:nvPr/>
          </p:nvSpPr>
          <p:spPr bwMode="auto">
            <a:xfrm>
              <a:off x="1728" y="2661"/>
              <a:ext cx="1440" cy="0"/>
            </a:xfrm>
            <a:prstGeom prst="line">
              <a:avLst/>
            </a:prstGeom>
            <a:noFill/>
            <a:ln w="25400" cap="sq">
              <a:solidFill>
                <a:srgbClr val="003300"/>
              </a:solidFill>
              <a:round/>
              <a:headEnd type="none" w="sm" len="sm"/>
              <a:tailEnd type="none" w="sm" len="sm"/>
            </a:ln>
          </p:spPr>
          <p:txBody>
            <a:bodyPr/>
            <a:lstStyle/>
            <a:p>
              <a:endParaRPr lang="zh-CN" altLang="en-US"/>
            </a:p>
          </p:txBody>
        </p:sp>
        <p:sp>
          <p:nvSpPr>
            <p:cNvPr id="33807" name="Line 8"/>
            <p:cNvSpPr>
              <a:spLocks noChangeShapeType="1"/>
            </p:cNvSpPr>
            <p:nvPr/>
          </p:nvSpPr>
          <p:spPr bwMode="auto">
            <a:xfrm>
              <a:off x="1728" y="2373"/>
              <a:ext cx="1440" cy="0"/>
            </a:xfrm>
            <a:prstGeom prst="line">
              <a:avLst/>
            </a:prstGeom>
            <a:noFill/>
            <a:ln w="25400" cap="sq">
              <a:solidFill>
                <a:srgbClr val="003300"/>
              </a:solidFill>
              <a:round/>
              <a:headEnd type="none" w="sm" len="sm"/>
              <a:tailEnd type="none" w="sm" len="sm"/>
            </a:ln>
          </p:spPr>
          <p:txBody>
            <a:bodyPr/>
            <a:lstStyle/>
            <a:p>
              <a:endParaRPr lang="zh-CN" altLang="en-US"/>
            </a:p>
          </p:txBody>
        </p:sp>
        <p:sp>
          <p:nvSpPr>
            <p:cNvPr id="33808" name="Line 9"/>
            <p:cNvSpPr>
              <a:spLocks noChangeShapeType="1"/>
            </p:cNvSpPr>
            <p:nvPr/>
          </p:nvSpPr>
          <p:spPr bwMode="auto">
            <a:xfrm>
              <a:off x="1728" y="2048"/>
              <a:ext cx="1440" cy="0"/>
            </a:xfrm>
            <a:prstGeom prst="line">
              <a:avLst/>
            </a:prstGeom>
            <a:noFill/>
            <a:ln w="25400" cap="sq">
              <a:solidFill>
                <a:srgbClr val="003300"/>
              </a:solidFill>
              <a:round/>
              <a:headEnd type="none" w="sm" len="sm"/>
              <a:tailEnd type="none" w="sm" len="sm"/>
            </a:ln>
          </p:spPr>
          <p:txBody>
            <a:bodyPr/>
            <a:lstStyle/>
            <a:p>
              <a:endParaRPr lang="zh-CN" altLang="en-US"/>
            </a:p>
          </p:txBody>
        </p:sp>
        <p:sp>
          <p:nvSpPr>
            <p:cNvPr id="33809" name="Line 10"/>
            <p:cNvSpPr>
              <a:spLocks noChangeShapeType="1"/>
            </p:cNvSpPr>
            <p:nvPr/>
          </p:nvSpPr>
          <p:spPr bwMode="auto">
            <a:xfrm>
              <a:off x="1728" y="1749"/>
              <a:ext cx="1440" cy="0"/>
            </a:xfrm>
            <a:prstGeom prst="line">
              <a:avLst/>
            </a:prstGeom>
            <a:noFill/>
            <a:ln w="25400" cap="sq">
              <a:solidFill>
                <a:srgbClr val="003300"/>
              </a:solidFill>
              <a:round/>
              <a:headEnd type="none" w="sm" len="sm"/>
              <a:tailEnd type="none" w="sm" len="sm"/>
            </a:ln>
          </p:spPr>
          <p:txBody>
            <a:bodyPr/>
            <a:lstStyle/>
            <a:p>
              <a:endParaRPr lang="zh-CN" altLang="en-US"/>
            </a:p>
          </p:txBody>
        </p:sp>
        <p:sp>
          <p:nvSpPr>
            <p:cNvPr id="33810" name="Line 11"/>
            <p:cNvSpPr>
              <a:spLocks noChangeShapeType="1"/>
            </p:cNvSpPr>
            <p:nvPr/>
          </p:nvSpPr>
          <p:spPr bwMode="auto">
            <a:xfrm>
              <a:off x="1728" y="1464"/>
              <a:ext cx="1440" cy="0"/>
            </a:xfrm>
            <a:prstGeom prst="line">
              <a:avLst/>
            </a:prstGeom>
            <a:noFill/>
            <a:ln w="25400" cap="sq">
              <a:solidFill>
                <a:srgbClr val="003300"/>
              </a:solidFill>
              <a:round/>
              <a:headEnd type="none" w="sm" len="sm"/>
              <a:tailEnd type="none" w="sm" len="sm"/>
            </a:ln>
          </p:spPr>
          <p:txBody>
            <a:bodyPr/>
            <a:lstStyle/>
            <a:p>
              <a:endParaRPr lang="zh-CN" altLang="en-US"/>
            </a:p>
          </p:txBody>
        </p:sp>
        <p:sp>
          <p:nvSpPr>
            <p:cNvPr id="274444" name="AutoShape 12"/>
            <p:cNvSpPr>
              <a:spLocks noChangeArrowheads="1"/>
            </p:cNvSpPr>
            <p:nvPr/>
          </p:nvSpPr>
          <p:spPr bwMode="auto">
            <a:xfrm flipH="1">
              <a:off x="2784" y="912"/>
              <a:ext cx="864" cy="615"/>
            </a:xfrm>
            <a:custGeom>
              <a:avLst/>
              <a:gdLst>
                <a:gd name="G0" fmla="+- -852620 0 0"/>
                <a:gd name="G1" fmla="+- -9846504 0 0"/>
                <a:gd name="G2" fmla="+- -852620 0 -9846504"/>
                <a:gd name="G3" fmla="+- 10800 0 0"/>
                <a:gd name="G4" fmla="+- 0 0 -852620"/>
                <a:gd name="T0" fmla="*/ 360 256 1"/>
                <a:gd name="T1" fmla="*/ 0 256 1"/>
                <a:gd name="G5" fmla="+- G2 T0 T1"/>
                <a:gd name="G6" fmla="?: G2 G2 G5"/>
                <a:gd name="G7" fmla="+- 0 0 G6"/>
                <a:gd name="G8" fmla="+- 7569 0 0"/>
                <a:gd name="G9" fmla="+- 0 0 -9846504"/>
                <a:gd name="G10" fmla="+- 7569 0 2700"/>
                <a:gd name="G11" fmla="cos G10 -852620"/>
                <a:gd name="G12" fmla="sin G10 -852620"/>
                <a:gd name="G13" fmla="cos 13500 -852620"/>
                <a:gd name="G14" fmla="sin 13500 -852620"/>
                <a:gd name="G15" fmla="+- G11 10800 0"/>
                <a:gd name="G16" fmla="+- G12 10800 0"/>
                <a:gd name="G17" fmla="+- G13 10800 0"/>
                <a:gd name="G18" fmla="+- G14 10800 0"/>
                <a:gd name="G19" fmla="*/ 7569 1 2"/>
                <a:gd name="G20" fmla="+- G19 5400 0"/>
                <a:gd name="G21" fmla="cos G20 -852620"/>
                <a:gd name="G22" fmla="sin G20 -852620"/>
                <a:gd name="G23" fmla="+- G21 10800 0"/>
                <a:gd name="G24" fmla="+- G12 G23 G22"/>
                <a:gd name="G25" fmla="+- G22 G23 G11"/>
                <a:gd name="G26" fmla="cos 10800 -852620"/>
                <a:gd name="G27" fmla="sin 10800 -852620"/>
                <a:gd name="G28" fmla="cos 7569 -852620"/>
                <a:gd name="G29" fmla="sin 7569 -852620"/>
                <a:gd name="G30" fmla="+- G26 10800 0"/>
                <a:gd name="G31" fmla="+- G27 10800 0"/>
                <a:gd name="G32" fmla="+- G28 10800 0"/>
                <a:gd name="G33" fmla="+- G29 10800 0"/>
                <a:gd name="G34" fmla="+- G19 5400 0"/>
                <a:gd name="G35" fmla="cos G34 -9846504"/>
                <a:gd name="G36" fmla="sin G34 -9846504"/>
                <a:gd name="G37" fmla="+/ -9846504 -852620 2"/>
                <a:gd name="T2" fmla="*/ 180 256 1"/>
                <a:gd name="T3" fmla="*/ 0 256 1"/>
                <a:gd name="G38" fmla="+- G37 T2 T3"/>
                <a:gd name="G39" fmla="?: G2 G37 G38"/>
                <a:gd name="G40" fmla="cos 10800 G39"/>
                <a:gd name="G41" fmla="sin 10800 G39"/>
                <a:gd name="G42" fmla="cos 7569 G39"/>
                <a:gd name="G43" fmla="sin 7569 G39"/>
                <a:gd name="G44" fmla="+- G40 10800 0"/>
                <a:gd name="G45" fmla="+- G41 10800 0"/>
                <a:gd name="G46" fmla="+- G42 10800 0"/>
                <a:gd name="G47" fmla="+- G43 10800 0"/>
                <a:gd name="G48" fmla="+- G35 10800 0"/>
                <a:gd name="G49" fmla="+- G36 10800 0"/>
                <a:gd name="T4" fmla="*/ 12372 w 21600"/>
                <a:gd name="T5" fmla="*/ 115 h 21600"/>
                <a:gd name="T6" fmla="*/ 2825 w 21600"/>
                <a:gd name="T7" fmla="*/ 6241 h 21600"/>
                <a:gd name="T8" fmla="*/ 11902 w 21600"/>
                <a:gd name="T9" fmla="*/ 3311 h 21600"/>
                <a:gd name="T10" fmla="*/ 23953 w 21600"/>
                <a:gd name="T11" fmla="*/ 7760 h 21600"/>
                <a:gd name="T12" fmla="*/ 20720 w 21600"/>
                <a:gd name="T13" fmla="*/ 12937 h 21600"/>
                <a:gd name="T14" fmla="*/ 15544 w 21600"/>
                <a:gd name="T15" fmla="*/ 9703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8174" y="9096"/>
                  </a:moveTo>
                  <a:cubicBezTo>
                    <a:pt x="17381" y="5662"/>
                    <a:pt x="14323" y="3231"/>
                    <a:pt x="10800" y="3231"/>
                  </a:cubicBezTo>
                  <a:cubicBezTo>
                    <a:pt x="8084" y="3230"/>
                    <a:pt x="5576" y="4685"/>
                    <a:pt x="4228" y="7043"/>
                  </a:cubicBezTo>
                  <a:lnTo>
                    <a:pt x="1423" y="5440"/>
                  </a:lnTo>
                  <a:cubicBezTo>
                    <a:pt x="3346" y="2076"/>
                    <a:pt x="6924" y="-1"/>
                    <a:pt x="10800" y="0"/>
                  </a:cubicBezTo>
                  <a:cubicBezTo>
                    <a:pt x="15828" y="0"/>
                    <a:pt x="20190" y="3469"/>
                    <a:pt x="21322" y="8368"/>
                  </a:cubicBezTo>
                  <a:lnTo>
                    <a:pt x="23953" y="7760"/>
                  </a:lnTo>
                  <a:lnTo>
                    <a:pt x="20720" y="12937"/>
                  </a:lnTo>
                  <a:lnTo>
                    <a:pt x="15544" y="9703"/>
                  </a:lnTo>
                  <a:lnTo>
                    <a:pt x="18174" y="9096"/>
                  </a:lnTo>
                  <a:close/>
                </a:path>
              </a:pathLst>
            </a:custGeom>
            <a:gradFill rotWithShape="0">
              <a:gsLst>
                <a:gs pos="0">
                  <a:schemeClr val="accent1">
                    <a:gamma/>
                    <a:shade val="46275"/>
                    <a:invGamma/>
                  </a:schemeClr>
                </a:gs>
                <a:gs pos="50000">
                  <a:schemeClr val="accent1"/>
                </a:gs>
                <a:gs pos="100000">
                  <a:schemeClr val="accent1">
                    <a:gamma/>
                    <a:shade val="46275"/>
                    <a:invGamma/>
                  </a:schemeClr>
                </a:gs>
              </a:gsLst>
              <a:lin ang="18900000" scaled="1"/>
            </a:gradFill>
            <a:ln w="28575" cap="sq">
              <a:solidFill>
                <a:srgbClr val="FFFF00"/>
              </a:solidFill>
              <a:miter lim="800000"/>
              <a:headEnd type="none" w="sm" len="sm"/>
              <a:tailEnd type="none" w="sm" len="sm"/>
            </a:ln>
            <a:effectLst>
              <a:outerShdw dist="35921" dir="2700000" algn="ctr" rotWithShape="0">
                <a:srgbClr val="B2B2B2"/>
              </a:outerShdw>
            </a:effectLst>
          </p:spPr>
          <p:txBody>
            <a:bodyPr wrap="none" anchor="ctr"/>
            <a:lstStyle/>
            <a:p>
              <a:pPr>
                <a:defRPr/>
              </a:pPr>
              <a:endParaRPr lang="zh-CN" altLang="en-US"/>
            </a:p>
          </p:txBody>
        </p:sp>
        <p:sp>
          <p:nvSpPr>
            <p:cNvPr id="274445" name="AutoShape 13"/>
            <p:cNvSpPr>
              <a:spLocks noChangeArrowheads="1"/>
            </p:cNvSpPr>
            <p:nvPr/>
          </p:nvSpPr>
          <p:spPr bwMode="auto">
            <a:xfrm rot="1528362" flipH="1">
              <a:off x="1344" y="949"/>
              <a:ext cx="816" cy="615"/>
            </a:xfrm>
            <a:custGeom>
              <a:avLst/>
              <a:gdLst>
                <a:gd name="G0" fmla="+- -852620 0 0"/>
                <a:gd name="G1" fmla="+- -9846504 0 0"/>
                <a:gd name="G2" fmla="+- -852620 0 -9846504"/>
                <a:gd name="G3" fmla="+- 10800 0 0"/>
                <a:gd name="G4" fmla="+- 0 0 -852620"/>
                <a:gd name="T0" fmla="*/ 360 256 1"/>
                <a:gd name="T1" fmla="*/ 0 256 1"/>
                <a:gd name="G5" fmla="+- G2 T0 T1"/>
                <a:gd name="G6" fmla="?: G2 G2 G5"/>
                <a:gd name="G7" fmla="+- 0 0 G6"/>
                <a:gd name="G8" fmla="+- 7569 0 0"/>
                <a:gd name="G9" fmla="+- 0 0 -9846504"/>
                <a:gd name="G10" fmla="+- 7569 0 2700"/>
                <a:gd name="G11" fmla="cos G10 -852620"/>
                <a:gd name="G12" fmla="sin G10 -852620"/>
                <a:gd name="G13" fmla="cos 13500 -852620"/>
                <a:gd name="G14" fmla="sin 13500 -852620"/>
                <a:gd name="G15" fmla="+- G11 10800 0"/>
                <a:gd name="G16" fmla="+- G12 10800 0"/>
                <a:gd name="G17" fmla="+- G13 10800 0"/>
                <a:gd name="G18" fmla="+- G14 10800 0"/>
                <a:gd name="G19" fmla="*/ 7569 1 2"/>
                <a:gd name="G20" fmla="+- G19 5400 0"/>
                <a:gd name="G21" fmla="cos G20 -852620"/>
                <a:gd name="G22" fmla="sin G20 -852620"/>
                <a:gd name="G23" fmla="+- G21 10800 0"/>
                <a:gd name="G24" fmla="+- G12 G23 G22"/>
                <a:gd name="G25" fmla="+- G22 G23 G11"/>
                <a:gd name="G26" fmla="cos 10800 -852620"/>
                <a:gd name="G27" fmla="sin 10800 -852620"/>
                <a:gd name="G28" fmla="cos 7569 -852620"/>
                <a:gd name="G29" fmla="sin 7569 -852620"/>
                <a:gd name="G30" fmla="+- G26 10800 0"/>
                <a:gd name="G31" fmla="+- G27 10800 0"/>
                <a:gd name="G32" fmla="+- G28 10800 0"/>
                <a:gd name="G33" fmla="+- G29 10800 0"/>
                <a:gd name="G34" fmla="+- G19 5400 0"/>
                <a:gd name="G35" fmla="cos G34 -9846504"/>
                <a:gd name="G36" fmla="sin G34 -9846504"/>
                <a:gd name="G37" fmla="+/ -9846504 -852620 2"/>
                <a:gd name="T2" fmla="*/ 180 256 1"/>
                <a:gd name="T3" fmla="*/ 0 256 1"/>
                <a:gd name="G38" fmla="+- G37 T2 T3"/>
                <a:gd name="G39" fmla="?: G2 G37 G38"/>
                <a:gd name="G40" fmla="cos 10800 G39"/>
                <a:gd name="G41" fmla="sin 10800 G39"/>
                <a:gd name="G42" fmla="cos 7569 G39"/>
                <a:gd name="G43" fmla="sin 7569 G39"/>
                <a:gd name="G44" fmla="+- G40 10800 0"/>
                <a:gd name="G45" fmla="+- G41 10800 0"/>
                <a:gd name="G46" fmla="+- G42 10800 0"/>
                <a:gd name="G47" fmla="+- G43 10800 0"/>
                <a:gd name="G48" fmla="+- G35 10800 0"/>
                <a:gd name="G49" fmla="+- G36 10800 0"/>
                <a:gd name="T4" fmla="*/ 12372 w 21600"/>
                <a:gd name="T5" fmla="*/ 115 h 21600"/>
                <a:gd name="T6" fmla="*/ 2825 w 21600"/>
                <a:gd name="T7" fmla="*/ 6241 h 21600"/>
                <a:gd name="T8" fmla="*/ 11902 w 21600"/>
                <a:gd name="T9" fmla="*/ 3311 h 21600"/>
                <a:gd name="T10" fmla="*/ 23953 w 21600"/>
                <a:gd name="T11" fmla="*/ 7760 h 21600"/>
                <a:gd name="T12" fmla="*/ 20720 w 21600"/>
                <a:gd name="T13" fmla="*/ 12937 h 21600"/>
                <a:gd name="T14" fmla="*/ 15544 w 21600"/>
                <a:gd name="T15" fmla="*/ 9703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8174" y="9096"/>
                  </a:moveTo>
                  <a:cubicBezTo>
                    <a:pt x="17381" y="5662"/>
                    <a:pt x="14323" y="3231"/>
                    <a:pt x="10800" y="3231"/>
                  </a:cubicBezTo>
                  <a:cubicBezTo>
                    <a:pt x="8084" y="3230"/>
                    <a:pt x="5576" y="4685"/>
                    <a:pt x="4228" y="7043"/>
                  </a:cubicBezTo>
                  <a:lnTo>
                    <a:pt x="1423" y="5440"/>
                  </a:lnTo>
                  <a:cubicBezTo>
                    <a:pt x="3346" y="2076"/>
                    <a:pt x="6924" y="-1"/>
                    <a:pt x="10800" y="0"/>
                  </a:cubicBezTo>
                  <a:cubicBezTo>
                    <a:pt x="15828" y="0"/>
                    <a:pt x="20190" y="3469"/>
                    <a:pt x="21322" y="8368"/>
                  </a:cubicBezTo>
                  <a:lnTo>
                    <a:pt x="23953" y="7760"/>
                  </a:lnTo>
                  <a:lnTo>
                    <a:pt x="20720" y="12937"/>
                  </a:lnTo>
                  <a:lnTo>
                    <a:pt x="15544" y="9703"/>
                  </a:lnTo>
                  <a:lnTo>
                    <a:pt x="18174" y="9096"/>
                  </a:lnTo>
                  <a:close/>
                </a:path>
              </a:pathLst>
            </a:custGeom>
            <a:gradFill rotWithShape="0">
              <a:gsLst>
                <a:gs pos="0">
                  <a:schemeClr val="accent1">
                    <a:gamma/>
                    <a:shade val="46275"/>
                    <a:invGamma/>
                  </a:schemeClr>
                </a:gs>
                <a:gs pos="50000">
                  <a:schemeClr val="accent1"/>
                </a:gs>
                <a:gs pos="100000">
                  <a:schemeClr val="accent1">
                    <a:gamma/>
                    <a:shade val="46275"/>
                    <a:invGamma/>
                  </a:schemeClr>
                </a:gs>
              </a:gsLst>
              <a:lin ang="2700000" scaled="1"/>
            </a:gradFill>
            <a:ln w="28575" cap="sq">
              <a:solidFill>
                <a:srgbClr val="FFFF00"/>
              </a:solidFill>
              <a:miter lim="800000"/>
              <a:headEnd type="none" w="sm" len="sm"/>
              <a:tailEnd type="none" w="sm" len="sm"/>
            </a:ln>
            <a:effectLst>
              <a:outerShdw dist="35921" dir="2700000" algn="ctr" rotWithShape="0">
                <a:srgbClr val="B2B2B2"/>
              </a:outerShdw>
            </a:effectLst>
          </p:spPr>
          <p:txBody>
            <a:bodyPr wrap="none" anchor="ctr"/>
            <a:lstStyle/>
            <a:p>
              <a:pPr>
                <a:defRPr/>
              </a:pPr>
              <a:endParaRPr lang="zh-CN" altLang="en-US"/>
            </a:p>
          </p:txBody>
        </p:sp>
        <p:sp>
          <p:nvSpPr>
            <p:cNvPr id="33813" name="Text Box 14"/>
            <p:cNvSpPr txBox="1">
              <a:spLocks noChangeArrowheads="1"/>
            </p:cNvSpPr>
            <p:nvPr/>
          </p:nvSpPr>
          <p:spPr bwMode="auto">
            <a:xfrm>
              <a:off x="2252" y="2886"/>
              <a:ext cx="300" cy="349"/>
            </a:xfrm>
            <a:prstGeom prst="rect">
              <a:avLst/>
            </a:prstGeom>
            <a:noFill/>
            <a:ln w="12700" cap="sq">
              <a:noFill/>
              <a:miter lim="800000"/>
              <a:headEnd type="none" w="sm" len="sm"/>
              <a:tailEnd type="none" w="sm" len="sm"/>
            </a:ln>
          </p:spPr>
          <p:txBody>
            <a:bodyPr wrap="none">
              <a:spAutoFit/>
            </a:bodyPr>
            <a:lstStyle/>
            <a:p>
              <a:r>
                <a:rPr lang="en-US" altLang="zh-CN" sz="3000" b="1">
                  <a:solidFill>
                    <a:srgbClr val="0000CC"/>
                  </a:solidFill>
                </a:rPr>
                <a:t>a</a:t>
              </a:r>
              <a:r>
                <a:rPr lang="en-US" altLang="zh-CN" sz="3000" b="1" baseline="-16000">
                  <a:solidFill>
                    <a:srgbClr val="0000CC"/>
                  </a:solidFill>
                </a:rPr>
                <a:t>1</a:t>
              </a:r>
            </a:p>
          </p:txBody>
        </p:sp>
        <p:sp>
          <p:nvSpPr>
            <p:cNvPr id="33814" name="Text Box 15"/>
            <p:cNvSpPr txBox="1">
              <a:spLocks noChangeArrowheads="1"/>
            </p:cNvSpPr>
            <p:nvPr/>
          </p:nvSpPr>
          <p:spPr bwMode="auto">
            <a:xfrm>
              <a:off x="2242" y="2598"/>
              <a:ext cx="419" cy="346"/>
            </a:xfrm>
            <a:prstGeom prst="rect">
              <a:avLst/>
            </a:prstGeom>
            <a:noFill/>
            <a:ln w="12700" cap="sq">
              <a:noFill/>
              <a:miter lim="800000"/>
              <a:headEnd type="none" w="sm" len="sm"/>
              <a:tailEnd type="none" w="sm" len="sm"/>
            </a:ln>
          </p:spPr>
          <p:txBody>
            <a:bodyPr>
              <a:spAutoFit/>
            </a:bodyPr>
            <a:lstStyle/>
            <a:p>
              <a:r>
                <a:rPr lang="en-US" altLang="zh-CN" sz="3000" b="1">
                  <a:solidFill>
                    <a:srgbClr val="0000CC"/>
                  </a:solidFill>
                </a:rPr>
                <a:t>a</a:t>
              </a:r>
              <a:r>
                <a:rPr lang="en-US" altLang="zh-CN" sz="3000" b="1" baseline="-16000">
                  <a:solidFill>
                    <a:srgbClr val="0000CC"/>
                  </a:solidFill>
                </a:rPr>
                <a:t>2</a:t>
              </a:r>
            </a:p>
          </p:txBody>
        </p:sp>
        <p:sp>
          <p:nvSpPr>
            <p:cNvPr id="33815" name="Text Box 16"/>
            <p:cNvSpPr txBox="1">
              <a:spLocks noChangeArrowheads="1"/>
            </p:cNvSpPr>
            <p:nvPr/>
          </p:nvSpPr>
          <p:spPr bwMode="auto">
            <a:xfrm>
              <a:off x="2242" y="2310"/>
              <a:ext cx="300" cy="349"/>
            </a:xfrm>
            <a:prstGeom prst="rect">
              <a:avLst/>
            </a:prstGeom>
            <a:noFill/>
            <a:ln w="12700" cap="sq">
              <a:noFill/>
              <a:miter lim="800000"/>
              <a:headEnd type="none" w="sm" len="sm"/>
              <a:tailEnd type="none" w="sm" len="sm"/>
            </a:ln>
          </p:spPr>
          <p:txBody>
            <a:bodyPr wrap="none">
              <a:spAutoFit/>
            </a:bodyPr>
            <a:lstStyle/>
            <a:p>
              <a:r>
                <a:rPr lang="en-US" altLang="zh-CN" sz="3000" b="1">
                  <a:solidFill>
                    <a:srgbClr val="0000CC"/>
                  </a:solidFill>
                </a:rPr>
                <a:t>a</a:t>
              </a:r>
              <a:r>
                <a:rPr lang="en-US" altLang="zh-CN" sz="3000" b="1" baseline="-16000">
                  <a:solidFill>
                    <a:srgbClr val="0000CC"/>
                  </a:solidFill>
                </a:rPr>
                <a:t>3</a:t>
              </a:r>
            </a:p>
          </p:txBody>
        </p:sp>
        <p:sp>
          <p:nvSpPr>
            <p:cNvPr id="33816" name="Text Box 17"/>
            <p:cNvSpPr txBox="1">
              <a:spLocks noChangeArrowheads="1"/>
            </p:cNvSpPr>
            <p:nvPr/>
          </p:nvSpPr>
          <p:spPr bwMode="auto">
            <a:xfrm>
              <a:off x="2242" y="1686"/>
              <a:ext cx="463" cy="349"/>
            </a:xfrm>
            <a:prstGeom prst="rect">
              <a:avLst/>
            </a:prstGeom>
            <a:noFill/>
            <a:ln w="12700" cap="sq">
              <a:noFill/>
              <a:miter lim="800000"/>
              <a:headEnd type="none" w="sm" len="sm"/>
              <a:tailEnd type="none" w="sm" len="sm"/>
            </a:ln>
          </p:spPr>
          <p:txBody>
            <a:bodyPr wrap="none">
              <a:spAutoFit/>
            </a:bodyPr>
            <a:lstStyle/>
            <a:p>
              <a:r>
                <a:rPr lang="en-US" altLang="zh-CN" sz="3000" b="1">
                  <a:solidFill>
                    <a:srgbClr val="0000CC"/>
                  </a:solidFill>
                </a:rPr>
                <a:t>a</a:t>
              </a:r>
              <a:r>
                <a:rPr lang="en-US" altLang="zh-CN" sz="3000" b="1" baseline="-16000">
                  <a:solidFill>
                    <a:srgbClr val="0000CC"/>
                  </a:solidFill>
                </a:rPr>
                <a:t>n</a:t>
              </a:r>
              <a:r>
                <a:rPr lang="en-US" altLang="zh-CN" sz="3000" b="1" baseline="-16000">
                  <a:solidFill>
                    <a:srgbClr val="0000CC"/>
                  </a:solidFill>
                  <a:latin typeface="宋体" charset="-122"/>
                  <a:ea typeface="宋体" charset="-122"/>
                </a:rPr>
                <a:t>-</a:t>
              </a:r>
              <a:r>
                <a:rPr lang="en-US" altLang="zh-CN" sz="3000" b="1" baseline="-16000">
                  <a:solidFill>
                    <a:srgbClr val="0000CC"/>
                  </a:solidFill>
                </a:rPr>
                <a:t>1</a:t>
              </a:r>
            </a:p>
          </p:txBody>
        </p:sp>
        <p:sp>
          <p:nvSpPr>
            <p:cNvPr id="33817" name="Text Box 18"/>
            <p:cNvSpPr txBox="1">
              <a:spLocks noChangeArrowheads="1"/>
            </p:cNvSpPr>
            <p:nvPr/>
          </p:nvSpPr>
          <p:spPr bwMode="auto">
            <a:xfrm>
              <a:off x="2242" y="1413"/>
              <a:ext cx="366" cy="346"/>
            </a:xfrm>
            <a:prstGeom prst="rect">
              <a:avLst/>
            </a:prstGeom>
            <a:noFill/>
            <a:ln w="12700" cap="sq">
              <a:noFill/>
              <a:miter lim="800000"/>
              <a:headEnd type="none" w="sm" len="sm"/>
              <a:tailEnd type="none" w="sm" len="sm"/>
            </a:ln>
          </p:spPr>
          <p:txBody>
            <a:bodyPr>
              <a:spAutoFit/>
            </a:bodyPr>
            <a:lstStyle/>
            <a:p>
              <a:r>
                <a:rPr lang="en-US" altLang="zh-CN" sz="3000" b="1">
                  <a:solidFill>
                    <a:srgbClr val="0000CC"/>
                  </a:solidFill>
                </a:rPr>
                <a:t>a</a:t>
              </a:r>
              <a:r>
                <a:rPr lang="en-US" altLang="zh-CN" sz="3000" b="1" baseline="-16000">
                  <a:solidFill>
                    <a:srgbClr val="0000CC"/>
                  </a:solidFill>
                </a:rPr>
                <a:t>n</a:t>
              </a:r>
            </a:p>
          </p:txBody>
        </p:sp>
        <p:sp>
          <p:nvSpPr>
            <p:cNvPr id="33818" name="Text Box 19"/>
            <p:cNvSpPr txBox="1">
              <a:spLocks noChangeArrowheads="1"/>
            </p:cNvSpPr>
            <p:nvPr/>
          </p:nvSpPr>
          <p:spPr bwMode="auto">
            <a:xfrm>
              <a:off x="2262" y="1987"/>
              <a:ext cx="308" cy="339"/>
            </a:xfrm>
            <a:prstGeom prst="rect">
              <a:avLst/>
            </a:prstGeom>
            <a:noFill/>
            <a:ln w="12700" cap="sq">
              <a:noFill/>
              <a:miter lim="800000"/>
              <a:headEnd type="none" w="sm" len="sm"/>
              <a:tailEnd type="none" w="sm" len="sm"/>
            </a:ln>
          </p:spPr>
          <p:txBody>
            <a:bodyPr wrap="none">
              <a:spAutoFit/>
            </a:bodyPr>
            <a:lstStyle/>
            <a:p>
              <a:r>
                <a:rPr lang="zh-CN" altLang="en-US" sz="2900" b="1">
                  <a:solidFill>
                    <a:srgbClr val="0000CC"/>
                  </a:solidFill>
                  <a:ea typeface="宋体" charset="-122"/>
                  <a:cs typeface="Times New Roman" pitchFamily="18" charset="0"/>
                </a:rPr>
                <a:t>…</a:t>
              </a:r>
            </a:p>
          </p:txBody>
        </p:sp>
        <p:sp>
          <p:nvSpPr>
            <p:cNvPr id="33819" name="Text Box 20"/>
            <p:cNvSpPr txBox="1">
              <a:spLocks noChangeArrowheads="1"/>
            </p:cNvSpPr>
            <p:nvPr/>
          </p:nvSpPr>
          <p:spPr bwMode="auto">
            <a:xfrm>
              <a:off x="3627" y="773"/>
              <a:ext cx="387" cy="558"/>
            </a:xfrm>
            <a:prstGeom prst="rect">
              <a:avLst/>
            </a:prstGeom>
            <a:noFill/>
            <a:ln w="12700" cap="sq">
              <a:noFill/>
              <a:miter lim="800000"/>
              <a:headEnd type="none" w="sm" len="sm"/>
              <a:tailEnd type="none" w="sm" len="sm"/>
            </a:ln>
            <a:effectLst>
              <a:outerShdw dist="17961" dir="2700000" algn="ctr" rotWithShape="0">
                <a:schemeClr val="bg2"/>
              </a:outerShdw>
            </a:effectLst>
          </p:spPr>
          <p:txBody>
            <a:bodyPr>
              <a:spAutoFit/>
            </a:bodyPr>
            <a:lstStyle/>
            <a:p>
              <a:r>
                <a:rPr lang="zh-CN" altLang="en-US" sz="2600" b="1">
                  <a:solidFill>
                    <a:srgbClr val="FF3300"/>
                  </a:solidFill>
                  <a:ea typeface="黑体" pitchFamily="2" charset="-122"/>
                </a:rPr>
                <a:t>进</a:t>
              </a:r>
            </a:p>
            <a:p>
              <a:r>
                <a:rPr lang="zh-CN" altLang="en-US" sz="2600" b="1">
                  <a:solidFill>
                    <a:srgbClr val="FF3300"/>
                  </a:solidFill>
                  <a:ea typeface="黑体" pitchFamily="2" charset="-122"/>
                </a:rPr>
                <a:t>栈</a:t>
              </a:r>
            </a:p>
          </p:txBody>
        </p:sp>
        <p:sp>
          <p:nvSpPr>
            <p:cNvPr id="33820" name="Text Box 21"/>
            <p:cNvSpPr txBox="1">
              <a:spLocks noChangeArrowheads="1"/>
            </p:cNvSpPr>
            <p:nvPr/>
          </p:nvSpPr>
          <p:spPr bwMode="auto">
            <a:xfrm>
              <a:off x="1008" y="767"/>
              <a:ext cx="466" cy="558"/>
            </a:xfrm>
            <a:prstGeom prst="rect">
              <a:avLst/>
            </a:prstGeom>
            <a:noFill/>
            <a:ln w="12700" cap="sq">
              <a:noFill/>
              <a:miter lim="800000"/>
              <a:headEnd type="none" w="sm" len="sm"/>
              <a:tailEnd type="none" w="sm" len="sm"/>
            </a:ln>
            <a:effectLst>
              <a:outerShdw dist="17961" dir="2700000" algn="ctr" rotWithShape="0">
                <a:schemeClr val="bg2"/>
              </a:outerShdw>
            </a:effectLst>
          </p:spPr>
          <p:txBody>
            <a:bodyPr>
              <a:spAutoFit/>
            </a:bodyPr>
            <a:lstStyle/>
            <a:p>
              <a:r>
                <a:rPr lang="zh-CN" altLang="en-US" sz="2600" b="1">
                  <a:solidFill>
                    <a:srgbClr val="FF3300"/>
                  </a:solidFill>
                  <a:ea typeface="黑体" pitchFamily="2" charset="-122"/>
                </a:rPr>
                <a:t>退</a:t>
              </a:r>
            </a:p>
            <a:p>
              <a:r>
                <a:rPr lang="zh-CN" altLang="en-US" sz="2600" b="1">
                  <a:solidFill>
                    <a:srgbClr val="FF3300"/>
                  </a:solidFill>
                  <a:ea typeface="黑体" pitchFamily="2" charset="-122"/>
                </a:rPr>
                <a:t>栈</a:t>
              </a:r>
            </a:p>
          </p:txBody>
        </p:sp>
        <p:sp>
          <p:nvSpPr>
            <p:cNvPr id="33821" name="AutoShape 22"/>
            <p:cNvSpPr>
              <a:spLocks noChangeArrowheads="1"/>
            </p:cNvSpPr>
            <p:nvPr/>
          </p:nvSpPr>
          <p:spPr bwMode="auto">
            <a:xfrm>
              <a:off x="1344" y="1557"/>
              <a:ext cx="336" cy="114"/>
            </a:xfrm>
            <a:prstGeom prst="rightArrow">
              <a:avLst>
                <a:gd name="adj1" fmla="val 50000"/>
                <a:gd name="adj2" fmla="val 73684"/>
              </a:avLst>
            </a:prstGeom>
            <a:gradFill rotWithShape="1">
              <a:gsLst>
                <a:gs pos="0">
                  <a:srgbClr val="761800"/>
                </a:gs>
                <a:gs pos="50000">
                  <a:srgbClr val="FF3300"/>
                </a:gs>
                <a:gs pos="100000">
                  <a:srgbClr val="761800"/>
                </a:gs>
              </a:gsLst>
              <a:lin ang="5400000" scaled="1"/>
            </a:gradFill>
            <a:ln w="12700" cap="sq">
              <a:solidFill>
                <a:schemeClr val="accent1"/>
              </a:solidFill>
              <a:miter lim="800000"/>
              <a:headEnd type="none" w="sm" len="sm"/>
              <a:tailEnd type="none" w="sm" len="sm"/>
            </a:ln>
            <a:effectLst>
              <a:outerShdw dist="35921" dir="2700000" algn="ctr" rotWithShape="0">
                <a:srgbClr val="B2B2B2"/>
              </a:outerShdw>
            </a:effectLst>
          </p:spPr>
          <p:txBody>
            <a:bodyPr wrap="none" anchor="ctr"/>
            <a:lstStyle/>
            <a:p>
              <a:endParaRPr lang="zh-CN" altLang="en-US"/>
            </a:p>
          </p:txBody>
        </p:sp>
        <p:sp>
          <p:nvSpPr>
            <p:cNvPr id="33822" name="Text Box 23"/>
            <p:cNvSpPr txBox="1">
              <a:spLocks noChangeArrowheads="1"/>
            </p:cNvSpPr>
            <p:nvPr/>
          </p:nvSpPr>
          <p:spPr bwMode="auto">
            <a:xfrm>
              <a:off x="939" y="1338"/>
              <a:ext cx="479" cy="317"/>
            </a:xfrm>
            <a:prstGeom prst="rect">
              <a:avLst/>
            </a:prstGeom>
            <a:noFill/>
            <a:ln w="12700" cap="sq">
              <a:noFill/>
              <a:miter lim="800000"/>
              <a:headEnd type="none" w="sm" len="sm"/>
              <a:tailEnd type="none" w="sm" len="sm"/>
            </a:ln>
            <a:effectLst>
              <a:outerShdw dist="17961" dir="2700000" algn="ctr" rotWithShape="0">
                <a:schemeClr val="bg2"/>
              </a:outerShdw>
            </a:effectLst>
          </p:spPr>
          <p:txBody>
            <a:bodyPr>
              <a:spAutoFit/>
            </a:bodyPr>
            <a:lstStyle/>
            <a:p>
              <a:r>
                <a:rPr lang="en-US" altLang="zh-CN" sz="2700" b="1" i="1">
                  <a:solidFill>
                    <a:srgbClr val="FF3300"/>
                  </a:solidFill>
                </a:rPr>
                <a:t>top</a:t>
              </a:r>
            </a:p>
          </p:txBody>
        </p:sp>
        <p:sp>
          <p:nvSpPr>
            <p:cNvPr id="33823" name="Text Box 24"/>
            <p:cNvSpPr txBox="1">
              <a:spLocks noChangeArrowheads="1"/>
            </p:cNvSpPr>
            <p:nvPr/>
          </p:nvSpPr>
          <p:spPr bwMode="auto">
            <a:xfrm>
              <a:off x="868" y="1576"/>
              <a:ext cx="606" cy="250"/>
            </a:xfrm>
            <a:prstGeom prst="rect">
              <a:avLst/>
            </a:prstGeom>
            <a:noFill/>
            <a:ln w="12700" cap="sq">
              <a:noFill/>
              <a:miter lim="800000"/>
              <a:headEnd type="none" w="sm" len="sm"/>
              <a:tailEnd type="none" w="sm" len="sm"/>
            </a:ln>
          </p:spPr>
          <p:txBody>
            <a:bodyPr>
              <a:spAutoFit/>
            </a:bodyPr>
            <a:lstStyle/>
            <a:p>
              <a:r>
                <a:rPr lang="zh-CN" altLang="en-US" sz="2000" b="1" i="1">
                  <a:solidFill>
                    <a:srgbClr val="003399"/>
                  </a:solidFill>
                  <a:latin typeface="黑体" pitchFamily="2" charset="-122"/>
                  <a:ea typeface="黑体" pitchFamily="2" charset="-122"/>
                </a:rPr>
                <a:t>栈顶 </a:t>
              </a:r>
            </a:p>
          </p:txBody>
        </p:sp>
        <p:sp>
          <p:nvSpPr>
            <p:cNvPr id="33824" name="Text Box 25"/>
            <p:cNvSpPr txBox="1">
              <a:spLocks noChangeArrowheads="1"/>
            </p:cNvSpPr>
            <p:nvPr/>
          </p:nvSpPr>
          <p:spPr bwMode="auto">
            <a:xfrm>
              <a:off x="894" y="2964"/>
              <a:ext cx="535" cy="250"/>
            </a:xfrm>
            <a:prstGeom prst="rect">
              <a:avLst/>
            </a:prstGeom>
            <a:noFill/>
            <a:ln w="12700" cap="sq">
              <a:noFill/>
              <a:miter lim="800000"/>
              <a:headEnd type="none" w="sm" len="sm"/>
              <a:tailEnd type="none" w="sm" len="sm"/>
            </a:ln>
          </p:spPr>
          <p:txBody>
            <a:bodyPr>
              <a:spAutoFit/>
            </a:bodyPr>
            <a:lstStyle/>
            <a:p>
              <a:r>
                <a:rPr lang="zh-CN" altLang="en-US" sz="2000" b="1" i="1">
                  <a:solidFill>
                    <a:srgbClr val="003399"/>
                  </a:solidFill>
                  <a:latin typeface="黑体" pitchFamily="2" charset="-122"/>
                  <a:ea typeface="黑体" pitchFamily="2" charset="-122"/>
                </a:rPr>
                <a:t>栈底 </a:t>
              </a:r>
            </a:p>
          </p:txBody>
        </p:sp>
        <p:sp>
          <p:nvSpPr>
            <p:cNvPr id="33825" name="AutoShape 26"/>
            <p:cNvSpPr>
              <a:spLocks noChangeArrowheads="1"/>
            </p:cNvSpPr>
            <p:nvPr/>
          </p:nvSpPr>
          <p:spPr bwMode="auto">
            <a:xfrm>
              <a:off x="1344" y="3054"/>
              <a:ext cx="336" cy="114"/>
            </a:xfrm>
            <a:prstGeom prst="rightArrow">
              <a:avLst>
                <a:gd name="adj1" fmla="val 50000"/>
                <a:gd name="adj2" fmla="val 73684"/>
              </a:avLst>
            </a:prstGeom>
            <a:gradFill rotWithShape="1">
              <a:gsLst>
                <a:gs pos="0">
                  <a:srgbClr val="761800"/>
                </a:gs>
                <a:gs pos="50000">
                  <a:srgbClr val="FF3300"/>
                </a:gs>
                <a:gs pos="100000">
                  <a:srgbClr val="761800"/>
                </a:gs>
              </a:gsLst>
              <a:lin ang="5400000" scaled="1"/>
            </a:gradFill>
            <a:ln w="12700" cap="sq">
              <a:solidFill>
                <a:schemeClr val="accent1"/>
              </a:solidFill>
              <a:miter lim="800000"/>
              <a:headEnd type="none" w="sm" len="sm"/>
              <a:tailEnd type="none" w="sm" len="sm"/>
            </a:ln>
            <a:effectLst>
              <a:outerShdw dist="35921" dir="2700000" algn="ctr" rotWithShape="0">
                <a:srgbClr val="B2B2B2"/>
              </a:outerShdw>
            </a:effectLst>
          </p:spPr>
          <p:txBody>
            <a:bodyPr wrap="none" anchor="ctr"/>
            <a:lstStyle/>
            <a:p>
              <a:endParaRPr lang="zh-CN" altLang="en-US"/>
            </a:p>
          </p:txBody>
        </p:sp>
      </p:grpSp>
      <p:grpSp>
        <p:nvGrpSpPr>
          <p:cNvPr id="3" name="Group 41"/>
          <p:cNvGrpSpPr>
            <a:grpSpLocks/>
          </p:cNvGrpSpPr>
          <p:nvPr/>
        </p:nvGrpSpPr>
        <p:grpSpPr bwMode="auto">
          <a:xfrm>
            <a:off x="4656139" y="5767388"/>
            <a:ext cx="3240087" cy="508000"/>
            <a:chOff x="1837" y="3633"/>
            <a:chExt cx="2041" cy="320"/>
          </a:xfrm>
        </p:grpSpPr>
        <p:sp>
          <p:nvSpPr>
            <p:cNvPr id="33800" name="Rectangle 42"/>
            <p:cNvSpPr>
              <a:spLocks noChangeArrowheads="1"/>
            </p:cNvSpPr>
            <p:nvPr/>
          </p:nvSpPr>
          <p:spPr bwMode="auto">
            <a:xfrm>
              <a:off x="1837" y="3636"/>
              <a:ext cx="1542" cy="317"/>
            </a:xfrm>
            <a:prstGeom prst="rect">
              <a:avLst/>
            </a:prstGeom>
            <a:solidFill>
              <a:srgbClr val="3BDAFF"/>
            </a:solidFill>
            <a:ln w="12700" cap="sq">
              <a:noFill/>
              <a:miter lim="800000"/>
              <a:headEnd type="none" w="sm" len="sm"/>
              <a:tailEnd type="none" w="sm" len="sm"/>
            </a:ln>
            <a:effectLst>
              <a:outerShdw dist="63500" dir="3187806" algn="ctr" rotWithShape="0">
                <a:srgbClr val="C9C9C9"/>
              </a:outerShdw>
            </a:effectLst>
          </p:spPr>
          <p:txBody>
            <a:bodyPr wrap="none" anchor="ctr"/>
            <a:lstStyle/>
            <a:p>
              <a:endParaRPr lang="zh-CN" altLang="en-US"/>
            </a:p>
          </p:txBody>
        </p:sp>
        <p:sp>
          <p:nvSpPr>
            <p:cNvPr id="33801" name="Text Box 43"/>
            <p:cNvSpPr txBox="1">
              <a:spLocks noChangeArrowheads="1"/>
            </p:cNvSpPr>
            <p:nvPr/>
          </p:nvSpPr>
          <p:spPr bwMode="auto">
            <a:xfrm>
              <a:off x="1879" y="3633"/>
              <a:ext cx="1999" cy="308"/>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a:spAutoFit/>
            </a:bodyPr>
            <a:lstStyle/>
            <a:p>
              <a:r>
                <a:rPr lang="zh-CN" altLang="en-US" sz="2600" b="1" dirty="0">
                  <a:solidFill>
                    <a:srgbClr val="FF0000"/>
                  </a:solidFill>
                  <a:ea typeface="黑体" pitchFamily="2" charset="-122"/>
                </a:rPr>
                <a:t>栈的示意图</a:t>
              </a:r>
            </a:p>
          </p:txBody>
        </p:sp>
      </p:grpSp>
      <p:grpSp>
        <p:nvGrpSpPr>
          <p:cNvPr id="4" name="Group 9"/>
          <p:cNvGrpSpPr>
            <a:grpSpLocks/>
          </p:cNvGrpSpPr>
          <p:nvPr/>
        </p:nvGrpSpPr>
        <p:grpSpPr bwMode="auto">
          <a:xfrm>
            <a:off x="2747964" y="4759325"/>
            <a:ext cx="7235825" cy="762000"/>
            <a:chOff x="3888" y="672"/>
            <a:chExt cx="1975" cy="480"/>
          </a:xfrm>
        </p:grpSpPr>
        <p:sp>
          <p:nvSpPr>
            <p:cNvPr id="33798" name="AutoShape 10"/>
            <p:cNvSpPr>
              <a:spLocks noChangeArrowheads="1"/>
            </p:cNvSpPr>
            <p:nvPr/>
          </p:nvSpPr>
          <p:spPr bwMode="auto">
            <a:xfrm>
              <a:off x="3888" y="672"/>
              <a:ext cx="1632" cy="480"/>
            </a:xfrm>
            <a:prstGeom prst="cloudCallout">
              <a:avLst>
                <a:gd name="adj1" fmla="val -50120"/>
                <a:gd name="adj2" fmla="val 79167"/>
              </a:avLst>
            </a:prstGeom>
            <a:solidFill>
              <a:srgbClr val="FFFF23"/>
            </a:solidFill>
            <a:ln w="28575" cap="sq">
              <a:solidFill>
                <a:srgbClr val="C0C0C0"/>
              </a:solidFill>
              <a:round/>
              <a:headEnd type="none" w="sm" len="sm"/>
              <a:tailEnd type="none" w="sm" len="sm"/>
            </a:ln>
            <a:effectLst>
              <a:outerShdw dist="113592" dir="1593903" algn="ctr" rotWithShape="0">
                <a:srgbClr val="B2B2B2"/>
              </a:outerShdw>
            </a:effectLst>
          </p:spPr>
          <p:txBody>
            <a:bodyPr wrap="none" anchor="ctr"/>
            <a:lstStyle/>
            <a:p>
              <a:pPr algn="ctr"/>
              <a:endParaRPr lang="zh-CN" altLang="en-US" sz="2400" b="1"/>
            </a:p>
          </p:txBody>
        </p:sp>
        <p:sp>
          <p:nvSpPr>
            <p:cNvPr id="34" name="Text Box 11"/>
            <p:cNvSpPr txBox="1">
              <a:spLocks noChangeArrowheads="1"/>
            </p:cNvSpPr>
            <p:nvPr/>
          </p:nvSpPr>
          <p:spPr bwMode="auto">
            <a:xfrm>
              <a:off x="4087" y="716"/>
              <a:ext cx="1776" cy="365"/>
            </a:xfrm>
            <a:prstGeom prst="rect">
              <a:avLst/>
            </a:prstGeom>
            <a:noFill/>
            <a:ln>
              <a:noFill/>
            </a:ln>
            <a:effectLst>
              <a:outerShdw dist="28398" dir="3806097" algn="ctr" rotWithShape="0">
                <a:schemeClr val="bg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3200">
                  <a:solidFill>
                    <a:schemeClr val="tx1"/>
                  </a:solidFill>
                  <a:latin typeface="Times New Roman" pitchFamily="18" charset="0"/>
                  <a:ea typeface="楷体_GB2312" pitchFamily="49" charset="-122"/>
                </a:defRPr>
              </a:lvl1pPr>
              <a:lvl2pPr marL="742950" indent="-285750">
                <a:defRPr sz="3200">
                  <a:solidFill>
                    <a:schemeClr val="tx1"/>
                  </a:solidFill>
                  <a:latin typeface="Times New Roman" pitchFamily="18" charset="0"/>
                  <a:ea typeface="楷体_GB2312" pitchFamily="49" charset="-122"/>
                </a:defRPr>
              </a:lvl2pPr>
              <a:lvl3pPr marL="1143000" indent="-228600">
                <a:defRPr sz="3200">
                  <a:solidFill>
                    <a:schemeClr val="tx1"/>
                  </a:solidFill>
                  <a:latin typeface="Times New Roman" pitchFamily="18" charset="0"/>
                  <a:ea typeface="楷体_GB2312" pitchFamily="49" charset="-122"/>
                </a:defRPr>
              </a:lvl3pPr>
              <a:lvl4pPr marL="1600200" indent="-228600">
                <a:defRPr sz="3200">
                  <a:solidFill>
                    <a:schemeClr val="tx1"/>
                  </a:solidFill>
                  <a:latin typeface="Times New Roman" pitchFamily="18" charset="0"/>
                  <a:ea typeface="楷体_GB2312" pitchFamily="49" charset="-122"/>
                </a:defRPr>
              </a:lvl4pPr>
              <a:lvl5pPr marL="2057400" indent="-228600">
                <a:defRPr sz="32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sz="32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sz="32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sz="32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sz="3200">
                  <a:solidFill>
                    <a:schemeClr val="tx1"/>
                  </a:solidFill>
                  <a:latin typeface="Times New Roman" pitchFamily="18" charset="0"/>
                  <a:ea typeface="楷体_GB2312" pitchFamily="49" charset="-122"/>
                </a:defRPr>
              </a:lvl9pPr>
            </a:lstStyle>
            <a:p>
              <a:pPr>
                <a:defRPr/>
              </a:pPr>
              <a:r>
                <a:rPr lang="en-US" altLang="zh-CN" b="1" dirty="0">
                  <a:solidFill>
                    <a:srgbClr val="FF0000"/>
                  </a:solidFill>
                  <a:effectLst>
                    <a:outerShdw blurRad="38100" dist="38100" dir="2700000" algn="tl">
                      <a:srgbClr val="000000">
                        <a:alpha val="43137"/>
                      </a:srgbClr>
                    </a:outerShdw>
                  </a:effectLst>
                  <a:ea typeface="黑体" pitchFamily="2" charset="-122"/>
                </a:rPr>
                <a:t>LIFO</a:t>
              </a:r>
              <a:r>
                <a:rPr lang="zh-CN" altLang="en-US" b="1" dirty="0">
                  <a:solidFill>
                    <a:srgbClr val="FF0000"/>
                  </a:solidFill>
                  <a:effectLst>
                    <a:outerShdw blurRad="38100" dist="38100" dir="2700000" algn="tl">
                      <a:srgbClr val="000000">
                        <a:alpha val="43137"/>
                      </a:srgbClr>
                    </a:outerShdw>
                  </a:effectLst>
                  <a:ea typeface="黑体" pitchFamily="2" charset="-122"/>
                </a:rPr>
                <a:t>（</a:t>
              </a:r>
              <a:r>
                <a:rPr lang="en-US" altLang="zh-CN" b="1" dirty="0">
                  <a:solidFill>
                    <a:srgbClr val="FF0000"/>
                  </a:solidFill>
                  <a:effectLst>
                    <a:outerShdw blurRad="38100" dist="38100" dir="2700000" algn="tl">
                      <a:srgbClr val="000000">
                        <a:alpha val="43137"/>
                      </a:srgbClr>
                    </a:outerShdw>
                  </a:effectLst>
                  <a:ea typeface="黑体" pitchFamily="2" charset="-122"/>
                </a:rPr>
                <a:t>Last-In-First-Out</a:t>
              </a:r>
              <a:r>
                <a:rPr lang="zh-CN" altLang="en-US" b="1" dirty="0">
                  <a:solidFill>
                    <a:srgbClr val="FF0000"/>
                  </a:solidFill>
                  <a:effectLst>
                    <a:outerShdw blurRad="38100" dist="38100" dir="2700000" algn="tl">
                      <a:srgbClr val="000000">
                        <a:alpha val="43137"/>
                      </a:srgbClr>
                    </a:outerShdw>
                  </a:effectLst>
                  <a:ea typeface="黑体" pitchFamily="2" charset="-122"/>
                </a:rPr>
                <a:t>）</a:t>
              </a:r>
            </a:p>
          </p:txBody>
        </p:sp>
      </p:grpSp>
      <p:sp>
        <p:nvSpPr>
          <p:cNvPr id="33797" name="TextBox 1"/>
          <p:cNvSpPr txBox="1">
            <a:spLocks noChangeArrowheads="1"/>
          </p:cNvSpPr>
          <p:nvPr/>
        </p:nvSpPr>
        <p:spPr bwMode="auto">
          <a:xfrm>
            <a:off x="6731001" y="1557338"/>
            <a:ext cx="3433763" cy="2616200"/>
          </a:xfrm>
          <a:prstGeom prst="rect">
            <a:avLst/>
          </a:prstGeom>
          <a:noFill/>
          <a:ln w="9525">
            <a:noFill/>
            <a:miter lim="800000"/>
            <a:headEnd/>
            <a:tailEnd/>
          </a:ln>
        </p:spPr>
        <p:txBody>
          <a:bodyPr wrap="none">
            <a:spAutoFit/>
          </a:bodyPr>
          <a:lstStyle/>
          <a:p>
            <a:r>
              <a:rPr lang="zh-CN" altLang="en-US" sz="2800" b="1" dirty="0">
                <a:solidFill>
                  <a:srgbClr val="000066"/>
                </a:solidFill>
                <a:latin typeface="黑体" pitchFamily="2" charset="-122"/>
                <a:ea typeface="黑体" pitchFamily="2" charset="-122"/>
              </a:rPr>
              <a:t>栈的特点：</a:t>
            </a:r>
            <a:endParaRPr lang="en-US" altLang="zh-CN" sz="2800" b="1" dirty="0">
              <a:solidFill>
                <a:srgbClr val="000066"/>
              </a:solidFill>
              <a:latin typeface="黑体" pitchFamily="2" charset="-122"/>
              <a:ea typeface="黑体" pitchFamily="2" charset="-122"/>
            </a:endParaRPr>
          </a:p>
          <a:p>
            <a:endParaRPr lang="en-US" altLang="zh-CN" sz="2800" b="1" dirty="0">
              <a:solidFill>
                <a:schemeClr val="bg1"/>
              </a:solidFill>
              <a:latin typeface="黑体" pitchFamily="2" charset="-122"/>
              <a:ea typeface="黑体" pitchFamily="2" charset="-122"/>
            </a:endParaRPr>
          </a:p>
          <a:p>
            <a:pPr>
              <a:lnSpc>
                <a:spcPct val="150000"/>
              </a:lnSpc>
            </a:pPr>
            <a:r>
              <a:rPr lang="en-US" altLang="zh-CN" sz="2400" b="1" dirty="0">
                <a:latin typeface="黑体" pitchFamily="2" charset="-122"/>
                <a:ea typeface="黑体" pitchFamily="2" charset="-122"/>
              </a:rPr>
              <a:t>1</a:t>
            </a:r>
            <a:r>
              <a:rPr lang="zh-CN" altLang="en-US" sz="2400" b="1" dirty="0">
                <a:latin typeface="黑体" pitchFamily="2" charset="-122"/>
                <a:ea typeface="黑体" pitchFamily="2" charset="-122"/>
              </a:rPr>
              <a:t>）元素间呈线性关系</a:t>
            </a:r>
            <a:endParaRPr lang="en-US" altLang="zh-CN" sz="2400" b="1" dirty="0">
              <a:latin typeface="黑体" pitchFamily="2" charset="-122"/>
              <a:ea typeface="黑体" pitchFamily="2" charset="-122"/>
            </a:endParaRPr>
          </a:p>
          <a:p>
            <a:pPr>
              <a:lnSpc>
                <a:spcPct val="150000"/>
              </a:lnSpc>
            </a:pPr>
            <a:r>
              <a:rPr lang="en-US" altLang="zh-CN" sz="2400" b="1" dirty="0">
                <a:latin typeface="黑体" pitchFamily="2" charset="-122"/>
                <a:ea typeface="黑体" pitchFamily="2" charset="-122"/>
              </a:rPr>
              <a:t>2</a:t>
            </a:r>
            <a:r>
              <a:rPr lang="zh-CN" altLang="en-US" sz="2400" b="1" dirty="0">
                <a:latin typeface="黑体" pitchFamily="2" charset="-122"/>
                <a:ea typeface="黑体" pitchFamily="2" charset="-122"/>
              </a:rPr>
              <a:t>）插入删除在一端进行</a:t>
            </a:r>
            <a:endParaRPr lang="en-US" altLang="zh-CN" sz="2400" b="1" dirty="0">
              <a:latin typeface="黑体" pitchFamily="2" charset="-122"/>
              <a:ea typeface="黑体" pitchFamily="2" charset="-122"/>
            </a:endParaRPr>
          </a:p>
          <a:p>
            <a:pPr>
              <a:lnSpc>
                <a:spcPct val="150000"/>
              </a:lnSpc>
            </a:pPr>
            <a:r>
              <a:rPr lang="en-US" altLang="zh-CN" sz="2400" b="1" dirty="0">
                <a:latin typeface="黑体" pitchFamily="2" charset="-122"/>
                <a:ea typeface="黑体" pitchFamily="2" charset="-122"/>
              </a:rPr>
              <a:t>3</a:t>
            </a:r>
            <a:r>
              <a:rPr lang="zh-CN" altLang="en-US" sz="2400" b="1" dirty="0">
                <a:latin typeface="黑体" pitchFamily="2" charset="-122"/>
                <a:ea typeface="黑体" pitchFamily="2" charset="-122"/>
              </a:rPr>
              <a:t>）后进先出，先进后出</a:t>
            </a:r>
            <a:endParaRPr lang="en-US" altLang="zh-CN" sz="2400" b="1" dirty="0">
              <a:latin typeface="黑体" pitchFamily="2" charset="-122"/>
              <a:ea typeface="黑体" pitchFamily="2" charset="-122"/>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7"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0" fill="hold"/>
                                        <p:tgtEl>
                                          <p:spTgt spid="4"/>
                                        </p:tgtEl>
                                        <p:attrNameLst>
                                          <p:attrName>ppt_x</p:attrName>
                                        </p:attrNameLst>
                                      </p:cBhvr>
                                      <p:tavLst>
                                        <p:tav tm="0">
                                          <p:val>
                                            <p:strVal val="1+#ppt_w/2"/>
                                          </p:val>
                                        </p:tav>
                                        <p:tav tm="100000">
                                          <p:val>
                                            <p:strVal val="#ppt_x"/>
                                          </p:val>
                                        </p:tav>
                                      </p:tavLst>
                                    </p:anim>
                                    <p:anim calcmode="lin" valueType="num">
                                      <p:cBhvr additive="base">
                                        <p:cTn id="8" dur="50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2582104" y="3765480"/>
            <a:ext cx="6629400" cy="2362200"/>
            <a:chOff x="1104" y="2400"/>
            <a:chExt cx="4176" cy="1488"/>
          </a:xfrm>
        </p:grpSpPr>
        <p:sp>
          <p:nvSpPr>
            <p:cNvPr id="34836" name="Rectangle 3"/>
            <p:cNvSpPr>
              <a:spLocks noChangeArrowheads="1"/>
            </p:cNvSpPr>
            <p:nvPr/>
          </p:nvSpPr>
          <p:spPr bwMode="auto">
            <a:xfrm>
              <a:off x="1104" y="2400"/>
              <a:ext cx="4176" cy="1488"/>
            </a:xfrm>
            <a:prstGeom prst="rect">
              <a:avLst/>
            </a:prstGeom>
            <a:solidFill>
              <a:srgbClr val="CCFFCC"/>
            </a:solidFill>
            <a:ln w="12700" cap="sq">
              <a:noFill/>
              <a:miter lim="800000"/>
              <a:headEnd type="none" w="sm" len="sm"/>
              <a:tailEnd type="none" w="sm" len="sm"/>
            </a:ln>
            <a:effectLst>
              <a:outerShdw dist="224686" dir="2837437" algn="ctr" rotWithShape="0">
                <a:srgbClr val="B2B2B2"/>
              </a:outerShdw>
            </a:effectLst>
          </p:spPr>
          <p:txBody>
            <a:bodyPr wrap="none" anchor="ctr"/>
            <a:lstStyle/>
            <a:p>
              <a:endParaRPr lang="zh-CN" altLang="en-US"/>
            </a:p>
          </p:txBody>
        </p:sp>
        <p:sp>
          <p:nvSpPr>
            <p:cNvPr id="34837" name="Oval 4"/>
            <p:cNvSpPr>
              <a:spLocks noChangeArrowheads="1"/>
            </p:cNvSpPr>
            <p:nvPr/>
          </p:nvSpPr>
          <p:spPr bwMode="auto">
            <a:xfrm>
              <a:off x="1309" y="2714"/>
              <a:ext cx="432" cy="864"/>
            </a:xfrm>
            <a:prstGeom prst="ellipse">
              <a:avLst/>
            </a:prstGeom>
            <a:solidFill>
              <a:srgbClr val="B5DAFF"/>
            </a:solidFill>
            <a:ln w="12700" cap="sq">
              <a:noFill/>
              <a:round/>
              <a:headEnd type="none" w="sm" len="sm"/>
              <a:tailEnd type="none" w="sm" len="sm"/>
            </a:ln>
            <a:effectLst>
              <a:outerShdw dist="45791" dir="2021404" algn="ctr" rotWithShape="0">
                <a:srgbClr val="B2B2B2"/>
              </a:outerShdw>
            </a:effectLst>
          </p:spPr>
          <p:txBody>
            <a:bodyPr wrap="none" anchor="ctr"/>
            <a:lstStyle/>
            <a:p>
              <a:endParaRPr lang="zh-CN" altLang="en-US"/>
            </a:p>
          </p:txBody>
        </p:sp>
        <p:sp>
          <p:nvSpPr>
            <p:cNvPr id="34838" name="Rectangle 5"/>
            <p:cNvSpPr>
              <a:spLocks noChangeArrowheads="1"/>
            </p:cNvSpPr>
            <p:nvPr/>
          </p:nvSpPr>
          <p:spPr bwMode="auto">
            <a:xfrm>
              <a:off x="1346" y="2688"/>
              <a:ext cx="600" cy="862"/>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a:spAutoFit/>
            </a:bodyPr>
            <a:lstStyle/>
            <a:p>
              <a:pPr>
                <a:lnSpc>
                  <a:spcPct val="90000"/>
                </a:lnSpc>
              </a:pPr>
              <a:r>
                <a:rPr lang="zh-CN" altLang="en-US" sz="3100" b="1">
                  <a:solidFill>
                    <a:srgbClr val="FF3300"/>
                  </a:solidFill>
                  <a:ea typeface="黑体" pitchFamily="2" charset="-122"/>
                </a:rPr>
                <a:t>特</a:t>
              </a:r>
            </a:p>
            <a:p>
              <a:pPr>
                <a:lnSpc>
                  <a:spcPct val="90000"/>
                </a:lnSpc>
              </a:pPr>
              <a:r>
                <a:rPr lang="zh-CN" altLang="en-US" sz="3100" b="1">
                  <a:solidFill>
                    <a:srgbClr val="FF3300"/>
                  </a:solidFill>
                  <a:ea typeface="黑体" pitchFamily="2" charset="-122"/>
                </a:rPr>
                <a:t>殊</a:t>
              </a:r>
            </a:p>
            <a:p>
              <a:pPr>
                <a:lnSpc>
                  <a:spcPct val="90000"/>
                </a:lnSpc>
              </a:pPr>
              <a:r>
                <a:rPr lang="zh-CN" altLang="en-US" sz="3100" b="1">
                  <a:solidFill>
                    <a:srgbClr val="FF3300"/>
                  </a:solidFill>
                  <a:ea typeface="黑体" pitchFamily="2" charset="-122"/>
                </a:rPr>
                <a:t>性</a:t>
              </a:r>
              <a:endParaRPr lang="zh-CN" altLang="en-US" sz="3100" b="1">
                <a:solidFill>
                  <a:srgbClr val="FF3300"/>
                </a:solidFill>
              </a:endParaRPr>
            </a:p>
          </p:txBody>
        </p:sp>
      </p:grpSp>
      <p:sp>
        <p:nvSpPr>
          <p:cNvPr id="260102" name="Text Box 6"/>
          <p:cNvSpPr txBox="1">
            <a:spLocks noChangeArrowheads="1"/>
          </p:cNvSpPr>
          <p:nvPr/>
        </p:nvSpPr>
        <p:spPr bwMode="auto">
          <a:xfrm>
            <a:off x="4284663" y="4175125"/>
            <a:ext cx="5562600" cy="819150"/>
          </a:xfrm>
          <a:prstGeom prst="rect">
            <a:avLst/>
          </a:prstGeom>
          <a:noFill/>
          <a:ln w="12700" cap="sq">
            <a:noFill/>
            <a:miter lim="800000"/>
            <a:headEnd type="none" w="sm" len="sm"/>
            <a:tailEnd type="none" w="sm" len="sm"/>
          </a:ln>
        </p:spPr>
        <p:txBody>
          <a:bodyPr>
            <a:spAutoFit/>
          </a:bodyPr>
          <a:lstStyle/>
          <a:p>
            <a:pPr>
              <a:lnSpc>
                <a:spcPct val="85000"/>
              </a:lnSpc>
            </a:pPr>
            <a:r>
              <a:rPr lang="zh-CN" altLang="en-US" sz="2800" b="1" dirty="0">
                <a:solidFill>
                  <a:srgbClr val="000099"/>
                </a:solidFill>
              </a:rPr>
              <a:t>1.  </a:t>
            </a:r>
            <a:r>
              <a:rPr lang="zh-CN" altLang="en-US" sz="2800" b="1" dirty="0">
                <a:solidFill>
                  <a:srgbClr val="000099"/>
                </a:solidFill>
                <a:ea typeface="幼圆" pitchFamily="49" charset="-122"/>
              </a:rPr>
              <a:t>其操作仅仅是一般线性表的</a:t>
            </a:r>
          </a:p>
          <a:p>
            <a:pPr>
              <a:lnSpc>
                <a:spcPct val="85000"/>
              </a:lnSpc>
            </a:pPr>
            <a:r>
              <a:rPr lang="zh-CN" altLang="en-US" sz="2800" b="1" dirty="0">
                <a:solidFill>
                  <a:srgbClr val="000099"/>
                </a:solidFill>
                <a:ea typeface="幼圆" pitchFamily="49" charset="-122"/>
              </a:rPr>
              <a:t>     操作的一个子集。</a:t>
            </a:r>
          </a:p>
        </p:txBody>
      </p:sp>
      <p:sp>
        <p:nvSpPr>
          <p:cNvPr id="260103" name="Text Box 7"/>
          <p:cNvSpPr txBox="1">
            <a:spLocks noChangeArrowheads="1"/>
          </p:cNvSpPr>
          <p:nvPr/>
        </p:nvSpPr>
        <p:spPr bwMode="auto">
          <a:xfrm>
            <a:off x="4306888" y="4972050"/>
            <a:ext cx="5319712" cy="819150"/>
          </a:xfrm>
          <a:prstGeom prst="rect">
            <a:avLst/>
          </a:prstGeom>
          <a:noFill/>
          <a:ln w="12700" cap="sq">
            <a:noFill/>
            <a:miter lim="800000"/>
            <a:headEnd type="none" w="sm" len="sm"/>
            <a:tailEnd type="none" w="sm" len="sm"/>
          </a:ln>
        </p:spPr>
        <p:txBody>
          <a:bodyPr>
            <a:spAutoFit/>
          </a:bodyPr>
          <a:lstStyle/>
          <a:p>
            <a:pPr>
              <a:lnSpc>
                <a:spcPct val="85000"/>
              </a:lnSpc>
            </a:pPr>
            <a:r>
              <a:rPr lang="zh-CN" altLang="en-US" sz="2800" b="1">
                <a:solidFill>
                  <a:srgbClr val="000099"/>
                </a:solidFill>
                <a:ea typeface="幼圆" pitchFamily="49" charset="-122"/>
              </a:rPr>
              <a:t>2.  插入和删除操作的位置受到</a:t>
            </a:r>
          </a:p>
          <a:p>
            <a:pPr>
              <a:lnSpc>
                <a:spcPct val="85000"/>
              </a:lnSpc>
            </a:pPr>
            <a:r>
              <a:rPr lang="zh-CN" altLang="en-US" sz="2800" b="1">
                <a:solidFill>
                  <a:srgbClr val="000099"/>
                </a:solidFill>
                <a:ea typeface="幼圆" pitchFamily="49" charset="-122"/>
              </a:rPr>
              <a:t>     限制</a:t>
            </a:r>
            <a:r>
              <a:rPr lang="zh-CN" altLang="en-US" sz="2800" b="1">
                <a:solidFill>
                  <a:srgbClr val="000099"/>
                </a:solidFill>
                <a:latin typeface="幼圆" pitchFamily="49" charset="-122"/>
                <a:ea typeface="幼圆" pitchFamily="49" charset="-122"/>
              </a:rPr>
              <a:t>。</a:t>
            </a:r>
          </a:p>
        </p:txBody>
      </p:sp>
      <p:grpSp>
        <p:nvGrpSpPr>
          <p:cNvPr id="3" name="Group 18"/>
          <p:cNvGrpSpPr>
            <a:grpSpLocks/>
          </p:cNvGrpSpPr>
          <p:nvPr/>
        </p:nvGrpSpPr>
        <p:grpSpPr bwMode="auto">
          <a:xfrm>
            <a:off x="2541588" y="387350"/>
            <a:ext cx="6096000" cy="3048000"/>
            <a:chOff x="432" y="288"/>
            <a:chExt cx="3840" cy="1920"/>
          </a:xfrm>
        </p:grpSpPr>
        <p:sp>
          <p:nvSpPr>
            <p:cNvPr id="34833" name="Rectangle 19"/>
            <p:cNvSpPr>
              <a:spLocks noChangeArrowheads="1"/>
            </p:cNvSpPr>
            <p:nvPr/>
          </p:nvSpPr>
          <p:spPr bwMode="auto">
            <a:xfrm>
              <a:off x="432" y="519"/>
              <a:ext cx="3840" cy="1689"/>
            </a:xfrm>
            <a:prstGeom prst="rect">
              <a:avLst/>
            </a:prstGeom>
            <a:solidFill>
              <a:srgbClr val="CCFFFF"/>
            </a:solidFill>
            <a:ln w="12700" cap="sq">
              <a:noFill/>
              <a:miter lim="800000"/>
              <a:headEnd type="none" w="sm" len="sm"/>
              <a:tailEnd type="none" w="sm" len="sm"/>
            </a:ln>
            <a:effectLst>
              <a:outerShdw dist="233487" dir="2700000" algn="ctr" rotWithShape="0">
                <a:srgbClr val="B2B2B2"/>
              </a:outerShdw>
            </a:effectLst>
          </p:spPr>
          <p:txBody>
            <a:bodyPr wrap="none" anchor="ctr"/>
            <a:lstStyle/>
            <a:p>
              <a:endParaRPr lang="zh-CN" altLang="en-US"/>
            </a:p>
          </p:txBody>
        </p:sp>
        <p:sp>
          <p:nvSpPr>
            <p:cNvPr id="34834" name="Rectangle 20"/>
            <p:cNvSpPr>
              <a:spLocks noChangeArrowheads="1"/>
            </p:cNvSpPr>
            <p:nvPr/>
          </p:nvSpPr>
          <p:spPr bwMode="auto">
            <a:xfrm>
              <a:off x="432" y="288"/>
              <a:ext cx="2400" cy="373"/>
            </a:xfrm>
            <a:prstGeom prst="rect">
              <a:avLst/>
            </a:prstGeom>
            <a:solidFill>
              <a:srgbClr val="FFFFB5"/>
            </a:solidFill>
            <a:ln w="12700" cap="sq">
              <a:noFill/>
              <a:miter lim="800000"/>
              <a:headEnd type="none" w="sm" len="sm"/>
              <a:tailEnd type="none" w="sm" len="sm"/>
            </a:ln>
            <a:effectLst>
              <a:outerShdw dist="71842" dir="2700000" algn="ctr" rotWithShape="0">
                <a:srgbClr val="B2B2B2"/>
              </a:outerShdw>
            </a:effectLst>
          </p:spPr>
          <p:txBody>
            <a:bodyPr wrap="none" anchor="ctr"/>
            <a:lstStyle/>
            <a:p>
              <a:endParaRPr lang="zh-CN" altLang="en-US"/>
            </a:p>
          </p:txBody>
        </p:sp>
        <p:sp>
          <p:nvSpPr>
            <p:cNvPr id="34835" name="Text Box 21"/>
            <p:cNvSpPr txBox="1">
              <a:spLocks noChangeArrowheads="1"/>
            </p:cNvSpPr>
            <p:nvPr/>
          </p:nvSpPr>
          <p:spPr bwMode="auto">
            <a:xfrm>
              <a:off x="509" y="302"/>
              <a:ext cx="2592" cy="356"/>
            </a:xfrm>
            <a:prstGeom prst="rect">
              <a:avLst/>
            </a:prstGeom>
            <a:noFill/>
            <a:ln w="12700" cap="sq">
              <a:noFill/>
              <a:miter lim="800000"/>
              <a:headEnd type="none" w="sm" len="sm"/>
              <a:tailEnd type="none" w="sm" len="sm"/>
            </a:ln>
            <a:effectLst>
              <a:outerShdw dist="12700" dir="5400000" algn="ctr" rotWithShape="0">
                <a:schemeClr val="bg1"/>
              </a:outerShdw>
            </a:effectLst>
          </p:spPr>
          <p:txBody>
            <a:bodyPr>
              <a:spAutoFit/>
            </a:bodyPr>
            <a:lstStyle/>
            <a:p>
              <a:pPr eaLnBrk="1" hangingPunct="1"/>
              <a:r>
                <a:rPr kumimoji="1" lang="en-US" altLang="zh-CN" sz="3100" b="1" dirty="0">
                  <a:solidFill>
                    <a:srgbClr val="000099"/>
                  </a:solidFill>
                </a:rPr>
                <a:t>(</a:t>
              </a:r>
              <a:r>
                <a:rPr kumimoji="1" lang="zh-CN" altLang="en-US" sz="3100" b="1" dirty="0">
                  <a:solidFill>
                    <a:srgbClr val="000099"/>
                  </a:solidFill>
                </a:rPr>
                <a:t>二</a:t>
              </a:r>
              <a:r>
                <a:rPr kumimoji="1" lang="en-US" altLang="zh-CN" sz="3100" b="1" dirty="0">
                  <a:solidFill>
                    <a:srgbClr val="000099"/>
                  </a:solidFill>
                </a:rPr>
                <a:t>) </a:t>
              </a:r>
              <a:r>
                <a:rPr kumimoji="1" lang="zh-CN" altLang="en-US" sz="3100" dirty="0">
                  <a:solidFill>
                    <a:srgbClr val="000099"/>
                  </a:solidFill>
                  <a:ea typeface="宋体" charset="-122"/>
                </a:rPr>
                <a:t> </a:t>
              </a:r>
              <a:r>
                <a:rPr kumimoji="1" lang="zh-CN" altLang="en-US" sz="3100" b="1" dirty="0">
                  <a:solidFill>
                    <a:srgbClr val="000099"/>
                  </a:solidFill>
                </a:rPr>
                <a:t>栈的基本操作</a:t>
              </a:r>
              <a:endParaRPr kumimoji="1" lang="zh-CN" altLang="en-US" sz="3100" dirty="0">
                <a:solidFill>
                  <a:srgbClr val="000099"/>
                </a:solidFill>
              </a:endParaRPr>
            </a:p>
          </p:txBody>
        </p:sp>
      </p:grpSp>
      <p:sp>
        <p:nvSpPr>
          <p:cNvPr id="260118" name="Text Box 22"/>
          <p:cNvSpPr txBox="1">
            <a:spLocks noChangeArrowheads="1"/>
          </p:cNvSpPr>
          <p:nvPr/>
        </p:nvSpPr>
        <p:spPr bwMode="auto">
          <a:xfrm>
            <a:off x="2768600" y="1073150"/>
            <a:ext cx="1733550" cy="533400"/>
          </a:xfrm>
          <a:prstGeom prst="rect">
            <a:avLst/>
          </a:prstGeom>
          <a:noFill/>
          <a:ln w="12700" cap="sq">
            <a:noFill/>
            <a:miter lim="800000"/>
            <a:headEnd type="none" w="sm" len="sm"/>
            <a:tailEnd type="none" w="sm" len="sm"/>
          </a:ln>
        </p:spPr>
        <p:txBody>
          <a:bodyPr>
            <a:spAutoFit/>
          </a:bodyPr>
          <a:lstStyle/>
          <a:p>
            <a:pPr eaLnBrk="1" hangingPunct="1"/>
            <a:r>
              <a:rPr kumimoji="1" lang="zh-CN" altLang="en-US" sz="2900" b="1">
                <a:solidFill>
                  <a:srgbClr val="000000"/>
                </a:solidFill>
              </a:rPr>
              <a:t>1.  </a:t>
            </a:r>
            <a:r>
              <a:rPr kumimoji="1" lang="zh-CN" altLang="en-US" sz="2900" b="1">
                <a:solidFill>
                  <a:srgbClr val="000000"/>
                </a:solidFill>
                <a:ea typeface="幼圆" pitchFamily="49" charset="-122"/>
              </a:rPr>
              <a:t>插入</a:t>
            </a:r>
            <a:endParaRPr kumimoji="1" lang="en-US" altLang="en-US" sz="2900" b="1">
              <a:solidFill>
                <a:srgbClr val="000000"/>
              </a:solidFill>
            </a:endParaRPr>
          </a:p>
        </p:txBody>
      </p:sp>
      <p:sp>
        <p:nvSpPr>
          <p:cNvPr id="260119" name="Text Box 23"/>
          <p:cNvSpPr txBox="1">
            <a:spLocks noChangeArrowheads="1"/>
          </p:cNvSpPr>
          <p:nvPr/>
        </p:nvSpPr>
        <p:spPr bwMode="auto">
          <a:xfrm>
            <a:off x="3930651" y="1090614"/>
            <a:ext cx="3317875" cy="492125"/>
          </a:xfrm>
          <a:prstGeom prst="rect">
            <a:avLst/>
          </a:prstGeom>
          <a:noFill/>
          <a:ln w="12700" cap="sq">
            <a:noFill/>
            <a:miter lim="800000"/>
            <a:headEnd type="none" w="sm" len="sm"/>
            <a:tailEnd type="none" w="sm" len="sm"/>
          </a:ln>
        </p:spPr>
        <p:txBody>
          <a:bodyPr>
            <a:spAutoFit/>
          </a:bodyPr>
          <a:lstStyle/>
          <a:p>
            <a:pPr eaLnBrk="1" hangingPunct="1"/>
            <a:r>
              <a:rPr kumimoji="1" lang="zh-CN" altLang="en-US" sz="2600" b="1">
                <a:solidFill>
                  <a:schemeClr val="accent2"/>
                </a:solidFill>
              </a:rPr>
              <a:t>（</a:t>
            </a:r>
            <a:r>
              <a:rPr kumimoji="1" lang="zh-CN" altLang="en-US" sz="2600" b="1">
                <a:solidFill>
                  <a:schemeClr val="accent2"/>
                </a:solidFill>
                <a:ea typeface="幼圆" pitchFamily="49" charset="-122"/>
              </a:rPr>
              <a:t>进栈、入栈、压栈</a:t>
            </a:r>
            <a:r>
              <a:rPr kumimoji="1" lang="zh-CN" altLang="en-US" sz="2600" b="1">
                <a:solidFill>
                  <a:schemeClr val="accent2"/>
                </a:solidFill>
              </a:rPr>
              <a:t>）</a:t>
            </a:r>
            <a:endParaRPr kumimoji="1" lang="en-US" altLang="en-US" sz="2600" b="1">
              <a:solidFill>
                <a:schemeClr val="accent2"/>
              </a:solidFill>
            </a:endParaRPr>
          </a:p>
        </p:txBody>
      </p:sp>
      <p:sp>
        <p:nvSpPr>
          <p:cNvPr id="260120" name="Rectangle 24"/>
          <p:cNvSpPr>
            <a:spLocks noChangeArrowheads="1"/>
          </p:cNvSpPr>
          <p:nvPr/>
        </p:nvSpPr>
        <p:spPr bwMode="auto">
          <a:xfrm>
            <a:off x="2770188" y="1489075"/>
            <a:ext cx="1866900" cy="533400"/>
          </a:xfrm>
          <a:prstGeom prst="rect">
            <a:avLst/>
          </a:prstGeom>
          <a:noFill/>
          <a:ln w="12700" cap="sq">
            <a:noFill/>
            <a:miter lim="800000"/>
            <a:headEnd type="none" w="sm" len="sm"/>
            <a:tailEnd type="none" w="sm" len="sm"/>
          </a:ln>
        </p:spPr>
        <p:txBody>
          <a:bodyPr>
            <a:spAutoFit/>
          </a:bodyPr>
          <a:lstStyle/>
          <a:p>
            <a:pPr eaLnBrk="1" hangingPunct="1"/>
            <a:r>
              <a:rPr kumimoji="1" lang="zh-CN" altLang="en-US" sz="2900" b="1">
                <a:solidFill>
                  <a:srgbClr val="000000"/>
                </a:solidFill>
              </a:rPr>
              <a:t>2.  </a:t>
            </a:r>
            <a:r>
              <a:rPr kumimoji="1" lang="zh-CN" altLang="en-US" sz="2900" b="1">
                <a:solidFill>
                  <a:srgbClr val="000000"/>
                </a:solidFill>
                <a:ea typeface="幼圆" pitchFamily="49" charset="-122"/>
              </a:rPr>
              <a:t>删除</a:t>
            </a:r>
            <a:endParaRPr kumimoji="1" lang="zh-CN" altLang="en-US" sz="2900" b="1">
              <a:solidFill>
                <a:srgbClr val="000000"/>
              </a:solidFill>
            </a:endParaRPr>
          </a:p>
        </p:txBody>
      </p:sp>
      <p:sp>
        <p:nvSpPr>
          <p:cNvPr id="260121" name="Text Box 25"/>
          <p:cNvSpPr txBox="1">
            <a:spLocks noChangeArrowheads="1"/>
          </p:cNvSpPr>
          <p:nvPr/>
        </p:nvSpPr>
        <p:spPr bwMode="auto">
          <a:xfrm>
            <a:off x="3932239" y="1504951"/>
            <a:ext cx="3398837" cy="492125"/>
          </a:xfrm>
          <a:prstGeom prst="rect">
            <a:avLst/>
          </a:prstGeom>
          <a:noFill/>
          <a:ln w="12700" cap="sq">
            <a:noFill/>
            <a:miter lim="800000"/>
            <a:headEnd type="none" w="sm" len="sm"/>
            <a:tailEnd type="none" w="sm" len="sm"/>
          </a:ln>
        </p:spPr>
        <p:txBody>
          <a:bodyPr>
            <a:spAutoFit/>
          </a:bodyPr>
          <a:lstStyle/>
          <a:p>
            <a:pPr eaLnBrk="1" hangingPunct="1"/>
            <a:r>
              <a:rPr kumimoji="1" lang="zh-CN" altLang="en-US" sz="2600" b="1">
                <a:solidFill>
                  <a:schemeClr val="accent2"/>
                </a:solidFill>
              </a:rPr>
              <a:t>（</a:t>
            </a:r>
            <a:r>
              <a:rPr kumimoji="1" lang="zh-CN" altLang="en-US" sz="2600" b="1">
                <a:solidFill>
                  <a:schemeClr val="accent2"/>
                </a:solidFill>
                <a:ea typeface="幼圆" pitchFamily="49" charset="-122"/>
              </a:rPr>
              <a:t>出栈、退栈、弹出</a:t>
            </a:r>
            <a:r>
              <a:rPr kumimoji="1" lang="zh-CN" altLang="en-US" sz="2600" b="1">
                <a:solidFill>
                  <a:schemeClr val="accent2"/>
                </a:solidFill>
              </a:rPr>
              <a:t>）</a:t>
            </a:r>
            <a:endParaRPr kumimoji="1" lang="en-US" altLang="en-US" sz="2600" b="1">
              <a:solidFill>
                <a:schemeClr val="accent2"/>
              </a:solidFill>
            </a:endParaRPr>
          </a:p>
        </p:txBody>
      </p:sp>
      <p:sp>
        <p:nvSpPr>
          <p:cNvPr id="260122" name="Rectangle 26"/>
          <p:cNvSpPr>
            <a:spLocks noChangeArrowheads="1"/>
          </p:cNvSpPr>
          <p:nvPr/>
        </p:nvSpPr>
        <p:spPr bwMode="auto">
          <a:xfrm>
            <a:off x="2770188" y="1911350"/>
            <a:ext cx="4076700" cy="533400"/>
          </a:xfrm>
          <a:prstGeom prst="rect">
            <a:avLst/>
          </a:prstGeom>
          <a:noFill/>
          <a:ln w="12700" cap="sq">
            <a:noFill/>
            <a:miter lim="800000"/>
            <a:headEnd type="none" w="sm" len="sm"/>
            <a:tailEnd type="none" w="sm" len="sm"/>
          </a:ln>
        </p:spPr>
        <p:txBody>
          <a:bodyPr>
            <a:spAutoFit/>
          </a:bodyPr>
          <a:lstStyle/>
          <a:p>
            <a:pPr eaLnBrk="1" hangingPunct="1"/>
            <a:r>
              <a:rPr kumimoji="1" lang="zh-CN" altLang="en-US" sz="2900" b="1" dirty="0">
                <a:solidFill>
                  <a:srgbClr val="000000"/>
                </a:solidFill>
              </a:rPr>
              <a:t>3.  </a:t>
            </a:r>
            <a:r>
              <a:rPr kumimoji="1" lang="zh-CN" altLang="en-US" sz="2900" b="1" dirty="0">
                <a:solidFill>
                  <a:srgbClr val="000000"/>
                </a:solidFill>
                <a:ea typeface="幼圆" pitchFamily="49" charset="-122"/>
              </a:rPr>
              <a:t>测试栈是否为空</a:t>
            </a:r>
            <a:endParaRPr kumimoji="1" lang="zh-CN" altLang="en-US" sz="2900" b="1" dirty="0">
              <a:solidFill>
                <a:srgbClr val="000000"/>
              </a:solidFill>
            </a:endParaRPr>
          </a:p>
        </p:txBody>
      </p:sp>
      <p:sp>
        <p:nvSpPr>
          <p:cNvPr id="260123" name="Rectangle 27"/>
          <p:cNvSpPr>
            <a:spLocks noChangeArrowheads="1"/>
          </p:cNvSpPr>
          <p:nvPr/>
        </p:nvSpPr>
        <p:spPr bwMode="auto">
          <a:xfrm>
            <a:off x="2760663" y="2333625"/>
            <a:ext cx="4076700" cy="533400"/>
          </a:xfrm>
          <a:prstGeom prst="rect">
            <a:avLst/>
          </a:prstGeom>
          <a:noFill/>
          <a:ln w="12700" cap="sq">
            <a:noFill/>
            <a:miter lim="800000"/>
            <a:headEnd type="none" w="sm" len="sm"/>
            <a:tailEnd type="none" w="sm" len="sm"/>
          </a:ln>
        </p:spPr>
        <p:txBody>
          <a:bodyPr>
            <a:spAutoFit/>
          </a:bodyPr>
          <a:lstStyle/>
          <a:p>
            <a:pPr eaLnBrk="1" hangingPunct="1"/>
            <a:r>
              <a:rPr kumimoji="1" lang="zh-CN" altLang="en-US" sz="2900" b="1" dirty="0">
                <a:solidFill>
                  <a:srgbClr val="003399"/>
                </a:solidFill>
              </a:rPr>
              <a:t>4.  </a:t>
            </a:r>
            <a:r>
              <a:rPr kumimoji="1" lang="zh-CN" altLang="en-US" sz="2900" b="1" dirty="0">
                <a:solidFill>
                  <a:srgbClr val="003399"/>
                </a:solidFill>
                <a:ea typeface="幼圆" pitchFamily="49" charset="-122"/>
              </a:rPr>
              <a:t>测试栈是否已满</a:t>
            </a:r>
            <a:endParaRPr kumimoji="1" lang="zh-CN" altLang="en-US" sz="2900" b="1" dirty="0">
              <a:solidFill>
                <a:srgbClr val="003399"/>
              </a:solidFill>
            </a:endParaRPr>
          </a:p>
        </p:txBody>
      </p:sp>
      <p:sp>
        <p:nvSpPr>
          <p:cNvPr id="260124" name="Rectangle 28"/>
          <p:cNvSpPr>
            <a:spLocks noChangeArrowheads="1"/>
          </p:cNvSpPr>
          <p:nvPr/>
        </p:nvSpPr>
        <p:spPr bwMode="auto">
          <a:xfrm>
            <a:off x="2759075" y="2749550"/>
            <a:ext cx="4381500" cy="533400"/>
          </a:xfrm>
          <a:prstGeom prst="rect">
            <a:avLst/>
          </a:prstGeom>
          <a:noFill/>
          <a:ln w="12700" cap="sq">
            <a:noFill/>
            <a:miter lim="800000"/>
            <a:headEnd type="none" w="sm" len="sm"/>
            <a:tailEnd type="none" w="sm" len="sm"/>
          </a:ln>
        </p:spPr>
        <p:txBody>
          <a:bodyPr>
            <a:spAutoFit/>
          </a:bodyPr>
          <a:lstStyle/>
          <a:p>
            <a:pPr eaLnBrk="1" hangingPunct="1"/>
            <a:r>
              <a:rPr kumimoji="1" lang="zh-CN" altLang="en-US" sz="2900" b="1">
                <a:solidFill>
                  <a:srgbClr val="003399"/>
                </a:solidFill>
              </a:rPr>
              <a:t>5.  </a:t>
            </a:r>
            <a:r>
              <a:rPr kumimoji="1" lang="zh-CN" altLang="en-US" sz="2900" b="1">
                <a:solidFill>
                  <a:srgbClr val="003399"/>
                </a:solidFill>
                <a:ea typeface="幼圆" pitchFamily="49" charset="-122"/>
              </a:rPr>
              <a:t>检索当前栈顶元素</a:t>
            </a:r>
            <a:endParaRPr kumimoji="1" lang="en-US" altLang="zh-CN" sz="2900" b="1">
              <a:solidFill>
                <a:srgbClr val="003399"/>
              </a:solidFill>
            </a:endParaRPr>
          </a:p>
        </p:txBody>
      </p:sp>
      <p:grpSp>
        <p:nvGrpSpPr>
          <p:cNvPr id="4" name="Group 29"/>
          <p:cNvGrpSpPr>
            <a:grpSpLocks/>
          </p:cNvGrpSpPr>
          <p:nvPr/>
        </p:nvGrpSpPr>
        <p:grpSpPr bwMode="auto">
          <a:xfrm>
            <a:off x="7353301" y="1119188"/>
            <a:ext cx="644525" cy="1295400"/>
            <a:chOff x="3672" y="2562"/>
            <a:chExt cx="406" cy="816"/>
          </a:xfrm>
        </p:grpSpPr>
        <p:sp>
          <p:nvSpPr>
            <p:cNvPr id="34830" name="Text Box 30"/>
            <p:cNvSpPr txBox="1">
              <a:spLocks noChangeArrowheads="1"/>
            </p:cNvSpPr>
            <p:nvPr/>
          </p:nvSpPr>
          <p:spPr bwMode="auto">
            <a:xfrm rot="545442">
              <a:off x="3672" y="2562"/>
              <a:ext cx="394" cy="233"/>
            </a:xfrm>
            <a:prstGeom prst="rect">
              <a:avLst/>
            </a:prstGeom>
            <a:noFill/>
            <a:ln w="12700" cap="sq">
              <a:noFill/>
              <a:miter lim="800000"/>
              <a:headEnd type="none" w="sm" len="sm"/>
              <a:tailEnd type="none" w="sm" len="sm"/>
            </a:ln>
          </p:spPr>
          <p:txBody>
            <a:bodyPr>
              <a:spAutoFit/>
            </a:bodyPr>
            <a:lstStyle/>
            <a:p>
              <a:r>
                <a:rPr lang="zh-CN" altLang="en-US" b="1">
                  <a:solidFill>
                    <a:srgbClr val="FF3300"/>
                  </a:solidFill>
                  <a:sym typeface="Symbol" pitchFamily="18" charset="2"/>
                </a:rPr>
                <a:t></a:t>
              </a:r>
              <a:endParaRPr lang="zh-CN" altLang="en-US" b="1">
                <a:solidFill>
                  <a:srgbClr val="FF3300"/>
                </a:solidFill>
              </a:endParaRPr>
            </a:p>
          </p:txBody>
        </p:sp>
        <p:sp>
          <p:nvSpPr>
            <p:cNvPr id="34831" name="Text Box 31"/>
            <p:cNvSpPr txBox="1">
              <a:spLocks noChangeArrowheads="1"/>
            </p:cNvSpPr>
            <p:nvPr/>
          </p:nvSpPr>
          <p:spPr bwMode="auto">
            <a:xfrm rot="545442">
              <a:off x="3684" y="2857"/>
              <a:ext cx="394" cy="233"/>
            </a:xfrm>
            <a:prstGeom prst="rect">
              <a:avLst/>
            </a:prstGeom>
            <a:noFill/>
            <a:ln w="12700" cap="sq">
              <a:noFill/>
              <a:miter lim="800000"/>
              <a:headEnd type="none" w="sm" len="sm"/>
              <a:tailEnd type="none" w="sm" len="sm"/>
            </a:ln>
          </p:spPr>
          <p:txBody>
            <a:bodyPr>
              <a:spAutoFit/>
            </a:bodyPr>
            <a:lstStyle/>
            <a:p>
              <a:r>
                <a:rPr lang="zh-CN" altLang="en-US" b="1">
                  <a:solidFill>
                    <a:srgbClr val="FF3300"/>
                  </a:solidFill>
                  <a:sym typeface="Symbol" pitchFamily="18" charset="2"/>
                </a:rPr>
                <a:t></a:t>
              </a:r>
              <a:endParaRPr lang="zh-CN" altLang="en-US" b="1">
                <a:solidFill>
                  <a:srgbClr val="FF3300"/>
                </a:solidFill>
              </a:endParaRPr>
            </a:p>
          </p:txBody>
        </p:sp>
        <p:sp>
          <p:nvSpPr>
            <p:cNvPr id="34832" name="Text Box 32"/>
            <p:cNvSpPr txBox="1">
              <a:spLocks noChangeArrowheads="1"/>
            </p:cNvSpPr>
            <p:nvPr/>
          </p:nvSpPr>
          <p:spPr bwMode="auto">
            <a:xfrm rot="545442">
              <a:off x="3684" y="3145"/>
              <a:ext cx="394" cy="233"/>
            </a:xfrm>
            <a:prstGeom prst="rect">
              <a:avLst/>
            </a:prstGeom>
            <a:noFill/>
            <a:ln w="12700" cap="sq">
              <a:noFill/>
              <a:miter lim="800000"/>
              <a:headEnd type="none" w="sm" len="sm"/>
              <a:tailEnd type="none" w="sm" len="sm"/>
            </a:ln>
          </p:spPr>
          <p:txBody>
            <a:bodyPr>
              <a:spAutoFit/>
            </a:bodyPr>
            <a:lstStyle/>
            <a:p>
              <a:r>
                <a:rPr lang="zh-CN" altLang="en-US" b="1">
                  <a:solidFill>
                    <a:srgbClr val="FF3300"/>
                  </a:solidFill>
                  <a:sym typeface="Symbol" pitchFamily="18" charset="2"/>
                </a:rPr>
                <a:t></a:t>
              </a:r>
              <a:endParaRPr lang="zh-CN" altLang="en-US" b="1">
                <a:solidFill>
                  <a:srgbClr val="FF3300"/>
                </a:solidFill>
              </a:endParaRPr>
            </a:p>
          </p:txBody>
        </p:sp>
      </p:grpSp>
    </p:spTree>
  </p:cSld>
  <p:clrMapOvr>
    <a:masterClrMapping/>
  </p:clrMapOvr>
  <p:transition>
    <p:zoom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0118"/>
                                        </p:tgtEl>
                                        <p:attrNameLst>
                                          <p:attrName>style.visibility</p:attrName>
                                        </p:attrNameLst>
                                      </p:cBhvr>
                                      <p:to>
                                        <p:strVal val="visible"/>
                                      </p:to>
                                    </p:set>
                                    <p:animEffect transition="in" filter="blinds(horizontal)">
                                      <p:cBhvr>
                                        <p:cTn id="7" dur="500"/>
                                        <p:tgtEl>
                                          <p:spTgt spid="26011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60119"/>
                                        </p:tgtEl>
                                        <p:attrNameLst>
                                          <p:attrName>style.visibility</p:attrName>
                                        </p:attrNameLst>
                                      </p:cBhvr>
                                      <p:to>
                                        <p:strVal val="visible"/>
                                      </p:to>
                                    </p:set>
                                    <p:animEffect transition="in" filter="blinds(horizontal)">
                                      <p:cBhvr>
                                        <p:cTn id="10" dur="500"/>
                                        <p:tgtEl>
                                          <p:spTgt spid="260119"/>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60120"/>
                                        </p:tgtEl>
                                        <p:attrNameLst>
                                          <p:attrName>style.visibility</p:attrName>
                                        </p:attrNameLst>
                                      </p:cBhvr>
                                      <p:to>
                                        <p:strVal val="visible"/>
                                      </p:to>
                                    </p:set>
                                    <p:animEffect transition="in" filter="blinds(horizontal)">
                                      <p:cBhvr>
                                        <p:cTn id="13" dur="500"/>
                                        <p:tgtEl>
                                          <p:spTgt spid="26012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60121"/>
                                        </p:tgtEl>
                                        <p:attrNameLst>
                                          <p:attrName>style.visibility</p:attrName>
                                        </p:attrNameLst>
                                      </p:cBhvr>
                                      <p:to>
                                        <p:strVal val="visible"/>
                                      </p:to>
                                    </p:set>
                                    <p:animEffect transition="in" filter="blinds(horizontal)">
                                      <p:cBhvr>
                                        <p:cTn id="16" dur="500"/>
                                        <p:tgtEl>
                                          <p:spTgt spid="260121"/>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60122"/>
                                        </p:tgtEl>
                                        <p:attrNameLst>
                                          <p:attrName>style.visibility</p:attrName>
                                        </p:attrNameLst>
                                      </p:cBhvr>
                                      <p:to>
                                        <p:strVal val="visible"/>
                                      </p:to>
                                    </p:set>
                                    <p:animEffect transition="in" filter="blinds(horizontal)">
                                      <p:cBhvr>
                                        <p:cTn id="19" dur="500"/>
                                        <p:tgtEl>
                                          <p:spTgt spid="260122"/>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260123"/>
                                        </p:tgtEl>
                                        <p:attrNameLst>
                                          <p:attrName>style.visibility</p:attrName>
                                        </p:attrNameLst>
                                      </p:cBhvr>
                                      <p:to>
                                        <p:strVal val="visible"/>
                                      </p:to>
                                    </p:set>
                                    <p:animEffect transition="in" filter="blinds(horizontal)">
                                      <p:cBhvr>
                                        <p:cTn id="24" dur="500"/>
                                        <p:tgtEl>
                                          <p:spTgt spid="260123"/>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260124"/>
                                        </p:tgtEl>
                                        <p:attrNameLst>
                                          <p:attrName>style.visibility</p:attrName>
                                        </p:attrNameLst>
                                      </p:cBhvr>
                                      <p:to>
                                        <p:strVal val="visible"/>
                                      </p:to>
                                    </p:set>
                                    <p:animEffect transition="in" filter="blinds(horizontal)">
                                      <p:cBhvr>
                                        <p:cTn id="27" dur="500"/>
                                        <p:tgtEl>
                                          <p:spTgt spid="26012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up)">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blinds(horizontal)">
                                      <p:cBhvr>
                                        <p:cTn id="37" dur="500"/>
                                        <p:tgtEl>
                                          <p:spTgt spid="2"/>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260102"/>
                                        </p:tgtEl>
                                        <p:attrNameLst>
                                          <p:attrName>style.visibility</p:attrName>
                                        </p:attrNameLst>
                                      </p:cBhvr>
                                      <p:to>
                                        <p:strVal val="visible"/>
                                      </p:to>
                                    </p:set>
                                    <p:animEffect transition="in" filter="blinds(horizontal)">
                                      <p:cBhvr>
                                        <p:cTn id="40" dur="500"/>
                                        <p:tgtEl>
                                          <p:spTgt spid="260102"/>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260103"/>
                                        </p:tgtEl>
                                        <p:attrNameLst>
                                          <p:attrName>style.visibility</p:attrName>
                                        </p:attrNameLst>
                                      </p:cBhvr>
                                      <p:to>
                                        <p:strVal val="visible"/>
                                      </p:to>
                                    </p:set>
                                    <p:animEffect transition="in" filter="blinds(horizontal)">
                                      <p:cBhvr>
                                        <p:cTn id="43" dur="500"/>
                                        <p:tgtEl>
                                          <p:spTgt spid="260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102" grpId="0"/>
      <p:bldP spid="260103" grpId="0"/>
      <p:bldP spid="260118" grpId="0"/>
      <p:bldP spid="260119" grpId="0"/>
      <p:bldP spid="260120" grpId="0"/>
      <p:bldP spid="260121" grpId="0"/>
      <p:bldP spid="260122" grpId="0"/>
      <p:bldP spid="260123" grpId="0"/>
      <p:bldP spid="26012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83432" y="2231"/>
            <a:ext cx="8147248" cy="922114"/>
          </a:xfrm>
        </p:spPr>
        <p:txBody>
          <a:bodyPr/>
          <a:lstStyle/>
          <a:p>
            <a:r>
              <a:rPr kumimoji="1" lang="zh-CN" altLang="en-US" sz="2800" dirty="0">
                <a:solidFill>
                  <a:srgbClr val="000099"/>
                </a:solidFill>
              </a:rPr>
              <a:t>栈的基本操作</a:t>
            </a:r>
            <a:endParaRPr lang="zh-CN" altLang="en-US" dirty="0"/>
          </a:p>
        </p:txBody>
      </p:sp>
      <p:sp>
        <p:nvSpPr>
          <p:cNvPr id="3" name="内容占位符 2"/>
          <p:cNvSpPr>
            <a:spLocks noGrp="1"/>
          </p:cNvSpPr>
          <p:nvPr>
            <p:ph idx="1"/>
          </p:nvPr>
        </p:nvSpPr>
        <p:spPr/>
        <p:txBody>
          <a:bodyPr/>
          <a:lstStyle/>
          <a:p>
            <a:r>
              <a:rPr lang="en-US" altLang="zh-CN" sz="2000" b="0" dirty="0"/>
              <a:t>void push(Stack s, </a:t>
            </a:r>
            <a:r>
              <a:rPr lang="en-US" altLang="zh-CN" sz="2000" b="0" dirty="0" err="1"/>
              <a:t>ElemType</a:t>
            </a:r>
            <a:r>
              <a:rPr lang="en-US" altLang="zh-CN" sz="2000" b="0" dirty="0"/>
              <a:t> e) //</a:t>
            </a:r>
            <a:r>
              <a:rPr lang="zh-CN" altLang="en-US" sz="2000" b="0" dirty="0"/>
              <a:t>压一个元素进栈</a:t>
            </a:r>
            <a:endParaRPr lang="en-US" altLang="zh-CN" sz="2000" b="0" dirty="0"/>
          </a:p>
          <a:p>
            <a:r>
              <a:rPr lang="en-US" altLang="zh-CN" sz="2000" b="0" dirty="0" err="1"/>
              <a:t>ElemType</a:t>
            </a:r>
            <a:r>
              <a:rPr lang="en-US" altLang="zh-CN" sz="2000" b="0" dirty="0"/>
              <a:t> pop(Stack s) //</a:t>
            </a:r>
            <a:r>
              <a:rPr lang="zh-CN" altLang="en-US" sz="2000" b="0" dirty="0"/>
              <a:t>从栈中弹出一个元素</a:t>
            </a:r>
            <a:endParaRPr lang="en-US" altLang="zh-CN" sz="2000" b="0" dirty="0"/>
          </a:p>
          <a:p>
            <a:r>
              <a:rPr lang="en-US" altLang="zh-CN" sz="2000" b="0" dirty="0" err="1"/>
              <a:t>int</a:t>
            </a:r>
            <a:r>
              <a:rPr lang="en-US" altLang="zh-CN" sz="2000" b="0" dirty="0"/>
              <a:t>  </a:t>
            </a:r>
            <a:r>
              <a:rPr lang="en-US" altLang="zh-CN" sz="2000" b="0" dirty="0" err="1"/>
              <a:t>isEmpty</a:t>
            </a:r>
            <a:r>
              <a:rPr lang="en-US" altLang="zh-CN" sz="2000" b="0" dirty="0"/>
              <a:t>(Stack s) //</a:t>
            </a:r>
            <a:r>
              <a:rPr lang="zh-CN" altLang="en-US" sz="2000" b="0" dirty="0"/>
              <a:t>判断栈是否为空</a:t>
            </a:r>
            <a:endParaRPr lang="en-US" altLang="zh-CN" sz="2000" b="0" dirty="0"/>
          </a:p>
          <a:p>
            <a:r>
              <a:rPr lang="en-US" altLang="zh-CN" sz="2000" b="0" dirty="0" err="1"/>
              <a:t>int</a:t>
            </a:r>
            <a:r>
              <a:rPr lang="en-US" altLang="zh-CN" sz="2000" b="0" dirty="0"/>
              <a:t> </a:t>
            </a:r>
            <a:r>
              <a:rPr lang="en-US" altLang="zh-CN" sz="2000" b="0" dirty="0" err="1"/>
              <a:t>isFull</a:t>
            </a:r>
            <a:r>
              <a:rPr lang="en-US" altLang="zh-CN" sz="2000" b="0" dirty="0"/>
              <a:t>(Stack s) //</a:t>
            </a:r>
            <a:r>
              <a:rPr lang="zh-CN" altLang="en-US" sz="2000" b="0" dirty="0"/>
              <a:t>判断栈是否已满</a:t>
            </a:r>
            <a:endParaRPr lang="en-US" altLang="zh-CN" sz="2000" b="0" dirty="0"/>
          </a:p>
          <a:p>
            <a:r>
              <a:rPr lang="en-US" altLang="zh-CN" sz="2000" b="0" dirty="0" err="1"/>
              <a:t>ElemType</a:t>
            </a:r>
            <a:r>
              <a:rPr lang="en-US" altLang="zh-CN" sz="2000" b="0" dirty="0"/>
              <a:t> </a:t>
            </a:r>
            <a:r>
              <a:rPr lang="en-US" altLang="zh-CN" sz="2000" b="0" dirty="0" err="1"/>
              <a:t>getTop</a:t>
            </a:r>
            <a:r>
              <a:rPr lang="en-US" altLang="zh-CN" sz="2000" b="0" dirty="0"/>
              <a:t>(Stack s) //</a:t>
            </a:r>
            <a:r>
              <a:rPr lang="zh-CN" altLang="en-US" sz="2000" b="0" dirty="0"/>
              <a:t>获取栈顶元素</a:t>
            </a:r>
          </a:p>
        </p:txBody>
      </p:sp>
      <p:sp>
        <p:nvSpPr>
          <p:cNvPr id="4" name="灯片编号占位符 3"/>
          <p:cNvSpPr>
            <a:spLocks noGrp="1"/>
          </p:cNvSpPr>
          <p:nvPr>
            <p:ph type="sldNum" sz="quarter" idx="12"/>
          </p:nvPr>
        </p:nvSpPr>
        <p:spPr/>
        <p:txBody>
          <a:bodyPr/>
          <a:lstStyle/>
          <a:p>
            <a:pPr>
              <a:defRPr/>
            </a:pPr>
            <a:fld id="{EE5104C4-9BBA-4869-957B-C459F96FE33D}" type="slidenum">
              <a:rPr lang="zh-CN" altLang="en-US" smtClean="0"/>
              <a:pPr>
                <a:defRPr/>
              </a:pPr>
              <a:t>11</a:t>
            </a:fld>
            <a:endParaRPr lang="en-US" altLang="zh-CN"/>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35" name="Text Box 15"/>
          <p:cNvSpPr txBox="1">
            <a:spLocks noChangeArrowheads="1"/>
          </p:cNvSpPr>
          <p:nvPr/>
        </p:nvSpPr>
        <p:spPr bwMode="auto">
          <a:xfrm>
            <a:off x="3429000" y="5462588"/>
            <a:ext cx="361950" cy="519112"/>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99"/>
                </a:solidFill>
              </a:rPr>
              <a:t>a</a:t>
            </a:r>
          </a:p>
        </p:txBody>
      </p:sp>
      <p:sp>
        <p:nvSpPr>
          <p:cNvPr id="261136" name="Text Box 16"/>
          <p:cNvSpPr txBox="1">
            <a:spLocks noChangeArrowheads="1"/>
          </p:cNvSpPr>
          <p:nvPr/>
        </p:nvSpPr>
        <p:spPr bwMode="auto">
          <a:xfrm>
            <a:off x="3886200" y="5503863"/>
            <a:ext cx="364202" cy="52322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99"/>
                </a:solidFill>
              </a:rPr>
              <a:t>b</a:t>
            </a:r>
          </a:p>
        </p:txBody>
      </p:sp>
      <p:sp>
        <p:nvSpPr>
          <p:cNvPr id="261137" name="Text Box 17"/>
          <p:cNvSpPr txBox="1">
            <a:spLocks noChangeArrowheads="1"/>
          </p:cNvSpPr>
          <p:nvPr/>
        </p:nvSpPr>
        <p:spPr bwMode="auto">
          <a:xfrm>
            <a:off x="4343400" y="5486400"/>
            <a:ext cx="348172" cy="52322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99"/>
                </a:solidFill>
              </a:rPr>
              <a:t>c</a:t>
            </a:r>
          </a:p>
        </p:txBody>
      </p:sp>
      <p:sp>
        <p:nvSpPr>
          <p:cNvPr id="261138" name="Text Box 18"/>
          <p:cNvSpPr txBox="1">
            <a:spLocks noChangeArrowheads="1"/>
          </p:cNvSpPr>
          <p:nvPr/>
        </p:nvSpPr>
        <p:spPr bwMode="auto">
          <a:xfrm>
            <a:off x="4800600" y="5503863"/>
            <a:ext cx="364202" cy="52322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99"/>
                </a:solidFill>
              </a:rPr>
              <a:t>d</a:t>
            </a:r>
          </a:p>
        </p:txBody>
      </p:sp>
      <p:sp>
        <p:nvSpPr>
          <p:cNvPr id="261139" name="Text Box 19"/>
          <p:cNvSpPr txBox="1">
            <a:spLocks noChangeArrowheads="1"/>
          </p:cNvSpPr>
          <p:nvPr/>
        </p:nvSpPr>
        <p:spPr bwMode="auto">
          <a:xfrm>
            <a:off x="5257800" y="5486400"/>
            <a:ext cx="348172" cy="523220"/>
          </a:xfrm>
          <a:prstGeom prst="rect">
            <a:avLst/>
          </a:prstGeom>
          <a:noFill/>
          <a:ln w="12700" cap="sq">
            <a:noFill/>
            <a:miter lim="800000"/>
            <a:headEnd type="none" w="sm" len="sm"/>
            <a:tailEnd type="none" w="sm" len="sm"/>
          </a:ln>
        </p:spPr>
        <p:txBody>
          <a:bodyPr wrap="none">
            <a:spAutoFit/>
          </a:bodyPr>
          <a:lstStyle/>
          <a:p>
            <a:r>
              <a:rPr lang="en-US" altLang="zh-CN" sz="2800" b="1">
                <a:solidFill>
                  <a:srgbClr val="FF3300"/>
                </a:solidFill>
              </a:rPr>
              <a:t>e</a:t>
            </a:r>
          </a:p>
        </p:txBody>
      </p:sp>
      <p:grpSp>
        <p:nvGrpSpPr>
          <p:cNvPr id="2" name="Group 20"/>
          <p:cNvGrpSpPr>
            <a:grpSpLocks/>
          </p:cNvGrpSpPr>
          <p:nvPr/>
        </p:nvGrpSpPr>
        <p:grpSpPr bwMode="auto">
          <a:xfrm>
            <a:off x="5105403" y="5964239"/>
            <a:ext cx="693738" cy="612775"/>
            <a:chOff x="2372" y="3504"/>
            <a:chExt cx="437" cy="386"/>
          </a:xfrm>
        </p:grpSpPr>
        <p:sp>
          <p:nvSpPr>
            <p:cNvPr id="35871" name="Text Box 21"/>
            <p:cNvSpPr txBox="1">
              <a:spLocks noChangeArrowheads="1"/>
            </p:cNvSpPr>
            <p:nvPr/>
          </p:nvSpPr>
          <p:spPr bwMode="auto">
            <a:xfrm>
              <a:off x="2372" y="3657"/>
              <a:ext cx="437" cy="233"/>
            </a:xfrm>
            <a:prstGeom prst="rect">
              <a:avLst/>
            </a:prstGeom>
            <a:noFill/>
            <a:ln w="12700" cap="sq">
              <a:noFill/>
              <a:miter lim="800000"/>
              <a:headEnd type="none" w="sm" len="sm"/>
              <a:tailEnd type="none" w="sm" len="sm"/>
            </a:ln>
          </p:spPr>
          <p:txBody>
            <a:bodyPr wrap="none">
              <a:spAutoFit/>
            </a:bodyPr>
            <a:lstStyle/>
            <a:p>
              <a:r>
                <a:rPr lang="en-US" altLang="zh-CN" b="1">
                  <a:solidFill>
                    <a:srgbClr val="76003B"/>
                  </a:solidFill>
                </a:rPr>
                <a:t>top=4</a:t>
              </a:r>
            </a:p>
          </p:txBody>
        </p:sp>
        <p:sp>
          <p:nvSpPr>
            <p:cNvPr id="35872" name="Line 22"/>
            <p:cNvSpPr>
              <a:spLocks noChangeShapeType="1"/>
            </p:cNvSpPr>
            <p:nvPr/>
          </p:nvSpPr>
          <p:spPr bwMode="auto">
            <a:xfrm flipV="1">
              <a:off x="2544" y="3504"/>
              <a:ext cx="0" cy="192"/>
            </a:xfrm>
            <a:prstGeom prst="line">
              <a:avLst/>
            </a:prstGeom>
            <a:noFill/>
            <a:ln w="12700" cap="sq">
              <a:solidFill>
                <a:srgbClr val="660033"/>
              </a:solidFill>
              <a:round/>
              <a:headEnd type="none" w="sm" len="sm"/>
              <a:tailEnd type="triangle" w="med" len="med"/>
            </a:ln>
          </p:spPr>
          <p:txBody>
            <a:bodyPr/>
            <a:lstStyle/>
            <a:p>
              <a:endParaRPr lang="zh-CN" altLang="en-US"/>
            </a:p>
          </p:txBody>
        </p:sp>
      </p:grpSp>
      <p:grpSp>
        <p:nvGrpSpPr>
          <p:cNvPr id="3" name="Group 23"/>
          <p:cNvGrpSpPr>
            <a:grpSpLocks/>
          </p:cNvGrpSpPr>
          <p:nvPr/>
        </p:nvGrpSpPr>
        <p:grpSpPr bwMode="auto">
          <a:xfrm>
            <a:off x="2220914" y="2016125"/>
            <a:ext cx="7837487" cy="2133600"/>
            <a:chOff x="439" y="1248"/>
            <a:chExt cx="4937" cy="1344"/>
          </a:xfrm>
        </p:grpSpPr>
        <p:sp>
          <p:nvSpPr>
            <p:cNvPr id="35869" name="Rectangle 24"/>
            <p:cNvSpPr>
              <a:spLocks noChangeArrowheads="1"/>
            </p:cNvSpPr>
            <p:nvPr/>
          </p:nvSpPr>
          <p:spPr bwMode="auto">
            <a:xfrm>
              <a:off x="439" y="1248"/>
              <a:ext cx="4911" cy="1344"/>
            </a:xfrm>
            <a:prstGeom prst="rect">
              <a:avLst/>
            </a:prstGeom>
            <a:solidFill>
              <a:srgbClr val="CCFFFF"/>
            </a:solidFill>
            <a:ln w="12700" cap="sq">
              <a:noFill/>
              <a:miter lim="800000"/>
              <a:headEnd type="none" w="sm" len="sm"/>
              <a:tailEnd type="none" w="sm" len="sm"/>
            </a:ln>
            <a:effectLst>
              <a:outerShdw dist="206741" dir="2550627" algn="ctr" rotWithShape="0">
                <a:srgbClr val="C0C0C0"/>
              </a:outerShdw>
            </a:effectLst>
          </p:spPr>
          <p:txBody>
            <a:bodyPr wrap="none" anchor="ctr"/>
            <a:lstStyle/>
            <a:p>
              <a:endParaRPr lang="zh-CN" altLang="en-US"/>
            </a:p>
          </p:txBody>
        </p:sp>
        <p:sp>
          <p:nvSpPr>
            <p:cNvPr id="35870" name="Text Box 25"/>
            <p:cNvSpPr txBox="1">
              <a:spLocks noChangeArrowheads="1"/>
            </p:cNvSpPr>
            <p:nvPr/>
          </p:nvSpPr>
          <p:spPr bwMode="auto">
            <a:xfrm>
              <a:off x="652" y="1355"/>
              <a:ext cx="4724" cy="1105"/>
            </a:xfrm>
            <a:prstGeom prst="rect">
              <a:avLst/>
            </a:prstGeom>
            <a:noFill/>
            <a:ln w="12700" cap="sq">
              <a:noFill/>
              <a:miter lim="800000"/>
              <a:headEnd type="none" w="sm" len="sm"/>
              <a:tailEnd type="none" w="sm" len="sm"/>
            </a:ln>
          </p:spPr>
          <p:txBody>
            <a:bodyPr>
              <a:spAutoFit/>
            </a:bodyPr>
            <a:lstStyle/>
            <a:p>
              <a:pPr eaLnBrk="1" hangingPunct="1"/>
              <a:r>
                <a:rPr kumimoji="1" lang="zh-CN" altLang="en-US" sz="2700" b="1" dirty="0">
                  <a:solidFill>
                    <a:srgbClr val="003399"/>
                  </a:solidFill>
                  <a:latin typeface="幼圆" pitchFamily="49" charset="-122"/>
                  <a:ea typeface="幼圆" pitchFamily="49" charset="-122"/>
                </a:rPr>
                <a:t>    描述栈的顺序存储结构最简单的方法是</a:t>
              </a:r>
            </a:p>
            <a:p>
              <a:pPr eaLnBrk="1" hangingPunct="1"/>
              <a:r>
                <a:rPr kumimoji="1" lang="zh-CN" altLang="en-US" sz="2700" b="1" dirty="0">
                  <a:solidFill>
                    <a:srgbClr val="003399"/>
                  </a:solidFill>
                  <a:latin typeface="幼圆" pitchFamily="49" charset="-122"/>
                  <a:ea typeface="幼圆" pitchFamily="49" charset="-122"/>
                </a:rPr>
                <a:t>利用一维数组 </a:t>
              </a:r>
              <a:r>
                <a:rPr kumimoji="1" lang="en-US" altLang="zh-CN" sz="2700" b="1" dirty="0">
                  <a:solidFill>
                    <a:schemeClr val="accent2"/>
                  </a:solidFill>
                  <a:ea typeface="幼圆" pitchFamily="49" charset="-122"/>
                </a:rPr>
                <a:t>STACK[ 0..M–1 ]</a:t>
              </a:r>
              <a:r>
                <a:rPr kumimoji="1" lang="en-US" altLang="zh-CN" sz="2700" b="1" dirty="0">
                  <a:solidFill>
                    <a:srgbClr val="003399"/>
                  </a:solidFill>
                  <a:latin typeface="幼圆" pitchFamily="49" charset="-122"/>
                  <a:ea typeface="幼圆" pitchFamily="49" charset="-122"/>
                </a:rPr>
                <a:t> </a:t>
              </a:r>
              <a:r>
                <a:rPr kumimoji="1" lang="zh-CN" altLang="zh-CN" sz="2700" b="1" dirty="0">
                  <a:solidFill>
                    <a:srgbClr val="003399"/>
                  </a:solidFill>
                  <a:latin typeface="幼圆" pitchFamily="49" charset="-122"/>
                  <a:ea typeface="幼圆" pitchFamily="49" charset="-122"/>
                </a:rPr>
                <a:t>来表示,同时</a:t>
              </a:r>
              <a:endParaRPr kumimoji="1" lang="zh-CN" altLang="en-US" sz="2700" b="1" dirty="0">
                <a:solidFill>
                  <a:srgbClr val="003399"/>
                </a:solidFill>
                <a:latin typeface="幼圆" pitchFamily="49" charset="-122"/>
                <a:ea typeface="幼圆" pitchFamily="49" charset="-122"/>
              </a:endParaRPr>
            </a:p>
            <a:p>
              <a:pPr eaLnBrk="1" hangingPunct="1"/>
              <a:r>
                <a:rPr kumimoji="1" lang="zh-CN" altLang="zh-CN" sz="2700" b="1" dirty="0">
                  <a:solidFill>
                    <a:srgbClr val="003399"/>
                  </a:solidFill>
                  <a:latin typeface="幼圆" pitchFamily="49" charset="-122"/>
                  <a:ea typeface="幼圆" pitchFamily="49" charset="-122"/>
                </a:rPr>
                <a:t>定义一个整型变量</a:t>
              </a:r>
              <a:r>
                <a:rPr kumimoji="1" lang="zh-CN" altLang="en-US" sz="2700" b="1" dirty="0">
                  <a:solidFill>
                    <a:srgbClr val="003399"/>
                  </a:solidFill>
                  <a:latin typeface="幼圆" pitchFamily="49" charset="-122"/>
                  <a:ea typeface="幼圆" pitchFamily="49" charset="-122"/>
                </a:rPr>
                <a:t>(</a:t>
              </a:r>
              <a:r>
                <a:rPr kumimoji="1" lang="zh-CN" altLang="en-US" sz="2700" b="1" dirty="0">
                  <a:solidFill>
                    <a:srgbClr val="003399"/>
                  </a:solidFill>
                  <a:ea typeface="幼圆" pitchFamily="49" charset="-122"/>
                </a:rPr>
                <a:t> </a:t>
              </a:r>
              <a:r>
                <a:rPr kumimoji="1" lang="zh-CN" altLang="en-US" sz="2700" b="1" dirty="0">
                  <a:solidFill>
                    <a:srgbClr val="003399"/>
                  </a:solidFill>
                  <a:latin typeface="幼圆" pitchFamily="49" charset="-122"/>
                  <a:ea typeface="幼圆" pitchFamily="49" charset="-122"/>
                </a:rPr>
                <a:t>不妨取名为</a:t>
              </a:r>
              <a:r>
                <a:rPr kumimoji="1" lang="en-US" altLang="zh-CN" sz="2700" b="1" dirty="0">
                  <a:solidFill>
                    <a:srgbClr val="FF3300"/>
                  </a:solidFill>
                  <a:ea typeface="幼圆" pitchFamily="49" charset="-122"/>
                </a:rPr>
                <a:t>top</a:t>
              </a:r>
              <a:r>
                <a:rPr kumimoji="1" lang="en-US" altLang="zh-CN" sz="2700" b="1" dirty="0">
                  <a:solidFill>
                    <a:srgbClr val="003399"/>
                  </a:solidFill>
                  <a:ea typeface="幼圆" pitchFamily="49" charset="-122"/>
                </a:rPr>
                <a:t>)</a:t>
              </a:r>
              <a:r>
                <a:rPr kumimoji="1" lang="en-US" altLang="zh-CN" sz="2700" b="1" dirty="0">
                  <a:solidFill>
                    <a:srgbClr val="003399"/>
                  </a:solidFill>
                  <a:latin typeface="幼圆" pitchFamily="49" charset="-122"/>
                  <a:ea typeface="幼圆" pitchFamily="49" charset="-122"/>
                </a:rPr>
                <a:t> </a:t>
              </a:r>
              <a:r>
                <a:rPr kumimoji="1" lang="zh-CN" altLang="zh-CN" sz="2700" b="1" dirty="0">
                  <a:solidFill>
                    <a:srgbClr val="003399"/>
                  </a:solidFill>
                  <a:latin typeface="幼圆" pitchFamily="49" charset="-122"/>
                  <a:ea typeface="幼圆" pitchFamily="49" charset="-122"/>
                </a:rPr>
                <a:t>给出栈顶</a:t>
              </a:r>
              <a:endParaRPr kumimoji="1" lang="zh-CN" altLang="en-US" sz="2700" b="1" dirty="0">
                <a:solidFill>
                  <a:srgbClr val="003399"/>
                </a:solidFill>
                <a:latin typeface="幼圆" pitchFamily="49" charset="-122"/>
                <a:ea typeface="幼圆" pitchFamily="49" charset="-122"/>
              </a:endParaRPr>
            </a:p>
            <a:p>
              <a:pPr eaLnBrk="1" hangingPunct="1"/>
              <a:r>
                <a:rPr kumimoji="1" lang="zh-CN" altLang="zh-CN" sz="2700" b="1" dirty="0">
                  <a:solidFill>
                    <a:srgbClr val="003399"/>
                  </a:solidFill>
                  <a:latin typeface="幼圆" pitchFamily="49" charset="-122"/>
                  <a:ea typeface="幼圆" pitchFamily="49" charset="-122"/>
                </a:rPr>
                <a:t>元素的位置。</a:t>
              </a:r>
              <a:endParaRPr kumimoji="1" lang="zh-CN" altLang="en-US" sz="2700" b="1" dirty="0">
                <a:solidFill>
                  <a:srgbClr val="003399"/>
                </a:solidFill>
                <a:latin typeface="幼圆" pitchFamily="49" charset="-122"/>
                <a:ea typeface="幼圆" pitchFamily="49" charset="-122"/>
              </a:endParaRPr>
            </a:p>
          </p:txBody>
        </p:sp>
      </p:grpSp>
      <p:grpSp>
        <p:nvGrpSpPr>
          <p:cNvPr id="4" name="Group 68"/>
          <p:cNvGrpSpPr>
            <a:grpSpLocks/>
          </p:cNvGrpSpPr>
          <p:nvPr/>
        </p:nvGrpSpPr>
        <p:grpSpPr bwMode="auto">
          <a:xfrm>
            <a:off x="935037" y="92075"/>
            <a:ext cx="8035925" cy="698500"/>
            <a:chOff x="288" y="205"/>
            <a:chExt cx="3454" cy="440"/>
          </a:xfrm>
        </p:grpSpPr>
        <p:sp>
          <p:nvSpPr>
            <p:cNvPr id="35867" name="Rectangle 29"/>
            <p:cNvSpPr>
              <a:spLocks noChangeArrowheads="1"/>
            </p:cNvSpPr>
            <p:nvPr/>
          </p:nvSpPr>
          <p:spPr bwMode="auto">
            <a:xfrm>
              <a:off x="288" y="205"/>
              <a:ext cx="3408" cy="432"/>
            </a:xfrm>
            <a:prstGeom prst="rect">
              <a:avLst/>
            </a:prstGeom>
            <a:gradFill rotWithShape="0">
              <a:gsLst>
                <a:gs pos="0">
                  <a:srgbClr val="000076"/>
                </a:gs>
                <a:gs pos="50000">
                  <a:srgbClr val="0000FF"/>
                </a:gs>
                <a:gs pos="100000">
                  <a:srgbClr val="000076"/>
                </a:gs>
              </a:gsLst>
              <a:lin ang="5400000" scaled="1"/>
            </a:gradFill>
            <a:ln w="12700" cap="sq">
              <a:noFill/>
              <a:miter lim="800000"/>
              <a:headEnd type="none" w="sm" len="sm"/>
              <a:tailEnd type="none" w="sm" len="sm"/>
            </a:ln>
            <a:effectLst>
              <a:outerShdw dist="135003" dir="2928844" algn="ctr" rotWithShape="0">
                <a:srgbClr val="B2B2B2"/>
              </a:outerShdw>
            </a:effectLst>
          </p:spPr>
          <p:txBody>
            <a:bodyPr wrap="none" anchor="ctr"/>
            <a:lstStyle/>
            <a:p>
              <a:endParaRPr lang="zh-CN" altLang="en-US"/>
            </a:p>
          </p:txBody>
        </p:sp>
        <p:sp>
          <p:nvSpPr>
            <p:cNvPr id="35868" name="Rectangle 30"/>
            <p:cNvSpPr>
              <a:spLocks noChangeArrowheads="1"/>
            </p:cNvSpPr>
            <p:nvPr/>
          </p:nvSpPr>
          <p:spPr bwMode="auto">
            <a:xfrm>
              <a:off x="319" y="241"/>
              <a:ext cx="3423" cy="404"/>
            </a:xfrm>
            <a:prstGeom prst="rect">
              <a:avLst/>
            </a:prstGeom>
            <a:noFill/>
            <a:ln w="12700" cap="sq">
              <a:noFill/>
              <a:miter lim="800000"/>
              <a:headEnd type="none" w="sm" len="sm"/>
              <a:tailEnd type="none" w="sm" len="sm"/>
            </a:ln>
            <a:effectLst>
              <a:outerShdw dist="35921" dir="2700000" algn="ctr" rotWithShape="0">
                <a:schemeClr val="bg1"/>
              </a:outerShdw>
            </a:effectLst>
          </p:spPr>
          <p:txBody>
            <a:bodyPr>
              <a:spAutoFit/>
            </a:bodyPr>
            <a:lstStyle/>
            <a:p>
              <a:r>
                <a:rPr kumimoji="1" lang="zh-CN" altLang="en-US" sz="3600" b="1" dirty="0">
                  <a:solidFill>
                    <a:srgbClr val="FFFFFF"/>
                  </a:solidFill>
                  <a:ea typeface="宋体" charset="-122"/>
                </a:rPr>
                <a:t> </a:t>
              </a:r>
              <a:r>
                <a:rPr kumimoji="1" lang="en-US" altLang="zh-CN" sz="3600" b="1" dirty="0">
                  <a:solidFill>
                    <a:srgbClr val="FFFFFF"/>
                  </a:solidFill>
                  <a:ea typeface="宋体" charset="-122"/>
                </a:rPr>
                <a:t>3</a:t>
              </a:r>
              <a:r>
                <a:rPr kumimoji="1" lang="zh-CN" altLang="en-US" sz="3600" b="1" dirty="0">
                  <a:solidFill>
                    <a:srgbClr val="FFFFFF"/>
                  </a:solidFill>
                  <a:ea typeface="宋体" charset="-122"/>
                </a:rPr>
                <a:t>.2</a:t>
              </a:r>
              <a:r>
                <a:rPr kumimoji="1" lang="zh-CN" altLang="en-US" sz="3600" dirty="0">
                  <a:solidFill>
                    <a:srgbClr val="FFFFFF"/>
                  </a:solidFill>
                  <a:ea typeface="宋体" charset="-122"/>
                </a:rPr>
                <a:t> </a:t>
              </a:r>
              <a:r>
                <a:rPr kumimoji="1" lang="zh-CN" altLang="en-US" sz="3600" b="1" dirty="0">
                  <a:solidFill>
                    <a:srgbClr val="FFFFFF"/>
                  </a:solidFill>
                </a:rPr>
                <a:t>栈的顺序存储结构（顺序栈）</a:t>
              </a:r>
            </a:p>
          </p:txBody>
        </p:sp>
      </p:grpSp>
      <p:grpSp>
        <p:nvGrpSpPr>
          <p:cNvPr id="5" name="Group 40"/>
          <p:cNvGrpSpPr>
            <a:grpSpLocks/>
          </p:cNvGrpSpPr>
          <p:nvPr/>
        </p:nvGrpSpPr>
        <p:grpSpPr bwMode="auto">
          <a:xfrm>
            <a:off x="2128838" y="1362075"/>
            <a:ext cx="2747962" cy="554038"/>
            <a:chOff x="381" y="801"/>
            <a:chExt cx="1731" cy="349"/>
          </a:xfrm>
        </p:grpSpPr>
        <p:sp>
          <p:nvSpPr>
            <p:cNvPr id="35865" name="Rectangle 41"/>
            <p:cNvSpPr>
              <a:spLocks noChangeArrowheads="1"/>
            </p:cNvSpPr>
            <p:nvPr/>
          </p:nvSpPr>
          <p:spPr bwMode="auto">
            <a:xfrm>
              <a:off x="381" y="801"/>
              <a:ext cx="1632" cy="336"/>
            </a:xfrm>
            <a:prstGeom prst="rect">
              <a:avLst/>
            </a:prstGeom>
            <a:solidFill>
              <a:srgbClr val="FFFFB5"/>
            </a:solidFill>
            <a:ln w="12700" cap="sq">
              <a:noFill/>
              <a:miter lim="800000"/>
              <a:headEnd type="none" w="sm" len="sm"/>
              <a:tailEnd type="none" w="sm" len="sm"/>
            </a:ln>
            <a:effectLst>
              <a:outerShdw dist="71842" dir="2700000" algn="ctr" rotWithShape="0">
                <a:srgbClr val="B2B2B2"/>
              </a:outerShdw>
            </a:effectLst>
          </p:spPr>
          <p:txBody>
            <a:bodyPr wrap="none" anchor="ctr"/>
            <a:lstStyle/>
            <a:p>
              <a:endParaRPr lang="zh-CN" altLang="en-US"/>
            </a:p>
          </p:txBody>
        </p:sp>
        <p:sp>
          <p:nvSpPr>
            <p:cNvPr id="35866" name="Text Box 42"/>
            <p:cNvSpPr txBox="1">
              <a:spLocks noChangeArrowheads="1"/>
            </p:cNvSpPr>
            <p:nvPr/>
          </p:nvSpPr>
          <p:spPr bwMode="auto">
            <a:xfrm>
              <a:off x="432" y="804"/>
              <a:ext cx="1680" cy="346"/>
            </a:xfrm>
            <a:prstGeom prst="rect">
              <a:avLst/>
            </a:prstGeom>
            <a:noFill/>
            <a:ln w="12700" cap="sq">
              <a:noFill/>
              <a:miter lim="800000"/>
              <a:headEnd type="none" w="sm" len="sm"/>
              <a:tailEnd type="none" w="sm" len="sm"/>
            </a:ln>
          </p:spPr>
          <p:txBody>
            <a:bodyPr>
              <a:spAutoFit/>
            </a:bodyPr>
            <a:lstStyle/>
            <a:p>
              <a:pPr eaLnBrk="1" hangingPunct="1"/>
              <a:r>
                <a:rPr kumimoji="1" lang="en-US" altLang="zh-CN" sz="3000" b="1">
                  <a:solidFill>
                    <a:srgbClr val="000099"/>
                  </a:solidFill>
                </a:rPr>
                <a:t>(</a:t>
              </a:r>
              <a:r>
                <a:rPr kumimoji="1" lang="zh-CN" altLang="en-US" sz="3000" b="1">
                  <a:solidFill>
                    <a:srgbClr val="000099"/>
                  </a:solidFill>
                </a:rPr>
                <a:t>一</a:t>
              </a:r>
              <a:r>
                <a:rPr kumimoji="1" lang="en-US" altLang="zh-CN" sz="3000" b="1">
                  <a:solidFill>
                    <a:srgbClr val="000099"/>
                  </a:solidFill>
                </a:rPr>
                <a:t>)</a:t>
              </a:r>
              <a:r>
                <a:rPr kumimoji="1" lang="zh-CN" altLang="en-US" sz="3000" b="1">
                  <a:solidFill>
                    <a:srgbClr val="000099"/>
                  </a:solidFill>
                </a:rPr>
                <a:t>  构造原理</a:t>
              </a:r>
              <a:endParaRPr kumimoji="1" lang="zh-CN" altLang="en-US" sz="3000">
                <a:solidFill>
                  <a:srgbClr val="000099"/>
                </a:solidFill>
              </a:endParaRPr>
            </a:p>
          </p:txBody>
        </p:sp>
      </p:grpSp>
      <p:sp>
        <p:nvSpPr>
          <p:cNvPr id="261163" name="Oval 43"/>
          <p:cNvSpPr>
            <a:spLocks noChangeArrowheads="1"/>
          </p:cNvSpPr>
          <p:nvPr/>
        </p:nvSpPr>
        <p:spPr bwMode="auto">
          <a:xfrm>
            <a:off x="5070475" y="6234114"/>
            <a:ext cx="762000" cy="363537"/>
          </a:xfrm>
          <a:prstGeom prst="ellipse">
            <a:avLst/>
          </a:prstGeom>
          <a:noFill/>
          <a:ln w="44450">
            <a:solidFill>
              <a:srgbClr val="FF0000"/>
            </a:solidFill>
            <a:prstDash val="dash"/>
            <a:round/>
            <a:headEnd type="none" w="sm" len="sm"/>
            <a:tailEnd type="none" w="sm" len="sm"/>
          </a:ln>
        </p:spPr>
        <p:txBody>
          <a:bodyPr wrap="none" anchor="ctr"/>
          <a:lstStyle/>
          <a:p>
            <a:endParaRPr lang="zh-CN" altLang="en-US"/>
          </a:p>
        </p:txBody>
      </p:sp>
      <p:grpSp>
        <p:nvGrpSpPr>
          <p:cNvPr id="6" name="Group 67"/>
          <p:cNvGrpSpPr>
            <a:grpSpLocks/>
          </p:cNvGrpSpPr>
          <p:nvPr/>
        </p:nvGrpSpPr>
        <p:grpSpPr bwMode="auto">
          <a:xfrm>
            <a:off x="2590800" y="4721225"/>
            <a:ext cx="5638800" cy="1244600"/>
            <a:chOff x="672" y="2387"/>
            <a:chExt cx="3552" cy="784"/>
          </a:xfrm>
        </p:grpSpPr>
        <p:sp>
          <p:nvSpPr>
            <p:cNvPr id="35853" name="Rectangle 55"/>
            <p:cNvSpPr>
              <a:spLocks noChangeArrowheads="1"/>
            </p:cNvSpPr>
            <p:nvPr/>
          </p:nvSpPr>
          <p:spPr bwMode="auto">
            <a:xfrm>
              <a:off x="1152" y="2931"/>
              <a:ext cx="288" cy="240"/>
            </a:xfrm>
            <a:prstGeom prst="rect">
              <a:avLst/>
            </a:prstGeom>
            <a:noFill/>
            <a:ln w="19050" cap="sq">
              <a:solidFill>
                <a:srgbClr val="660033"/>
              </a:solidFill>
              <a:miter lim="800000"/>
              <a:headEnd type="none" w="sm" len="sm"/>
              <a:tailEnd type="none" w="sm" len="sm"/>
            </a:ln>
          </p:spPr>
          <p:txBody>
            <a:bodyPr wrap="none" anchor="ctr"/>
            <a:lstStyle/>
            <a:p>
              <a:endParaRPr lang="zh-CN" altLang="en-US"/>
            </a:p>
          </p:txBody>
        </p:sp>
        <p:sp>
          <p:nvSpPr>
            <p:cNvPr id="35854" name="Rectangle 56"/>
            <p:cNvSpPr>
              <a:spLocks noChangeArrowheads="1"/>
            </p:cNvSpPr>
            <p:nvPr/>
          </p:nvSpPr>
          <p:spPr bwMode="auto">
            <a:xfrm>
              <a:off x="1440" y="2931"/>
              <a:ext cx="288" cy="240"/>
            </a:xfrm>
            <a:prstGeom prst="rect">
              <a:avLst/>
            </a:prstGeom>
            <a:noFill/>
            <a:ln w="19050" cap="sq">
              <a:solidFill>
                <a:srgbClr val="660033"/>
              </a:solidFill>
              <a:miter lim="800000"/>
              <a:headEnd type="none" w="sm" len="sm"/>
              <a:tailEnd type="none" w="sm" len="sm"/>
            </a:ln>
          </p:spPr>
          <p:txBody>
            <a:bodyPr wrap="none" anchor="ctr"/>
            <a:lstStyle/>
            <a:p>
              <a:endParaRPr lang="zh-CN" altLang="en-US"/>
            </a:p>
          </p:txBody>
        </p:sp>
        <p:sp>
          <p:nvSpPr>
            <p:cNvPr id="35855" name="Rectangle 57"/>
            <p:cNvSpPr>
              <a:spLocks noChangeArrowheads="1"/>
            </p:cNvSpPr>
            <p:nvPr/>
          </p:nvSpPr>
          <p:spPr bwMode="auto">
            <a:xfrm>
              <a:off x="1728" y="2931"/>
              <a:ext cx="288" cy="240"/>
            </a:xfrm>
            <a:prstGeom prst="rect">
              <a:avLst/>
            </a:prstGeom>
            <a:noFill/>
            <a:ln w="19050" cap="sq">
              <a:solidFill>
                <a:srgbClr val="660033"/>
              </a:solidFill>
              <a:miter lim="800000"/>
              <a:headEnd type="none" w="sm" len="sm"/>
              <a:tailEnd type="none" w="sm" len="sm"/>
            </a:ln>
          </p:spPr>
          <p:txBody>
            <a:bodyPr wrap="none" anchor="ctr"/>
            <a:lstStyle/>
            <a:p>
              <a:endParaRPr lang="zh-CN" altLang="en-US"/>
            </a:p>
          </p:txBody>
        </p:sp>
        <p:sp>
          <p:nvSpPr>
            <p:cNvPr id="35856" name="Rectangle 58"/>
            <p:cNvSpPr>
              <a:spLocks noChangeArrowheads="1"/>
            </p:cNvSpPr>
            <p:nvPr/>
          </p:nvSpPr>
          <p:spPr bwMode="auto">
            <a:xfrm>
              <a:off x="2304" y="2931"/>
              <a:ext cx="288" cy="240"/>
            </a:xfrm>
            <a:prstGeom prst="rect">
              <a:avLst/>
            </a:prstGeom>
            <a:noFill/>
            <a:ln w="19050" cap="sq">
              <a:solidFill>
                <a:srgbClr val="660033"/>
              </a:solidFill>
              <a:miter lim="800000"/>
              <a:headEnd type="none" w="sm" len="sm"/>
              <a:tailEnd type="none" w="sm" len="sm"/>
            </a:ln>
          </p:spPr>
          <p:txBody>
            <a:bodyPr wrap="none" anchor="ctr"/>
            <a:lstStyle/>
            <a:p>
              <a:endParaRPr lang="zh-CN" altLang="en-US"/>
            </a:p>
          </p:txBody>
        </p:sp>
        <p:sp>
          <p:nvSpPr>
            <p:cNvPr id="35857" name="Rectangle 59"/>
            <p:cNvSpPr>
              <a:spLocks noChangeArrowheads="1"/>
            </p:cNvSpPr>
            <p:nvPr/>
          </p:nvSpPr>
          <p:spPr bwMode="auto">
            <a:xfrm>
              <a:off x="2592" y="2931"/>
              <a:ext cx="288" cy="240"/>
            </a:xfrm>
            <a:prstGeom prst="rect">
              <a:avLst/>
            </a:prstGeom>
            <a:noFill/>
            <a:ln w="19050" cap="sq">
              <a:solidFill>
                <a:srgbClr val="660033"/>
              </a:solidFill>
              <a:miter lim="800000"/>
              <a:headEnd type="none" w="sm" len="sm"/>
              <a:tailEnd type="none" w="sm" len="sm"/>
            </a:ln>
          </p:spPr>
          <p:txBody>
            <a:bodyPr wrap="none" anchor="ctr"/>
            <a:lstStyle/>
            <a:p>
              <a:endParaRPr lang="zh-CN" altLang="en-US"/>
            </a:p>
          </p:txBody>
        </p:sp>
        <p:sp>
          <p:nvSpPr>
            <p:cNvPr id="35858" name="Rectangle 60"/>
            <p:cNvSpPr>
              <a:spLocks noChangeArrowheads="1"/>
            </p:cNvSpPr>
            <p:nvPr/>
          </p:nvSpPr>
          <p:spPr bwMode="auto">
            <a:xfrm>
              <a:off x="2016" y="2931"/>
              <a:ext cx="288" cy="240"/>
            </a:xfrm>
            <a:prstGeom prst="rect">
              <a:avLst/>
            </a:prstGeom>
            <a:noFill/>
            <a:ln w="19050" cap="sq">
              <a:solidFill>
                <a:srgbClr val="660033"/>
              </a:solidFill>
              <a:miter lim="800000"/>
              <a:headEnd type="none" w="sm" len="sm"/>
              <a:tailEnd type="none" w="sm" len="sm"/>
            </a:ln>
          </p:spPr>
          <p:txBody>
            <a:bodyPr wrap="none" anchor="ctr"/>
            <a:lstStyle/>
            <a:p>
              <a:endParaRPr lang="zh-CN" altLang="en-US"/>
            </a:p>
          </p:txBody>
        </p:sp>
        <p:sp>
          <p:nvSpPr>
            <p:cNvPr id="35859" name="Rectangle 61"/>
            <p:cNvSpPr>
              <a:spLocks noChangeArrowheads="1"/>
            </p:cNvSpPr>
            <p:nvPr/>
          </p:nvSpPr>
          <p:spPr bwMode="auto">
            <a:xfrm>
              <a:off x="3648" y="2931"/>
              <a:ext cx="288" cy="240"/>
            </a:xfrm>
            <a:prstGeom prst="rect">
              <a:avLst/>
            </a:prstGeom>
            <a:noFill/>
            <a:ln w="19050" cap="sq">
              <a:solidFill>
                <a:srgbClr val="660033"/>
              </a:solidFill>
              <a:miter lim="800000"/>
              <a:headEnd type="none" w="sm" len="sm"/>
              <a:tailEnd type="none" w="sm" len="sm"/>
            </a:ln>
          </p:spPr>
          <p:txBody>
            <a:bodyPr wrap="none" anchor="ctr"/>
            <a:lstStyle/>
            <a:p>
              <a:endParaRPr lang="zh-CN" altLang="en-US"/>
            </a:p>
          </p:txBody>
        </p:sp>
        <p:sp>
          <p:nvSpPr>
            <p:cNvPr id="35860" name="Rectangle 62"/>
            <p:cNvSpPr>
              <a:spLocks noChangeArrowheads="1"/>
            </p:cNvSpPr>
            <p:nvPr/>
          </p:nvSpPr>
          <p:spPr bwMode="auto">
            <a:xfrm>
              <a:off x="3936" y="2931"/>
              <a:ext cx="288" cy="240"/>
            </a:xfrm>
            <a:prstGeom prst="rect">
              <a:avLst/>
            </a:prstGeom>
            <a:noFill/>
            <a:ln w="19050" cap="sq">
              <a:solidFill>
                <a:srgbClr val="660033"/>
              </a:solidFill>
              <a:miter lim="800000"/>
              <a:headEnd type="none" w="sm" len="sm"/>
              <a:tailEnd type="none" w="sm" len="sm"/>
            </a:ln>
          </p:spPr>
          <p:txBody>
            <a:bodyPr wrap="none" anchor="ctr"/>
            <a:lstStyle/>
            <a:p>
              <a:endParaRPr lang="zh-CN" altLang="en-US"/>
            </a:p>
          </p:txBody>
        </p:sp>
        <p:sp>
          <p:nvSpPr>
            <p:cNvPr id="35861" name="Line 63"/>
            <p:cNvSpPr>
              <a:spLocks noChangeShapeType="1"/>
            </p:cNvSpPr>
            <p:nvPr/>
          </p:nvSpPr>
          <p:spPr bwMode="auto">
            <a:xfrm>
              <a:off x="2880" y="2931"/>
              <a:ext cx="768" cy="0"/>
            </a:xfrm>
            <a:prstGeom prst="line">
              <a:avLst/>
            </a:prstGeom>
            <a:noFill/>
            <a:ln w="19050" cap="sq">
              <a:solidFill>
                <a:srgbClr val="660033"/>
              </a:solidFill>
              <a:round/>
              <a:headEnd type="none" w="sm" len="sm"/>
              <a:tailEnd type="none" w="sm" len="sm"/>
            </a:ln>
          </p:spPr>
          <p:txBody>
            <a:bodyPr/>
            <a:lstStyle/>
            <a:p>
              <a:endParaRPr lang="zh-CN" altLang="en-US"/>
            </a:p>
          </p:txBody>
        </p:sp>
        <p:sp>
          <p:nvSpPr>
            <p:cNvPr id="35862" name="Line 64"/>
            <p:cNvSpPr>
              <a:spLocks noChangeShapeType="1"/>
            </p:cNvSpPr>
            <p:nvPr/>
          </p:nvSpPr>
          <p:spPr bwMode="auto">
            <a:xfrm>
              <a:off x="2880" y="3171"/>
              <a:ext cx="768" cy="0"/>
            </a:xfrm>
            <a:prstGeom prst="line">
              <a:avLst/>
            </a:prstGeom>
            <a:noFill/>
            <a:ln w="19050" cap="sq">
              <a:solidFill>
                <a:srgbClr val="660033"/>
              </a:solidFill>
              <a:round/>
              <a:headEnd type="none" w="sm" len="sm"/>
              <a:tailEnd type="none" w="sm" len="sm"/>
            </a:ln>
          </p:spPr>
          <p:txBody>
            <a:bodyPr/>
            <a:lstStyle/>
            <a:p>
              <a:endParaRPr lang="zh-CN" altLang="en-US"/>
            </a:p>
          </p:txBody>
        </p:sp>
        <p:sp>
          <p:nvSpPr>
            <p:cNvPr id="35863" name="Text Box 65"/>
            <p:cNvSpPr txBox="1">
              <a:spLocks noChangeArrowheads="1"/>
            </p:cNvSpPr>
            <p:nvPr/>
          </p:nvSpPr>
          <p:spPr bwMode="auto">
            <a:xfrm>
              <a:off x="1219" y="2756"/>
              <a:ext cx="2736" cy="213"/>
            </a:xfrm>
            <a:prstGeom prst="rect">
              <a:avLst/>
            </a:prstGeom>
            <a:noFill/>
            <a:ln w="12700" cap="sq">
              <a:noFill/>
              <a:miter lim="800000"/>
              <a:headEnd type="none" w="sm" len="sm"/>
              <a:tailEnd type="none" w="sm" len="sm"/>
            </a:ln>
          </p:spPr>
          <p:txBody>
            <a:bodyPr wrap="none">
              <a:spAutoFit/>
            </a:bodyPr>
            <a:lstStyle/>
            <a:p>
              <a:r>
                <a:rPr lang="zh-CN" altLang="en-US" sz="1600" b="1">
                  <a:solidFill>
                    <a:srgbClr val="660033"/>
                  </a:solidFill>
                </a:rPr>
                <a:t>0       1       2      3       4               </a:t>
              </a:r>
              <a:r>
                <a:rPr lang="zh-CN" altLang="en-US" sz="1600" b="1">
                  <a:solidFill>
                    <a:srgbClr val="660033"/>
                  </a:solidFill>
                  <a:ea typeface="宋体" charset="-122"/>
                  <a:cs typeface="Times New Roman" pitchFamily="18" charset="0"/>
                </a:rPr>
                <a:t>……</a:t>
              </a:r>
              <a:r>
                <a:rPr lang="zh-CN" altLang="en-US" sz="1600" b="1">
                  <a:solidFill>
                    <a:srgbClr val="660033"/>
                  </a:solidFill>
                </a:rPr>
                <a:t>                        </a:t>
              </a:r>
              <a:r>
                <a:rPr lang="en-US" altLang="zh-CN" sz="1600" b="1">
                  <a:solidFill>
                    <a:srgbClr val="660033"/>
                  </a:solidFill>
                </a:rPr>
                <a:t>M-1</a:t>
              </a:r>
            </a:p>
          </p:txBody>
        </p:sp>
        <p:sp>
          <p:nvSpPr>
            <p:cNvPr id="35864" name="Text Box 66"/>
            <p:cNvSpPr txBox="1">
              <a:spLocks noChangeArrowheads="1"/>
            </p:cNvSpPr>
            <p:nvPr/>
          </p:nvSpPr>
          <p:spPr bwMode="auto">
            <a:xfrm>
              <a:off x="672" y="2387"/>
              <a:ext cx="1981" cy="308"/>
            </a:xfrm>
            <a:prstGeom prst="rect">
              <a:avLst/>
            </a:prstGeom>
            <a:noFill/>
            <a:ln w="12700" cap="sq">
              <a:noFill/>
              <a:miter lim="800000"/>
              <a:headEnd type="none" w="sm" len="sm"/>
              <a:tailEnd type="none" w="sm" len="sm"/>
            </a:ln>
          </p:spPr>
          <p:txBody>
            <a:bodyPr>
              <a:spAutoFit/>
            </a:bodyPr>
            <a:lstStyle/>
            <a:p>
              <a:r>
                <a:rPr lang="en-US" altLang="zh-CN" sz="2600" b="1">
                  <a:solidFill>
                    <a:srgbClr val="D80000"/>
                  </a:solidFill>
                </a:rPr>
                <a:t>STACK[0..M</a:t>
              </a:r>
              <a:r>
                <a:rPr lang="en-US" altLang="zh-CN" sz="2600" b="1">
                  <a:solidFill>
                    <a:srgbClr val="D80000"/>
                  </a:solidFill>
                  <a:latin typeface="宋体" charset="-122"/>
                  <a:ea typeface="宋体" charset="-122"/>
                </a:rPr>
                <a:t>-</a:t>
              </a:r>
              <a:r>
                <a:rPr lang="en-US" altLang="zh-CN" sz="2600" b="1">
                  <a:solidFill>
                    <a:srgbClr val="D80000"/>
                  </a:solidFill>
                </a:rPr>
                <a:t>1]</a:t>
              </a: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37"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Vertic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261135"/>
                                        </p:tgtEl>
                                        <p:attrNameLst>
                                          <p:attrName>style.visibility</p:attrName>
                                        </p:attrNameLst>
                                      </p:cBhvr>
                                      <p:to>
                                        <p:strVal val="visible"/>
                                      </p:to>
                                    </p:set>
                                    <p:anim calcmode="lin" valueType="num">
                                      <p:cBhvr additive="base">
                                        <p:cTn id="17" dur="500" fill="hold"/>
                                        <p:tgtEl>
                                          <p:spTgt spid="261135"/>
                                        </p:tgtEl>
                                        <p:attrNameLst>
                                          <p:attrName>ppt_x</p:attrName>
                                        </p:attrNameLst>
                                      </p:cBhvr>
                                      <p:tavLst>
                                        <p:tav tm="0">
                                          <p:val>
                                            <p:strVal val="1+#ppt_w/2"/>
                                          </p:val>
                                        </p:tav>
                                        <p:tav tm="100000">
                                          <p:val>
                                            <p:strVal val="#ppt_x"/>
                                          </p:val>
                                        </p:tav>
                                      </p:tavLst>
                                    </p:anim>
                                    <p:anim calcmode="lin" valueType="num">
                                      <p:cBhvr additive="base">
                                        <p:cTn id="18" dur="500" fill="hold"/>
                                        <p:tgtEl>
                                          <p:spTgt spid="261135"/>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261136"/>
                                        </p:tgtEl>
                                        <p:attrNameLst>
                                          <p:attrName>style.visibility</p:attrName>
                                        </p:attrNameLst>
                                      </p:cBhvr>
                                      <p:to>
                                        <p:strVal val="visible"/>
                                      </p:to>
                                    </p:set>
                                    <p:anim calcmode="lin" valueType="num">
                                      <p:cBhvr additive="base">
                                        <p:cTn id="23" dur="500" fill="hold"/>
                                        <p:tgtEl>
                                          <p:spTgt spid="261136"/>
                                        </p:tgtEl>
                                        <p:attrNameLst>
                                          <p:attrName>ppt_x</p:attrName>
                                        </p:attrNameLst>
                                      </p:cBhvr>
                                      <p:tavLst>
                                        <p:tav tm="0">
                                          <p:val>
                                            <p:strVal val="1+#ppt_w/2"/>
                                          </p:val>
                                        </p:tav>
                                        <p:tav tm="100000">
                                          <p:val>
                                            <p:strVal val="#ppt_x"/>
                                          </p:val>
                                        </p:tav>
                                      </p:tavLst>
                                    </p:anim>
                                    <p:anim calcmode="lin" valueType="num">
                                      <p:cBhvr additive="base">
                                        <p:cTn id="24" dur="500" fill="hold"/>
                                        <p:tgtEl>
                                          <p:spTgt spid="261136"/>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261137"/>
                                        </p:tgtEl>
                                        <p:attrNameLst>
                                          <p:attrName>style.visibility</p:attrName>
                                        </p:attrNameLst>
                                      </p:cBhvr>
                                      <p:to>
                                        <p:strVal val="visible"/>
                                      </p:to>
                                    </p:set>
                                    <p:anim calcmode="lin" valueType="num">
                                      <p:cBhvr additive="base">
                                        <p:cTn id="29" dur="500" fill="hold"/>
                                        <p:tgtEl>
                                          <p:spTgt spid="261137"/>
                                        </p:tgtEl>
                                        <p:attrNameLst>
                                          <p:attrName>ppt_x</p:attrName>
                                        </p:attrNameLst>
                                      </p:cBhvr>
                                      <p:tavLst>
                                        <p:tav tm="0">
                                          <p:val>
                                            <p:strVal val="1+#ppt_w/2"/>
                                          </p:val>
                                        </p:tav>
                                        <p:tav tm="100000">
                                          <p:val>
                                            <p:strVal val="#ppt_x"/>
                                          </p:val>
                                        </p:tav>
                                      </p:tavLst>
                                    </p:anim>
                                    <p:anim calcmode="lin" valueType="num">
                                      <p:cBhvr additive="base">
                                        <p:cTn id="30" dur="500" fill="hold"/>
                                        <p:tgtEl>
                                          <p:spTgt spid="261137"/>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261138"/>
                                        </p:tgtEl>
                                        <p:attrNameLst>
                                          <p:attrName>style.visibility</p:attrName>
                                        </p:attrNameLst>
                                      </p:cBhvr>
                                      <p:to>
                                        <p:strVal val="visible"/>
                                      </p:to>
                                    </p:set>
                                    <p:anim calcmode="lin" valueType="num">
                                      <p:cBhvr additive="base">
                                        <p:cTn id="35" dur="500" fill="hold"/>
                                        <p:tgtEl>
                                          <p:spTgt spid="261138"/>
                                        </p:tgtEl>
                                        <p:attrNameLst>
                                          <p:attrName>ppt_x</p:attrName>
                                        </p:attrNameLst>
                                      </p:cBhvr>
                                      <p:tavLst>
                                        <p:tav tm="0">
                                          <p:val>
                                            <p:strVal val="1+#ppt_w/2"/>
                                          </p:val>
                                        </p:tav>
                                        <p:tav tm="100000">
                                          <p:val>
                                            <p:strVal val="#ppt_x"/>
                                          </p:val>
                                        </p:tav>
                                      </p:tavLst>
                                    </p:anim>
                                    <p:anim calcmode="lin" valueType="num">
                                      <p:cBhvr additive="base">
                                        <p:cTn id="36" dur="500" fill="hold"/>
                                        <p:tgtEl>
                                          <p:spTgt spid="261138"/>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261139"/>
                                        </p:tgtEl>
                                        <p:attrNameLst>
                                          <p:attrName>style.visibility</p:attrName>
                                        </p:attrNameLst>
                                      </p:cBhvr>
                                      <p:to>
                                        <p:strVal val="visible"/>
                                      </p:to>
                                    </p:set>
                                    <p:anim calcmode="lin" valueType="num">
                                      <p:cBhvr additive="base">
                                        <p:cTn id="41" dur="500" fill="hold"/>
                                        <p:tgtEl>
                                          <p:spTgt spid="261139"/>
                                        </p:tgtEl>
                                        <p:attrNameLst>
                                          <p:attrName>ppt_x</p:attrName>
                                        </p:attrNameLst>
                                      </p:cBhvr>
                                      <p:tavLst>
                                        <p:tav tm="0">
                                          <p:val>
                                            <p:strVal val="1+#ppt_w/2"/>
                                          </p:val>
                                        </p:tav>
                                        <p:tav tm="100000">
                                          <p:val>
                                            <p:strVal val="#ppt_x"/>
                                          </p:val>
                                        </p:tav>
                                      </p:tavLst>
                                    </p:anim>
                                    <p:anim calcmode="lin" valueType="num">
                                      <p:cBhvr additive="base">
                                        <p:cTn id="42" dur="500" fill="hold"/>
                                        <p:tgtEl>
                                          <p:spTgt spid="261139"/>
                                        </p:tgtEl>
                                        <p:attrNameLst>
                                          <p:attrName>ppt_y</p:attrName>
                                        </p:attrNameLst>
                                      </p:cBhvr>
                                      <p:tavLst>
                                        <p:tav tm="0">
                                          <p:val>
                                            <p:strVal val="#ppt_y"/>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wipe(down)">
                                      <p:cBhvr>
                                        <p:cTn id="47" dur="500"/>
                                        <p:tgtEl>
                                          <p:spTgt spid="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61163"/>
                                        </p:tgtEl>
                                        <p:attrNameLst>
                                          <p:attrName>style.visibility</p:attrName>
                                        </p:attrNameLst>
                                      </p:cBhvr>
                                      <p:to>
                                        <p:strVal val="visible"/>
                                      </p:to>
                                    </p:set>
                                    <p:anim calcmode="lin" valueType="num">
                                      <p:cBhvr>
                                        <p:cTn id="52" dur="500" fill="hold"/>
                                        <p:tgtEl>
                                          <p:spTgt spid="261163"/>
                                        </p:tgtEl>
                                        <p:attrNameLst>
                                          <p:attrName>ppt_w</p:attrName>
                                        </p:attrNameLst>
                                      </p:cBhvr>
                                      <p:tavLst>
                                        <p:tav tm="0">
                                          <p:val>
                                            <p:fltVal val="0"/>
                                          </p:val>
                                        </p:tav>
                                        <p:tav tm="100000">
                                          <p:val>
                                            <p:strVal val="#ppt_w"/>
                                          </p:val>
                                        </p:tav>
                                      </p:tavLst>
                                    </p:anim>
                                    <p:anim calcmode="lin" valueType="num">
                                      <p:cBhvr>
                                        <p:cTn id="53" dur="500" fill="hold"/>
                                        <p:tgtEl>
                                          <p:spTgt spid="26116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35" grpId="0" autoUpdateAnimBg="0"/>
      <p:bldP spid="261136" grpId="0" autoUpdateAnimBg="0"/>
      <p:bldP spid="261137" grpId="0" autoUpdateAnimBg="0"/>
      <p:bldP spid="261138" grpId="0" autoUpdateAnimBg="0"/>
      <p:bldP spid="261139" grpId="0" autoUpdateAnimBg="0"/>
      <p:bldP spid="26116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2174875" y="4137025"/>
            <a:ext cx="7848600" cy="1524000"/>
            <a:chOff x="410" y="2304"/>
            <a:chExt cx="4944" cy="960"/>
          </a:xfrm>
        </p:grpSpPr>
        <p:sp>
          <p:nvSpPr>
            <p:cNvPr id="36918" name="Rectangle 3"/>
            <p:cNvSpPr>
              <a:spLocks noChangeArrowheads="1"/>
            </p:cNvSpPr>
            <p:nvPr/>
          </p:nvSpPr>
          <p:spPr bwMode="auto">
            <a:xfrm>
              <a:off x="410" y="2304"/>
              <a:ext cx="4944" cy="960"/>
            </a:xfrm>
            <a:prstGeom prst="rect">
              <a:avLst/>
            </a:prstGeom>
            <a:solidFill>
              <a:srgbClr val="E7FFFF"/>
            </a:solidFill>
            <a:ln w="12700" cap="sq">
              <a:noFill/>
              <a:miter lim="800000"/>
              <a:headEnd type="none" w="sm" len="sm"/>
              <a:tailEnd type="none" w="sm" len="sm"/>
            </a:ln>
            <a:effectLst>
              <a:outerShdw dist="197566" dir="2700000" algn="ctr" rotWithShape="0">
                <a:srgbClr val="B2B2B2"/>
              </a:outerShdw>
            </a:effectLst>
          </p:spPr>
          <p:txBody>
            <a:bodyPr wrap="none" anchor="ctr"/>
            <a:lstStyle/>
            <a:p>
              <a:endParaRPr lang="zh-CN" altLang="en-US"/>
            </a:p>
          </p:txBody>
        </p:sp>
        <p:sp>
          <p:nvSpPr>
            <p:cNvPr id="36919" name="Text Box 4"/>
            <p:cNvSpPr txBox="1">
              <a:spLocks noChangeArrowheads="1"/>
            </p:cNvSpPr>
            <p:nvPr/>
          </p:nvSpPr>
          <p:spPr bwMode="auto">
            <a:xfrm>
              <a:off x="576" y="2438"/>
              <a:ext cx="912" cy="666"/>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a:spAutoFit/>
            </a:bodyPr>
            <a:lstStyle/>
            <a:p>
              <a:pPr eaLnBrk="1" hangingPunct="1">
                <a:lnSpc>
                  <a:spcPct val="120000"/>
                </a:lnSpc>
              </a:pPr>
              <a:r>
                <a:rPr kumimoji="1" lang="zh-CN" altLang="en-US" sz="2800" b="1">
                  <a:solidFill>
                    <a:srgbClr val="FF3300"/>
                  </a:solidFill>
                  <a:latin typeface="黑体" pitchFamily="2" charset="-122"/>
                  <a:ea typeface="黑体" pitchFamily="2" charset="-122"/>
                </a:rPr>
                <a:t>上溢</a:t>
              </a:r>
              <a:r>
                <a:rPr kumimoji="1" lang="zh-CN" altLang="en-US" sz="2800" b="1">
                  <a:solidFill>
                    <a:srgbClr val="002C84"/>
                  </a:solidFill>
                  <a:latin typeface="幼圆" pitchFamily="49" charset="-122"/>
                  <a:ea typeface="幼圆" pitchFamily="49" charset="-122"/>
                </a:rPr>
                <a:t> </a:t>
              </a:r>
            </a:p>
            <a:p>
              <a:pPr eaLnBrk="1" hangingPunct="1">
                <a:lnSpc>
                  <a:spcPct val="120000"/>
                </a:lnSpc>
              </a:pPr>
              <a:r>
                <a:rPr kumimoji="1" lang="zh-CN" altLang="en-US" sz="2800" b="1">
                  <a:solidFill>
                    <a:srgbClr val="FF3300"/>
                  </a:solidFill>
                  <a:latin typeface="黑体" pitchFamily="2" charset="-122"/>
                  <a:ea typeface="黑体" pitchFamily="2" charset="-122"/>
                </a:rPr>
                <a:t>下溢</a:t>
              </a:r>
              <a:endParaRPr kumimoji="1" lang="zh-CN" altLang="zh-CN" sz="2800">
                <a:solidFill>
                  <a:srgbClr val="FF3300"/>
                </a:solidFill>
                <a:latin typeface="黑体" pitchFamily="2" charset="-122"/>
                <a:ea typeface="黑体" pitchFamily="2" charset="-122"/>
              </a:endParaRPr>
            </a:p>
          </p:txBody>
        </p:sp>
      </p:grpSp>
      <p:sp>
        <p:nvSpPr>
          <p:cNvPr id="275461" name="Rectangle 5"/>
          <p:cNvSpPr>
            <a:spLocks noChangeArrowheads="1"/>
          </p:cNvSpPr>
          <p:nvPr/>
        </p:nvSpPr>
        <p:spPr bwMode="auto">
          <a:xfrm>
            <a:off x="3363914" y="4476750"/>
            <a:ext cx="5018087" cy="476250"/>
          </a:xfrm>
          <a:prstGeom prst="rect">
            <a:avLst/>
          </a:prstGeom>
          <a:noFill/>
          <a:ln w="12700" cap="sq">
            <a:noFill/>
            <a:miter lim="800000"/>
            <a:headEnd type="none" w="sm" len="sm"/>
            <a:tailEnd type="none" w="sm" len="sm"/>
          </a:ln>
        </p:spPr>
        <p:txBody>
          <a:bodyPr>
            <a:spAutoFit/>
          </a:bodyPr>
          <a:lstStyle/>
          <a:p>
            <a:pPr eaLnBrk="1" hangingPunct="1">
              <a:lnSpc>
                <a:spcPct val="90000"/>
              </a:lnSpc>
            </a:pPr>
            <a:r>
              <a:rPr kumimoji="1" lang="zh-CN" altLang="en-US" sz="2600" b="1" dirty="0">
                <a:solidFill>
                  <a:srgbClr val="002C84"/>
                </a:solidFill>
              </a:rPr>
              <a:t>— </a:t>
            </a:r>
            <a:r>
              <a:rPr kumimoji="1" lang="zh-CN" altLang="en-US" sz="2800" b="1" dirty="0">
                <a:solidFill>
                  <a:srgbClr val="002C84"/>
                </a:solidFill>
                <a:latin typeface="幼圆" pitchFamily="49" charset="-122"/>
                <a:ea typeface="幼圆" pitchFamily="49" charset="-122"/>
              </a:rPr>
              <a:t>当栈已满时做入栈操作。</a:t>
            </a:r>
            <a:endParaRPr kumimoji="1" lang="en-US" altLang="zh-CN" sz="2600" b="1" dirty="0">
              <a:solidFill>
                <a:schemeClr val="accent2"/>
              </a:solidFill>
            </a:endParaRPr>
          </a:p>
        </p:txBody>
      </p:sp>
      <p:sp>
        <p:nvSpPr>
          <p:cNvPr id="275462" name="Rectangle 6"/>
          <p:cNvSpPr>
            <a:spLocks noChangeArrowheads="1"/>
          </p:cNvSpPr>
          <p:nvPr/>
        </p:nvSpPr>
        <p:spPr bwMode="auto">
          <a:xfrm>
            <a:off x="3363914" y="4953000"/>
            <a:ext cx="5246687" cy="476250"/>
          </a:xfrm>
          <a:prstGeom prst="rect">
            <a:avLst/>
          </a:prstGeom>
          <a:noFill/>
          <a:ln w="12700" cap="sq">
            <a:noFill/>
            <a:miter lim="800000"/>
            <a:headEnd type="none" w="sm" len="sm"/>
            <a:tailEnd type="none" w="sm" len="sm"/>
          </a:ln>
        </p:spPr>
        <p:txBody>
          <a:bodyPr>
            <a:spAutoFit/>
          </a:bodyPr>
          <a:lstStyle/>
          <a:p>
            <a:pPr eaLnBrk="1" hangingPunct="1">
              <a:lnSpc>
                <a:spcPct val="90000"/>
              </a:lnSpc>
            </a:pPr>
            <a:r>
              <a:rPr kumimoji="1" lang="zh-CN" altLang="en-US" sz="2800" b="1" dirty="0">
                <a:solidFill>
                  <a:srgbClr val="002C84"/>
                </a:solidFill>
              </a:rPr>
              <a:t>— </a:t>
            </a:r>
            <a:r>
              <a:rPr kumimoji="1" lang="zh-CN" altLang="en-US" sz="2800" b="1" dirty="0">
                <a:solidFill>
                  <a:srgbClr val="002C84"/>
                </a:solidFill>
                <a:ea typeface="幼圆" pitchFamily="49" charset="-122"/>
              </a:rPr>
              <a:t>当栈为空时做出栈操作。</a:t>
            </a:r>
            <a:endParaRPr kumimoji="1" lang="en-US" altLang="zh-CN" sz="2800" b="1" dirty="0">
              <a:solidFill>
                <a:schemeClr val="accent2"/>
              </a:solidFill>
            </a:endParaRPr>
          </a:p>
        </p:txBody>
      </p:sp>
      <p:grpSp>
        <p:nvGrpSpPr>
          <p:cNvPr id="3" name="Group 115"/>
          <p:cNvGrpSpPr>
            <a:grpSpLocks/>
          </p:cNvGrpSpPr>
          <p:nvPr/>
        </p:nvGrpSpPr>
        <p:grpSpPr bwMode="auto">
          <a:xfrm>
            <a:off x="2667000" y="3500439"/>
            <a:ext cx="1600200" cy="701675"/>
            <a:chOff x="720" y="1979"/>
            <a:chExt cx="1008" cy="442"/>
          </a:xfrm>
        </p:grpSpPr>
        <p:sp>
          <p:nvSpPr>
            <p:cNvPr id="36916" name="Oval 8"/>
            <p:cNvSpPr>
              <a:spLocks noChangeArrowheads="1"/>
            </p:cNvSpPr>
            <p:nvPr/>
          </p:nvSpPr>
          <p:spPr bwMode="auto">
            <a:xfrm>
              <a:off x="720" y="1979"/>
              <a:ext cx="1008" cy="432"/>
            </a:xfrm>
            <a:prstGeom prst="ellipse">
              <a:avLst/>
            </a:prstGeom>
            <a:solidFill>
              <a:srgbClr val="00FF00"/>
            </a:solidFill>
            <a:ln w="12700" cap="sq">
              <a:noFill/>
              <a:round/>
              <a:headEnd type="none" w="sm" len="sm"/>
              <a:tailEnd type="none" w="sm" len="sm"/>
            </a:ln>
            <a:effectLst>
              <a:outerShdw dist="74053" dir="1857825" algn="ctr" rotWithShape="0">
                <a:srgbClr val="B2B2B2"/>
              </a:outerShdw>
            </a:effectLst>
          </p:spPr>
          <p:txBody>
            <a:bodyPr wrap="none" anchor="ctr"/>
            <a:lstStyle/>
            <a:p>
              <a:endParaRPr lang="zh-CN" altLang="en-US"/>
            </a:p>
          </p:txBody>
        </p:sp>
        <p:sp>
          <p:nvSpPr>
            <p:cNvPr id="36917" name="Rectangle 9"/>
            <p:cNvSpPr>
              <a:spLocks noChangeArrowheads="1"/>
            </p:cNvSpPr>
            <p:nvPr/>
          </p:nvSpPr>
          <p:spPr bwMode="auto">
            <a:xfrm>
              <a:off x="828" y="1979"/>
              <a:ext cx="827" cy="442"/>
            </a:xfrm>
            <a:prstGeom prst="rect">
              <a:avLst/>
            </a:prstGeom>
            <a:noFill/>
            <a:ln w="12700" cap="sq">
              <a:noFill/>
              <a:miter lim="800000"/>
              <a:headEnd type="none" w="sm" len="sm"/>
              <a:tailEnd type="none" w="sm" len="sm"/>
            </a:ln>
            <a:effectLst>
              <a:outerShdw dist="17961" dir="18900000" algn="ctr" rotWithShape="0">
                <a:srgbClr val="000000"/>
              </a:outerShdw>
            </a:effectLst>
          </p:spPr>
          <p:txBody>
            <a:bodyPr>
              <a:spAutoFit/>
            </a:bodyPr>
            <a:lstStyle/>
            <a:p>
              <a:r>
                <a:rPr kumimoji="1" lang="zh-CN" altLang="en-US" sz="4000" b="1">
                  <a:solidFill>
                    <a:srgbClr val="FF3300"/>
                  </a:solidFill>
                  <a:ea typeface="华文新魏" pitchFamily="2" charset="-122"/>
                </a:rPr>
                <a:t>溢出</a:t>
              </a:r>
            </a:p>
          </p:txBody>
        </p:sp>
      </p:grpSp>
      <p:grpSp>
        <p:nvGrpSpPr>
          <p:cNvPr id="4" name="Group 10"/>
          <p:cNvGrpSpPr>
            <a:grpSpLocks/>
          </p:cNvGrpSpPr>
          <p:nvPr/>
        </p:nvGrpSpPr>
        <p:grpSpPr bwMode="auto">
          <a:xfrm>
            <a:off x="2208213" y="1349375"/>
            <a:ext cx="3505200" cy="1143000"/>
            <a:chOff x="528" y="746"/>
            <a:chExt cx="2208" cy="720"/>
          </a:xfrm>
        </p:grpSpPr>
        <p:sp>
          <p:nvSpPr>
            <p:cNvPr id="36913" name="Rectangle 11"/>
            <p:cNvSpPr>
              <a:spLocks noChangeArrowheads="1"/>
            </p:cNvSpPr>
            <p:nvPr/>
          </p:nvSpPr>
          <p:spPr bwMode="auto">
            <a:xfrm>
              <a:off x="528" y="746"/>
              <a:ext cx="2048" cy="720"/>
            </a:xfrm>
            <a:prstGeom prst="rect">
              <a:avLst/>
            </a:prstGeom>
            <a:solidFill>
              <a:srgbClr val="D5EAFF"/>
            </a:solidFill>
            <a:ln w="12700" cap="sq">
              <a:noFill/>
              <a:miter lim="800000"/>
              <a:headEnd type="none" w="sm" len="sm"/>
              <a:tailEnd type="none" w="sm" len="sm"/>
            </a:ln>
            <a:effectLst>
              <a:outerShdw dist="152928" dir="2498012" algn="ctr" rotWithShape="0">
                <a:srgbClr val="CFCFCF"/>
              </a:outerShdw>
            </a:effectLst>
          </p:spPr>
          <p:txBody>
            <a:bodyPr wrap="none" anchor="ctr"/>
            <a:lstStyle/>
            <a:p>
              <a:endParaRPr lang="zh-CN" altLang="en-US"/>
            </a:p>
          </p:txBody>
        </p:sp>
        <p:sp>
          <p:nvSpPr>
            <p:cNvPr id="36914" name="Text Box 12"/>
            <p:cNvSpPr txBox="1">
              <a:spLocks noChangeArrowheads="1"/>
            </p:cNvSpPr>
            <p:nvPr/>
          </p:nvSpPr>
          <p:spPr bwMode="auto">
            <a:xfrm>
              <a:off x="528" y="793"/>
              <a:ext cx="2112" cy="606"/>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a:spAutoFit/>
            </a:bodyPr>
            <a:lstStyle/>
            <a:p>
              <a:pPr>
                <a:lnSpc>
                  <a:spcPct val="95000"/>
                </a:lnSpc>
              </a:pPr>
              <a:r>
                <a:rPr lang="zh-CN" altLang="en-US" sz="3000" b="1" dirty="0">
                  <a:solidFill>
                    <a:srgbClr val="FF3300"/>
                  </a:solidFill>
                  <a:latin typeface="黑体" pitchFamily="2" charset="-122"/>
                  <a:ea typeface="黑体" pitchFamily="2" charset="-122"/>
                </a:rPr>
                <a:t> 数组:</a:t>
              </a:r>
              <a:endParaRPr lang="zh-CN" altLang="en-US" sz="3000" b="1" dirty="0">
                <a:solidFill>
                  <a:srgbClr val="002C84"/>
                </a:solidFill>
                <a:latin typeface="幼圆" pitchFamily="49" charset="-122"/>
                <a:ea typeface="幼圆" pitchFamily="49" charset="-122"/>
              </a:endParaRPr>
            </a:p>
            <a:p>
              <a:pPr>
                <a:lnSpc>
                  <a:spcPct val="95000"/>
                </a:lnSpc>
              </a:pPr>
              <a:r>
                <a:rPr lang="zh-CN" altLang="en-US" sz="3000" b="1" dirty="0">
                  <a:solidFill>
                    <a:srgbClr val="FF3300"/>
                  </a:solidFill>
                  <a:latin typeface="黑体" pitchFamily="2" charset="-122"/>
                  <a:ea typeface="黑体" pitchFamily="2" charset="-122"/>
                </a:rPr>
                <a:t>   栈:</a:t>
              </a:r>
              <a:endParaRPr lang="zh-CN" altLang="en-US" sz="3000" b="1" dirty="0">
                <a:solidFill>
                  <a:srgbClr val="002C84"/>
                </a:solidFill>
                <a:latin typeface="幼圆" pitchFamily="49" charset="-122"/>
                <a:ea typeface="幼圆" pitchFamily="49" charset="-122"/>
              </a:endParaRPr>
            </a:p>
          </p:txBody>
        </p:sp>
        <p:sp>
          <p:nvSpPr>
            <p:cNvPr id="36915" name="Text Box 13"/>
            <p:cNvSpPr txBox="1">
              <a:spLocks noChangeArrowheads="1"/>
            </p:cNvSpPr>
            <p:nvPr/>
          </p:nvSpPr>
          <p:spPr bwMode="auto">
            <a:xfrm>
              <a:off x="1344" y="794"/>
              <a:ext cx="1392" cy="606"/>
            </a:xfrm>
            <a:prstGeom prst="rect">
              <a:avLst/>
            </a:prstGeom>
            <a:noFill/>
            <a:ln w="12700" cap="sq">
              <a:noFill/>
              <a:miter lim="800000"/>
              <a:headEnd type="none" w="sm" len="sm"/>
              <a:tailEnd type="none" w="sm" len="sm"/>
            </a:ln>
          </p:spPr>
          <p:txBody>
            <a:bodyPr>
              <a:spAutoFit/>
            </a:bodyPr>
            <a:lstStyle/>
            <a:p>
              <a:pPr>
                <a:lnSpc>
                  <a:spcPct val="95000"/>
                </a:lnSpc>
              </a:pPr>
              <a:r>
                <a:rPr lang="zh-CN" altLang="en-US" sz="3000" b="1">
                  <a:solidFill>
                    <a:srgbClr val="002C84"/>
                  </a:solidFill>
                  <a:latin typeface="幼圆" pitchFamily="49" charset="-122"/>
                  <a:ea typeface="幼圆" pitchFamily="49" charset="-122"/>
                </a:rPr>
                <a:t>静态结构</a:t>
              </a:r>
            </a:p>
            <a:p>
              <a:pPr>
                <a:lnSpc>
                  <a:spcPct val="95000"/>
                </a:lnSpc>
              </a:pPr>
              <a:r>
                <a:rPr lang="zh-CN" altLang="en-US" sz="3000" b="1">
                  <a:solidFill>
                    <a:srgbClr val="002C84"/>
                  </a:solidFill>
                  <a:latin typeface="幼圆" pitchFamily="49" charset="-122"/>
                  <a:ea typeface="幼圆" pitchFamily="49" charset="-122"/>
                </a:rPr>
                <a:t>动态结构</a:t>
              </a:r>
            </a:p>
          </p:txBody>
        </p:sp>
      </p:grpSp>
      <p:sp>
        <p:nvSpPr>
          <p:cNvPr id="275569" name="Rectangle 113"/>
          <p:cNvSpPr>
            <a:spLocks noChangeArrowheads="1"/>
          </p:cNvSpPr>
          <p:nvPr/>
        </p:nvSpPr>
        <p:spPr bwMode="auto">
          <a:xfrm>
            <a:off x="8001000" y="4449763"/>
            <a:ext cx="1905000" cy="449262"/>
          </a:xfrm>
          <a:prstGeom prst="rect">
            <a:avLst/>
          </a:prstGeom>
          <a:noFill/>
          <a:ln w="12700" cap="sq">
            <a:noFill/>
            <a:miter lim="800000"/>
            <a:headEnd type="none" w="sm" len="sm"/>
            <a:tailEnd type="none" w="sm" len="sm"/>
          </a:ln>
        </p:spPr>
        <p:txBody>
          <a:bodyPr>
            <a:spAutoFit/>
          </a:bodyPr>
          <a:lstStyle/>
          <a:p>
            <a:pPr eaLnBrk="1" hangingPunct="1">
              <a:lnSpc>
                <a:spcPct val="90000"/>
              </a:lnSpc>
            </a:pPr>
            <a:r>
              <a:rPr kumimoji="1" lang="zh-CN" altLang="en-US" sz="2600" b="1">
                <a:solidFill>
                  <a:schemeClr val="accent2"/>
                </a:solidFill>
              </a:rPr>
              <a:t>(</a:t>
            </a:r>
            <a:r>
              <a:rPr kumimoji="1" lang="en-US" altLang="en-US" sz="2600" b="1">
                <a:solidFill>
                  <a:schemeClr val="accent2"/>
                </a:solidFill>
              </a:rPr>
              <a:t>top=M</a:t>
            </a:r>
            <a:r>
              <a:rPr kumimoji="1" lang="en-US" altLang="zh-CN" sz="2600" b="1">
                <a:solidFill>
                  <a:schemeClr val="accent2"/>
                </a:solidFill>
              </a:rPr>
              <a:t>–</a:t>
            </a:r>
            <a:r>
              <a:rPr kumimoji="1" lang="en-US" altLang="en-US" sz="2600" b="1">
                <a:solidFill>
                  <a:schemeClr val="accent2"/>
                </a:solidFill>
              </a:rPr>
              <a:t>1</a:t>
            </a:r>
            <a:r>
              <a:rPr kumimoji="1" lang="en-US" altLang="zh-CN" sz="2600" b="1">
                <a:solidFill>
                  <a:schemeClr val="accent2"/>
                </a:solidFill>
              </a:rPr>
              <a:t>)</a:t>
            </a:r>
          </a:p>
        </p:txBody>
      </p:sp>
      <p:sp>
        <p:nvSpPr>
          <p:cNvPr id="275570" name="Rectangle 114"/>
          <p:cNvSpPr>
            <a:spLocks noChangeArrowheads="1"/>
          </p:cNvSpPr>
          <p:nvPr/>
        </p:nvSpPr>
        <p:spPr bwMode="auto">
          <a:xfrm>
            <a:off x="8008938" y="4956175"/>
            <a:ext cx="1820862" cy="476250"/>
          </a:xfrm>
          <a:prstGeom prst="rect">
            <a:avLst/>
          </a:prstGeom>
          <a:noFill/>
          <a:ln w="12700" cap="sq">
            <a:noFill/>
            <a:miter lim="800000"/>
            <a:headEnd type="none" w="sm" len="sm"/>
            <a:tailEnd type="none" w="sm" len="sm"/>
          </a:ln>
        </p:spPr>
        <p:txBody>
          <a:bodyPr>
            <a:spAutoFit/>
          </a:bodyPr>
          <a:lstStyle/>
          <a:p>
            <a:pPr eaLnBrk="1" hangingPunct="1">
              <a:lnSpc>
                <a:spcPct val="90000"/>
              </a:lnSpc>
            </a:pPr>
            <a:r>
              <a:rPr kumimoji="1" lang="zh-CN" altLang="en-US" sz="2800" b="1">
                <a:solidFill>
                  <a:schemeClr val="accent2"/>
                </a:solidFill>
              </a:rPr>
              <a:t>(</a:t>
            </a:r>
            <a:r>
              <a:rPr kumimoji="1" lang="en-US" altLang="zh-CN" sz="2800" b="1">
                <a:solidFill>
                  <a:schemeClr val="accent2"/>
                </a:solidFill>
              </a:rPr>
              <a:t>top=</a:t>
            </a:r>
            <a:r>
              <a:rPr kumimoji="1" lang="en-US" altLang="zh-CN" sz="2600" b="1">
                <a:solidFill>
                  <a:schemeClr val="accent2"/>
                </a:solidFill>
              </a:rPr>
              <a:t>–</a:t>
            </a:r>
            <a:r>
              <a:rPr kumimoji="1" lang="en-US" altLang="zh-CN" sz="2800" b="1">
                <a:solidFill>
                  <a:schemeClr val="accent2"/>
                </a:solidFill>
              </a:rPr>
              <a:t>1)</a:t>
            </a:r>
          </a:p>
        </p:txBody>
      </p:sp>
      <p:grpSp>
        <p:nvGrpSpPr>
          <p:cNvPr id="5" name="Group 130"/>
          <p:cNvGrpSpPr>
            <a:grpSpLocks/>
          </p:cNvGrpSpPr>
          <p:nvPr/>
        </p:nvGrpSpPr>
        <p:grpSpPr bwMode="auto">
          <a:xfrm>
            <a:off x="6530975" y="476250"/>
            <a:ext cx="3144838" cy="1296988"/>
            <a:chOff x="2940" y="572"/>
            <a:chExt cx="1981" cy="817"/>
          </a:xfrm>
        </p:grpSpPr>
        <p:grpSp>
          <p:nvGrpSpPr>
            <p:cNvPr id="6" name="Group 128"/>
            <p:cNvGrpSpPr>
              <a:grpSpLocks/>
            </p:cNvGrpSpPr>
            <p:nvPr/>
          </p:nvGrpSpPr>
          <p:grpSpPr bwMode="auto">
            <a:xfrm>
              <a:off x="3016" y="698"/>
              <a:ext cx="1870" cy="691"/>
              <a:chOff x="3016" y="388"/>
              <a:chExt cx="1870" cy="691"/>
            </a:xfrm>
          </p:grpSpPr>
          <p:sp>
            <p:nvSpPr>
              <p:cNvPr id="36901" name="Line 116"/>
              <p:cNvSpPr>
                <a:spLocks noChangeShapeType="1"/>
              </p:cNvSpPr>
              <p:nvPr/>
            </p:nvSpPr>
            <p:spPr bwMode="auto">
              <a:xfrm>
                <a:off x="3016" y="754"/>
                <a:ext cx="1860" cy="0"/>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36902" name="Line 117"/>
              <p:cNvSpPr>
                <a:spLocks noChangeShapeType="1"/>
              </p:cNvSpPr>
              <p:nvPr/>
            </p:nvSpPr>
            <p:spPr bwMode="auto">
              <a:xfrm>
                <a:off x="3016" y="1079"/>
                <a:ext cx="1860" cy="0"/>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36903" name="Line 118"/>
              <p:cNvSpPr>
                <a:spLocks noChangeShapeType="1"/>
              </p:cNvSpPr>
              <p:nvPr/>
            </p:nvSpPr>
            <p:spPr bwMode="auto">
              <a:xfrm>
                <a:off x="3016" y="754"/>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36904" name="Line 119"/>
              <p:cNvSpPr>
                <a:spLocks noChangeShapeType="1"/>
              </p:cNvSpPr>
              <p:nvPr/>
            </p:nvSpPr>
            <p:spPr bwMode="auto">
              <a:xfrm>
                <a:off x="3264" y="754"/>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36905" name="Line 120"/>
              <p:cNvSpPr>
                <a:spLocks noChangeShapeType="1"/>
              </p:cNvSpPr>
              <p:nvPr/>
            </p:nvSpPr>
            <p:spPr bwMode="auto">
              <a:xfrm>
                <a:off x="3520" y="754"/>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36906" name="Line 121"/>
              <p:cNvSpPr>
                <a:spLocks noChangeShapeType="1"/>
              </p:cNvSpPr>
              <p:nvPr/>
            </p:nvSpPr>
            <p:spPr bwMode="auto">
              <a:xfrm>
                <a:off x="3777" y="759"/>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36907" name="Line 122"/>
              <p:cNvSpPr>
                <a:spLocks noChangeShapeType="1"/>
              </p:cNvSpPr>
              <p:nvPr/>
            </p:nvSpPr>
            <p:spPr bwMode="auto">
              <a:xfrm>
                <a:off x="4025" y="754"/>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36908" name="Line 123"/>
              <p:cNvSpPr>
                <a:spLocks noChangeShapeType="1"/>
              </p:cNvSpPr>
              <p:nvPr/>
            </p:nvSpPr>
            <p:spPr bwMode="auto">
              <a:xfrm>
                <a:off x="4886" y="754"/>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36909" name="Line 124"/>
              <p:cNvSpPr>
                <a:spLocks noChangeShapeType="1"/>
              </p:cNvSpPr>
              <p:nvPr/>
            </p:nvSpPr>
            <p:spPr bwMode="auto">
              <a:xfrm>
                <a:off x="4649" y="754"/>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36910" name="Text Box 125"/>
              <p:cNvSpPr txBox="1">
                <a:spLocks noChangeArrowheads="1"/>
              </p:cNvSpPr>
              <p:nvPr/>
            </p:nvSpPr>
            <p:spPr bwMode="auto">
              <a:xfrm>
                <a:off x="3037" y="527"/>
                <a:ext cx="1721" cy="233"/>
              </a:xfrm>
              <a:prstGeom prst="rect">
                <a:avLst/>
              </a:prstGeom>
              <a:noFill/>
              <a:ln w="12700" cap="sq">
                <a:noFill/>
                <a:miter lim="800000"/>
                <a:headEnd type="none" w="sm" len="sm"/>
                <a:tailEnd type="none" w="sm" len="sm"/>
              </a:ln>
            </p:spPr>
            <p:txBody>
              <a:bodyPr wrap="none">
                <a:spAutoFit/>
              </a:bodyPr>
              <a:lstStyle/>
              <a:p>
                <a:r>
                  <a:rPr lang="en-US" altLang="zh-CN" b="1" dirty="0"/>
                  <a:t>0     1     2     3                   M-1</a:t>
                </a:r>
              </a:p>
            </p:txBody>
          </p:sp>
          <p:sp>
            <p:nvSpPr>
              <p:cNvPr id="36911" name="Text Box 126"/>
              <p:cNvSpPr txBox="1">
                <a:spLocks noChangeArrowheads="1"/>
              </p:cNvSpPr>
              <p:nvPr/>
            </p:nvSpPr>
            <p:spPr bwMode="auto">
              <a:xfrm>
                <a:off x="4137" y="388"/>
                <a:ext cx="262" cy="233"/>
              </a:xfrm>
              <a:prstGeom prst="rect">
                <a:avLst/>
              </a:prstGeom>
              <a:noFill/>
              <a:ln w="12700" cap="sq">
                <a:noFill/>
                <a:miter lim="800000"/>
                <a:headEnd type="none" w="sm" len="sm"/>
                <a:tailEnd type="none" w="sm" len="sm"/>
              </a:ln>
            </p:spPr>
            <p:txBody>
              <a:bodyPr wrap="none">
                <a:spAutoFit/>
              </a:bodyPr>
              <a:lstStyle/>
              <a:p>
                <a:r>
                  <a:rPr lang="zh-CN" altLang="en-US" b="1">
                    <a:solidFill>
                      <a:schemeClr val="folHlink"/>
                    </a:solidFill>
                    <a:sym typeface="Symbol" pitchFamily="18" charset="2"/>
                  </a:rPr>
                  <a:t></a:t>
                </a:r>
              </a:p>
            </p:txBody>
          </p:sp>
          <p:sp>
            <p:nvSpPr>
              <p:cNvPr id="36912" name="Text Box 127"/>
              <p:cNvSpPr txBox="1">
                <a:spLocks noChangeArrowheads="1"/>
              </p:cNvSpPr>
              <p:nvPr/>
            </p:nvSpPr>
            <p:spPr bwMode="auto">
              <a:xfrm>
                <a:off x="4139" y="661"/>
                <a:ext cx="262" cy="233"/>
              </a:xfrm>
              <a:prstGeom prst="rect">
                <a:avLst/>
              </a:prstGeom>
              <a:noFill/>
              <a:ln w="12700" cap="sq">
                <a:noFill/>
                <a:miter lim="800000"/>
                <a:headEnd type="none" w="sm" len="sm"/>
                <a:tailEnd type="none" w="sm" len="sm"/>
              </a:ln>
            </p:spPr>
            <p:txBody>
              <a:bodyPr wrap="none">
                <a:spAutoFit/>
              </a:bodyPr>
              <a:lstStyle/>
              <a:p>
                <a:r>
                  <a:rPr lang="zh-CN" altLang="en-US" b="1">
                    <a:solidFill>
                      <a:schemeClr val="folHlink"/>
                    </a:solidFill>
                    <a:sym typeface="Symbol" pitchFamily="18" charset="2"/>
                  </a:rPr>
                  <a:t></a:t>
                </a:r>
              </a:p>
            </p:txBody>
          </p:sp>
        </p:grpSp>
        <p:sp>
          <p:nvSpPr>
            <p:cNvPr id="36900" name="Text Box 129"/>
            <p:cNvSpPr txBox="1">
              <a:spLocks noChangeArrowheads="1"/>
            </p:cNvSpPr>
            <p:nvPr/>
          </p:nvSpPr>
          <p:spPr bwMode="auto">
            <a:xfrm>
              <a:off x="2940" y="572"/>
              <a:ext cx="1981" cy="269"/>
            </a:xfrm>
            <a:prstGeom prst="rect">
              <a:avLst/>
            </a:prstGeom>
            <a:noFill/>
            <a:ln w="12700" cap="sq">
              <a:noFill/>
              <a:miter lim="800000"/>
              <a:headEnd type="none" w="sm" len="sm"/>
              <a:tailEnd type="none" w="sm" len="sm"/>
            </a:ln>
          </p:spPr>
          <p:txBody>
            <a:bodyPr>
              <a:spAutoFit/>
            </a:bodyPr>
            <a:lstStyle/>
            <a:p>
              <a:r>
                <a:rPr lang="en-US" altLang="zh-CN" sz="2200" b="1">
                  <a:solidFill>
                    <a:srgbClr val="D80000"/>
                  </a:solidFill>
                </a:rPr>
                <a:t>STACK[0..M</a:t>
              </a:r>
              <a:r>
                <a:rPr lang="en-US" altLang="zh-CN" sz="2200" b="1">
                  <a:solidFill>
                    <a:srgbClr val="D80000"/>
                  </a:solidFill>
                  <a:latin typeface="宋体" charset="-122"/>
                  <a:ea typeface="宋体" charset="-122"/>
                </a:rPr>
                <a:t>-</a:t>
              </a:r>
              <a:r>
                <a:rPr lang="en-US" altLang="zh-CN" sz="2200" b="1">
                  <a:solidFill>
                    <a:srgbClr val="D80000"/>
                  </a:solidFill>
                </a:rPr>
                <a:t>1]</a:t>
              </a:r>
            </a:p>
          </p:txBody>
        </p:sp>
      </p:grpSp>
      <p:grpSp>
        <p:nvGrpSpPr>
          <p:cNvPr id="7" name="Group 157"/>
          <p:cNvGrpSpPr>
            <a:grpSpLocks/>
          </p:cNvGrpSpPr>
          <p:nvPr/>
        </p:nvGrpSpPr>
        <p:grpSpPr bwMode="auto">
          <a:xfrm>
            <a:off x="6677025" y="1281114"/>
            <a:ext cx="3405188" cy="1031875"/>
            <a:chOff x="3246" y="898"/>
            <a:chExt cx="2145" cy="650"/>
          </a:xfrm>
        </p:grpSpPr>
        <p:sp>
          <p:nvSpPr>
            <p:cNvPr id="36891" name="Rectangle 131"/>
            <p:cNvSpPr>
              <a:spLocks noChangeArrowheads="1"/>
            </p:cNvSpPr>
            <p:nvPr/>
          </p:nvSpPr>
          <p:spPr bwMode="auto">
            <a:xfrm>
              <a:off x="3246" y="906"/>
              <a:ext cx="215" cy="286"/>
            </a:xfrm>
            <a:prstGeom prst="rect">
              <a:avLst/>
            </a:prstGeom>
            <a:solidFill>
              <a:srgbClr val="DDDDDD"/>
            </a:solidFill>
            <a:ln w="12700" cap="sq">
              <a:noFill/>
              <a:miter lim="800000"/>
              <a:headEnd type="none" w="sm" len="sm"/>
              <a:tailEnd type="none" w="sm" len="sm"/>
            </a:ln>
          </p:spPr>
          <p:txBody>
            <a:bodyPr wrap="none" anchor="ctr"/>
            <a:lstStyle/>
            <a:p>
              <a:endParaRPr lang="zh-CN" altLang="en-US"/>
            </a:p>
          </p:txBody>
        </p:sp>
        <p:sp>
          <p:nvSpPr>
            <p:cNvPr id="36892" name="Rectangle 132"/>
            <p:cNvSpPr>
              <a:spLocks noChangeArrowheads="1"/>
            </p:cNvSpPr>
            <p:nvPr/>
          </p:nvSpPr>
          <p:spPr bwMode="auto">
            <a:xfrm>
              <a:off x="3500" y="904"/>
              <a:ext cx="215" cy="286"/>
            </a:xfrm>
            <a:prstGeom prst="rect">
              <a:avLst/>
            </a:prstGeom>
            <a:solidFill>
              <a:srgbClr val="DDDDDD"/>
            </a:solidFill>
            <a:ln w="12700" cap="sq">
              <a:noFill/>
              <a:miter lim="800000"/>
              <a:headEnd type="none" w="sm" len="sm"/>
              <a:tailEnd type="none" w="sm" len="sm"/>
            </a:ln>
          </p:spPr>
          <p:txBody>
            <a:bodyPr wrap="none" anchor="ctr"/>
            <a:lstStyle/>
            <a:p>
              <a:endParaRPr lang="zh-CN" altLang="en-US"/>
            </a:p>
          </p:txBody>
        </p:sp>
        <p:sp>
          <p:nvSpPr>
            <p:cNvPr id="36893" name="Rectangle 133"/>
            <p:cNvSpPr>
              <a:spLocks noChangeArrowheads="1"/>
            </p:cNvSpPr>
            <p:nvPr/>
          </p:nvSpPr>
          <p:spPr bwMode="auto">
            <a:xfrm>
              <a:off x="3758" y="904"/>
              <a:ext cx="215" cy="286"/>
            </a:xfrm>
            <a:prstGeom prst="rect">
              <a:avLst/>
            </a:prstGeom>
            <a:solidFill>
              <a:srgbClr val="DDDDDD"/>
            </a:solidFill>
            <a:ln w="12700" cap="sq">
              <a:noFill/>
              <a:miter lim="800000"/>
              <a:headEnd type="none" w="sm" len="sm"/>
              <a:tailEnd type="none" w="sm" len="sm"/>
            </a:ln>
          </p:spPr>
          <p:txBody>
            <a:bodyPr wrap="none" anchor="ctr"/>
            <a:lstStyle/>
            <a:p>
              <a:endParaRPr lang="zh-CN" altLang="en-US"/>
            </a:p>
          </p:txBody>
        </p:sp>
        <p:sp>
          <p:nvSpPr>
            <p:cNvPr id="36894" name="Rectangle 134"/>
            <p:cNvSpPr>
              <a:spLocks noChangeArrowheads="1"/>
            </p:cNvSpPr>
            <p:nvPr/>
          </p:nvSpPr>
          <p:spPr bwMode="auto">
            <a:xfrm>
              <a:off x="4009" y="898"/>
              <a:ext cx="215" cy="286"/>
            </a:xfrm>
            <a:prstGeom prst="rect">
              <a:avLst/>
            </a:prstGeom>
            <a:solidFill>
              <a:srgbClr val="DDDDDD"/>
            </a:solidFill>
            <a:ln w="12700" cap="sq">
              <a:noFill/>
              <a:miter lim="800000"/>
              <a:headEnd type="none" w="sm" len="sm"/>
              <a:tailEnd type="none" w="sm" len="sm"/>
            </a:ln>
          </p:spPr>
          <p:txBody>
            <a:bodyPr wrap="none" anchor="ctr"/>
            <a:lstStyle/>
            <a:p>
              <a:endParaRPr lang="zh-CN" altLang="en-US"/>
            </a:p>
          </p:txBody>
        </p:sp>
        <p:sp>
          <p:nvSpPr>
            <p:cNvPr id="36895" name="Rectangle 135"/>
            <p:cNvSpPr>
              <a:spLocks noChangeArrowheads="1"/>
            </p:cNvSpPr>
            <p:nvPr/>
          </p:nvSpPr>
          <p:spPr bwMode="auto">
            <a:xfrm>
              <a:off x="4875" y="904"/>
              <a:ext cx="215" cy="286"/>
            </a:xfrm>
            <a:prstGeom prst="rect">
              <a:avLst/>
            </a:prstGeom>
            <a:solidFill>
              <a:srgbClr val="DDDDDD"/>
            </a:solidFill>
            <a:ln w="12700" cap="sq">
              <a:noFill/>
              <a:miter lim="800000"/>
              <a:headEnd type="none" w="sm" len="sm"/>
              <a:tailEnd type="none" w="sm" len="sm"/>
            </a:ln>
          </p:spPr>
          <p:txBody>
            <a:bodyPr wrap="none" anchor="ctr"/>
            <a:lstStyle/>
            <a:p>
              <a:endParaRPr lang="zh-CN" altLang="en-US"/>
            </a:p>
          </p:txBody>
        </p:sp>
        <p:sp>
          <p:nvSpPr>
            <p:cNvPr id="36896" name="Rectangle 136"/>
            <p:cNvSpPr>
              <a:spLocks noChangeArrowheads="1"/>
            </p:cNvSpPr>
            <p:nvPr/>
          </p:nvSpPr>
          <p:spPr bwMode="auto">
            <a:xfrm>
              <a:off x="4259" y="904"/>
              <a:ext cx="591" cy="286"/>
            </a:xfrm>
            <a:prstGeom prst="rect">
              <a:avLst/>
            </a:prstGeom>
            <a:solidFill>
              <a:srgbClr val="DDDDDD"/>
            </a:solidFill>
            <a:ln w="12700" cap="sq">
              <a:noFill/>
              <a:miter lim="800000"/>
              <a:headEnd type="none" w="sm" len="sm"/>
              <a:tailEnd type="none" w="sm" len="sm"/>
            </a:ln>
          </p:spPr>
          <p:txBody>
            <a:bodyPr wrap="none" anchor="ctr"/>
            <a:lstStyle/>
            <a:p>
              <a:endParaRPr lang="zh-CN" altLang="en-US"/>
            </a:p>
          </p:txBody>
        </p:sp>
        <p:sp>
          <p:nvSpPr>
            <p:cNvPr id="36897" name="Rectangle 137"/>
            <p:cNvSpPr>
              <a:spLocks noChangeArrowheads="1"/>
            </p:cNvSpPr>
            <p:nvPr/>
          </p:nvSpPr>
          <p:spPr bwMode="auto">
            <a:xfrm>
              <a:off x="4802" y="1298"/>
              <a:ext cx="589" cy="250"/>
            </a:xfrm>
            <a:prstGeom prst="rect">
              <a:avLst/>
            </a:prstGeom>
            <a:noFill/>
            <a:ln w="12700" cap="sq">
              <a:noFill/>
              <a:miter lim="800000"/>
              <a:headEnd type="none" w="sm" len="sm"/>
              <a:tailEnd type="none" w="sm" len="sm"/>
            </a:ln>
          </p:spPr>
          <p:txBody>
            <a:bodyPr>
              <a:spAutoFit/>
            </a:bodyPr>
            <a:lstStyle/>
            <a:p>
              <a:r>
                <a:rPr kumimoji="1" lang="en-US" altLang="zh-CN" sz="2000" b="1">
                  <a:solidFill>
                    <a:srgbClr val="FF0000"/>
                  </a:solidFill>
                </a:rPr>
                <a:t>top</a:t>
              </a:r>
              <a:endParaRPr kumimoji="1" lang="zh-CN" altLang="en-US" sz="2000" b="1">
                <a:solidFill>
                  <a:srgbClr val="FF0000"/>
                </a:solidFill>
              </a:endParaRPr>
            </a:p>
          </p:txBody>
        </p:sp>
        <p:sp>
          <p:nvSpPr>
            <p:cNvPr id="36898" name="Line 138"/>
            <p:cNvSpPr>
              <a:spLocks noChangeShapeType="1"/>
            </p:cNvSpPr>
            <p:nvPr/>
          </p:nvSpPr>
          <p:spPr bwMode="auto">
            <a:xfrm flipV="1">
              <a:off x="4959" y="1239"/>
              <a:ext cx="0" cy="136"/>
            </a:xfrm>
            <a:prstGeom prst="line">
              <a:avLst/>
            </a:prstGeom>
            <a:noFill/>
            <a:ln w="25400" cap="sq">
              <a:solidFill>
                <a:srgbClr val="FF0000"/>
              </a:solidFill>
              <a:round/>
              <a:headEnd type="none" w="sm" len="sm"/>
              <a:tailEnd type="triangle" w="med" len="lg"/>
            </a:ln>
          </p:spPr>
          <p:txBody>
            <a:bodyPr/>
            <a:lstStyle/>
            <a:p>
              <a:endParaRPr lang="zh-CN" altLang="en-US"/>
            </a:p>
          </p:txBody>
        </p:sp>
      </p:grpSp>
      <p:grpSp>
        <p:nvGrpSpPr>
          <p:cNvPr id="8" name="Group 158"/>
          <p:cNvGrpSpPr>
            <a:grpSpLocks/>
          </p:cNvGrpSpPr>
          <p:nvPr/>
        </p:nvGrpSpPr>
        <p:grpSpPr bwMode="auto">
          <a:xfrm>
            <a:off x="6240465" y="2192339"/>
            <a:ext cx="3402013" cy="1582737"/>
            <a:chOff x="2971" y="1381"/>
            <a:chExt cx="2143" cy="997"/>
          </a:xfrm>
        </p:grpSpPr>
        <p:grpSp>
          <p:nvGrpSpPr>
            <p:cNvPr id="9" name="Group 141"/>
            <p:cNvGrpSpPr>
              <a:grpSpLocks/>
            </p:cNvGrpSpPr>
            <p:nvPr/>
          </p:nvGrpSpPr>
          <p:grpSpPr bwMode="auto">
            <a:xfrm>
              <a:off x="3244" y="1381"/>
              <a:ext cx="1870" cy="691"/>
              <a:chOff x="3016" y="388"/>
              <a:chExt cx="1870" cy="691"/>
            </a:xfrm>
          </p:grpSpPr>
          <p:sp>
            <p:nvSpPr>
              <p:cNvPr id="36879" name="Line 142"/>
              <p:cNvSpPr>
                <a:spLocks noChangeShapeType="1"/>
              </p:cNvSpPr>
              <p:nvPr/>
            </p:nvSpPr>
            <p:spPr bwMode="auto">
              <a:xfrm>
                <a:off x="3016" y="754"/>
                <a:ext cx="1860" cy="0"/>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36880" name="Line 143"/>
              <p:cNvSpPr>
                <a:spLocks noChangeShapeType="1"/>
              </p:cNvSpPr>
              <p:nvPr/>
            </p:nvSpPr>
            <p:spPr bwMode="auto">
              <a:xfrm>
                <a:off x="3016" y="1079"/>
                <a:ext cx="1860" cy="0"/>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36881" name="Line 144"/>
              <p:cNvSpPr>
                <a:spLocks noChangeShapeType="1"/>
              </p:cNvSpPr>
              <p:nvPr/>
            </p:nvSpPr>
            <p:spPr bwMode="auto">
              <a:xfrm>
                <a:off x="3016" y="754"/>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36882" name="Line 145"/>
              <p:cNvSpPr>
                <a:spLocks noChangeShapeType="1"/>
              </p:cNvSpPr>
              <p:nvPr/>
            </p:nvSpPr>
            <p:spPr bwMode="auto">
              <a:xfrm>
                <a:off x="3264" y="754"/>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36883" name="Line 146"/>
              <p:cNvSpPr>
                <a:spLocks noChangeShapeType="1"/>
              </p:cNvSpPr>
              <p:nvPr/>
            </p:nvSpPr>
            <p:spPr bwMode="auto">
              <a:xfrm>
                <a:off x="3520" y="754"/>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36884" name="Line 147"/>
              <p:cNvSpPr>
                <a:spLocks noChangeShapeType="1"/>
              </p:cNvSpPr>
              <p:nvPr/>
            </p:nvSpPr>
            <p:spPr bwMode="auto">
              <a:xfrm>
                <a:off x="3777" y="759"/>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36885" name="Line 148"/>
              <p:cNvSpPr>
                <a:spLocks noChangeShapeType="1"/>
              </p:cNvSpPr>
              <p:nvPr/>
            </p:nvSpPr>
            <p:spPr bwMode="auto">
              <a:xfrm>
                <a:off x="4025" y="754"/>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36886" name="Line 149"/>
              <p:cNvSpPr>
                <a:spLocks noChangeShapeType="1"/>
              </p:cNvSpPr>
              <p:nvPr/>
            </p:nvSpPr>
            <p:spPr bwMode="auto">
              <a:xfrm>
                <a:off x="4886" y="754"/>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36887" name="Line 150"/>
              <p:cNvSpPr>
                <a:spLocks noChangeShapeType="1"/>
              </p:cNvSpPr>
              <p:nvPr/>
            </p:nvSpPr>
            <p:spPr bwMode="auto">
              <a:xfrm>
                <a:off x="4649" y="754"/>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36888" name="Text Box 151"/>
              <p:cNvSpPr txBox="1">
                <a:spLocks noChangeArrowheads="1"/>
              </p:cNvSpPr>
              <p:nvPr/>
            </p:nvSpPr>
            <p:spPr bwMode="auto">
              <a:xfrm>
                <a:off x="3037" y="527"/>
                <a:ext cx="1721" cy="233"/>
              </a:xfrm>
              <a:prstGeom prst="rect">
                <a:avLst/>
              </a:prstGeom>
              <a:noFill/>
              <a:ln w="12700" cap="sq">
                <a:noFill/>
                <a:miter lim="800000"/>
                <a:headEnd type="none" w="sm" len="sm"/>
                <a:tailEnd type="none" w="sm" len="sm"/>
              </a:ln>
            </p:spPr>
            <p:txBody>
              <a:bodyPr wrap="none">
                <a:spAutoFit/>
              </a:bodyPr>
              <a:lstStyle/>
              <a:p>
                <a:r>
                  <a:rPr lang="en-US" altLang="zh-CN" b="1" dirty="0"/>
                  <a:t>0     1     2     3                   M-1</a:t>
                </a:r>
              </a:p>
            </p:txBody>
          </p:sp>
          <p:sp>
            <p:nvSpPr>
              <p:cNvPr id="36889" name="Text Box 152"/>
              <p:cNvSpPr txBox="1">
                <a:spLocks noChangeArrowheads="1"/>
              </p:cNvSpPr>
              <p:nvPr/>
            </p:nvSpPr>
            <p:spPr bwMode="auto">
              <a:xfrm>
                <a:off x="4137" y="388"/>
                <a:ext cx="262" cy="233"/>
              </a:xfrm>
              <a:prstGeom prst="rect">
                <a:avLst/>
              </a:prstGeom>
              <a:noFill/>
              <a:ln w="12700" cap="sq">
                <a:noFill/>
                <a:miter lim="800000"/>
                <a:headEnd type="none" w="sm" len="sm"/>
                <a:tailEnd type="none" w="sm" len="sm"/>
              </a:ln>
            </p:spPr>
            <p:txBody>
              <a:bodyPr wrap="none">
                <a:spAutoFit/>
              </a:bodyPr>
              <a:lstStyle/>
              <a:p>
                <a:r>
                  <a:rPr lang="zh-CN" altLang="en-US" b="1">
                    <a:solidFill>
                      <a:schemeClr val="folHlink"/>
                    </a:solidFill>
                    <a:sym typeface="Symbol" pitchFamily="18" charset="2"/>
                  </a:rPr>
                  <a:t></a:t>
                </a:r>
              </a:p>
            </p:txBody>
          </p:sp>
          <p:sp>
            <p:nvSpPr>
              <p:cNvPr id="36890" name="Text Box 153"/>
              <p:cNvSpPr txBox="1">
                <a:spLocks noChangeArrowheads="1"/>
              </p:cNvSpPr>
              <p:nvPr/>
            </p:nvSpPr>
            <p:spPr bwMode="auto">
              <a:xfrm>
                <a:off x="4139" y="661"/>
                <a:ext cx="262" cy="233"/>
              </a:xfrm>
              <a:prstGeom prst="rect">
                <a:avLst/>
              </a:prstGeom>
              <a:noFill/>
              <a:ln w="12700" cap="sq">
                <a:noFill/>
                <a:miter lim="800000"/>
                <a:headEnd type="none" w="sm" len="sm"/>
                <a:tailEnd type="none" w="sm" len="sm"/>
              </a:ln>
            </p:spPr>
            <p:txBody>
              <a:bodyPr wrap="none">
                <a:spAutoFit/>
              </a:bodyPr>
              <a:lstStyle/>
              <a:p>
                <a:r>
                  <a:rPr lang="zh-CN" altLang="en-US" b="1">
                    <a:solidFill>
                      <a:schemeClr val="folHlink"/>
                    </a:solidFill>
                    <a:sym typeface="Symbol" pitchFamily="18" charset="2"/>
                  </a:rPr>
                  <a:t></a:t>
                </a:r>
              </a:p>
            </p:txBody>
          </p:sp>
        </p:grpSp>
        <p:sp>
          <p:nvSpPr>
            <p:cNvPr id="36877" name="Line 155"/>
            <p:cNvSpPr>
              <a:spLocks noChangeShapeType="1"/>
            </p:cNvSpPr>
            <p:nvPr/>
          </p:nvSpPr>
          <p:spPr bwMode="auto">
            <a:xfrm flipV="1">
              <a:off x="3152" y="2069"/>
              <a:ext cx="0" cy="136"/>
            </a:xfrm>
            <a:prstGeom prst="line">
              <a:avLst/>
            </a:prstGeom>
            <a:noFill/>
            <a:ln w="25400" cap="sq">
              <a:solidFill>
                <a:srgbClr val="FF0000"/>
              </a:solidFill>
              <a:round/>
              <a:headEnd type="none" w="sm" len="sm"/>
              <a:tailEnd type="triangle" w="med" len="lg"/>
            </a:ln>
          </p:spPr>
          <p:txBody>
            <a:bodyPr/>
            <a:lstStyle/>
            <a:p>
              <a:endParaRPr lang="zh-CN" altLang="en-US"/>
            </a:p>
          </p:txBody>
        </p:sp>
        <p:sp>
          <p:nvSpPr>
            <p:cNvPr id="36878" name="Rectangle 156"/>
            <p:cNvSpPr>
              <a:spLocks noChangeArrowheads="1"/>
            </p:cNvSpPr>
            <p:nvPr/>
          </p:nvSpPr>
          <p:spPr bwMode="auto">
            <a:xfrm>
              <a:off x="2971" y="2128"/>
              <a:ext cx="589" cy="250"/>
            </a:xfrm>
            <a:prstGeom prst="rect">
              <a:avLst/>
            </a:prstGeom>
            <a:noFill/>
            <a:ln w="12700" cap="sq">
              <a:noFill/>
              <a:miter lim="800000"/>
              <a:headEnd type="none" w="sm" len="sm"/>
              <a:tailEnd type="none" w="sm" len="sm"/>
            </a:ln>
          </p:spPr>
          <p:txBody>
            <a:bodyPr>
              <a:spAutoFit/>
            </a:bodyPr>
            <a:lstStyle/>
            <a:p>
              <a:r>
                <a:rPr kumimoji="1" lang="en-US" altLang="zh-CN" sz="2000" b="1">
                  <a:solidFill>
                    <a:srgbClr val="FF0000"/>
                  </a:solidFill>
                </a:rPr>
                <a:t>top</a:t>
              </a:r>
              <a:endParaRPr kumimoji="1" lang="zh-CN" altLang="en-US" sz="2000" b="1">
                <a:solidFill>
                  <a:srgbClr val="FF0000"/>
                </a:solidFill>
              </a:endParaRPr>
            </a:p>
          </p:txBody>
        </p:sp>
      </p:grpSp>
    </p:spTree>
  </p:cSld>
  <p:clrMapOvr>
    <a:masterClrMapping/>
  </p:clrMapOvr>
  <p:transition>
    <p:push/>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 calcmode="lin" valueType="num">
                                      <p:cBhvr>
                                        <p:cTn id="9" dur="500" fill="hold"/>
                                        <p:tgtEl>
                                          <p:spTgt spid="3"/>
                                        </p:tgtEl>
                                        <p:attrNameLst>
                                          <p:attrName>ppt_x</p:attrName>
                                        </p:attrNameLst>
                                      </p:cBhvr>
                                      <p:tavLst>
                                        <p:tav tm="0">
                                          <p:val>
                                            <p:fltVal val="0.5"/>
                                          </p:val>
                                        </p:tav>
                                        <p:tav tm="100000">
                                          <p:val>
                                            <p:strVal val="#ppt_x"/>
                                          </p:val>
                                        </p:tav>
                                      </p:tavLst>
                                    </p:anim>
                                    <p:anim calcmode="lin" valueType="num">
                                      <p:cBhvr>
                                        <p:cTn id="10" dur="500" fill="hold"/>
                                        <p:tgtEl>
                                          <p:spTgt spid="3"/>
                                        </p:tgtEl>
                                        <p:attrNameLst>
                                          <p:attrName>ppt_y</p:attrName>
                                        </p:attrNameLst>
                                      </p:cBhvr>
                                      <p:tavLst>
                                        <p:tav tm="0">
                                          <p:val>
                                            <p:fltVal val="0.5"/>
                                          </p:val>
                                        </p:tav>
                                        <p:tav tm="100000">
                                          <p:val>
                                            <p:strVal val="#ppt_y"/>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2" fill="hold" grpId="0" nodeType="clickEffect">
                                  <p:stCondLst>
                                    <p:cond delay="0"/>
                                  </p:stCondLst>
                                  <p:childTnLst>
                                    <p:set>
                                      <p:cBhvr>
                                        <p:cTn id="19" dur="1" fill="hold">
                                          <p:stCondLst>
                                            <p:cond delay="0"/>
                                          </p:stCondLst>
                                        </p:cTn>
                                        <p:tgtEl>
                                          <p:spTgt spid="275461"/>
                                        </p:tgtEl>
                                        <p:attrNameLst>
                                          <p:attrName>style.visibility</p:attrName>
                                        </p:attrNameLst>
                                      </p:cBhvr>
                                      <p:to>
                                        <p:strVal val="visible"/>
                                      </p:to>
                                    </p:set>
                                    <p:animEffect transition="in" filter="wipe(right)">
                                      <p:cBhvr>
                                        <p:cTn id="20" dur="500"/>
                                        <p:tgtEl>
                                          <p:spTgt spid="27546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2" fill="hold" grpId="0" nodeType="clickEffect">
                                  <p:stCondLst>
                                    <p:cond delay="0"/>
                                  </p:stCondLst>
                                  <p:childTnLst>
                                    <p:set>
                                      <p:cBhvr>
                                        <p:cTn id="29" dur="1" fill="hold">
                                          <p:stCondLst>
                                            <p:cond delay="0"/>
                                          </p:stCondLst>
                                        </p:cTn>
                                        <p:tgtEl>
                                          <p:spTgt spid="275569"/>
                                        </p:tgtEl>
                                        <p:attrNameLst>
                                          <p:attrName>style.visibility</p:attrName>
                                        </p:attrNameLst>
                                      </p:cBhvr>
                                      <p:to>
                                        <p:strVal val="visible"/>
                                      </p:to>
                                    </p:set>
                                    <p:animEffect transition="in" filter="wipe(right)">
                                      <p:cBhvr>
                                        <p:cTn id="30" dur="500"/>
                                        <p:tgtEl>
                                          <p:spTgt spid="27556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75462"/>
                                        </p:tgtEl>
                                        <p:attrNameLst>
                                          <p:attrName>style.visibility</p:attrName>
                                        </p:attrNameLst>
                                      </p:cBhvr>
                                      <p:to>
                                        <p:strVal val="visible"/>
                                      </p:to>
                                    </p:set>
                                    <p:animEffect transition="in" filter="wipe(left)">
                                      <p:cBhvr>
                                        <p:cTn id="35" dur="500"/>
                                        <p:tgtEl>
                                          <p:spTgt spid="27546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dissolve">
                                      <p:cBhvr>
                                        <p:cTn id="40" dur="500"/>
                                        <p:tgtEl>
                                          <p:spTgt spid="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2" fill="hold" grpId="0" nodeType="clickEffect">
                                  <p:stCondLst>
                                    <p:cond delay="0"/>
                                  </p:stCondLst>
                                  <p:childTnLst>
                                    <p:set>
                                      <p:cBhvr>
                                        <p:cTn id="44" dur="1" fill="hold">
                                          <p:stCondLst>
                                            <p:cond delay="0"/>
                                          </p:stCondLst>
                                        </p:cTn>
                                        <p:tgtEl>
                                          <p:spTgt spid="275570"/>
                                        </p:tgtEl>
                                        <p:attrNameLst>
                                          <p:attrName>style.visibility</p:attrName>
                                        </p:attrNameLst>
                                      </p:cBhvr>
                                      <p:to>
                                        <p:strVal val="visible"/>
                                      </p:to>
                                    </p:set>
                                    <p:animEffect transition="in" filter="wipe(right)">
                                      <p:cBhvr>
                                        <p:cTn id="45" dur="500"/>
                                        <p:tgtEl>
                                          <p:spTgt spid="2755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461" grpId="0" autoUpdateAnimBg="0"/>
      <p:bldP spid="275462" grpId="0" autoUpdateAnimBg="0"/>
      <p:bldP spid="275569" grpId="0" autoUpdateAnimBg="0"/>
      <p:bldP spid="275570"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p:cNvSpPr>
            <a:spLocks noChangeArrowheads="1"/>
          </p:cNvSpPr>
          <p:nvPr/>
        </p:nvSpPr>
        <p:spPr bwMode="auto">
          <a:xfrm>
            <a:off x="3819525" y="1825625"/>
            <a:ext cx="5257800" cy="1905000"/>
          </a:xfrm>
          <a:prstGeom prst="rect">
            <a:avLst/>
          </a:prstGeom>
          <a:solidFill>
            <a:srgbClr val="E2E2E2"/>
          </a:solidFill>
          <a:ln w="12700" cap="sq">
            <a:noFill/>
            <a:miter lim="800000"/>
            <a:headEnd/>
            <a:tailEnd/>
          </a:ln>
          <a:effectLst>
            <a:outerShdw dist="197566" dir="2700000" algn="ctr" rotWithShape="0">
              <a:srgbClr val="C0C0C0"/>
            </a:outerShdw>
          </a:effectLst>
        </p:spPr>
        <p:txBody>
          <a:bodyPr wrap="none" anchor="ctr"/>
          <a:lstStyle/>
          <a:p>
            <a:endParaRPr lang="zh-CN" altLang="en-US"/>
          </a:p>
        </p:txBody>
      </p:sp>
      <p:sp>
        <p:nvSpPr>
          <p:cNvPr id="37891" name="Text Box 4"/>
          <p:cNvSpPr txBox="1">
            <a:spLocks noChangeArrowheads="1"/>
          </p:cNvSpPr>
          <p:nvPr/>
        </p:nvSpPr>
        <p:spPr bwMode="auto">
          <a:xfrm>
            <a:off x="4333875" y="2151064"/>
            <a:ext cx="4119076" cy="1200329"/>
          </a:xfrm>
          <a:prstGeom prst="rect">
            <a:avLst/>
          </a:prstGeom>
          <a:noFill/>
          <a:ln w="12700" cap="sq">
            <a:noFill/>
            <a:miter lim="800000"/>
            <a:headEnd/>
            <a:tailEnd/>
          </a:ln>
        </p:spPr>
        <p:txBody>
          <a:bodyPr wrap="none">
            <a:spAutoFit/>
          </a:bodyPr>
          <a:lstStyle/>
          <a:p>
            <a:pPr fontAlgn="t">
              <a:lnSpc>
                <a:spcPct val="90000"/>
              </a:lnSpc>
            </a:pPr>
            <a:r>
              <a:rPr lang="en-US" altLang="zh-CN" sz="4000" b="1" baseline="-10000" dirty="0">
                <a:solidFill>
                  <a:srgbClr val="808080"/>
                </a:solidFill>
              </a:rPr>
              <a:t>#define MAXSIZE     1000</a:t>
            </a:r>
          </a:p>
          <a:p>
            <a:pPr fontAlgn="t">
              <a:lnSpc>
                <a:spcPct val="90000"/>
              </a:lnSpc>
            </a:pPr>
            <a:r>
              <a:rPr lang="en-US" altLang="zh-CN" sz="4000" b="1" baseline="-10000" dirty="0" err="1">
                <a:solidFill>
                  <a:srgbClr val="000099"/>
                </a:solidFill>
              </a:rPr>
              <a:t>ElemType</a:t>
            </a:r>
            <a:r>
              <a:rPr lang="en-US" altLang="zh-CN" sz="4000" b="1" baseline="-10000" dirty="0">
                <a:solidFill>
                  <a:srgbClr val="000099"/>
                </a:solidFill>
              </a:rPr>
              <a:t>  STACK[MAXSIZE];</a:t>
            </a:r>
          </a:p>
          <a:p>
            <a:pPr fontAlgn="t">
              <a:lnSpc>
                <a:spcPct val="90000"/>
              </a:lnSpc>
            </a:pPr>
            <a:r>
              <a:rPr lang="en-US" altLang="zh-CN" sz="4000" b="1" baseline="-10000" dirty="0" err="1">
                <a:solidFill>
                  <a:srgbClr val="000099"/>
                </a:solidFill>
              </a:rPr>
              <a:t>int</a:t>
            </a:r>
            <a:r>
              <a:rPr lang="en-US" altLang="zh-CN" sz="4000" b="1" baseline="-10000" dirty="0">
                <a:solidFill>
                  <a:srgbClr val="000099"/>
                </a:solidFill>
              </a:rPr>
              <a:t>  Top;</a:t>
            </a:r>
          </a:p>
        </p:txBody>
      </p:sp>
      <p:sp>
        <p:nvSpPr>
          <p:cNvPr id="37892" name="Oval 128"/>
          <p:cNvSpPr>
            <a:spLocks noChangeArrowheads="1"/>
          </p:cNvSpPr>
          <p:nvPr/>
        </p:nvSpPr>
        <p:spPr bwMode="auto">
          <a:xfrm rot="-383283">
            <a:off x="3071813" y="1184275"/>
            <a:ext cx="2660650" cy="609600"/>
          </a:xfrm>
          <a:prstGeom prst="ellipse">
            <a:avLst/>
          </a:prstGeom>
          <a:solidFill>
            <a:srgbClr val="CCFFFF"/>
          </a:solidFill>
          <a:ln w="12700" cap="sq">
            <a:noFill/>
            <a:round/>
            <a:headEnd type="none" w="sm" len="sm"/>
            <a:tailEnd type="none" w="sm" len="sm"/>
          </a:ln>
          <a:effectLst>
            <a:outerShdw dist="63500" dir="2212194" algn="ctr" rotWithShape="0">
              <a:srgbClr val="C0C0C0"/>
            </a:outerShdw>
          </a:effectLst>
        </p:spPr>
        <p:txBody>
          <a:bodyPr wrap="none" anchor="ctr"/>
          <a:lstStyle/>
          <a:p>
            <a:endParaRPr lang="zh-CN" altLang="en-US"/>
          </a:p>
        </p:txBody>
      </p:sp>
      <p:sp>
        <p:nvSpPr>
          <p:cNvPr id="37893" name="Text Box 129"/>
          <p:cNvSpPr txBox="1">
            <a:spLocks noChangeArrowheads="1"/>
          </p:cNvSpPr>
          <p:nvPr/>
        </p:nvSpPr>
        <p:spPr bwMode="auto">
          <a:xfrm rot="-448457">
            <a:off x="3267075" y="1052514"/>
            <a:ext cx="2216150" cy="701675"/>
          </a:xfrm>
          <a:prstGeom prst="rect">
            <a:avLst/>
          </a:prstGeom>
          <a:noFill/>
          <a:ln w="12700" cap="sq">
            <a:noFill/>
            <a:miter lim="800000"/>
            <a:headEnd/>
            <a:tailEnd/>
          </a:ln>
          <a:effectLst>
            <a:outerShdw dist="17961" dir="2700000" algn="ctr" rotWithShape="0">
              <a:schemeClr val="bg1"/>
            </a:outerShdw>
          </a:effectLst>
        </p:spPr>
        <p:txBody>
          <a:bodyPr wrap="none">
            <a:spAutoFit/>
          </a:bodyPr>
          <a:lstStyle/>
          <a:p>
            <a:pPr fontAlgn="t"/>
            <a:r>
              <a:rPr lang="zh-CN" altLang="en-US" sz="6000" b="1" baseline="-10000">
                <a:solidFill>
                  <a:srgbClr val="FF3300"/>
                </a:solidFill>
                <a:ea typeface="华文新魏" pitchFamily="2" charset="-122"/>
              </a:rPr>
              <a:t>类型定义</a:t>
            </a:r>
          </a:p>
        </p:txBody>
      </p:sp>
      <p:grpSp>
        <p:nvGrpSpPr>
          <p:cNvPr id="2" name="Group 136"/>
          <p:cNvGrpSpPr>
            <a:grpSpLocks/>
          </p:cNvGrpSpPr>
          <p:nvPr/>
        </p:nvGrpSpPr>
        <p:grpSpPr bwMode="auto">
          <a:xfrm>
            <a:off x="6311901" y="4292600"/>
            <a:ext cx="3097213" cy="609600"/>
            <a:chOff x="3016" y="2704"/>
            <a:chExt cx="1951" cy="384"/>
          </a:xfrm>
        </p:grpSpPr>
        <p:sp>
          <p:nvSpPr>
            <p:cNvPr id="169093" name="AutoShape 133"/>
            <p:cNvSpPr>
              <a:spLocks noChangeArrowheads="1"/>
            </p:cNvSpPr>
            <p:nvPr/>
          </p:nvSpPr>
          <p:spPr bwMode="auto">
            <a:xfrm>
              <a:off x="3016" y="2704"/>
              <a:ext cx="1584" cy="384"/>
            </a:xfrm>
            <a:prstGeom prst="wedgeRectCallout">
              <a:avLst>
                <a:gd name="adj1" fmla="val -65343"/>
                <a:gd name="adj2" fmla="val -178125"/>
              </a:avLst>
            </a:prstGeom>
            <a:noFill/>
            <a:ln w="63500" cap="sq">
              <a:solidFill>
                <a:srgbClr val="33CCCC"/>
              </a:solidFill>
              <a:miter lim="800000"/>
              <a:headEnd type="none" w="sm" len="sm"/>
              <a:tailEnd type="none" w="sm" len="sm"/>
            </a:ln>
            <a:effectLst/>
          </p:spPr>
          <p:txBody>
            <a:bodyPr/>
            <a:lstStyle/>
            <a:p>
              <a:pPr algn="ctr">
                <a:defRPr/>
              </a:pPr>
              <a:endParaRPr lang="zh-CN" altLang="en-US" sz="3700" b="1">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a typeface="黑体" pitchFamily="2" charset="-122"/>
              </a:endParaRPr>
            </a:p>
          </p:txBody>
        </p:sp>
        <p:sp>
          <p:nvSpPr>
            <p:cNvPr id="37896" name="Text Box 134"/>
            <p:cNvSpPr txBox="1">
              <a:spLocks noChangeArrowheads="1"/>
            </p:cNvSpPr>
            <p:nvPr/>
          </p:nvSpPr>
          <p:spPr bwMode="auto">
            <a:xfrm>
              <a:off x="3061" y="2742"/>
              <a:ext cx="1906" cy="308"/>
            </a:xfrm>
            <a:prstGeom prst="rect">
              <a:avLst/>
            </a:prstGeom>
            <a:noFill/>
            <a:ln w="12700" cap="sq">
              <a:noFill/>
              <a:miter lim="800000"/>
              <a:headEnd type="none" w="sm" len="sm"/>
              <a:tailEnd type="none" w="sm" len="sm"/>
            </a:ln>
            <a:effectLst>
              <a:outerShdw dist="12700" algn="ctr" rotWithShape="0">
                <a:srgbClr val="000000"/>
              </a:outerShdw>
            </a:effectLst>
          </p:spPr>
          <p:txBody>
            <a:bodyPr>
              <a:spAutoFit/>
            </a:bodyPr>
            <a:lstStyle/>
            <a:p>
              <a:r>
                <a:rPr lang="zh-CN" altLang="en-US" sz="2600" b="1" dirty="0">
                  <a:solidFill>
                    <a:srgbClr val="FF3300"/>
                  </a:solidFill>
                  <a:ea typeface="黑体" pitchFamily="2" charset="-122"/>
                </a:rPr>
                <a:t>初始时,</a:t>
              </a:r>
              <a:r>
                <a:rPr lang="en-US" altLang="zh-CN" sz="2600" b="1" dirty="0">
                  <a:solidFill>
                    <a:srgbClr val="FF3300"/>
                  </a:solidFill>
                  <a:ea typeface="黑体" pitchFamily="2" charset="-122"/>
                </a:rPr>
                <a:t>Top= </a:t>
              </a:r>
              <a:r>
                <a:rPr lang="en-US" altLang="zh-CN" sz="2600" b="1" dirty="0">
                  <a:solidFill>
                    <a:srgbClr val="FF3300"/>
                  </a:solidFill>
                  <a:ea typeface="宋体" charset="-122"/>
                  <a:cs typeface="Times New Roman" pitchFamily="18" charset="0"/>
                </a:rPr>
                <a:t>–</a:t>
              </a:r>
              <a:r>
                <a:rPr lang="en-US" altLang="zh-CN" sz="2600" b="1" dirty="0">
                  <a:solidFill>
                    <a:srgbClr val="FF3300"/>
                  </a:solidFill>
                  <a:ea typeface="黑体" pitchFamily="2" charset="-122"/>
                </a:rPr>
                <a:t>1</a:t>
              </a:r>
            </a:p>
          </p:txBody>
        </p:sp>
      </p:grpSp>
      <p:grpSp>
        <p:nvGrpSpPr>
          <p:cNvPr id="9" name="Group 136"/>
          <p:cNvGrpSpPr>
            <a:grpSpLocks/>
          </p:cNvGrpSpPr>
          <p:nvPr/>
        </p:nvGrpSpPr>
        <p:grpSpPr bwMode="auto">
          <a:xfrm>
            <a:off x="3143672" y="4869162"/>
            <a:ext cx="2736304" cy="1324511"/>
            <a:chOff x="3016" y="2704"/>
            <a:chExt cx="1584" cy="607"/>
          </a:xfrm>
        </p:grpSpPr>
        <p:sp>
          <p:nvSpPr>
            <p:cNvPr id="10" name="AutoShape 133"/>
            <p:cNvSpPr>
              <a:spLocks noChangeArrowheads="1"/>
            </p:cNvSpPr>
            <p:nvPr/>
          </p:nvSpPr>
          <p:spPr bwMode="auto">
            <a:xfrm>
              <a:off x="3016" y="2704"/>
              <a:ext cx="1584" cy="561"/>
            </a:xfrm>
            <a:prstGeom prst="wedgeRectCallout">
              <a:avLst>
                <a:gd name="adj1" fmla="val 22969"/>
                <a:gd name="adj2" fmla="val -140923"/>
              </a:avLst>
            </a:prstGeom>
            <a:noFill/>
            <a:ln w="63500" cap="sq">
              <a:solidFill>
                <a:srgbClr val="33CCCC"/>
              </a:solidFill>
              <a:miter lim="800000"/>
              <a:headEnd type="none" w="sm" len="sm"/>
              <a:tailEnd type="none" w="sm" len="sm"/>
            </a:ln>
            <a:effectLst/>
          </p:spPr>
          <p:txBody>
            <a:bodyPr/>
            <a:lstStyle/>
            <a:p>
              <a:pPr algn="ctr">
                <a:defRPr/>
              </a:pPr>
              <a:endParaRPr lang="zh-CN" altLang="en-US" sz="3700" b="1">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a typeface="黑体" pitchFamily="2" charset="-122"/>
              </a:endParaRPr>
            </a:p>
          </p:txBody>
        </p:sp>
        <p:sp>
          <p:nvSpPr>
            <p:cNvPr id="11" name="Text Box 134"/>
            <p:cNvSpPr txBox="1">
              <a:spLocks noChangeArrowheads="1"/>
            </p:cNvSpPr>
            <p:nvPr/>
          </p:nvSpPr>
          <p:spPr bwMode="auto">
            <a:xfrm>
              <a:off x="3016" y="2704"/>
              <a:ext cx="1542" cy="607"/>
            </a:xfrm>
            <a:prstGeom prst="rect">
              <a:avLst/>
            </a:prstGeom>
            <a:noFill/>
            <a:ln w="12700" cap="sq">
              <a:noFill/>
              <a:miter lim="800000"/>
              <a:headEnd type="none" w="sm" len="sm"/>
              <a:tailEnd type="none" w="sm" len="sm"/>
            </a:ln>
            <a:effectLst>
              <a:outerShdw dist="12700" algn="ctr" rotWithShape="0">
                <a:srgbClr val="000000"/>
              </a:outerShdw>
            </a:effectLst>
          </p:spPr>
          <p:txBody>
            <a:bodyPr wrap="square">
              <a:spAutoFit/>
            </a:bodyPr>
            <a:lstStyle/>
            <a:p>
              <a:r>
                <a:rPr lang="zh-CN" altLang="en-US" sz="2000" b="1" dirty="0">
                  <a:ea typeface="黑体" pitchFamily="2" charset="-122"/>
                </a:rPr>
                <a:t>由于</a:t>
              </a:r>
              <a:r>
                <a:rPr lang="en-US" altLang="zh-CN" sz="2000" b="1" dirty="0">
                  <a:ea typeface="黑体" pitchFamily="2" charset="-122"/>
                </a:rPr>
                <a:t>Top</a:t>
              </a:r>
              <a:r>
                <a:rPr lang="zh-CN" altLang="en-US" sz="2000" b="1" dirty="0">
                  <a:ea typeface="黑体" pitchFamily="2" charset="-122"/>
                </a:rPr>
                <a:t>变量需要在多个函数间共享，为了保持函数接口简洁，在此定义为</a:t>
              </a:r>
              <a:r>
                <a:rPr lang="zh-CN" altLang="en-US" sz="2000" b="1" dirty="0">
                  <a:solidFill>
                    <a:srgbClr val="FF3300"/>
                  </a:solidFill>
                  <a:ea typeface="黑体" pitchFamily="2" charset="-122"/>
                </a:rPr>
                <a:t>全局变量。</a:t>
              </a:r>
              <a:endParaRPr lang="en-US" altLang="zh-CN" sz="2000" b="1" dirty="0">
                <a:solidFill>
                  <a:srgbClr val="FF3300"/>
                </a:solidFill>
                <a:ea typeface="黑体" pitchFamily="2" charset="-122"/>
              </a:endParaRPr>
            </a:p>
          </p:txBody>
        </p:sp>
      </p:grpSp>
    </p:spTree>
  </p:cSld>
  <p:clrMapOvr>
    <a:masterClrMapping/>
  </p:clrMapOvr>
  <p:transition>
    <p:cover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987550" y="1108075"/>
            <a:ext cx="3270250" cy="609600"/>
            <a:chOff x="218" y="698"/>
            <a:chExt cx="2060" cy="384"/>
          </a:xfrm>
        </p:grpSpPr>
        <p:sp>
          <p:nvSpPr>
            <p:cNvPr id="38946" name="Oval 3"/>
            <p:cNvSpPr>
              <a:spLocks noChangeArrowheads="1"/>
            </p:cNvSpPr>
            <p:nvPr/>
          </p:nvSpPr>
          <p:spPr bwMode="auto">
            <a:xfrm>
              <a:off x="218" y="698"/>
              <a:ext cx="1894" cy="384"/>
            </a:xfrm>
            <a:prstGeom prst="ellipse">
              <a:avLst/>
            </a:prstGeom>
            <a:solidFill>
              <a:srgbClr val="CCFFFF"/>
            </a:solidFill>
            <a:ln w="12700" cap="sq">
              <a:noFill/>
              <a:round/>
              <a:headEnd type="none" w="sm" len="sm"/>
              <a:tailEnd type="none" w="sm" len="sm"/>
            </a:ln>
            <a:effectLst>
              <a:outerShdw dist="96720" dir="1391915" algn="ctr" rotWithShape="0">
                <a:srgbClr val="C0C0C0"/>
              </a:outerShdw>
            </a:effectLst>
          </p:spPr>
          <p:txBody>
            <a:bodyPr wrap="none" anchor="ctr"/>
            <a:lstStyle/>
            <a:p>
              <a:endParaRPr lang="zh-CN" altLang="en-US"/>
            </a:p>
          </p:txBody>
        </p:sp>
        <p:sp>
          <p:nvSpPr>
            <p:cNvPr id="38947" name="Rectangle 4"/>
            <p:cNvSpPr>
              <a:spLocks noChangeArrowheads="1"/>
            </p:cNvSpPr>
            <p:nvPr/>
          </p:nvSpPr>
          <p:spPr bwMode="auto">
            <a:xfrm>
              <a:off x="288" y="720"/>
              <a:ext cx="1990" cy="346"/>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a:spAutoFit/>
            </a:bodyPr>
            <a:lstStyle/>
            <a:p>
              <a:pPr eaLnBrk="1" hangingPunct="1"/>
              <a:r>
                <a:rPr kumimoji="1" lang="zh-CN" altLang="en-US" sz="3000" b="1">
                  <a:solidFill>
                    <a:srgbClr val="FF3300"/>
                  </a:solidFill>
                </a:rPr>
                <a:t>1.  初始化堆栈</a:t>
              </a:r>
            </a:p>
          </p:txBody>
        </p:sp>
      </p:grpSp>
      <p:grpSp>
        <p:nvGrpSpPr>
          <p:cNvPr id="3" name="Group 5"/>
          <p:cNvGrpSpPr>
            <a:grpSpLocks/>
          </p:cNvGrpSpPr>
          <p:nvPr/>
        </p:nvGrpSpPr>
        <p:grpSpPr bwMode="auto">
          <a:xfrm>
            <a:off x="2693988" y="1943100"/>
            <a:ext cx="5562600" cy="1714500"/>
            <a:chOff x="576" y="1152"/>
            <a:chExt cx="3504" cy="1080"/>
          </a:xfrm>
        </p:grpSpPr>
        <p:sp>
          <p:nvSpPr>
            <p:cNvPr id="38944" name="Rectangle 6"/>
            <p:cNvSpPr>
              <a:spLocks noChangeArrowheads="1"/>
            </p:cNvSpPr>
            <p:nvPr/>
          </p:nvSpPr>
          <p:spPr bwMode="auto">
            <a:xfrm>
              <a:off x="576" y="1152"/>
              <a:ext cx="3504" cy="1080"/>
            </a:xfrm>
            <a:prstGeom prst="rect">
              <a:avLst/>
            </a:prstGeom>
            <a:solidFill>
              <a:srgbClr val="CCFFCC"/>
            </a:solidFill>
            <a:ln w="12700" cap="sq">
              <a:noFill/>
              <a:miter lim="800000"/>
              <a:headEnd type="none" w="sm" len="sm"/>
              <a:tailEnd type="none" w="sm" len="sm"/>
            </a:ln>
            <a:effectLst>
              <a:outerShdw dist="188799" dir="2536421" algn="ctr" rotWithShape="0">
                <a:srgbClr val="C0C0C0"/>
              </a:outerShdw>
            </a:effectLst>
          </p:spPr>
          <p:txBody>
            <a:bodyPr wrap="none" anchor="ctr"/>
            <a:lstStyle/>
            <a:p>
              <a:endParaRPr lang="zh-CN" altLang="en-US"/>
            </a:p>
          </p:txBody>
        </p:sp>
        <p:sp>
          <p:nvSpPr>
            <p:cNvPr id="38945" name="Text Box 7"/>
            <p:cNvSpPr txBox="1">
              <a:spLocks noChangeArrowheads="1"/>
            </p:cNvSpPr>
            <p:nvPr/>
          </p:nvSpPr>
          <p:spPr bwMode="auto">
            <a:xfrm>
              <a:off x="912" y="1258"/>
              <a:ext cx="2688" cy="842"/>
            </a:xfrm>
            <a:prstGeom prst="rect">
              <a:avLst/>
            </a:prstGeom>
            <a:noFill/>
            <a:ln w="12700" cap="sq">
              <a:noFill/>
              <a:miter lim="800000"/>
              <a:headEnd type="none" w="sm" len="sm"/>
              <a:tailEnd type="none" w="sm" len="sm"/>
            </a:ln>
          </p:spPr>
          <p:txBody>
            <a:bodyPr>
              <a:spAutoFit/>
            </a:bodyPr>
            <a:lstStyle/>
            <a:p>
              <a:pPr>
                <a:lnSpc>
                  <a:spcPct val="85000"/>
                </a:lnSpc>
              </a:pPr>
              <a:r>
                <a:rPr lang="en-US" altLang="zh-CN" sz="2400" b="1" dirty="0">
                  <a:solidFill>
                    <a:srgbClr val="000099"/>
                  </a:solidFill>
                </a:rPr>
                <a:t>void  </a:t>
              </a:r>
              <a:r>
                <a:rPr lang="en-US" altLang="zh-CN" sz="2400" b="1" dirty="0" err="1">
                  <a:solidFill>
                    <a:srgbClr val="000099"/>
                  </a:solidFill>
                </a:rPr>
                <a:t>initStack</a:t>
              </a:r>
              <a:r>
                <a:rPr lang="en-US" altLang="zh-CN" sz="2400" b="1" dirty="0">
                  <a:solidFill>
                    <a:srgbClr val="000099"/>
                  </a:solidFill>
                </a:rPr>
                <a:t>( )</a:t>
              </a:r>
            </a:p>
            <a:p>
              <a:pPr>
                <a:lnSpc>
                  <a:spcPct val="85000"/>
                </a:lnSpc>
              </a:pPr>
              <a:r>
                <a:rPr lang="en-US" altLang="zh-CN" sz="2400" b="1" dirty="0">
                  <a:solidFill>
                    <a:srgbClr val="000099"/>
                  </a:solidFill>
                </a:rPr>
                <a:t>{</a:t>
              </a:r>
            </a:p>
            <a:p>
              <a:pPr>
                <a:lnSpc>
                  <a:spcPct val="85000"/>
                </a:lnSpc>
              </a:pPr>
              <a:r>
                <a:rPr lang="en-US" altLang="zh-CN" sz="2400" b="1" dirty="0">
                  <a:solidFill>
                    <a:srgbClr val="000099"/>
                  </a:solidFill>
                </a:rPr>
                <a:t>        Top= –1;</a:t>
              </a:r>
            </a:p>
            <a:p>
              <a:pPr>
                <a:lnSpc>
                  <a:spcPct val="85000"/>
                </a:lnSpc>
              </a:pPr>
              <a:r>
                <a:rPr lang="en-US" altLang="zh-CN" sz="2400" b="1" dirty="0">
                  <a:solidFill>
                    <a:srgbClr val="000099"/>
                  </a:solidFill>
                </a:rPr>
                <a:t>}</a:t>
              </a:r>
            </a:p>
          </p:txBody>
        </p:sp>
      </p:grpSp>
      <p:grpSp>
        <p:nvGrpSpPr>
          <p:cNvPr id="4" name="Group 8"/>
          <p:cNvGrpSpPr>
            <a:grpSpLocks/>
          </p:cNvGrpSpPr>
          <p:nvPr/>
        </p:nvGrpSpPr>
        <p:grpSpPr bwMode="auto">
          <a:xfrm>
            <a:off x="2024064" y="3979863"/>
            <a:ext cx="4300537" cy="609600"/>
            <a:chOff x="229" y="2507"/>
            <a:chExt cx="2709" cy="384"/>
          </a:xfrm>
        </p:grpSpPr>
        <p:sp>
          <p:nvSpPr>
            <p:cNvPr id="38942" name="Oval 9"/>
            <p:cNvSpPr>
              <a:spLocks noChangeArrowheads="1"/>
            </p:cNvSpPr>
            <p:nvPr/>
          </p:nvSpPr>
          <p:spPr bwMode="auto">
            <a:xfrm>
              <a:off x="229" y="2507"/>
              <a:ext cx="2592" cy="384"/>
            </a:xfrm>
            <a:prstGeom prst="ellipse">
              <a:avLst/>
            </a:prstGeom>
            <a:solidFill>
              <a:srgbClr val="CCFFFF"/>
            </a:solidFill>
            <a:ln w="12700" cap="sq">
              <a:noFill/>
              <a:round/>
              <a:headEnd type="none" w="sm" len="sm"/>
              <a:tailEnd type="none" w="sm" len="sm"/>
            </a:ln>
            <a:effectLst>
              <a:outerShdw dist="96720" dir="1391915" algn="ctr" rotWithShape="0">
                <a:srgbClr val="C0C0C0"/>
              </a:outerShdw>
            </a:effectLst>
          </p:spPr>
          <p:txBody>
            <a:bodyPr wrap="none" anchor="ctr"/>
            <a:lstStyle/>
            <a:p>
              <a:endParaRPr lang="zh-CN" altLang="en-US"/>
            </a:p>
          </p:txBody>
        </p:sp>
        <p:sp>
          <p:nvSpPr>
            <p:cNvPr id="38943" name="Rectangle 10"/>
            <p:cNvSpPr>
              <a:spLocks noChangeArrowheads="1"/>
            </p:cNvSpPr>
            <p:nvPr/>
          </p:nvSpPr>
          <p:spPr bwMode="auto">
            <a:xfrm>
              <a:off x="300" y="2532"/>
              <a:ext cx="2638" cy="346"/>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a:spAutoFit/>
            </a:bodyPr>
            <a:lstStyle/>
            <a:p>
              <a:pPr eaLnBrk="1" hangingPunct="1"/>
              <a:r>
                <a:rPr kumimoji="1" lang="zh-CN" altLang="en-US" sz="3000" b="1">
                  <a:solidFill>
                    <a:srgbClr val="FF3300"/>
                  </a:solidFill>
                </a:rPr>
                <a:t>2.  测试堆栈是否为空</a:t>
              </a:r>
            </a:p>
          </p:txBody>
        </p:sp>
      </p:grpSp>
      <p:grpSp>
        <p:nvGrpSpPr>
          <p:cNvPr id="5" name="Group 30"/>
          <p:cNvGrpSpPr>
            <a:grpSpLocks/>
          </p:cNvGrpSpPr>
          <p:nvPr/>
        </p:nvGrpSpPr>
        <p:grpSpPr bwMode="auto">
          <a:xfrm>
            <a:off x="2689225" y="4648200"/>
            <a:ext cx="5638800" cy="1676400"/>
            <a:chOff x="576" y="2928"/>
            <a:chExt cx="3552" cy="1056"/>
          </a:xfrm>
        </p:grpSpPr>
        <p:sp>
          <p:nvSpPr>
            <p:cNvPr id="38940" name="Rectangle 12"/>
            <p:cNvSpPr>
              <a:spLocks noChangeArrowheads="1"/>
            </p:cNvSpPr>
            <p:nvPr/>
          </p:nvSpPr>
          <p:spPr bwMode="auto">
            <a:xfrm>
              <a:off x="576" y="2928"/>
              <a:ext cx="3552" cy="1056"/>
            </a:xfrm>
            <a:prstGeom prst="rect">
              <a:avLst/>
            </a:prstGeom>
            <a:solidFill>
              <a:srgbClr val="E6CDFF"/>
            </a:solidFill>
            <a:ln w="12700" cap="sq">
              <a:noFill/>
              <a:miter lim="800000"/>
              <a:headEnd type="none" w="sm" len="sm"/>
              <a:tailEnd type="none" w="sm" len="sm"/>
            </a:ln>
            <a:effectLst>
              <a:outerShdw dist="197566" dir="2700000" algn="ctr" rotWithShape="0">
                <a:srgbClr val="C0C0C0"/>
              </a:outerShdw>
            </a:effectLst>
          </p:spPr>
          <p:txBody>
            <a:bodyPr wrap="none" anchor="ctr"/>
            <a:lstStyle/>
            <a:p>
              <a:endParaRPr lang="zh-CN" altLang="en-US"/>
            </a:p>
          </p:txBody>
        </p:sp>
        <p:sp>
          <p:nvSpPr>
            <p:cNvPr id="38941" name="Text Box 13"/>
            <p:cNvSpPr txBox="1">
              <a:spLocks noChangeArrowheads="1"/>
            </p:cNvSpPr>
            <p:nvPr/>
          </p:nvSpPr>
          <p:spPr bwMode="auto">
            <a:xfrm>
              <a:off x="924" y="3056"/>
              <a:ext cx="2591" cy="803"/>
            </a:xfrm>
            <a:prstGeom prst="rect">
              <a:avLst/>
            </a:prstGeom>
            <a:noFill/>
            <a:ln w="12700" cap="sq">
              <a:noFill/>
              <a:miter lim="800000"/>
              <a:headEnd type="none" w="sm" len="sm"/>
              <a:tailEnd type="none" w="sm" len="sm"/>
            </a:ln>
          </p:spPr>
          <p:txBody>
            <a:bodyPr>
              <a:spAutoFit/>
            </a:bodyPr>
            <a:lstStyle/>
            <a:p>
              <a:pPr>
                <a:lnSpc>
                  <a:spcPct val="80000"/>
                </a:lnSpc>
              </a:pPr>
              <a:r>
                <a:rPr lang="en-US" altLang="zh-CN" sz="2400" b="1" dirty="0" err="1">
                  <a:solidFill>
                    <a:srgbClr val="000099"/>
                  </a:solidFill>
                </a:rPr>
                <a:t>int</a:t>
              </a:r>
              <a:r>
                <a:rPr lang="en-US" altLang="zh-CN" sz="2400" b="1" dirty="0">
                  <a:solidFill>
                    <a:srgbClr val="000099"/>
                  </a:solidFill>
                </a:rPr>
                <a:t>  </a:t>
              </a:r>
              <a:r>
                <a:rPr lang="en-US" altLang="zh-CN" sz="2400" b="1" dirty="0" err="1">
                  <a:solidFill>
                    <a:srgbClr val="000099"/>
                  </a:solidFill>
                </a:rPr>
                <a:t>isEmpty</a:t>
              </a:r>
              <a:r>
                <a:rPr lang="en-US" altLang="zh-CN" sz="2400" b="1" dirty="0">
                  <a:solidFill>
                    <a:srgbClr val="000099"/>
                  </a:solidFill>
                </a:rPr>
                <a:t>( )</a:t>
              </a:r>
            </a:p>
            <a:p>
              <a:pPr>
                <a:lnSpc>
                  <a:spcPct val="80000"/>
                </a:lnSpc>
              </a:pPr>
              <a:r>
                <a:rPr lang="en-US" altLang="zh-CN" sz="2400" b="1" dirty="0">
                  <a:solidFill>
                    <a:srgbClr val="000099"/>
                  </a:solidFill>
                </a:rPr>
                <a:t>{</a:t>
              </a:r>
            </a:p>
            <a:p>
              <a:pPr>
                <a:lnSpc>
                  <a:spcPct val="80000"/>
                </a:lnSpc>
              </a:pPr>
              <a:r>
                <a:rPr lang="en-US" altLang="zh-CN" sz="2400" b="1" dirty="0">
                  <a:solidFill>
                    <a:srgbClr val="000099"/>
                  </a:solidFill>
                </a:rPr>
                <a:t>       return Top== –1;</a:t>
              </a:r>
            </a:p>
            <a:p>
              <a:pPr>
                <a:lnSpc>
                  <a:spcPct val="80000"/>
                </a:lnSpc>
              </a:pPr>
              <a:r>
                <a:rPr lang="en-US" altLang="zh-CN" sz="2400" b="1" dirty="0">
                  <a:solidFill>
                    <a:srgbClr val="000099"/>
                  </a:solidFill>
                </a:rPr>
                <a:t>} </a:t>
              </a:r>
            </a:p>
          </p:txBody>
        </p:sp>
      </p:grpSp>
      <p:grpSp>
        <p:nvGrpSpPr>
          <p:cNvPr id="6" name="Group 14"/>
          <p:cNvGrpSpPr>
            <a:grpSpLocks/>
          </p:cNvGrpSpPr>
          <p:nvPr/>
        </p:nvGrpSpPr>
        <p:grpSpPr bwMode="auto">
          <a:xfrm>
            <a:off x="6594475" y="3933825"/>
            <a:ext cx="4038600" cy="609600"/>
            <a:chOff x="3216" y="2448"/>
            <a:chExt cx="2544" cy="384"/>
          </a:xfrm>
        </p:grpSpPr>
        <p:sp>
          <p:nvSpPr>
            <p:cNvPr id="38938" name="AutoShape 15"/>
            <p:cNvSpPr>
              <a:spLocks noChangeArrowheads="1"/>
            </p:cNvSpPr>
            <p:nvPr/>
          </p:nvSpPr>
          <p:spPr bwMode="auto">
            <a:xfrm>
              <a:off x="3216" y="2448"/>
              <a:ext cx="2160" cy="384"/>
            </a:xfrm>
            <a:prstGeom prst="wedgeRectCallout">
              <a:avLst>
                <a:gd name="adj1" fmla="val -50602"/>
                <a:gd name="adj2" fmla="val 151301"/>
              </a:avLst>
            </a:prstGeom>
            <a:noFill/>
            <a:ln w="57150" cap="sq">
              <a:solidFill>
                <a:srgbClr val="00CCFF"/>
              </a:solidFill>
              <a:miter lim="800000"/>
              <a:headEnd type="none" w="sm" len="sm"/>
              <a:tailEnd type="none" w="sm" len="sm"/>
            </a:ln>
          </p:spPr>
          <p:txBody>
            <a:bodyPr/>
            <a:lstStyle/>
            <a:p>
              <a:pPr algn="ctr"/>
              <a:endParaRPr lang="zh-CN" altLang="en-US"/>
            </a:p>
          </p:txBody>
        </p:sp>
        <p:sp>
          <p:nvSpPr>
            <p:cNvPr id="38939" name="Text Box 16"/>
            <p:cNvSpPr txBox="1">
              <a:spLocks noChangeArrowheads="1"/>
            </p:cNvSpPr>
            <p:nvPr/>
          </p:nvSpPr>
          <p:spPr bwMode="auto">
            <a:xfrm>
              <a:off x="3216" y="2524"/>
              <a:ext cx="2544" cy="298"/>
            </a:xfrm>
            <a:prstGeom prst="rect">
              <a:avLst/>
            </a:prstGeom>
            <a:noFill/>
            <a:ln w="12700" cap="sq">
              <a:noFill/>
              <a:miter lim="800000"/>
              <a:headEnd type="none" w="sm" len="sm"/>
              <a:tailEnd type="none" w="sm" len="sm"/>
            </a:ln>
          </p:spPr>
          <p:txBody>
            <a:bodyPr>
              <a:spAutoFit/>
            </a:bodyPr>
            <a:lstStyle/>
            <a:p>
              <a:r>
                <a:rPr lang="zh-CN" altLang="en-US" sz="2500" b="1">
                  <a:solidFill>
                    <a:schemeClr val="accent2"/>
                  </a:solidFill>
                  <a:ea typeface="黑体" pitchFamily="2" charset="-122"/>
                </a:rPr>
                <a:t>栈空,返回1,否则,返回0。</a:t>
              </a:r>
            </a:p>
          </p:txBody>
        </p:sp>
      </p:grpSp>
      <p:grpSp>
        <p:nvGrpSpPr>
          <p:cNvPr id="7" name="Group 27"/>
          <p:cNvGrpSpPr>
            <a:grpSpLocks/>
          </p:cNvGrpSpPr>
          <p:nvPr/>
        </p:nvGrpSpPr>
        <p:grpSpPr bwMode="auto">
          <a:xfrm>
            <a:off x="911467" y="140804"/>
            <a:ext cx="4565650" cy="565150"/>
            <a:chOff x="277" y="240"/>
            <a:chExt cx="2876" cy="356"/>
          </a:xfrm>
        </p:grpSpPr>
        <p:sp>
          <p:nvSpPr>
            <p:cNvPr id="38936" name="Rectangle 28"/>
            <p:cNvSpPr>
              <a:spLocks noChangeArrowheads="1"/>
            </p:cNvSpPr>
            <p:nvPr/>
          </p:nvSpPr>
          <p:spPr bwMode="auto">
            <a:xfrm>
              <a:off x="277" y="240"/>
              <a:ext cx="2784" cy="336"/>
            </a:xfrm>
            <a:prstGeom prst="rect">
              <a:avLst/>
            </a:prstGeom>
            <a:solidFill>
              <a:srgbClr val="FFFFB5"/>
            </a:solidFill>
            <a:ln w="12700" cap="sq">
              <a:noFill/>
              <a:miter lim="800000"/>
              <a:headEnd type="none" w="sm" len="sm"/>
              <a:tailEnd type="none" w="sm" len="sm"/>
            </a:ln>
            <a:effectLst>
              <a:outerShdw dist="71842" dir="2700000" algn="ctr" rotWithShape="0">
                <a:srgbClr val="B2B2B2"/>
              </a:outerShdw>
            </a:effectLst>
          </p:spPr>
          <p:txBody>
            <a:bodyPr wrap="none" anchor="ctr"/>
            <a:lstStyle/>
            <a:p>
              <a:endParaRPr lang="zh-CN" altLang="en-US"/>
            </a:p>
          </p:txBody>
        </p:sp>
        <p:sp>
          <p:nvSpPr>
            <p:cNvPr id="38937" name="Rectangle 29"/>
            <p:cNvSpPr>
              <a:spLocks noChangeArrowheads="1"/>
            </p:cNvSpPr>
            <p:nvPr/>
          </p:nvSpPr>
          <p:spPr bwMode="auto">
            <a:xfrm>
              <a:off x="345" y="240"/>
              <a:ext cx="2808" cy="356"/>
            </a:xfrm>
            <a:prstGeom prst="rect">
              <a:avLst/>
            </a:prstGeom>
            <a:noFill/>
            <a:ln w="12700" cap="sq">
              <a:noFill/>
              <a:miter lim="800000"/>
              <a:headEnd type="none" w="sm" len="sm"/>
              <a:tailEnd type="none" w="sm" len="sm"/>
            </a:ln>
          </p:spPr>
          <p:txBody>
            <a:bodyPr>
              <a:spAutoFit/>
            </a:bodyPr>
            <a:lstStyle/>
            <a:p>
              <a:pPr eaLnBrk="1" hangingPunct="1"/>
              <a:r>
                <a:rPr kumimoji="1" lang="en-US" altLang="zh-CN" sz="3100" b="1" dirty="0">
                  <a:solidFill>
                    <a:srgbClr val="000099"/>
                  </a:solidFill>
                </a:rPr>
                <a:t>(</a:t>
              </a:r>
              <a:r>
                <a:rPr kumimoji="1" lang="zh-CN" altLang="en-US" sz="3100" b="1" dirty="0">
                  <a:solidFill>
                    <a:srgbClr val="000099"/>
                  </a:solidFill>
                </a:rPr>
                <a:t>二</a:t>
              </a:r>
              <a:r>
                <a:rPr kumimoji="1" lang="en-US" altLang="zh-CN" sz="3100" b="1" dirty="0">
                  <a:solidFill>
                    <a:srgbClr val="000099"/>
                  </a:solidFill>
                </a:rPr>
                <a:t>)</a:t>
              </a:r>
              <a:r>
                <a:rPr kumimoji="1" lang="zh-CN" altLang="en-US" sz="3100" b="1" dirty="0">
                  <a:solidFill>
                    <a:srgbClr val="000099"/>
                  </a:solidFill>
                </a:rPr>
                <a:t>  顺序栈的基本算法</a:t>
              </a:r>
              <a:endParaRPr kumimoji="1" lang="en-US" altLang="zh-CN" sz="3100" b="1" dirty="0">
                <a:solidFill>
                  <a:srgbClr val="000099"/>
                </a:solidFill>
              </a:endParaRPr>
            </a:p>
          </p:txBody>
        </p:sp>
      </p:grpSp>
      <p:grpSp>
        <p:nvGrpSpPr>
          <p:cNvPr id="8" name="Group 31"/>
          <p:cNvGrpSpPr>
            <a:grpSpLocks/>
          </p:cNvGrpSpPr>
          <p:nvPr/>
        </p:nvGrpSpPr>
        <p:grpSpPr bwMode="auto">
          <a:xfrm>
            <a:off x="6742115" y="260350"/>
            <a:ext cx="3402013" cy="1582738"/>
            <a:chOff x="2971" y="1381"/>
            <a:chExt cx="2143" cy="997"/>
          </a:xfrm>
        </p:grpSpPr>
        <p:grpSp>
          <p:nvGrpSpPr>
            <p:cNvPr id="9" name="Group 32"/>
            <p:cNvGrpSpPr>
              <a:grpSpLocks/>
            </p:cNvGrpSpPr>
            <p:nvPr/>
          </p:nvGrpSpPr>
          <p:grpSpPr bwMode="auto">
            <a:xfrm>
              <a:off x="3244" y="1381"/>
              <a:ext cx="1870" cy="691"/>
              <a:chOff x="3016" y="388"/>
              <a:chExt cx="1870" cy="691"/>
            </a:xfrm>
          </p:grpSpPr>
          <p:sp>
            <p:nvSpPr>
              <p:cNvPr id="38924" name="Line 33"/>
              <p:cNvSpPr>
                <a:spLocks noChangeShapeType="1"/>
              </p:cNvSpPr>
              <p:nvPr/>
            </p:nvSpPr>
            <p:spPr bwMode="auto">
              <a:xfrm>
                <a:off x="3016" y="754"/>
                <a:ext cx="1860" cy="0"/>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38925" name="Line 34"/>
              <p:cNvSpPr>
                <a:spLocks noChangeShapeType="1"/>
              </p:cNvSpPr>
              <p:nvPr/>
            </p:nvSpPr>
            <p:spPr bwMode="auto">
              <a:xfrm>
                <a:off x="3016" y="1079"/>
                <a:ext cx="1860" cy="0"/>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38926" name="Line 35"/>
              <p:cNvSpPr>
                <a:spLocks noChangeShapeType="1"/>
              </p:cNvSpPr>
              <p:nvPr/>
            </p:nvSpPr>
            <p:spPr bwMode="auto">
              <a:xfrm>
                <a:off x="3016" y="754"/>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38927" name="Line 36"/>
              <p:cNvSpPr>
                <a:spLocks noChangeShapeType="1"/>
              </p:cNvSpPr>
              <p:nvPr/>
            </p:nvSpPr>
            <p:spPr bwMode="auto">
              <a:xfrm>
                <a:off x="3264" y="754"/>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38928" name="Line 37"/>
              <p:cNvSpPr>
                <a:spLocks noChangeShapeType="1"/>
              </p:cNvSpPr>
              <p:nvPr/>
            </p:nvSpPr>
            <p:spPr bwMode="auto">
              <a:xfrm>
                <a:off x="3520" y="754"/>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38929" name="Line 38"/>
              <p:cNvSpPr>
                <a:spLocks noChangeShapeType="1"/>
              </p:cNvSpPr>
              <p:nvPr/>
            </p:nvSpPr>
            <p:spPr bwMode="auto">
              <a:xfrm>
                <a:off x="3777" y="759"/>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38930" name="Line 39"/>
              <p:cNvSpPr>
                <a:spLocks noChangeShapeType="1"/>
              </p:cNvSpPr>
              <p:nvPr/>
            </p:nvSpPr>
            <p:spPr bwMode="auto">
              <a:xfrm>
                <a:off x="4025" y="754"/>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38931" name="Line 40"/>
              <p:cNvSpPr>
                <a:spLocks noChangeShapeType="1"/>
              </p:cNvSpPr>
              <p:nvPr/>
            </p:nvSpPr>
            <p:spPr bwMode="auto">
              <a:xfrm>
                <a:off x="4886" y="754"/>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38932" name="Line 41"/>
              <p:cNvSpPr>
                <a:spLocks noChangeShapeType="1"/>
              </p:cNvSpPr>
              <p:nvPr/>
            </p:nvSpPr>
            <p:spPr bwMode="auto">
              <a:xfrm>
                <a:off x="4649" y="754"/>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38933" name="Text Box 42"/>
              <p:cNvSpPr txBox="1">
                <a:spLocks noChangeArrowheads="1"/>
              </p:cNvSpPr>
              <p:nvPr/>
            </p:nvSpPr>
            <p:spPr bwMode="auto">
              <a:xfrm>
                <a:off x="3037" y="527"/>
                <a:ext cx="1721" cy="233"/>
              </a:xfrm>
              <a:prstGeom prst="rect">
                <a:avLst/>
              </a:prstGeom>
              <a:noFill/>
              <a:ln w="12700" cap="sq">
                <a:noFill/>
                <a:miter lim="800000"/>
                <a:headEnd type="none" w="sm" len="sm"/>
                <a:tailEnd type="none" w="sm" len="sm"/>
              </a:ln>
            </p:spPr>
            <p:txBody>
              <a:bodyPr wrap="none">
                <a:spAutoFit/>
              </a:bodyPr>
              <a:lstStyle/>
              <a:p>
                <a:r>
                  <a:rPr lang="en-US" altLang="zh-CN" b="1" dirty="0"/>
                  <a:t>0     1     2     3                   M-1</a:t>
                </a:r>
              </a:p>
            </p:txBody>
          </p:sp>
          <p:sp>
            <p:nvSpPr>
              <p:cNvPr id="38934" name="Text Box 43"/>
              <p:cNvSpPr txBox="1">
                <a:spLocks noChangeArrowheads="1"/>
              </p:cNvSpPr>
              <p:nvPr/>
            </p:nvSpPr>
            <p:spPr bwMode="auto">
              <a:xfrm>
                <a:off x="4137" y="388"/>
                <a:ext cx="262" cy="233"/>
              </a:xfrm>
              <a:prstGeom prst="rect">
                <a:avLst/>
              </a:prstGeom>
              <a:noFill/>
              <a:ln w="12700" cap="sq">
                <a:noFill/>
                <a:miter lim="800000"/>
                <a:headEnd type="none" w="sm" len="sm"/>
                <a:tailEnd type="none" w="sm" len="sm"/>
              </a:ln>
            </p:spPr>
            <p:txBody>
              <a:bodyPr wrap="none">
                <a:spAutoFit/>
              </a:bodyPr>
              <a:lstStyle/>
              <a:p>
                <a:r>
                  <a:rPr lang="zh-CN" altLang="en-US" b="1">
                    <a:solidFill>
                      <a:schemeClr val="folHlink"/>
                    </a:solidFill>
                    <a:sym typeface="Symbol" pitchFamily="18" charset="2"/>
                  </a:rPr>
                  <a:t></a:t>
                </a:r>
              </a:p>
            </p:txBody>
          </p:sp>
          <p:sp>
            <p:nvSpPr>
              <p:cNvPr id="38935" name="Text Box 44"/>
              <p:cNvSpPr txBox="1">
                <a:spLocks noChangeArrowheads="1"/>
              </p:cNvSpPr>
              <p:nvPr/>
            </p:nvSpPr>
            <p:spPr bwMode="auto">
              <a:xfrm>
                <a:off x="4139" y="661"/>
                <a:ext cx="262" cy="233"/>
              </a:xfrm>
              <a:prstGeom prst="rect">
                <a:avLst/>
              </a:prstGeom>
              <a:noFill/>
              <a:ln w="12700" cap="sq">
                <a:noFill/>
                <a:miter lim="800000"/>
                <a:headEnd type="none" w="sm" len="sm"/>
                <a:tailEnd type="none" w="sm" len="sm"/>
              </a:ln>
            </p:spPr>
            <p:txBody>
              <a:bodyPr wrap="none">
                <a:spAutoFit/>
              </a:bodyPr>
              <a:lstStyle/>
              <a:p>
                <a:r>
                  <a:rPr lang="zh-CN" altLang="en-US" b="1">
                    <a:solidFill>
                      <a:schemeClr val="folHlink"/>
                    </a:solidFill>
                    <a:sym typeface="Symbol" pitchFamily="18" charset="2"/>
                  </a:rPr>
                  <a:t></a:t>
                </a:r>
              </a:p>
            </p:txBody>
          </p:sp>
        </p:grpSp>
        <p:sp>
          <p:nvSpPr>
            <p:cNvPr id="38922" name="Line 45"/>
            <p:cNvSpPr>
              <a:spLocks noChangeShapeType="1"/>
            </p:cNvSpPr>
            <p:nvPr/>
          </p:nvSpPr>
          <p:spPr bwMode="auto">
            <a:xfrm flipV="1">
              <a:off x="3152" y="2069"/>
              <a:ext cx="0" cy="136"/>
            </a:xfrm>
            <a:prstGeom prst="line">
              <a:avLst/>
            </a:prstGeom>
            <a:noFill/>
            <a:ln w="25400" cap="sq">
              <a:solidFill>
                <a:srgbClr val="FF0000"/>
              </a:solidFill>
              <a:round/>
              <a:headEnd type="none" w="sm" len="sm"/>
              <a:tailEnd type="triangle" w="med" len="lg"/>
            </a:ln>
          </p:spPr>
          <p:txBody>
            <a:bodyPr/>
            <a:lstStyle/>
            <a:p>
              <a:endParaRPr lang="zh-CN" altLang="en-US"/>
            </a:p>
          </p:txBody>
        </p:sp>
        <p:sp>
          <p:nvSpPr>
            <p:cNvPr id="38923" name="Rectangle 46"/>
            <p:cNvSpPr>
              <a:spLocks noChangeArrowheads="1"/>
            </p:cNvSpPr>
            <p:nvPr/>
          </p:nvSpPr>
          <p:spPr bwMode="auto">
            <a:xfrm>
              <a:off x="2971" y="2128"/>
              <a:ext cx="589" cy="250"/>
            </a:xfrm>
            <a:prstGeom prst="rect">
              <a:avLst/>
            </a:prstGeom>
            <a:noFill/>
            <a:ln w="12700" cap="sq">
              <a:noFill/>
              <a:miter lim="800000"/>
              <a:headEnd type="none" w="sm" len="sm"/>
              <a:tailEnd type="none" w="sm" len="sm"/>
            </a:ln>
          </p:spPr>
          <p:txBody>
            <a:bodyPr>
              <a:spAutoFit/>
            </a:bodyPr>
            <a:lstStyle/>
            <a:p>
              <a:r>
                <a:rPr kumimoji="1" lang="en-US" altLang="zh-CN" sz="2000" b="1">
                  <a:solidFill>
                    <a:srgbClr val="FF0000"/>
                  </a:solidFill>
                </a:rPr>
                <a:t>top</a:t>
              </a:r>
              <a:endParaRPr kumimoji="1" lang="zh-CN" altLang="en-US" sz="2000" b="1">
                <a:solidFill>
                  <a:srgbClr val="FF0000"/>
                </a:solidFill>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right)">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ox(in)">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up)">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9"/>
          <p:cNvGrpSpPr>
            <a:grpSpLocks/>
          </p:cNvGrpSpPr>
          <p:nvPr/>
        </p:nvGrpSpPr>
        <p:grpSpPr bwMode="auto">
          <a:xfrm>
            <a:off x="2782888" y="1960563"/>
            <a:ext cx="5562600" cy="1828800"/>
            <a:chOff x="672" y="1008"/>
            <a:chExt cx="3504" cy="1152"/>
          </a:xfrm>
        </p:grpSpPr>
        <p:sp>
          <p:nvSpPr>
            <p:cNvPr id="39968" name="Rectangle 3"/>
            <p:cNvSpPr>
              <a:spLocks noChangeArrowheads="1"/>
            </p:cNvSpPr>
            <p:nvPr/>
          </p:nvSpPr>
          <p:spPr bwMode="auto">
            <a:xfrm>
              <a:off x="672" y="1008"/>
              <a:ext cx="3504" cy="1152"/>
            </a:xfrm>
            <a:prstGeom prst="rect">
              <a:avLst/>
            </a:prstGeom>
            <a:solidFill>
              <a:srgbClr val="FFDEBD"/>
            </a:solidFill>
            <a:ln w="12700" cap="sq">
              <a:noFill/>
              <a:miter lim="800000"/>
              <a:headEnd type="none" w="sm" len="sm"/>
              <a:tailEnd type="none" w="sm" len="sm"/>
            </a:ln>
            <a:effectLst>
              <a:outerShdw dist="197566" dir="2700000" algn="ctr" rotWithShape="0">
                <a:srgbClr val="C0C0C0"/>
              </a:outerShdw>
            </a:effectLst>
          </p:spPr>
          <p:txBody>
            <a:bodyPr wrap="none" anchor="ctr"/>
            <a:lstStyle/>
            <a:p>
              <a:endParaRPr lang="zh-CN" altLang="en-US"/>
            </a:p>
          </p:txBody>
        </p:sp>
        <p:sp>
          <p:nvSpPr>
            <p:cNvPr id="39969" name="Text Box 4"/>
            <p:cNvSpPr txBox="1">
              <a:spLocks noChangeArrowheads="1"/>
            </p:cNvSpPr>
            <p:nvPr/>
          </p:nvSpPr>
          <p:spPr bwMode="auto">
            <a:xfrm>
              <a:off x="998" y="1180"/>
              <a:ext cx="2653" cy="858"/>
            </a:xfrm>
            <a:prstGeom prst="rect">
              <a:avLst/>
            </a:prstGeom>
            <a:noFill/>
            <a:ln w="12700" cap="sq">
              <a:noFill/>
              <a:miter lim="800000"/>
              <a:headEnd type="none" w="sm" len="sm"/>
              <a:tailEnd type="none" w="sm" len="sm"/>
            </a:ln>
          </p:spPr>
          <p:txBody>
            <a:bodyPr>
              <a:spAutoFit/>
            </a:bodyPr>
            <a:lstStyle/>
            <a:p>
              <a:pPr>
                <a:lnSpc>
                  <a:spcPct val="80000"/>
                </a:lnSpc>
              </a:pPr>
              <a:r>
                <a:rPr lang="en-US" altLang="zh-CN" sz="2600" b="1" dirty="0" err="1">
                  <a:solidFill>
                    <a:srgbClr val="000099"/>
                  </a:solidFill>
                </a:rPr>
                <a:t>int</a:t>
              </a:r>
              <a:r>
                <a:rPr lang="en-US" altLang="zh-CN" sz="2600" b="1" dirty="0">
                  <a:solidFill>
                    <a:srgbClr val="000099"/>
                  </a:solidFill>
                </a:rPr>
                <a:t> </a:t>
              </a:r>
              <a:r>
                <a:rPr lang="en-US" altLang="zh-CN" sz="2600" b="1" dirty="0" err="1">
                  <a:solidFill>
                    <a:srgbClr val="000099"/>
                  </a:solidFill>
                </a:rPr>
                <a:t>isFull</a:t>
              </a:r>
              <a:r>
                <a:rPr lang="en-US" altLang="zh-CN" sz="2600" b="1" dirty="0">
                  <a:solidFill>
                    <a:srgbClr val="000099"/>
                  </a:solidFill>
                </a:rPr>
                <a:t>(  )</a:t>
              </a:r>
            </a:p>
            <a:p>
              <a:pPr>
                <a:lnSpc>
                  <a:spcPct val="80000"/>
                </a:lnSpc>
              </a:pPr>
              <a:r>
                <a:rPr lang="en-US" altLang="zh-CN" sz="2600" b="1" dirty="0">
                  <a:solidFill>
                    <a:srgbClr val="000099"/>
                  </a:solidFill>
                </a:rPr>
                <a:t>{</a:t>
              </a:r>
            </a:p>
            <a:p>
              <a:pPr>
                <a:lnSpc>
                  <a:spcPct val="80000"/>
                </a:lnSpc>
              </a:pPr>
              <a:r>
                <a:rPr lang="en-US" altLang="zh-CN" sz="2600" b="1" dirty="0">
                  <a:solidFill>
                    <a:srgbClr val="000099"/>
                  </a:solidFill>
                </a:rPr>
                <a:t>      return Top==MAXSIZE–1;</a:t>
              </a:r>
            </a:p>
            <a:p>
              <a:pPr>
                <a:lnSpc>
                  <a:spcPct val="80000"/>
                </a:lnSpc>
              </a:pPr>
              <a:r>
                <a:rPr lang="en-US" altLang="zh-CN" sz="2600" b="1" dirty="0">
                  <a:solidFill>
                    <a:srgbClr val="000099"/>
                  </a:solidFill>
                </a:rPr>
                <a:t>}</a:t>
              </a:r>
            </a:p>
          </p:txBody>
        </p:sp>
      </p:grpSp>
      <p:grpSp>
        <p:nvGrpSpPr>
          <p:cNvPr id="3" name="Group 23"/>
          <p:cNvGrpSpPr>
            <a:grpSpLocks/>
          </p:cNvGrpSpPr>
          <p:nvPr/>
        </p:nvGrpSpPr>
        <p:grpSpPr bwMode="auto">
          <a:xfrm>
            <a:off x="5715000" y="4264025"/>
            <a:ext cx="4038600" cy="533400"/>
            <a:chOff x="2640" y="2928"/>
            <a:chExt cx="2544" cy="336"/>
          </a:xfrm>
        </p:grpSpPr>
        <p:sp>
          <p:nvSpPr>
            <p:cNvPr id="39966" name="AutoShape 6"/>
            <p:cNvSpPr>
              <a:spLocks noChangeArrowheads="1"/>
            </p:cNvSpPr>
            <p:nvPr/>
          </p:nvSpPr>
          <p:spPr bwMode="auto">
            <a:xfrm>
              <a:off x="2640" y="2928"/>
              <a:ext cx="2160" cy="336"/>
            </a:xfrm>
            <a:prstGeom prst="wedgeRectCallout">
              <a:avLst>
                <a:gd name="adj1" fmla="val -61574"/>
                <a:gd name="adj2" fmla="val -214880"/>
              </a:avLst>
            </a:prstGeom>
            <a:noFill/>
            <a:ln w="57150" cap="sq">
              <a:solidFill>
                <a:srgbClr val="33CCCC"/>
              </a:solidFill>
              <a:miter lim="800000"/>
              <a:headEnd type="none" w="sm" len="sm"/>
              <a:tailEnd type="none" w="sm" len="sm"/>
            </a:ln>
          </p:spPr>
          <p:txBody>
            <a:bodyPr/>
            <a:lstStyle/>
            <a:p>
              <a:pPr algn="ctr"/>
              <a:endParaRPr lang="zh-CN" altLang="en-US"/>
            </a:p>
          </p:txBody>
        </p:sp>
        <p:sp>
          <p:nvSpPr>
            <p:cNvPr id="39967" name="Text Box 7"/>
            <p:cNvSpPr txBox="1">
              <a:spLocks noChangeArrowheads="1"/>
            </p:cNvSpPr>
            <p:nvPr/>
          </p:nvSpPr>
          <p:spPr bwMode="auto">
            <a:xfrm>
              <a:off x="2640" y="2956"/>
              <a:ext cx="2544" cy="298"/>
            </a:xfrm>
            <a:prstGeom prst="rect">
              <a:avLst/>
            </a:prstGeom>
            <a:noFill/>
            <a:ln w="12700" cap="sq">
              <a:noFill/>
              <a:miter lim="800000"/>
              <a:headEnd type="none" w="sm" len="sm"/>
              <a:tailEnd type="none" w="sm" len="sm"/>
            </a:ln>
            <a:effectLst>
              <a:outerShdw dist="17961" dir="2700000" algn="ctr" rotWithShape="0">
                <a:schemeClr val="bg1"/>
              </a:outerShdw>
            </a:effectLst>
          </p:spPr>
          <p:txBody>
            <a:bodyPr>
              <a:spAutoFit/>
            </a:bodyPr>
            <a:lstStyle/>
            <a:p>
              <a:r>
                <a:rPr lang="zh-CN" altLang="en-US" sz="2500" b="1">
                  <a:solidFill>
                    <a:srgbClr val="FF3300"/>
                  </a:solidFill>
                  <a:ea typeface="黑体" pitchFamily="2" charset="-122"/>
                </a:rPr>
                <a:t>栈满,返回1,否则,返回0。</a:t>
              </a:r>
            </a:p>
          </p:txBody>
        </p:sp>
      </p:grpSp>
      <p:grpSp>
        <p:nvGrpSpPr>
          <p:cNvPr id="4" name="Group 21"/>
          <p:cNvGrpSpPr>
            <a:grpSpLocks/>
          </p:cNvGrpSpPr>
          <p:nvPr/>
        </p:nvGrpSpPr>
        <p:grpSpPr bwMode="auto">
          <a:xfrm>
            <a:off x="1065213" y="97632"/>
            <a:ext cx="4498975" cy="609600"/>
            <a:chOff x="310" y="768"/>
            <a:chExt cx="2834" cy="384"/>
          </a:xfrm>
        </p:grpSpPr>
        <p:sp>
          <p:nvSpPr>
            <p:cNvPr id="39964" name="Oval 19"/>
            <p:cNvSpPr>
              <a:spLocks noChangeArrowheads="1"/>
            </p:cNvSpPr>
            <p:nvPr/>
          </p:nvSpPr>
          <p:spPr bwMode="auto">
            <a:xfrm>
              <a:off x="310" y="768"/>
              <a:ext cx="2832" cy="384"/>
            </a:xfrm>
            <a:prstGeom prst="ellipse">
              <a:avLst/>
            </a:prstGeom>
            <a:solidFill>
              <a:srgbClr val="CCFFFF"/>
            </a:solidFill>
            <a:ln w="12700" cap="sq">
              <a:noFill/>
              <a:round/>
              <a:headEnd type="none" w="sm" len="sm"/>
              <a:tailEnd type="none" w="sm" len="sm"/>
            </a:ln>
            <a:effectLst>
              <a:outerShdw dist="96720" dir="1391915" algn="ctr" rotWithShape="0">
                <a:srgbClr val="C0C0C0"/>
              </a:outerShdw>
            </a:effectLst>
          </p:spPr>
          <p:txBody>
            <a:bodyPr wrap="none" anchor="ctr"/>
            <a:lstStyle/>
            <a:p>
              <a:endParaRPr lang="zh-CN" altLang="en-US"/>
            </a:p>
          </p:txBody>
        </p:sp>
        <p:sp>
          <p:nvSpPr>
            <p:cNvPr id="39965" name="Rectangle 20"/>
            <p:cNvSpPr>
              <a:spLocks noChangeArrowheads="1"/>
            </p:cNvSpPr>
            <p:nvPr/>
          </p:nvSpPr>
          <p:spPr bwMode="auto">
            <a:xfrm>
              <a:off x="506" y="794"/>
              <a:ext cx="2638" cy="346"/>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a:spAutoFit/>
            </a:bodyPr>
            <a:lstStyle/>
            <a:p>
              <a:pPr eaLnBrk="1" hangingPunct="1"/>
              <a:r>
                <a:rPr kumimoji="1" lang="zh-CN" altLang="en-US" sz="3000" b="1">
                  <a:solidFill>
                    <a:srgbClr val="FF3300"/>
                  </a:solidFill>
                </a:rPr>
                <a:t>3.  测试堆栈是否已满</a:t>
              </a:r>
            </a:p>
          </p:txBody>
        </p:sp>
      </p:grpSp>
      <p:grpSp>
        <p:nvGrpSpPr>
          <p:cNvPr id="5" name="Group 50"/>
          <p:cNvGrpSpPr>
            <a:grpSpLocks/>
          </p:cNvGrpSpPr>
          <p:nvPr/>
        </p:nvGrpSpPr>
        <p:grpSpPr bwMode="auto">
          <a:xfrm>
            <a:off x="6924676" y="188914"/>
            <a:ext cx="3452813" cy="1296987"/>
            <a:chOff x="3154" y="300"/>
            <a:chExt cx="2175" cy="817"/>
          </a:xfrm>
        </p:grpSpPr>
        <p:sp>
          <p:nvSpPr>
            <p:cNvPr id="39951" name="Line 51"/>
            <p:cNvSpPr>
              <a:spLocks noChangeShapeType="1"/>
            </p:cNvSpPr>
            <p:nvPr/>
          </p:nvSpPr>
          <p:spPr bwMode="auto">
            <a:xfrm>
              <a:off x="3230" y="792"/>
              <a:ext cx="1860" cy="0"/>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39952" name="Line 52"/>
            <p:cNvSpPr>
              <a:spLocks noChangeShapeType="1"/>
            </p:cNvSpPr>
            <p:nvPr/>
          </p:nvSpPr>
          <p:spPr bwMode="auto">
            <a:xfrm>
              <a:off x="3230" y="1117"/>
              <a:ext cx="1860" cy="0"/>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39953" name="Line 53"/>
            <p:cNvSpPr>
              <a:spLocks noChangeShapeType="1"/>
            </p:cNvSpPr>
            <p:nvPr/>
          </p:nvSpPr>
          <p:spPr bwMode="auto">
            <a:xfrm>
              <a:off x="3230" y="792"/>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39954" name="Line 54"/>
            <p:cNvSpPr>
              <a:spLocks noChangeShapeType="1"/>
            </p:cNvSpPr>
            <p:nvPr/>
          </p:nvSpPr>
          <p:spPr bwMode="auto">
            <a:xfrm>
              <a:off x="3478" y="792"/>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39955" name="Line 55"/>
            <p:cNvSpPr>
              <a:spLocks noChangeShapeType="1"/>
            </p:cNvSpPr>
            <p:nvPr/>
          </p:nvSpPr>
          <p:spPr bwMode="auto">
            <a:xfrm>
              <a:off x="3734" y="792"/>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39956" name="Line 56"/>
            <p:cNvSpPr>
              <a:spLocks noChangeShapeType="1"/>
            </p:cNvSpPr>
            <p:nvPr/>
          </p:nvSpPr>
          <p:spPr bwMode="auto">
            <a:xfrm>
              <a:off x="3991" y="797"/>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39957" name="Line 57"/>
            <p:cNvSpPr>
              <a:spLocks noChangeShapeType="1"/>
            </p:cNvSpPr>
            <p:nvPr/>
          </p:nvSpPr>
          <p:spPr bwMode="auto">
            <a:xfrm>
              <a:off x="4239" y="792"/>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39958" name="Line 58"/>
            <p:cNvSpPr>
              <a:spLocks noChangeShapeType="1"/>
            </p:cNvSpPr>
            <p:nvPr/>
          </p:nvSpPr>
          <p:spPr bwMode="auto">
            <a:xfrm>
              <a:off x="5100" y="792"/>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39959" name="Line 59"/>
            <p:cNvSpPr>
              <a:spLocks noChangeShapeType="1"/>
            </p:cNvSpPr>
            <p:nvPr/>
          </p:nvSpPr>
          <p:spPr bwMode="auto">
            <a:xfrm>
              <a:off x="4863" y="792"/>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39960" name="Text Box 60"/>
            <p:cNvSpPr txBox="1">
              <a:spLocks noChangeArrowheads="1"/>
            </p:cNvSpPr>
            <p:nvPr/>
          </p:nvSpPr>
          <p:spPr bwMode="auto">
            <a:xfrm>
              <a:off x="3251" y="565"/>
              <a:ext cx="2078" cy="231"/>
            </a:xfrm>
            <a:prstGeom prst="rect">
              <a:avLst/>
            </a:prstGeom>
            <a:noFill/>
            <a:ln w="12700" cap="sq">
              <a:noFill/>
              <a:miter lim="800000"/>
              <a:headEnd type="none" w="sm" len="sm"/>
              <a:tailEnd type="none" w="sm" len="sm"/>
            </a:ln>
          </p:spPr>
          <p:txBody>
            <a:bodyPr>
              <a:spAutoFit/>
            </a:bodyPr>
            <a:lstStyle/>
            <a:p>
              <a:r>
                <a:rPr lang="en-US" altLang="zh-CN" b="1" dirty="0"/>
                <a:t>0     1     2     3                    M-1</a:t>
              </a:r>
            </a:p>
          </p:txBody>
        </p:sp>
        <p:sp>
          <p:nvSpPr>
            <p:cNvPr id="39961" name="Text Box 61"/>
            <p:cNvSpPr txBox="1">
              <a:spLocks noChangeArrowheads="1"/>
            </p:cNvSpPr>
            <p:nvPr/>
          </p:nvSpPr>
          <p:spPr bwMode="auto">
            <a:xfrm>
              <a:off x="4351" y="426"/>
              <a:ext cx="262" cy="233"/>
            </a:xfrm>
            <a:prstGeom prst="rect">
              <a:avLst/>
            </a:prstGeom>
            <a:noFill/>
            <a:ln w="12700" cap="sq">
              <a:noFill/>
              <a:miter lim="800000"/>
              <a:headEnd type="none" w="sm" len="sm"/>
              <a:tailEnd type="none" w="sm" len="sm"/>
            </a:ln>
          </p:spPr>
          <p:txBody>
            <a:bodyPr wrap="none">
              <a:spAutoFit/>
            </a:bodyPr>
            <a:lstStyle/>
            <a:p>
              <a:r>
                <a:rPr lang="zh-CN" altLang="en-US" b="1">
                  <a:solidFill>
                    <a:schemeClr val="folHlink"/>
                  </a:solidFill>
                  <a:sym typeface="Symbol" pitchFamily="18" charset="2"/>
                </a:rPr>
                <a:t></a:t>
              </a:r>
            </a:p>
          </p:txBody>
        </p:sp>
        <p:sp>
          <p:nvSpPr>
            <p:cNvPr id="39962" name="Text Box 62"/>
            <p:cNvSpPr txBox="1">
              <a:spLocks noChangeArrowheads="1"/>
            </p:cNvSpPr>
            <p:nvPr/>
          </p:nvSpPr>
          <p:spPr bwMode="auto">
            <a:xfrm>
              <a:off x="4353" y="699"/>
              <a:ext cx="262" cy="233"/>
            </a:xfrm>
            <a:prstGeom prst="rect">
              <a:avLst/>
            </a:prstGeom>
            <a:noFill/>
            <a:ln w="12700" cap="sq">
              <a:noFill/>
              <a:miter lim="800000"/>
              <a:headEnd type="none" w="sm" len="sm"/>
              <a:tailEnd type="none" w="sm" len="sm"/>
            </a:ln>
          </p:spPr>
          <p:txBody>
            <a:bodyPr wrap="none">
              <a:spAutoFit/>
            </a:bodyPr>
            <a:lstStyle/>
            <a:p>
              <a:r>
                <a:rPr lang="zh-CN" altLang="en-US" b="1">
                  <a:solidFill>
                    <a:schemeClr val="folHlink"/>
                  </a:solidFill>
                  <a:sym typeface="Symbol" pitchFamily="18" charset="2"/>
                </a:rPr>
                <a:t></a:t>
              </a:r>
            </a:p>
          </p:txBody>
        </p:sp>
        <p:sp>
          <p:nvSpPr>
            <p:cNvPr id="39963" name="Text Box 63"/>
            <p:cNvSpPr txBox="1">
              <a:spLocks noChangeArrowheads="1"/>
            </p:cNvSpPr>
            <p:nvPr/>
          </p:nvSpPr>
          <p:spPr bwMode="auto">
            <a:xfrm>
              <a:off x="3154" y="300"/>
              <a:ext cx="1981" cy="269"/>
            </a:xfrm>
            <a:prstGeom prst="rect">
              <a:avLst/>
            </a:prstGeom>
            <a:noFill/>
            <a:ln w="12700" cap="sq">
              <a:noFill/>
              <a:miter lim="800000"/>
              <a:headEnd type="none" w="sm" len="sm"/>
              <a:tailEnd type="none" w="sm" len="sm"/>
            </a:ln>
          </p:spPr>
          <p:txBody>
            <a:bodyPr>
              <a:spAutoFit/>
            </a:bodyPr>
            <a:lstStyle/>
            <a:p>
              <a:r>
                <a:rPr lang="en-US" altLang="zh-CN" sz="2200" b="1">
                  <a:solidFill>
                    <a:srgbClr val="D80000"/>
                  </a:solidFill>
                </a:rPr>
                <a:t>STACK[0..M</a:t>
              </a:r>
              <a:r>
                <a:rPr lang="en-US" altLang="zh-CN" sz="2200" b="1">
                  <a:solidFill>
                    <a:srgbClr val="D80000"/>
                  </a:solidFill>
                  <a:latin typeface="宋体" charset="-122"/>
                  <a:ea typeface="宋体" charset="-122"/>
                </a:rPr>
                <a:t>-</a:t>
              </a:r>
              <a:r>
                <a:rPr lang="en-US" altLang="zh-CN" sz="2200" b="1">
                  <a:solidFill>
                    <a:srgbClr val="D80000"/>
                  </a:solidFill>
                </a:rPr>
                <a:t>1]</a:t>
              </a:r>
            </a:p>
          </p:txBody>
        </p:sp>
      </p:grpSp>
      <p:grpSp>
        <p:nvGrpSpPr>
          <p:cNvPr id="6" name="Group 64"/>
          <p:cNvGrpSpPr>
            <a:grpSpLocks/>
          </p:cNvGrpSpPr>
          <p:nvPr/>
        </p:nvGrpSpPr>
        <p:grpSpPr bwMode="auto">
          <a:xfrm>
            <a:off x="7083425" y="981076"/>
            <a:ext cx="3405188" cy="1031875"/>
            <a:chOff x="3246" y="898"/>
            <a:chExt cx="2145" cy="650"/>
          </a:xfrm>
        </p:grpSpPr>
        <p:sp>
          <p:nvSpPr>
            <p:cNvPr id="39943" name="Rectangle 65"/>
            <p:cNvSpPr>
              <a:spLocks noChangeArrowheads="1"/>
            </p:cNvSpPr>
            <p:nvPr/>
          </p:nvSpPr>
          <p:spPr bwMode="auto">
            <a:xfrm>
              <a:off x="3246" y="906"/>
              <a:ext cx="215" cy="286"/>
            </a:xfrm>
            <a:prstGeom prst="rect">
              <a:avLst/>
            </a:prstGeom>
            <a:solidFill>
              <a:srgbClr val="DDDDDD"/>
            </a:solidFill>
            <a:ln w="12700" cap="sq">
              <a:noFill/>
              <a:miter lim="800000"/>
              <a:headEnd type="none" w="sm" len="sm"/>
              <a:tailEnd type="none" w="sm" len="sm"/>
            </a:ln>
          </p:spPr>
          <p:txBody>
            <a:bodyPr wrap="none" anchor="ctr"/>
            <a:lstStyle/>
            <a:p>
              <a:endParaRPr lang="zh-CN" altLang="en-US"/>
            </a:p>
          </p:txBody>
        </p:sp>
        <p:sp>
          <p:nvSpPr>
            <p:cNvPr id="39944" name="Rectangle 66"/>
            <p:cNvSpPr>
              <a:spLocks noChangeArrowheads="1"/>
            </p:cNvSpPr>
            <p:nvPr/>
          </p:nvSpPr>
          <p:spPr bwMode="auto">
            <a:xfrm>
              <a:off x="3500" y="904"/>
              <a:ext cx="215" cy="286"/>
            </a:xfrm>
            <a:prstGeom prst="rect">
              <a:avLst/>
            </a:prstGeom>
            <a:solidFill>
              <a:srgbClr val="DDDDDD"/>
            </a:solidFill>
            <a:ln w="12700" cap="sq">
              <a:noFill/>
              <a:miter lim="800000"/>
              <a:headEnd type="none" w="sm" len="sm"/>
              <a:tailEnd type="none" w="sm" len="sm"/>
            </a:ln>
          </p:spPr>
          <p:txBody>
            <a:bodyPr wrap="none" anchor="ctr"/>
            <a:lstStyle/>
            <a:p>
              <a:endParaRPr lang="zh-CN" altLang="en-US"/>
            </a:p>
          </p:txBody>
        </p:sp>
        <p:sp>
          <p:nvSpPr>
            <p:cNvPr id="39945" name="Rectangle 67"/>
            <p:cNvSpPr>
              <a:spLocks noChangeArrowheads="1"/>
            </p:cNvSpPr>
            <p:nvPr/>
          </p:nvSpPr>
          <p:spPr bwMode="auto">
            <a:xfrm>
              <a:off x="3758" y="904"/>
              <a:ext cx="215" cy="286"/>
            </a:xfrm>
            <a:prstGeom prst="rect">
              <a:avLst/>
            </a:prstGeom>
            <a:solidFill>
              <a:srgbClr val="DDDDDD"/>
            </a:solidFill>
            <a:ln w="12700" cap="sq">
              <a:noFill/>
              <a:miter lim="800000"/>
              <a:headEnd type="none" w="sm" len="sm"/>
              <a:tailEnd type="none" w="sm" len="sm"/>
            </a:ln>
          </p:spPr>
          <p:txBody>
            <a:bodyPr wrap="none" anchor="ctr"/>
            <a:lstStyle/>
            <a:p>
              <a:endParaRPr lang="zh-CN" altLang="en-US"/>
            </a:p>
          </p:txBody>
        </p:sp>
        <p:sp>
          <p:nvSpPr>
            <p:cNvPr id="39946" name="Rectangle 68"/>
            <p:cNvSpPr>
              <a:spLocks noChangeArrowheads="1"/>
            </p:cNvSpPr>
            <p:nvPr/>
          </p:nvSpPr>
          <p:spPr bwMode="auto">
            <a:xfrm>
              <a:off x="4009" y="898"/>
              <a:ext cx="215" cy="286"/>
            </a:xfrm>
            <a:prstGeom prst="rect">
              <a:avLst/>
            </a:prstGeom>
            <a:solidFill>
              <a:srgbClr val="DDDDDD"/>
            </a:solidFill>
            <a:ln w="12700" cap="sq">
              <a:noFill/>
              <a:miter lim="800000"/>
              <a:headEnd type="none" w="sm" len="sm"/>
              <a:tailEnd type="none" w="sm" len="sm"/>
            </a:ln>
          </p:spPr>
          <p:txBody>
            <a:bodyPr wrap="none" anchor="ctr"/>
            <a:lstStyle/>
            <a:p>
              <a:endParaRPr lang="zh-CN" altLang="en-US"/>
            </a:p>
          </p:txBody>
        </p:sp>
        <p:sp>
          <p:nvSpPr>
            <p:cNvPr id="39947" name="Rectangle 69"/>
            <p:cNvSpPr>
              <a:spLocks noChangeArrowheads="1"/>
            </p:cNvSpPr>
            <p:nvPr/>
          </p:nvSpPr>
          <p:spPr bwMode="auto">
            <a:xfrm>
              <a:off x="4875" y="904"/>
              <a:ext cx="215" cy="286"/>
            </a:xfrm>
            <a:prstGeom prst="rect">
              <a:avLst/>
            </a:prstGeom>
            <a:solidFill>
              <a:srgbClr val="DDDDDD"/>
            </a:solidFill>
            <a:ln w="12700" cap="sq">
              <a:noFill/>
              <a:miter lim="800000"/>
              <a:headEnd type="none" w="sm" len="sm"/>
              <a:tailEnd type="none" w="sm" len="sm"/>
            </a:ln>
          </p:spPr>
          <p:txBody>
            <a:bodyPr wrap="none" anchor="ctr"/>
            <a:lstStyle/>
            <a:p>
              <a:endParaRPr lang="zh-CN" altLang="en-US"/>
            </a:p>
          </p:txBody>
        </p:sp>
        <p:sp>
          <p:nvSpPr>
            <p:cNvPr id="39948" name="Rectangle 70"/>
            <p:cNvSpPr>
              <a:spLocks noChangeArrowheads="1"/>
            </p:cNvSpPr>
            <p:nvPr/>
          </p:nvSpPr>
          <p:spPr bwMode="auto">
            <a:xfrm>
              <a:off x="4259" y="904"/>
              <a:ext cx="591" cy="286"/>
            </a:xfrm>
            <a:prstGeom prst="rect">
              <a:avLst/>
            </a:prstGeom>
            <a:solidFill>
              <a:srgbClr val="DDDDDD"/>
            </a:solidFill>
            <a:ln w="12700" cap="sq">
              <a:noFill/>
              <a:miter lim="800000"/>
              <a:headEnd type="none" w="sm" len="sm"/>
              <a:tailEnd type="none" w="sm" len="sm"/>
            </a:ln>
          </p:spPr>
          <p:txBody>
            <a:bodyPr wrap="none" anchor="ctr"/>
            <a:lstStyle/>
            <a:p>
              <a:endParaRPr lang="zh-CN" altLang="en-US"/>
            </a:p>
          </p:txBody>
        </p:sp>
        <p:sp>
          <p:nvSpPr>
            <p:cNvPr id="39949" name="Rectangle 71"/>
            <p:cNvSpPr>
              <a:spLocks noChangeArrowheads="1"/>
            </p:cNvSpPr>
            <p:nvPr/>
          </p:nvSpPr>
          <p:spPr bwMode="auto">
            <a:xfrm>
              <a:off x="4802" y="1298"/>
              <a:ext cx="589" cy="250"/>
            </a:xfrm>
            <a:prstGeom prst="rect">
              <a:avLst/>
            </a:prstGeom>
            <a:noFill/>
            <a:ln w="12700" cap="sq">
              <a:noFill/>
              <a:miter lim="800000"/>
              <a:headEnd type="none" w="sm" len="sm"/>
              <a:tailEnd type="none" w="sm" len="sm"/>
            </a:ln>
          </p:spPr>
          <p:txBody>
            <a:bodyPr>
              <a:spAutoFit/>
            </a:bodyPr>
            <a:lstStyle/>
            <a:p>
              <a:r>
                <a:rPr kumimoji="1" lang="en-US" altLang="zh-CN" sz="2000" b="1" dirty="0">
                  <a:solidFill>
                    <a:srgbClr val="FF0000"/>
                  </a:solidFill>
                </a:rPr>
                <a:t>Top</a:t>
              </a:r>
              <a:endParaRPr kumimoji="1" lang="zh-CN" altLang="en-US" sz="2000" b="1" dirty="0">
                <a:solidFill>
                  <a:srgbClr val="FF0000"/>
                </a:solidFill>
              </a:endParaRPr>
            </a:p>
          </p:txBody>
        </p:sp>
        <p:sp>
          <p:nvSpPr>
            <p:cNvPr id="39950" name="Line 72"/>
            <p:cNvSpPr>
              <a:spLocks noChangeShapeType="1"/>
            </p:cNvSpPr>
            <p:nvPr/>
          </p:nvSpPr>
          <p:spPr bwMode="auto">
            <a:xfrm flipV="1">
              <a:off x="4959" y="1239"/>
              <a:ext cx="0" cy="136"/>
            </a:xfrm>
            <a:prstGeom prst="line">
              <a:avLst/>
            </a:prstGeom>
            <a:noFill/>
            <a:ln w="25400" cap="sq">
              <a:solidFill>
                <a:srgbClr val="FF0000"/>
              </a:solidFill>
              <a:round/>
              <a:headEnd type="none" w="sm" len="sm"/>
              <a:tailEnd type="triangle" w="med" len="lg"/>
            </a:ln>
          </p:spPr>
          <p:txBody>
            <a:bodyPr/>
            <a:lstStyle/>
            <a:p>
              <a:endParaRPr lang="zh-CN" altLang="en-US"/>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ppt_x</p:attrName>
                                        </p:attrNameLst>
                                      </p:cBhvr>
                                      <p:tavLst>
                                        <p:tav tm="0">
                                          <p:val>
                                            <p:strVal val="#ppt_x-#ppt_w/2"/>
                                          </p:val>
                                        </p:tav>
                                        <p:tav tm="100000">
                                          <p:val>
                                            <p:strVal val="#ppt_x"/>
                                          </p:val>
                                        </p:tav>
                                      </p:tavLst>
                                    </p:anim>
                                    <p:anim calcmode="lin" valueType="num">
                                      <p:cBhvr>
                                        <p:cTn id="13" dur="500" fill="hold"/>
                                        <p:tgtEl>
                                          <p:spTgt spid="2"/>
                                        </p:tgtEl>
                                        <p:attrNameLst>
                                          <p:attrName>ppt_y</p:attrName>
                                        </p:attrNameLst>
                                      </p:cBhvr>
                                      <p:tavLst>
                                        <p:tav tm="0">
                                          <p:val>
                                            <p:strVal val="#ppt_y"/>
                                          </p:val>
                                        </p:tav>
                                        <p:tav tm="100000">
                                          <p:val>
                                            <p:strVal val="#ppt_y"/>
                                          </p:val>
                                        </p:tav>
                                      </p:tavLst>
                                    </p:anim>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2"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right)">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2914650" y="1295400"/>
            <a:ext cx="5695950" cy="1390650"/>
            <a:chOff x="768" y="1248"/>
            <a:chExt cx="3588" cy="876"/>
          </a:xfrm>
        </p:grpSpPr>
        <p:sp>
          <p:nvSpPr>
            <p:cNvPr id="40980" name="Text Box 3"/>
            <p:cNvSpPr txBox="1">
              <a:spLocks noChangeArrowheads="1"/>
            </p:cNvSpPr>
            <p:nvPr/>
          </p:nvSpPr>
          <p:spPr bwMode="auto">
            <a:xfrm>
              <a:off x="852" y="1248"/>
              <a:ext cx="3504" cy="202"/>
            </a:xfrm>
            <a:prstGeom prst="rect">
              <a:avLst/>
            </a:prstGeom>
            <a:noFill/>
            <a:ln w="12700" cap="sq">
              <a:noFill/>
              <a:miter lim="800000"/>
              <a:headEnd type="none" w="sm" len="sm"/>
              <a:tailEnd type="none" w="sm" len="sm"/>
            </a:ln>
          </p:spPr>
          <p:txBody>
            <a:bodyPr>
              <a:spAutoFit/>
            </a:bodyPr>
            <a:lstStyle/>
            <a:p>
              <a:r>
                <a:rPr lang="zh-CN" altLang="en-US" sz="1500" b="1" dirty="0">
                  <a:solidFill>
                    <a:srgbClr val="000099"/>
                  </a:solidFill>
                </a:rPr>
                <a:t>0          1          2        3         </a:t>
              </a:r>
              <a:r>
                <a:rPr lang="zh-CN" altLang="en-US" sz="1500" b="1" dirty="0"/>
                <a:t>4                                                      </a:t>
              </a:r>
              <a:r>
                <a:rPr lang="en-US" altLang="zh-CN" sz="1500" b="1" dirty="0"/>
                <a:t>M</a:t>
              </a:r>
              <a:r>
                <a:rPr lang="en-US" altLang="zh-CN" sz="1500" b="1" dirty="0">
                  <a:latin typeface="宋体" charset="-122"/>
                  <a:ea typeface="宋体" charset="-122"/>
                </a:rPr>
                <a:t>-</a:t>
              </a:r>
              <a:r>
                <a:rPr lang="en-US" altLang="zh-CN" sz="1500" b="1" dirty="0"/>
                <a:t>1  </a:t>
              </a:r>
            </a:p>
          </p:txBody>
        </p:sp>
        <p:sp>
          <p:nvSpPr>
            <p:cNvPr id="40981" name="Text Box 4"/>
            <p:cNvSpPr txBox="1">
              <a:spLocks noChangeArrowheads="1"/>
            </p:cNvSpPr>
            <p:nvPr/>
          </p:nvSpPr>
          <p:spPr bwMode="auto">
            <a:xfrm>
              <a:off x="816" y="1424"/>
              <a:ext cx="228" cy="327"/>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99"/>
                  </a:solidFill>
                </a:rPr>
                <a:t>a</a:t>
              </a:r>
            </a:p>
          </p:txBody>
        </p:sp>
        <p:sp>
          <p:nvSpPr>
            <p:cNvPr id="40982" name="Text Box 5"/>
            <p:cNvSpPr txBox="1">
              <a:spLocks noChangeArrowheads="1"/>
            </p:cNvSpPr>
            <p:nvPr/>
          </p:nvSpPr>
          <p:spPr bwMode="auto">
            <a:xfrm>
              <a:off x="1824" y="1420"/>
              <a:ext cx="229" cy="33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99"/>
                  </a:solidFill>
                </a:rPr>
                <a:t>d</a:t>
              </a:r>
            </a:p>
          </p:txBody>
        </p:sp>
        <p:sp>
          <p:nvSpPr>
            <p:cNvPr id="40983" name="Text Box 6"/>
            <p:cNvSpPr txBox="1">
              <a:spLocks noChangeArrowheads="1"/>
            </p:cNvSpPr>
            <p:nvPr/>
          </p:nvSpPr>
          <p:spPr bwMode="auto">
            <a:xfrm>
              <a:off x="1536" y="1408"/>
              <a:ext cx="219" cy="33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99"/>
                  </a:solidFill>
                </a:rPr>
                <a:t>c</a:t>
              </a:r>
            </a:p>
          </p:txBody>
        </p:sp>
        <p:sp>
          <p:nvSpPr>
            <p:cNvPr id="40984" name="Text Box 7"/>
            <p:cNvSpPr txBox="1">
              <a:spLocks noChangeArrowheads="1"/>
            </p:cNvSpPr>
            <p:nvPr/>
          </p:nvSpPr>
          <p:spPr bwMode="auto">
            <a:xfrm>
              <a:off x="1164" y="1420"/>
              <a:ext cx="229" cy="33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99"/>
                  </a:solidFill>
                </a:rPr>
                <a:t>b</a:t>
              </a:r>
            </a:p>
          </p:txBody>
        </p:sp>
        <p:sp>
          <p:nvSpPr>
            <p:cNvPr id="40985" name="Text Box 8"/>
            <p:cNvSpPr txBox="1">
              <a:spLocks noChangeArrowheads="1"/>
            </p:cNvSpPr>
            <p:nvPr/>
          </p:nvSpPr>
          <p:spPr bwMode="auto">
            <a:xfrm>
              <a:off x="1968" y="1872"/>
              <a:ext cx="322" cy="252"/>
            </a:xfrm>
            <a:prstGeom prst="rect">
              <a:avLst/>
            </a:prstGeom>
            <a:noFill/>
            <a:ln w="12700" cap="sq">
              <a:noFill/>
              <a:miter lim="800000"/>
              <a:headEnd type="none" w="sm" len="sm"/>
              <a:tailEnd type="none" w="sm" len="sm"/>
            </a:ln>
          </p:spPr>
          <p:txBody>
            <a:bodyPr wrap="none">
              <a:spAutoFit/>
            </a:bodyPr>
            <a:lstStyle/>
            <a:p>
              <a:r>
                <a:rPr lang="en-US" altLang="zh-CN" sz="2000" b="1">
                  <a:solidFill>
                    <a:schemeClr val="accent2"/>
                  </a:solidFill>
                </a:rPr>
                <a:t>top</a:t>
              </a:r>
              <a:endParaRPr lang="en-US" altLang="zh-CN" sz="2000" b="1">
                <a:solidFill>
                  <a:srgbClr val="FFFF00"/>
                </a:solidFill>
              </a:endParaRPr>
            </a:p>
          </p:txBody>
        </p:sp>
        <p:sp>
          <p:nvSpPr>
            <p:cNvPr id="40986" name="Line 9"/>
            <p:cNvSpPr>
              <a:spLocks noChangeShapeType="1"/>
            </p:cNvSpPr>
            <p:nvPr/>
          </p:nvSpPr>
          <p:spPr bwMode="auto">
            <a:xfrm flipH="1" flipV="1">
              <a:off x="1992" y="1764"/>
              <a:ext cx="48" cy="144"/>
            </a:xfrm>
            <a:prstGeom prst="line">
              <a:avLst/>
            </a:prstGeom>
            <a:noFill/>
            <a:ln w="25400" cap="sq">
              <a:solidFill>
                <a:schemeClr val="accent2"/>
              </a:solidFill>
              <a:round/>
              <a:headEnd type="none" w="sm" len="sm"/>
              <a:tailEnd type="triangle" w="sm" len="sm"/>
            </a:ln>
          </p:spPr>
          <p:txBody>
            <a:bodyPr/>
            <a:lstStyle/>
            <a:p>
              <a:endParaRPr lang="zh-CN" altLang="en-US"/>
            </a:p>
          </p:txBody>
        </p:sp>
        <p:sp>
          <p:nvSpPr>
            <p:cNvPr id="40987" name="Rectangle 10"/>
            <p:cNvSpPr>
              <a:spLocks noChangeArrowheads="1"/>
            </p:cNvSpPr>
            <p:nvPr/>
          </p:nvSpPr>
          <p:spPr bwMode="auto">
            <a:xfrm>
              <a:off x="768" y="1440"/>
              <a:ext cx="336" cy="288"/>
            </a:xfrm>
            <a:prstGeom prst="rect">
              <a:avLst/>
            </a:prstGeom>
            <a:noFill/>
            <a:ln w="25400" cap="sq">
              <a:solidFill>
                <a:schemeClr val="tx1"/>
              </a:solidFill>
              <a:miter lim="800000"/>
              <a:headEnd type="none" w="sm" len="sm"/>
              <a:tailEnd type="none" w="sm" len="sm"/>
            </a:ln>
          </p:spPr>
          <p:txBody>
            <a:bodyPr wrap="none" anchor="ctr"/>
            <a:lstStyle/>
            <a:p>
              <a:endParaRPr lang="zh-CN" altLang="en-US"/>
            </a:p>
          </p:txBody>
        </p:sp>
        <p:sp>
          <p:nvSpPr>
            <p:cNvPr id="40988" name="Rectangle 11"/>
            <p:cNvSpPr>
              <a:spLocks noChangeArrowheads="1"/>
            </p:cNvSpPr>
            <p:nvPr/>
          </p:nvSpPr>
          <p:spPr bwMode="auto">
            <a:xfrm>
              <a:off x="1104" y="1440"/>
              <a:ext cx="336" cy="288"/>
            </a:xfrm>
            <a:prstGeom prst="rect">
              <a:avLst/>
            </a:prstGeom>
            <a:noFill/>
            <a:ln w="25400" cap="sq">
              <a:solidFill>
                <a:schemeClr val="tx1"/>
              </a:solidFill>
              <a:miter lim="800000"/>
              <a:headEnd type="none" w="sm" len="sm"/>
              <a:tailEnd type="none" w="sm" len="sm"/>
            </a:ln>
          </p:spPr>
          <p:txBody>
            <a:bodyPr wrap="none" anchor="ctr"/>
            <a:lstStyle/>
            <a:p>
              <a:endParaRPr lang="zh-CN" altLang="en-US"/>
            </a:p>
          </p:txBody>
        </p:sp>
        <p:sp>
          <p:nvSpPr>
            <p:cNvPr id="40989" name="Rectangle 12"/>
            <p:cNvSpPr>
              <a:spLocks noChangeArrowheads="1"/>
            </p:cNvSpPr>
            <p:nvPr/>
          </p:nvSpPr>
          <p:spPr bwMode="auto">
            <a:xfrm>
              <a:off x="1440" y="1440"/>
              <a:ext cx="336" cy="288"/>
            </a:xfrm>
            <a:prstGeom prst="rect">
              <a:avLst/>
            </a:prstGeom>
            <a:noFill/>
            <a:ln w="25400" cap="sq">
              <a:solidFill>
                <a:schemeClr val="tx1"/>
              </a:solidFill>
              <a:miter lim="800000"/>
              <a:headEnd type="none" w="sm" len="sm"/>
              <a:tailEnd type="none" w="sm" len="sm"/>
            </a:ln>
          </p:spPr>
          <p:txBody>
            <a:bodyPr wrap="none" anchor="ctr"/>
            <a:lstStyle/>
            <a:p>
              <a:endParaRPr lang="zh-CN" altLang="en-US"/>
            </a:p>
          </p:txBody>
        </p:sp>
        <p:sp>
          <p:nvSpPr>
            <p:cNvPr id="40990" name="Rectangle 13"/>
            <p:cNvSpPr>
              <a:spLocks noChangeArrowheads="1"/>
            </p:cNvSpPr>
            <p:nvPr/>
          </p:nvSpPr>
          <p:spPr bwMode="auto">
            <a:xfrm>
              <a:off x="1776" y="1440"/>
              <a:ext cx="336" cy="288"/>
            </a:xfrm>
            <a:prstGeom prst="rect">
              <a:avLst/>
            </a:prstGeom>
            <a:noFill/>
            <a:ln w="25400" cap="sq">
              <a:solidFill>
                <a:schemeClr val="tx1"/>
              </a:solidFill>
              <a:miter lim="800000"/>
              <a:headEnd type="none" w="sm" len="sm"/>
              <a:tailEnd type="none" w="sm" len="sm"/>
            </a:ln>
          </p:spPr>
          <p:txBody>
            <a:bodyPr wrap="none" anchor="ctr"/>
            <a:lstStyle/>
            <a:p>
              <a:endParaRPr lang="zh-CN" altLang="en-US"/>
            </a:p>
          </p:txBody>
        </p:sp>
        <p:sp>
          <p:nvSpPr>
            <p:cNvPr id="40991" name="Rectangle 14"/>
            <p:cNvSpPr>
              <a:spLocks noChangeArrowheads="1"/>
            </p:cNvSpPr>
            <p:nvPr/>
          </p:nvSpPr>
          <p:spPr bwMode="auto">
            <a:xfrm>
              <a:off x="2112" y="1440"/>
              <a:ext cx="336" cy="288"/>
            </a:xfrm>
            <a:prstGeom prst="rect">
              <a:avLst/>
            </a:prstGeom>
            <a:noFill/>
            <a:ln w="25400" cap="sq">
              <a:solidFill>
                <a:schemeClr val="tx1"/>
              </a:solidFill>
              <a:miter lim="800000"/>
              <a:headEnd type="none" w="sm" len="sm"/>
              <a:tailEnd type="none" w="sm" len="sm"/>
            </a:ln>
          </p:spPr>
          <p:txBody>
            <a:bodyPr wrap="none" anchor="ctr"/>
            <a:lstStyle/>
            <a:p>
              <a:endParaRPr lang="zh-CN" altLang="en-US"/>
            </a:p>
          </p:txBody>
        </p:sp>
        <p:sp>
          <p:nvSpPr>
            <p:cNvPr id="40992" name="Rectangle 15"/>
            <p:cNvSpPr>
              <a:spLocks noChangeArrowheads="1"/>
            </p:cNvSpPr>
            <p:nvPr/>
          </p:nvSpPr>
          <p:spPr bwMode="auto">
            <a:xfrm>
              <a:off x="2448" y="1440"/>
              <a:ext cx="336" cy="288"/>
            </a:xfrm>
            <a:prstGeom prst="rect">
              <a:avLst/>
            </a:prstGeom>
            <a:noFill/>
            <a:ln w="25400" cap="sq">
              <a:solidFill>
                <a:schemeClr val="tx1"/>
              </a:solidFill>
              <a:miter lim="800000"/>
              <a:headEnd type="none" w="sm" len="sm"/>
              <a:tailEnd type="none" w="sm" len="sm"/>
            </a:ln>
          </p:spPr>
          <p:txBody>
            <a:bodyPr wrap="none" anchor="ctr"/>
            <a:lstStyle/>
            <a:p>
              <a:endParaRPr lang="zh-CN" altLang="en-US"/>
            </a:p>
          </p:txBody>
        </p:sp>
        <p:sp>
          <p:nvSpPr>
            <p:cNvPr id="40993" name="Rectangle 16"/>
            <p:cNvSpPr>
              <a:spLocks noChangeArrowheads="1"/>
            </p:cNvSpPr>
            <p:nvPr/>
          </p:nvSpPr>
          <p:spPr bwMode="auto">
            <a:xfrm>
              <a:off x="3888" y="1440"/>
              <a:ext cx="336" cy="288"/>
            </a:xfrm>
            <a:prstGeom prst="rect">
              <a:avLst/>
            </a:prstGeom>
            <a:noFill/>
            <a:ln w="25400" cap="sq">
              <a:solidFill>
                <a:schemeClr val="tx1"/>
              </a:solidFill>
              <a:miter lim="800000"/>
              <a:headEnd type="none" w="sm" len="sm"/>
              <a:tailEnd type="none" w="sm" len="sm"/>
            </a:ln>
          </p:spPr>
          <p:txBody>
            <a:bodyPr wrap="none" anchor="ctr"/>
            <a:lstStyle/>
            <a:p>
              <a:endParaRPr lang="zh-CN" altLang="en-US"/>
            </a:p>
          </p:txBody>
        </p:sp>
        <p:sp>
          <p:nvSpPr>
            <p:cNvPr id="40994" name="Rectangle 17"/>
            <p:cNvSpPr>
              <a:spLocks noChangeArrowheads="1"/>
            </p:cNvSpPr>
            <p:nvPr/>
          </p:nvSpPr>
          <p:spPr bwMode="auto">
            <a:xfrm>
              <a:off x="2784" y="1440"/>
              <a:ext cx="1104" cy="288"/>
            </a:xfrm>
            <a:prstGeom prst="rect">
              <a:avLst/>
            </a:prstGeom>
            <a:noFill/>
            <a:ln w="25400" cap="sq">
              <a:solidFill>
                <a:schemeClr val="tx1"/>
              </a:solidFill>
              <a:miter lim="800000"/>
              <a:headEnd type="none" w="sm" len="sm"/>
              <a:tailEnd type="none" w="sm" len="sm"/>
            </a:ln>
          </p:spPr>
          <p:txBody>
            <a:bodyPr wrap="none" anchor="ctr"/>
            <a:lstStyle/>
            <a:p>
              <a:endParaRPr lang="zh-CN" altLang="en-US"/>
            </a:p>
          </p:txBody>
        </p:sp>
        <p:sp>
          <p:nvSpPr>
            <p:cNvPr id="40995" name="Rectangle 18"/>
            <p:cNvSpPr>
              <a:spLocks noChangeArrowheads="1"/>
            </p:cNvSpPr>
            <p:nvPr/>
          </p:nvSpPr>
          <p:spPr bwMode="auto">
            <a:xfrm>
              <a:off x="3148" y="1392"/>
              <a:ext cx="275" cy="291"/>
            </a:xfrm>
            <a:prstGeom prst="rect">
              <a:avLst/>
            </a:prstGeom>
            <a:noFill/>
            <a:ln w="12700" cap="sq">
              <a:noFill/>
              <a:miter lim="800000"/>
              <a:headEnd type="none" w="sm" len="sm"/>
              <a:tailEnd type="none" w="sm" len="sm"/>
            </a:ln>
          </p:spPr>
          <p:txBody>
            <a:bodyPr wrap="none">
              <a:spAutoFit/>
            </a:bodyPr>
            <a:lstStyle/>
            <a:p>
              <a:r>
                <a:rPr lang="zh-CN" altLang="en-US" sz="2400" b="1">
                  <a:solidFill>
                    <a:srgbClr val="000099"/>
                  </a:solidFill>
                  <a:ea typeface="宋体" charset="-122"/>
                  <a:cs typeface="Times New Roman" pitchFamily="18" charset="0"/>
                </a:rPr>
                <a:t>…</a:t>
              </a:r>
            </a:p>
          </p:txBody>
        </p:sp>
      </p:grpSp>
      <p:grpSp>
        <p:nvGrpSpPr>
          <p:cNvPr id="3" name="Group 19"/>
          <p:cNvGrpSpPr>
            <a:grpSpLocks/>
          </p:cNvGrpSpPr>
          <p:nvPr/>
        </p:nvGrpSpPr>
        <p:grpSpPr bwMode="auto">
          <a:xfrm>
            <a:off x="4667250" y="2108200"/>
            <a:ext cx="609600" cy="247650"/>
            <a:chOff x="1872" y="1764"/>
            <a:chExt cx="384" cy="156"/>
          </a:xfrm>
        </p:grpSpPr>
        <p:sp>
          <p:nvSpPr>
            <p:cNvPr id="40978" name="Rectangle 20"/>
            <p:cNvSpPr>
              <a:spLocks noChangeArrowheads="1"/>
            </p:cNvSpPr>
            <p:nvPr/>
          </p:nvSpPr>
          <p:spPr bwMode="auto">
            <a:xfrm>
              <a:off x="1872" y="1764"/>
              <a:ext cx="264" cy="156"/>
            </a:xfrm>
            <a:prstGeom prst="rect">
              <a:avLst/>
            </a:prstGeom>
            <a:solidFill>
              <a:srgbClr val="FFFFFF"/>
            </a:solidFill>
            <a:ln w="12700" cap="sq">
              <a:noFill/>
              <a:miter lim="800000"/>
              <a:headEnd type="none" w="sm" len="sm"/>
              <a:tailEnd type="none" w="sm" len="sm"/>
            </a:ln>
          </p:spPr>
          <p:txBody>
            <a:bodyPr wrap="none" anchor="ctr"/>
            <a:lstStyle/>
            <a:p>
              <a:endParaRPr lang="zh-CN" altLang="en-US"/>
            </a:p>
          </p:txBody>
        </p:sp>
        <p:sp>
          <p:nvSpPr>
            <p:cNvPr id="40979" name="Line 21"/>
            <p:cNvSpPr>
              <a:spLocks noChangeShapeType="1"/>
            </p:cNvSpPr>
            <p:nvPr/>
          </p:nvSpPr>
          <p:spPr bwMode="auto">
            <a:xfrm flipV="1">
              <a:off x="2160" y="1776"/>
              <a:ext cx="96" cy="144"/>
            </a:xfrm>
            <a:prstGeom prst="line">
              <a:avLst/>
            </a:prstGeom>
            <a:noFill/>
            <a:ln w="22225" cap="sq">
              <a:solidFill>
                <a:schemeClr val="accent2"/>
              </a:solidFill>
              <a:round/>
              <a:headEnd type="none" w="sm" len="sm"/>
              <a:tailEnd type="triangle" w="sm" len="sm"/>
            </a:ln>
          </p:spPr>
          <p:txBody>
            <a:bodyPr/>
            <a:lstStyle/>
            <a:p>
              <a:endParaRPr lang="zh-CN" altLang="en-US"/>
            </a:p>
          </p:txBody>
        </p:sp>
      </p:grpSp>
      <p:sp>
        <p:nvSpPr>
          <p:cNvPr id="258070" name="Text Box 22"/>
          <p:cNvSpPr txBox="1">
            <a:spLocks noChangeArrowheads="1"/>
          </p:cNvSpPr>
          <p:nvPr/>
        </p:nvSpPr>
        <p:spPr bwMode="auto">
          <a:xfrm>
            <a:off x="5011738" y="1676400"/>
            <a:ext cx="574196" cy="369332"/>
          </a:xfrm>
          <a:prstGeom prst="rect">
            <a:avLst/>
          </a:prstGeom>
          <a:noFill/>
          <a:ln w="12700" cap="sq">
            <a:noFill/>
            <a:miter lim="800000"/>
            <a:headEnd type="none" w="sm" len="sm"/>
            <a:tailEnd type="none" w="sm" len="sm"/>
          </a:ln>
        </p:spPr>
        <p:txBody>
          <a:bodyPr wrap="none">
            <a:spAutoFit/>
          </a:bodyPr>
          <a:lstStyle/>
          <a:p>
            <a:r>
              <a:rPr lang="en-US" altLang="zh-CN" b="1">
                <a:solidFill>
                  <a:schemeClr val="accent2"/>
                </a:solidFill>
              </a:rPr>
              <a:t>item</a:t>
            </a:r>
          </a:p>
        </p:txBody>
      </p:sp>
      <p:grpSp>
        <p:nvGrpSpPr>
          <p:cNvPr id="4" name="Group 60"/>
          <p:cNvGrpSpPr>
            <a:grpSpLocks/>
          </p:cNvGrpSpPr>
          <p:nvPr/>
        </p:nvGrpSpPr>
        <p:grpSpPr bwMode="auto">
          <a:xfrm>
            <a:off x="2406650" y="2971800"/>
            <a:ext cx="7696200" cy="3429000"/>
            <a:chOff x="384" y="1872"/>
            <a:chExt cx="4848" cy="2160"/>
          </a:xfrm>
        </p:grpSpPr>
        <p:sp>
          <p:nvSpPr>
            <p:cNvPr id="40976" name="Rectangle 24"/>
            <p:cNvSpPr>
              <a:spLocks noChangeArrowheads="1"/>
            </p:cNvSpPr>
            <p:nvPr/>
          </p:nvSpPr>
          <p:spPr bwMode="auto">
            <a:xfrm>
              <a:off x="384" y="1872"/>
              <a:ext cx="4848" cy="2160"/>
            </a:xfrm>
            <a:prstGeom prst="rect">
              <a:avLst/>
            </a:prstGeom>
            <a:solidFill>
              <a:srgbClr val="DDEEFF"/>
            </a:solidFill>
            <a:ln w="12700" cap="sq">
              <a:noFill/>
              <a:miter lim="800000"/>
              <a:headEnd type="none" w="sm" len="sm"/>
              <a:tailEnd type="none" w="sm" len="sm"/>
            </a:ln>
            <a:effectLst>
              <a:outerShdw dist="188799" dir="2536421" algn="ctr" rotWithShape="0">
                <a:srgbClr val="B2B2B2"/>
              </a:outerShdw>
            </a:effectLst>
          </p:spPr>
          <p:txBody>
            <a:bodyPr wrap="none" anchor="ctr"/>
            <a:lstStyle/>
            <a:p>
              <a:endParaRPr lang="zh-CN" altLang="en-US"/>
            </a:p>
          </p:txBody>
        </p:sp>
        <p:sp>
          <p:nvSpPr>
            <p:cNvPr id="40977" name="Rectangle 25"/>
            <p:cNvSpPr>
              <a:spLocks noChangeArrowheads="1"/>
            </p:cNvSpPr>
            <p:nvPr/>
          </p:nvSpPr>
          <p:spPr bwMode="auto">
            <a:xfrm>
              <a:off x="1481" y="3226"/>
              <a:ext cx="2407" cy="247"/>
            </a:xfrm>
            <a:prstGeom prst="rect">
              <a:avLst/>
            </a:prstGeom>
            <a:noFill/>
            <a:ln w="12700" cap="sq">
              <a:noFill/>
              <a:miter lim="800000"/>
              <a:headEnd type="none" w="sm" len="sm"/>
              <a:tailEnd type="none" w="sm" len="sm"/>
            </a:ln>
          </p:spPr>
          <p:txBody>
            <a:bodyPr>
              <a:spAutoFit/>
            </a:bodyPr>
            <a:lstStyle/>
            <a:p>
              <a:pPr eaLnBrk="1" hangingPunct="1">
                <a:lnSpc>
                  <a:spcPct val="75000"/>
                </a:lnSpc>
              </a:pPr>
              <a:r>
                <a:rPr lang="en-US" altLang="zh-CN" sz="2600" b="1" dirty="0">
                  <a:solidFill>
                    <a:schemeClr val="accent2"/>
                  </a:solidFill>
                </a:rPr>
                <a:t>s[++Top]=item；</a:t>
              </a:r>
            </a:p>
          </p:txBody>
        </p:sp>
      </p:grpSp>
      <p:grpSp>
        <p:nvGrpSpPr>
          <p:cNvPr id="5" name="Group 61"/>
          <p:cNvGrpSpPr>
            <a:grpSpLocks/>
          </p:cNvGrpSpPr>
          <p:nvPr/>
        </p:nvGrpSpPr>
        <p:grpSpPr bwMode="auto">
          <a:xfrm>
            <a:off x="1733550" y="2149476"/>
            <a:ext cx="2044700" cy="1160463"/>
            <a:chOff x="132" y="1354"/>
            <a:chExt cx="1288" cy="731"/>
          </a:xfrm>
        </p:grpSpPr>
        <p:sp>
          <p:nvSpPr>
            <p:cNvPr id="40974" name="AutoShape 27"/>
            <p:cNvSpPr>
              <a:spLocks noChangeArrowheads="1"/>
            </p:cNvSpPr>
            <p:nvPr/>
          </p:nvSpPr>
          <p:spPr bwMode="auto">
            <a:xfrm rot="1727938">
              <a:off x="203" y="1428"/>
              <a:ext cx="1056" cy="657"/>
            </a:xfrm>
            <a:prstGeom prst="irregularSeal2">
              <a:avLst/>
            </a:prstGeom>
            <a:solidFill>
              <a:srgbClr val="FF3300"/>
            </a:solidFill>
            <a:ln w="50800">
              <a:solidFill>
                <a:srgbClr val="FFFF00"/>
              </a:solidFill>
              <a:miter lim="800000"/>
              <a:headEnd type="none" w="sm" len="sm"/>
              <a:tailEnd type="none" w="sm" len="sm"/>
            </a:ln>
            <a:effectLst>
              <a:outerShdw dist="104727" dir="842175" algn="ctr" rotWithShape="0">
                <a:srgbClr val="808080"/>
              </a:outerShdw>
            </a:effectLst>
          </p:spPr>
          <p:txBody>
            <a:bodyPr wrap="none" anchor="ctr"/>
            <a:lstStyle/>
            <a:p>
              <a:endParaRPr lang="zh-CN" altLang="en-US"/>
            </a:p>
          </p:txBody>
        </p:sp>
        <p:sp>
          <p:nvSpPr>
            <p:cNvPr id="40975" name="Text Box 28"/>
            <p:cNvSpPr txBox="1">
              <a:spLocks noChangeArrowheads="1"/>
            </p:cNvSpPr>
            <p:nvPr/>
          </p:nvSpPr>
          <p:spPr bwMode="auto">
            <a:xfrm rot="-1225412">
              <a:off x="132" y="1354"/>
              <a:ext cx="1288" cy="596"/>
            </a:xfrm>
            <a:prstGeom prst="rect">
              <a:avLst/>
            </a:prstGeom>
            <a:noFill/>
            <a:ln w="12700" cap="sq">
              <a:noFill/>
              <a:miter lim="800000"/>
              <a:headEnd type="none" w="sm" len="sm"/>
              <a:tailEnd type="none" w="sm" len="sm"/>
            </a:ln>
            <a:effectLst>
              <a:outerShdw dist="56796" dir="1593903" algn="ctr" rotWithShape="0">
                <a:srgbClr val="000000"/>
              </a:outerShdw>
            </a:effectLst>
          </p:spPr>
          <p:txBody>
            <a:bodyPr>
              <a:spAutoFit/>
            </a:bodyPr>
            <a:lstStyle/>
            <a:p>
              <a:r>
                <a:rPr lang="zh-CN" altLang="en-US" sz="5600" b="1" i="1">
                  <a:solidFill>
                    <a:srgbClr val="FFFFFF"/>
                  </a:solidFill>
                  <a:ea typeface="黑体" pitchFamily="2" charset="-122"/>
                </a:rPr>
                <a:t>算法</a:t>
              </a:r>
            </a:p>
          </p:txBody>
        </p:sp>
      </p:grpSp>
      <p:sp>
        <p:nvSpPr>
          <p:cNvPr id="258077" name="Text Box 29"/>
          <p:cNvSpPr txBox="1">
            <a:spLocks noChangeArrowheads="1"/>
          </p:cNvSpPr>
          <p:nvPr/>
        </p:nvSpPr>
        <p:spPr bwMode="auto">
          <a:xfrm>
            <a:off x="2971800" y="3429001"/>
            <a:ext cx="7696200" cy="2756909"/>
          </a:xfrm>
          <a:prstGeom prst="rect">
            <a:avLst/>
          </a:prstGeom>
          <a:noFill/>
          <a:ln w="12700" cap="sq">
            <a:noFill/>
            <a:miter lim="800000"/>
            <a:headEnd type="none" w="sm" len="sm"/>
            <a:tailEnd type="none" w="sm" len="sm"/>
          </a:ln>
          <a:effectLst/>
        </p:spPr>
        <p:txBody>
          <a:bodyPr>
            <a:spAutoFit/>
          </a:bodyPr>
          <a:lstStyle/>
          <a:p>
            <a:pPr eaLnBrk="1" hangingPunct="1">
              <a:lnSpc>
                <a:spcPct val="75000"/>
              </a:lnSpc>
            </a:pPr>
            <a:r>
              <a:rPr kumimoji="1" lang="en-US" altLang="en-US" sz="2600" b="1" dirty="0">
                <a:solidFill>
                  <a:srgbClr val="003399"/>
                </a:solidFill>
                <a:ea typeface="宋体" charset="-122"/>
              </a:rPr>
              <a:t>void  push( </a:t>
            </a:r>
            <a:r>
              <a:rPr kumimoji="1" lang="en-US" altLang="en-US" sz="2600" b="1" dirty="0" err="1">
                <a:solidFill>
                  <a:srgbClr val="003399"/>
                </a:solidFill>
                <a:ea typeface="宋体" charset="-122"/>
              </a:rPr>
              <a:t>ElemType</a:t>
            </a:r>
            <a:r>
              <a:rPr kumimoji="1" lang="en-US" altLang="en-US" sz="2600" b="1" dirty="0">
                <a:solidFill>
                  <a:srgbClr val="003399"/>
                </a:solidFill>
                <a:ea typeface="宋体" charset="-122"/>
              </a:rPr>
              <a:t> s[ ],  </a:t>
            </a:r>
            <a:r>
              <a:rPr kumimoji="1" lang="en-US" altLang="en-US" sz="2600" b="1" dirty="0" err="1">
                <a:solidFill>
                  <a:srgbClr val="003399"/>
                </a:solidFill>
                <a:ea typeface="宋体" charset="-122"/>
              </a:rPr>
              <a:t>ElmeType</a:t>
            </a:r>
            <a:r>
              <a:rPr kumimoji="1" lang="en-US" altLang="en-US" sz="2600" b="1" dirty="0">
                <a:solidFill>
                  <a:srgbClr val="003399"/>
                </a:solidFill>
                <a:ea typeface="宋体" charset="-122"/>
              </a:rPr>
              <a:t> item )</a:t>
            </a:r>
            <a:br>
              <a:rPr kumimoji="1" lang="en-US" altLang="en-US" sz="2600" b="1" dirty="0">
                <a:solidFill>
                  <a:srgbClr val="003399"/>
                </a:solidFill>
                <a:ea typeface="宋体" charset="-122"/>
              </a:rPr>
            </a:br>
            <a:r>
              <a:rPr kumimoji="1" lang="en-US" altLang="en-US" sz="2600" b="1" dirty="0">
                <a:solidFill>
                  <a:srgbClr val="003399"/>
                </a:solidFill>
                <a:ea typeface="宋体" charset="-122"/>
              </a:rPr>
              <a:t>{</a:t>
            </a:r>
            <a:endParaRPr lang="en-US" altLang="zh-CN" sz="2600" b="1" dirty="0">
              <a:solidFill>
                <a:srgbClr val="003399"/>
              </a:solidFill>
            </a:endParaRPr>
          </a:p>
          <a:p>
            <a:pPr eaLnBrk="1" hangingPunct="1">
              <a:lnSpc>
                <a:spcPct val="75000"/>
              </a:lnSpc>
            </a:pPr>
            <a:r>
              <a:rPr lang="en-US" altLang="zh-CN" sz="2600" b="1" dirty="0">
                <a:solidFill>
                  <a:srgbClr val="003399"/>
                </a:solidFill>
              </a:rPr>
              <a:t>        if( </a:t>
            </a:r>
            <a:r>
              <a:rPr lang="en-US" altLang="zh-CN" sz="2600" b="1" dirty="0" err="1">
                <a:solidFill>
                  <a:srgbClr val="003399"/>
                </a:solidFill>
              </a:rPr>
              <a:t>isFull</a:t>
            </a:r>
            <a:r>
              <a:rPr lang="en-US" altLang="zh-CN" sz="2600" b="1" dirty="0">
                <a:solidFill>
                  <a:srgbClr val="003399"/>
                </a:solidFill>
              </a:rPr>
              <a:t>() )</a:t>
            </a:r>
          </a:p>
          <a:p>
            <a:pPr eaLnBrk="1" hangingPunct="1">
              <a:lnSpc>
                <a:spcPct val="75000"/>
              </a:lnSpc>
            </a:pPr>
            <a:r>
              <a:rPr lang="en-US" altLang="zh-CN" sz="2600" b="1" dirty="0">
                <a:solidFill>
                  <a:srgbClr val="003399"/>
                </a:solidFill>
              </a:rPr>
              <a:t>               Error(“Full Stack!”);</a:t>
            </a:r>
          </a:p>
          <a:p>
            <a:pPr eaLnBrk="1" hangingPunct="1">
              <a:lnSpc>
                <a:spcPct val="75000"/>
              </a:lnSpc>
            </a:pPr>
            <a:r>
              <a:rPr lang="en-US" altLang="zh-CN" sz="2600" b="1" dirty="0">
                <a:solidFill>
                  <a:srgbClr val="003399"/>
                </a:solidFill>
              </a:rPr>
              <a:t>        else</a:t>
            </a:r>
          </a:p>
          <a:p>
            <a:pPr eaLnBrk="1" hangingPunct="1">
              <a:lnSpc>
                <a:spcPct val="75000"/>
              </a:lnSpc>
            </a:pPr>
            <a:endParaRPr lang="en-US" altLang="zh-CN" sz="2600" b="1" dirty="0">
              <a:solidFill>
                <a:srgbClr val="003399"/>
              </a:solidFill>
            </a:endParaRPr>
          </a:p>
          <a:p>
            <a:pPr eaLnBrk="1" hangingPunct="1">
              <a:lnSpc>
                <a:spcPct val="75000"/>
              </a:lnSpc>
            </a:pPr>
            <a:endParaRPr lang="en-US" altLang="zh-CN" sz="2600" b="1" dirty="0">
              <a:solidFill>
                <a:srgbClr val="003399"/>
              </a:solidFill>
            </a:endParaRPr>
          </a:p>
          <a:p>
            <a:pPr eaLnBrk="1" hangingPunct="1">
              <a:lnSpc>
                <a:spcPct val="70000"/>
              </a:lnSpc>
            </a:pPr>
            <a:r>
              <a:rPr lang="en-US" altLang="zh-CN" sz="2600" b="1" dirty="0">
                <a:solidFill>
                  <a:srgbClr val="003399"/>
                </a:solidFill>
              </a:rPr>
              <a:t>        </a:t>
            </a:r>
          </a:p>
          <a:p>
            <a:pPr eaLnBrk="1" hangingPunct="1">
              <a:lnSpc>
                <a:spcPct val="70000"/>
              </a:lnSpc>
            </a:pPr>
            <a:r>
              <a:rPr lang="en-US" altLang="zh-CN" sz="2600" b="1" dirty="0">
                <a:solidFill>
                  <a:srgbClr val="003399"/>
                </a:solidFill>
              </a:rPr>
              <a:t>}</a:t>
            </a:r>
          </a:p>
        </p:txBody>
      </p:sp>
      <p:grpSp>
        <p:nvGrpSpPr>
          <p:cNvPr id="6" name="Group 62"/>
          <p:cNvGrpSpPr>
            <a:grpSpLocks/>
          </p:cNvGrpSpPr>
          <p:nvPr/>
        </p:nvGrpSpPr>
        <p:grpSpPr bwMode="auto">
          <a:xfrm>
            <a:off x="7464425" y="4343400"/>
            <a:ext cx="2852738" cy="914400"/>
            <a:chOff x="3648" y="2736"/>
            <a:chExt cx="1797" cy="576"/>
          </a:xfrm>
        </p:grpSpPr>
        <p:sp>
          <p:nvSpPr>
            <p:cNvPr id="40972" name="AutoShape 31"/>
            <p:cNvSpPr>
              <a:spLocks noChangeArrowheads="1"/>
            </p:cNvSpPr>
            <p:nvPr/>
          </p:nvSpPr>
          <p:spPr bwMode="auto">
            <a:xfrm>
              <a:off x="3648" y="2736"/>
              <a:ext cx="1536" cy="576"/>
            </a:xfrm>
            <a:prstGeom prst="wedgeRectCallout">
              <a:avLst>
                <a:gd name="adj1" fmla="val -88916"/>
                <a:gd name="adj2" fmla="val 38123"/>
              </a:avLst>
            </a:prstGeom>
            <a:noFill/>
            <a:ln w="57150" cap="sq">
              <a:solidFill>
                <a:srgbClr val="2CB3B0"/>
              </a:solidFill>
              <a:miter lim="800000"/>
              <a:headEnd type="none" w="sm" len="sm"/>
              <a:tailEnd type="none" w="sm" len="sm"/>
            </a:ln>
          </p:spPr>
          <p:txBody>
            <a:bodyPr/>
            <a:lstStyle/>
            <a:p>
              <a:pPr algn="ctr"/>
              <a:endParaRPr lang="zh-CN" altLang="en-US"/>
            </a:p>
          </p:txBody>
        </p:sp>
        <p:sp>
          <p:nvSpPr>
            <p:cNvPr id="40973" name="Text Box 32"/>
            <p:cNvSpPr txBox="1">
              <a:spLocks noChangeArrowheads="1"/>
            </p:cNvSpPr>
            <p:nvPr/>
          </p:nvSpPr>
          <p:spPr bwMode="auto">
            <a:xfrm>
              <a:off x="3681" y="2784"/>
              <a:ext cx="1764" cy="268"/>
            </a:xfrm>
            <a:prstGeom prst="rect">
              <a:avLst/>
            </a:prstGeom>
            <a:noFill/>
            <a:ln w="12700" cap="sq">
              <a:noFill/>
              <a:miter lim="800000"/>
              <a:headEnd type="none" w="sm" len="sm"/>
              <a:tailEnd type="none" w="sm" len="sm"/>
            </a:ln>
            <a:effectLst>
              <a:outerShdw dist="12700" dir="5400000" algn="ctr" rotWithShape="0">
                <a:schemeClr val="bg1"/>
              </a:outerShdw>
            </a:effectLst>
          </p:spPr>
          <p:txBody>
            <a:bodyPr>
              <a:spAutoFit/>
            </a:bodyPr>
            <a:lstStyle/>
            <a:p>
              <a:pPr>
                <a:lnSpc>
                  <a:spcPct val="90000"/>
                </a:lnSpc>
              </a:pPr>
              <a:r>
                <a:rPr lang="zh-CN" altLang="en-US" sz="2400" b="1" dirty="0">
                  <a:solidFill>
                    <a:srgbClr val="FF3300"/>
                  </a:solidFill>
                  <a:ea typeface="黑体" pitchFamily="2" charset="-122"/>
                </a:rPr>
                <a:t>入栈成功</a:t>
              </a:r>
            </a:p>
          </p:txBody>
        </p:sp>
      </p:grpSp>
      <p:grpSp>
        <p:nvGrpSpPr>
          <p:cNvPr id="7" name="Group 46"/>
          <p:cNvGrpSpPr>
            <a:grpSpLocks/>
          </p:cNvGrpSpPr>
          <p:nvPr/>
        </p:nvGrpSpPr>
        <p:grpSpPr bwMode="auto">
          <a:xfrm>
            <a:off x="873308" y="101080"/>
            <a:ext cx="4267200" cy="609600"/>
            <a:chOff x="288" y="288"/>
            <a:chExt cx="2688" cy="384"/>
          </a:xfrm>
        </p:grpSpPr>
        <p:sp>
          <p:nvSpPr>
            <p:cNvPr id="40970" name="Oval 44"/>
            <p:cNvSpPr>
              <a:spLocks noChangeArrowheads="1"/>
            </p:cNvSpPr>
            <p:nvPr/>
          </p:nvSpPr>
          <p:spPr bwMode="auto">
            <a:xfrm>
              <a:off x="288" y="288"/>
              <a:ext cx="2688" cy="384"/>
            </a:xfrm>
            <a:prstGeom prst="ellipse">
              <a:avLst/>
            </a:prstGeom>
            <a:solidFill>
              <a:srgbClr val="CCFFFF"/>
            </a:solidFill>
            <a:ln w="12700" cap="sq">
              <a:noFill/>
              <a:round/>
              <a:headEnd type="none" w="sm" len="sm"/>
              <a:tailEnd type="none" w="sm" len="sm"/>
            </a:ln>
            <a:effectLst>
              <a:outerShdw dist="96720" dir="1391915" algn="ctr" rotWithShape="0">
                <a:srgbClr val="B2B2B2"/>
              </a:outerShdw>
            </a:effectLst>
          </p:spPr>
          <p:txBody>
            <a:bodyPr wrap="none" anchor="ctr"/>
            <a:lstStyle/>
            <a:p>
              <a:endParaRPr lang="zh-CN" altLang="en-US"/>
            </a:p>
          </p:txBody>
        </p:sp>
        <p:sp>
          <p:nvSpPr>
            <p:cNvPr id="40971" name="Rectangle 45"/>
            <p:cNvSpPr>
              <a:spLocks noChangeArrowheads="1"/>
            </p:cNvSpPr>
            <p:nvPr/>
          </p:nvSpPr>
          <p:spPr bwMode="auto">
            <a:xfrm>
              <a:off x="564" y="324"/>
              <a:ext cx="2268" cy="346"/>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a:spAutoFit/>
            </a:bodyPr>
            <a:lstStyle/>
            <a:p>
              <a:pPr eaLnBrk="1" hangingPunct="1"/>
              <a:r>
                <a:rPr kumimoji="1" lang="zh-CN" altLang="en-US" sz="3000" b="1" dirty="0">
                  <a:solidFill>
                    <a:srgbClr val="FF3300"/>
                  </a:solidFill>
                </a:rPr>
                <a:t>4.  进栈算法</a:t>
              </a:r>
            </a:p>
          </p:txBody>
        </p:sp>
      </p:grpSp>
      <p:sp>
        <p:nvSpPr>
          <p:cNvPr id="36" name="TextBox 35"/>
          <p:cNvSpPr txBox="1"/>
          <p:nvPr/>
        </p:nvSpPr>
        <p:spPr>
          <a:xfrm>
            <a:off x="7536160" y="5380672"/>
            <a:ext cx="3131840" cy="1477328"/>
          </a:xfrm>
          <a:prstGeom prst="rect">
            <a:avLst/>
          </a:prstGeom>
          <a:solidFill>
            <a:srgbClr val="00B0F0"/>
          </a:solidFill>
        </p:spPr>
        <p:txBody>
          <a:bodyPr wrap="square" rtlCol="0">
            <a:spAutoFit/>
          </a:bodyPr>
          <a:lstStyle/>
          <a:p>
            <a:r>
              <a:rPr lang="en-US" altLang="zh-CN" dirty="0"/>
              <a:t>void  Error(char s[])</a:t>
            </a:r>
          </a:p>
          <a:p>
            <a:r>
              <a:rPr lang="en-US" altLang="zh-CN" dirty="0"/>
              <a:t>{</a:t>
            </a:r>
          </a:p>
          <a:p>
            <a:r>
              <a:rPr lang="en-US" altLang="zh-CN" dirty="0"/>
              <a:t>        </a:t>
            </a:r>
            <a:r>
              <a:rPr lang="en-US" altLang="zh-CN" dirty="0" err="1"/>
              <a:t>printf</a:t>
            </a:r>
            <a:r>
              <a:rPr lang="en-US" altLang="zh-CN" dirty="0"/>
              <a:t>(“%s\n”, s);</a:t>
            </a:r>
          </a:p>
          <a:p>
            <a:r>
              <a:rPr lang="en-US" altLang="zh-CN" dirty="0"/>
              <a:t>        exit( -1);</a:t>
            </a:r>
          </a:p>
          <a:p>
            <a:r>
              <a:rPr lang="en-US" altLang="zh-CN" dirty="0"/>
              <a:t>}</a:t>
            </a:r>
            <a:endParaRPr lang="zh-CN" altLang="en-US" dirty="0"/>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258070"/>
                                        </p:tgtEl>
                                        <p:attrNameLst>
                                          <p:attrName>style.visibility</p:attrName>
                                        </p:attrNameLst>
                                      </p:cBhvr>
                                      <p:to>
                                        <p:strVal val="visible"/>
                                      </p:to>
                                    </p:set>
                                    <p:anim calcmode="lin" valueType="num">
                                      <p:cBhvr additive="base">
                                        <p:cTn id="17" dur="500" fill="hold"/>
                                        <p:tgtEl>
                                          <p:spTgt spid="258070"/>
                                        </p:tgtEl>
                                        <p:attrNameLst>
                                          <p:attrName>ppt_x</p:attrName>
                                        </p:attrNameLst>
                                      </p:cBhvr>
                                      <p:tavLst>
                                        <p:tav tm="0">
                                          <p:val>
                                            <p:strVal val="1+#ppt_w/2"/>
                                          </p:val>
                                        </p:tav>
                                        <p:tav tm="100000">
                                          <p:val>
                                            <p:strVal val="#ppt_x"/>
                                          </p:val>
                                        </p:tav>
                                      </p:tavLst>
                                    </p:anim>
                                    <p:anim calcmode="lin" valueType="num">
                                      <p:cBhvr additive="base">
                                        <p:cTn id="18" dur="500" fill="hold"/>
                                        <p:tgtEl>
                                          <p:spTgt spid="258070"/>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528"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p:cTn id="23" dur="500" fill="hold"/>
                                        <p:tgtEl>
                                          <p:spTgt spid="5"/>
                                        </p:tgtEl>
                                        <p:attrNameLst>
                                          <p:attrName>ppt_w</p:attrName>
                                        </p:attrNameLst>
                                      </p:cBhvr>
                                      <p:tavLst>
                                        <p:tav tm="0">
                                          <p:val>
                                            <p:fltVal val="0"/>
                                          </p:val>
                                        </p:tav>
                                        <p:tav tm="100000">
                                          <p:val>
                                            <p:strVal val="#ppt_w"/>
                                          </p:val>
                                        </p:tav>
                                      </p:tavLst>
                                    </p:anim>
                                    <p:anim calcmode="lin" valueType="num">
                                      <p:cBhvr>
                                        <p:cTn id="24" dur="500" fill="hold"/>
                                        <p:tgtEl>
                                          <p:spTgt spid="5"/>
                                        </p:tgtEl>
                                        <p:attrNameLst>
                                          <p:attrName>ppt_h</p:attrName>
                                        </p:attrNameLst>
                                      </p:cBhvr>
                                      <p:tavLst>
                                        <p:tav tm="0">
                                          <p:val>
                                            <p:fltVal val="0"/>
                                          </p:val>
                                        </p:tav>
                                        <p:tav tm="100000">
                                          <p:val>
                                            <p:strVal val="#ppt_h"/>
                                          </p:val>
                                        </p:tav>
                                      </p:tavLst>
                                    </p:anim>
                                    <p:anim calcmode="lin" valueType="num">
                                      <p:cBhvr>
                                        <p:cTn id="25" dur="500" fill="hold"/>
                                        <p:tgtEl>
                                          <p:spTgt spid="5"/>
                                        </p:tgtEl>
                                        <p:attrNameLst>
                                          <p:attrName>ppt_x</p:attrName>
                                        </p:attrNameLst>
                                      </p:cBhvr>
                                      <p:tavLst>
                                        <p:tav tm="0">
                                          <p:val>
                                            <p:fltVal val="0.5"/>
                                          </p:val>
                                        </p:tav>
                                        <p:tav tm="100000">
                                          <p:val>
                                            <p:strVal val="#ppt_x"/>
                                          </p:val>
                                        </p:tav>
                                      </p:tavLst>
                                    </p:anim>
                                    <p:anim calcmode="lin" valueType="num">
                                      <p:cBhvr>
                                        <p:cTn id="26" dur="500" fill="hold"/>
                                        <p:tgtEl>
                                          <p:spTgt spid="5"/>
                                        </p:tgtEl>
                                        <p:attrNameLst>
                                          <p:attrName>ppt_y</p:attrName>
                                        </p:attrNameLst>
                                      </p:cBhvr>
                                      <p:tavLst>
                                        <p:tav tm="0">
                                          <p:val>
                                            <p:fltVal val="0.5"/>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ipe(left)">
                                      <p:cBhvr>
                                        <p:cTn id="31" dur="500"/>
                                        <p:tgtEl>
                                          <p:spTgt spid="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258077"/>
                                        </p:tgtEl>
                                        <p:attrNameLst>
                                          <p:attrName>style.visibility</p:attrName>
                                        </p:attrNameLst>
                                      </p:cBhvr>
                                      <p:to>
                                        <p:strVal val="visible"/>
                                      </p:to>
                                    </p:set>
                                    <p:animEffect transition="in" filter="dissolve">
                                      <p:cBhvr>
                                        <p:cTn id="36" dur="500"/>
                                        <p:tgtEl>
                                          <p:spTgt spid="25807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2"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wipe(right)">
                                      <p:cBhvr>
                                        <p:cTn id="41" dur="500"/>
                                        <p:tgtEl>
                                          <p:spTgt spid="6"/>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36"/>
                                        </p:tgtEl>
                                        <p:attrNameLst>
                                          <p:attrName>style.visibility</p:attrName>
                                        </p:attrNameLst>
                                      </p:cBhvr>
                                      <p:to>
                                        <p:strVal val="visible"/>
                                      </p:to>
                                    </p:set>
                                    <p:animEffect transition="in" filter="blinds(horizontal)">
                                      <p:cBhvr>
                                        <p:cTn id="46"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70" grpId="0" autoUpdateAnimBg="0"/>
      <p:bldP spid="258077" grpId="0" autoUpdateAnimBg="0"/>
      <p:bldP spid="3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067050" y="1143000"/>
            <a:ext cx="5695950" cy="1390650"/>
            <a:chOff x="768" y="960"/>
            <a:chExt cx="3588" cy="876"/>
          </a:xfrm>
        </p:grpSpPr>
        <p:sp>
          <p:nvSpPr>
            <p:cNvPr id="42007" name="Text Box 3"/>
            <p:cNvSpPr txBox="1">
              <a:spLocks noChangeArrowheads="1"/>
            </p:cNvSpPr>
            <p:nvPr/>
          </p:nvSpPr>
          <p:spPr bwMode="auto">
            <a:xfrm>
              <a:off x="852" y="960"/>
              <a:ext cx="3504" cy="202"/>
            </a:xfrm>
            <a:prstGeom prst="rect">
              <a:avLst/>
            </a:prstGeom>
            <a:noFill/>
            <a:ln w="12700" cap="sq">
              <a:noFill/>
              <a:miter lim="800000"/>
              <a:headEnd type="none" w="sm" len="sm"/>
              <a:tailEnd type="none" w="sm" len="sm"/>
            </a:ln>
          </p:spPr>
          <p:txBody>
            <a:bodyPr>
              <a:spAutoFit/>
            </a:bodyPr>
            <a:lstStyle/>
            <a:p>
              <a:r>
                <a:rPr lang="zh-CN" altLang="en-US" sz="1500" b="1" dirty="0">
                  <a:solidFill>
                    <a:srgbClr val="000099"/>
                  </a:solidFill>
                </a:rPr>
                <a:t>0          1          2        3          4                                                     </a:t>
              </a:r>
              <a:r>
                <a:rPr lang="en-US" altLang="zh-CN" sz="1500" b="1" dirty="0">
                  <a:solidFill>
                    <a:srgbClr val="000099"/>
                  </a:solidFill>
                </a:rPr>
                <a:t>M</a:t>
              </a:r>
              <a:r>
                <a:rPr lang="en-US" altLang="zh-CN" sz="1500" b="1" dirty="0">
                  <a:solidFill>
                    <a:srgbClr val="000099"/>
                  </a:solidFill>
                  <a:latin typeface="宋体" charset="-122"/>
                  <a:ea typeface="宋体" charset="-122"/>
                </a:rPr>
                <a:t>-</a:t>
              </a:r>
              <a:r>
                <a:rPr lang="en-US" altLang="zh-CN" sz="1500" b="1" dirty="0">
                  <a:solidFill>
                    <a:srgbClr val="000099"/>
                  </a:solidFill>
                </a:rPr>
                <a:t>1</a:t>
              </a:r>
              <a:r>
                <a:rPr lang="en-US" altLang="zh-CN" sz="1500" b="1" dirty="0">
                  <a:solidFill>
                    <a:schemeClr val="bg1"/>
                  </a:solidFill>
                </a:rPr>
                <a:t> </a:t>
              </a:r>
              <a:r>
                <a:rPr lang="en-US" altLang="zh-CN" sz="1500" b="1" dirty="0">
                  <a:solidFill>
                    <a:srgbClr val="000099"/>
                  </a:solidFill>
                </a:rPr>
                <a:t> </a:t>
              </a:r>
            </a:p>
          </p:txBody>
        </p:sp>
        <p:sp>
          <p:nvSpPr>
            <p:cNvPr id="42008" name="Text Box 4"/>
            <p:cNvSpPr txBox="1">
              <a:spLocks noChangeArrowheads="1"/>
            </p:cNvSpPr>
            <p:nvPr/>
          </p:nvSpPr>
          <p:spPr bwMode="auto">
            <a:xfrm>
              <a:off x="816" y="1136"/>
              <a:ext cx="228" cy="327"/>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99"/>
                  </a:solidFill>
                </a:rPr>
                <a:t>a</a:t>
              </a:r>
            </a:p>
          </p:txBody>
        </p:sp>
        <p:sp>
          <p:nvSpPr>
            <p:cNvPr id="42009" name="Text Box 5"/>
            <p:cNvSpPr txBox="1">
              <a:spLocks noChangeArrowheads="1"/>
            </p:cNvSpPr>
            <p:nvPr/>
          </p:nvSpPr>
          <p:spPr bwMode="auto">
            <a:xfrm>
              <a:off x="1824" y="1132"/>
              <a:ext cx="229" cy="33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99"/>
                  </a:solidFill>
                </a:rPr>
                <a:t>d</a:t>
              </a:r>
            </a:p>
          </p:txBody>
        </p:sp>
        <p:sp>
          <p:nvSpPr>
            <p:cNvPr id="42010" name="Text Box 6"/>
            <p:cNvSpPr txBox="1">
              <a:spLocks noChangeArrowheads="1"/>
            </p:cNvSpPr>
            <p:nvPr/>
          </p:nvSpPr>
          <p:spPr bwMode="auto">
            <a:xfrm>
              <a:off x="1536" y="1120"/>
              <a:ext cx="219" cy="330"/>
            </a:xfrm>
            <a:prstGeom prst="rect">
              <a:avLst/>
            </a:prstGeom>
            <a:noFill/>
            <a:ln w="12700" cap="sq">
              <a:noFill/>
              <a:miter lim="800000"/>
              <a:headEnd type="none" w="sm" len="sm"/>
              <a:tailEnd type="none" w="sm" len="sm"/>
            </a:ln>
          </p:spPr>
          <p:txBody>
            <a:bodyPr wrap="none">
              <a:spAutoFit/>
            </a:bodyPr>
            <a:lstStyle/>
            <a:p>
              <a:r>
                <a:rPr lang="en-US" altLang="zh-CN" sz="2800" b="1" dirty="0">
                  <a:solidFill>
                    <a:srgbClr val="000099"/>
                  </a:solidFill>
                </a:rPr>
                <a:t>c</a:t>
              </a:r>
            </a:p>
          </p:txBody>
        </p:sp>
        <p:sp>
          <p:nvSpPr>
            <p:cNvPr id="42011" name="Text Box 7"/>
            <p:cNvSpPr txBox="1">
              <a:spLocks noChangeArrowheads="1"/>
            </p:cNvSpPr>
            <p:nvPr/>
          </p:nvSpPr>
          <p:spPr bwMode="auto">
            <a:xfrm>
              <a:off x="1164" y="1132"/>
              <a:ext cx="229" cy="33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99"/>
                  </a:solidFill>
                </a:rPr>
                <a:t>b</a:t>
              </a:r>
            </a:p>
          </p:txBody>
        </p:sp>
        <p:sp>
          <p:nvSpPr>
            <p:cNvPr id="42012" name="Text Box 8"/>
            <p:cNvSpPr txBox="1">
              <a:spLocks noChangeArrowheads="1"/>
            </p:cNvSpPr>
            <p:nvPr/>
          </p:nvSpPr>
          <p:spPr bwMode="auto">
            <a:xfrm>
              <a:off x="1968" y="1584"/>
              <a:ext cx="322" cy="252"/>
            </a:xfrm>
            <a:prstGeom prst="rect">
              <a:avLst/>
            </a:prstGeom>
            <a:noFill/>
            <a:ln w="12700" cap="sq">
              <a:noFill/>
              <a:miter lim="800000"/>
              <a:headEnd type="none" w="sm" len="sm"/>
              <a:tailEnd type="none" w="sm" len="sm"/>
            </a:ln>
          </p:spPr>
          <p:txBody>
            <a:bodyPr wrap="none">
              <a:spAutoFit/>
            </a:bodyPr>
            <a:lstStyle/>
            <a:p>
              <a:r>
                <a:rPr lang="en-US" altLang="zh-CN" sz="2000" b="1">
                  <a:solidFill>
                    <a:schemeClr val="accent2"/>
                  </a:solidFill>
                </a:rPr>
                <a:t>top</a:t>
              </a:r>
              <a:endParaRPr lang="en-US" altLang="zh-CN" sz="2000" b="1">
                <a:solidFill>
                  <a:srgbClr val="FFFF00"/>
                </a:solidFill>
              </a:endParaRPr>
            </a:p>
          </p:txBody>
        </p:sp>
        <p:sp>
          <p:nvSpPr>
            <p:cNvPr id="42013" name="Rectangle 9"/>
            <p:cNvSpPr>
              <a:spLocks noChangeArrowheads="1"/>
            </p:cNvSpPr>
            <p:nvPr/>
          </p:nvSpPr>
          <p:spPr bwMode="auto">
            <a:xfrm>
              <a:off x="768" y="1152"/>
              <a:ext cx="336" cy="288"/>
            </a:xfrm>
            <a:prstGeom prst="rect">
              <a:avLst/>
            </a:prstGeom>
            <a:noFill/>
            <a:ln w="25400" cap="sq">
              <a:solidFill>
                <a:schemeClr val="tx1"/>
              </a:solidFill>
              <a:miter lim="800000"/>
              <a:headEnd type="none" w="sm" len="sm"/>
              <a:tailEnd type="none" w="sm" len="sm"/>
            </a:ln>
          </p:spPr>
          <p:txBody>
            <a:bodyPr wrap="none" anchor="ctr"/>
            <a:lstStyle/>
            <a:p>
              <a:endParaRPr lang="zh-CN" altLang="en-US"/>
            </a:p>
          </p:txBody>
        </p:sp>
        <p:sp>
          <p:nvSpPr>
            <p:cNvPr id="42014" name="Rectangle 10"/>
            <p:cNvSpPr>
              <a:spLocks noChangeArrowheads="1"/>
            </p:cNvSpPr>
            <p:nvPr/>
          </p:nvSpPr>
          <p:spPr bwMode="auto">
            <a:xfrm>
              <a:off x="1104" y="1152"/>
              <a:ext cx="336" cy="288"/>
            </a:xfrm>
            <a:prstGeom prst="rect">
              <a:avLst/>
            </a:prstGeom>
            <a:noFill/>
            <a:ln w="25400" cap="sq">
              <a:solidFill>
                <a:schemeClr val="tx1"/>
              </a:solidFill>
              <a:miter lim="800000"/>
              <a:headEnd type="none" w="sm" len="sm"/>
              <a:tailEnd type="none" w="sm" len="sm"/>
            </a:ln>
          </p:spPr>
          <p:txBody>
            <a:bodyPr wrap="none" anchor="ctr"/>
            <a:lstStyle/>
            <a:p>
              <a:endParaRPr lang="zh-CN" altLang="en-US"/>
            </a:p>
          </p:txBody>
        </p:sp>
        <p:sp>
          <p:nvSpPr>
            <p:cNvPr id="42015" name="Rectangle 11"/>
            <p:cNvSpPr>
              <a:spLocks noChangeArrowheads="1"/>
            </p:cNvSpPr>
            <p:nvPr/>
          </p:nvSpPr>
          <p:spPr bwMode="auto">
            <a:xfrm>
              <a:off x="1440" y="1152"/>
              <a:ext cx="336" cy="288"/>
            </a:xfrm>
            <a:prstGeom prst="rect">
              <a:avLst/>
            </a:prstGeom>
            <a:noFill/>
            <a:ln w="25400" cap="sq">
              <a:solidFill>
                <a:schemeClr val="tx1"/>
              </a:solidFill>
              <a:miter lim="800000"/>
              <a:headEnd type="none" w="sm" len="sm"/>
              <a:tailEnd type="none" w="sm" len="sm"/>
            </a:ln>
          </p:spPr>
          <p:txBody>
            <a:bodyPr wrap="none" anchor="ctr"/>
            <a:lstStyle/>
            <a:p>
              <a:endParaRPr lang="zh-CN" altLang="en-US"/>
            </a:p>
          </p:txBody>
        </p:sp>
        <p:sp>
          <p:nvSpPr>
            <p:cNvPr id="42016" name="Rectangle 12"/>
            <p:cNvSpPr>
              <a:spLocks noChangeArrowheads="1"/>
            </p:cNvSpPr>
            <p:nvPr/>
          </p:nvSpPr>
          <p:spPr bwMode="auto">
            <a:xfrm>
              <a:off x="1776" y="1152"/>
              <a:ext cx="336" cy="288"/>
            </a:xfrm>
            <a:prstGeom prst="rect">
              <a:avLst/>
            </a:prstGeom>
            <a:noFill/>
            <a:ln w="25400" cap="sq">
              <a:solidFill>
                <a:schemeClr val="tx1"/>
              </a:solidFill>
              <a:miter lim="800000"/>
              <a:headEnd type="none" w="sm" len="sm"/>
              <a:tailEnd type="none" w="sm" len="sm"/>
            </a:ln>
          </p:spPr>
          <p:txBody>
            <a:bodyPr wrap="none" anchor="ctr"/>
            <a:lstStyle/>
            <a:p>
              <a:endParaRPr lang="zh-CN" altLang="en-US"/>
            </a:p>
          </p:txBody>
        </p:sp>
        <p:sp>
          <p:nvSpPr>
            <p:cNvPr id="42017" name="Rectangle 13"/>
            <p:cNvSpPr>
              <a:spLocks noChangeArrowheads="1"/>
            </p:cNvSpPr>
            <p:nvPr/>
          </p:nvSpPr>
          <p:spPr bwMode="auto">
            <a:xfrm>
              <a:off x="2112" y="1152"/>
              <a:ext cx="336" cy="288"/>
            </a:xfrm>
            <a:prstGeom prst="rect">
              <a:avLst/>
            </a:prstGeom>
            <a:noFill/>
            <a:ln w="25400" cap="sq">
              <a:solidFill>
                <a:schemeClr val="tx1"/>
              </a:solidFill>
              <a:miter lim="800000"/>
              <a:headEnd type="none" w="sm" len="sm"/>
              <a:tailEnd type="none" w="sm" len="sm"/>
            </a:ln>
          </p:spPr>
          <p:txBody>
            <a:bodyPr wrap="none" anchor="ctr"/>
            <a:lstStyle/>
            <a:p>
              <a:endParaRPr lang="zh-CN" altLang="en-US"/>
            </a:p>
          </p:txBody>
        </p:sp>
        <p:sp>
          <p:nvSpPr>
            <p:cNvPr id="42018" name="Rectangle 14"/>
            <p:cNvSpPr>
              <a:spLocks noChangeArrowheads="1"/>
            </p:cNvSpPr>
            <p:nvPr/>
          </p:nvSpPr>
          <p:spPr bwMode="auto">
            <a:xfrm>
              <a:off x="2448" y="1152"/>
              <a:ext cx="336" cy="288"/>
            </a:xfrm>
            <a:prstGeom prst="rect">
              <a:avLst/>
            </a:prstGeom>
            <a:noFill/>
            <a:ln w="25400" cap="sq">
              <a:solidFill>
                <a:schemeClr val="tx1"/>
              </a:solidFill>
              <a:miter lim="800000"/>
              <a:headEnd type="none" w="sm" len="sm"/>
              <a:tailEnd type="none" w="sm" len="sm"/>
            </a:ln>
          </p:spPr>
          <p:txBody>
            <a:bodyPr wrap="none" anchor="ctr"/>
            <a:lstStyle/>
            <a:p>
              <a:endParaRPr lang="zh-CN" altLang="en-US"/>
            </a:p>
          </p:txBody>
        </p:sp>
        <p:sp>
          <p:nvSpPr>
            <p:cNvPr id="42019" name="Rectangle 15"/>
            <p:cNvSpPr>
              <a:spLocks noChangeArrowheads="1"/>
            </p:cNvSpPr>
            <p:nvPr/>
          </p:nvSpPr>
          <p:spPr bwMode="auto">
            <a:xfrm>
              <a:off x="3888" y="1152"/>
              <a:ext cx="336" cy="288"/>
            </a:xfrm>
            <a:prstGeom prst="rect">
              <a:avLst/>
            </a:prstGeom>
            <a:noFill/>
            <a:ln w="25400" cap="sq">
              <a:solidFill>
                <a:schemeClr val="tx1"/>
              </a:solidFill>
              <a:miter lim="800000"/>
              <a:headEnd type="none" w="sm" len="sm"/>
              <a:tailEnd type="none" w="sm" len="sm"/>
            </a:ln>
          </p:spPr>
          <p:txBody>
            <a:bodyPr wrap="none" anchor="ctr"/>
            <a:lstStyle/>
            <a:p>
              <a:endParaRPr lang="zh-CN" altLang="en-US"/>
            </a:p>
          </p:txBody>
        </p:sp>
        <p:sp>
          <p:nvSpPr>
            <p:cNvPr id="42020" name="Rectangle 16"/>
            <p:cNvSpPr>
              <a:spLocks noChangeArrowheads="1"/>
            </p:cNvSpPr>
            <p:nvPr/>
          </p:nvSpPr>
          <p:spPr bwMode="auto">
            <a:xfrm>
              <a:off x="2784" y="1152"/>
              <a:ext cx="1104" cy="288"/>
            </a:xfrm>
            <a:prstGeom prst="rect">
              <a:avLst/>
            </a:prstGeom>
            <a:noFill/>
            <a:ln w="25400" cap="sq">
              <a:solidFill>
                <a:schemeClr val="tx1"/>
              </a:solidFill>
              <a:miter lim="800000"/>
              <a:headEnd type="none" w="sm" len="sm"/>
              <a:tailEnd type="none" w="sm" len="sm"/>
            </a:ln>
          </p:spPr>
          <p:txBody>
            <a:bodyPr wrap="none" anchor="ctr"/>
            <a:lstStyle/>
            <a:p>
              <a:endParaRPr lang="zh-CN" altLang="en-US"/>
            </a:p>
          </p:txBody>
        </p:sp>
        <p:sp>
          <p:nvSpPr>
            <p:cNvPr id="42021" name="Rectangle 17"/>
            <p:cNvSpPr>
              <a:spLocks noChangeArrowheads="1"/>
            </p:cNvSpPr>
            <p:nvPr/>
          </p:nvSpPr>
          <p:spPr bwMode="auto">
            <a:xfrm>
              <a:off x="3148" y="1104"/>
              <a:ext cx="275" cy="291"/>
            </a:xfrm>
            <a:prstGeom prst="rect">
              <a:avLst/>
            </a:prstGeom>
            <a:noFill/>
            <a:ln w="12700" cap="sq">
              <a:noFill/>
              <a:miter lim="800000"/>
              <a:headEnd type="none" w="sm" len="sm"/>
              <a:tailEnd type="none" w="sm" len="sm"/>
            </a:ln>
          </p:spPr>
          <p:txBody>
            <a:bodyPr wrap="none">
              <a:spAutoFit/>
            </a:bodyPr>
            <a:lstStyle/>
            <a:p>
              <a:r>
                <a:rPr lang="zh-CN" altLang="en-US" sz="2400" b="1">
                  <a:solidFill>
                    <a:srgbClr val="000099"/>
                  </a:solidFill>
                  <a:ea typeface="宋体" charset="-122"/>
                  <a:cs typeface="Times New Roman" pitchFamily="18" charset="0"/>
                </a:rPr>
                <a:t>…</a:t>
              </a:r>
            </a:p>
          </p:txBody>
        </p:sp>
        <p:sp>
          <p:nvSpPr>
            <p:cNvPr id="42022" name="Text Box 18"/>
            <p:cNvSpPr txBox="1">
              <a:spLocks noChangeArrowheads="1"/>
            </p:cNvSpPr>
            <p:nvPr/>
          </p:nvSpPr>
          <p:spPr bwMode="auto">
            <a:xfrm>
              <a:off x="2159" y="1128"/>
              <a:ext cx="219" cy="33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99"/>
                  </a:solidFill>
                </a:rPr>
                <a:t>e</a:t>
              </a:r>
            </a:p>
          </p:txBody>
        </p:sp>
        <p:sp>
          <p:nvSpPr>
            <p:cNvPr id="42023" name="Line 19"/>
            <p:cNvSpPr>
              <a:spLocks noChangeShapeType="1"/>
            </p:cNvSpPr>
            <p:nvPr/>
          </p:nvSpPr>
          <p:spPr bwMode="auto">
            <a:xfrm flipV="1">
              <a:off x="2148" y="1476"/>
              <a:ext cx="108" cy="156"/>
            </a:xfrm>
            <a:prstGeom prst="line">
              <a:avLst/>
            </a:prstGeom>
            <a:noFill/>
            <a:ln w="25400" cap="sq">
              <a:solidFill>
                <a:schemeClr val="accent2"/>
              </a:solidFill>
              <a:round/>
              <a:headEnd type="none" w="sm" len="sm"/>
              <a:tailEnd type="triangle" w="med" len="lg"/>
            </a:ln>
          </p:spPr>
          <p:txBody>
            <a:bodyPr/>
            <a:lstStyle/>
            <a:p>
              <a:endParaRPr lang="zh-CN" altLang="en-US"/>
            </a:p>
          </p:txBody>
        </p:sp>
      </p:grpSp>
      <p:grpSp>
        <p:nvGrpSpPr>
          <p:cNvPr id="3" name="Group 20"/>
          <p:cNvGrpSpPr>
            <a:grpSpLocks/>
          </p:cNvGrpSpPr>
          <p:nvPr/>
        </p:nvGrpSpPr>
        <p:grpSpPr bwMode="auto">
          <a:xfrm>
            <a:off x="4895850" y="1905000"/>
            <a:ext cx="762000" cy="342900"/>
            <a:chOff x="1920" y="1440"/>
            <a:chExt cx="480" cy="216"/>
          </a:xfrm>
        </p:grpSpPr>
        <p:sp>
          <p:nvSpPr>
            <p:cNvPr id="42005" name="Rectangle 21"/>
            <p:cNvSpPr>
              <a:spLocks noChangeArrowheads="1"/>
            </p:cNvSpPr>
            <p:nvPr/>
          </p:nvSpPr>
          <p:spPr bwMode="auto">
            <a:xfrm>
              <a:off x="2112" y="1464"/>
              <a:ext cx="288" cy="192"/>
            </a:xfrm>
            <a:prstGeom prst="rect">
              <a:avLst/>
            </a:prstGeom>
            <a:solidFill>
              <a:srgbClr val="FFFFFF"/>
            </a:solidFill>
            <a:ln w="12700" cap="sq">
              <a:noFill/>
              <a:miter lim="800000"/>
              <a:headEnd type="none" w="sm" len="sm"/>
              <a:tailEnd type="none" w="sm" len="sm"/>
            </a:ln>
          </p:spPr>
          <p:txBody>
            <a:bodyPr wrap="none" anchor="ctr"/>
            <a:lstStyle/>
            <a:p>
              <a:endParaRPr lang="zh-CN" altLang="en-US"/>
            </a:p>
          </p:txBody>
        </p:sp>
        <p:sp>
          <p:nvSpPr>
            <p:cNvPr id="42006" name="Line 22"/>
            <p:cNvSpPr>
              <a:spLocks noChangeShapeType="1"/>
            </p:cNvSpPr>
            <p:nvPr/>
          </p:nvSpPr>
          <p:spPr bwMode="auto">
            <a:xfrm flipH="1" flipV="1">
              <a:off x="1920" y="1440"/>
              <a:ext cx="144" cy="192"/>
            </a:xfrm>
            <a:prstGeom prst="line">
              <a:avLst/>
            </a:prstGeom>
            <a:noFill/>
            <a:ln w="22225" cap="sq">
              <a:solidFill>
                <a:schemeClr val="accent2"/>
              </a:solidFill>
              <a:round/>
              <a:headEnd type="none" w="sm" len="sm"/>
              <a:tailEnd type="triangle" w="sm" len="lg"/>
            </a:ln>
          </p:spPr>
          <p:txBody>
            <a:bodyPr/>
            <a:lstStyle/>
            <a:p>
              <a:endParaRPr lang="zh-CN" altLang="en-US"/>
            </a:p>
          </p:txBody>
        </p:sp>
      </p:grpSp>
      <p:sp>
        <p:nvSpPr>
          <p:cNvPr id="293911" name="Rectangle 23"/>
          <p:cNvSpPr>
            <a:spLocks noChangeArrowheads="1"/>
          </p:cNvSpPr>
          <p:nvPr/>
        </p:nvSpPr>
        <p:spPr bwMode="auto">
          <a:xfrm>
            <a:off x="5276850" y="1582738"/>
            <a:ext cx="304800" cy="304800"/>
          </a:xfrm>
          <a:prstGeom prst="rect">
            <a:avLst/>
          </a:prstGeom>
          <a:solidFill>
            <a:srgbClr val="FFFFFF"/>
          </a:solidFill>
          <a:ln w="12700" cap="sq">
            <a:noFill/>
            <a:miter lim="800000"/>
            <a:headEnd type="none" w="sm" len="sm"/>
            <a:tailEnd type="none" w="sm" len="sm"/>
          </a:ln>
        </p:spPr>
        <p:txBody>
          <a:bodyPr wrap="none" anchor="ctr"/>
          <a:lstStyle/>
          <a:p>
            <a:endParaRPr lang="zh-CN" altLang="en-US"/>
          </a:p>
        </p:txBody>
      </p:sp>
      <p:grpSp>
        <p:nvGrpSpPr>
          <p:cNvPr id="4" name="Group 24"/>
          <p:cNvGrpSpPr>
            <a:grpSpLocks/>
          </p:cNvGrpSpPr>
          <p:nvPr/>
        </p:nvGrpSpPr>
        <p:grpSpPr bwMode="auto">
          <a:xfrm>
            <a:off x="2536825" y="3168650"/>
            <a:ext cx="7696200" cy="3200400"/>
            <a:chOff x="384" y="1968"/>
            <a:chExt cx="4848" cy="2016"/>
          </a:xfrm>
        </p:grpSpPr>
        <p:sp>
          <p:nvSpPr>
            <p:cNvPr id="42003" name="Rectangle 25"/>
            <p:cNvSpPr>
              <a:spLocks noChangeArrowheads="1"/>
            </p:cNvSpPr>
            <p:nvPr/>
          </p:nvSpPr>
          <p:spPr bwMode="auto">
            <a:xfrm>
              <a:off x="384" y="1968"/>
              <a:ext cx="4848" cy="2016"/>
            </a:xfrm>
            <a:prstGeom prst="rect">
              <a:avLst/>
            </a:prstGeom>
            <a:solidFill>
              <a:srgbClr val="FFFF99"/>
            </a:solidFill>
            <a:ln w="12700" cap="sq">
              <a:noFill/>
              <a:miter lim="800000"/>
              <a:headEnd type="none" w="sm" len="sm"/>
              <a:tailEnd type="none" w="sm" len="sm"/>
            </a:ln>
            <a:effectLst>
              <a:outerShdw dist="188799" dir="2536421" algn="ctr" rotWithShape="0">
                <a:srgbClr val="C0C0C0"/>
              </a:outerShdw>
            </a:effectLst>
          </p:spPr>
          <p:txBody>
            <a:bodyPr wrap="none" anchor="ctr"/>
            <a:lstStyle/>
            <a:p>
              <a:endParaRPr lang="zh-CN" altLang="en-US"/>
            </a:p>
          </p:txBody>
        </p:sp>
        <p:sp>
          <p:nvSpPr>
            <p:cNvPr id="42004" name="Rectangle 26"/>
            <p:cNvSpPr>
              <a:spLocks noChangeArrowheads="1"/>
            </p:cNvSpPr>
            <p:nvPr/>
          </p:nvSpPr>
          <p:spPr bwMode="auto">
            <a:xfrm>
              <a:off x="1392" y="3166"/>
              <a:ext cx="2304" cy="434"/>
            </a:xfrm>
            <a:prstGeom prst="rect">
              <a:avLst/>
            </a:prstGeom>
            <a:noFill/>
            <a:ln w="12700" cap="sq">
              <a:noFill/>
              <a:miter lim="800000"/>
              <a:headEnd type="none" w="sm" len="sm"/>
              <a:tailEnd type="none" w="sm" len="sm"/>
            </a:ln>
            <a:effectLst>
              <a:outerShdw dist="17961" dir="2700000" algn="ctr" rotWithShape="0">
                <a:schemeClr val="bg1"/>
              </a:outerShdw>
            </a:effectLst>
          </p:spPr>
          <p:txBody>
            <a:bodyPr>
              <a:spAutoFit/>
            </a:bodyPr>
            <a:lstStyle/>
            <a:p>
              <a:pPr eaLnBrk="1" hangingPunct="1">
                <a:lnSpc>
                  <a:spcPct val="75000"/>
                </a:lnSpc>
              </a:pPr>
              <a:r>
                <a:rPr lang="en-US" altLang="zh-CN" sz="2600" b="1" dirty="0">
                  <a:solidFill>
                    <a:srgbClr val="FF3300"/>
                  </a:solidFill>
                </a:rPr>
                <a:t>return s[Top</a:t>
              </a:r>
              <a:r>
                <a:rPr lang="en-US" altLang="zh-CN" sz="2600" b="1" dirty="0">
                  <a:solidFill>
                    <a:srgbClr val="FF3300"/>
                  </a:solidFill>
                  <a:latin typeface="宋体" charset="-122"/>
                  <a:ea typeface="宋体" charset="-122"/>
                </a:rPr>
                <a:t>--</a:t>
              </a:r>
              <a:r>
                <a:rPr lang="en-US" altLang="zh-CN" sz="2600" b="1" dirty="0">
                  <a:solidFill>
                    <a:srgbClr val="FF3300"/>
                  </a:solidFill>
                </a:rPr>
                <a:t>];</a:t>
              </a:r>
            </a:p>
            <a:p>
              <a:pPr eaLnBrk="1" hangingPunct="1">
                <a:lnSpc>
                  <a:spcPct val="75000"/>
                </a:lnSpc>
              </a:pPr>
              <a:endParaRPr lang="zh-CN" altLang="en-US" sz="2600" dirty="0">
                <a:solidFill>
                  <a:srgbClr val="FF3300"/>
                </a:solidFill>
              </a:endParaRPr>
            </a:p>
          </p:txBody>
        </p:sp>
      </p:grpSp>
      <p:grpSp>
        <p:nvGrpSpPr>
          <p:cNvPr id="5" name="Group 27"/>
          <p:cNvGrpSpPr>
            <a:grpSpLocks/>
          </p:cNvGrpSpPr>
          <p:nvPr/>
        </p:nvGrpSpPr>
        <p:grpSpPr bwMode="auto">
          <a:xfrm>
            <a:off x="1631951" y="2224088"/>
            <a:ext cx="2208213" cy="1060450"/>
            <a:chOff x="156" y="1399"/>
            <a:chExt cx="1391" cy="668"/>
          </a:xfrm>
        </p:grpSpPr>
        <p:sp>
          <p:nvSpPr>
            <p:cNvPr id="42001" name="AutoShape 28"/>
            <p:cNvSpPr>
              <a:spLocks noChangeArrowheads="1"/>
            </p:cNvSpPr>
            <p:nvPr/>
          </p:nvSpPr>
          <p:spPr bwMode="auto">
            <a:xfrm rot="1423867">
              <a:off x="288" y="1503"/>
              <a:ext cx="1056" cy="564"/>
            </a:xfrm>
            <a:prstGeom prst="irregularSeal2">
              <a:avLst/>
            </a:prstGeom>
            <a:solidFill>
              <a:srgbClr val="CCFFCC"/>
            </a:solidFill>
            <a:ln w="60325">
              <a:solidFill>
                <a:srgbClr val="33CCCC"/>
              </a:solidFill>
              <a:miter lim="800000"/>
              <a:headEnd type="none" w="sm" len="sm"/>
              <a:tailEnd type="none" w="sm" len="sm"/>
            </a:ln>
            <a:effectLst>
              <a:outerShdw dist="104727" dir="842175" algn="ctr" rotWithShape="0">
                <a:srgbClr val="C0C0C0"/>
              </a:outerShdw>
            </a:effectLst>
          </p:spPr>
          <p:txBody>
            <a:bodyPr wrap="none" anchor="ctr"/>
            <a:lstStyle/>
            <a:p>
              <a:endParaRPr lang="zh-CN" altLang="en-US"/>
            </a:p>
          </p:txBody>
        </p:sp>
        <p:sp>
          <p:nvSpPr>
            <p:cNvPr id="42002" name="Text Box 29"/>
            <p:cNvSpPr txBox="1">
              <a:spLocks noChangeArrowheads="1"/>
            </p:cNvSpPr>
            <p:nvPr/>
          </p:nvSpPr>
          <p:spPr bwMode="auto">
            <a:xfrm rot="-1529483">
              <a:off x="156" y="1399"/>
              <a:ext cx="1391" cy="576"/>
            </a:xfrm>
            <a:prstGeom prst="rect">
              <a:avLst/>
            </a:prstGeom>
            <a:noFill/>
            <a:ln w="12700" cap="sq">
              <a:noFill/>
              <a:miter lim="800000"/>
              <a:headEnd type="none" w="sm" len="sm"/>
              <a:tailEnd type="none" w="sm" len="sm"/>
            </a:ln>
            <a:effectLst>
              <a:outerShdw dist="40161" dir="1106097" algn="ctr" rotWithShape="0">
                <a:srgbClr val="000000"/>
              </a:outerShdw>
            </a:effectLst>
          </p:spPr>
          <p:txBody>
            <a:bodyPr>
              <a:spAutoFit/>
            </a:bodyPr>
            <a:lstStyle/>
            <a:p>
              <a:r>
                <a:rPr lang="zh-CN" altLang="en-US" sz="5400" b="1" i="1">
                  <a:solidFill>
                    <a:srgbClr val="FF3300"/>
                  </a:solidFill>
                  <a:ea typeface="黑体" pitchFamily="2" charset="-122"/>
                </a:rPr>
                <a:t>算法</a:t>
              </a:r>
            </a:p>
          </p:txBody>
        </p:sp>
      </p:grpSp>
      <p:grpSp>
        <p:nvGrpSpPr>
          <p:cNvPr id="6" name="Group 30"/>
          <p:cNvGrpSpPr>
            <a:grpSpLocks/>
          </p:cNvGrpSpPr>
          <p:nvPr/>
        </p:nvGrpSpPr>
        <p:grpSpPr bwMode="auto">
          <a:xfrm>
            <a:off x="7751764" y="4076700"/>
            <a:ext cx="2543175" cy="914400"/>
            <a:chOff x="3600" y="2592"/>
            <a:chExt cx="1602" cy="576"/>
          </a:xfrm>
        </p:grpSpPr>
        <p:sp>
          <p:nvSpPr>
            <p:cNvPr id="41999" name="AutoShape 31"/>
            <p:cNvSpPr>
              <a:spLocks noChangeArrowheads="1"/>
            </p:cNvSpPr>
            <p:nvPr/>
          </p:nvSpPr>
          <p:spPr bwMode="auto">
            <a:xfrm>
              <a:off x="3600" y="2592"/>
              <a:ext cx="1392" cy="576"/>
            </a:xfrm>
            <a:prstGeom prst="wedgeRectCallout">
              <a:avLst>
                <a:gd name="adj1" fmla="val -82759"/>
                <a:gd name="adj2" fmla="val 66865"/>
              </a:avLst>
            </a:prstGeom>
            <a:noFill/>
            <a:ln w="60325" cap="sq">
              <a:solidFill>
                <a:srgbClr val="33CCCC"/>
              </a:solidFill>
              <a:miter lim="800000"/>
              <a:headEnd type="none" w="sm" len="sm"/>
              <a:tailEnd type="none" w="sm" len="sm"/>
            </a:ln>
          </p:spPr>
          <p:txBody>
            <a:bodyPr/>
            <a:lstStyle/>
            <a:p>
              <a:pPr algn="ctr"/>
              <a:endParaRPr lang="zh-CN" altLang="en-US"/>
            </a:p>
          </p:txBody>
        </p:sp>
        <p:sp>
          <p:nvSpPr>
            <p:cNvPr id="42000" name="Text Box 32"/>
            <p:cNvSpPr txBox="1">
              <a:spLocks noChangeArrowheads="1"/>
            </p:cNvSpPr>
            <p:nvPr/>
          </p:nvSpPr>
          <p:spPr bwMode="auto">
            <a:xfrm>
              <a:off x="3618" y="2630"/>
              <a:ext cx="1584" cy="276"/>
            </a:xfrm>
            <a:prstGeom prst="rect">
              <a:avLst/>
            </a:prstGeom>
            <a:noFill/>
            <a:ln w="12700" cap="sq">
              <a:noFill/>
              <a:miter lim="800000"/>
              <a:headEnd type="none" w="sm" len="sm"/>
              <a:tailEnd type="none" w="sm" len="sm"/>
            </a:ln>
            <a:effectLst>
              <a:outerShdw dist="12700" dir="5400000" algn="ctr" rotWithShape="0">
                <a:srgbClr val="000000"/>
              </a:outerShdw>
            </a:effectLst>
          </p:spPr>
          <p:txBody>
            <a:bodyPr>
              <a:spAutoFit/>
            </a:bodyPr>
            <a:lstStyle/>
            <a:p>
              <a:pPr>
                <a:lnSpc>
                  <a:spcPct val="90000"/>
                </a:lnSpc>
              </a:pPr>
              <a:r>
                <a:rPr lang="zh-CN" altLang="en-US" sz="2500" b="1" dirty="0">
                  <a:solidFill>
                    <a:srgbClr val="FF3300"/>
                  </a:solidFill>
                  <a:ea typeface="黑体" pitchFamily="2" charset="-122"/>
                </a:rPr>
                <a:t>出栈成功</a:t>
              </a:r>
            </a:p>
          </p:txBody>
        </p:sp>
      </p:grpSp>
      <p:grpSp>
        <p:nvGrpSpPr>
          <p:cNvPr id="7" name="Group 33"/>
          <p:cNvGrpSpPr>
            <a:grpSpLocks/>
          </p:cNvGrpSpPr>
          <p:nvPr/>
        </p:nvGrpSpPr>
        <p:grpSpPr bwMode="auto">
          <a:xfrm>
            <a:off x="1009650" y="128724"/>
            <a:ext cx="3962400" cy="609600"/>
            <a:chOff x="288" y="288"/>
            <a:chExt cx="2496" cy="384"/>
          </a:xfrm>
        </p:grpSpPr>
        <p:sp>
          <p:nvSpPr>
            <p:cNvPr id="41997" name="Oval 34"/>
            <p:cNvSpPr>
              <a:spLocks noChangeArrowheads="1"/>
            </p:cNvSpPr>
            <p:nvPr/>
          </p:nvSpPr>
          <p:spPr bwMode="auto">
            <a:xfrm>
              <a:off x="288" y="288"/>
              <a:ext cx="2496" cy="384"/>
            </a:xfrm>
            <a:prstGeom prst="ellipse">
              <a:avLst/>
            </a:prstGeom>
            <a:solidFill>
              <a:srgbClr val="CCFFFF"/>
            </a:solidFill>
            <a:ln w="12700" cap="sq">
              <a:noFill/>
              <a:round/>
              <a:headEnd type="none" w="sm" len="sm"/>
              <a:tailEnd type="none" w="sm" len="sm"/>
            </a:ln>
            <a:effectLst>
              <a:outerShdw dist="96720" dir="1391915" algn="ctr" rotWithShape="0">
                <a:srgbClr val="C0C0C0"/>
              </a:outerShdw>
            </a:effectLst>
          </p:spPr>
          <p:txBody>
            <a:bodyPr wrap="none" anchor="ctr"/>
            <a:lstStyle/>
            <a:p>
              <a:endParaRPr lang="zh-CN" altLang="en-US"/>
            </a:p>
          </p:txBody>
        </p:sp>
        <p:sp>
          <p:nvSpPr>
            <p:cNvPr id="41998" name="Rectangle 35"/>
            <p:cNvSpPr>
              <a:spLocks noChangeArrowheads="1"/>
            </p:cNvSpPr>
            <p:nvPr/>
          </p:nvSpPr>
          <p:spPr bwMode="auto">
            <a:xfrm>
              <a:off x="480" y="324"/>
              <a:ext cx="2268" cy="346"/>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a:spAutoFit/>
            </a:bodyPr>
            <a:lstStyle/>
            <a:p>
              <a:pPr eaLnBrk="1" hangingPunct="1"/>
              <a:r>
                <a:rPr kumimoji="1" lang="zh-CN" altLang="en-US" sz="3000" b="1" dirty="0">
                  <a:solidFill>
                    <a:srgbClr val="FF3300"/>
                  </a:solidFill>
                </a:rPr>
                <a:t>5.  出栈算法</a:t>
              </a:r>
            </a:p>
          </p:txBody>
        </p:sp>
      </p:grpSp>
      <p:sp>
        <p:nvSpPr>
          <p:cNvPr id="293924" name="Text Box 36"/>
          <p:cNvSpPr txBox="1">
            <a:spLocks noChangeArrowheads="1"/>
          </p:cNvSpPr>
          <p:nvPr/>
        </p:nvSpPr>
        <p:spPr bwMode="auto">
          <a:xfrm>
            <a:off x="2639616" y="3212976"/>
            <a:ext cx="7620000" cy="2616870"/>
          </a:xfrm>
          <a:prstGeom prst="rect">
            <a:avLst/>
          </a:prstGeom>
          <a:noFill/>
          <a:ln w="12700" cap="sq">
            <a:noFill/>
            <a:miter lim="800000"/>
            <a:headEnd type="none" w="sm" len="sm"/>
            <a:tailEnd type="none" w="sm" len="sm"/>
          </a:ln>
        </p:spPr>
        <p:txBody>
          <a:bodyPr>
            <a:spAutoFit/>
          </a:bodyPr>
          <a:lstStyle/>
          <a:p>
            <a:pPr eaLnBrk="1" hangingPunct="1">
              <a:lnSpc>
                <a:spcPct val="70000"/>
              </a:lnSpc>
            </a:pPr>
            <a:r>
              <a:rPr kumimoji="1" lang="en-US" altLang="zh-CN" sz="2600" b="1" dirty="0" err="1">
                <a:solidFill>
                  <a:srgbClr val="000099"/>
                </a:solidFill>
                <a:ea typeface="宋体" charset="-122"/>
              </a:rPr>
              <a:t>ElemType</a:t>
            </a:r>
            <a:r>
              <a:rPr kumimoji="1" lang="en-US" altLang="zh-CN" sz="2600" b="1" dirty="0">
                <a:solidFill>
                  <a:srgbClr val="000099"/>
                </a:solidFill>
                <a:ea typeface="宋体" charset="-122"/>
              </a:rPr>
              <a:t> pop</a:t>
            </a:r>
            <a:r>
              <a:rPr kumimoji="1" lang="en-US" altLang="en-US" sz="2600" b="1" dirty="0">
                <a:solidFill>
                  <a:srgbClr val="000099"/>
                </a:solidFill>
                <a:ea typeface="宋体" charset="-122"/>
              </a:rPr>
              <a:t>( </a:t>
            </a:r>
            <a:r>
              <a:rPr kumimoji="1" lang="en-US" altLang="en-US" sz="2600" b="1" dirty="0" err="1">
                <a:solidFill>
                  <a:srgbClr val="000099"/>
                </a:solidFill>
                <a:ea typeface="宋体" charset="-122"/>
              </a:rPr>
              <a:t>ElemType</a:t>
            </a:r>
            <a:r>
              <a:rPr kumimoji="1" lang="en-US" altLang="en-US" sz="2600" b="1" dirty="0">
                <a:solidFill>
                  <a:srgbClr val="000099"/>
                </a:solidFill>
                <a:ea typeface="宋体" charset="-122"/>
              </a:rPr>
              <a:t> s[ ])</a:t>
            </a:r>
          </a:p>
          <a:p>
            <a:pPr eaLnBrk="1" hangingPunct="1">
              <a:lnSpc>
                <a:spcPct val="70000"/>
              </a:lnSpc>
            </a:pPr>
            <a:r>
              <a:rPr kumimoji="1" lang="en-US" altLang="en-US" sz="2600" b="1" dirty="0">
                <a:solidFill>
                  <a:srgbClr val="000099"/>
                </a:solidFill>
                <a:ea typeface="宋体" charset="-122"/>
              </a:rPr>
              <a:t>{</a:t>
            </a:r>
          </a:p>
          <a:p>
            <a:pPr eaLnBrk="1" hangingPunct="1">
              <a:lnSpc>
                <a:spcPct val="70000"/>
              </a:lnSpc>
            </a:pPr>
            <a:r>
              <a:rPr kumimoji="1" lang="en-US" altLang="en-US" sz="2600" b="1" dirty="0">
                <a:solidFill>
                  <a:srgbClr val="000099"/>
                </a:solidFill>
                <a:ea typeface="宋体" charset="-122"/>
              </a:rPr>
              <a:t>      if(</a:t>
            </a:r>
            <a:r>
              <a:rPr kumimoji="1" lang="en-US" altLang="en-US" sz="2600" b="1" dirty="0" err="1">
                <a:solidFill>
                  <a:srgbClr val="000099"/>
                </a:solidFill>
                <a:ea typeface="宋体" charset="-122"/>
              </a:rPr>
              <a:t>isEmpty</a:t>
            </a:r>
            <a:r>
              <a:rPr kumimoji="1" lang="en-US" altLang="en-US" sz="2600" b="1" dirty="0">
                <a:solidFill>
                  <a:srgbClr val="000099"/>
                </a:solidFill>
                <a:ea typeface="宋体" charset="-122"/>
              </a:rPr>
              <a:t>())</a:t>
            </a:r>
          </a:p>
          <a:p>
            <a:pPr eaLnBrk="1" hangingPunct="1">
              <a:lnSpc>
                <a:spcPct val="70000"/>
              </a:lnSpc>
            </a:pPr>
            <a:r>
              <a:rPr kumimoji="1" lang="en-US" altLang="en-US" sz="2600" b="1" dirty="0">
                <a:solidFill>
                  <a:srgbClr val="000099"/>
                </a:solidFill>
                <a:ea typeface="宋体" charset="-122"/>
              </a:rPr>
              <a:t>             Error</a:t>
            </a:r>
            <a:r>
              <a:rPr kumimoji="1" lang="en-US" altLang="en-US" sz="2600" b="1">
                <a:solidFill>
                  <a:srgbClr val="000099"/>
                </a:solidFill>
                <a:ea typeface="宋体" charset="-122"/>
              </a:rPr>
              <a:t>(“Empty </a:t>
            </a:r>
            <a:r>
              <a:rPr kumimoji="1" lang="en-US" altLang="en-US" sz="2600" b="1" dirty="0">
                <a:solidFill>
                  <a:srgbClr val="000099"/>
                </a:solidFill>
                <a:ea typeface="宋体" charset="-122"/>
              </a:rPr>
              <a:t>Stack!”);</a:t>
            </a:r>
          </a:p>
          <a:p>
            <a:pPr eaLnBrk="1" hangingPunct="1">
              <a:lnSpc>
                <a:spcPct val="70000"/>
              </a:lnSpc>
            </a:pPr>
            <a:r>
              <a:rPr kumimoji="1" lang="en-US" altLang="en-US" sz="2600" b="1" dirty="0">
                <a:solidFill>
                  <a:srgbClr val="000099"/>
                </a:solidFill>
                <a:ea typeface="宋体" charset="-122"/>
              </a:rPr>
              <a:t>      else</a:t>
            </a:r>
          </a:p>
          <a:p>
            <a:pPr eaLnBrk="1" hangingPunct="1">
              <a:lnSpc>
                <a:spcPct val="70000"/>
              </a:lnSpc>
            </a:pPr>
            <a:endParaRPr kumimoji="1" lang="en-US" altLang="en-US" sz="2600" b="1" dirty="0">
              <a:solidFill>
                <a:srgbClr val="000099"/>
              </a:solidFill>
              <a:ea typeface="宋体" charset="-122"/>
            </a:endParaRPr>
          </a:p>
          <a:p>
            <a:pPr eaLnBrk="1" hangingPunct="1">
              <a:lnSpc>
                <a:spcPct val="70000"/>
              </a:lnSpc>
            </a:pPr>
            <a:r>
              <a:rPr kumimoji="1" lang="en-US" altLang="en-US" sz="2600" b="1" dirty="0">
                <a:solidFill>
                  <a:srgbClr val="000099"/>
                </a:solidFill>
                <a:ea typeface="宋体" charset="-122"/>
              </a:rPr>
              <a:t>     </a:t>
            </a:r>
          </a:p>
          <a:p>
            <a:pPr eaLnBrk="1" hangingPunct="1">
              <a:lnSpc>
                <a:spcPct val="70000"/>
              </a:lnSpc>
            </a:pPr>
            <a:r>
              <a:rPr kumimoji="1" lang="en-US" altLang="en-US" sz="2600" b="1" dirty="0">
                <a:solidFill>
                  <a:srgbClr val="000099"/>
                </a:solidFill>
                <a:ea typeface="宋体" charset="-122"/>
              </a:rPr>
              <a:t>      </a:t>
            </a:r>
          </a:p>
          <a:p>
            <a:pPr eaLnBrk="1" hangingPunct="1">
              <a:lnSpc>
                <a:spcPct val="70000"/>
              </a:lnSpc>
            </a:pPr>
            <a:r>
              <a:rPr lang="en-US" altLang="zh-CN" sz="2600" b="1" dirty="0">
                <a:solidFill>
                  <a:srgbClr val="000099"/>
                </a:solidFill>
              </a:rPr>
              <a:t>}</a:t>
            </a:r>
          </a:p>
        </p:txBody>
      </p:sp>
      <p:grpSp>
        <p:nvGrpSpPr>
          <p:cNvPr id="8" name="Group 48"/>
          <p:cNvGrpSpPr>
            <a:grpSpLocks/>
          </p:cNvGrpSpPr>
          <p:nvPr/>
        </p:nvGrpSpPr>
        <p:grpSpPr bwMode="auto">
          <a:xfrm>
            <a:off x="4189190" y="4581129"/>
            <a:ext cx="2647950" cy="1008668"/>
            <a:chOff x="1906" y="2523"/>
            <a:chExt cx="1668" cy="847"/>
          </a:xfrm>
        </p:grpSpPr>
        <p:sp>
          <p:nvSpPr>
            <p:cNvPr id="41995" name="Line 49"/>
            <p:cNvSpPr>
              <a:spLocks noChangeShapeType="1"/>
            </p:cNvSpPr>
            <p:nvPr/>
          </p:nvSpPr>
          <p:spPr bwMode="auto">
            <a:xfrm>
              <a:off x="1906" y="2523"/>
              <a:ext cx="1668" cy="0"/>
            </a:xfrm>
            <a:prstGeom prst="line">
              <a:avLst/>
            </a:prstGeom>
            <a:noFill/>
            <a:ln w="53975" cap="sq">
              <a:solidFill>
                <a:srgbClr val="FF0000"/>
              </a:solidFill>
              <a:round/>
              <a:headEnd type="none" w="sm" len="sm"/>
              <a:tailEnd type="none" w="sm" len="sm"/>
            </a:ln>
          </p:spPr>
          <p:txBody>
            <a:bodyPr/>
            <a:lstStyle/>
            <a:p>
              <a:endParaRPr lang="zh-CN" altLang="en-US"/>
            </a:p>
          </p:txBody>
        </p:sp>
        <p:sp>
          <p:nvSpPr>
            <p:cNvPr id="41996" name="Line 50"/>
            <p:cNvSpPr>
              <a:spLocks noChangeShapeType="1"/>
            </p:cNvSpPr>
            <p:nvPr/>
          </p:nvSpPr>
          <p:spPr bwMode="auto">
            <a:xfrm>
              <a:off x="1973" y="3370"/>
              <a:ext cx="1179" cy="0"/>
            </a:xfrm>
            <a:prstGeom prst="line">
              <a:avLst/>
            </a:prstGeom>
            <a:noFill/>
            <a:ln w="50800" cap="sq">
              <a:solidFill>
                <a:srgbClr val="FF0000"/>
              </a:solidFill>
              <a:round/>
              <a:headEnd type="none" w="sm" len="sm"/>
              <a:tailEnd type="none" w="sm" len="sm"/>
            </a:ln>
          </p:spPr>
          <p:txBody>
            <a:bodyPr/>
            <a:lstStyle/>
            <a:p>
              <a:endParaRPr lang="zh-CN" altLang="en-US"/>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93911"/>
                                        </p:tgtEl>
                                        <p:attrNameLst>
                                          <p:attrName>style.visibility</p:attrName>
                                        </p:attrNameLst>
                                      </p:cBhvr>
                                      <p:to>
                                        <p:strVal val="visible"/>
                                      </p:to>
                                    </p:set>
                                    <p:animEffect transition="in" filter="dissolve">
                                      <p:cBhvr>
                                        <p:cTn id="17" dur="500"/>
                                        <p:tgtEl>
                                          <p:spTgt spid="29391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3" presetClass="entr" presetSubtype="52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500" fill="hold"/>
                                        <p:tgtEl>
                                          <p:spTgt spid="5"/>
                                        </p:tgtEl>
                                        <p:attrNameLst>
                                          <p:attrName>ppt_w</p:attrName>
                                        </p:attrNameLst>
                                      </p:cBhvr>
                                      <p:tavLst>
                                        <p:tav tm="0">
                                          <p:val>
                                            <p:fltVal val="0"/>
                                          </p:val>
                                        </p:tav>
                                        <p:tav tm="100000">
                                          <p:val>
                                            <p:strVal val="#ppt_w"/>
                                          </p:val>
                                        </p:tav>
                                      </p:tavLst>
                                    </p:anim>
                                    <p:anim calcmode="lin" valueType="num">
                                      <p:cBhvr>
                                        <p:cTn id="23" dur="500" fill="hold"/>
                                        <p:tgtEl>
                                          <p:spTgt spid="5"/>
                                        </p:tgtEl>
                                        <p:attrNameLst>
                                          <p:attrName>ppt_h</p:attrName>
                                        </p:attrNameLst>
                                      </p:cBhvr>
                                      <p:tavLst>
                                        <p:tav tm="0">
                                          <p:val>
                                            <p:fltVal val="0"/>
                                          </p:val>
                                        </p:tav>
                                        <p:tav tm="100000">
                                          <p:val>
                                            <p:strVal val="#ppt_h"/>
                                          </p:val>
                                        </p:tav>
                                      </p:tavLst>
                                    </p:anim>
                                    <p:anim calcmode="lin" valueType="num">
                                      <p:cBhvr>
                                        <p:cTn id="24" dur="500" fill="hold"/>
                                        <p:tgtEl>
                                          <p:spTgt spid="5"/>
                                        </p:tgtEl>
                                        <p:attrNameLst>
                                          <p:attrName>ppt_x</p:attrName>
                                        </p:attrNameLst>
                                      </p:cBhvr>
                                      <p:tavLst>
                                        <p:tav tm="0">
                                          <p:val>
                                            <p:fltVal val="0.5"/>
                                          </p:val>
                                        </p:tav>
                                        <p:tav tm="100000">
                                          <p:val>
                                            <p:strVal val="#ppt_x"/>
                                          </p:val>
                                        </p:tav>
                                      </p:tavLst>
                                    </p:anim>
                                    <p:anim calcmode="lin" valueType="num">
                                      <p:cBhvr>
                                        <p:cTn id="25" dur="500" fill="hold"/>
                                        <p:tgtEl>
                                          <p:spTgt spid="5"/>
                                        </p:tgtEl>
                                        <p:attrNameLst>
                                          <p:attrName>ppt_y</p:attrName>
                                        </p:attrNameLst>
                                      </p:cBhvr>
                                      <p:tavLst>
                                        <p:tav tm="0">
                                          <p:val>
                                            <p:fltVal val="0.5"/>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left)">
                                      <p:cBhvr>
                                        <p:cTn id="30" dur="500"/>
                                        <p:tgtEl>
                                          <p:spTgt spid="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293924"/>
                                        </p:tgtEl>
                                        <p:attrNameLst>
                                          <p:attrName>style.visibility</p:attrName>
                                        </p:attrNameLst>
                                      </p:cBhvr>
                                      <p:to>
                                        <p:strVal val="visible"/>
                                      </p:to>
                                    </p:set>
                                    <p:animEffect transition="in" filter="dissolve">
                                      <p:cBhvr>
                                        <p:cTn id="35" dur="500"/>
                                        <p:tgtEl>
                                          <p:spTgt spid="29392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2" fill="hold"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ipe(right)">
                                      <p:cBhvr>
                                        <p:cTn id="40" dur="500"/>
                                        <p:tgtEl>
                                          <p:spTgt spid="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2" fill="hold"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right)">
                                      <p:cBhvr>
                                        <p:cTn id="45"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911" grpId="0" animBg="1"/>
      <p:bldP spid="293924"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938213" y="116168"/>
            <a:ext cx="5324475" cy="588963"/>
            <a:chOff x="314" y="240"/>
            <a:chExt cx="3238" cy="371"/>
          </a:xfrm>
        </p:grpSpPr>
        <p:sp>
          <p:nvSpPr>
            <p:cNvPr id="43077" name="Rectangle 3"/>
            <p:cNvSpPr>
              <a:spLocks noChangeArrowheads="1"/>
            </p:cNvSpPr>
            <p:nvPr/>
          </p:nvSpPr>
          <p:spPr bwMode="auto">
            <a:xfrm>
              <a:off x="314" y="240"/>
              <a:ext cx="3142" cy="362"/>
            </a:xfrm>
            <a:prstGeom prst="rect">
              <a:avLst/>
            </a:prstGeom>
            <a:solidFill>
              <a:srgbClr val="FFFFB5"/>
            </a:solidFill>
            <a:ln w="12700" cap="sq">
              <a:noFill/>
              <a:miter lim="800000"/>
              <a:headEnd type="none" w="sm" len="sm"/>
              <a:tailEnd type="none" w="sm" len="sm"/>
            </a:ln>
            <a:effectLst>
              <a:outerShdw dist="71842" dir="2700000" algn="ctr" rotWithShape="0">
                <a:srgbClr val="B2B2B2"/>
              </a:outerShdw>
            </a:effectLst>
          </p:spPr>
          <p:txBody>
            <a:bodyPr wrap="none" anchor="ctr"/>
            <a:lstStyle/>
            <a:p>
              <a:endParaRPr lang="zh-CN" altLang="en-US"/>
            </a:p>
          </p:txBody>
        </p:sp>
        <p:sp>
          <p:nvSpPr>
            <p:cNvPr id="43078" name="Text Box 4"/>
            <p:cNvSpPr txBox="1">
              <a:spLocks noChangeArrowheads="1"/>
            </p:cNvSpPr>
            <p:nvPr/>
          </p:nvSpPr>
          <p:spPr bwMode="auto">
            <a:xfrm>
              <a:off x="373" y="255"/>
              <a:ext cx="3179" cy="356"/>
            </a:xfrm>
            <a:prstGeom prst="rect">
              <a:avLst/>
            </a:prstGeom>
            <a:noFill/>
            <a:ln w="12700" cap="sq">
              <a:noFill/>
              <a:miter lim="800000"/>
              <a:headEnd type="none" w="sm" len="sm"/>
              <a:tailEnd type="none" w="sm" len="sm"/>
            </a:ln>
          </p:spPr>
          <p:txBody>
            <a:bodyPr>
              <a:spAutoFit/>
            </a:bodyPr>
            <a:lstStyle/>
            <a:p>
              <a:pPr eaLnBrk="1" hangingPunct="1"/>
              <a:r>
                <a:rPr kumimoji="1" lang="en-US" altLang="zh-CN" sz="3100" b="1" dirty="0">
                  <a:solidFill>
                    <a:srgbClr val="000099"/>
                  </a:solidFill>
                </a:rPr>
                <a:t>(</a:t>
              </a:r>
              <a:r>
                <a:rPr kumimoji="1" lang="zh-CN" altLang="en-US" sz="3100" b="1" dirty="0">
                  <a:solidFill>
                    <a:srgbClr val="000099"/>
                  </a:solidFill>
                </a:rPr>
                <a:t>三</a:t>
              </a:r>
              <a:r>
                <a:rPr kumimoji="1" lang="en-US" altLang="zh-CN" sz="3100" b="1" dirty="0">
                  <a:solidFill>
                    <a:srgbClr val="000099"/>
                  </a:solidFill>
                </a:rPr>
                <a:t>) </a:t>
              </a:r>
              <a:r>
                <a:rPr kumimoji="1" lang="zh-CN" altLang="en-US" sz="3100" b="1" dirty="0">
                  <a:solidFill>
                    <a:srgbClr val="000099"/>
                  </a:solidFill>
                </a:rPr>
                <a:t> 多栈共享连续空间问题</a:t>
              </a:r>
              <a:endParaRPr kumimoji="1" lang="zh-CN" altLang="en-US" sz="3100" dirty="0">
                <a:solidFill>
                  <a:srgbClr val="000099"/>
                </a:solidFill>
              </a:endParaRPr>
            </a:p>
          </p:txBody>
        </p:sp>
      </p:grpSp>
      <p:sp>
        <p:nvSpPr>
          <p:cNvPr id="294917" name="Text Box 5"/>
          <p:cNvSpPr txBox="1">
            <a:spLocks noChangeArrowheads="1"/>
          </p:cNvSpPr>
          <p:nvPr/>
        </p:nvSpPr>
        <p:spPr bwMode="auto">
          <a:xfrm>
            <a:off x="2351584" y="1052737"/>
            <a:ext cx="4876800" cy="442913"/>
          </a:xfrm>
          <a:prstGeom prst="rect">
            <a:avLst/>
          </a:prstGeom>
          <a:noFill/>
          <a:ln w="12700" cap="sq">
            <a:noFill/>
            <a:miter lim="800000"/>
            <a:headEnd type="none" w="sm" len="sm"/>
            <a:tailEnd type="none" w="sm" len="sm"/>
          </a:ln>
        </p:spPr>
        <p:txBody>
          <a:bodyPr>
            <a:spAutoFit/>
          </a:bodyPr>
          <a:lstStyle/>
          <a:p>
            <a:r>
              <a:rPr lang="zh-CN" altLang="en-US" sz="2300" b="1" dirty="0">
                <a:solidFill>
                  <a:schemeClr val="accent2"/>
                </a:solidFill>
                <a:ea typeface="幼圆" pitchFamily="49" charset="-122"/>
              </a:rPr>
              <a:t>（以两个栈共享一个数组为例）</a:t>
            </a:r>
          </a:p>
        </p:txBody>
      </p:sp>
      <p:grpSp>
        <p:nvGrpSpPr>
          <p:cNvPr id="71" name="组合 70"/>
          <p:cNvGrpSpPr/>
          <p:nvPr/>
        </p:nvGrpSpPr>
        <p:grpSpPr>
          <a:xfrm>
            <a:off x="2725738" y="1731964"/>
            <a:ext cx="6826250" cy="1335087"/>
            <a:chOff x="1201738" y="1731963"/>
            <a:chExt cx="6826250" cy="1335087"/>
          </a:xfrm>
        </p:grpSpPr>
        <p:grpSp>
          <p:nvGrpSpPr>
            <p:cNvPr id="3" name="Group 6"/>
            <p:cNvGrpSpPr>
              <a:grpSpLocks/>
            </p:cNvGrpSpPr>
            <p:nvPr/>
          </p:nvGrpSpPr>
          <p:grpSpPr bwMode="auto">
            <a:xfrm>
              <a:off x="1201738" y="1731963"/>
              <a:ext cx="3225800" cy="862012"/>
              <a:chOff x="757" y="1091"/>
              <a:chExt cx="2032" cy="543"/>
            </a:xfrm>
          </p:grpSpPr>
          <p:sp>
            <p:nvSpPr>
              <p:cNvPr id="43065" name="Text Box 7"/>
              <p:cNvSpPr txBox="1">
                <a:spLocks noChangeArrowheads="1"/>
              </p:cNvSpPr>
              <p:nvPr/>
            </p:nvSpPr>
            <p:spPr bwMode="auto">
              <a:xfrm>
                <a:off x="757" y="1091"/>
                <a:ext cx="2032" cy="288"/>
              </a:xfrm>
              <a:prstGeom prst="rect">
                <a:avLst/>
              </a:prstGeom>
              <a:noFill/>
              <a:ln w="12700" cap="sq">
                <a:noFill/>
                <a:miter lim="800000"/>
                <a:headEnd type="none" w="sm" len="sm"/>
                <a:tailEnd type="none" w="sm" len="sm"/>
              </a:ln>
            </p:spPr>
            <p:txBody>
              <a:bodyPr>
                <a:spAutoFit/>
              </a:bodyPr>
              <a:lstStyle/>
              <a:p>
                <a:r>
                  <a:rPr lang="en-US" altLang="zh-CN" sz="2400" b="1">
                    <a:solidFill>
                      <a:srgbClr val="000099"/>
                    </a:solidFill>
                  </a:rPr>
                  <a:t>STACK1[0..M1</a:t>
                </a:r>
                <a:r>
                  <a:rPr lang="en-US" altLang="zh-CN" sz="2400" b="1">
                    <a:solidFill>
                      <a:srgbClr val="000099"/>
                    </a:solidFill>
                    <a:latin typeface="宋体" charset="-122"/>
                    <a:ea typeface="宋体" charset="-122"/>
                  </a:rPr>
                  <a:t>-</a:t>
                </a:r>
                <a:r>
                  <a:rPr lang="en-US" altLang="zh-CN" sz="2400" b="1">
                    <a:solidFill>
                      <a:srgbClr val="000099"/>
                    </a:solidFill>
                  </a:rPr>
                  <a:t>1]</a:t>
                </a:r>
              </a:p>
            </p:txBody>
          </p:sp>
          <p:sp>
            <p:nvSpPr>
              <p:cNvPr id="43066" name="Line 8"/>
              <p:cNvSpPr>
                <a:spLocks noChangeShapeType="1"/>
              </p:cNvSpPr>
              <p:nvPr/>
            </p:nvSpPr>
            <p:spPr bwMode="auto">
              <a:xfrm>
                <a:off x="839" y="1434"/>
                <a:ext cx="1587" cy="0"/>
              </a:xfrm>
              <a:prstGeom prst="line">
                <a:avLst/>
              </a:prstGeom>
              <a:noFill/>
              <a:ln w="22225" cap="sq">
                <a:solidFill>
                  <a:srgbClr val="000080"/>
                </a:solidFill>
                <a:round/>
                <a:headEnd type="none" w="sm" len="sm"/>
                <a:tailEnd type="none" w="sm" len="sm"/>
              </a:ln>
            </p:spPr>
            <p:txBody>
              <a:bodyPr/>
              <a:lstStyle/>
              <a:p>
                <a:endParaRPr lang="zh-CN" altLang="en-US"/>
              </a:p>
            </p:txBody>
          </p:sp>
          <p:sp>
            <p:nvSpPr>
              <p:cNvPr id="43067" name="Line 9"/>
              <p:cNvSpPr>
                <a:spLocks noChangeShapeType="1"/>
              </p:cNvSpPr>
              <p:nvPr/>
            </p:nvSpPr>
            <p:spPr bwMode="auto">
              <a:xfrm>
                <a:off x="846" y="1633"/>
                <a:ext cx="1587" cy="0"/>
              </a:xfrm>
              <a:prstGeom prst="line">
                <a:avLst/>
              </a:prstGeom>
              <a:noFill/>
              <a:ln w="22225" cap="sq">
                <a:solidFill>
                  <a:srgbClr val="000080"/>
                </a:solidFill>
                <a:round/>
                <a:headEnd type="none" w="sm" len="sm"/>
                <a:tailEnd type="none" w="sm" len="sm"/>
              </a:ln>
            </p:spPr>
            <p:txBody>
              <a:bodyPr/>
              <a:lstStyle/>
              <a:p>
                <a:endParaRPr lang="zh-CN" altLang="en-US"/>
              </a:p>
            </p:txBody>
          </p:sp>
          <p:sp>
            <p:nvSpPr>
              <p:cNvPr id="43068" name="Line 10"/>
              <p:cNvSpPr>
                <a:spLocks noChangeShapeType="1"/>
              </p:cNvSpPr>
              <p:nvPr/>
            </p:nvSpPr>
            <p:spPr bwMode="auto">
              <a:xfrm>
                <a:off x="839" y="1434"/>
                <a:ext cx="0" cy="182"/>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43069" name="Line 11"/>
              <p:cNvSpPr>
                <a:spLocks noChangeShapeType="1"/>
              </p:cNvSpPr>
              <p:nvPr/>
            </p:nvSpPr>
            <p:spPr bwMode="auto">
              <a:xfrm>
                <a:off x="1568" y="1434"/>
                <a:ext cx="0" cy="182"/>
              </a:xfrm>
              <a:prstGeom prst="line">
                <a:avLst/>
              </a:prstGeom>
              <a:noFill/>
              <a:ln w="12700" cap="sq">
                <a:solidFill>
                  <a:srgbClr val="000080"/>
                </a:solidFill>
                <a:round/>
                <a:headEnd type="none" w="sm" len="sm"/>
                <a:tailEnd type="none" w="sm" len="sm"/>
              </a:ln>
            </p:spPr>
            <p:txBody>
              <a:bodyPr/>
              <a:lstStyle/>
              <a:p>
                <a:endParaRPr lang="zh-CN" altLang="en-US"/>
              </a:p>
            </p:txBody>
          </p:sp>
          <p:sp>
            <p:nvSpPr>
              <p:cNvPr id="43070" name="Line 12"/>
              <p:cNvSpPr>
                <a:spLocks noChangeShapeType="1"/>
              </p:cNvSpPr>
              <p:nvPr/>
            </p:nvSpPr>
            <p:spPr bwMode="auto">
              <a:xfrm>
                <a:off x="1700" y="1441"/>
                <a:ext cx="0" cy="182"/>
              </a:xfrm>
              <a:prstGeom prst="line">
                <a:avLst/>
              </a:prstGeom>
              <a:noFill/>
              <a:ln w="12700" cap="sq">
                <a:solidFill>
                  <a:srgbClr val="000080"/>
                </a:solidFill>
                <a:round/>
                <a:headEnd type="none" w="sm" len="sm"/>
                <a:tailEnd type="none" w="sm" len="sm"/>
              </a:ln>
            </p:spPr>
            <p:txBody>
              <a:bodyPr/>
              <a:lstStyle/>
              <a:p>
                <a:endParaRPr lang="zh-CN" altLang="en-US"/>
              </a:p>
            </p:txBody>
          </p:sp>
          <p:sp>
            <p:nvSpPr>
              <p:cNvPr id="43071" name="Line 13"/>
              <p:cNvSpPr>
                <a:spLocks noChangeShapeType="1"/>
              </p:cNvSpPr>
              <p:nvPr/>
            </p:nvSpPr>
            <p:spPr bwMode="auto">
              <a:xfrm>
                <a:off x="2426" y="1441"/>
                <a:ext cx="0" cy="182"/>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43072" name="Line 14"/>
              <p:cNvSpPr>
                <a:spLocks noChangeShapeType="1"/>
              </p:cNvSpPr>
              <p:nvPr/>
            </p:nvSpPr>
            <p:spPr bwMode="auto">
              <a:xfrm>
                <a:off x="958" y="1438"/>
                <a:ext cx="0" cy="182"/>
              </a:xfrm>
              <a:prstGeom prst="line">
                <a:avLst/>
              </a:prstGeom>
              <a:noFill/>
              <a:ln w="12700" cap="sq">
                <a:solidFill>
                  <a:srgbClr val="000080"/>
                </a:solidFill>
                <a:round/>
                <a:headEnd type="none" w="sm" len="sm"/>
                <a:tailEnd type="none" w="sm" len="sm"/>
              </a:ln>
            </p:spPr>
            <p:txBody>
              <a:bodyPr/>
              <a:lstStyle/>
              <a:p>
                <a:endParaRPr lang="zh-CN" altLang="en-US"/>
              </a:p>
            </p:txBody>
          </p:sp>
          <p:sp>
            <p:nvSpPr>
              <p:cNvPr id="43073" name="Line 15"/>
              <p:cNvSpPr>
                <a:spLocks noChangeShapeType="1"/>
              </p:cNvSpPr>
              <p:nvPr/>
            </p:nvSpPr>
            <p:spPr bwMode="auto">
              <a:xfrm>
                <a:off x="1076" y="1434"/>
                <a:ext cx="0" cy="182"/>
              </a:xfrm>
              <a:prstGeom prst="line">
                <a:avLst/>
              </a:prstGeom>
              <a:noFill/>
              <a:ln w="12700" cap="sq">
                <a:solidFill>
                  <a:srgbClr val="000080"/>
                </a:solidFill>
                <a:round/>
                <a:headEnd type="none" w="sm" len="sm"/>
                <a:tailEnd type="none" w="sm" len="sm"/>
              </a:ln>
            </p:spPr>
            <p:txBody>
              <a:bodyPr/>
              <a:lstStyle/>
              <a:p>
                <a:endParaRPr lang="zh-CN" altLang="en-US"/>
              </a:p>
            </p:txBody>
          </p:sp>
          <p:sp>
            <p:nvSpPr>
              <p:cNvPr id="43074" name="Line 16"/>
              <p:cNvSpPr>
                <a:spLocks noChangeShapeType="1"/>
              </p:cNvSpPr>
              <p:nvPr/>
            </p:nvSpPr>
            <p:spPr bwMode="auto">
              <a:xfrm>
                <a:off x="1201" y="1434"/>
                <a:ext cx="0" cy="182"/>
              </a:xfrm>
              <a:prstGeom prst="line">
                <a:avLst/>
              </a:prstGeom>
              <a:noFill/>
              <a:ln w="12700" cap="sq">
                <a:solidFill>
                  <a:srgbClr val="000080"/>
                </a:solidFill>
                <a:round/>
                <a:headEnd type="none" w="sm" len="sm"/>
                <a:tailEnd type="none" w="sm" len="sm"/>
              </a:ln>
            </p:spPr>
            <p:txBody>
              <a:bodyPr/>
              <a:lstStyle/>
              <a:p>
                <a:endParaRPr lang="zh-CN" altLang="en-US"/>
              </a:p>
            </p:txBody>
          </p:sp>
          <p:sp>
            <p:nvSpPr>
              <p:cNvPr id="43075" name="Line 17"/>
              <p:cNvSpPr>
                <a:spLocks noChangeShapeType="1"/>
              </p:cNvSpPr>
              <p:nvPr/>
            </p:nvSpPr>
            <p:spPr bwMode="auto">
              <a:xfrm>
                <a:off x="1317" y="1452"/>
                <a:ext cx="0" cy="182"/>
              </a:xfrm>
              <a:prstGeom prst="line">
                <a:avLst/>
              </a:prstGeom>
              <a:noFill/>
              <a:ln w="12700" cap="sq">
                <a:solidFill>
                  <a:srgbClr val="000080"/>
                </a:solidFill>
                <a:round/>
                <a:headEnd type="none" w="sm" len="sm"/>
                <a:tailEnd type="none" w="sm" len="sm"/>
              </a:ln>
            </p:spPr>
            <p:txBody>
              <a:bodyPr/>
              <a:lstStyle/>
              <a:p>
                <a:endParaRPr lang="zh-CN" altLang="en-US"/>
              </a:p>
            </p:txBody>
          </p:sp>
          <p:sp>
            <p:nvSpPr>
              <p:cNvPr id="43076" name="Line 18"/>
              <p:cNvSpPr>
                <a:spLocks noChangeShapeType="1"/>
              </p:cNvSpPr>
              <p:nvPr/>
            </p:nvSpPr>
            <p:spPr bwMode="auto">
              <a:xfrm>
                <a:off x="1432" y="1441"/>
                <a:ext cx="0" cy="182"/>
              </a:xfrm>
              <a:prstGeom prst="line">
                <a:avLst/>
              </a:prstGeom>
              <a:noFill/>
              <a:ln w="12700" cap="sq">
                <a:solidFill>
                  <a:srgbClr val="000080"/>
                </a:solidFill>
                <a:round/>
                <a:headEnd type="none" w="sm" len="sm"/>
                <a:tailEnd type="none" w="sm" len="sm"/>
              </a:ln>
            </p:spPr>
            <p:txBody>
              <a:bodyPr/>
              <a:lstStyle/>
              <a:p>
                <a:endParaRPr lang="zh-CN" altLang="en-US"/>
              </a:p>
            </p:txBody>
          </p:sp>
        </p:grpSp>
        <p:grpSp>
          <p:nvGrpSpPr>
            <p:cNvPr id="4" name="Group 19"/>
            <p:cNvGrpSpPr>
              <a:grpSpLocks/>
            </p:cNvGrpSpPr>
            <p:nvPr/>
          </p:nvGrpSpPr>
          <p:grpSpPr bwMode="auto">
            <a:xfrm>
              <a:off x="1349375" y="2265363"/>
              <a:ext cx="2608263" cy="801687"/>
              <a:chOff x="748" y="1752"/>
              <a:chExt cx="1643" cy="505"/>
            </a:xfrm>
          </p:grpSpPr>
          <p:sp>
            <p:nvSpPr>
              <p:cNvPr id="43059" name="Text Box 20"/>
              <p:cNvSpPr txBox="1">
                <a:spLocks noChangeArrowheads="1"/>
              </p:cNvSpPr>
              <p:nvPr/>
            </p:nvSpPr>
            <p:spPr bwMode="auto">
              <a:xfrm>
                <a:off x="1376" y="2055"/>
                <a:ext cx="499" cy="202"/>
              </a:xfrm>
              <a:prstGeom prst="rect">
                <a:avLst/>
              </a:prstGeom>
              <a:noFill/>
              <a:ln w="12700" cap="sq">
                <a:noFill/>
                <a:miter lim="800000"/>
                <a:headEnd type="none" w="sm" len="sm"/>
                <a:tailEnd type="none" w="sm" len="sm"/>
              </a:ln>
            </p:spPr>
            <p:txBody>
              <a:bodyPr>
                <a:spAutoFit/>
              </a:bodyPr>
              <a:lstStyle/>
              <a:p>
                <a:r>
                  <a:rPr lang="en-US" altLang="zh-CN" sz="1500" b="1">
                    <a:solidFill>
                      <a:schemeClr val="accent2"/>
                    </a:solidFill>
                  </a:rPr>
                  <a:t>top1</a:t>
                </a:r>
              </a:p>
            </p:txBody>
          </p:sp>
          <p:sp>
            <p:nvSpPr>
              <p:cNvPr id="43060" name="Line 21"/>
              <p:cNvSpPr>
                <a:spLocks noChangeShapeType="1"/>
              </p:cNvSpPr>
              <p:nvPr/>
            </p:nvSpPr>
            <p:spPr bwMode="auto">
              <a:xfrm flipV="1">
                <a:off x="1543" y="1950"/>
                <a:ext cx="0" cy="136"/>
              </a:xfrm>
              <a:prstGeom prst="line">
                <a:avLst/>
              </a:prstGeom>
              <a:noFill/>
              <a:ln w="22225" cap="sq">
                <a:solidFill>
                  <a:srgbClr val="FF3300"/>
                </a:solidFill>
                <a:round/>
                <a:headEnd type="none" w="sm" len="sm"/>
                <a:tailEnd type="triangle" w="med" len="lg"/>
              </a:ln>
            </p:spPr>
            <p:txBody>
              <a:bodyPr/>
              <a:lstStyle/>
              <a:p>
                <a:endParaRPr lang="zh-CN" altLang="en-US"/>
              </a:p>
            </p:txBody>
          </p:sp>
          <p:grpSp>
            <p:nvGrpSpPr>
              <p:cNvPr id="5" name="Group 22"/>
              <p:cNvGrpSpPr>
                <a:grpSpLocks/>
              </p:cNvGrpSpPr>
              <p:nvPr/>
            </p:nvGrpSpPr>
            <p:grpSpPr bwMode="auto">
              <a:xfrm>
                <a:off x="748" y="1752"/>
                <a:ext cx="1643" cy="212"/>
                <a:chOff x="975" y="2593"/>
                <a:chExt cx="1643" cy="212"/>
              </a:xfrm>
            </p:grpSpPr>
            <p:sp>
              <p:nvSpPr>
                <p:cNvPr id="43062" name="Rectangle 23"/>
                <p:cNvSpPr>
                  <a:spLocks noChangeArrowheads="1"/>
                </p:cNvSpPr>
                <p:nvPr/>
              </p:nvSpPr>
              <p:spPr bwMode="auto">
                <a:xfrm>
                  <a:off x="975" y="2610"/>
                  <a:ext cx="852" cy="182"/>
                </a:xfrm>
                <a:prstGeom prst="rect">
                  <a:avLst/>
                </a:prstGeom>
                <a:solidFill>
                  <a:srgbClr val="D5D5D5"/>
                </a:solidFill>
                <a:ln w="12700" cap="sq">
                  <a:noFill/>
                  <a:miter lim="800000"/>
                  <a:headEnd type="none" w="sm" len="sm"/>
                  <a:tailEnd type="none" w="sm" len="sm"/>
                </a:ln>
              </p:spPr>
              <p:txBody>
                <a:bodyPr wrap="none" anchor="ctr"/>
                <a:lstStyle/>
                <a:p>
                  <a:endParaRPr lang="zh-CN" altLang="en-US"/>
                </a:p>
              </p:txBody>
            </p:sp>
            <p:sp>
              <p:nvSpPr>
                <p:cNvPr id="43063" name="Line 24"/>
                <p:cNvSpPr>
                  <a:spLocks noChangeShapeType="1"/>
                </p:cNvSpPr>
                <p:nvPr/>
              </p:nvSpPr>
              <p:spPr bwMode="auto">
                <a:xfrm>
                  <a:off x="1704" y="2606"/>
                  <a:ext cx="0" cy="182"/>
                </a:xfrm>
                <a:prstGeom prst="line">
                  <a:avLst/>
                </a:prstGeom>
                <a:noFill/>
                <a:ln w="19050" cap="sq">
                  <a:solidFill>
                    <a:srgbClr val="000080"/>
                  </a:solidFill>
                  <a:round/>
                  <a:headEnd type="none" w="sm" len="sm"/>
                  <a:tailEnd type="none" w="sm" len="sm"/>
                </a:ln>
              </p:spPr>
              <p:txBody>
                <a:bodyPr/>
                <a:lstStyle/>
                <a:p>
                  <a:endParaRPr lang="zh-CN" altLang="en-US"/>
                </a:p>
              </p:txBody>
            </p:sp>
            <p:sp>
              <p:nvSpPr>
                <p:cNvPr id="43064" name="Text Box 25"/>
                <p:cNvSpPr txBox="1">
                  <a:spLocks noChangeArrowheads="1"/>
                </p:cNvSpPr>
                <p:nvPr/>
              </p:nvSpPr>
              <p:spPr bwMode="auto">
                <a:xfrm>
                  <a:off x="1048" y="2593"/>
                  <a:ext cx="1570" cy="212"/>
                </a:xfrm>
                <a:prstGeom prst="rect">
                  <a:avLst/>
                </a:prstGeom>
                <a:noFill/>
                <a:ln w="12700" cap="sq">
                  <a:noFill/>
                  <a:miter lim="800000"/>
                  <a:headEnd type="none" w="sm" len="sm"/>
                  <a:tailEnd type="none" w="sm" len="sm"/>
                </a:ln>
              </p:spPr>
              <p:txBody>
                <a:bodyPr>
                  <a:spAutoFit/>
                </a:bodyPr>
                <a:lstStyle/>
                <a:p>
                  <a:r>
                    <a:rPr lang="zh-CN" altLang="en-US" sz="1600" b="1">
                      <a:solidFill>
                        <a:srgbClr val="000099"/>
                      </a:solidFill>
                      <a:ea typeface="幼圆" pitchFamily="49" charset="-122"/>
                    </a:rPr>
                    <a:t>已用空间         可用空间</a:t>
                  </a:r>
                </a:p>
              </p:txBody>
            </p:sp>
          </p:grpSp>
        </p:grpSp>
        <p:grpSp>
          <p:nvGrpSpPr>
            <p:cNvPr id="6" name="Group 26"/>
            <p:cNvGrpSpPr>
              <a:grpSpLocks/>
            </p:cNvGrpSpPr>
            <p:nvPr/>
          </p:nvGrpSpPr>
          <p:grpSpPr bwMode="auto">
            <a:xfrm>
              <a:off x="4586288" y="1755775"/>
              <a:ext cx="3441700" cy="825500"/>
              <a:chOff x="2889" y="1106"/>
              <a:chExt cx="2168" cy="520"/>
            </a:xfrm>
          </p:grpSpPr>
          <p:sp>
            <p:nvSpPr>
              <p:cNvPr id="43047" name="Text Box 27"/>
              <p:cNvSpPr txBox="1">
                <a:spLocks noChangeArrowheads="1"/>
              </p:cNvSpPr>
              <p:nvPr/>
            </p:nvSpPr>
            <p:spPr bwMode="auto">
              <a:xfrm>
                <a:off x="2889" y="1106"/>
                <a:ext cx="2032" cy="288"/>
              </a:xfrm>
              <a:prstGeom prst="rect">
                <a:avLst/>
              </a:prstGeom>
              <a:noFill/>
              <a:ln w="12700" cap="sq">
                <a:noFill/>
                <a:miter lim="800000"/>
                <a:headEnd type="none" w="sm" len="sm"/>
                <a:tailEnd type="none" w="sm" len="sm"/>
              </a:ln>
            </p:spPr>
            <p:txBody>
              <a:bodyPr>
                <a:spAutoFit/>
              </a:bodyPr>
              <a:lstStyle/>
              <a:p>
                <a:r>
                  <a:rPr lang="en-US" altLang="zh-CN" sz="2400" b="1">
                    <a:solidFill>
                      <a:srgbClr val="000099"/>
                    </a:solidFill>
                  </a:rPr>
                  <a:t>STACK2[0..M2</a:t>
                </a:r>
                <a:r>
                  <a:rPr lang="en-US" altLang="zh-CN" sz="2400" b="1">
                    <a:solidFill>
                      <a:srgbClr val="000099"/>
                    </a:solidFill>
                    <a:latin typeface="宋体" charset="-122"/>
                    <a:ea typeface="宋体" charset="-122"/>
                  </a:rPr>
                  <a:t>-</a:t>
                </a:r>
                <a:r>
                  <a:rPr lang="en-US" altLang="zh-CN" sz="2400" b="1">
                    <a:solidFill>
                      <a:srgbClr val="000099"/>
                    </a:solidFill>
                  </a:rPr>
                  <a:t>1]</a:t>
                </a:r>
              </a:p>
            </p:txBody>
          </p:sp>
          <p:sp>
            <p:nvSpPr>
              <p:cNvPr id="43048" name="Line 28"/>
              <p:cNvSpPr>
                <a:spLocks noChangeShapeType="1"/>
              </p:cNvSpPr>
              <p:nvPr/>
            </p:nvSpPr>
            <p:spPr bwMode="auto">
              <a:xfrm>
                <a:off x="2985" y="1434"/>
                <a:ext cx="2072" cy="0"/>
              </a:xfrm>
              <a:prstGeom prst="line">
                <a:avLst/>
              </a:prstGeom>
              <a:noFill/>
              <a:ln w="22225" cap="sq">
                <a:solidFill>
                  <a:srgbClr val="000080"/>
                </a:solidFill>
                <a:round/>
                <a:headEnd type="none" w="sm" len="sm"/>
                <a:tailEnd type="none" w="sm" len="sm"/>
              </a:ln>
            </p:spPr>
            <p:txBody>
              <a:bodyPr/>
              <a:lstStyle/>
              <a:p>
                <a:endParaRPr lang="zh-CN" altLang="en-US"/>
              </a:p>
            </p:txBody>
          </p:sp>
          <p:sp>
            <p:nvSpPr>
              <p:cNvPr id="43049" name="Line 29"/>
              <p:cNvSpPr>
                <a:spLocks noChangeShapeType="1"/>
              </p:cNvSpPr>
              <p:nvPr/>
            </p:nvSpPr>
            <p:spPr bwMode="auto">
              <a:xfrm>
                <a:off x="2985" y="1434"/>
                <a:ext cx="0" cy="182"/>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43050" name="Line 30"/>
              <p:cNvSpPr>
                <a:spLocks noChangeShapeType="1"/>
              </p:cNvSpPr>
              <p:nvPr/>
            </p:nvSpPr>
            <p:spPr bwMode="auto">
              <a:xfrm>
                <a:off x="5057" y="1434"/>
                <a:ext cx="0" cy="182"/>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43051" name="Line 31"/>
              <p:cNvSpPr>
                <a:spLocks noChangeShapeType="1"/>
              </p:cNvSpPr>
              <p:nvPr/>
            </p:nvSpPr>
            <p:spPr bwMode="auto">
              <a:xfrm>
                <a:off x="3110" y="1434"/>
                <a:ext cx="0" cy="182"/>
              </a:xfrm>
              <a:prstGeom prst="line">
                <a:avLst/>
              </a:prstGeom>
              <a:noFill/>
              <a:ln w="12700" cap="sq">
                <a:solidFill>
                  <a:srgbClr val="000080"/>
                </a:solidFill>
                <a:round/>
                <a:headEnd type="none" w="sm" len="sm"/>
                <a:tailEnd type="none" w="sm" len="sm"/>
              </a:ln>
            </p:spPr>
            <p:txBody>
              <a:bodyPr/>
              <a:lstStyle/>
              <a:p>
                <a:endParaRPr lang="zh-CN" altLang="en-US"/>
              </a:p>
            </p:txBody>
          </p:sp>
          <p:sp>
            <p:nvSpPr>
              <p:cNvPr id="43052" name="Line 32"/>
              <p:cNvSpPr>
                <a:spLocks noChangeShapeType="1"/>
              </p:cNvSpPr>
              <p:nvPr/>
            </p:nvSpPr>
            <p:spPr bwMode="auto">
              <a:xfrm>
                <a:off x="3226" y="1441"/>
                <a:ext cx="0" cy="182"/>
              </a:xfrm>
              <a:prstGeom prst="line">
                <a:avLst/>
              </a:prstGeom>
              <a:noFill/>
              <a:ln w="12700" cap="sq">
                <a:solidFill>
                  <a:srgbClr val="000080"/>
                </a:solidFill>
                <a:round/>
                <a:headEnd type="none" w="sm" len="sm"/>
                <a:tailEnd type="none" w="sm" len="sm"/>
              </a:ln>
            </p:spPr>
            <p:txBody>
              <a:bodyPr/>
              <a:lstStyle/>
              <a:p>
                <a:endParaRPr lang="zh-CN" altLang="en-US"/>
              </a:p>
            </p:txBody>
          </p:sp>
          <p:sp>
            <p:nvSpPr>
              <p:cNvPr id="43053" name="Line 33"/>
              <p:cNvSpPr>
                <a:spLocks noChangeShapeType="1"/>
              </p:cNvSpPr>
              <p:nvPr/>
            </p:nvSpPr>
            <p:spPr bwMode="auto">
              <a:xfrm>
                <a:off x="3348" y="1444"/>
                <a:ext cx="0" cy="182"/>
              </a:xfrm>
              <a:prstGeom prst="line">
                <a:avLst/>
              </a:prstGeom>
              <a:noFill/>
              <a:ln w="12700" cap="sq">
                <a:solidFill>
                  <a:srgbClr val="000080"/>
                </a:solidFill>
                <a:round/>
                <a:headEnd type="none" w="sm" len="sm"/>
                <a:tailEnd type="none" w="sm" len="sm"/>
              </a:ln>
            </p:spPr>
            <p:txBody>
              <a:bodyPr/>
              <a:lstStyle/>
              <a:p>
                <a:endParaRPr lang="zh-CN" altLang="en-US"/>
              </a:p>
            </p:txBody>
          </p:sp>
          <p:sp>
            <p:nvSpPr>
              <p:cNvPr id="43054" name="Line 34"/>
              <p:cNvSpPr>
                <a:spLocks noChangeShapeType="1"/>
              </p:cNvSpPr>
              <p:nvPr/>
            </p:nvSpPr>
            <p:spPr bwMode="auto">
              <a:xfrm>
                <a:off x="3477" y="1441"/>
                <a:ext cx="0" cy="182"/>
              </a:xfrm>
              <a:prstGeom prst="line">
                <a:avLst/>
              </a:prstGeom>
              <a:noFill/>
              <a:ln w="12700" cap="sq">
                <a:solidFill>
                  <a:srgbClr val="000080"/>
                </a:solidFill>
                <a:round/>
                <a:headEnd type="none" w="sm" len="sm"/>
                <a:tailEnd type="none" w="sm" len="sm"/>
              </a:ln>
            </p:spPr>
            <p:txBody>
              <a:bodyPr/>
              <a:lstStyle/>
              <a:p>
                <a:endParaRPr lang="zh-CN" altLang="en-US"/>
              </a:p>
            </p:txBody>
          </p:sp>
          <p:sp>
            <p:nvSpPr>
              <p:cNvPr id="43055" name="Line 35"/>
              <p:cNvSpPr>
                <a:spLocks noChangeShapeType="1"/>
              </p:cNvSpPr>
              <p:nvPr/>
            </p:nvSpPr>
            <p:spPr bwMode="auto">
              <a:xfrm>
                <a:off x="3840" y="1434"/>
                <a:ext cx="0" cy="182"/>
              </a:xfrm>
              <a:prstGeom prst="line">
                <a:avLst/>
              </a:prstGeom>
              <a:noFill/>
              <a:ln w="19050" cap="sq">
                <a:solidFill>
                  <a:srgbClr val="000080"/>
                </a:solidFill>
                <a:round/>
                <a:headEnd type="none" w="sm" len="sm"/>
                <a:tailEnd type="none" w="sm" len="sm"/>
              </a:ln>
            </p:spPr>
            <p:txBody>
              <a:bodyPr/>
              <a:lstStyle/>
              <a:p>
                <a:endParaRPr lang="zh-CN" altLang="en-US"/>
              </a:p>
            </p:txBody>
          </p:sp>
          <p:sp>
            <p:nvSpPr>
              <p:cNvPr id="43056" name="Line 36"/>
              <p:cNvSpPr>
                <a:spLocks noChangeShapeType="1"/>
              </p:cNvSpPr>
              <p:nvPr/>
            </p:nvSpPr>
            <p:spPr bwMode="auto">
              <a:xfrm>
                <a:off x="2985" y="1623"/>
                <a:ext cx="2072" cy="0"/>
              </a:xfrm>
              <a:prstGeom prst="line">
                <a:avLst/>
              </a:prstGeom>
              <a:noFill/>
              <a:ln w="22225" cap="sq">
                <a:solidFill>
                  <a:srgbClr val="000080"/>
                </a:solidFill>
                <a:round/>
                <a:headEnd type="none" w="sm" len="sm"/>
                <a:tailEnd type="none" w="sm" len="sm"/>
              </a:ln>
            </p:spPr>
            <p:txBody>
              <a:bodyPr/>
              <a:lstStyle/>
              <a:p>
                <a:endParaRPr lang="zh-CN" altLang="en-US"/>
              </a:p>
            </p:txBody>
          </p:sp>
          <p:sp>
            <p:nvSpPr>
              <p:cNvPr id="43057" name="Line 37"/>
              <p:cNvSpPr>
                <a:spLocks noChangeShapeType="1"/>
              </p:cNvSpPr>
              <p:nvPr/>
            </p:nvSpPr>
            <p:spPr bwMode="auto">
              <a:xfrm>
                <a:off x="3592" y="1434"/>
                <a:ext cx="0" cy="182"/>
              </a:xfrm>
              <a:prstGeom prst="line">
                <a:avLst/>
              </a:prstGeom>
              <a:noFill/>
              <a:ln w="12700" cap="sq">
                <a:solidFill>
                  <a:srgbClr val="000080"/>
                </a:solidFill>
                <a:round/>
                <a:headEnd type="none" w="sm" len="sm"/>
                <a:tailEnd type="none" w="sm" len="sm"/>
              </a:ln>
            </p:spPr>
            <p:txBody>
              <a:bodyPr/>
              <a:lstStyle/>
              <a:p>
                <a:endParaRPr lang="zh-CN" altLang="en-US"/>
              </a:p>
            </p:txBody>
          </p:sp>
          <p:sp>
            <p:nvSpPr>
              <p:cNvPr id="43058" name="Line 38"/>
              <p:cNvSpPr>
                <a:spLocks noChangeShapeType="1"/>
              </p:cNvSpPr>
              <p:nvPr/>
            </p:nvSpPr>
            <p:spPr bwMode="auto">
              <a:xfrm>
                <a:off x="3721" y="1434"/>
                <a:ext cx="0" cy="182"/>
              </a:xfrm>
              <a:prstGeom prst="line">
                <a:avLst/>
              </a:prstGeom>
              <a:noFill/>
              <a:ln w="12700" cap="sq">
                <a:solidFill>
                  <a:srgbClr val="000080"/>
                </a:solidFill>
                <a:round/>
                <a:headEnd type="none" w="sm" len="sm"/>
                <a:tailEnd type="none" w="sm" len="sm"/>
              </a:ln>
            </p:spPr>
            <p:txBody>
              <a:bodyPr/>
              <a:lstStyle/>
              <a:p>
                <a:endParaRPr lang="zh-CN" altLang="en-US"/>
              </a:p>
            </p:txBody>
          </p:sp>
        </p:grpSp>
        <p:grpSp>
          <p:nvGrpSpPr>
            <p:cNvPr id="7" name="Group 39"/>
            <p:cNvGrpSpPr>
              <a:grpSpLocks/>
            </p:cNvGrpSpPr>
            <p:nvPr/>
          </p:nvGrpSpPr>
          <p:grpSpPr bwMode="auto">
            <a:xfrm>
              <a:off x="4760913" y="2265363"/>
              <a:ext cx="3062287" cy="779462"/>
              <a:chOff x="2992" y="1424"/>
              <a:chExt cx="1929" cy="491"/>
            </a:xfrm>
          </p:grpSpPr>
          <p:sp>
            <p:nvSpPr>
              <p:cNvPr id="43042" name="Text Box 40"/>
              <p:cNvSpPr txBox="1">
                <a:spLocks noChangeArrowheads="1"/>
              </p:cNvSpPr>
              <p:nvPr/>
            </p:nvSpPr>
            <p:spPr bwMode="auto">
              <a:xfrm>
                <a:off x="3634" y="1713"/>
                <a:ext cx="499" cy="202"/>
              </a:xfrm>
              <a:prstGeom prst="rect">
                <a:avLst/>
              </a:prstGeom>
              <a:noFill/>
              <a:ln w="12700" cap="sq">
                <a:noFill/>
                <a:miter lim="800000"/>
                <a:headEnd type="none" w="sm" len="sm"/>
                <a:tailEnd type="none" w="sm" len="sm"/>
              </a:ln>
            </p:spPr>
            <p:txBody>
              <a:bodyPr>
                <a:spAutoFit/>
              </a:bodyPr>
              <a:lstStyle/>
              <a:p>
                <a:r>
                  <a:rPr lang="en-US" altLang="zh-CN" sz="1500" b="1">
                    <a:solidFill>
                      <a:schemeClr val="accent2"/>
                    </a:solidFill>
                  </a:rPr>
                  <a:t>top2</a:t>
                </a:r>
              </a:p>
            </p:txBody>
          </p:sp>
          <p:sp>
            <p:nvSpPr>
              <p:cNvPr id="43043" name="Line 41"/>
              <p:cNvSpPr>
                <a:spLocks noChangeShapeType="1"/>
              </p:cNvSpPr>
              <p:nvPr/>
            </p:nvSpPr>
            <p:spPr bwMode="auto">
              <a:xfrm flipV="1">
                <a:off x="3787" y="1640"/>
                <a:ext cx="0" cy="136"/>
              </a:xfrm>
              <a:prstGeom prst="line">
                <a:avLst/>
              </a:prstGeom>
              <a:noFill/>
              <a:ln w="22225" cap="sq">
                <a:solidFill>
                  <a:srgbClr val="FF3300"/>
                </a:solidFill>
                <a:round/>
                <a:headEnd type="none" w="sm" len="sm"/>
                <a:tailEnd type="triangle" w="med" len="lg"/>
              </a:ln>
            </p:spPr>
            <p:txBody>
              <a:bodyPr/>
              <a:lstStyle/>
              <a:p>
                <a:endParaRPr lang="zh-CN" altLang="en-US"/>
              </a:p>
            </p:txBody>
          </p:sp>
          <p:sp>
            <p:nvSpPr>
              <p:cNvPr id="43044" name="Rectangle 42"/>
              <p:cNvSpPr>
                <a:spLocks noChangeArrowheads="1"/>
              </p:cNvSpPr>
              <p:nvPr/>
            </p:nvSpPr>
            <p:spPr bwMode="auto">
              <a:xfrm>
                <a:off x="2992" y="1441"/>
                <a:ext cx="839" cy="175"/>
              </a:xfrm>
              <a:prstGeom prst="rect">
                <a:avLst/>
              </a:prstGeom>
              <a:solidFill>
                <a:srgbClr val="D5D5D5"/>
              </a:solidFill>
              <a:ln w="12700" cap="sq">
                <a:noFill/>
                <a:miter lim="800000"/>
                <a:headEnd type="none" w="sm" len="sm"/>
                <a:tailEnd type="none" w="sm" len="sm"/>
              </a:ln>
            </p:spPr>
            <p:txBody>
              <a:bodyPr wrap="none" anchor="ctr"/>
              <a:lstStyle/>
              <a:p>
                <a:endParaRPr lang="zh-CN" altLang="en-US"/>
              </a:p>
            </p:txBody>
          </p:sp>
          <p:sp>
            <p:nvSpPr>
              <p:cNvPr id="43045" name="Line 43"/>
              <p:cNvSpPr>
                <a:spLocks noChangeShapeType="1"/>
              </p:cNvSpPr>
              <p:nvPr/>
            </p:nvSpPr>
            <p:spPr bwMode="auto">
              <a:xfrm>
                <a:off x="3710" y="1434"/>
                <a:ext cx="0" cy="182"/>
              </a:xfrm>
              <a:prstGeom prst="line">
                <a:avLst/>
              </a:prstGeom>
              <a:noFill/>
              <a:ln w="19050" cap="sq">
                <a:solidFill>
                  <a:srgbClr val="000080"/>
                </a:solidFill>
                <a:round/>
                <a:headEnd type="none" w="sm" len="sm"/>
                <a:tailEnd type="none" w="sm" len="sm"/>
              </a:ln>
            </p:spPr>
            <p:txBody>
              <a:bodyPr/>
              <a:lstStyle/>
              <a:p>
                <a:endParaRPr lang="zh-CN" altLang="en-US"/>
              </a:p>
            </p:txBody>
          </p:sp>
          <p:sp>
            <p:nvSpPr>
              <p:cNvPr id="43046" name="Text Box 44"/>
              <p:cNvSpPr txBox="1">
                <a:spLocks noChangeArrowheads="1"/>
              </p:cNvSpPr>
              <p:nvPr/>
            </p:nvSpPr>
            <p:spPr bwMode="auto">
              <a:xfrm>
                <a:off x="3061" y="1424"/>
                <a:ext cx="1860" cy="202"/>
              </a:xfrm>
              <a:prstGeom prst="rect">
                <a:avLst/>
              </a:prstGeom>
              <a:noFill/>
              <a:ln w="12700" cap="sq">
                <a:noFill/>
                <a:miter lim="800000"/>
                <a:headEnd type="none" w="sm" len="sm"/>
                <a:tailEnd type="none" w="sm" len="sm"/>
              </a:ln>
            </p:spPr>
            <p:txBody>
              <a:bodyPr>
                <a:spAutoFit/>
              </a:bodyPr>
              <a:lstStyle/>
              <a:p>
                <a:r>
                  <a:rPr lang="zh-CN" altLang="en-US" sz="1500" b="1">
                    <a:solidFill>
                      <a:srgbClr val="000099"/>
                    </a:solidFill>
                    <a:ea typeface="幼圆" pitchFamily="49" charset="-122"/>
                  </a:rPr>
                  <a:t>已用空间                  可 用 空 间</a:t>
                </a:r>
              </a:p>
            </p:txBody>
          </p:sp>
        </p:grpSp>
      </p:grpSp>
      <p:grpSp>
        <p:nvGrpSpPr>
          <p:cNvPr id="8" name="Group 45"/>
          <p:cNvGrpSpPr>
            <a:grpSpLocks/>
          </p:cNvGrpSpPr>
          <p:nvPr/>
        </p:nvGrpSpPr>
        <p:grpSpPr bwMode="auto">
          <a:xfrm>
            <a:off x="2135560" y="1484784"/>
            <a:ext cx="7848600" cy="1727200"/>
            <a:chOff x="521" y="2025"/>
            <a:chExt cx="4944" cy="1088"/>
          </a:xfrm>
        </p:grpSpPr>
        <p:sp>
          <p:nvSpPr>
            <p:cNvPr id="43040" name="Rectangle 46"/>
            <p:cNvSpPr>
              <a:spLocks noChangeArrowheads="1"/>
            </p:cNvSpPr>
            <p:nvPr/>
          </p:nvSpPr>
          <p:spPr bwMode="auto">
            <a:xfrm>
              <a:off x="521" y="2025"/>
              <a:ext cx="4944" cy="1088"/>
            </a:xfrm>
            <a:prstGeom prst="rect">
              <a:avLst/>
            </a:prstGeom>
            <a:solidFill>
              <a:srgbClr val="FFFFFF"/>
            </a:solidFill>
            <a:ln w="12700" cap="sq">
              <a:noFill/>
              <a:miter lim="800000"/>
              <a:headEnd type="none" w="sm" len="sm"/>
              <a:tailEnd type="none" w="sm" len="sm"/>
            </a:ln>
          </p:spPr>
          <p:txBody>
            <a:bodyPr wrap="none" anchor="ctr"/>
            <a:lstStyle/>
            <a:p>
              <a:endParaRPr lang="zh-CN" altLang="en-US"/>
            </a:p>
          </p:txBody>
        </p:sp>
        <p:sp>
          <p:nvSpPr>
            <p:cNvPr id="43041" name="Text Box 47"/>
            <p:cNvSpPr txBox="1">
              <a:spLocks noChangeArrowheads="1"/>
            </p:cNvSpPr>
            <p:nvPr/>
          </p:nvSpPr>
          <p:spPr bwMode="auto">
            <a:xfrm>
              <a:off x="576" y="2134"/>
              <a:ext cx="1776" cy="298"/>
            </a:xfrm>
            <a:prstGeom prst="rect">
              <a:avLst/>
            </a:prstGeom>
            <a:noFill/>
            <a:ln w="12700" cap="sq">
              <a:noFill/>
              <a:miter lim="800000"/>
              <a:headEnd type="none" w="sm" len="sm"/>
              <a:tailEnd type="none" w="sm" len="sm"/>
            </a:ln>
          </p:spPr>
          <p:txBody>
            <a:bodyPr>
              <a:spAutoFit/>
            </a:bodyPr>
            <a:lstStyle/>
            <a:p>
              <a:r>
                <a:rPr lang="en-US" altLang="zh-CN" sz="2500" b="1" dirty="0">
                  <a:solidFill>
                    <a:srgbClr val="000099"/>
                  </a:solidFill>
                </a:rPr>
                <a:t>STACK[0..M</a:t>
              </a:r>
              <a:r>
                <a:rPr lang="en-US" altLang="zh-CN" sz="2500" b="1" dirty="0">
                  <a:solidFill>
                    <a:srgbClr val="000099"/>
                  </a:solidFill>
                  <a:latin typeface="宋体" charset="-122"/>
                  <a:ea typeface="宋体" charset="-122"/>
                </a:rPr>
                <a:t>-</a:t>
              </a:r>
              <a:r>
                <a:rPr lang="en-US" altLang="zh-CN" sz="2500" b="1" dirty="0">
                  <a:solidFill>
                    <a:srgbClr val="000099"/>
                  </a:solidFill>
                </a:rPr>
                <a:t>1]</a:t>
              </a:r>
            </a:p>
          </p:txBody>
        </p:sp>
      </p:grpSp>
      <p:sp>
        <p:nvSpPr>
          <p:cNvPr id="294979" name="Text Box 67"/>
          <p:cNvSpPr txBox="1">
            <a:spLocks noChangeArrowheads="1"/>
          </p:cNvSpPr>
          <p:nvPr/>
        </p:nvSpPr>
        <p:spPr bwMode="auto">
          <a:xfrm>
            <a:off x="4151314" y="5181601"/>
            <a:ext cx="5824537" cy="906463"/>
          </a:xfrm>
          <a:prstGeom prst="rect">
            <a:avLst/>
          </a:prstGeom>
          <a:noFill/>
          <a:ln w="12700" cap="sq">
            <a:noFill/>
            <a:miter lim="800000"/>
            <a:headEnd type="none" w="sm" len="sm"/>
            <a:tailEnd type="none" w="sm" len="sm"/>
          </a:ln>
        </p:spPr>
        <p:txBody>
          <a:bodyPr>
            <a:spAutoFit/>
          </a:bodyPr>
          <a:lstStyle/>
          <a:p>
            <a:pPr>
              <a:lnSpc>
                <a:spcPct val="90000"/>
              </a:lnSpc>
              <a:spcAft>
                <a:spcPct val="25000"/>
              </a:spcAft>
            </a:pPr>
            <a:r>
              <a:rPr lang="zh-CN" altLang="en-US" sz="2600" b="1" dirty="0">
                <a:solidFill>
                  <a:srgbClr val="000092"/>
                </a:solidFill>
                <a:ea typeface="幼圆" pitchFamily="49" charset="-122"/>
              </a:rPr>
              <a:t>当</a:t>
            </a:r>
            <a:r>
              <a:rPr lang="en-US" altLang="zh-CN" sz="2600" b="1" dirty="0" err="1">
                <a:solidFill>
                  <a:srgbClr val="000092"/>
                </a:solidFill>
              </a:rPr>
              <a:t>i</a:t>
            </a:r>
            <a:r>
              <a:rPr lang="en-US" altLang="zh-CN" sz="2600" b="1" dirty="0">
                <a:solidFill>
                  <a:srgbClr val="000092"/>
                </a:solidFill>
              </a:rPr>
              <a:t>=1</a:t>
            </a:r>
            <a:r>
              <a:rPr lang="zh-CN" altLang="en-US" sz="2600" b="1" dirty="0">
                <a:solidFill>
                  <a:srgbClr val="000092"/>
                </a:solidFill>
                <a:ea typeface="幼圆" pitchFamily="49" charset="-122"/>
              </a:rPr>
              <a:t>时，将</a:t>
            </a:r>
            <a:r>
              <a:rPr lang="en-US" altLang="zh-CN" sz="2600" b="1" dirty="0">
                <a:solidFill>
                  <a:srgbClr val="000092"/>
                </a:solidFill>
              </a:rPr>
              <a:t>item </a:t>
            </a:r>
            <a:r>
              <a:rPr lang="zh-CN" altLang="en-US" sz="2600" b="1" dirty="0">
                <a:solidFill>
                  <a:srgbClr val="000092"/>
                </a:solidFill>
                <a:ea typeface="幼圆" pitchFamily="49" charset="-122"/>
              </a:rPr>
              <a:t>插入第</a:t>
            </a:r>
            <a:r>
              <a:rPr lang="zh-CN" altLang="en-US" sz="2600" b="1" dirty="0">
                <a:solidFill>
                  <a:srgbClr val="000092"/>
                </a:solidFill>
              </a:rPr>
              <a:t>1</a:t>
            </a:r>
            <a:r>
              <a:rPr lang="zh-CN" altLang="en-US" sz="2600" b="1" dirty="0">
                <a:solidFill>
                  <a:srgbClr val="000092"/>
                </a:solidFill>
                <a:ea typeface="幼圆" pitchFamily="49" charset="-122"/>
              </a:rPr>
              <a:t>个栈</a:t>
            </a:r>
            <a:r>
              <a:rPr lang="zh-CN" altLang="en-US" sz="2600" b="1" dirty="0">
                <a:solidFill>
                  <a:srgbClr val="000092"/>
                </a:solidFill>
              </a:rPr>
              <a:t>，</a:t>
            </a:r>
          </a:p>
          <a:p>
            <a:pPr>
              <a:lnSpc>
                <a:spcPct val="90000"/>
              </a:lnSpc>
            </a:pPr>
            <a:r>
              <a:rPr lang="zh-CN" altLang="en-US" sz="2600" b="1" dirty="0">
                <a:solidFill>
                  <a:srgbClr val="000092"/>
                </a:solidFill>
                <a:ea typeface="幼圆" pitchFamily="49" charset="-122"/>
              </a:rPr>
              <a:t>当</a:t>
            </a:r>
            <a:r>
              <a:rPr lang="en-US" altLang="zh-CN" sz="2600" b="1" dirty="0" err="1">
                <a:solidFill>
                  <a:srgbClr val="000092"/>
                </a:solidFill>
              </a:rPr>
              <a:t>i</a:t>
            </a:r>
            <a:r>
              <a:rPr lang="en-US" altLang="zh-CN" sz="2600" b="1" dirty="0">
                <a:solidFill>
                  <a:srgbClr val="000092"/>
                </a:solidFill>
              </a:rPr>
              <a:t>=2</a:t>
            </a:r>
            <a:r>
              <a:rPr lang="zh-CN" altLang="en-US" sz="2600" b="1" dirty="0">
                <a:solidFill>
                  <a:srgbClr val="000092"/>
                </a:solidFill>
                <a:ea typeface="幼圆" pitchFamily="49" charset="-122"/>
              </a:rPr>
              <a:t>时</a:t>
            </a:r>
            <a:r>
              <a:rPr lang="zh-CN" altLang="en-US" sz="2600" b="1" dirty="0">
                <a:solidFill>
                  <a:srgbClr val="000092"/>
                </a:solidFill>
              </a:rPr>
              <a:t>，</a:t>
            </a:r>
            <a:r>
              <a:rPr lang="zh-CN" altLang="en-US" sz="2600" b="1" dirty="0">
                <a:solidFill>
                  <a:srgbClr val="000092"/>
                </a:solidFill>
                <a:ea typeface="幼圆" pitchFamily="49" charset="-122"/>
              </a:rPr>
              <a:t>将</a:t>
            </a:r>
            <a:r>
              <a:rPr lang="en-US" altLang="zh-CN" sz="2600" b="1" dirty="0">
                <a:solidFill>
                  <a:srgbClr val="000092"/>
                </a:solidFill>
              </a:rPr>
              <a:t>item </a:t>
            </a:r>
            <a:r>
              <a:rPr lang="zh-CN" altLang="en-US" sz="2600" b="1" dirty="0">
                <a:solidFill>
                  <a:srgbClr val="000092"/>
                </a:solidFill>
                <a:ea typeface="幼圆" pitchFamily="49" charset="-122"/>
              </a:rPr>
              <a:t>插入第</a:t>
            </a:r>
            <a:r>
              <a:rPr lang="zh-CN" altLang="en-US" sz="2600" b="1" dirty="0">
                <a:solidFill>
                  <a:srgbClr val="000092"/>
                </a:solidFill>
              </a:rPr>
              <a:t>2</a:t>
            </a:r>
            <a:r>
              <a:rPr lang="zh-CN" altLang="en-US" sz="2600" b="1" dirty="0">
                <a:solidFill>
                  <a:srgbClr val="000092"/>
                </a:solidFill>
                <a:ea typeface="幼圆" pitchFamily="49" charset="-122"/>
              </a:rPr>
              <a:t>个栈</a:t>
            </a:r>
            <a:r>
              <a:rPr lang="zh-CN" altLang="en-US" sz="2600" b="1" dirty="0">
                <a:solidFill>
                  <a:srgbClr val="000092"/>
                </a:solidFill>
              </a:rPr>
              <a:t>。</a:t>
            </a:r>
          </a:p>
        </p:txBody>
      </p:sp>
      <p:grpSp>
        <p:nvGrpSpPr>
          <p:cNvPr id="9" name="Group 68"/>
          <p:cNvGrpSpPr>
            <a:grpSpLocks/>
          </p:cNvGrpSpPr>
          <p:nvPr/>
        </p:nvGrpSpPr>
        <p:grpSpPr bwMode="auto">
          <a:xfrm>
            <a:off x="2640013" y="5334000"/>
            <a:ext cx="1517650" cy="533400"/>
            <a:chOff x="838" y="3360"/>
            <a:chExt cx="956" cy="336"/>
          </a:xfrm>
        </p:grpSpPr>
        <p:sp>
          <p:nvSpPr>
            <p:cNvPr id="43038" name="Oval 69"/>
            <p:cNvSpPr>
              <a:spLocks noChangeArrowheads="1"/>
            </p:cNvSpPr>
            <p:nvPr/>
          </p:nvSpPr>
          <p:spPr bwMode="auto">
            <a:xfrm>
              <a:off x="838" y="3360"/>
              <a:ext cx="768" cy="336"/>
            </a:xfrm>
            <a:prstGeom prst="ellipse">
              <a:avLst/>
            </a:prstGeom>
            <a:solidFill>
              <a:srgbClr val="3FDAFF"/>
            </a:solidFill>
            <a:ln w="12700" cap="sq">
              <a:noFill/>
              <a:round/>
              <a:headEnd type="none" w="sm" len="sm"/>
              <a:tailEnd type="none" w="sm" len="sm"/>
            </a:ln>
            <a:effectLst>
              <a:outerShdw dist="45791" dir="2021404" algn="ctr" rotWithShape="0">
                <a:srgbClr val="B2B2B2"/>
              </a:outerShdw>
            </a:effectLst>
          </p:spPr>
          <p:txBody>
            <a:bodyPr wrap="none" anchor="ctr"/>
            <a:lstStyle/>
            <a:p>
              <a:endParaRPr lang="zh-CN" altLang="en-US"/>
            </a:p>
          </p:txBody>
        </p:sp>
        <p:sp>
          <p:nvSpPr>
            <p:cNvPr id="43039" name="Rectangle 70"/>
            <p:cNvSpPr>
              <a:spLocks noChangeArrowheads="1"/>
            </p:cNvSpPr>
            <p:nvPr/>
          </p:nvSpPr>
          <p:spPr bwMode="auto">
            <a:xfrm>
              <a:off x="930" y="3371"/>
              <a:ext cx="864" cy="320"/>
            </a:xfrm>
            <a:prstGeom prst="rect">
              <a:avLst/>
            </a:prstGeom>
            <a:noFill/>
            <a:ln w="12700" cap="sq">
              <a:noFill/>
              <a:miter lim="800000"/>
              <a:headEnd type="none" w="sm" len="sm"/>
              <a:tailEnd type="none" w="sm" len="sm"/>
            </a:ln>
            <a:effectLst>
              <a:outerShdw dist="12700" algn="ctr" rotWithShape="0">
                <a:srgbClr val="000000"/>
              </a:outerShdw>
            </a:effectLst>
          </p:spPr>
          <p:txBody>
            <a:bodyPr>
              <a:spAutoFit/>
            </a:bodyPr>
            <a:lstStyle/>
            <a:p>
              <a:pPr>
                <a:lnSpc>
                  <a:spcPct val="90000"/>
                </a:lnSpc>
                <a:spcAft>
                  <a:spcPct val="25000"/>
                </a:spcAft>
              </a:pPr>
              <a:r>
                <a:rPr lang="zh-CN" altLang="en-US" sz="3000" b="1" dirty="0">
                  <a:solidFill>
                    <a:srgbClr val="FF3300"/>
                  </a:solidFill>
                  <a:latin typeface="黑体" pitchFamily="2" charset="-122"/>
                  <a:ea typeface="黑体" pitchFamily="2" charset="-122"/>
                </a:rPr>
                <a:t>进栈</a:t>
              </a:r>
              <a:r>
                <a:rPr lang="zh-CN" altLang="en-US" sz="2600" b="1" dirty="0">
                  <a:solidFill>
                    <a:schemeClr val="bg1"/>
                  </a:solidFill>
                  <a:latin typeface="黑体" pitchFamily="2" charset="-122"/>
                  <a:ea typeface="黑体" pitchFamily="2" charset="-122"/>
                </a:rPr>
                <a:t> </a:t>
              </a:r>
            </a:p>
          </p:txBody>
        </p:sp>
      </p:grpSp>
      <p:grpSp>
        <p:nvGrpSpPr>
          <p:cNvPr id="10" name="Group 81"/>
          <p:cNvGrpSpPr>
            <a:grpSpLocks/>
          </p:cNvGrpSpPr>
          <p:nvPr/>
        </p:nvGrpSpPr>
        <p:grpSpPr bwMode="auto">
          <a:xfrm>
            <a:off x="2855913" y="3068639"/>
            <a:ext cx="6813550" cy="1482725"/>
            <a:chOff x="839" y="1933"/>
            <a:chExt cx="4292" cy="934"/>
          </a:xfrm>
        </p:grpSpPr>
        <p:sp>
          <p:nvSpPr>
            <p:cNvPr id="43021" name="Text Box 82"/>
            <p:cNvSpPr txBox="1">
              <a:spLocks noChangeArrowheads="1"/>
            </p:cNvSpPr>
            <p:nvPr/>
          </p:nvSpPr>
          <p:spPr bwMode="auto">
            <a:xfrm>
              <a:off x="2517" y="2156"/>
              <a:ext cx="1179" cy="279"/>
            </a:xfrm>
            <a:prstGeom prst="rect">
              <a:avLst/>
            </a:prstGeom>
            <a:noFill/>
            <a:ln w="12700" cap="sq">
              <a:noFill/>
              <a:miter lim="800000"/>
              <a:headEnd type="none" w="sm" len="sm"/>
              <a:tailEnd type="none" w="sm" len="sm"/>
            </a:ln>
          </p:spPr>
          <p:txBody>
            <a:bodyPr>
              <a:spAutoFit/>
            </a:bodyPr>
            <a:lstStyle/>
            <a:p>
              <a:r>
                <a:rPr lang="zh-CN" altLang="en-US" sz="2300" b="1">
                  <a:solidFill>
                    <a:srgbClr val="000099"/>
                  </a:solidFill>
                  <a:ea typeface="幼圆" pitchFamily="49" charset="-122"/>
                </a:rPr>
                <a:t>可用空间</a:t>
              </a:r>
            </a:p>
          </p:txBody>
        </p:sp>
        <p:sp>
          <p:nvSpPr>
            <p:cNvPr id="43022" name="Text Box 83"/>
            <p:cNvSpPr txBox="1">
              <a:spLocks noChangeArrowheads="1"/>
            </p:cNvSpPr>
            <p:nvPr/>
          </p:nvSpPr>
          <p:spPr bwMode="auto">
            <a:xfrm>
              <a:off x="839" y="1933"/>
              <a:ext cx="3831" cy="213"/>
            </a:xfrm>
            <a:prstGeom prst="rect">
              <a:avLst/>
            </a:prstGeom>
            <a:noFill/>
            <a:ln w="12700" cap="sq">
              <a:noFill/>
              <a:miter lim="800000"/>
              <a:headEnd type="none" w="sm" len="sm"/>
              <a:tailEnd type="none" w="sm" len="sm"/>
            </a:ln>
          </p:spPr>
          <p:txBody>
            <a:bodyPr wrap="none">
              <a:spAutoFit/>
            </a:bodyPr>
            <a:lstStyle/>
            <a:p>
              <a:r>
                <a:rPr lang="zh-CN" altLang="en-US" sz="1600" b="1" dirty="0"/>
                <a:t>0  1  2   </a:t>
              </a:r>
              <a:r>
                <a:rPr lang="zh-CN" altLang="en-US" sz="1600" b="1" dirty="0">
                  <a:ea typeface="宋体" charset="-122"/>
                  <a:cs typeface="Times New Roman" pitchFamily="18" charset="0"/>
                </a:rPr>
                <a:t>…</a:t>
              </a:r>
              <a:r>
                <a:rPr lang="zh-CN" altLang="en-US" sz="1600" b="1" dirty="0"/>
                <a:t>                                                                                                       </a:t>
              </a:r>
              <a:r>
                <a:rPr lang="en-US" altLang="zh-CN" sz="1600" b="1" dirty="0"/>
                <a:t>M</a:t>
              </a:r>
              <a:r>
                <a:rPr lang="en-US" altLang="zh-CN" sz="1600" b="1" dirty="0">
                  <a:latin typeface="宋体" charset="-122"/>
                  <a:ea typeface="宋体" charset="-122"/>
                </a:rPr>
                <a:t>-</a:t>
              </a:r>
              <a:r>
                <a:rPr lang="en-US" altLang="zh-CN" sz="1600" b="1" dirty="0"/>
                <a:t>1</a:t>
              </a:r>
            </a:p>
          </p:txBody>
        </p:sp>
        <p:sp>
          <p:nvSpPr>
            <p:cNvPr id="43023" name="Text Box 84"/>
            <p:cNvSpPr txBox="1">
              <a:spLocks noChangeArrowheads="1"/>
            </p:cNvSpPr>
            <p:nvPr/>
          </p:nvSpPr>
          <p:spPr bwMode="auto">
            <a:xfrm>
              <a:off x="1997" y="2617"/>
              <a:ext cx="2230" cy="250"/>
            </a:xfrm>
            <a:prstGeom prst="rect">
              <a:avLst/>
            </a:prstGeom>
            <a:noFill/>
            <a:ln w="12700" cap="sq">
              <a:noFill/>
              <a:miter lim="800000"/>
              <a:headEnd type="none" w="sm" len="sm"/>
              <a:tailEnd type="none" w="sm" len="sm"/>
            </a:ln>
          </p:spPr>
          <p:txBody>
            <a:bodyPr>
              <a:spAutoFit/>
            </a:bodyPr>
            <a:lstStyle/>
            <a:p>
              <a:r>
                <a:rPr lang="en-US" altLang="zh-CN" sz="2000" b="1" dirty="0">
                  <a:solidFill>
                    <a:srgbClr val="FF3300"/>
                  </a:solidFill>
                </a:rPr>
                <a:t>top1                            top2</a:t>
              </a:r>
            </a:p>
          </p:txBody>
        </p:sp>
        <p:sp>
          <p:nvSpPr>
            <p:cNvPr id="43024" name="Line 85"/>
            <p:cNvSpPr>
              <a:spLocks noChangeShapeType="1"/>
            </p:cNvSpPr>
            <p:nvPr/>
          </p:nvSpPr>
          <p:spPr bwMode="auto">
            <a:xfrm flipV="1">
              <a:off x="2200" y="2502"/>
              <a:ext cx="0" cy="181"/>
            </a:xfrm>
            <a:prstGeom prst="line">
              <a:avLst/>
            </a:prstGeom>
            <a:noFill/>
            <a:ln w="22225" cap="sq">
              <a:solidFill>
                <a:schemeClr val="accent2"/>
              </a:solidFill>
              <a:round/>
              <a:headEnd type="none" w="sm" len="sm"/>
              <a:tailEnd type="triangle" w="med" len="med"/>
            </a:ln>
          </p:spPr>
          <p:txBody>
            <a:bodyPr/>
            <a:lstStyle/>
            <a:p>
              <a:endParaRPr lang="zh-CN" altLang="en-US"/>
            </a:p>
          </p:txBody>
        </p:sp>
        <p:sp>
          <p:nvSpPr>
            <p:cNvPr id="43025" name="Line 86"/>
            <p:cNvSpPr>
              <a:spLocks noChangeShapeType="1"/>
            </p:cNvSpPr>
            <p:nvPr/>
          </p:nvSpPr>
          <p:spPr bwMode="auto">
            <a:xfrm>
              <a:off x="839" y="2146"/>
              <a:ext cx="4173" cy="0"/>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43026" name="Line 87"/>
            <p:cNvSpPr>
              <a:spLocks noChangeShapeType="1"/>
            </p:cNvSpPr>
            <p:nvPr/>
          </p:nvSpPr>
          <p:spPr bwMode="auto">
            <a:xfrm>
              <a:off x="839" y="2477"/>
              <a:ext cx="4173" cy="0"/>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43027" name="Line 88"/>
            <p:cNvSpPr>
              <a:spLocks noChangeShapeType="1"/>
            </p:cNvSpPr>
            <p:nvPr/>
          </p:nvSpPr>
          <p:spPr bwMode="auto">
            <a:xfrm>
              <a:off x="839" y="2146"/>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43028" name="Line 89"/>
            <p:cNvSpPr>
              <a:spLocks noChangeShapeType="1"/>
            </p:cNvSpPr>
            <p:nvPr/>
          </p:nvSpPr>
          <p:spPr bwMode="auto">
            <a:xfrm>
              <a:off x="5012" y="2146"/>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43029" name="Line 90"/>
            <p:cNvSpPr>
              <a:spLocks noChangeShapeType="1"/>
            </p:cNvSpPr>
            <p:nvPr/>
          </p:nvSpPr>
          <p:spPr bwMode="auto">
            <a:xfrm>
              <a:off x="2280" y="2146"/>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43030" name="Line 91"/>
            <p:cNvSpPr>
              <a:spLocks noChangeShapeType="1"/>
            </p:cNvSpPr>
            <p:nvPr/>
          </p:nvSpPr>
          <p:spPr bwMode="auto">
            <a:xfrm>
              <a:off x="3658" y="2153"/>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43031" name="Rectangle 92"/>
            <p:cNvSpPr>
              <a:spLocks noChangeArrowheads="1"/>
            </p:cNvSpPr>
            <p:nvPr/>
          </p:nvSpPr>
          <p:spPr bwMode="auto">
            <a:xfrm>
              <a:off x="853" y="2156"/>
              <a:ext cx="1421" cy="311"/>
            </a:xfrm>
            <a:prstGeom prst="rect">
              <a:avLst/>
            </a:prstGeom>
            <a:solidFill>
              <a:srgbClr val="C1F7F2"/>
            </a:solidFill>
            <a:ln w="12700" cap="sq">
              <a:noFill/>
              <a:miter lim="800000"/>
              <a:headEnd type="none" w="sm" len="sm"/>
              <a:tailEnd type="none" w="sm" len="sm"/>
            </a:ln>
          </p:spPr>
          <p:txBody>
            <a:bodyPr wrap="none" anchor="ctr"/>
            <a:lstStyle/>
            <a:p>
              <a:endParaRPr lang="zh-CN" altLang="en-US" dirty="0"/>
            </a:p>
          </p:txBody>
        </p:sp>
        <p:sp>
          <p:nvSpPr>
            <p:cNvPr id="43032" name="Rectangle 93"/>
            <p:cNvSpPr>
              <a:spLocks noChangeArrowheads="1"/>
            </p:cNvSpPr>
            <p:nvPr/>
          </p:nvSpPr>
          <p:spPr bwMode="auto">
            <a:xfrm>
              <a:off x="3668" y="2160"/>
              <a:ext cx="1330" cy="311"/>
            </a:xfrm>
            <a:prstGeom prst="rect">
              <a:avLst/>
            </a:prstGeom>
            <a:solidFill>
              <a:srgbClr val="C9C9C9"/>
            </a:solidFill>
            <a:ln w="12700" cap="sq">
              <a:noFill/>
              <a:miter lim="800000"/>
              <a:headEnd type="none" w="sm" len="sm"/>
              <a:tailEnd type="none" w="sm" len="sm"/>
            </a:ln>
          </p:spPr>
          <p:txBody>
            <a:bodyPr wrap="none" anchor="ctr"/>
            <a:lstStyle/>
            <a:p>
              <a:endParaRPr lang="zh-CN" altLang="en-US"/>
            </a:p>
          </p:txBody>
        </p:sp>
        <p:sp>
          <p:nvSpPr>
            <p:cNvPr id="43033" name="Line 94"/>
            <p:cNvSpPr>
              <a:spLocks noChangeShapeType="1"/>
            </p:cNvSpPr>
            <p:nvPr/>
          </p:nvSpPr>
          <p:spPr bwMode="auto">
            <a:xfrm>
              <a:off x="2109" y="2153"/>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43034" name="Line 95"/>
            <p:cNvSpPr>
              <a:spLocks noChangeShapeType="1"/>
            </p:cNvSpPr>
            <p:nvPr/>
          </p:nvSpPr>
          <p:spPr bwMode="auto">
            <a:xfrm>
              <a:off x="3833" y="2153"/>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43035" name="Text Box 96"/>
            <p:cNvSpPr txBox="1">
              <a:spLocks noChangeArrowheads="1"/>
            </p:cNvSpPr>
            <p:nvPr/>
          </p:nvSpPr>
          <p:spPr bwMode="auto">
            <a:xfrm>
              <a:off x="1069" y="2184"/>
              <a:ext cx="1134" cy="269"/>
            </a:xfrm>
            <a:prstGeom prst="rect">
              <a:avLst/>
            </a:prstGeom>
            <a:noFill/>
            <a:ln w="12700" cap="sq">
              <a:noFill/>
              <a:miter lim="800000"/>
              <a:headEnd type="none" w="sm" len="sm"/>
              <a:tailEnd type="none" w="sm" len="sm"/>
            </a:ln>
          </p:spPr>
          <p:txBody>
            <a:bodyPr>
              <a:spAutoFit/>
            </a:bodyPr>
            <a:lstStyle/>
            <a:p>
              <a:r>
                <a:rPr lang="zh-CN" altLang="en-US" sz="2200" b="1" dirty="0">
                  <a:latin typeface="幼圆" pitchFamily="49" charset="-122"/>
                  <a:ea typeface="幼圆" pitchFamily="49" charset="-122"/>
                </a:rPr>
                <a:t>第</a:t>
              </a:r>
              <a:r>
                <a:rPr lang="zh-CN" altLang="en-US" sz="2200" b="1" dirty="0">
                  <a:ea typeface="幼圆" pitchFamily="49" charset="-122"/>
                </a:rPr>
                <a:t>1</a:t>
              </a:r>
              <a:r>
                <a:rPr lang="zh-CN" altLang="en-US" sz="2200" b="1" dirty="0">
                  <a:latin typeface="幼圆" pitchFamily="49" charset="-122"/>
                  <a:ea typeface="幼圆" pitchFamily="49" charset="-122"/>
                </a:rPr>
                <a:t>个栈</a:t>
              </a:r>
            </a:p>
          </p:txBody>
        </p:sp>
        <p:sp>
          <p:nvSpPr>
            <p:cNvPr id="43036" name="Text Box 97"/>
            <p:cNvSpPr txBox="1">
              <a:spLocks noChangeArrowheads="1"/>
            </p:cNvSpPr>
            <p:nvPr/>
          </p:nvSpPr>
          <p:spPr bwMode="auto">
            <a:xfrm>
              <a:off x="3997" y="2181"/>
              <a:ext cx="1134" cy="269"/>
            </a:xfrm>
            <a:prstGeom prst="rect">
              <a:avLst/>
            </a:prstGeom>
            <a:noFill/>
            <a:ln w="12700" cap="sq">
              <a:noFill/>
              <a:miter lim="800000"/>
              <a:headEnd type="none" w="sm" len="sm"/>
              <a:tailEnd type="none" w="sm" len="sm"/>
            </a:ln>
          </p:spPr>
          <p:txBody>
            <a:bodyPr>
              <a:spAutoFit/>
            </a:bodyPr>
            <a:lstStyle/>
            <a:p>
              <a:r>
                <a:rPr lang="zh-CN" altLang="en-US" sz="2200" b="1">
                  <a:latin typeface="幼圆" pitchFamily="49" charset="-122"/>
                  <a:ea typeface="幼圆" pitchFamily="49" charset="-122"/>
                </a:rPr>
                <a:t>第</a:t>
              </a:r>
              <a:r>
                <a:rPr lang="en-US" altLang="zh-CN" sz="2200" b="1">
                  <a:ea typeface="幼圆" pitchFamily="49" charset="-122"/>
                </a:rPr>
                <a:t>2</a:t>
              </a:r>
              <a:r>
                <a:rPr lang="zh-CN" altLang="en-US" sz="2200" b="1">
                  <a:latin typeface="幼圆" pitchFamily="49" charset="-122"/>
                  <a:ea typeface="幼圆" pitchFamily="49" charset="-122"/>
                </a:rPr>
                <a:t>个栈</a:t>
              </a:r>
            </a:p>
          </p:txBody>
        </p:sp>
        <p:sp>
          <p:nvSpPr>
            <p:cNvPr id="43037" name="Line 98"/>
            <p:cNvSpPr>
              <a:spLocks noChangeShapeType="1"/>
            </p:cNvSpPr>
            <p:nvPr/>
          </p:nvSpPr>
          <p:spPr bwMode="auto">
            <a:xfrm flipV="1">
              <a:off x="3749" y="2488"/>
              <a:ext cx="0" cy="181"/>
            </a:xfrm>
            <a:prstGeom prst="line">
              <a:avLst/>
            </a:prstGeom>
            <a:noFill/>
            <a:ln w="22225" cap="sq">
              <a:solidFill>
                <a:schemeClr val="accent2"/>
              </a:solidFill>
              <a:round/>
              <a:headEnd type="none" w="sm" len="sm"/>
              <a:tailEnd type="triangle" w="med" len="med"/>
            </a:ln>
          </p:spPr>
          <p:txBody>
            <a:bodyPr/>
            <a:lstStyle/>
            <a:p>
              <a:endParaRPr lang="zh-CN" altLang="en-US"/>
            </a:p>
          </p:txBody>
        </p:sp>
      </p:grpSp>
      <p:sp>
        <p:nvSpPr>
          <p:cNvPr id="295011" name="Text Box 99"/>
          <p:cNvSpPr txBox="1">
            <a:spLocks noChangeArrowheads="1"/>
          </p:cNvSpPr>
          <p:nvPr/>
        </p:nvSpPr>
        <p:spPr bwMode="auto">
          <a:xfrm>
            <a:off x="2351088" y="2049464"/>
            <a:ext cx="8008090" cy="461665"/>
          </a:xfrm>
          <a:prstGeom prst="rect">
            <a:avLst/>
          </a:prstGeom>
          <a:noFill/>
          <a:ln w="12700" cap="sq">
            <a:noFill/>
            <a:miter lim="800000"/>
            <a:headEnd type="none" w="sm" len="sm"/>
            <a:tailEnd type="none" w="sm" len="sm"/>
          </a:ln>
        </p:spPr>
        <p:txBody>
          <a:bodyPr wrap="none">
            <a:spAutoFit/>
          </a:bodyPr>
          <a:lstStyle/>
          <a:p>
            <a:r>
              <a:rPr lang="en-US" altLang="zh-CN" sz="2400" b="1" dirty="0">
                <a:solidFill>
                  <a:srgbClr val="000099"/>
                </a:solidFill>
              </a:rPr>
              <a:t>Top1、Top2 </a:t>
            </a:r>
            <a:r>
              <a:rPr lang="zh-CN" altLang="en-US" sz="2400" b="1" dirty="0">
                <a:solidFill>
                  <a:srgbClr val="000099"/>
                </a:solidFill>
                <a:ea typeface="幼圆" pitchFamily="49" charset="-122"/>
              </a:rPr>
              <a:t>分别给出第</a:t>
            </a:r>
            <a:r>
              <a:rPr lang="zh-CN" altLang="en-US" sz="2400" b="1" dirty="0">
                <a:solidFill>
                  <a:srgbClr val="000099"/>
                </a:solidFill>
              </a:rPr>
              <a:t>1</a:t>
            </a:r>
            <a:r>
              <a:rPr lang="zh-CN" altLang="en-US" sz="2400" b="1" dirty="0">
                <a:solidFill>
                  <a:srgbClr val="000099"/>
                </a:solidFill>
                <a:ea typeface="幼圆" pitchFamily="49" charset="-122"/>
              </a:rPr>
              <a:t>个与第</a:t>
            </a:r>
            <a:r>
              <a:rPr lang="zh-CN" altLang="en-US" sz="2400" b="1" dirty="0">
                <a:solidFill>
                  <a:srgbClr val="000099"/>
                </a:solidFill>
              </a:rPr>
              <a:t>2</a:t>
            </a:r>
            <a:r>
              <a:rPr lang="zh-CN" altLang="en-US" sz="2400" b="1" dirty="0">
                <a:solidFill>
                  <a:srgbClr val="000099"/>
                </a:solidFill>
                <a:ea typeface="幼圆" pitchFamily="49" charset="-122"/>
              </a:rPr>
              <a:t>个栈的栈顶元素的位置</a:t>
            </a:r>
            <a:r>
              <a:rPr lang="zh-CN" altLang="en-US" sz="2400" b="1" dirty="0">
                <a:solidFill>
                  <a:srgbClr val="000099"/>
                </a:solidFill>
              </a:rPr>
              <a:t>。</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blinds(horizontal)">
                                      <p:cBhvr>
                                        <p:cTn id="7" dur="500"/>
                                        <p:tgtEl>
                                          <p:spTgt spid="7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295011"/>
                                        </p:tgtEl>
                                        <p:attrNameLst>
                                          <p:attrName>style.visibility</p:attrName>
                                        </p:attrNameLst>
                                      </p:cBhvr>
                                      <p:to>
                                        <p:strVal val="visible"/>
                                      </p:to>
                                    </p:set>
                                    <p:animEffect transition="in" filter="wipe(right)">
                                      <p:cBhvr>
                                        <p:cTn id="17" dur="500"/>
                                        <p:tgtEl>
                                          <p:spTgt spid="295011"/>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arn(inVertical)">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52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 calcmode="lin" valueType="num">
                                      <p:cBhvr>
                                        <p:cTn id="29" dur="500" fill="hold"/>
                                        <p:tgtEl>
                                          <p:spTgt spid="9"/>
                                        </p:tgtEl>
                                        <p:attrNameLst>
                                          <p:attrName>ppt_x</p:attrName>
                                        </p:attrNameLst>
                                      </p:cBhvr>
                                      <p:tavLst>
                                        <p:tav tm="0">
                                          <p:val>
                                            <p:fltVal val="0.5"/>
                                          </p:val>
                                        </p:tav>
                                        <p:tav tm="100000">
                                          <p:val>
                                            <p:strVal val="#ppt_x"/>
                                          </p:val>
                                        </p:tav>
                                      </p:tavLst>
                                    </p:anim>
                                    <p:anim calcmode="lin" valueType="num">
                                      <p:cBhvr>
                                        <p:cTn id="30" dur="500" fill="hold"/>
                                        <p:tgtEl>
                                          <p:spTgt spid="9"/>
                                        </p:tgtEl>
                                        <p:attrNameLst>
                                          <p:attrName>ppt_y</p:attrName>
                                        </p:attrNameLst>
                                      </p:cBhvr>
                                      <p:tavLst>
                                        <p:tav tm="0">
                                          <p:val>
                                            <p:fltVal val="0.5"/>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 presetClass="entr" presetSubtype="5" fill="hold" grpId="0" nodeType="clickEffect">
                                  <p:stCondLst>
                                    <p:cond delay="0"/>
                                  </p:stCondLst>
                                  <p:childTnLst>
                                    <p:set>
                                      <p:cBhvr>
                                        <p:cTn id="34" dur="1" fill="hold">
                                          <p:stCondLst>
                                            <p:cond delay="0"/>
                                          </p:stCondLst>
                                        </p:cTn>
                                        <p:tgtEl>
                                          <p:spTgt spid="294979"/>
                                        </p:tgtEl>
                                        <p:attrNameLst>
                                          <p:attrName>style.visibility</p:attrName>
                                        </p:attrNameLst>
                                      </p:cBhvr>
                                      <p:to>
                                        <p:strVal val="visible"/>
                                      </p:to>
                                    </p:set>
                                    <p:animEffect transition="in" filter="blinds(vertical)">
                                      <p:cBhvr>
                                        <p:cTn id="35" dur="500"/>
                                        <p:tgtEl>
                                          <p:spTgt spid="2949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979" grpId="0" autoUpdateAnimBg="0"/>
      <p:bldP spid="295011"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905000" y="1816100"/>
            <a:ext cx="3886200" cy="1614488"/>
            <a:chOff x="240" y="1144"/>
            <a:chExt cx="2448" cy="1017"/>
          </a:xfrm>
        </p:grpSpPr>
        <p:grpSp>
          <p:nvGrpSpPr>
            <p:cNvPr id="3" name="Group 3"/>
            <p:cNvGrpSpPr>
              <a:grpSpLocks/>
            </p:cNvGrpSpPr>
            <p:nvPr/>
          </p:nvGrpSpPr>
          <p:grpSpPr bwMode="auto">
            <a:xfrm>
              <a:off x="240" y="1441"/>
              <a:ext cx="2448" cy="720"/>
              <a:chOff x="816" y="1440"/>
              <a:chExt cx="2448" cy="720"/>
            </a:xfrm>
          </p:grpSpPr>
          <p:sp>
            <p:nvSpPr>
              <p:cNvPr id="44086" name="Cloud" descr="花束"/>
              <p:cNvSpPr>
                <a:spLocks noChangeAspect="1" noEditPoints="1" noChangeArrowheads="1"/>
              </p:cNvSpPr>
              <p:nvPr/>
            </p:nvSpPr>
            <p:spPr bwMode="auto">
              <a:xfrm>
                <a:off x="816" y="1440"/>
                <a:ext cx="2448" cy="72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974 w 21600"/>
                  <a:gd name="T13" fmla="*/ 3270 h 21600"/>
                  <a:gd name="T14" fmla="*/ 17091 w 21600"/>
                  <a:gd name="T15" fmla="*/ 17340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blipFill dpi="0" rotWithShape="0">
                <a:blip r:embed="rId2" cstate="print"/>
                <a:srcRect/>
                <a:tile tx="0" ty="0" sx="100000" sy="100000" flip="none" algn="tl"/>
              </a:blipFill>
              <a:ln w="9525">
                <a:solidFill>
                  <a:srgbClr val="000000"/>
                </a:solidFill>
                <a:miter lim="800000"/>
                <a:headEnd/>
                <a:tailEnd/>
              </a:ln>
              <a:effectLst>
                <a:outerShdw dist="107763" dir="2700000" algn="ctr" rotWithShape="0">
                  <a:srgbClr val="808080"/>
                </a:outerShdw>
              </a:effectLst>
            </p:spPr>
            <p:txBody>
              <a:bodyPr/>
              <a:lstStyle/>
              <a:p>
                <a:endParaRPr lang="zh-CN" altLang="en-US"/>
              </a:p>
            </p:txBody>
          </p:sp>
          <p:sp>
            <p:nvSpPr>
              <p:cNvPr id="44087" name="Text Box 5"/>
              <p:cNvSpPr txBox="1">
                <a:spLocks noChangeArrowheads="1"/>
              </p:cNvSpPr>
              <p:nvPr/>
            </p:nvSpPr>
            <p:spPr bwMode="auto">
              <a:xfrm>
                <a:off x="1152" y="1539"/>
                <a:ext cx="1508" cy="465"/>
              </a:xfrm>
              <a:prstGeom prst="rect">
                <a:avLst/>
              </a:prstGeom>
              <a:noFill/>
              <a:ln w="12700" cap="sq">
                <a:noFill/>
                <a:miter lim="800000"/>
                <a:headEnd type="none" w="sm" len="sm"/>
                <a:tailEnd type="none" w="sm" len="sm"/>
              </a:ln>
            </p:spPr>
            <p:txBody>
              <a:bodyPr wrap="none">
                <a:spAutoFit/>
              </a:bodyPr>
              <a:lstStyle/>
              <a:p>
                <a:r>
                  <a:rPr lang="en-US" altLang="zh-CN" sz="2100" b="1" dirty="0">
                    <a:solidFill>
                      <a:srgbClr val="0033CC"/>
                    </a:solidFill>
                  </a:rPr>
                  <a:t>top1</a:t>
                </a:r>
                <a:r>
                  <a:rPr lang="en-US" altLang="zh-CN" sz="2100" b="1" dirty="0">
                    <a:solidFill>
                      <a:srgbClr val="0033CC"/>
                    </a:solidFill>
                    <a:sym typeface="Symbol" pitchFamily="18" charset="2"/>
                  </a:rPr>
                  <a:t>++；</a:t>
                </a:r>
              </a:p>
              <a:p>
                <a:r>
                  <a:rPr lang="en-US" altLang="zh-CN" sz="2100" b="1" dirty="0">
                    <a:solidFill>
                      <a:srgbClr val="0033CC"/>
                    </a:solidFill>
                    <a:sym typeface="Symbol" pitchFamily="18" charset="2"/>
                  </a:rPr>
                  <a:t>STACK[top1]=item；</a:t>
                </a:r>
              </a:p>
            </p:txBody>
          </p:sp>
        </p:grpSp>
        <p:sp>
          <p:nvSpPr>
            <p:cNvPr id="44084" name="AutoShape 6"/>
            <p:cNvSpPr>
              <a:spLocks noChangeArrowheads="1"/>
            </p:cNvSpPr>
            <p:nvPr/>
          </p:nvSpPr>
          <p:spPr bwMode="auto">
            <a:xfrm>
              <a:off x="432" y="1201"/>
              <a:ext cx="480" cy="240"/>
            </a:xfrm>
            <a:prstGeom prst="foldedCorner">
              <a:avLst>
                <a:gd name="adj" fmla="val 22046"/>
              </a:avLst>
            </a:prstGeom>
            <a:solidFill>
              <a:srgbClr val="FF6600"/>
            </a:solidFill>
            <a:ln w="12700" cap="sq">
              <a:noFill/>
              <a:round/>
              <a:headEnd type="none" w="sm" len="sm"/>
              <a:tailEnd type="none" w="sm" len="sm"/>
            </a:ln>
            <a:effectLst>
              <a:outerShdw dist="81320" dir="2319588" algn="ctr" rotWithShape="0">
                <a:schemeClr val="bg2"/>
              </a:outerShdw>
            </a:effectLst>
          </p:spPr>
          <p:txBody>
            <a:bodyPr wrap="none" anchor="ctr"/>
            <a:lstStyle/>
            <a:p>
              <a:endParaRPr lang="zh-CN" altLang="en-US"/>
            </a:p>
          </p:txBody>
        </p:sp>
        <p:sp>
          <p:nvSpPr>
            <p:cNvPr id="44085" name="Text Box 7"/>
            <p:cNvSpPr txBox="1">
              <a:spLocks noChangeArrowheads="1"/>
            </p:cNvSpPr>
            <p:nvPr/>
          </p:nvSpPr>
          <p:spPr bwMode="auto">
            <a:xfrm>
              <a:off x="479" y="1144"/>
              <a:ext cx="525" cy="327"/>
            </a:xfrm>
            <a:prstGeom prst="rect">
              <a:avLst/>
            </a:prstGeom>
            <a:noFill/>
            <a:ln w="12700" cap="sq">
              <a:noFill/>
              <a:miter lim="800000"/>
              <a:headEnd type="none" w="sm" len="sm"/>
              <a:tailEnd type="none" w="sm" len="sm"/>
            </a:ln>
            <a:effectLst>
              <a:outerShdw dist="28398" dir="3806097" algn="ctr" rotWithShape="0">
                <a:schemeClr val="bg2"/>
              </a:outerShdw>
            </a:effectLst>
          </p:spPr>
          <p:txBody>
            <a:bodyPr>
              <a:spAutoFit/>
            </a:bodyPr>
            <a:lstStyle/>
            <a:p>
              <a:r>
                <a:rPr lang="zh-CN" altLang="en-US" sz="2800" b="1" dirty="0"/>
                <a:t>栈</a:t>
              </a:r>
              <a:r>
                <a:rPr lang="en-US" altLang="zh-CN" sz="2800" b="1" dirty="0"/>
                <a:t>1</a:t>
              </a:r>
            </a:p>
          </p:txBody>
        </p:sp>
      </p:grpSp>
      <p:grpSp>
        <p:nvGrpSpPr>
          <p:cNvPr id="4" name="Group 8"/>
          <p:cNvGrpSpPr>
            <a:grpSpLocks/>
          </p:cNvGrpSpPr>
          <p:nvPr/>
        </p:nvGrpSpPr>
        <p:grpSpPr bwMode="auto">
          <a:xfrm>
            <a:off x="6172200" y="1676400"/>
            <a:ext cx="3886200" cy="1701800"/>
            <a:chOff x="2928" y="1056"/>
            <a:chExt cx="2448" cy="1072"/>
          </a:xfrm>
        </p:grpSpPr>
        <p:grpSp>
          <p:nvGrpSpPr>
            <p:cNvPr id="5" name="Group 9"/>
            <p:cNvGrpSpPr>
              <a:grpSpLocks/>
            </p:cNvGrpSpPr>
            <p:nvPr/>
          </p:nvGrpSpPr>
          <p:grpSpPr bwMode="auto">
            <a:xfrm>
              <a:off x="2928" y="1408"/>
              <a:ext cx="2448" cy="720"/>
              <a:chOff x="3552" y="1824"/>
              <a:chExt cx="2448" cy="720"/>
            </a:xfrm>
          </p:grpSpPr>
          <p:sp>
            <p:nvSpPr>
              <p:cNvPr id="44081" name="Cloud" descr="花束"/>
              <p:cNvSpPr>
                <a:spLocks noChangeAspect="1" noEditPoints="1" noChangeArrowheads="1"/>
              </p:cNvSpPr>
              <p:nvPr/>
            </p:nvSpPr>
            <p:spPr bwMode="auto">
              <a:xfrm>
                <a:off x="3552" y="1824"/>
                <a:ext cx="2448" cy="72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974 w 21600"/>
                  <a:gd name="T13" fmla="*/ 3270 h 21600"/>
                  <a:gd name="T14" fmla="*/ 17091 w 21600"/>
                  <a:gd name="T15" fmla="*/ 17340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blipFill dpi="0" rotWithShape="0">
                <a:blip r:embed="rId2" cstate="print"/>
                <a:srcRect/>
                <a:tile tx="0" ty="0" sx="100000" sy="100000" flip="none" algn="tl"/>
              </a:blipFill>
              <a:ln w="9525">
                <a:solidFill>
                  <a:srgbClr val="000000"/>
                </a:solidFill>
                <a:miter lim="800000"/>
                <a:headEnd/>
                <a:tailEnd/>
              </a:ln>
              <a:effectLst>
                <a:outerShdw dist="107763" dir="2700000" algn="ctr" rotWithShape="0">
                  <a:srgbClr val="808080"/>
                </a:outerShdw>
              </a:effectLst>
            </p:spPr>
            <p:txBody>
              <a:bodyPr/>
              <a:lstStyle/>
              <a:p>
                <a:endParaRPr lang="zh-CN" altLang="en-US"/>
              </a:p>
            </p:txBody>
          </p:sp>
          <p:sp>
            <p:nvSpPr>
              <p:cNvPr id="44082" name="Text Box 11"/>
              <p:cNvSpPr txBox="1">
                <a:spLocks noChangeArrowheads="1"/>
              </p:cNvSpPr>
              <p:nvPr/>
            </p:nvSpPr>
            <p:spPr bwMode="auto">
              <a:xfrm>
                <a:off x="3849" y="1941"/>
                <a:ext cx="1508" cy="465"/>
              </a:xfrm>
              <a:prstGeom prst="rect">
                <a:avLst/>
              </a:prstGeom>
              <a:noFill/>
              <a:ln w="12700" cap="sq">
                <a:noFill/>
                <a:miter lim="800000"/>
                <a:headEnd type="none" w="sm" len="sm"/>
                <a:tailEnd type="none" w="sm" len="sm"/>
              </a:ln>
            </p:spPr>
            <p:txBody>
              <a:bodyPr wrap="none">
                <a:spAutoFit/>
              </a:bodyPr>
              <a:lstStyle/>
              <a:p>
                <a:r>
                  <a:rPr lang="en-US" altLang="zh-CN" sz="2100" b="1" dirty="0">
                    <a:solidFill>
                      <a:srgbClr val="0033CC"/>
                    </a:solidFill>
                  </a:rPr>
                  <a:t>top2</a:t>
                </a:r>
                <a:r>
                  <a:rPr lang="en-US" altLang="zh-CN" sz="2100" b="1" dirty="0">
                    <a:solidFill>
                      <a:srgbClr val="0033CC"/>
                    </a:solidFill>
                    <a:latin typeface="宋体" charset="-122"/>
                    <a:ea typeface="宋体" charset="-122"/>
                  </a:rPr>
                  <a:t>--</a:t>
                </a:r>
                <a:r>
                  <a:rPr lang="en-US" altLang="zh-CN" sz="2100" b="1" dirty="0">
                    <a:solidFill>
                      <a:srgbClr val="0033CC"/>
                    </a:solidFill>
                  </a:rPr>
                  <a:t>；</a:t>
                </a:r>
                <a:endParaRPr lang="en-US" altLang="zh-CN" sz="2100" b="1" dirty="0">
                  <a:solidFill>
                    <a:srgbClr val="0033CC"/>
                  </a:solidFill>
                  <a:sym typeface="Symbol" pitchFamily="18" charset="2"/>
                </a:endParaRPr>
              </a:p>
              <a:p>
                <a:r>
                  <a:rPr lang="en-US" altLang="zh-CN" sz="2100" b="1" dirty="0">
                    <a:solidFill>
                      <a:srgbClr val="0033CC"/>
                    </a:solidFill>
                    <a:sym typeface="Symbol" pitchFamily="18" charset="2"/>
                  </a:rPr>
                  <a:t>STACK[top2]=item；</a:t>
                </a:r>
              </a:p>
            </p:txBody>
          </p:sp>
        </p:grpSp>
        <p:sp>
          <p:nvSpPr>
            <p:cNvPr id="44079" name="AutoShape 12"/>
            <p:cNvSpPr>
              <a:spLocks noChangeArrowheads="1"/>
            </p:cNvSpPr>
            <p:nvPr/>
          </p:nvSpPr>
          <p:spPr bwMode="auto">
            <a:xfrm>
              <a:off x="4752" y="1105"/>
              <a:ext cx="480" cy="240"/>
            </a:xfrm>
            <a:prstGeom prst="foldedCorner">
              <a:avLst>
                <a:gd name="adj" fmla="val 22046"/>
              </a:avLst>
            </a:prstGeom>
            <a:solidFill>
              <a:srgbClr val="FF6600"/>
            </a:solidFill>
            <a:ln w="12700" cap="sq">
              <a:noFill/>
              <a:round/>
              <a:headEnd type="none" w="sm" len="sm"/>
              <a:tailEnd type="none" w="sm" len="sm"/>
            </a:ln>
            <a:effectLst>
              <a:outerShdw dist="71842" dir="2700000" algn="ctr" rotWithShape="0">
                <a:schemeClr val="bg2"/>
              </a:outerShdw>
            </a:effectLst>
          </p:spPr>
          <p:txBody>
            <a:bodyPr wrap="none" anchor="ctr"/>
            <a:lstStyle/>
            <a:p>
              <a:endParaRPr lang="zh-CN" altLang="en-US"/>
            </a:p>
          </p:txBody>
        </p:sp>
        <p:sp>
          <p:nvSpPr>
            <p:cNvPr id="44080" name="Text Box 13"/>
            <p:cNvSpPr txBox="1">
              <a:spLocks noChangeArrowheads="1"/>
            </p:cNvSpPr>
            <p:nvPr/>
          </p:nvSpPr>
          <p:spPr bwMode="auto">
            <a:xfrm>
              <a:off x="4783" y="1056"/>
              <a:ext cx="514" cy="327"/>
            </a:xfrm>
            <a:prstGeom prst="rect">
              <a:avLst/>
            </a:prstGeom>
            <a:noFill/>
            <a:ln w="12700" cap="sq">
              <a:noFill/>
              <a:miter lim="800000"/>
              <a:headEnd type="none" w="sm" len="sm"/>
              <a:tailEnd type="none" w="sm" len="sm"/>
            </a:ln>
            <a:effectLst>
              <a:outerShdw dist="25400" algn="ctr" rotWithShape="0">
                <a:srgbClr val="000000"/>
              </a:outerShdw>
            </a:effectLst>
          </p:spPr>
          <p:txBody>
            <a:bodyPr>
              <a:spAutoFit/>
            </a:bodyPr>
            <a:lstStyle/>
            <a:p>
              <a:r>
                <a:rPr lang="zh-CN" altLang="en-US" sz="2800" b="1" dirty="0"/>
                <a:t>栈</a:t>
              </a:r>
              <a:r>
                <a:rPr lang="en-US" altLang="zh-CN" sz="2800" b="1" dirty="0"/>
                <a:t>2</a:t>
              </a:r>
            </a:p>
          </p:txBody>
        </p:sp>
      </p:grpSp>
      <p:sp>
        <p:nvSpPr>
          <p:cNvPr id="295950" name="Text Box 14"/>
          <p:cNvSpPr txBox="1">
            <a:spLocks noChangeArrowheads="1"/>
          </p:cNvSpPr>
          <p:nvPr/>
        </p:nvSpPr>
        <p:spPr bwMode="auto">
          <a:xfrm>
            <a:off x="2209800" y="5486400"/>
            <a:ext cx="2667000" cy="503238"/>
          </a:xfrm>
          <a:prstGeom prst="rect">
            <a:avLst/>
          </a:prstGeom>
          <a:noFill/>
          <a:ln w="12700" cap="sq">
            <a:noFill/>
            <a:miter lim="800000"/>
            <a:headEnd type="none" w="sm" len="sm"/>
            <a:tailEnd type="none" w="sm" len="sm"/>
          </a:ln>
        </p:spPr>
        <p:txBody>
          <a:bodyPr>
            <a:spAutoFit/>
          </a:bodyPr>
          <a:lstStyle/>
          <a:p>
            <a:r>
              <a:rPr lang="zh-CN" altLang="en-US" sz="2700" b="1">
                <a:solidFill>
                  <a:srgbClr val="000099"/>
                </a:solidFill>
                <a:ea typeface="黑体" pitchFamily="2" charset="-122"/>
              </a:rPr>
              <a:t>栈满的条件是</a:t>
            </a:r>
            <a:endParaRPr lang="zh-CN" altLang="zh-CN" sz="2700" b="1">
              <a:solidFill>
                <a:srgbClr val="000099"/>
              </a:solidFill>
              <a:ea typeface="黑体" pitchFamily="2" charset="-122"/>
            </a:endParaRPr>
          </a:p>
        </p:txBody>
      </p:sp>
      <p:grpSp>
        <p:nvGrpSpPr>
          <p:cNvPr id="6" name="Group 15"/>
          <p:cNvGrpSpPr>
            <a:grpSpLocks/>
          </p:cNvGrpSpPr>
          <p:nvPr/>
        </p:nvGrpSpPr>
        <p:grpSpPr bwMode="auto">
          <a:xfrm>
            <a:off x="4267200" y="5753100"/>
            <a:ext cx="3989388" cy="806450"/>
            <a:chOff x="1728" y="3624"/>
            <a:chExt cx="2513" cy="508"/>
          </a:xfrm>
        </p:grpSpPr>
        <p:sp>
          <p:nvSpPr>
            <p:cNvPr id="44076" name="AutoShape 16"/>
            <p:cNvSpPr>
              <a:spLocks noChangeArrowheads="1"/>
            </p:cNvSpPr>
            <p:nvPr/>
          </p:nvSpPr>
          <p:spPr bwMode="auto">
            <a:xfrm>
              <a:off x="1728" y="3624"/>
              <a:ext cx="2513" cy="508"/>
            </a:xfrm>
            <a:prstGeom prst="star16">
              <a:avLst>
                <a:gd name="adj" fmla="val 35375"/>
              </a:avLst>
            </a:prstGeom>
            <a:gradFill rotWithShape="0">
              <a:gsLst>
                <a:gs pos="0">
                  <a:srgbClr val="760000"/>
                </a:gs>
                <a:gs pos="50000">
                  <a:srgbClr val="FF0000"/>
                </a:gs>
                <a:gs pos="100000">
                  <a:srgbClr val="760000"/>
                </a:gs>
              </a:gsLst>
              <a:lin ang="18900000" scaled="1"/>
            </a:gradFill>
            <a:ln w="25400">
              <a:noFill/>
              <a:miter lim="800000"/>
              <a:headEnd type="none" w="sm" len="sm"/>
              <a:tailEnd type="none" w="sm" len="sm"/>
            </a:ln>
            <a:effectLst>
              <a:outerShdw dist="127000" dir="2212194" algn="ctr" rotWithShape="0">
                <a:srgbClr val="969696"/>
              </a:outerShdw>
            </a:effectLst>
          </p:spPr>
          <p:txBody>
            <a:bodyPr wrap="none" anchor="ctr"/>
            <a:lstStyle/>
            <a:p>
              <a:endParaRPr lang="zh-CN" altLang="en-US"/>
            </a:p>
          </p:txBody>
        </p:sp>
        <p:sp>
          <p:nvSpPr>
            <p:cNvPr id="44077" name="Rectangle 17"/>
            <p:cNvSpPr>
              <a:spLocks noChangeArrowheads="1"/>
            </p:cNvSpPr>
            <p:nvPr/>
          </p:nvSpPr>
          <p:spPr bwMode="auto">
            <a:xfrm>
              <a:off x="2159" y="3697"/>
              <a:ext cx="1855" cy="327"/>
            </a:xfrm>
            <a:prstGeom prst="rect">
              <a:avLst/>
            </a:prstGeom>
            <a:noFill/>
            <a:ln w="12700" cap="sq">
              <a:noFill/>
              <a:miter lim="800000"/>
              <a:headEnd type="none" w="sm" len="sm"/>
              <a:tailEnd type="none" w="sm" len="sm"/>
            </a:ln>
            <a:effectLst>
              <a:outerShdw dist="28398" dir="3806097" algn="ctr" rotWithShape="0">
                <a:srgbClr val="000000"/>
              </a:outerShdw>
            </a:effectLst>
          </p:spPr>
          <p:txBody>
            <a:bodyPr>
              <a:spAutoFit/>
            </a:bodyPr>
            <a:lstStyle/>
            <a:p>
              <a:pPr>
                <a:spcBef>
                  <a:spcPct val="15000"/>
                </a:spcBef>
              </a:pPr>
              <a:r>
                <a:rPr lang="en-US" altLang="zh-CN" sz="2800" b="1" dirty="0">
                  <a:solidFill>
                    <a:srgbClr val="FFFFFF"/>
                  </a:solidFill>
                </a:rPr>
                <a:t>top1==top2</a:t>
              </a:r>
              <a:r>
                <a:rPr lang="en-US" altLang="zh-CN" sz="2800" b="1" dirty="0">
                  <a:solidFill>
                    <a:srgbClr val="FFFFFF"/>
                  </a:solidFill>
                  <a:ea typeface="宋体" charset="-122"/>
                  <a:cs typeface="Times New Roman" pitchFamily="18" charset="0"/>
                </a:rPr>
                <a:t>–</a:t>
              </a:r>
              <a:r>
                <a:rPr lang="en-US" altLang="zh-CN" sz="2800" b="1" dirty="0">
                  <a:solidFill>
                    <a:srgbClr val="FFFFFF"/>
                  </a:solidFill>
                </a:rPr>
                <a:t>1</a:t>
              </a:r>
            </a:p>
          </p:txBody>
        </p:sp>
      </p:grpSp>
      <p:grpSp>
        <p:nvGrpSpPr>
          <p:cNvPr id="56" name="组合 55"/>
          <p:cNvGrpSpPr/>
          <p:nvPr/>
        </p:nvGrpSpPr>
        <p:grpSpPr>
          <a:xfrm>
            <a:off x="2732088" y="3675064"/>
            <a:ext cx="7416800" cy="2052637"/>
            <a:chOff x="1208088" y="3675063"/>
            <a:chExt cx="7416800" cy="2052637"/>
          </a:xfrm>
        </p:grpSpPr>
        <p:grpSp>
          <p:nvGrpSpPr>
            <p:cNvPr id="7" name="Group 18"/>
            <p:cNvGrpSpPr>
              <a:grpSpLocks/>
            </p:cNvGrpSpPr>
            <p:nvPr/>
          </p:nvGrpSpPr>
          <p:grpSpPr bwMode="auto">
            <a:xfrm>
              <a:off x="6948488" y="4508500"/>
              <a:ext cx="1676400" cy="1219200"/>
              <a:chOff x="4656" y="2496"/>
              <a:chExt cx="1056" cy="768"/>
            </a:xfrm>
          </p:grpSpPr>
          <p:sp>
            <p:nvSpPr>
              <p:cNvPr id="44074" name="AutoShape 19"/>
              <p:cNvSpPr>
                <a:spLocks noChangeArrowheads="1"/>
              </p:cNvSpPr>
              <p:nvPr/>
            </p:nvSpPr>
            <p:spPr bwMode="auto">
              <a:xfrm>
                <a:off x="4656" y="2496"/>
                <a:ext cx="1056" cy="768"/>
              </a:xfrm>
              <a:prstGeom prst="irregularSeal1">
                <a:avLst/>
              </a:prstGeom>
              <a:solidFill>
                <a:srgbClr val="00FFFF"/>
              </a:solidFill>
              <a:ln w="12700" cap="sq">
                <a:noFill/>
                <a:miter lim="800000"/>
                <a:headEnd type="none" w="sm" len="sm"/>
                <a:tailEnd type="none" w="sm" len="sm"/>
              </a:ln>
              <a:effectLst>
                <a:outerShdw dist="92457" dir="956724" algn="ctr" rotWithShape="0">
                  <a:schemeClr val="bg2"/>
                </a:outerShdw>
              </a:effectLst>
            </p:spPr>
            <p:txBody>
              <a:bodyPr wrap="none" anchor="ctr"/>
              <a:lstStyle/>
              <a:p>
                <a:endParaRPr lang="zh-CN" altLang="en-US"/>
              </a:p>
            </p:txBody>
          </p:sp>
          <p:sp>
            <p:nvSpPr>
              <p:cNvPr id="44075" name="Rectangle 20"/>
              <p:cNvSpPr>
                <a:spLocks noChangeArrowheads="1"/>
              </p:cNvSpPr>
              <p:nvPr/>
            </p:nvSpPr>
            <p:spPr bwMode="auto">
              <a:xfrm>
                <a:off x="4793" y="2635"/>
                <a:ext cx="740" cy="432"/>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wrap="none">
                <a:spAutoFit/>
              </a:bodyPr>
              <a:lstStyle/>
              <a:p>
                <a:r>
                  <a:rPr lang="zh-CN" altLang="en-US" sz="3900" b="1">
                    <a:solidFill>
                      <a:srgbClr val="FF3300"/>
                    </a:solidFill>
                    <a:ea typeface="华文新魏" pitchFamily="2" charset="-122"/>
                  </a:rPr>
                  <a:t>栈满</a:t>
                </a:r>
              </a:p>
            </p:txBody>
          </p:sp>
        </p:grpSp>
        <p:grpSp>
          <p:nvGrpSpPr>
            <p:cNvPr id="8" name="Group 39"/>
            <p:cNvGrpSpPr>
              <a:grpSpLocks/>
            </p:cNvGrpSpPr>
            <p:nvPr/>
          </p:nvGrpSpPr>
          <p:grpSpPr bwMode="auto">
            <a:xfrm>
              <a:off x="1208088" y="3675063"/>
              <a:ext cx="6624638" cy="863600"/>
              <a:chOff x="720" y="2315"/>
              <a:chExt cx="4173" cy="544"/>
            </a:xfrm>
          </p:grpSpPr>
          <p:sp>
            <p:nvSpPr>
              <p:cNvPr id="44062" name="Text Box 40"/>
              <p:cNvSpPr txBox="1">
                <a:spLocks noChangeArrowheads="1"/>
              </p:cNvSpPr>
              <p:nvPr/>
            </p:nvSpPr>
            <p:spPr bwMode="auto">
              <a:xfrm>
                <a:off x="720" y="2315"/>
                <a:ext cx="3831" cy="213"/>
              </a:xfrm>
              <a:prstGeom prst="rect">
                <a:avLst/>
              </a:prstGeom>
              <a:noFill/>
              <a:ln w="12700" cap="sq">
                <a:noFill/>
                <a:miter lim="800000"/>
                <a:headEnd type="none" w="sm" len="sm"/>
                <a:tailEnd type="none" w="sm" len="sm"/>
              </a:ln>
            </p:spPr>
            <p:txBody>
              <a:bodyPr wrap="none">
                <a:spAutoFit/>
              </a:bodyPr>
              <a:lstStyle/>
              <a:p>
                <a:r>
                  <a:rPr lang="zh-CN" altLang="en-US" sz="1600" b="1" dirty="0"/>
                  <a:t>0  1  2   </a:t>
                </a:r>
                <a:r>
                  <a:rPr lang="zh-CN" altLang="en-US" sz="1600" b="1" dirty="0">
                    <a:ea typeface="宋体" charset="-122"/>
                    <a:cs typeface="Times New Roman" pitchFamily="18" charset="0"/>
                  </a:rPr>
                  <a:t>…</a:t>
                </a:r>
                <a:r>
                  <a:rPr lang="zh-CN" altLang="en-US" sz="1600" b="1" dirty="0"/>
                  <a:t>                                                                                                       </a:t>
                </a:r>
                <a:r>
                  <a:rPr lang="en-US" altLang="zh-CN" sz="1600" b="1" dirty="0"/>
                  <a:t>M</a:t>
                </a:r>
                <a:r>
                  <a:rPr lang="en-US" altLang="zh-CN" sz="1600" b="1" dirty="0">
                    <a:latin typeface="宋体" charset="-122"/>
                    <a:ea typeface="宋体" charset="-122"/>
                  </a:rPr>
                  <a:t>-</a:t>
                </a:r>
                <a:r>
                  <a:rPr lang="en-US" altLang="zh-CN" sz="1600" b="1" dirty="0"/>
                  <a:t>1</a:t>
                </a:r>
              </a:p>
            </p:txBody>
          </p:sp>
          <p:sp>
            <p:nvSpPr>
              <p:cNvPr id="44063" name="Line 41"/>
              <p:cNvSpPr>
                <a:spLocks noChangeShapeType="1"/>
              </p:cNvSpPr>
              <p:nvPr/>
            </p:nvSpPr>
            <p:spPr bwMode="auto">
              <a:xfrm>
                <a:off x="720" y="2528"/>
                <a:ext cx="4173" cy="0"/>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44064" name="Line 42"/>
              <p:cNvSpPr>
                <a:spLocks noChangeShapeType="1"/>
              </p:cNvSpPr>
              <p:nvPr/>
            </p:nvSpPr>
            <p:spPr bwMode="auto">
              <a:xfrm>
                <a:off x="720" y="2859"/>
                <a:ext cx="4173" cy="0"/>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44065" name="Line 43"/>
              <p:cNvSpPr>
                <a:spLocks noChangeShapeType="1"/>
              </p:cNvSpPr>
              <p:nvPr/>
            </p:nvSpPr>
            <p:spPr bwMode="auto">
              <a:xfrm>
                <a:off x="720" y="2528"/>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44066" name="Line 44"/>
              <p:cNvSpPr>
                <a:spLocks noChangeShapeType="1"/>
              </p:cNvSpPr>
              <p:nvPr/>
            </p:nvSpPr>
            <p:spPr bwMode="auto">
              <a:xfrm>
                <a:off x="4893" y="2528"/>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44067" name="Rectangle 45"/>
              <p:cNvSpPr>
                <a:spLocks noChangeArrowheads="1"/>
              </p:cNvSpPr>
              <p:nvPr/>
            </p:nvSpPr>
            <p:spPr bwMode="auto">
              <a:xfrm>
                <a:off x="734" y="2538"/>
                <a:ext cx="1602" cy="311"/>
              </a:xfrm>
              <a:prstGeom prst="rect">
                <a:avLst/>
              </a:prstGeom>
              <a:solidFill>
                <a:srgbClr val="C1F7F2"/>
              </a:solidFill>
              <a:ln w="12700" cap="sq">
                <a:noFill/>
                <a:miter lim="800000"/>
                <a:headEnd type="none" w="sm" len="sm"/>
                <a:tailEnd type="none" w="sm" len="sm"/>
              </a:ln>
            </p:spPr>
            <p:txBody>
              <a:bodyPr wrap="none" anchor="ctr"/>
              <a:lstStyle/>
              <a:p>
                <a:endParaRPr lang="zh-CN" altLang="en-US"/>
              </a:p>
            </p:txBody>
          </p:sp>
          <p:sp>
            <p:nvSpPr>
              <p:cNvPr id="44068" name="Rectangle 46"/>
              <p:cNvSpPr>
                <a:spLocks noChangeArrowheads="1"/>
              </p:cNvSpPr>
              <p:nvPr/>
            </p:nvSpPr>
            <p:spPr bwMode="auto">
              <a:xfrm>
                <a:off x="2336" y="2542"/>
                <a:ext cx="2543" cy="311"/>
              </a:xfrm>
              <a:prstGeom prst="rect">
                <a:avLst/>
              </a:prstGeom>
              <a:solidFill>
                <a:srgbClr val="C9C9C9"/>
              </a:solidFill>
              <a:ln w="12700" cap="sq">
                <a:noFill/>
                <a:miter lim="800000"/>
                <a:headEnd type="none" w="sm" len="sm"/>
                <a:tailEnd type="none" w="sm" len="sm"/>
              </a:ln>
            </p:spPr>
            <p:txBody>
              <a:bodyPr wrap="none" anchor="ctr"/>
              <a:lstStyle/>
              <a:p>
                <a:endParaRPr lang="zh-CN" altLang="en-US"/>
              </a:p>
            </p:txBody>
          </p:sp>
          <p:sp>
            <p:nvSpPr>
              <p:cNvPr id="44069" name="Line 47"/>
              <p:cNvSpPr>
                <a:spLocks noChangeShapeType="1"/>
              </p:cNvSpPr>
              <p:nvPr/>
            </p:nvSpPr>
            <p:spPr bwMode="auto">
              <a:xfrm>
                <a:off x="2346" y="2535"/>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44070" name="Text Box 48"/>
              <p:cNvSpPr txBox="1">
                <a:spLocks noChangeArrowheads="1"/>
              </p:cNvSpPr>
              <p:nvPr/>
            </p:nvSpPr>
            <p:spPr bwMode="auto">
              <a:xfrm>
                <a:off x="1020" y="2566"/>
                <a:ext cx="1134" cy="269"/>
              </a:xfrm>
              <a:prstGeom prst="rect">
                <a:avLst/>
              </a:prstGeom>
              <a:noFill/>
              <a:ln w="12700" cap="sq">
                <a:noFill/>
                <a:miter lim="800000"/>
                <a:headEnd type="none" w="sm" len="sm"/>
                <a:tailEnd type="none" w="sm" len="sm"/>
              </a:ln>
            </p:spPr>
            <p:txBody>
              <a:bodyPr>
                <a:spAutoFit/>
              </a:bodyPr>
              <a:lstStyle/>
              <a:p>
                <a:r>
                  <a:rPr lang="zh-CN" altLang="en-US" sz="2200" b="1">
                    <a:latin typeface="幼圆" pitchFamily="49" charset="-122"/>
                    <a:ea typeface="幼圆" pitchFamily="49" charset="-122"/>
                  </a:rPr>
                  <a:t>第</a:t>
                </a:r>
                <a:r>
                  <a:rPr lang="zh-CN" altLang="en-US" sz="2200" b="1">
                    <a:ea typeface="幼圆" pitchFamily="49" charset="-122"/>
                  </a:rPr>
                  <a:t>1</a:t>
                </a:r>
                <a:r>
                  <a:rPr lang="zh-CN" altLang="en-US" sz="2200" b="1">
                    <a:latin typeface="幼圆" pitchFamily="49" charset="-122"/>
                    <a:ea typeface="幼圆" pitchFamily="49" charset="-122"/>
                  </a:rPr>
                  <a:t>个栈</a:t>
                </a:r>
              </a:p>
            </p:txBody>
          </p:sp>
          <p:sp>
            <p:nvSpPr>
              <p:cNvPr id="44071" name="Text Box 49"/>
              <p:cNvSpPr txBox="1">
                <a:spLocks noChangeArrowheads="1"/>
              </p:cNvSpPr>
              <p:nvPr/>
            </p:nvSpPr>
            <p:spPr bwMode="auto">
              <a:xfrm>
                <a:off x="3288" y="2563"/>
                <a:ext cx="1134" cy="269"/>
              </a:xfrm>
              <a:prstGeom prst="rect">
                <a:avLst/>
              </a:prstGeom>
              <a:noFill/>
              <a:ln w="12700" cap="sq">
                <a:noFill/>
                <a:miter lim="800000"/>
                <a:headEnd type="none" w="sm" len="sm"/>
                <a:tailEnd type="none" w="sm" len="sm"/>
              </a:ln>
            </p:spPr>
            <p:txBody>
              <a:bodyPr>
                <a:spAutoFit/>
              </a:bodyPr>
              <a:lstStyle/>
              <a:p>
                <a:r>
                  <a:rPr lang="zh-CN" altLang="en-US" sz="2200" b="1" dirty="0">
                    <a:latin typeface="幼圆" pitchFamily="49" charset="-122"/>
                    <a:ea typeface="幼圆" pitchFamily="49" charset="-122"/>
                  </a:rPr>
                  <a:t>第</a:t>
                </a:r>
                <a:r>
                  <a:rPr lang="en-US" altLang="zh-CN" sz="2200" b="1" dirty="0">
                    <a:ea typeface="幼圆" pitchFamily="49" charset="-122"/>
                  </a:rPr>
                  <a:t>2</a:t>
                </a:r>
                <a:r>
                  <a:rPr lang="zh-CN" altLang="en-US" sz="2200" b="1" dirty="0">
                    <a:latin typeface="幼圆" pitchFamily="49" charset="-122"/>
                    <a:ea typeface="幼圆" pitchFamily="49" charset="-122"/>
                  </a:rPr>
                  <a:t>个栈</a:t>
                </a:r>
              </a:p>
            </p:txBody>
          </p:sp>
          <p:sp>
            <p:nvSpPr>
              <p:cNvPr id="44072" name="Line 50"/>
              <p:cNvSpPr>
                <a:spLocks noChangeShapeType="1"/>
              </p:cNvSpPr>
              <p:nvPr/>
            </p:nvSpPr>
            <p:spPr bwMode="auto">
              <a:xfrm>
                <a:off x="2175" y="2530"/>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44073" name="Line 51"/>
              <p:cNvSpPr>
                <a:spLocks noChangeShapeType="1"/>
              </p:cNvSpPr>
              <p:nvPr/>
            </p:nvSpPr>
            <p:spPr bwMode="auto">
              <a:xfrm>
                <a:off x="2517" y="2537"/>
                <a:ext cx="0" cy="317"/>
              </a:xfrm>
              <a:prstGeom prst="line">
                <a:avLst/>
              </a:prstGeom>
              <a:noFill/>
              <a:ln w="28575" cap="sq">
                <a:solidFill>
                  <a:srgbClr val="000080"/>
                </a:solidFill>
                <a:round/>
                <a:headEnd type="none" w="sm" len="sm"/>
                <a:tailEnd type="none" w="sm" len="sm"/>
              </a:ln>
            </p:spPr>
            <p:txBody>
              <a:bodyPr/>
              <a:lstStyle/>
              <a:p>
                <a:endParaRPr lang="zh-CN" altLang="en-US"/>
              </a:p>
            </p:txBody>
          </p:sp>
        </p:grpSp>
        <p:grpSp>
          <p:nvGrpSpPr>
            <p:cNvPr id="9" name="Group 52"/>
            <p:cNvGrpSpPr>
              <a:grpSpLocks/>
            </p:cNvGrpSpPr>
            <p:nvPr/>
          </p:nvGrpSpPr>
          <p:grpSpPr bwMode="auto">
            <a:xfrm>
              <a:off x="2987675" y="4570413"/>
              <a:ext cx="2447925" cy="650875"/>
              <a:chOff x="1882" y="2879"/>
              <a:chExt cx="1542" cy="410"/>
            </a:xfrm>
          </p:grpSpPr>
          <p:sp>
            <p:nvSpPr>
              <p:cNvPr id="44059" name="Text Box 53"/>
              <p:cNvSpPr txBox="1">
                <a:spLocks noChangeArrowheads="1"/>
              </p:cNvSpPr>
              <p:nvPr/>
            </p:nvSpPr>
            <p:spPr bwMode="auto">
              <a:xfrm>
                <a:off x="1882" y="3039"/>
                <a:ext cx="1542" cy="250"/>
              </a:xfrm>
              <a:prstGeom prst="rect">
                <a:avLst/>
              </a:prstGeom>
              <a:noFill/>
              <a:ln w="12700" cap="sq">
                <a:noFill/>
                <a:miter lim="800000"/>
                <a:headEnd type="none" w="sm" len="sm"/>
                <a:tailEnd type="none" w="sm" len="sm"/>
              </a:ln>
            </p:spPr>
            <p:txBody>
              <a:bodyPr>
                <a:spAutoFit/>
              </a:bodyPr>
              <a:lstStyle/>
              <a:p>
                <a:r>
                  <a:rPr lang="en-US" altLang="zh-CN" sz="2000" b="1" dirty="0">
                    <a:solidFill>
                      <a:srgbClr val="FF3300"/>
                    </a:solidFill>
                  </a:rPr>
                  <a:t>top1    top2</a:t>
                </a:r>
              </a:p>
            </p:txBody>
          </p:sp>
          <p:sp>
            <p:nvSpPr>
              <p:cNvPr id="44060" name="Line 54"/>
              <p:cNvSpPr>
                <a:spLocks noChangeShapeType="1"/>
              </p:cNvSpPr>
              <p:nvPr/>
            </p:nvSpPr>
            <p:spPr bwMode="auto">
              <a:xfrm flipV="1">
                <a:off x="2200" y="2879"/>
                <a:ext cx="97" cy="188"/>
              </a:xfrm>
              <a:prstGeom prst="line">
                <a:avLst/>
              </a:prstGeom>
              <a:noFill/>
              <a:ln w="25400" cap="sq">
                <a:solidFill>
                  <a:schemeClr val="accent2"/>
                </a:solidFill>
                <a:round/>
                <a:headEnd type="none" w="sm" len="sm"/>
                <a:tailEnd type="triangle" w="med" len="med"/>
              </a:ln>
            </p:spPr>
            <p:txBody>
              <a:bodyPr/>
              <a:lstStyle/>
              <a:p>
                <a:endParaRPr lang="zh-CN" altLang="en-US"/>
              </a:p>
            </p:txBody>
          </p:sp>
          <p:sp>
            <p:nvSpPr>
              <p:cNvPr id="44061" name="Line 55"/>
              <p:cNvSpPr>
                <a:spLocks noChangeShapeType="1"/>
              </p:cNvSpPr>
              <p:nvPr/>
            </p:nvSpPr>
            <p:spPr bwMode="auto">
              <a:xfrm flipH="1" flipV="1">
                <a:off x="2486" y="2879"/>
                <a:ext cx="97" cy="188"/>
              </a:xfrm>
              <a:prstGeom prst="line">
                <a:avLst/>
              </a:prstGeom>
              <a:noFill/>
              <a:ln w="25400" cap="sq">
                <a:solidFill>
                  <a:schemeClr val="accent2"/>
                </a:solidFill>
                <a:round/>
                <a:headEnd type="none" w="sm" len="sm"/>
                <a:tailEnd type="triangle" w="med" len="med"/>
              </a:ln>
            </p:spPr>
            <p:txBody>
              <a:bodyPr/>
              <a:lstStyle/>
              <a:p>
                <a:endParaRPr lang="zh-CN" altLang="en-US"/>
              </a:p>
            </p:txBody>
          </p:sp>
        </p:grpSp>
      </p:grpSp>
      <p:grpSp>
        <p:nvGrpSpPr>
          <p:cNvPr id="10" name="Group 66"/>
          <p:cNvGrpSpPr>
            <a:grpSpLocks/>
          </p:cNvGrpSpPr>
          <p:nvPr/>
        </p:nvGrpSpPr>
        <p:grpSpPr bwMode="auto">
          <a:xfrm>
            <a:off x="2662238" y="387351"/>
            <a:ext cx="6813550" cy="1482725"/>
            <a:chOff x="839" y="1933"/>
            <a:chExt cx="4292" cy="934"/>
          </a:xfrm>
        </p:grpSpPr>
        <p:sp>
          <p:nvSpPr>
            <p:cNvPr id="44042" name="Text Box 67"/>
            <p:cNvSpPr txBox="1">
              <a:spLocks noChangeArrowheads="1"/>
            </p:cNvSpPr>
            <p:nvPr/>
          </p:nvSpPr>
          <p:spPr bwMode="auto">
            <a:xfrm>
              <a:off x="2517" y="2156"/>
              <a:ext cx="1179" cy="279"/>
            </a:xfrm>
            <a:prstGeom prst="rect">
              <a:avLst/>
            </a:prstGeom>
            <a:noFill/>
            <a:ln w="12700" cap="sq">
              <a:noFill/>
              <a:miter lim="800000"/>
              <a:headEnd type="none" w="sm" len="sm"/>
              <a:tailEnd type="none" w="sm" len="sm"/>
            </a:ln>
          </p:spPr>
          <p:txBody>
            <a:bodyPr>
              <a:spAutoFit/>
            </a:bodyPr>
            <a:lstStyle/>
            <a:p>
              <a:r>
                <a:rPr lang="zh-CN" altLang="en-US" sz="2300" b="1">
                  <a:solidFill>
                    <a:srgbClr val="000099"/>
                  </a:solidFill>
                  <a:ea typeface="幼圆" pitchFamily="49" charset="-122"/>
                </a:rPr>
                <a:t>可用空间</a:t>
              </a:r>
            </a:p>
          </p:txBody>
        </p:sp>
        <p:sp>
          <p:nvSpPr>
            <p:cNvPr id="44043" name="Text Box 68"/>
            <p:cNvSpPr txBox="1">
              <a:spLocks noChangeArrowheads="1"/>
            </p:cNvSpPr>
            <p:nvPr/>
          </p:nvSpPr>
          <p:spPr bwMode="auto">
            <a:xfrm>
              <a:off x="839" y="1933"/>
              <a:ext cx="3831" cy="213"/>
            </a:xfrm>
            <a:prstGeom prst="rect">
              <a:avLst/>
            </a:prstGeom>
            <a:noFill/>
            <a:ln w="12700" cap="sq">
              <a:noFill/>
              <a:miter lim="800000"/>
              <a:headEnd type="none" w="sm" len="sm"/>
              <a:tailEnd type="none" w="sm" len="sm"/>
            </a:ln>
          </p:spPr>
          <p:txBody>
            <a:bodyPr wrap="none">
              <a:spAutoFit/>
            </a:bodyPr>
            <a:lstStyle/>
            <a:p>
              <a:r>
                <a:rPr lang="zh-CN" altLang="en-US" sz="1600" b="1">
                  <a:solidFill>
                    <a:schemeClr val="bg1"/>
                  </a:solidFill>
                </a:rPr>
                <a:t>0  1  2   </a:t>
              </a:r>
              <a:r>
                <a:rPr lang="zh-CN" altLang="en-US" sz="1600" b="1">
                  <a:solidFill>
                    <a:schemeClr val="bg1"/>
                  </a:solidFill>
                  <a:ea typeface="宋体" charset="-122"/>
                  <a:cs typeface="Times New Roman" pitchFamily="18" charset="0"/>
                </a:rPr>
                <a:t>…</a:t>
              </a:r>
              <a:r>
                <a:rPr lang="zh-CN" altLang="en-US" sz="1600" b="1">
                  <a:solidFill>
                    <a:schemeClr val="bg1"/>
                  </a:solidFill>
                </a:rPr>
                <a:t>                                                                                                       </a:t>
              </a:r>
              <a:r>
                <a:rPr lang="en-US" altLang="zh-CN" sz="1600" b="1">
                  <a:solidFill>
                    <a:schemeClr val="bg1"/>
                  </a:solidFill>
                </a:rPr>
                <a:t>M</a:t>
              </a:r>
              <a:r>
                <a:rPr lang="en-US" altLang="zh-CN" sz="1600" b="1">
                  <a:solidFill>
                    <a:schemeClr val="bg1"/>
                  </a:solidFill>
                  <a:latin typeface="宋体" charset="-122"/>
                  <a:ea typeface="宋体" charset="-122"/>
                </a:rPr>
                <a:t>-</a:t>
              </a:r>
              <a:r>
                <a:rPr lang="en-US" altLang="zh-CN" sz="1600" b="1">
                  <a:solidFill>
                    <a:schemeClr val="bg1"/>
                  </a:solidFill>
                </a:rPr>
                <a:t>1</a:t>
              </a:r>
            </a:p>
          </p:txBody>
        </p:sp>
        <p:sp>
          <p:nvSpPr>
            <p:cNvPr id="44044" name="Text Box 69"/>
            <p:cNvSpPr txBox="1">
              <a:spLocks noChangeArrowheads="1"/>
            </p:cNvSpPr>
            <p:nvPr/>
          </p:nvSpPr>
          <p:spPr bwMode="auto">
            <a:xfrm>
              <a:off x="1997" y="2617"/>
              <a:ext cx="2230" cy="250"/>
            </a:xfrm>
            <a:prstGeom prst="rect">
              <a:avLst/>
            </a:prstGeom>
            <a:noFill/>
            <a:ln w="12700" cap="sq">
              <a:noFill/>
              <a:miter lim="800000"/>
              <a:headEnd type="none" w="sm" len="sm"/>
              <a:tailEnd type="none" w="sm" len="sm"/>
            </a:ln>
          </p:spPr>
          <p:txBody>
            <a:bodyPr>
              <a:spAutoFit/>
            </a:bodyPr>
            <a:lstStyle/>
            <a:p>
              <a:r>
                <a:rPr lang="en-US" altLang="zh-CN" sz="2000" b="1" dirty="0">
                  <a:solidFill>
                    <a:srgbClr val="FF3300"/>
                  </a:solidFill>
                </a:rPr>
                <a:t>top1                            top2</a:t>
              </a:r>
            </a:p>
          </p:txBody>
        </p:sp>
        <p:sp>
          <p:nvSpPr>
            <p:cNvPr id="44045" name="Line 70"/>
            <p:cNvSpPr>
              <a:spLocks noChangeShapeType="1"/>
            </p:cNvSpPr>
            <p:nvPr/>
          </p:nvSpPr>
          <p:spPr bwMode="auto">
            <a:xfrm flipV="1">
              <a:off x="2200" y="2502"/>
              <a:ext cx="0" cy="181"/>
            </a:xfrm>
            <a:prstGeom prst="line">
              <a:avLst/>
            </a:prstGeom>
            <a:noFill/>
            <a:ln w="22225" cap="sq">
              <a:solidFill>
                <a:schemeClr val="accent2"/>
              </a:solidFill>
              <a:round/>
              <a:headEnd type="none" w="sm" len="sm"/>
              <a:tailEnd type="triangle" w="med" len="med"/>
            </a:ln>
          </p:spPr>
          <p:txBody>
            <a:bodyPr/>
            <a:lstStyle/>
            <a:p>
              <a:endParaRPr lang="zh-CN" altLang="en-US"/>
            </a:p>
          </p:txBody>
        </p:sp>
        <p:sp>
          <p:nvSpPr>
            <p:cNvPr id="44046" name="Line 71"/>
            <p:cNvSpPr>
              <a:spLocks noChangeShapeType="1"/>
            </p:cNvSpPr>
            <p:nvPr/>
          </p:nvSpPr>
          <p:spPr bwMode="auto">
            <a:xfrm>
              <a:off x="839" y="2146"/>
              <a:ext cx="4173" cy="0"/>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44047" name="Line 72"/>
            <p:cNvSpPr>
              <a:spLocks noChangeShapeType="1"/>
            </p:cNvSpPr>
            <p:nvPr/>
          </p:nvSpPr>
          <p:spPr bwMode="auto">
            <a:xfrm>
              <a:off x="839" y="2477"/>
              <a:ext cx="4173" cy="0"/>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44048" name="Line 73"/>
            <p:cNvSpPr>
              <a:spLocks noChangeShapeType="1"/>
            </p:cNvSpPr>
            <p:nvPr/>
          </p:nvSpPr>
          <p:spPr bwMode="auto">
            <a:xfrm>
              <a:off x="839" y="2146"/>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44049" name="Line 74"/>
            <p:cNvSpPr>
              <a:spLocks noChangeShapeType="1"/>
            </p:cNvSpPr>
            <p:nvPr/>
          </p:nvSpPr>
          <p:spPr bwMode="auto">
            <a:xfrm>
              <a:off x="5012" y="2146"/>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44050" name="Line 75"/>
            <p:cNvSpPr>
              <a:spLocks noChangeShapeType="1"/>
            </p:cNvSpPr>
            <p:nvPr/>
          </p:nvSpPr>
          <p:spPr bwMode="auto">
            <a:xfrm>
              <a:off x="2280" y="2146"/>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44051" name="Line 76"/>
            <p:cNvSpPr>
              <a:spLocks noChangeShapeType="1"/>
            </p:cNvSpPr>
            <p:nvPr/>
          </p:nvSpPr>
          <p:spPr bwMode="auto">
            <a:xfrm>
              <a:off x="3658" y="2153"/>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44052" name="Rectangle 77"/>
            <p:cNvSpPr>
              <a:spLocks noChangeArrowheads="1"/>
            </p:cNvSpPr>
            <p:nvPr/>
          </p:nvSpPr>
          <p:spPr bwMode="auto">
            <a:xfrm>
              <a:off x="853" y="2156"/>
              <a:ext cx="1421" cy="311"/>
            </a:xfrm>
            <a:prstGeom prst="rect">
              <a:avLst/>
            </a:prstGeom>
            <a:solidFill>
              <a:srgbClr val="C1F7F2"/>
            </a:solidFill>
            <a:ln w="12700" cap="sq">
              <a:noFill/>
              <a:miter lim="800000"/>
              <a:headEnd type="none" w="sm" len="sm"/>
              <a:tailEnd type="none" w="sm" len="sm"/>
            </a:ln>
          </p:spPr>
          <p:txBody>
            <a:bodyPr wrap="none" anchor="ctr"/>
            <a:lstStyle/>
            <a:p>
              <a:endParaRPr lang="zh-CN" altLang="en-US"/>
            </a:p>
          </p:txBody>
        </p:sp>
        <p:sp>
          <p:nvSpPr>
            <p:cNvPr id="44053" name="Rectangle 78"/>
            <p:cNvSpPr>
              <a:spLocks noChangeArrowheads="1"/>
            </p:cNvSpPr>
            <p:nvPr/>
          </p:nvSpPr>
          <p:spPr bwMode="auto">
            <a:xfrm>
              <a:off x="3668" y="2160"/>
              <a:ext cx="1330" cy="311"/>
            </a:xfrm>
            <a:prstGeom prst="rect">
              <a:avLst/>
            </a:prstGeom>
            <a:solidFill>
              <a:srgbClr val="C9C9C9"/>
            </a:solidFill>
            <a:ln w="12700" cap="sq">
              <a:noFill/>
              <a:miter lim="800000"/>
              <a:headEnd type="none" w="sm" len="sm"/>
              <a:tailEnd type="none" w="sm" len="sm"/>
            </a:ln>
          </p:spPr>
          <p:txBody>
            <a:bodyPr wrap="none" anchor="ctr"/>
            <a:lstStyle/>
            <a:p>
              <a:endParaRPr lang="zh-CN" altLang="en-US"/>
            </a:p>
          </p:txBody>
        </p:sp>
        <p:sp>
          <p:nvSpPr>
            <p:cNvPr id="44054" name="Line 79"/>
            <p:cNvSpPr>
              <a:spLocks noChangeShapeType="1"/>
            </p:cNvSpPr>
            <p:nvPr/>
          </p:nvSpPr>
          <p:spPr bwMode="auto">
            <a:xfrm>
              <a:off x="2109" y="2153"/>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44055" name="Line 80"/>
            <p:cNvSpPr>
              <a:spLocks noChangeShapeType="1"/>
            </p:cNvSpPr>
            <p:nvPr/>
          </p:nvSpPr>
          <p:spPr bwMode="auto">
            <a:xfrm>
              <a:off x="3833" y="2153"/>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44056" name="Text Box 81"/>
            <p:cNvSpPr txBox="1">
              <a:spLocks noChangeArrowheads="1"/>
            </p:cNvSpPr>
            <p:nvPr/>
          </p:nvSpPr>
          <p:spPr bwMode="auto">
            <a:xfrm>
              <a:off x="1069" y="2184"/>
              <a:ext cx="1134" cy="269"/>
            </a:xfrm>
            <a:prstGeom prst="rect">
              <a:avLst/>
            </a:prstGeom>
            <a:noFill/>
            <a:ln w="12700" cap="sq">
              <a:noFill/>
              <a:miter lim="800000"/>
              <a:headEnd type="none" w="sm" len="sm"/>
              <a:tailEnd type="none" w="sm" len="sm"/>
            </a:ln>
          </p:spPr>
          <p:txBody>
            <a:bodyPr>
              <a:spAutoFit/>
            </a:bodyPr>
            <a:lstStyle/>
            <a:p>
              <a:r>
                <a:rPr lang="zh-CN" altLang="en-US" sz="2200" b="1" dirty="0">
                  <a:latin typeface="幼圆" pitchFamily="49" charset="-122"/>
                  <a:ea typeface="幼圆" pitchFamily="49" charset="-122"/>
                </a:rPr>
                <a:t>第</a:t>
              </a:r>
              <a:r>
                <a:rPr lang="zh-CN" altLang="en-US" sz="2200" b="1" dirty="0">
                  <a:ea typeface="幼圆" pitchFamily="49" charset="-122"/>
                </a:rPr>
                <a:t>1</a:t>
              </a:r>
              <a:r>
                <a:rPr lang="zh-CN" altLang="en-US" sz="2200" b="1" dirty="0">
                  <a:latin typeface="幼圆" pitchFamily="49" charset="-122"/>
                  <a:ea typeface="幼圆" pitchFamily="49" charset="-122"/>
                </a:rPr>
                <a:t>个栈</a:t>
              </a:r>
            </a:p>
          </p:txBody>
        </p:sp>
        <p:sp>
          <p:nvSpPr>
            <p:cNvPr id="44057" name="Text Box 82"/>
            <p:cNvSpPr txBox="1">
              <a:spLocks noChangeArrowheads="1"/>
            </p:cNvSpPr>
            <p:nvPr/>
          </p:nvSpPr>
          <p:spPr bwMode="auto">
            <a:xfrm>
              <a:off x="3997" y="2181"/>
              <a:ext cx="1134" cy="269"/>
            </a:xfrm>
            <a:prstGeom prst="rect">
              <a:avLst/>
            </a:prstGeom>
            <a:noFill/>
            <a:ln w="12700" cap="sq">
              <a:noFill/>
              <a:miter lim="800000"/>
              <a:headEnd type="none" w="sm" len="sm"/>
              <a:tailEnd type="none" w="sm" len="sm"/>
            </a:ln>
          </p:spPr>
          <p:txBody>
            <a:bodyPr>
              <a:spAutoFit/>
            </a:bodyPr>
            <a:lstStyle/>
            <a:p>
              <a:r>
                <a:rPr lang="zh-CN" altLang="en-US" sz="2200" b="1" dirty="0">
                  <a:latin typeface="幼圆" pitchFamily="49" charset="-122"/>
                  <a:ea typeface="幼圆" pitchFamily="49" charset="-122"/>
                </a:rPr>
                <a:t>第</a:t>
              </a:r>
              <a:r>
                <a:rPr lang="en-US" altLang="zh-CN" sz="2200" b="1" dirty="0">
                  <a:ea typeface="幼圆" pitchFamily="49" charset="-122"/>
                </a:rPr>
                <a:t>2</a:t>
              </a:r>
              <a:r>
                <a:rPr lang="zh-CN" altLang="en-US" sz="2200" b="1" dirty="0">
                  <a:latin typeface="幼圆" pitchFamily="49" charset="-122"/>
                  <a:ea typeface="幼圆" pitchFamily="49" charset="-122"/>
                </a:rPr>
                <a:t>个栈</a:t>
              </a:r>
            </a:p>
          </p:txBody>
        </p:sp>
        <p:sp>
          <p:nvSpPr>
            <p:cNvPr id="44058" name="Line 83"/>
            <p:cNvSpPr>
              <a:spLocks noChangeShapeType="1"/>
            </p:cNvSpPr>
            <p:nvPr/>
          </p:nvSpPr>
          <p:spPr bwMode="auto">
            <a:xfrm flipV="1">
              <a:off x="3749" y="2488"/>
              <a:ext cx="0" cy="181"/>
            </a:xfrm>
            <a:prstGeom prst="line">
              <a:avLst/>
            </a:prstGeom>
            <a:noFill/>
            <a:ln w="22225" cap="sq">
              <a:solidFill>
                <a:schemeClr val="accent2"/>
              </a:solidFill>
              <a:round/>
              <a:headEnd type="none" w="sm" len="sm"/>
              <a:tailEnd type="triangle" w="med" len="med"/>
            </a:ln>
          </p:spPr>
          <p:txBody>
            <a:bodyPr/>
            <a:lstStyle/>
            <a:p>
              <a:endParaRPr lang="zh-CN" altLang="en-US"/>
            </a:p>
          </p:txBody>
        </p:sp>
      </p:grpSp>
    </p:spTree>
  </p:cSld>
  <p:clrMapOvr>
    <a:masterClrMapping/>
  </p:clrMapOvr>
  <p:transition>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blinds(horizontal)">
                                      <p:cBhvr>
                                        <p:cTn id="19" dur="500"/>
                                        <p:tgtEl>
                                          <p:spTgt spid="56"/>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295950"/>
                                        </p:tgtEl>
                                        <p:attrNameLst>
                                          <p:attrName>style.visibility</p:attrName>
                                        </p:attrNameLst>
                                      </p:cBhvr>
                                      <p:to>
                                        <p:strVal val="visible"/>
                                      </p:to>
                                    </p:set>
                                    <p:animEffect transition="in" filter="blinds(horizontal)">
                                      <p:cBhvr>
                                        <p:cTn id="24" dur="500"/>
                                        <p:tgtEl>
                                          <p:spTgt spid="295950"/>
                                        </p:tgtEl>
                                      </p:cBhvr>
                                    </p:animEffect>
                                  </p:childTnLst>
                                </p:cTn>
                              </p:par>
                              <p:par>
                                <p:cTn id="25" presetID="3" presetClass="entr" presetSubtype="1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5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2133600" y="1066801"/>
            <a:ext cx="7924800" cy="4676775"/>
            <a:chOff x="384" y="768"/>
            <a:chExt cx="4992" cy="2946"/>
          </a:xfrm>
        </p:grpSpPr>
        <p:sp>
          <p:nvSpPr>
            <p:cNvPr id="45114" name="Rectangle 3"/>
            <p:cNvSpPr>
              <a:spLocks noChangeArrowheads="1"/>
            </p:cNvSpPr>
            <p:nvPr/>
          </p:nvSpPr>
          <p:spPr bwMode="auto">
            <a:xfrm>
              <a:off x="384" y="786"/>
              <a:ext cx="4944" cy="2928"/>
            </a:xfrm>
            <a:prstGeom prst="rect">
              <a:avLst/>
            </a:prstGeom>
            <a:solidFill>
              <a:srgbClr val="B9F2FF"/>
            </a:solidFill>
            <a:ln w="12700" cap="sq">
              <a:noFill/>
              <a:miter lim="800000"/>
              <a:headEnd type="none" w="sm" len="sm"/>
              <a:tailEnd type="none" w="sm" len="sm"/>
            </a:ln>
            <a:effectLst>
              <a:outerShdw dist="252088" dir="2945137" algn="ctr" rotWithShape="0">
                <a:srgbClr val="C0C0C0"/>
              </a:outerShdw>
            </a:effectLst>
          </p:spPr>
          <p:txBody>
            <a:bodyPr wrap="none" anchor="ctr"/>
            <a:lstStyle/>
            <a:p>
              <a:endParaRPr lang="zh-CN" altLang="en-US"/>
            </a:p>
          </p:txBody>
        </p:sp>
        <p:sp>
          <p:nvSpPr>
            <p:cNvPr id="45115" name="Text Box 4"/>
            <p:cNvSpPr txBox="1">
              <a:spLocks noChangeArrowheads="1"/>
            </p:cNvSpPr>
            <p:nvPr/>
          </p:nvSpPr>
          <p:spPr bwMode="auto">
            <a:xfrm>
              <a:off x="758" y="768"/>
              <a:ext cx="4618" cy="2793"/>
            </a:xfrm>
            <a:prstGeom prst="rect">
              <a:avLst/>
            </a:prstGeom>
            <a:noFill/>
            <a:ln w="12700" cap="sq">
              <a:noFill/>
              <a:miter lim="800000"/>
              <a:headEnd type="none" w="sm" len="sm"/>
              <a:tailEnd type="none" w="sm" len="sm"/>
            </a:ln>
          </p:spPr>
          <p:txBody>
            <a:bodyPr>
              <a:spAutoFit/>
            </a:bodyPr>
            <a:lstStyle/>
            <a:p>
              <a:pPr>
                <a:lnSpc>
                  <a:spcPct val="75000"/>
                </a:lnSpc>
                <a:spcAft>
                  <a:spcPct val="35000"/>
                </a:spcAft>
              </a:pPr>
              <a:endParaRPr lang="zh-CN" altLang="en-US" sz="2600" b="1" dirty="0">
                <a:solidFill>
                  <a:srgbClr val="FFFFFF"/>
                </a:solidFill>
              </a:endParaRPr>
            </a:p>
            <a:p>
              <a:pPr>
                <a:lnSpc>
                  <a:spcPct val="75000"/>
                </a:lnSpc>
              </a:pPr>
              <a:r>
                <a:rPr lang="en-US" altLang="zh-CN" sz="2600" b="1" dirty="0">
                  <a:solidFill>
                    <a:srgbClr val="000099"/>
                  </a:solidFill>
                </a:rPr>
                <a:t>void  push( </a:t>
              </a:r>
              <a:r>
                <a:rPr lang="en-US" altLang="zh-CN" sz="2600" b="1" dirty="0" err="1">
                  <a:solidFill>
                    <a:srgbClr val="000099"/>
                  </a:solidFill>
                </a:rPr>
                <a:t>ElemType</a:t>
              </a:r>
              <a:r>
                <a:rPr lang="en-US" altLang="zh-CN" sz="2600" b="1" dirty="0">
                  <a:solidFill>
                    <a:srgbClr val="000099"/>
                  </a:solidFill>
                </a:rPr>
                <a:t> s[ ],  </a:t>
              </a:r>
              <a:r>
                <a:rPr lang="en-US" altLang="zh-CN" sz="2600" b="1" dirty="0" err="1">
                  <a:solidFill>
                    <a:srgbClr val="000099"/>
                  </a:solidFill>
                </a:rPr>
                <a:t>int</a:t>
              </a:r>
              <a:r>
                <a:rPr lang="en-US" altLang="zh-CN" sz="2600" b="1" dirty="0">
                  <a:solidFill>
                    <a:srgbClr val="000099"/>
                  </a:solidFill>
                </a:rPr>
                <a:t> </a:t>
              </a:r>
              <a:r>
                <a:rPr lang="en-US" altLang="zh-CN" sz="2600" b="1" dirty="0" err="1">
                  <a:solidFill>
                    <a:srgbClr val="000099"/>
                  </a:solidFill>
                </a:rPr>
                <a:t>i</a:t>
              </a:r>
              <a:r>
                <a:rPr lang="en-US" altLang="zh-CN" sz="2600" b="1" dirty="0">
                  <a:solidFill>
                    <a:srgbClr val="000099"/>
                  </a:solidFill>
                </a:rPr>
                <a:t>, </a:t>
              </a:r>
              <a:r>
                <a:rPr lang="en-US" altLang="zh-CN" sz="2600" b="1" dirty="0" err="1">
                  <a:solidFill>
                    <a:srgbClr val="000099"/>
                  </a:solidFill>
                </a:rPr>
                <a:t>ElemType</a:t>
              </a:r>
              <a:r>
                <a:rPr lang="en-US" altLang="zh-CN" sz="2600" b="1" dirty="0">
                  <a:solidFill>
                    <a:srgbClr val="000099"/>
                  </a:solidFill>
                </a:rPr>
                <a:t> item )</a:t>
              </a:r>
            </a:p>
            <a:p>
              <a:pPr>
                <a:lnSpc>
                  <a:spcPct val="75000"/>
                </a:lnSpc>
              </a:pPr>
              <a:r>
                <a:rPr lang="en-US" altLang="zh-CN" sz="2600" b="1" dirty="0">
                  <a:solidFill>
                    <a:srgbClr val="000099"/>
                  </a:solidFill>
                </a:rPr>
                <a:t>{</a:t>
              </a:r>
            </a:p>
            <a:p>
              <a:pPr>
                <a:lnSpc>
                  <a:spcPct val="75000"/>
                </a:lnSpc>
              </a:pPr>
              <a:r>
                <a:rPr lang="en-US" altLang="zh-CN" sz="2600" b="1" dirty="0">
                  <a:solidFill>
                    <a:srgbClr val="000099"/>
                  </a:solidFill>
                </a:rPr>
                <a:t>      if(top1==top2</a:t>
              </a:r>
              <a:r>
                <a:rPr lang="en-US" altLang="zh-CN" sz="2600" b="1" dirty="0">
                  <a:solidFill>
                    <a:srgbClr val="000099"/>
                  </a:solidFill>
                  <a:ea typeface="宋体" charset="-122"/>
                  <a:cs typeface="Times New Roman" pitchFamily="18" charset="0"/>
                </a:rPr>
                <a:t>–1)             </a:t>
              </a:r>
              <a:r>
                <a:rPr lang="en-US" altLang="zh-CN" sz="2400" b="1" dirty="0">
                  <a:solidFill>
                    <a:srgbClr val="000099"/>
                  </a:solidFill>
                  <a:ea typeface="宋体" charset="-122"/>
                  <a:cs typeface="Times New Roman" pitchFamily="18" charset="0"/>
                </a:rPr>
                <a:t>/* </a:t>
              </a:r>
              <a:r>
                <a:rPr lang="zh-CN" altLang="en-US" sz="2400" b="1" dirty="0">
                  <a:solidFill>
                    <a:srgbClr val="000099"/>
                  </a:solidFill>
                  <a:ea typeface="幼圆" pitchFamily="49" charset="-122"/>
                  <a:cs typeface="Times New Roman" pitchFamily="18" charset="0"/>
                </a:rPr>
                <a:t>栈满</a:t>
              </a:r>
              <a:r>
                <a:rPr lang="zh-CN" altLang="en-US" sz="2400" b="1" dirty="0">
                  <a:solidFill>
                    <a:srgbClr val="000099"/>
                  </a:solidFill>
                  <a:ea typeface="宋体" charset="-122"/>
                  <a:cs typeface="Times New Roman" pitchFamily="18" charset="0"/>
                </a:rPr>
                <a:t> </a:t>
              </a:r>
              <a:r>
                <a:rPr lang="zh-CN" altLang="en-US" sz="2400" b="1" dirty="0">
                  <a:solidFill>
                    <a:srgbClr val="000099"/>
                  </a:solidFill>
                  <a:ea typeface="宋体" charset="-122"/>
                </a:rPr>
                <a:t>*/</a:t>
              </a:r>
            </a:p>
            <a:p>
              <a:pPr>
                <a:lnSpc>
                  <a:spcPct val="75000"/>
                </a:lnSpc>
              </a:pPr>
              <a:r>
                <a:rPr lang="en-US" altLang="zh-CN" sz="2600" b="1" dirty="0">
                  <a:solidFill>
                    <a:srgbClr val="000099"/>
                  </a:solidFill>
                  <a:ea typeface="宋体" charset="-122"/>
                </a:rPr>
                <a:t>            Error(“Full Stack!”);</a:t>
              </a:r>
            </a:p>
            <a:p>
              <a:pPr>
                <a:lnSpc>
                  <a:spcPct val="75000"/>
                </a:lnSpc>
              </a:pPr>
              <a:r>
                <a:rPr lang="en-US" altLang="zh-CN" sz="2600" b="1" dirty="0">
                  <a:solidFill>
                    <a:srgbClr val="000099"/>
                  </a:solidFill>
                  <a:ea typeface="宋体" charset="-122"/>
                </a:rPr>
                <a:t>      else</a:t>
              </a:r>
              <a:r>
                <a:rPr lang="en-US" altLang="zh-CN" sz="2600" b="1" dirty="0">
                  <a:solidFill>
                    <a:srgbClr val="FF3300"/>
                  </a:solidFill>
                  <a:ea typeface="宋体" charset="-122"/>
                </a:rPr>
                <a:t>{ </a:t>
              </a:r>
            </a:p>
            <a:p>
              <a:pPr>
                <a:lnSpc>
                  <a:spcPct val="75000"/>
                </a:lnSpc>
              </a:pPr>
              <a:r>
                <a:rPr lang="en-US" altLang="zh-CN" sz="2600" b="1" dirty="0">
                  <a:solidFill>
                    <a:srgbClr val="FF3300"/>
                  </a:solidFill>
                  <a:ea typeface="宋体" charset="-122"/>
                </a:rPr>
                <a:t>              if(</a:t>
              </a:r>
              <a:r>
                <a:rPr lang="en-US" altLang="zh-CN" sz="2600" b="1" dirty="0" err="1">
                  <a:solidFill>
                    <a:srgbClr val="FF3300"/>
                  </a:solidFill>
                  <a:ea typeface="宋体" charset="-122"/>
                </a:rPr>
                <a:t>i</a:t>
              </a:r>
              <a:r>
                <a:rPr lang="en-US" altLang="zh-CN" sz="2600" b="1" dirty="0">
                  <a:solidFill>
                    <a:srgbClr val="FF3300"/>
                  </a:solidFill>
                  <a:ea typeface="宋体" charset="-122"/>
                </a:rPr>
                <a:t>==1)                          </a:t>
              </a:r>
              <a:r>
                <a:rPr lang="en-US" altLang="zh-CN" sz="2400" b="1" dirty="0">
                  <a:solidFill>
                    <a:srgbClr val="003399"/>
                  </a:solidFill>
                  <a:ea typeface="宋体" charset="-122"/>
                </a:rPr>
                <a:t>/* </a:t>
              </a:r>
              <a:r>
                <a:rPr lang="zh-CN" altLang="en-US" sz="2400" b="1" dirty="0">
                  <a:solidFill>
                    <a:srgbClr val="003399"/>
                  </a:solidFill>
                  <a:latin typeface="幼圆" pitchFamily="49" charset="-122"/>
                  <a:ea typeface="幼圆" pitchFamily="49" charset="-122"/>
                </a:rPr>
                <a:t>插入第</a:t>
              </a:r>
              <a:r>
                <a:rPr lang="zh-CN" altLang="en-US" sz="2400" b="1" dirty="0">
                  <a:solidFill>
                    <a:srgbClr val="003399"/>
                  </a:solidFill>
                  <a:ea typeface="幼圆" pitchFamily="49" charset="-122"/>
                </a:rPr>
                <a:t>1</a:t>
              </a:r>
              <a:r>
                <a:rPr lang="zh-CN" altLang="en-US" sz="2400" b="1" dirty="0">
                  <a:solidFill>
                    <a:srgbClr val="003399"/>
                  </a:solidFill>
                  <a:latin typeface="幼圆" pitchFamily="49" charset="-122"/>
                  <a:ea typeface="幼圆" pitchFamily="49" charset="-122"/>
                </a:rPr>
                <a:t>个栈</a:t>
              </a:r>
              <a:r>
                <a:rPr lang="zh-CN" altLang="en-US" sz="2400" b="1" dirty="0">
                  <a:solidFill>
                    <a:srgbClr val="003399"/>
                  </a:solidFill>
                  <a:ea typeface="宋体" charset="-122"/>
                </a:rPr>
                <a:t> */</a:t>
              </a:r>
            </a:p>
            <a:p>
              <a:pPr>
                <a:lnSpc>
                  <a:spcPct val="75000"/>
                </a:lnSpc>
              </a:pPr>
              <a:r>
                <a:rPr lang="en-US" altLang="zh-CN" sz="2600" b="1" dirty="0">
                  <a:solidFill>
                    <a:srgbClr val="FF3300"/>
                  </a:solidFill>
                </a:rPr>
                <a:t>                     STACK[++top1]</a:t>
              </a:r>
              <a:r>
                <a:rPr lang="en-US" altLang="zh-CN" sz="2600" b="1" dirty="0">
                  <a:solidFill>
                    <a:srgbClr val="FF3300"/>
                  </a:solidFill>
                  <a:ea typeface="宋体" charset="-122"/>
                  <a:sym typeface="Symbol" pitchFamily="18" charset="2"/>
                </a:rPr>
                <a:t>=item;</a:t>
              </a:r>
            </a:p>
            <a:p>
              <a:pPr>
                <a:lnSpc>
                  <a:spcPct val="75000"/>
                </a:lnSpc>
              </a:pPr>
              <a:r>
                <a:rPr lang="en-US" altLang="zh-CN" sz="2600" b="1" dirty="0">
                  <a:solidFill>
                    <a:srgbClr val="FF3300"/>
                  </a:solidFill>
                  <a:ea typeface="宋体" charset="-122"/>
                  <a:sym typeface="Symbol" pitchFamily="18" charset="2"/>
                </a:rPr>
                <a:t>              else                                 </a:t>
              </a:r>
              <a:r>
                <a:rPr lang="en-US" altLang="zh-CN" sz="2400" b="1" dirty="0">
                  <a:solidFill>
                    <a:srgbClr val="003399"/>
                  </a:solidFill>
                  <a:ea typeface="宋体" charset="-122"/>
                </a:rPr>
                <a:t>/* </a:t>
              </a:r>
              <a:r>
                <a:rPr lang="zh-CN" altLang="en-US" sz="2400" b="1" dirty="0">
                  <a:solidFill>
                    <a:srgbClr val="003399"/>
                  </a:solidFill>
                  <a:latin typeface="幼圆" pitchFamily="49" charset="-122"/>
                  <a:ea typeface="幼圆" pitchFamily="49" charset="-122"/>
                </a:rPr>
                <a:t>插入第</a:t>
              </a:r>
              <a:r>
                <a:rPr lang="zh-CN" altLang="en-US" sz="2400" b="1" dirty="0">
                  <a:solidFill>
                    <a:srgbClr val="003399"/>
                  </a:solidFill>
                  <a:ea typeface="幼圆" pitchFamily="49" charset="-122"/>
                </a:rPr>
                <a:t>2</a:t>
              </a:r>
              <a:r>
                <a:rPr lang="zh-CN" altLang="en-US" sz="2400" b="1" dirty="0">
                  <a:solidFill>
                    <a:srgbClr val="003399"/>
                  </a:solidFill>
                  <a:latin typeface="幼圆" pitchFamily="49" charset="-122"/>
                  <a:ea typeface="幼圆" pitchFamily="49" charset="-122"/>
                </a:rPr>
                <a:t>个栈</a:t>
              </a:r>
              <a:r>
                <a:rPr lang="zh-CN" altLang="en-US" sz="2400" b="1" dirty="0">
                  <a:solidFill>
                    <a:srgbClr val="003399"/>
                  </a:solidFill>
                  <a:ea typeface="宋体" charset="-122"/>
                </a:rPr>
                <a:t> */</a:t>
              </a:r>
              <a:endParaRPr lang="en-US" altLang="zh-CN" sz="2600" b="1" dirty="0">
                <a:solidFill>
                  <a:srgbClr val="003399"/>
                </a:solidFill>
                <a:ea typeface="宋体" charset="-122"/>
                <a:sym typeface="Symbol" pitchFamily="18" charset="2"/>
              </a:endParaRPr>
            </a:p>
            <a:p>
              <a:pPr>
                <a:lnSpc>
                  <a:spcPct val="75000"/>
                </a:lnSpc>
              </a:pPr>
              <a:r>
                <a:rPr lang="en-US" altLang="zh-CN" sz="2600" b="1" dirty="0">
                  <a:solidFill>
                    <a:srgbClr val="FF3300"/>
                  </a:solidFill>
                </a:rPr>
                <a:t>                     STACK[</a:t>
              </a:r>
              <a:r>
                <a:rPr lang="en-US" altLang="zh-CN" sz="2600" b="1" dirty="0">
                  <a:solidFill>
                    <a:srgbClr val="FF3300"/>
                  </a:solidFill>
                  <a:ea typeface="宋体" charset="-122"/>
                </a:rPr>
                <a:t>–</a:t>
              </a:r>
              <a:r>
                <a:rPr lang="en-US" altLang="zh-CN" sz="2600" b="1" dirty="0">
                  <a:solidFill>
                    <a:srgbClr val="FF3300"/>
                  </a:solidFill>
                </a:rPr>
                <a:t> </a:t>
              </a:r>
              <a:r>
                <a:rPr lang="en-US" altLang="zh-CN" sz="2600" b="1" dirty="0">
                  <a:solidFill>
                    <a:srgbClr val="FF3300"/>
                  </a:solidFill>
                  <a:ea typeface="宋体" charset="-122"/>
                </a:rPr>
                <a:t>–</a:t>
              </a:r>
              <a:r>
                <a:rPr lang="en-US" altLang="zh-CN" sz="2600" b="1" dirty="0">
                  <a:solidFill>
                    <a:srgbClr val="FF3300"/>
                  </a:solidFill>
                </a:rPr>
                <a:t>top2]</a:t>
              </a:r>
              <a:r>
                <a:rPr lang="en-US" altLang="zh-CN" sz="2600" b="1" dirty="0">
                  <a:solidFill>
                    <a:srgbClr val="FF3300"/>
                  </a:solidFill>
                  <a:ea typeface="宋体" charset="-122"/>
                  <a:sym typeface="Symbol" pitchFamily="18" charset="2"/>
                </a:rPr>
                <a:t>=item;</a:t>
              </a:r>
            </a:p>
            <a:p>
              <a:pPr>
                <a:lnSpc>
                  <a:spcPct val="75000"/>
                </a:lnSpc>
              </a:pPr>
              <a:r>
                <a:rPr lang="en-US" altLang="zh-CN" sz="2600" b="1">
                  <a:solidFill>
                    <a:srgbClr val="FF3300"/>
                  </a:solidFill>
                  <a:ea typeface="宋体" charset="-122"/>
                  <a:sym typeface="Symbol" pitchFamily="18" charset="2"/>
                </a:rPr>
                <a:t>              return;</a:t>
              </a:r>
              <a:endParaRPr lang="en-US" altLang="zh-CN" sz="2600" b="1" dirty="0">
                <a:solidFill>
                  <a:srgbClr val="FF3300"/>
                </a:solidFill>
                <a:ea typeface="宋体" charset="-122"/>
                <a:sym typeface="Symbol" pitchFamily="18" charset="2"/>
              </a:endParaRPr>
            </a:p>
            <a:p>
              <a:pPr>
                <a:lnSpc>
                  <a:spcPct val="75000"/>
                </a:lnSpc>
              </a:pPr>
              <a:r>
                <a:rPr lang="en-US" altLang="zh-CN" sz="2600" b="1" dirty="0">
                  <a:solidFill>
                    <a:srgbClr val="FF3300"/>
                  </a:solidFill>
                  <a:ea typeface="宋体" charset="-122"/>
                  <a:sym typeface="Symbol" pitchFamily="18" charset="2"/>
                </a:rPr>
                <a:t>       }</a:t>
              </a:r>
            </a:p>
            <a:p>
              <a:pPr>
                <a:lnSpc>
                  <a:spcPct val="75000"/>
                </a:lnSpc>
              </a:pPr>
              <a:r>
                <a:rPr lang="en-US" altLang="zh-CN" sz="2600" b="1" dirty="0">
                  <a:solidFill>
                    <a:srgbClr val="000099"/>
                  </a:solidFill>
                  <a:ea typeface="宋体" charset="-122"/>
                  <a:sym typeface="Symbol" pitchFamily="18" charset="2"/>
                </a:rPr>
                <a:t>}</a:t>
              </a:r>
            </a:p>
            <a:p>
              <a:pPr>
                <a:lnSpc>
                  <a:spcPct val="75000"/>
                </a:lnSpc>
              </a:pPr>
              <a:endParaRPr lang="zh-CN" altLang="zh-CN" sz="2600" b="1" dirty="0">
                <a:solidFill>
                  <a:srgbClr val="FFFFFF"/>
                </a:solidFill>
                <a:ea typeface="宋体" charset="-122"/>
                <a:sym typeface="Symbol" pitchFamily="18" charset="2"/>
              </a:endParaRPr>
            </a:p>
          </p:txBody>
        </p:sp>
      </p:grpSp>
      <p:grpSp>
        <p:nvGrpSpPr>
          <p:cNvPr id="3" name="Group 5"/>
          <p:cNvGrpSpPr>
            <a:grpSpLocks/>
          </p:cNvGrpSpPr>
          <p:nvPr/>
        </p:nvGrpSpPr>
        <p:grpSpPr bwMode="auto">
          <a:xfrm>
            <a:off x="1941513" y="115888"/>
            <a:ext cx="2057400" cy="1828800"/>
            <a:chOff x="263" y="73"/>
            <a:chExt cx="1296" cy="1152"/>
          </a:xfrm>
        </p:grpSpPr>
        <p:sp>
          <p:nvSpPr>
            <p:cNvPr id="45060" name="AutoShape 6"/>
            <p:cNvSpPr>
              <a:spLocks noChangeArrowheads="1"/>
            </p:cNvSpPr>
            <p:nvPr/>
          </p:nvSpPr>
          <p:spPr bwMode="auto">
            <a:xfrm rot="364945">
              <a:off x="551" y="191"/>
              <a:ext cx="1008" cy="576"/>
            </a:xfrm>
            <a:prstGeom prst="irregularSeal2">
              <a:avLst/>
            </a:prstGeom>
            <a:gradFill rotWithShape="0">
              <a:gsLst>
                <a:gs pos="0">
                  <a:srgbClr val="761800"/>
                </a:gs>
                <a:gs pos="100000">
                  <a:srgbClr val="FF3300"/>
                </a:gs>
              </a:gsLst>
              <a:path path="shape">
                <a:fillToRect l="50000" t="50000" r="50000" b="50000"/>
              </a:path>
            </a:gradFill>
            <a:ln w="12700" cap="sq">
              <a:noFill/>
              <a:miter lim="800000"/>
              <a:headEnd type="none" w="sm" len="sm"/>
              <a:tailEnd type="none" w="sm" len="sm"/>
            </a:ln>
            <a:effectLst>
              <a:outerShdw dist="141990" dir="1593903" algn="ctr" rotWithShape="0">
                <a:schemeClr val="bg2"/>
              </a:outerShdw>
            </a:effectLst>
          </p:spPr>
          <p:txBody>
            <a:bodyPr wrap="none" anchor="ctr"/>
            <a:lstStyle/>
            <a:p>
              <a:endParaRPr lang="zh-CN" altLang="en-US"/>
            </a:p>
          </p:txBody>
        </p:sp>
        <p:sp>
          <p:nvSpPr>
            <p:cNvPr id="45061" name="Text Box 7"/>
            <p:cNvSpPr txBox="1">
              <a:spLocks noChangeArrowheads="1"/>
            </p:cNvSpPr>
            <p:nvPr/>
          </p:nvSpPr>
          <p:spPr bwMode="auto">
            <a:xfrm>
              <a:off x="645" y="261"/>
              <a:ext cx="747" cy="404"/>
            </a:xfrm>
            <a:prstGeom prst="rect">
              <a:avLst/>
            </a:prstGeom>
            <a:noFill/>
            <a:ln w="12700" cap="sq">
              <a:noFill/>
              <a:miter lim="800000"/>
              <a:headEnd type="none" w="sm" len="sm"/>
              <a:tailEnd type="none" w="sm" len="sm"/>
            </a:ln>
            <a:effectLst>
              <a:outerShdw dist="45791" dir="2021404" algn="ctr" rotWithShape="0">
                <a:schemeClr val="bg2"/>
              </a:outerShdw>
            </a:effectLst>
          </p:spPr>
          <p:txBody>
            <a:bodyPr>
              <a:spAutoFit/>
            </a:bodyPr>
            <a:lstStyle/>
            <a:p>
              <a:r>
                <a:rPr lang="zh-CN" altLang="en-US" sz="3600" b="1" i="1">
                  <a:solidFill>
                    <a:srgbClr val="FFFF00"/>
                  </a:solidFill>
                  <a:ea typeface="黑体" pitchFamily="2" charset="-122"/>
                </a:rPr>
                <a:t>算法</a:t>
              </a:r>
              <a:endParaRPr lang="zh-CN" altLang="en-US" sz="3600" b="1"/>
            </a:p>
          </p:txBody>
        </p:sp>
        <p:grpSp>
          <p:nvGrpSpPr>
            <p:cNvPr id="4" name="Group 8"/>
            <p:cNvGrpSpPr>
              <a:grpSpLocks/>
            </p:cNvGrpSpPr>
            <p:nvPr/>
          </p:nvGrpSpPr>
          <p:grpSpPr bwMode="auto">
            <a:xfrm rot="1518603" flipH="1">
              <a:off x="263" y="73"/>
              <a:ext cx="1200" cy="1152"/>
              <a:chOff x="2227" y="2847"/>
              <a:chExt cx="913" cy="1266"/>
            </a:xfrm>
          </p:grpSpPr>
          <p:grpSp>
            <p:nvGrpSpPr>
              <p:cNvPr id="5" name="Group 9"/>
              <p:cNvGrpSpPr>
                <a:grpSpLocks/>
              </p:cNvGrpSpPr>
              <p:nvPr/>
            </p:nvGrpSpPr>
            <p:grpSpPr bwMode="auto">
              <a:xfrm>
                <a:off x="2227" y="2847"/>
                <a:ext cx="774" cy="770"/>
                <a:chOff x="2227" y="2847"/>
                <a:chExt cx="774" cy="770"/>
              </a:xfrm>
            </p:grpSpPr>
            <p:grpSp>
              <p:nvGrpSpPr>
                <p:cNvPr id="6" name="Group 10"/>
                <p:cNvGrpSpPr>
                  <a:grpSpLocks/>
                </p:cNvGrpSpPr>
                <p:nvPr/>
              </p:nvGrpSpPr>
              <p:grpSpPr bwMode="auto">
                <a:xfrm>
                  <a:off x="2241" y="2856"/>
                  <a:ext cx="760" cy="760"/>
                  <a:chOff x="2241" y="2856"/>
                  <a:chExt cx="760" cy="760"/>
                </a:xfrm>
              </p:grpSpPr>
              <p:grpSp>
                <p:nvGrpSpPr>
                  <p:cNvPr id="7" name="Group 11"/>
                  <p:cNvGrpSpPr>
                    <a:grpSpLocks/>
                  </p:cNvGrpSpPr>
                  <p:nvPr/>
                </p:nvGrpSpPr>
                <p:grpSpPr bwMode="auto">
                  <a:xfrm>
                    <a:off x="2241" y="2856"/>
                    <a:ext cx="760" cy="760"/>
                    <a:chOff x="2241" y="2856"/>
                    <a:chExt cx="760" cy="760"/>
                  </a:xfrm>
                </p:grpSpPr>
                <p:sp>
                  <p:nvSpPr>
                    <p:cNvPr id="45112" name="Freeform 12"/>
                    <p:cNvSpPr>
                      <a:spLocks/>
                    </p:cNvSpPr>
                    <p:nvPr/>
                  </p:nvSpPr>
                  <p:spPr bwMode="auto">
                    <a:xfrm>
                      <a:off x="2241" y="2856"/>
                      <a:ext cx="645" cy="441"/>
                    </a:xfrm>
                    <a:custGeom>
                      <a:avLst/>
                      <a:gdLst>
                        <a:gd name="T0" fmla="*/ 1 w 1290"/>
                        <a:gd name="T1" fmla="*/ 7 h 882"/>
                        <a:gd name="T2" fmla="*/ 1 w 1290"/>
                        <a:gd name="T3" fmla="*/ 7 h 882"/>
                        <a:gd name="T4" fmla="*/ 0 w 1290"/>
                        <a:gd name="T5" fmla="*/ 6 h 882"/>
                        <a:gd name="T6" fmla="*/ 1 w 1290"/>
                        <a:gd name="T7" fmla="*/ 5 h 882"/>
                        <a:gd name="T8" fmla="*/ 1 w 1290"/>
                        <a:gd name="T9" fmla="*/ 5 h 882"/>
                        <a:gd name="T10" fmla="*/ 1 w 1290"/>
                        <a:gd name="T11" fmla="*/ 4 h 882"/>
                        <a:gd name="T12" fmla="*/ 1 w 1290"/>
                        <a:gd name="T13" fmla="*/ 4 h 882"/>
                        <a:gd name="T14" fmla="*/ 1 w 1290"/>
                        <a:gd name="T15" fmla="*/ 3 h 882"/>
                        <a:gd name="T16" fmla="*/ 2 w 1290"/>
                        <a:gd name="T17" fmla="*/ 3 h 882"/>
                        <a:gd name="T18" fmla="*/ 2 w 1290"/>
                        <a:gd name="T19" fmla="*/ 2 h 882"/>
                        <a:gd name="T20" fmla="*/ 2 w 1290"/>
                        <a:gd name="T21" fmla="*/ 2 h 882"/>
                        <a:gd name="T22" fmla="*/ 3 w 1290"/>
                        <a:gd name="T23" fmla="*/ 1 h 882"/>
                        <a:gd name="T24" fmla="*/ 3 w 1290"/>
                        <a:gd name="T25" fmla="*/ 1 h 882"/>
                        <a:gd name="T26" fmla="*/ 4 w 1290"/>
                        <a:gd name="T27" fmla="*/ 1 h 882"/>
                        <a:gd name="T28" fmla="*/ 4 w 1290"/>
                        <a:gd name="T29" fmla="*/ 1 h 882"/>
                        <a:gd name="T30" fmla="*/ 5 w 1290"/>
                        <a:gd name="T31" fmla="*/ 1 h 882"/>
                        <a:gd name="T32" fmla="*/ 6 w 1290"/>
                        <a:gd name="T33" fmla="*/ 0 h 882"/>
                        <a:gd name="T34" fmla="*/ 6 w 1290"/>
                        <a:gd name="T35" fmla="*/ 0 h 882"/>
                        <a:gd name="T36" fmla="*/ 7 w 1290"/>
                        <a:gd name="T37" fmla="*/ 1 h 882"/>
                        <a:gd name="T38" fmla="*/ 8 w 1290"/>
                        <a:gd name="T39" fmla="*/ 1 h 882"/>
                        <a:gd name="T40" fmla="*/ 9 w 1290"/>
                        <a:gd name="T41" fmla="*/ 1 h 882"/>
                        <a:gd name="T42" fmla="*/ 9 w 1290"/>
                        <a:gd name="T43" fmla="*/ 2 h 882"/>
                        <a:gd name="T44" fmla="*/ 10 w 1290"/>
                        <a:gd name="T45" fmla="*/ 2 h 882"/>
                        <a:gd name="T46" fmla="*/ 10 w 1290"/>
                        <a:gd name="T47" fmla="*/ 2 h 882"/>
                        <a:gd name="T48" fmla="*/ 11 w 1290"/>
                        <a:gd name="T49" fmla="*/ 3 h 882"/>
                        <a:gd name="T50" fmla="*/ 10 w 1290"/>
                        <a:gd name="T51" fmla="*/ 2 h 882"/>
                        <a:gd name="T52" fmla="*/ 9 w 1290"/>
                        <a:gd name="T53" fmla="*/ 2 h 882"/>
                        <a:gd name="T54" fmla="*/ 9 w 1290"/>
                        <a:gd name="T55" fmla="*/ 2 h 882"/>
                        <a:gd name="T56" fmla="*/ 8 w 1290"/>
                        <a:gd name="T57" fmla="*/ 1 h 882"/>
                        <a:gd name="T58" fmla="*/ 7 w 1290"/>
                        <a:gd name="T59" fmla="*/ 1 h 882"/>
                        <a:gd name="T60" fmla="*/ 6 w 1290"/>
                        <a:gd name="T61" fmla="*/ 1 h 882"/>
                        <a:gd name="T62" fmla="*/ 6 w 1290"/>
                        <a:gd name="T63" fmla="*/ 1 h 882"/>
                        <a:gd name="T64" fmla="*/ 5 w 1290"/>
                        <a:gd name="T65" fmla="*/ 1 h 882"/>
                        <a:gd name="T66" fmla="*/ 5 w 1290"/>
                        <a:gd name="T67" fmla="*/ 2 h 882"/>
                        <a:gd name="T68" fmla="*/ 4 w 1290"/>
                        <a:gd name="T69" fmla="*/ 2 h 882"/>
                        <a:gd name="T70" fmla="*/ 4 w 1290"/>
                        <a:gd name="T71" fmla="*/ 2 h 882"/>
                        <a:gd name="T72" fmla="*/ 3 w 1290"/>
                        <a:gd name="T73" fmla="*/ 2 h 882"/>
                        <a:gd name="T74" fmla="*/ 3 w 1290"/>
                        <a:gd name="T75" fmla="*/ 3 h 882"/>
                        <a:gd name="T76" fmla="*/ 2 w 1290"/>
                        <a:gd name="T77" fmla="*/ 3 h 882"/>
                        <a:gd name="T78" fmla="*/ 2 w 1290"/>
                        <a:gd name="T79" fmla="*/ 3 h 882"/>
                        <a:gd name="T80" fmla="*/ 2 w 1290"/>
                        <a:gd name="T81" fmla="*/ 4 h 882"/>
                        <a:gd name="T82" fmla="*/ 1 w 1290"/>
                        <a:gd name="T83" fmla="*/ 4 h 882"/>
                        <a:gd name="T84" fmla="*/ 1 w 1290"/>
                        <a:gd name="T85" fmla="*/ 5 h 882"/>
                        <a:gd name="T86" fmla="*/ 1 w 1290"/>
                        <a:gd name="T87" fmla="*/ 6 h 882"/>
                        <a:gd name="T88" fmla="*/ 1 w 1290"/>
                        <a:gd name="T89" fmla="*/ 6 h 882"/>
                        <a:gd name="T90" fmla="*/ 1 w 1290"/>
                        <a:gd name="T91" fmla="*/ 7 h 88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90"/>
                        <a:gd name="T139" fmla="*/ 0 h 882"/>
                        <a:gd name="T140" fmla="*/ 1290 w 1290"/>
                        <a:gd name="T141" fmla="*/ 882 h 882"/>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90" h="882">
                          <a:moveTo>
                            <a:pt x="27" y="882"/>
                          </a:moveTo>
                          <a:lnTo>
                            <a:pt x="7" y="777"/>
                          </a:lnTo>
                          <a:lnTo>
                            <a:pt x="0" y="677"/>
                          </a:lnTo>
                          <a:lnTo>
                            <a:pt x="3" y="608"/>
                          </a:lnTo>
                          <a:lnTo>
                            <a:pt x="15" y="544"/>
                          </a:lnTo>
                          <a:lnTo>
                            <a:pt x="34" y="475"/>
                          </a:lnTo>
                          <a:lnTo>
                            <a:pt x="65" y="405"/>
                          </a:lnTo>
                          <a:lnTo>
                            <a:pt x="104" y="332"/>
                          </a:lnTo>
                          <a:lnTo>
                            <a:pt x="142" y="274"/>
                          </a:lnTo>
                          <a:lnTo>
                            <a:pt x="189" y="216"/>
                          </a:lnTo>
                          <a:lnTo>
                            <a:pt x="243" y="166"/>
                          </a:lnTo>
                          <a:lnTo>
                            <a:pt x="297" y="124"/>
                          </a:lnTo>
                          <a:lnTo>
                            <a:pt x="355" y="89"/>
                          </a:lnTo>
                          <a:lnTo>
                            <a:pt x="425" y="58"/>
                          </a:lnTo>
                          <a:lnTo>
                            <a:pt x="507" y="31"/>
                          </a:lnTo>
                          <a:lnTo>
                            <a:pt x="576" y="12"/>
                          </a:lnTo>
                          <a:lnTo>
                            <a:pt x="661" y="0"/>
                          </a:lnTo>
                          <a:lnTo>
                            <a:pt x="769" y="0"/>
                          </a:lnTo>
                          <a:lnTo>
                            <a:pt x="850" y="15"/>
                          </a:lnTo>
                          <a:lnTo>
                            <a:pt x="947" y="39"/>
                          </a:lnTo>
                          <a:lnTo>
                            <a:pt x="1043" y="81"/>
                          </a:lnTo>
                          <a:lnTo>
                            <a:pt x="1128" y="131"/>
                          </a:lnTo>
                          <a:lnTo>
                            <a:pt x="1186" y="181"/>
                          </a:lnTo>
                          <a:lnTo>
                            <a:pt x="1244" y="239"/>
                          </a:lnTo>
                          <a:lnTo>
                            <a:pt x="1290" y="297"/>
                          </a:lnTo>
                          <a:lnTo>
                            <a:pt x="1167" y="205"/>
                          </a:lnTo>
                          <a:lnTo>
                            <a:pt x="1101" y="166"/>
                          </a:lnTo>
                          <a:lnTo>
                            <a:pt x="1031" y="139"/>
                          </a:lnTo>
                          <a:lnTo>
                            <a:pt x="943" y="112"/>
                          </a:lnTo>
                          <a:lnTo>
                            <a:pt x="858" y="100"/>
                          </a:lnTo>
                          <a:lnTo>
                            <a:pt x="765" y="96"/>
                          </a:lnTo>
                          <a:lnTo>
                            <a:pt x="696" y="100"/>
                          </a:lnTo>
                          <a:lnTo>
                            <a:pt x="622" y="112"/>
                          </a:lnTo>
                          <a:lnTo>
                            <a:pt x="549" y="131"/>
                          </a:lnTo>
                          <a:lnTo>
                            <a:pt x="480" y="154"/>
                          </a:lnTo>
                          <a:lnTo>
                            <a:pt x="402" y="193"/>
                          </a:lnTo>
                          <a:lnTo>
                            <a:pt x="343" y="228"/>
                          </a:lnTo>
                          <a:lnTo>
                            <a:pt x="293" y="270"/>
                          </a:lnTo>
                          <a:lnTo>
                            <a:pt x="235" y="317"/>
                          </a:lnTo>
                          <a:lnTo>
                            <a:pt x="189" y="367"/>
                          </a:lnTo>
                          <a:lnTo>
                            <a:pt x="142" y="436"/>
                          </a:lnTo>
                          <a:lnTo>
                            <a:pt x="100" y="510"/>
                          </a:lnTo>
                          <a:lnTo>
                            <a:pt x="73" y="579"/>
                          </a:lnTo>
                          <a:lnTo>
                            <a:pt x="50" y="662"/>
                          </a:lnTo>
                          <a:lnTo>
                            <a:pt x="34" y="762"/>
                          </a:lnTo>
                          <a:lnTo>
                            <a:pt x="27" y="882"/>
                          </a:lnTo>
                          <a:close/>
                        </a:path>
                      </a:pathLst>
                    </a:custGeom>
                    <a:solidFill>
                      <a:srgbClr val="C0C0C0"/>
                    </a:solidFill>
                    <a:ln w="9525">
                      <a:noFill/>
                      <a:round/>
                      <a:headEnd/>
                      <a:tailEnd/>
                    </a:ln>
                  </p:spPr>
                  <p:txBody>
                    <a:bodyPr/>
                    <a:lstStyle/>
                    <a:p>
                      <a:endParaRPr lang="zh-CN" altLang="en-US"/>
                    </a:p>
                  </p:txBody>
                </p:sp>
                <p:sp>
                  <p:nvSpPr>
                    <p:cNvPr id="45113" name="Freeform 13"/>
                    <p:cNvSpPr>
                      <a:spLocks/>
                    </p:cNvSpPr>
                    <p:nvPr/>
                  </p:nvSpPr>
                  <p:spPr bwMode="auto">
                    <a:xfrm>
                      <a:off x="2289" y="3075"/>
                      <a:ext cx="712" cy="541"/>
                    </a:xfrm>
                    <a:custGeom>
                      <a:avLst/>
                      <a:gdLst>
                        <a:gd name="T0" fmla="*/ 0 w 1423"/>
                        <a:gd name="T1" fmla="*/ 5 h 1083"/>
                        <a:gd name="T2" fmla="*/ 1 w 1423"/>
                        <a:gd name="T3" fmla="*/ 5 h 1083"/>
                        <a:gd name="T4" fmla="*/ 2 w 1423"/>
                        <a:gd name="T5" fmla="*/ 6 h 1083"/>
                        <a:gd name="T6" fmla="*/ 2 w 1423"/>
                        <a:gd name="T7" fmla="*/ 6 h 1083"/>
                        <a:gd name="T8" fmla="*/ 3 w 1423"/>
                        <a:gd name="T9" fmla="*/ 7 h 1083"/>
                        <a:gd name="T10" fmla="*/ 4 w 1423"/>
                        <a:gd name="T11" fmla="*/ 7 h 1083"/>
                        <a:gd name="T12" fmla="*/ 5 w 1423"/>
                        <a:gd name="T13" fmla="*/ 7 h 1083"/>
                        <a:gd name="T14" fmla="*/ 6 w 1423"/>
                        <a:gd name="T15" fmla="*/ 7 h 1083"/>
                        <a:gd name="T16" fmla="*/ 6 w 1423"/>
                        <a:gd name="T17" fmla="*/ 7 h 1083"/>
                        <a:gd name="T18" fmla="*/ 7 w 1423"/>
                        <a:gd name="T19" fmla="*/ 7 h 1083"/>
                        <a:gd name="T20" fmla="*/ 8 w 1423"/>
                        <a:gd name="T21" fmla="*/ 7 h 1083"/>
                        <a:gd name="T22" fmla="*/ 8 w 1423"/>
                        <a:gd name="T23" fmla="*/ 6 h 1083"/>
                        <a:gd name="T24" fmla="*/ 9 w 1423"/>
                        <a:gd name="T25" fmla="*/ 6 h 1083"/>
                        <a:gd name="T26" fmla="*/ 9 w 1423"/>
                        <a:gd name="T27" fmla="*/ 6 h 1083"/>
                        <a:gd name="T28" fmla="*/ 10 w 1423"/>
                        <a:gd name="T29" fmla="*/ 5 h 1083"/>
                        <a:gd name="T30" fmla="*/ 10 w 1423"/>
                        <a:gd name="T31" fmla="*/ 5 h 1083"/>
                        <a:gd name="T32" fmla="*/ 10 w 1423"/>
                        <a:gd name="T33" fmla="*/ 4 h 1083"/>
                        <a:gd name="T34" fmla="*/ 11 w 1423"/>
                        <a:gd name="T35" fmla="*/ 4 h 1083"/>
                        <a:gd name="T36" fmla="*/ 11 w 1423"/>
                        <a:gd name="T37" fmla="*/ 3 h 1083"/>
                        <a:gd name="T38" fmla="*/ 11 w 1423"/>
                        <a:gd name="T39" fmla="*/ 2 h 1083"/>
                        <a:gd name="T40" fmla="*/ 11 w 1423"/>
                        <a:gd name="T41" fmla="*/ 1 h 1083"/>
                        <a:gd name="T42" fmla="*/ 11 w 1423"/>
                        <a:gd name="T43" fmla="*/ 0 h 1083"/>
                        <a:gd name="T44" fmla="*/ 11 w 1423"/>
                        <a:gd name="T45" fmla="*/ 0 h 1083"/>
                        <a:gd name="T46" fmla="*/ 11 w 1423"/>
                        <a:gd name="T47" fmla="*/ 0 h 1083"/>
                        <a:gd name="T48" fmla="*/ 11 w 1423"/>
                        <a:gd name="T49" fmla="*/ 1 h 1083"/>
                        <a:gd name="T50" fmla="*/ 11 w 1423"/>
                        <a:gd name="T51" fmla="*/ 1 h 1083"/>
                        <a:gd name="T52" fmla="*/ 12 w 1423"/>
                        <a:gd name="T53" fmla="*/ 2 h 1083"/>
                        <a:gd name="T54" fmla="*/ 12 w 1423"/>
                        <a:gd name="T55" fmla="*/ 2 h 1083"/>
                        <a:gd name="T56" fmla="*/ 12 w 1423"/>
                        <a:gd name="T57" fmla="*/ 3 h 1083"/>
                        <a:gd name="T58" fmla="*/ 11 w 1423"/>
                        <a:gd name="T59" fmla="*/ 4 h 1083"/>
                        <a:gd name="T60" fmla="*/ 11 w 1423"/>
                        <a:gd name="T61" fmla="*/ 5 h 1083"/>
                        <a:gd name="T62" fmla="*/ 10 w 1423"/>
                        <a:gd name="T63" fmla="*/ 6 h 1083"/>
                        <a:gd name="T64" fmla="*/ 10 w 1423"/>
                        <a:gd name="T65" fmla="*/ 6 h 1083"/>
                        <a:gd name="T66" fmla="*/ 9 w 1423"/>
                        <a:gd name="T67" fmla="*/ 7 h 1083"/>
                        <a:gd name="T68" fmla="*/ 9 w 1423"/>
                        <a:gd name="T69" fmla="*/ 7 h 1083"/>
                        <a:gd name="T70" fmla="*/ 8 w 1423"/>
                        <a:gd name="T71" fmla="*/ 8 h 1083"/>
                        <a:gd name="T72" fmla="*/ 7 w 1423"/>
                        <a:gd name="T73" fmla="*/ 8 h 1083"/>
                        <a:gd name="T74" fmla="*/ 7 w 1423"/>
                        <a:gd name="T75" fmla="*/ 8 h 1083"/>
                        <a:gd name="T76" fmla="*/ 6 w 1423"/>
                        <a:gd name="T77" fmla="*/ 8 h 1083"/>
                        <a:gd name="T78" fmla="*/ 5 w 1423"/>
                        <a:gd name="T79" fmla="*/ 8 h 1083"/>
                        <a:gd name="T80" fmla="*/ 5 w 1423"/>
                        <a:gd name="T81" fmla="*/ 8 h 1083"/>
                        <a:gd name="T82" fmla="*/ 4 w 1423"/>
                        <a:gd name="T83" fmla="*/ 8 h 1083"/>
                        <a:gd name="T84" fmla="*/ 3 w 1423"/>
                        <a:gd name="T85" fmla="*/ 8 h 1083"/>
                        <a:gd name="T86" fmla="*/ 3 w 1423"/>
                        <a:gd name="T87" fmla="*/ 7 h 1083"/>
                        <a:gd name="T88" fmla="*/ 2 w 1423"/>
                        <a:gd name="T89" fmla="*/ 7 h 1083"/>
                        <a:gd name="T90" fmla="*/ 2 w 1423"/>
                        <a:gd name="T91" fmla="*/ 6 h 1083"/>
                        <a:gd name="T92" fmla="*/ 1 w 1423"/>
                        <a:gd name="T93" fmla="*/ 6 h 1083"/>
                        <a:gd name="T94" fmla="*/ 1 w 1423"/>
                        <a:gd name="T95" fmla="*/ 5 h 1083"/>
                        <a:gd name="T96" fmla="*/ 0 w 1423"/>
                        <a:gd name="T97" fmla="*/ 5 h 1083"/>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423"/>
                        <a:gd name="T148" fmla="*/ 0 h 1083"/>
                        <a:gd name="T149" fmla="*/ 1423 w 1423"/>
                        <a:gd name="T150" fmla="*/ 1083 h 1083"/>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423" h="1083">
                          <a:moveTo>
                            <a:pt x="0" y="658"/>
                          </a:moveTo>
                          <a:lnTo>
                            <a:pt x="81" y="751"/>
                          </a:lnTo>
                          <a:lnTo>
                            <a:pt x="170" y="832"/>
                          </a:lnTo>
                          <a:lnTo>
                            <a:pt x="251" y="878"/>
                          </a:lnTo>
                          <a:lnTo>
                            <a:pt x="368" y="929"/>
                          </a:lnTo>
                          <a:lnTo>
                            <a:pt x="461" y="956"/>
                          </a:lnTo>
                          <a:lnTo>
                            <a:pt x="546" y="967"/>
                          </a:lnTo>
                          <a:lnTo>
                            <a:pt x="646" y="967"/>
                          </a:lnTo>
                          <a:lnTo>
                            <a:pt x="719" y="959"/>
                          </a:lnTo>
                          <a:lnTo>
                            <a:pt x="808" y="944"/>
                          </a:lnTo>
                          <a:lnTo>
                            <a:pt x="897" y="917"/>
                          </a:lnTo>
                          <a:lnTo>
                            <a:pt x="970" y="878"/>
                          </a:lnTo>
                          <a:lnTo>
                            <a:pt x="1040" y="836"/>
                          </a:lnTo>
                          <a:lnTo>
                            <a:pt x="1101" y="793"/>
                          </a:lnTo>
                          <a:lnTo>
                            <a:pt x="1163" y="732"/>
                          </a:lnTo>
                          <a:lnTo>
                            <a:pt x="1225" y="662"/>
                          </a:lnTo>
                          <a:lnTo>
                            <a:pt x="1273" y="596"/>
                          </a:lnTo>
                          <a:lnTo>
                            <a:pt x="1300" y="531"/>
                          </a:lnTo>
                          <a:lnTo>
                            <a:pt x="1334" y="426"/>
                          </a:lnTo>
                          <a:lnTo>
                            <a:pt x="1357" y="318"/>
                          </a:lnTo>
                          <a:lnTo>
                            <a:pt x="1361" y="222"/>
                          </a:lnTo>
                          <a:lnTo>
                            <a:pt x="1346" y="116"/>
                          </a:lnTo>
                          <a:lnTo>
                            <a:pt x="1311" y="0"/>
                          </a:lnTo>
                          <a:lnTo>
                            <a:pt x="1346" y="62"/>
                          </a:lnTo>
                          <a:lnTo>
                            <a:pt x="1384" y="151"/>
                          </a:lnTo>
                          <a:lnTo>
                            <a:pt x="1404" y="233"/>
                          </a:lnTo>
                          <a:lnTo>
                            <a:pt x="1423" y="311"/>
                          </a:lnTo>
                          <a:lnTo>
                            <a:pt x="1419" y="376"/>
                          </a:lnTo>
                          <a:lnTo>
                            <a:pt x="1415" y="465"/>
                          </a:lnTo>
                          <a:lnTo>
                            <a:pt x="1369" y="635"/>
                          </a:lnTo>
                          <a:lnTo>
                            <a:pt x="1323" y="728"/>
                          </a:lnTo>
                          <a:lnTo>
                            <a:pt x="1265" y="809"/>
                          </a:lnTo>
                          <a:lnTo>
                            <a:pt x="1202" y="878"/>
                          </a:lnTo>
                          <a:lnTo>
                            <a:pt x="1140" y="929"/>
                          </a:lnTo>
                          <a:lnTo>
                            <a:pt x="1055" y="986"/>
                          </a:lnTo>
                          <a:lnTo>
                            <a:pt x="970" y="1025"/>
                          </a:lnTo>
                          <a:lnTo>
                            <a:pt x="889" y="1052"/>
                          </a:lnTo>
                          <a:lnTo>
                            <a:pt x="785" y="1079"/>
                          </a:lnTo>
                          <a:lnTo>
                            <a:pt x="708" y="1083"/>
                          </a:lnTo>
                          <a:lnTo>
                            <a:pt x="623" y="1083"/>
                          </a:lnTo>
                          <a:lnTo>
                            <a:pt x="538" y="1068"/>
                          </a:lnTo>
                          <a:lnTo>
                            <a:pt x="445" y="1048"/>
                          </a:lnTo>
                          <a:lnTo>
                            <a:pt x="384" y="1025"/>
                          </a:lnTo>
                          <a:lnTo>
                            <a:pt x="301" y="983"/>
                          </a:lnTo>
                          <a:lnTo>
                            <a:pt x="232" y="944"/>
                          </a:lnTo>
                          <a:lnTo>
                            <a:pt x="166" y="890"/>
                          </a:lnTo>
                          <a:lnTo>
                            <a:pt x="97" y="817"/>
                          </a:lnTo>
                          <a:lnTo>
                            <a:pt x="31" y="724"/>
                          </a:lnTo>
                          <a:lnTo>
                            <a:pt x="0" y="658"/>
                          </a:lnTo>
                          <a:close/>
                        </a:path>
                      </a:pathLst>
                    </a:custGeom>
                    <a:solidFill>
                      <a:srgbClr val="C0C0C0"/>
                    </a:solidFill>
                    <a:ln w="9525">
                      <a:noFill/>
                      <a:round/>
                      <a:headEnd/>
                      <a:tailEnd/>
                    </a:ln>
                  </p:spPr>
                  <p:txBody>
                    <a:bodyPr/>
                    <a:lstStyle/>
                    <a:p>
                      <a:endParaRPr lang="zh-CN" altLang="en-US"/>
                    </a:p>
                  </p:txBody>
                </p:sp>
              </p:grpSp>
              <p:grpSp>
                <p:nvGrpSpPr>
                  <p:cNvPr id="8" name="Group 14"/>
                  <p:cNvGrpSpPr>
                    <a:grpSpLocks/>
                  </p:cNvGrpSpPr>
                  <p:nvPr/>
                </p:nvGrpSpPr>
                <p:grpSpPr bwMode="auto">
                  <a:xfrm>
                    <a:off x="2245" y="2867"/>
                    <a:ext cx="754" cy="716"/>
                    <a:chOff x="2245" y="2867"/>
                    <a:chExt cx="754" cy="716"/>
                  </a:xfrm>
                </p:grpSpPr>
                <p:sp>
                  <p:nvSpPr>
                    <p:cNvPr id="45108" name="Freeform 15"/>
                    <p:cNvSpPr>
                      <a:spLocks/>
                    </p:cNvSpPr>
                    <p:nvPr/>
                  </p:nvSpPr>
                  <p:spPr bwMode="auto">
                    <a:xfrm>
                      <a:off x="2288" y="3404"/>
                      <a:ext cx="184" cy="179"/>
                    </a:xfrm>
                    <a:custGeom>
                      <a:avLst/>
                      <a:gdLst>
                        <a:gd name="T0" fmla="*/ 0 w 369"/>
                        <a:gd name="T1" fmla="*/ 0 h 358"/>
                        <a:gd name="T2" fmla="*/ 0 w 369"/>
                        <a:gd name="T3" fmla="*/ 1 h 358"/>
                        <a:gd name="T4" fmla="*/ 0 w 369"/>
                        <a:gd name="T5" fmla="*/ 1 h 358"/>
                        <a:gd name="T6" fmla="*/ 0 w 369"/>
                        <a:gd name="T7" fmla="*/ 2 h 358"/>
                        <a:gd name="T8" fmla="*/ 1 w 369"/>
                        <a:gd name="T9" fmla="*/ 2 h 358"/>
                        <a:gd name="T10" fmla="*/ 1 w 369"/>
                        <a:gd name="T11" fmla="*/ 3 h 358"/>
                        <a:gd name="T12" fmla="*/ 2 w 369"/>
                        <a:gd name="T13" fmla="*/ 3 h 358"/>
                        <a:gd name="T14" fmla="*/ 2 w 369"/>
                        <a:gd name="T15" fmla="*/ 3 h 358"/>
                        <a:gd name="T16" fmla="*/ 2 w 369"/>
                        <a:gd name="T17" fmla="*/ 2 h 358"/>
                        <a:gd name="T18" fmla="*/ 1 w 369"/>
                        <a:gd name="T19" fmla="*/ 2 h 358"/>
                        <a:gd name="T20" fmla="*/ 1 w 369"/>
                        <a:gd name="T21" fmla="*/ 2 h 358"/>
                        <a:gd name="T22" fmla="*/ 0 w 369"/>
                        <a:gd name="T23" fmla="*/ 2 h 358"/>
                        <a:gd name="T24" fmla="*/ 0 w 369"/>
                        <a:gd name="T25" fmla="*/ 1 h 358"/>
                        <a:gd name="T26" fmla="*/ 0 w 369"/>
                        <a:gd name="T27" fmla="*/ 1 h 358"/>
                        <a:gd name="T28" fmla="*/ 0 w 369"/>
                        <a:gd name="T29" fmla="*/ 0 h 35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69"/>
                        <a:gd name="T46" fmla="*/ 0 h 358"/>
                        <a:gd name="T47" fmla="*/ 369 w 369"/>
                        <a:gd name="T48" fmla="*/ 358 h 35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69" h="358">
                          <a:moveTo>
                            <a:pt x="0" y="0"/>
                          </a:moveTo>
                          <a:lnTo>
                            <a:pt x="38" y="73"/>
                          </a:lnTo>
                          <a:lnTo>
                            <a:pt x="75" y="128"/>
                          </a:lnTo>
                          <a:lnTo>
                            <a:pt x="115" y="178"/>
                          </a:lnTo>
                          <a:lnTo>
                            <a:pt x="177" y="239"/>
                          </a:lnTo>
                          <a:lnTo>
                            <a:pt x="223" y="277"/>
                          </a:lnTo>
                          <a:lnTo>
                            <a:pt x="283" y="315"/>
                          </a:lnTo>
                          <a:lnTo>
                            <a:pt x="369" y="358"/>
                          </a:lnTo>
                          <a:lnTo>
                            <a:pt x="272" y="227"/>
                          </a:lnTo>
                          <a:lnTo>
                            <a:pt x="218" y="196"/>
                          </a:lnTo>
                          <a:lnTo>
                            <a:pt x="180" y="169"/>
                          </a:lnTo>
                          <a:lnTo>
                            <a:pt x="123" y="130"/>
                          </a:lnTo>
                          <a:lnTo>
                            <a:pt x="79" y="89"/>
                          </a:lnTo>
                          <a:lnTo>
                            <a:pt x="45" y="55"/>
                          </a:lnTo>
                          <a:lnTo>
                            <a:pt x="0" y="0"/>
                          </a:lnTo>
                          <a:close/>
                        </a:path>
                      </a:pathLst>
                    </a:custGeom>
                    <a:solidFill>
                      <a:srgbClr val="808080"/>
                    </a:solidFill>
                    <a:ln w="9525">
                      <a:noFill/>
                      <a:round/>
                      <a:headEnd/>
                      <a:tailEnd/>
                    </a:ln>
                  </p:spPr>
                  <p:txBody>
                    <a:bodyPr/>
                    <a:lstStyle/>
                    <a:p>
                      <a:endParaRPr lang="zh-CN" altLang="en-US"/>
                    </a:p>
                  </p:txBody>
                </p:sp>
                <p:sp>
                  <p:nvSpPr>
                    <p:cNvPr id="45109" name="Freeform 16"/>
                    <p:cNvSpPr>
                      <a:spLocks/>
                    </p:cNvSpPr>
                    <p:nvPr/>
                  </p:nvSpPr>
                  <p:spPr bwMode="auto">
                    <a:xfrm>
                      <a:off x="2933" y="3071"/>
                      <a:ext cx="66" cy="351"/>
                    </a:xfrm>
                    <a:custGeom>
                      <a:avLst/>
                      <a:gdLst>
                        <a:gd name="T0" fmla="*/ 0 w 133"/>
                        <a:gd name="T1" fmla="*/ 0 h 703"/>
                        <a:gd name="T2" fmla="*/ 0 w 133"/>
                        <a:gd name="T3" fmla="*/ 0 h 703"/>
                        <a:gd name="T4" fmla="*/ 0 w 133"/>
                        <a:gd name="T5" fmla="*/ 0 h 703"/>
                        <a:gd name="T6" fmla="*/ 0 w 133"/>
                        <a:gd name="T7" fmla="*/ 1 h 703"/>
                        <a:gd name="T8" fmla="*/ 0 w 133"/>
                        <a:gd name="T9" fmla="*/ 1 h 703"/>
                        <a:gd name="T10" fmla="*/ 0 w 133"/>
                        <a:gd name="T11" fmla="*/ 1 h 703"/>
                        <a:gd name="T12" fmla="*/ 0 w 133"/>
                        <a:gd name="T13" fmla="*/ 2 h 703"/>
                        <a:gd name="T14" fmla="*/ 1 w 133"/>
                        <a:gd name="T15" fmla="*/ 2 h 703"/>
                        <a:gd name="T16" fmla="*/ 1 w 133"/>
                        <a:gd name="T17" fmla="*/ 3 h 703"/>
                        <a:gd name="T18" fmla="*/ 0 w 133"/>
                        <a:gd name="T19" fmla="*/ 4 h 703"/>
                        <a:gd name="T20" fmla="*/ 0 w 133"/>
                        <a:gd name="T21" fmla="*/ 4 h 703"/>
                        <a:gd name="T22" fmla="*/ 0 w 133"/>
                        <a:gd name="T23" fmla="*/ 4 h 703"/>
                        <a:gd name="T24" fmla="*/ 0 w 133"/>
                        <a:gd name="T25" fmla="*/ 5 h 703"/>
                        <a:gd name="T26" fmla="*/ 0 w 133"/>
                        <a:gd name="T27" fmla="*/ 4 h 703"/>
                        <a:gd name="T28" fmla="*/ 0 w 133"/>
                        <a:gd name="T29" fmla="*/ 4 h 703"/>
                        <a:gd name="T30" fmla="*/ 0 w 133"/>
                        <a:gd name="T31" fmla="*/ 3 h 703"/>
                        <a:gd name="T32" fmla="*/ 0 w 133"/>
                        <a:gd name="T33" fmla="*/ 3 h 703"/>
                        <a:gd name="T34" fmla="*/ 0 w 133"/>
                        <a:gd name="T35" fmla="*/ 3 h 703"/>
                        <a:gd name="T36" fmla="*/ 0 w 133"/>
                        <a:gd name="T37" fmla="*/ 2 h 703"/>
                        <a:gd name="T38" fmla="*/ 0 w 133"/>
                        <a:gd name="T39" fmla="*/ 2 h 703"/>
                        <a:gd name="T40" fmla="*/ 0 w 133"/>
                        <a:gd name="T41" fmla="*/ 1 h 703"/>
                        <a:gd name="T42" fmla="*/ 0 w 133"/>
                        <a:gd name="T43" fmla="*/ 1 h 703"/>
                        <a:gd name="T44" fmla="*/ 0 w 133"/>
                        <a:gd name="T45" fmla="*/ 0 h 703"/>
                        <a:gd name="T46" fmla="*/ 0 w 133"/>
                        <a:gd name="T47" fmla="*/ 0 h 703"/>
                        <a:gd name="T48" fmla="*/ 0 w 133"/>
                        <a:gd name="T49" fmla="*/ 0 h 70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
                        <a:gd name="T76" fmla="*/ 0 h 703"/>
                        <a:gd name="T77" fmla="*/ 133 w 133"/>
                        <a:gd name="T78" fmla="*/ 703 h 70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 h="703">
                          <a:moveTo>
                            <a:pt x="24" y="0"/>
                          </a:moveTo>
                          <a:lnTo>
                            <a:pt x="50" y="47"/>
                          </a:lnTo>
                          <a:lnTo>
                            <a:pt x="67" y="88"/>
                          </a:lnTo>
                          <a:lnTo>
                            <a:pt x="85" y="131"/>
                          </a:lnTo>
                          <a:lnTo>
                            <a:pt x="98" y="172"/>
                          </a:lnTo>
                          <a:lnTo>
                            <a:pt x="108" y="211"/>
                          </a:lnTo>
                          <a:lnTo>
                            <a:pt x="127" y="279"/>
                          </a:lnTo>
                          <a:lnTo>
                            <a:pt x="133" y="346"/>
                          </a:lnTo>
                          <a:lnTo>
                            <a:pt x="129" y="449"/>
                          </a:lnTo>
                          <a:lnTo>
                            <a:pt x="120" y="518"/>
                          </a:lnTo>
                          <a:lnTo>
                            <a:pt x="105" y="575"/>
                          </a:lnTo>
                          <a:lnTo>
                            <a:pt x="84" y="634"/>
                          </a:lnTo>
                          <a:lnTo>
                            <a:pt x="54" y="703"/>
                          </a:lnTo>
                          <a:lnTo>
                            <a:pt x="0" y="570"/>
                          </a:lnTo>
                          <a:lnTo>
                            <a:pt x="24" y="512"/>
                          </a:lnTo>
                          <a:lnTo>
                            <a:pt x="36" y="481"/>
                          </a:lnTo>
                          <a:lnTo>
                            <a:pt x="50" y="441"/>
                          </a:lnTo>
                          <a:lnTo>
                            <a:pt x="59" y="400"/>
                          </a:lnTo>
                          <a:lnTo>
                            <a:pt x="67" y="337"/>
                          </a:lnTo>
                          <a:lnTo>
                            <a:pt x="71" y="284"/>
                          </a:lnTo>
                          <a:lnTo>
                            <a:pt x="71" y="206"/>
                          </a:lnTo>
                          <a:lnTo>
                            <a:pt x="59" y="135"/>
                          </a:lnTo>
                          <a:lnTo>
                            <a:pt x="46" y="77"/>
                          </a:lnTo>
                          <a:lnTo>
                            <a:pt x="39" y="46"/>
                          </a:lnTo>
                          <a:lnTo>
                            <a:pt x="24" y="0"/>
                          </a:lnTo>
                          <a:close/>
                        </a:path>
                      </a:pathLst>
                    </a:custGeom>
                    <a:solidFill>
                      <a:srgbClr val="808080"/>
                    </a:solidFill>
                    <a:ln w="9525">
                      <a:noFill/>
                      <a:round/>
                      <a:headEnd/>
                      <a:tailEnd/>
                    </a:ln>
                  </p:spPr>
                  <p:txBody>
                    <a:bodyPr/>
                    <a:lstStyle/>
                    <a:p>
                      <a:endParaRPr lang="zh-CN" altLang="en-US"/>
                    </a:p>
                  </p:txBody>
                </p:sp>
                <p:sp>
                  <p:nvSpPr>
                    <p:cNvPr id="45110" name="Freeform 17"/>
                    <p:cNvSpPr>
                      <a:spLocks/>
                    </p:cNvSpPr>
                    <p:nvPr/>
                  </p:nvSpPr>
                  <p:spPr bwMode="auto">
                    <a:xfrm>
                      <a:off x="2587" y="2867"/>
                      <a:ext cx="262" cy="106"/>
                    </a:xfrm>
                    <a:custGeom>
                      <a:avLst/>
                      <a:gdLst>
                        <a:gd name="T0" fmla="*/ 0 w 525"/>
                        <a:gd name="T1" fmla="*/ 0 h 212"/>
                        <a:gd name="T2" fmla="*/ 0 w 525"/>
                        <a:gd name="T3" fmla="*/ 1 h 212"/>
                        <a:gd name="T4" fmla="*/ 0 w 525"/>
                        <a:gd name="T5" fmla="*/ 1 h 212"/>
                        <a:gd name="T6" fmla="*/ 1 w 525"/>
                        <a:gd name="T7" fmla="*/ 1 h 212"/>
                        <a:gd name="T8" fmla="*/ 1 w 525"/>
                        <a:gd name="T9" fmla="*/ 1 h 212"/>
                        <a:gd name="T10" fmla="*/ 2 w 525"/>
                        <a:gd name="T11" fmla="*/ 1 h 212"/>
                        <a:gd name="T12" fmla="*/ 2 w 525"/>
                        <a:gd name="T13" fmla="*/ 1 h 212"/>
                        <a:gd name="T14" fmla="*/ 2 w 525"/>
                        <a:gd name="T15" fmla="*/ 1 h 212"/>
                        <a:gd name="T16" fmla="*/ 3 w 525"/>
                        <a:gd name="T17" fmla="*/ 2 h 212"/>
                        <a:gd name="T18" fmla="*/ 3 w 525"/>
                        <a:gd name="T19" fmla="*/ 2 h 212"/>
                        <a:gd name="T20" fmla="*/ 4 w 525"/>
                        <a:gd name="T21" fmla="*/ 2 h 212"/>
                        <a:gd name="T22" fmla="*/ 3 w 525"/>
                        <a:gd name="T23" fmla="*/ 2 h 212"/>
                        <a:gd name="T24" fmla="*/ 3 w 525"/>
                        <a:gd name="T25" fmla="*/ 2 h 212"/>
                        <a:gd name="T26" fmla="*/ 3 w 525"/>
                        <a:gd name="T27" fmla="*/ 1 h 212"/>
                        <a:gd name="T28" fmla="*/ 2 w 525"/>
                        <a:gd name="T29" fmla="*/ 1 h 212"/>
                        <a:gd name="T30" fmla="*/ 2 w 525"/>
                        <a:gd name="T31" fmla="*/ 1 h 212"/>
                        <a:gd name="T32" fmla="*/ 1 w 525"/>
                        <a:gd name="T33" fmla="*/ 1 h 212"/>
                        <a:gd name="T34" fmla="*/ 1 w 525"/>
                        <a:gd name="T35" fmla="*/ 1 h 212"/>
                        <a:gd name="T36" fmla="*/ 1 w 525"/>
                        <a:gd name="T37" fmla="*/ 1 h 212"/>
                        <a:gd name="T38" fmla="*/ 1 w 525"/>
                        <a:gd name="T39" fmla="*/ 1 h 212"/>
                        <a:gd name="T40" fmla="*/ 0 w 525"/>
                        <a:gd name="T41" fmla="*/ 1 h 212"/>
                        <a:gd name="T42" fmla="*/ 0 w 525"/>
                        <a:gd name="T43" fmla="*/ 0 h 212"/>
                        <a:gd name="T44" fmla="*/ 0 w 525"/>
                        <a:gd name="T45" fmla="*/ 0 h 21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25"/>
                        <a:gd name="T70" fmla="*/ 0 h 212"/>
                        <a:gd name="T71" fmla="*/ 525 w 525"/>
                        <a:gd name="T72" fmla="*/ 212 h 21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25" h="212">
                          <a:moveTo>
                            <a:pt x="0" y="0"/>
                          </a:moveTo>
                          <a:lnTo>
                            <a:pt x="40" y="77"/>
                          </a:lnTo>
                          <a:lnTo>
                            <a:pt x="101" y="73"/>
                          </a:lnTo>
                          <a:lnTo>
                            <a:pt x="158" y="77"/>
                          </a:lnTo>
                          <a:lnTo>
                            <a:pt x="211" y="84"/>
                          </a:lnTo>
                          <a:lnTo>
                            <a:pt x="260" y="93"/>
                          </a:lnTo>
                          <a:lnTo>
                            <a:pt x="309" y="106"/>
                          </a:lnTo>
                          <a:lnTo>
                            <a:pt x="342" y="117"/>
                          </a:lnTo>
                          <a:lnTo>
                            <a:pt x="386" y="135"/>
                          </a:lnTo>
                          <a:lnTo>
                            <a:pt x="436" y="159"/>
                          </a:lnTo>
                          <a:lnTo>
                            <a:pt x="525" y="212"/>
                          </a:lnTo>
                          <a:lnTo>
                            <a:pt x="473" y="158"/>
                          </a:lnTo>
                          <a:lnTo>
                            <a:pt x="437" y="131"/>
                          </a:lnTo>
                          <a:lnTo>
                            <a:pt x="390" y="100"/>
                          </a:lnTo>
                          <a:lnTo>
                            <a:pt x="360" y="82"/>
                          </a:lnTo>
                          <a:lnTo>
                            <a:pt x="294" y="51"/>
                          </a:lnTo>
                          <a:lnTo>
                            <a:pt x="252" y="36"/>
                          </a:lnTo>
                          <a:lnTo>
                            <a:pt x="217" y="24"/>
                          </a:lnTo>
                          <a:lnTo>
                            <a:pt x="185" y="16"/>
                          </a:lnTo>
                          <a:lnTo>
                            <a:pt x="135" y="7"/>
                          </a:lnTo>
                          <a:lnTo>
                            <a:pt x="82" y="1"/>
                          </a:lnTo>
                          <a:lnTo>
                            <a:pt x="23" y="0"/>
                          </a:lnTo>
                          <a:lnTo>
                            <a:pt x="0" y="0"/>
                          </a:lnTo>
                          <a:close/>
                        </a:path>
                      </a:pathLst>
                    </a:custGeom>
                    <a:solidFill>
                      <a:srgbClr val="808080"/>
                    </a:solidFill>
                    <a:ln w="9525">
                      <a:noFill/>
                      <a:round/>
                      <a:headEnd/>
                      <a:tailEnd/>
                    </a:ln>
                  </p:spPr>
                  <p:txBody>
                    <a:bodyPr/>
                    <a:lstStyle/>
                    <a:p>
                      <a:endParaRPr lang="zh-CN" altLang="en-US"/>
                    </a:p>
                  </p:txBody>
                </p:sp>
                <p:sp>
                  <p:nvSpPr>
                    <p:cNvPr id="45111" name="Freeform 18"/>
                    <p:cNvSpPr>
                      <a:spLocks/>
                    </p:cNvSpPr>
                    <p:nvPr/>
                  </p:nvSpPr>
                  <p:spPr bwMode="auto">
                    <a:xfrm>
                      <a:off x="2245" y="3016"/>
                      <a:ext cx="84" cy="249"/>
                    </a:xfrm>
                    <a:custGeom>
                      <a:avLst/>
                      <a:gdLst>
                        <a:gd name="T0" fmla="*/ 0 w 167"/>
                        <a:gd name="T1" fmla="*/ 3 h 498"/>
                        <a:gd name="T2" fmla="*/ 1 w 167"/>
                        <a:gd name="T3" fmla="*/ 3 h 498"/>
                        <a:gd name="T4" fmla="*/ 1 w 167"/>
                        <a:gd name="T5" fmla="*/ 3 h 498"/>
                        <a:gd name="T6" fmla="*/ 1 w 167"/>
                        <a:gd name="T7" fmla="*/ 2 h 498"/>
                        <a:gd name="T8" fmla="*/ 1 w 167"/>
                        <a:gd name="T9" fmla="*/ 2 h 498"/>
                        <a:gd name="T10" fmla="*/ 1 w 167"/>
                        <a:gd name="T11" fmla="*/ 2 h 498"/>
                        <a:gd name="T12" fmla="*/ 1 w 167"/>
                        <a:gd name="T13" fmla="*/ 1 h 498"/>
                        <a:gd name="T14" fmla="*/ 1 w 167"/>
                        <a:gd name="T15" fmla="*/ 1 h 498"/>
                        <a:gd name="T16" fmla="*/ 1 w 167"/>
                        <a:gd name="T17" fmla="*/ 0 h 498"/>
                        <a:gd name="T18" fmla="*/ 2 w 167"/>
                        <a:gd name="T19" fmla="*/ 1 h 498"/>
                        <a:gd name="T20" fmla="*/ 2 w 167"/>
                        <a:gd name="T21" fmla="*/ 1 h 498"/>
                        <a:gd name="T22" fmla="*/ 1 w 167"/>
                        <a:gd name="T23" fmla="*/ 2 h 498"/>
                        <a:gd name="T24" fmla="*/ 1 w 167"/>
                        <a:gd name="T25" fmla="*/ 2 h 498"/>
                        <a:gd name="T26" fmla="*/ 1 w 167"/>
                        <a:gd name="T27" fmla="*/ 2 h 498"/>
                        <a:gd name="T28" fmla="*/ 1 w 167"/>
                        <a:gd name="T29" fmla="*/ 2 h 498"/>
                        <a:gd name="T30" fmla="*/ 1 w 167"/>
                        <a:gd name="T31" fmla="*/ 3 h 498"/>
                        <a:gd name="T32" fmla="*/ 1 w 167"/>
                        <a:gd name="T33" fmla="*/ 3 h 498"/>
                        <a:gd name="T34" fmla="*/ 1 w 167"/>
                        <a:gd name="T35" fmla="*/ 3 h 498"/>
                        <a:gd name="T36" fmla="*/ 1 w 167"/>
                        <a:gd name="T37" fmla="*/ 4 h 498"/>
                        <a:gd name="T38" fmla="*/ 1 w 167"/>
                        <a:gd name="T39" fmla="*/ 4 h 498"/>
                        <a:gd name="T40" fmla="*/ 1 w 167"/>
                        <a:gd name="T41" fmla="*/ 4 h 498"/>
                        <a:gd name="T42" fmla="*/ 0 w 167"/>
                        <a:gd name="T43" fmla="*/ 3 h 49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67"/>
                        <a:gd name="T67" fmla="*/ 0 h 498"/>
                        <a:gd name="T68" fmla="*/ 167 w 167"/>
                        <a:gd name="T69" fmla="*/ 498 h 49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67" h="498">
                          <a:moveTo>
                            <a:pt x="0" y="383"/>
                          </a:moveTo>
                          <a:lnTo>
                            <a:pt x="3" y="344"/>
                          </a:lnTo>
                          <a:lnTo>
                            <a:pt x="6" y="301"/>
                          </a:lnTo>
                          <a:lnTo>
                            <a:pt x="18" y="233"/>
                          </a:lnTo>
                          <a:lnTo>
                            <a:pt x="31" y="179"/>
                          </a:lnTo>
                          <a:lnTo>
                            <a:pt x="49" y="130"/>
                          </a:lnTo>
                          <a:lnTo>
                            <a:pt x="72" y="80"/>
                          </a:lnTo>
                          <a:lnTo>
                            <a:pt x="92" y="41"/>
                          </a:lnTo>
                          <a:lnTo>
                            <a:pt x="118" y="0"/>
                          </a:lnTo>
                          <a:lnTo>
                            <a:pt x="167" y="65"/>
                          </a:lnTo>
                          <a:lnTo>
                            <a:pt x="139" y="103"/>
                          </a:lnTo>
                          <a:lnTo>
                            <a:pt x="118" y="138"/>
                          </a:lnTo>
                          <a:lnTo>
                            <a:pt x="101" y="170"/>
                          </a:lnTo>
                          <a:lnTo>
                            <a:pt x="77" y="215"/>
                          </a:lnTo>
                          <a:lnTo>
                            <a:pt x="61" y="255"/>
                          </a:lnTo>
                          <a:lnTo>
                            <a:pt x="52" y="294"/>
                          </a:lnTo>
                          <a:lnTo>
                            <a:pt x="41" y="332"/>
                          </a:lnTo>
                          <a:lnTo>
                            <a:pt x="33" y="375"/>
                          </a:lnTo>
                          <a:lnTo>
                            <a:pt x="27" y="426"/>
                          </a:lnTo>
                          <a:lnTo>
                            <a:pt x="21" y="478"/>
                          </a:lnTo>
                          <a:lnTo>
                            <a:pt x="12" y="498"/>
                          </a:lnTo>
                          <a:lnTo>
                            <a:pt x="0" y="383"/>
                          </a:lnTo>
                          <a:close/>
                        </a:path>
                      </a:pathLst>
                    </a:custGeom>
                    <a:solidFill>
                      <a:srgbClr val="808080"/>
                    </a:solidFill>
                    <a:ln w="9525">
                      <a:noFill/>
                      <a:round/>
                      <a:headEnd/>
                      <a:tailEnd/>
                    </a:ln>
                  </p:spPr>
                  <p:txBody>
                    <a:bodyPr/>
                    <a:lstStyle/>
                    <a:p>
                      <a:endParaRPr lang="zh-CN" altLang="en-US"/>
                    </a:p>
                  </p:txBody>
                </p:sp>
              </p:grpSp>
            </p:grpSp>
            <p:sp>
              <p:nvSpPr>
                <p:cNvPr id="45101" name="Oval 19"/>
                <p:cNvSpPr>
                  <a:spLocks noChangeArrowheads="1"/>
                </p:cNvSpPr>
                <p:nvPr/>
              </p:nvSpPr>
              <p:spPr bwMode="auto">
                <a:xfrm>
                  <a:off x="2257" y="2905"/>
                  <a:ext cx="743" cy="712"/>
                </a:xfrm>
                <a:prstGeom prst="ellipse">
                  <a:avLst/>
                </a:prstGeom>
                <a:noFill/>
                <a:ln w="15875">
                  <a:solidFill>
                    <a:srgbClr val="000000"/>
                  </a:solidFill>
                  <a:round/>
                  <a:headEnd/>
                  <a:tailEnd/>
                </a:ln>
              </p:spPr>
              <p:txBody>
                <a:bodyPr/>
                <a:lstStyle/>
                <a:p>
                  <a:endParaRPr lang="zh-CN" altLang="en-US"/>
                </a:p>
              </p:txBody>
            </p:sp>
            <p:grpSp>
              <p:nvGrpSpPr>
                <p:cNvPr id="9" name="Group 20"/>
                <p:cNvGrpSpPr>
                  <a:grpSpLocks/>
                </p:cNvGrpSpPr>
                <p:nvPr/>
              </p:nvGrpSpPr>
              <p:grpSpPr bwMode="auto">
                <a:xfrm>
                  <a:off x="2227" y="2847"/>
                  <a:ext cx="742" cy="712"/>
                  <a:chOff x="2227" y="2847"/>
                  <a:chExt cx="742" cy="712"/>
                </a:xfrm>
              </p:grpSpPr>
              <p:sp>
                <p:nvSpPr>
                  <p:cNvPr id="45103" name="Oval 21"/>
                  <p:cNvSpPr>
                    <a:spLocks noChangeArrowheads="1"/>
                  </p:cNvSpPr>
                  <p:nvPr/>
                </p:nvSpPr>
                <p:spPr bwMode="auto">
                  <a:xfrm>
                    <a:off x="2235" y="2857"/>
                    <a:ext cx="725" cy="694"/>
                  </a:xfrm>
                  <a:prstGeom prst="ellipse">
                    <a:avLst/>
                  </a:prstGeom>
                  <a:noFill/>
                  <a:ln w="41275">
                    <a:solidFill>
                      <a:srgbClr val="9F9F9F"/>
                    </a:solidFill>
                    <a:round/>
                    <a:headEnd/>
                    <a:tailEnd/>
                  </a:ln>
                </p:spPr>
                <p:txBody>
                  <a:bodyPr/>
                  <a:lstStyle/>
                  <a:p>
                    <a:endParaRPr lang="zh-CN" altLang="en-US"/>
                  </a:p>
                </p:txBody>
              </p:sp>
              <p:sp>
                <p:nvSpPr>
                  <p:cNvPr id="45104" name="Oval 22"/>
                  <p:cNvSpPr>
                    <a:spLocks noChangeArrowheads="1"/>
                  </p:cNvSpPr>
                  <p:nvPr/>
                </p:nvSpPr>
                <p:spPr bwMode="auto">
                  <a:xfrm>
                    <a:off x="2227" y="2847"/>
                    <a:ext cx="742" cy="712"/>
                  </a:xfrm>
                  <a:prstGeom prst="ellipse">
                    <a:avLst/>
                  </a:prstGeom>
                  <a:noFill/>
                  <a:ln w="15875">
                    <a:solidFill>
                      <a:srgbClr val="000000"/>
                    </a:solidFill>
                    <a:round/>
                    <a:headEnd/>
                    <a:tailEnd/>
                  </a:ln>
                </p:spPr>
                <p:txBody>
                  <a:bodyPr/>
                  <a:lstStyle/>
                  <a:p>
                    <a:endParaRPr lang="zh-CN" altLang="en-US"/>
                  </a:p>
                </p:txBody>
              </p:sp>
              <p:sp>
                <p:nvSpPr>
                  <p:cNvPr id="45105" name="Oval 23"/>
                  <p:cNvSpPr>
                    <a:spLocks noChangeArrowheads="1"/>
                  </p:cNvSpPr>
                  <p:nvPr/>
                </p:nvSpPr>
                <p:spPr bwMode="auto">
                  <a:xfrm>
                    <a:off x="2247" y="2866"/>
                    <a:ext cx="702" cy="675"/>
                  </a:xfrm>
                  <a:prstGeom prst="ellipse">
                    <a:avLst/>
                  </a:prstGeom>
                  <a:noFill/>
                  <a:ln w="7938">
                    <a:solidFill>
                      <a:srgbClr val="000000"/>
                    </a:solidFill>
                    <a:round/>
                    <a:headEnd/>
                    <a:tailEnd/>
                  </a:ln>
                </p:spPr>
                <p:txBody>
                  <a:bodyPr/>
                  <a:lstStyle/>
                  <a:p>
                    <a:endParaRPr lang="zh-CN" altLang="en-US"/>
                  </a:p>
                </p:txBody>
              </p:sp>
            </p:grpSp>
          </p:grpSp>
          <p:grpSp>
            <p:nvGrpSpPr>
              <p:cNvPr id="10" name="Group 24"/>
              <p:cNvGrpSpPr>
                <a:grpSpLocks/>
              </p:cNvGrpSpPr>
              <p:nvPr/>
            </p:nvGrpSpPr>
            <p:grpSpPr bwMode="auto">
              <a:xfrm>
                <a:off x="2759" y="3518"/>
                <a:ext cx="381" cy="595"/>
                <a:chOff x="2759" y="3518"/>
                <a:chExt cx="381" cy="595"/>
              </a:xfrm>
            </p:grpSpPr>
            <p:sp>
              <p:nvSpPr>
                <p:cNvPr id="45065" name="Freeform 25"/>
                <p:cNvSpPr>
                  <a:spLocks/>
                </p:cNvSpPr>
                <p:nvPr/>
              </p:nvSpPr>
              <p:spPr bwMode="auto">
                <a:xfrm>
                  <a:off x="2762" y="3548"/>
                  <a:ext cx="363" cy="521"/>
                </a:xfrm>
                <a:custGeom>
                  <a:avLst/>
                  <a:gdLst>
                    <a:gd name="T0" fmla="*/ 0 w 725"/>
                    <a:gd name="T1" fmla="*/ 1 h 1040"/>
                    <a:gd name="T2" fmla="*/ 5 w 725"/>
                    <a:gd name="T3" fmla="*/ 9 h 1040"/>
                    <a:gd name="T4" fmla="*/ 6 w 725"/>
                    <a:gd name="T5" fmla="*/ 8 h 1040"/>
                    <a:gd name="T6" fmla="*/ 2 w 725"/>
                    <a:gd name="T7" fmla="*/ 0 h 1040"/>
                    <a:gd name="T8" fmla="*/ 0 w 725"/>
                    <a:gd name="T9" fmla="*/ 1 h 1040"/>
                    <a:gd name="T10" fmla="*/ 0 60000 65536"/>
                    <a:gd name="T11" fmla="*/ 0 60000 65536"/>
                    <a:gd name="T12" fmla="*/ 0 60000 65536"/>
                    <a:gd name="T13" fmla="*/ 0 60000 65536"/>
                    <a:gd name="T14" fmla="*/ 0 60000 65536"/>
                    <a:gd name="T15" fmla="*/ 0 w 725"/>
                    <a:gd name="T16" fmla="*/ 0 h 1040"/>
                    <a:gd name="T17" fmla="*/ 725 w 725"/>
                    <a:gd name="T18" fmla="*/ 1040 h 1040"/>
                  </a:gdLst>
                  <a:ahLst/>
                  <a:cxnLst>
                    <a:cxn ang="T10">
                      <a:pos x="T0" y="T1"/>
                    </a:cxn>
                    <a:cxn ang="T11">
                      <a:pos x="T2" y="T3"/>
                    </a:cxn>
                    <a:cxn ang="T12">
                      <a:pos x="T4" y="T5"/>
                    </a:cxn>
                    <a:cxn ang="T13">
                      <a:pos x="T6" y="T7"/>
                    </a:cxn>
                    <a:cxn ang="T14">
                      <a:pos x="T8" y="T9"/>
                    </a:cxn>
                  </a:cxnLst>
                  <a:rect l="T15" t="T16" r="T17" b="T18"/>
                  <a:pathLst>
                    <a:path w="725" h="1040">
                      <a:moveTo>
                        <a:pt x="0" y="77"/>
                      </a:moveTo>
                      <a:lnTo>
                        <a:pt x="514" y="1040"/>
                      </a:lnTo>
                      <a:lnTo>
                        <a:pt x="725" y="933"/>
                      </a:lnTo>
                      <a:lnTo>
                        <a:pt x="208" y="0"/>
                      </a:lnTo>
                      <a:lnTo>
                        <a:pt x="0" y="77"/>
                      </a:lnTo>
                      <a:close/>
                    </a:path>
                  </a:pathLst>
                </a:custGeom>
                <a:solidFill>
                  <a:srgbClr val="5F3F1F"/>
                </a:solidFill>
                <a:ln w="9525">
                  <a:noFill/>
                  <a:round/>
                  <a:headEnd/>
                  <a:tailEnd/>
                </a:ln>
              </p:spPr>
              <p:txBody>
                <a:bodyPr/>
                <a:lstStyle/>
                <a:p>
                  <a:endParaRPr lang="zh-CN" altLang="en-US"/>
                </a:p>
              </p:txBody>
            </p:sp>
            <p:sp>
              <p:nvSpPr>
                <p:cNvPr id="45066" name="Arc 26"/>
                <p:cNvSpPr>
                  <a:spLocks/>
                </p:cNvSpPr>
                <p:nvPr/>
              </p:nvSpPr>
              <p:spPr bwMode="auto">
                <a:xfrm>
                  <a:off x="2759" y="3518"/>
                  <a:ext cx="110" cy="68"/>
                </a:xfrm>
                <a:custGeom>
                  <a:avLst/>
                  <a:gdLst>
                    <a:gd name="T0" fmla="*/ 0 w 42161"/>
                    <a:gd name="T1" fmla="*/ 0 h 27839"/>
                    <a:gd name="T2" fmla="*/ 0 w 42161"/>
                    <a:gd name="T3" fmla="*/ 0 h 27839"/>
                    <a:gd name="T4" fmla="*/ 0 w 42161"/>
                    <a:gd name="T5" fmla="*/ 0 h 27839"/>
                    <a:gd name="T6" fmla="*/ 0 60000 65536"/>
                    <a:gd name="T7" fmla="*/ 0 60000 65536"/>
                    <a:gd name="T8" fmla="*/ 0 60000 65536"/>
                    <a:gd name="T9" fmla="*/ 0 w 42161"/>
                    <a:gd name="T10" fmla="*/ 0 h 27839"/>
                    <a:gd name="T11" fmla="*/ 42161 w 42161"/>
                    <a:gd name="T12" fmla="*/ 27839 h 27839"/>
                  </a:gdLst>
                  <a:ahLst/>
                  <a:cxnLst>
                    <a:cxn ang="T6">
                      <a:pos x="T0" y="T1"/>
                    </a:cxn>
                    <a:cxn ang="T7">
                      <a:pos x="T2" y="T3"/>
                    </a:cxn>
                    <a:cxn ang="T8">
                      <a:pos x="T4" y="T5"/>
                    </a:cxn>
                  </a:cxnLst>
                  <a:rect l="T9" t="T10" r="T11" b="T12"/>
                  <a:pathLst>
                    <a:path w="42161" h="27839" fill="none" extrusionOk="0">
                      <a:moveTo>
                        <a:pt x="920" y="27839"/>
                      </a:moveTo>
                      <a:cubicBezTo>
                        <a:pt x="310" y="25815"/>
                        <a:pt x="0" y="23713"/>
                        <a:pt x="0" y="21600"/>
                      </a:cubicBezTo>
                      <a:cubicBezTo>
                        <a:pt x="0" y="9670"/>
                        <a:pt x="9670" y="0"/>
                        <a:pt x="21600" y="0"/>
                      </a:cubicBezTo>
                      <a:cubicBezTo>
                        <a:pt x="30980" y="-1"/>
                        <a:pt x="39287" y="6053"/>
                        <a:pt x="42161" y="14982"/>
                      </a:cubicBezTo>
                    </a:path>
                    <a:path w="42161" h="27839" stroke="0" extrusionOk="0">
                      <a:moveTo>
                        <a:pt x="920" y="27839"/>
                      </a:moveTo>
                      <a:cubicBezTo>
                        <a:pt x="310" y="25815"/>
                        <a:pt x="0" y="23713"/>
                        <a:pt x="0" y="21600"/>
                      </a:cubicBezTo>
                      <a:cubicBezTo>
                        <a:pt x="0" y="9670"/>
                        <a:pt x="9670" y="0"/>
                        <a:pt x="21600" y="0"/>
                      </a:cubicBezTo>
                      <a:cubicBezTo>
                        <a:pt x="30980" y="-1"/>
                        <a:pt x="39287" y="6053"/>
                        <a:pt x="42161" y="14982"/>
                      </a:cubicBezTo>
                      <a:lnTo>
                        <a:pt x="21600" y="21600"/>
                      </a:lnTo>
                      <a:lnTo>
                        <a:pt x="920" y="27839"/>
                      </a:lnTo>
                      <a:close/>
                    </a:path>
                  </a:pathLst>
                </a:custGeom>
                <a:solidFill>
                  <a:srgbClr val="5F3F1F"/>
                </a:solidFill>
                <a:ln w="7938">
                  <a:solidFill>
                    <a:srgbClr val="000000"/>
                  </a:solidFill>
                  <a:round/>
                  <a:headEnd/>
                  <a:tailEnd/>
                </a:ln>
              </p:spPr>
              <p:txBody>
                <a:bodyPr/>
                <a:lstStyle/>
                <a:p>
                  <a:endParaRPr lang="zh-CN" altLang="en-US"/>
                </a:p>
              </p:txBody>
            </p:sp>
            <p:sp>
              <p:nvSpPr>
                <p:cNvPr id="45067" name="Arc 27"/>
                <p:cNvSpPr>
                  <a:spLocks/>
                </p:cNvSpPr>
                <p:nvPr/>
              </p:nvSpPr>
              <p:spPr bwMode="auto">
                <a:xfrm>
                  <a:off x="2763" y="3525"/>
                  <a:ext cx="110" cy="65"/>
                </a:xfrm>
                <a:custGeom>
                  <a:avLst/>
                  <a:gdLst>
                    <a:gd name="T0" fmla="*/ 0 w 42089"/>
                    <a:gd name="T1" fmla="*/ 0 h 24233"/>
                    <a:gd name="T2" fmla="*/ 0 w 42089"/>
                    <a:gd name="T3" fmla="*/ 0 h 24233"/>
                    <a:gd name="T4" fmla="*/ 0 w 42089"/>
                    <a:gd name="T5" fmla="*/ 0 h 24233"/>
                    <a:gd name="T6" fmla="*/ 0 60000 65536"/>
                    <a:gd name="T7" fmla="*/ 0 60000 65536"/>
                    <a:gd name="T8" fmla="*/ 0 60000 65536"/>
                    <a:gd name="T9" fmla="*/ 0 w 42089"/>
                    <a:gd name="T10" fmla="*/ 0 h 24233"/>
                    <a:gd name="T11" fmla="*/ 42089 w 42089"/>
                    <a:gd name="T12" fmla="*/ 24233 h 24233"/>
                  </a:gdLst>
                  <a:ahLst/>
                  <a:cxnLst>
                    <a:cxn ang="T6">
                      <a:pos x="T0" y="T1"/>
                    </a:cxn>
                    <a:cxn ang="T7">
                      <a:pos x="T2" y="T3"/>
                    </a:cxn>
                    <a:cxn ang="T8">
                      <a:pos x="T4" y="T5"/>
                    </a:cxn>
                  </a:cxnLst>
                  <a:rect l="T9" t="T10" r="T11" b="T12"/>
                  <a:pathLst>
                    <a:path w="42089" h="24233" fill="none" extrusionOk="0">
                      <a:moveTo>
                        <a:pt x="161" y="24232"/>
                      </a:moveTo>
                      <a:cubicBezTo>
                        <a:pt x="53" y="23359"/>
                        <a:pt x="0" y="22480"/>
                        <a:pt x="0" y="21600"/>
                      </a:cubicBezTo>
                      <a:cubicBezTo>
                        <a:pt x="0" y="9670"/>
                        <a:pt x="9670" y="0"/>
                        <a:pt x="21600" y="0"/>
                      </a:cubicBezTo>
                      <a:cubicBezTo>
                        <a:pt x="30894" y="-1"/>
                        <a:pt x="39146" y="5945"/>
                        <a:pt x="42089" y="14761"/>
                      </a:cubicBezTo>
                    </a:path>
                    <a:path w="42089" h="24233" stroke="0" extrusionOk="0">
                      <a:moveTo>
                        <a:pt x="161" y="24232"/>
                      </a:moveTo>
                      <a:cubicBezTo>
                        <a:pt x="53" y="23359"/>
                        <a:pt x="0" y="22480"/>
                        <a:pt x="0" y="21600"/>
                      </a:cubicBezTo>
                      <a:cubicBezTo>
                        <a:pt x="0" y="9670"/>
                        <a:pt x="9670" y="0"/>
                        <a:pt x="21600" y="0"/>
                      </a:cubicBezTo>
                      <a:cubicBezTo>
                        <a:pt x="30894" y="-1"/>
                        <a:pt x="39146" y="5945"/>
                        <a:pt x="42089" y="14761"/>
                      </a:cubicBezTo>
                      <a:lnTo>
                        <a:pt x="21600" y="21600"/>
                      </a:lnTo>
                      <a:lnTo>
                        <a:pt x="161" y="24232"/>
                      </a:lnTo>
                      <a:close/>
                    </a:path>
                  </a:pathLst>
                </a:custGeom>
                <a:solidFill>
                  <a:srgbClr val="5F3F1F"/>
                </a:solidFill>
                <a:ln w="9525">
                  <a:noFill/>
                  <a:round/>
                  <a:headEnd/>
                  <a:tailEnd/>
                </a:ln>
              </p:spPr>
              <p:txBody>
                <a:bodyPr/>
                <a:lstStyle/>
                <a:p>
                  <a:endParaRPr lang="zh-CN" altLang="en-US"/>
                </a:p>
              </p:txBody>
            </p:sp>
            <p:sp>
              <p:nvSpPr>
                <p:cNvPr id="45068" name="Freeform 28"/>
                <p:cNvSpPr>
                  <a:spLocks/>
                </p:cNvSpPr>
                <p:nvPr/>
              </p:nvSpPr>
              <p:spPr bwMode="auto">
                <a:xfrm>
                  <a:off x="2759" y="3526"/>
                  <a:ext cx="68" cy="133"/>
                </a:xfrm>
                <a:custGeom>
                  <a:avLst/>
                  <a:gdLst>
                    <a:gd name="T0" fmla="*/ 0 w 138"/>
                    <a:gd name="T1" fmla="*/ 1 h 266"/>
                    <a:gd name="T2" fmla="*/ 0 w 138"/>
                    <a:gd name="T3" fmla="*/ 1 h 266"/>
                    <a:gd name="T4" fmla="*/ 0 w 138"/>
                    <a:gd name="T5" fmla="*/ 1 h 266"/>
                    <a:gd name="T6" fmla="*/ 0 w 138"/>
                    <a:gd name="T7" fmla="*/ 1 h 266"/>
                    <a:gd name="T8" fmla="*/ 0 w 138"/>
                    <a:gd name="T9" fmla="*/ 1 h 266"/>
                    <a:gd name="T10" fmla="*/ 0 w 138"/>
                    <a:gd name="T11" fmla="*/ 1 h 266"/>
                    <a:gd name="T12" fmla="*/ 0 w 138"/>
                    <a:gd name="T13" fmla="*/ 1 h 266"/>
                    <a:gd name="T14" fmla="*/ 0 w 138"/>
                    <a:gd name="T15" fmla="*/ 1 h 266"/>
                    <a:gd name="T16" fmla="*/ 0 w 138"/>
                    <a:gd name="T17" fmla="*/ 0 h 266"/>
                    <a:gd name="T18" fmla="*/ 1 w 138"/>
                    <a:gd name="T19" fmla="*/ 2 h 266"/>
                    <a:gd name="T20" fmla="*/ 0 w 138"/>
                    <a:gd name="T21" fmla="*/ 2 h 266"/>
                    <a:gd name="T22" fmla="*/ 0 w 138"/>
                    <a:gd name="T23" fmla="*/ 2 h 266"/>
                    <a:gd name="T24" fmla="*/ 0 w 138"/>
                    <a:gd name="T25" fmla="*/ 2 h 266"/>
                    <a:gd name="T26" fmla="*/ 0 w 138"/>
                    <a:gd name="T27" fmla="*/ 2 h 266"/>
                    <a:gd name="T28" fmla="*/ 0 w 138"/>
                    <a:gd name="T29" fmla="*/ 2 h 266"/>
                    <a:gd name="T30" fmla="*/ 0 w 138"/>
                    <a:gd name="T31" fmla="*/ 2 h 266"/>
                    <a:gd name="T32" fmla="*/ 0 w 138"/>
                    <a:gd name="T33" fmla="*/ 3 h 266"/>
                    <a:gd name="T34" fmla="*/ 0 w 138"/>
                    <a:gd name="T35" fmla="*/ 1 h 2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8"/>
                    <a:gd name="T55" fmla="*/ 0 h 266"/>
                    <a:gd name="T56" fmla="*/ 138 w 138"/>
                    <a:gd name="T57" fmla="*/ 266 h 2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8" h="266">
                      <a:moveTo>
                        <a:pt x="4" y="123"/>
                      </a:moveTo>
                      <a:lnTo>
                        <a:pt x="0" y="105"/>
                      </a:lnTo>
                      <a:lnTo>
                        <a:pt x="0" y="89"/>
                      </a:lnTo>
                      <a:lnTo>
                        <a:pt x="3" y="74"/>
                      </a:lnTo>
                      <a:lnTo>
                        <a:pt x="8" y="54"/>
                      </a:lnTo>
                      <a:lnTo>
                        <a:pt x="16" y="37"/>
                      </a:lnTo>
                      <a:lnTo>
                        <a:pt x="27" y="22"/>
                      </a:lnTo>
                      <a:lnTo>
                        <a:pt x="40" y="9"/>
                      </a:lnTo>
                      <a:lnTo>
                        <a:pt x="53" y="0"/>
                      </a:lnTo>
                      <a:lnTo>
                        <a:pt x="138" y="144"/>
                      </a:lnTo>
                      <a:lnTo>
                        <a:pt x="123" y="153"/>
                      </a:lnTo>
                      <a:lnTo>
                        <a:pt x="112" y="163"/>
                      </a:lnTo>
                      <a:lnTo>
                        <a:pt x="102" y="174"/>
                      </a:lnTo>
                      <a:lnTo>
                        <a:pt x="94" y="186"/>
                      </a:lnTo>
                      <a:lnTo>
                        <a:pt x="85" y="210"/>
                      </a:lnTo>
                      <a:lnTo>
                        <a:pt x="80" y="241"/>
                      </a:lnTo>
                      <a:lnTo>
                        <a:pt x="80" y="266"/>
                      </a:lnTo>
                      <a:lnTo>
                        <a:pt x="4" y="123"/>
                      </a:lnTo>
                      <a:close/>
                    </a:path>
                  </a:pathLst>
                </a:custGeom>
                <a:solidFill>
                  <a:srgbClr val="3F1F00"/>
                </a:solidFill>
                <a:ln w="9525">
                  <a:noFill/>
                  <a:round/>
                  <a:headEnd/>
                  <a:tailEnd/>
                </a:ln>
              </p:spPr>
              <p:txBody>
                <a:bodyPr/>
                <a:lstStyle/>
                <a:p>
                  <a:endParaRPr lang="zh-CN" altLang="en-US"/>
                </a:p>
              </p:txBody>
            </p:sp>
            <p:sp>
              <p:nvSpPr>
                <p:cNvPr id="45069" name="Arc 29"/>
                <p:cNvSpPr>
                  <a:spLocks/>
                </p:cNvSpPr>
                <p:nvPr/>
              </p:nvSpPr>
              <p:spPr bwMode="auto">
                <a:xfrm>
                  <a:off x="2759" y="3521"/>
                  <a:ext cx="57" cy="63"/>
                </a:xfrm>
                <a:custGeom>
                  <a:avLst/>
                  <a:gdLst>
                    <a:gd name="T0" fmla="*/ 0 w 21600"/>
                    <a:gd name="T1" fmla="*/ 0 h 25522"/>
                    <a:gd name="T2" fmla="*/ 0 w 21600"/>
                    <a:gd name="T3" fmla="*/ 0 h 25522"/>
                    <a:gd name="T4" fmla="*/ 0 w 21600"/>
                    <a:gd name="T5" fmla="*/ 0 h 25522"/>
                    <a:gd name="T6" fmla="*/ 0 60000 65536"/>
                    <a:gd name="T7" fmla="*/ 0 60000 65536"/>
                    <a:gd name="T8" fmla="*/ 0 60000 65536"/>
                    <a:gd name="T9" fmla="*/ 0 w 21600"/>
                    <a:gd name="T10" fmla="*/ 0 h 25522"/>
                    <a:gd name="T11" fmla="*/ 21600 w 21600"/>
                    <a:gd name="T12" fmla="*/ 25522 h 25522"/>
                  </a:gdLst>
                  <a:ahLst/>
                  <a:cxnLst>
                    <a:cxn ang="T6">
                      <a:pos x="T0" y="T1"/>
                    </a:cxn>
                    <a:cxn ang="T7">
                      <a:pos x="T2" y="T3"/>
                    </a:cxn>
                    <a:cxn ang="T8">
                      <a:pos x="T4" y="T5"/>
                    </a:cxn>
                  </a:cxnLst>
                  <a:rect l="T9" t="T10" r="T11" b="T12"/>
                  <a:pathLst>
                    <a:path w="21600" h="25522" fill="none" extrusionOk="0">
                      <a:moveTo>
                        <a:pt x="665" y="25522"/>
                      </a:moveTo>
                      <a:cubicBezTo>
                        <a:pt x="223" y="23782"/>
                        <a:pt x="0" y="21994"/>
                        <a:pt x="0" y="20200"/>
                      </a:cubicBezTo>
                      <a:cubicBezTo>
                        <a:pt x="-1" y="11222"/>
                        <a:pt x="5553" y="3180"/>
                        <a:pt x="13949" y="0"/>
                      </a:cubicBezTo>
                    </a:path>
                    <a:path w="21600" h="25522" stroke="0" extrusionOk="0">
                      <a:moveTo>
                        <a:pt x="665" y="25522"/>
                      </a:moveTo>
                      <a:cubicBezTo>
                        <a:pt x="223" y="23782"/>
                        <a:pt x="0" y="21994"/>
                        <a:pt x="0" y="20200"/>
                      </a:cubicBezTo>
                      <a:cubicBezTo>
                        <a:pt x="-1" y="11222"/>
                        <a:pt x="5553" y="3180"/>
                        <a:pt x="13949" y="0"/>
                      </a:cubicBezTo>
                      <a:lnTo>
                        <a:pt x="21600" y="20200"/>
                      </a:lnTo>
                      <a:lnTo>
                        <a:pt x="665" y="25522"/>
                      </a:lnTo>
                      <a:close/>
                    </a:path>
                  </a:pathLst>
                </a:custGeom>
                <a:noFill/>
                <a:ln w="7938">
                  <a:solidFill>
                    <a:srgbClr val="000000"/>
                  </a:solidFill>
                  <a:round/>
                  <a:headEnd/>
                  <a:tailEnd/>
                </a:ln>
              </p:spPr>
              <p:txBody>
                <a:bodyPr/>
                <a:lstStyle/>
                <a:p>
                  <a:endParaRPr lang="zh-CN" altLang="en-US"/>
                </a:p>
              </p:txBody>
            </p:sp>
            <p:sp>
              <p:nvSpPr>
                <p:cNvPr id="45070" name="Arc 30"/>
                <p:cNvSpPr>
                  <a:spLocks/>
                </p:cNvSpPr>
                <p:nvPr/>
              </p:nvSpPr>
              <p:spPr bwMode="auto">
                <a:xfrm>
                  <a:off x="2799" y="3590"/>
                  <a:ext cx="112" cy="67"/>
                </a:xfrm>
                <a:custGeom>
                  <a:avLst/>
                  <a:gdLst>
                    <a:gd name="T0" fmla="*/ 0 w 42280"/>
                    <a:gd name="T1" fmla="*/ 0 h 26966"/>
                    <a:gd name="T2" fmla="*/ 0 w 42280"/>
                    <a:gd name="T3" fmla="*/ 0 h 26966"/>
                    <a:gd name="T4" fmla="*/ 0 w 42280"/>
                    <a:gd name="T5" fmla="*/ 0 h 26966"/>
                    <a:gd name="T6" fmla="*/ 0 60000 65536"/>
                    <a:gd name="T7" fmla="*/ 0 60000 65536"/>
                    <a:gd name="T8" fmla="*/ 0 60000 65536"/>
                    <a:gd name="T9" fmla="*/ 0 w 42280"/>
                    <a:gd name="T10" fmla="*/ 0 h 26966"/>
                    <a:gd name="T11" fmla="*/ 42280 w 42280"/>
                    <a:gd name="T12" fmla="*/ 26966 h 26966"/>
                  </a:gdLst>
                  <a:ahLst/>
                  <a:cxnLst>
                    <a:cxn ang="T6">
                      <a:pos x="T0" y="T1"/>
                    </a:cxn>
                    <a:cxn ang="T7">
                      <a:pos x="T2" y="T3"/>
                    </a:cxn>
                    <a:cxn ang="T8">
                      <a:pos x="T4" y="T5"/>
                    </a:cxn>
                  </a:cxnLst>
                  <a:rect l="T9" t="T10" r="T11" b="T12"/>
                  <a:pathLst>
                    <a:path w="42280" h="26966" fill="none" extrusionOk="0">
                      <a:moveTo>
                        <a:pt x="677" y="26965"/>
                      </a:moveTo>
                      <a:cubicBezTo>
                        <a:pt x="227" y="25212"/>
                        <a:pt x="0" y="23409"/>
                        <a:pt x="0" y="21600"/>
                      </a:cubicBezTo>
                      <a:cubicBezTo>
                        <a:pt x="0" y="9670"/>
                        <a:pt x="9670" y="0"/>
                        <a:pt x="21600" y="0"/>
                      </a:cubicBezTo>
                      <a:cubicBezTo>
                        <a:pt x="31127" y="-1"/>
                        <a:pt x="39529" y="6242"/>
                        <a:pt x="42280" y="15363"/>
                      </a:cubicBezTo>
                    </a:path>
                    <a:path w="42280" h="26966" stroke="0" extrusionOk="0">
                      <a:moveTo>
                        <a:pt x="677" y="26965"/>
                      </a:moveTo>
                      <a:cubicBezTo>
                        <a:pt x="227" y="25212"/>
                        <a:pt x="0" y="23409"/>
                        <a:pt x="0" y="21600"/>
                      </a:cubicBezTo>
                      <a:cubicBezTo>
                        <a:pt x="0" y="9670"/>
                        <a:pt x="9670" y="0"/>
                        <a:pt x="21600" y="0"/>
                      </a:cubicBezTo>
                      <a:cubicBezTo>
                        <a:pt x="31127" y="-1"/>
                        <a:pt x="39529" y="6242"/>
                        <a:pt x="42280" y="15363"/>
                      </a:cubicBezTo>
                      <a:lnTo>
                        <a:pt x="21600" y="21600"/>
                      </a:lnTo>
                      <a:lnTo>
                        <a:pt x="677" y="26965"/>
                      </a:lnTo>
                      <a:close/>
                    </a:path>
                  </a:pathLst>
                </a:custGeom>
                <a:solidFill>
                  <a:srgbClr val="7F3F00"/>
                </a:solidFill>
                <a:ln w="7938">
                  <a:solidFill>
                    <a:srgbClr val="000000"/>
                  </a:solidFill>
                  <a:round/>
                  <a:headEnd/>
                  <a:tailEnd/>
                </a:ln>
              </p:spPr>
              <p:txBody>
                <a:bodyPr/>
                <a:lstStyle/>
                <a:p>
                  <a:endParaRPr lang="zh-CN" altLang="en-US"/>
                </a:p>
              </p:txBody>
            </p:sp>
            <p:grpSp>
              <p:nvGrpSpPr>
                <p:cNvPr id="11" name="Group 31"/>
                <p:cNvGrpSpPr>
                  <a:grpSpLocks/>
                </p:cNvGrpSpPr>
                <p:nvPr/>
              </p:nvGrpSpPr>
              <p:grpSpPr bwMode="auto">
                <a:xfrm>
                  <a:off x="2804" y="3601"/>
                  <a:ext cx="117" cy="77"/>
                  <a:chOff x="2804" y="3601"/>
                  <a:chExt cx="117" cy="77"/>
                </a:xfrm>
              </p:grpSpPr>
              <p:grpSp>
                <p:nvGrpSpPr>
                  <p:cNvPr id="12" name="Group 32"/>
                  <p:cNvGrpSpPr>
                    <a:grpSpLocks/>
                  </p:cNvGrpSpPr>
                  <p:nvPr/>
                </p:nvGrpSpPr>
                <p:grpSpPr bwMode="auto">
                  <a:xfrm>
                    <a:off x="2804" y="3601"/>
                    <a:ext cx="111" cy="65"/>
                    <a:chOff x="2804" y="3601"/>
                    <a:chExt cx="111" cy="65"/>
                  </a:xfrm>
                </p:grpSpPr>
                <p:sp>
                  <p:nvSpPr>
                    <p:cNvPr id="45097" name="Arc 33"/>
                    <p:cNvSpPr>
                      <a:spLocks/>
                    </p:cNvSpPr>
                    <p:nvPr/>
                  </p:nvSpPr>
                  <p:spPr bwMode="auto">
                    <a:xfrm>
                      <a:off x="2804" y="3601"/>
                      <a:ext cx="110" cy="65"/>
                    </a:xfrm>
                    <a:custGeom>
                      <a:avLst/>
                      <a:gdLst>
                        <a:gd name="T0" fmla="*/ 0 w 42533"/>
                        <a:gd name="T1" fmla="*/ 0 h 26537"/>
                        <a:gd name="T2" fmla="*/ 0 w 42533"/>
                        <a:gd name="T3" fmla="*/ 0 h 26537"/>
                        <a:gd name="T4" fmla="*/ 0 w 42533"/>
                        <a:gd name="T5" fmla="*/ 0 h 26537"/>
                        <a:gd name="T6" fmla="*/ 0 60000 65536"/>
                        <a:gd name="T7" fmla="*/ 0 60000 65536"/>
                        <a:gd name="T8" fmla="*/ 0 60000 65536"/>
                        <a:gd name="T9" fmla="*/ 0 w 42533"/>
                        <a:gd name="T10" fmla="*/ 0 h 26537"/>
                        <a:gd name="T11" fmla="*/ 42533 w 42533"/>
                        <a:gd name="T12" fmla="*/ 26537 h 26537"/>
                      </a:gdLst>
                      <a:ahLst/>
                      <a:cxnLst>
                        <a:cxn ang="T6">
                          <a:pos x="T0" y="T1"/>
                        </a:cxn>
                        <a:cxn ang="T7">
                          <a:pos x="T2" y="T3"/>
                        </a:cxn>
                        <a:cxn ang="T8">
                          <a:pos x="T4" y="T5"/>
                        </a:cxn>
                      </a:cxnLst>
                      <a:rect l="T9" t="T10" r="T11" b="T12"/>
                      <a:pathLst>
                        <a:path w="42533" h="26537" fill="none" extrusionOk="0">
                          <a:moveTo>
                            <a:pt x="571" y="26537"/>
                          </a:moveTo>
                          <a:cubicBezTo>
                            <a:pt x="191" y="24918"/>
                            <a:pt x="0" y="23262"/>
                            <a:pt x="0" y="21600"/>
                          </a:cubicBezTo>
                          <a:cubicBezTo>
                            <a:pt x="0" y="9670"/>
                            <a:pt x="9670" y="0"/>
                            <a:pt x="21600" y="0"/>
                          </a:cubicBezTo>
                          <a:cubicBezTo>
                            <a:pt x="31478" y="-1"/>
                            <a:pt x="40097" y="6701"/>
                            <a:pt x="42533" y="16274"/>
                          </a:cubicBezTo>
                        </a:path>
                        <a:path w="42533" h="26537" stroke="0" extrusionOk="0">
                          <a:moveTo>
                            <a:pt x="571" y="26537"/>
                          </a:moveTo>
                          <a:cubicBezTo>
                            <a:pt x="191" y="24918"/>
                            <a:pt x="0" y="23262"/>
                            <a:pt x="0" y="21600"/>
                          </a:cubicBezTo>
                          <a:cubicBezTo>
                            <a:pt x="0" y="9670"/>
                            <a:pt x="9670" y="0"/>
                            <a:pt x="21600" y="0"/>
                          </a:cubicBezTo>
                          <a:cubicBezTo>
                            <a:pt x="31478" y="-1"/>
                            <a:pt x="40097" y="6701"/>
                            <a:pt x="42533" y="16274"/>
                          </a:cubicBezTo>
                          <a:lnTo>
                            <a:pt x="21600" y="21600"/>
                          </a:lnTo>
                          <a:lnTo>
                            <a:pt x="571" y="26537"/>
                          </a:lnTo>
                          <a:close/>
                        </a:path>
                      </a:pathLst>
                    </a:custGeom>
                    <a:solidFill>
                      <a:srgbClr val="5F3F1F"/>
                    </a:solidFill>
                    <a:ln w="9525">
                      <a:noFill/>
                      <a:round/>
                      <a:headEnd/>
                      <a:tailEnd/>
                    </a:ln>
                  </p:spPr>
                  <p:txBody>
                    <a:bodyPr/>
                    <a:lstStyle/>
                    <a:p>
                      <a:endParaRPr lang="zh-CN" altLang="en-US"/>
                    </a:p>
                  </p:txBody>
                </p:sp>
                <p:sp>
                  <p:nvSpPr>
                    <p:cNvPr id="45098" name="Arc 34"/>
                    <p:cNvSpPr>
                      <a:spLocks/>
                    </p:cNvSpPr>
                    <p:nvPr/>
                  </p:nvSpPr>
                  <p:spPr bwMode="auto">
                    <a:xfrm>
                      <a:off x="2804" y="3608"/>
                      <a:ext cx="56" cy="58"/>
                    </a:xfrm>
                    <a:custGeom>
                      <a:avLst/>
                      <a:gdLst>
                        <a:gd name="T0" fmla="*/ 0 w 21600"/>
                        <a:gd name="T1" fmla="*/ 0 h 23819"/>
                        <a:gd name="T2" fmla="*/ 0 w 21600"/>
                        <a:gd name="T3" fmla="*/ 0 h 23819"/>
                        <a:gd name="T4" fmla="*/ 0 w 21600"/>
                        <a:gd name="T5" fmla="*/ 0 h 23819"/>
                        <a:gd name="T6" fmla="*/ 0 60000 65536"/>
                        <a:gd name="T7" fmla="*/ 0 60000 65536"/>
                        <a:gd name="T8" fmla="*/ 0 60000 65536"/>
                        <a:gd name="T9" fmla="*/ 0 w 21600"/>
                        <a:gd name="T10" fmla="*/ 0 h 23819"/>
                        <a:gd name="T11" fmla="*/ 21600 w 21600"/>
                        <a:gd name="T12" fmla="*/ 23819 h 23819"/>
                      </a:gdLst>
                      <a:ahLst/>
                      <a:cxnLst>
                        <a:cxn ang="T6">
                          <a:pos x="T0" y="T1"/>
                        </a:cxn>
                        <a:cxn ang="T7">
                          <a:pos x="T2" y="T3"/>
                        </a:cxn>
                        <a:cxn ang="T8">
                          <a:pos x="T4" y="T5"/>
                        </a:cxn>
                      </a:cxnLst>
                      <a:rect l="T9" t="T10" r="T11" b="T12"/>
                      <a:pathLst>
                        <a:path w="21600" h="23819" fill="none" extrusionOk="0">
                          <a:moveTo>
                            <a:pt x="571" y="23819"/>
                          </a:moveTo>
                          <a:cubicBezTo>
                            <a:pt x="191" y="22200"/>
                            <a:pt x="0" y="20544"/>
                            <a:pt x="0" y="18882"/>
                          </a:cubicBezTo>
                          <a:cubicBezTo>
                            <a:pt x="-1" y="11037"/>
                            <a:pt x="4253" y="3809"/>
                            <a:pt x="11110" y="-1"/>
                          </a:cubicBezTo>
                        </a:path>
                        <a:path w="21600" h="23819" stroke="0" extrusionOk="0">
                          <a:moveTo>
                            <a:pt x="571" y="23819"/>
                          </a:moveTo>
                          <a:cubicBezTo>
                            <a:pt x="191" y="22200"/>
                            <a:pt x="0" y="20544"/>
                            <a:pt x="0" y="18882"/>
                          </a:cubicBezTo>
                          <a:cubicBezTo>
                            <a:pt x="-1" y="11037"/>
                            <a:pt x="4253" y="3809"/>
                            <a:pt x="11110" y="-1"/>
                          </a:cubicBezTo>
                          <a:lnTo>
                            <a:pt x="21600" y="18882"/>
                          </a:lnTo>
                          <a:lnTo>
                            <a:pt x="571" y="23819"/>
                          </a:lnTo>
                          <a:close/>
                        </a:path>
                      </a:pathLst>
                    </a:custGeom>
                    <a:solidFill>
                      <a:srgbClr val="3F1F00"/>
                    </a:solidFill>
                    <a:ln w="9525">
                      <a:noFill/>
                      <a:round/>
                      <a:headEnd/>
                      <a:tailEnd/>
                    </a:ln>
                  </p:spPr>
                  <p:txBody>
                    <a:bodyPr/>
                    <a:lstStyle/>
                    <a:p>
                      <a:endParaRPr lang="zh-CN" altLang="en-US"/>
                    </a:p>
                  </p:txBody>
                </p:sp>
                <p:sp>
                  <p:nvSpPr>
                    <p:cNvPr id="45099" name="Arc 35"/>
                    <p:cNvSpPr>
                      <a:spLocks/>
                    </p:cNvSpPr>
                    <p:nvPr/>
                  </p:nvSpPr>
                  <p:spPr bwMode="auto">
                    <a:xfrm>
                      <a:off x="2804" y="3601"/>
                      <a:ext cx="111" cy="65"/>
                    </a:xfrm>
                    <a:custGeom>
                      <a:avLst/>
                      <a:gdLst>
                        <a:gd name="T0" fmla="*/ 0 w 42391"/>
                        <a:gd name="T1" fmla="*/ 0 h 26579"/>
                        <a:gd name="T2" fmla="*/ 0 w 42391"/>
                        <a:gd name="T3" fmla="*/ 0 h 26579"/>
                        <a:gd name="T4" fmla="*/ 0 w 42391"/>
                        <a:gd name="T5" fmla="*/ 0 h 26579"/>
                        <a:gd name="T6" fmla="*/ 0 60000 65536"/>
                        <a:gd name="T7" fmla="*/ 0 60000 65536"/>
                        <a:gd name="T8" fmla="*/ 0 60000 65536"/>
                        <a:gd name="T9" fmla="*/ 0 w 42391"/>
                        <a:gd name="T10" fmla="*/ 0 h 26579"/>
                        <a:gd name="T11" fmla="*/ 42391 w 42391"/>
                        <a:gd name="T12" fmla="*/ 26579 h 26579"/>
                      </a:gdLst>
                      <a:ahLst/>
                      <a:cxnLst>
                        <a:cxn ang="T6">
                          <a:pos x="T0" y="T1"/>
                        </a:cxn>
                        <a:cxn ang="T7">
                          <a:pos x="T2" y="T3"/>
                        </a:cxn>
                        <a:cxn ang="T8">
                          <a:pos x="T4" y="T5"/>
                        </a:cxn>
                      </a:cxnLst>
                      <a:rect l="T9" t="T10" r="T11" b="T12"/>
                      <a:pathLst>
                        <a:path w="42391" h="26579" fill="none" extrusionOk="0">
                          <a:moveTo>
                            <a:pt x="581" y="26579"/>
                          </a:moveTo>
                          <a:cubicBezTo>
                            <a:pt x="195" y="24947"/>
                            <a:pt x="0" y="23276"/>
                            <a:pt x="0" y="21600"/>
                          </a:cubicBezTo>
                          <a:cubicBezTo>
                            <a:pt x="0" y="9670"/>
                            <a:pt x="9670" y="0"/>
                            <a:pt x="21600" y="0"/>
                          </a:cubicBezTo>
                          <a:cubicBezTo>
                            <a:pt x="31274" y="-1"/>
                            <a:pt x="39768" y="6432"/>
                            <a:pt x="42391" y="15744"/>
                          </a:cubicBezTo>
                        </a:path>
                        <a:path w="42391" h="26579" stroke="0" extrusionOk="0">
                          <a:moveTo>
                            <a:pt x="581" y="26579"/>
                          </a:moveTo>
                          <a:cubicBezTo>
                            <a:pt x="195" y="24947"/>
                            <a:pt x="0" y="23276"/>
                            <a:pt x="0" y="21600"/>
                          </a:cubicBezTo>
                          <a:cubicBezTo>
                            <a:pt x="0" y="9670"/>
                            <a:pt x="9670" y="0"/>
                            <a:pt x="21600" y="0"/>
                          </a:cubicBezTo>
                          <a:cubicBezTo>
                            <a:pt x="31274" y="-1"/>
                            <a:pt x="39768" y="6432"/>
                            <a:pt x="42391" y="15744"/>
                          </a:cubicBezTo>
                          <a:lnTo>
                            <a:pt x="21600" y="21600"/>
                          </a:lnTo>
                          <a:lnTo>
                            <a:pt x="581" y="26579"/>
                          </a:lnTo>
                          <a:close/>
                        </a:path>
                      </a:pathLst>
                    </a:custGeom>
                    <a:noFill/>
                    <a:ln w="7938">
                      <a:solidFill>
                        <a:srgbClr val="000000"/>
                      </a:solidFill>
                      <a:round/>
                      <a:headEnd/>
                      <a:tailEnd/>
                    </a:ln>
                  </p:spPr>
                  <p:txBody>
                    <a:bodyPr/>
                    <a:lstStyle/>
                    <a:p>
                      <a:endParaRPr lang="zh-CN" altLang="en-US"/>
                    </a:p>
                  </p:txBody>
                </p:sp>
              </p:grpSp>
              <p:sp>
                <p:nvSpPr>
                  <p:cNvPr id="45096" name="Arc 36"/>
                  <p:cNvSpPr>
                    <a:spLocks/>
                  </p:cNvSpPr>
                  <p:nvPr/>
                </p:nvSpPr>
                <p:spPr bwMode="auto">
                  <a:xfrm>
                    <a:off x="2810" y="3612"/>
                    <a:ext cx="111" cy="66"/>
                  </a:xfrm>
                  <a:custGeom>
                    <a:avLst/>
                    <a:gdLst>
                      <a:gd name="T0" fmla="*/ 0 w 42406"/>
                      <a:gd name="T1" fmla="*/ 0 h 26535"/>
                      <a:gd name="T2" fmla="*/ 0 w 42406"/>
                      <a:gd name="T3" fmla="*/ 0 h 26535"/>
                      <a:gd name="T4" fmla="*/ 0 w 42406"/>
                      <a:gd name="T5" fmla="*/ 0 h 26535"/>
                      <a:gd name="T6" fmla="*/ 0 60000 65536"/>
                      <a:gd name="T7" fmla="*/ 0 60000 65536"/>
                      <a:gd name="T8" fmla="*/ 0 60000 65536"/>
                      <a:gd name="T9" fmla="*/ 0 w 42406"/>
                      <a:gd name="T10" fmla="*/ 0 h 26535"/>
                      <a:gd name="T11" fmla="*/ 42406 w 42406"/>
                      <a:gd name="T12" fmla="*/ 26535 h 26535"/>
                    </a:gdLst>
                    <a:ahLst/>
                    <a:cxnLst>
                      <a:cxn ang="T6">
                        <a:pos x="T0" y="T1"/>
                      </a:cxn>
                      <a:cxn ang="T7">
                        <a:pos x="T2" y="T3"/>
                      </a:cxn>
                      <a:cxn ang="T8">
                        <a:pos x="T4" y="T5"/>
                      </a:cxn>
                    </a:cxnLst>
                    <a:rect l="T9" t="T10" r="T11" b="T12"/>
                    <a:pathLst>
                      <a:path w="42406" h="26535" fill="none" extrusionOk="0">
                        <a:moveTo>
                          <a:pt x="571" y="26534"/>
                        </a:moveTo>
                        <a:cubicBezTo>
                          <a:pt x="191" y="24917"/>
                          <a:pt x="0" y="23261"/>
                          <a:pt x="0" y="21600"/>
                        </a:cubicBezTo>
                        <a:cubicBezTo>
                          <a:pt x="0" y="9670"/>
                          <a:pt x="9670" y="0"/>
                          <a:pt x="21600" y="0"/>
                        </a:cubicBezTo>
                        <a:cubicBezTo>
                          <a:pt x="31294" y="-1"/>
                          <a:pt x="39800" y="6458"/>
                          <a:pt x="42405" y="15796"/>
                        </a:cubicBezTo>
                      </a:path>
                      <a:path w="42406" h="26535" stroke="0" extrusionOk="0">
                        <a:moveTo>
                          <a:pt x="571" y="26534"/>
                        </a:moveTo>
                        <a:cubicBezTo>
                          <a:pt x="191" y="24917"/>
                          <a:pt x="0" y="23261"/>
                          <a:pt x="0" y="21600"/>
                        </a:cubicBezTo>
                        <a:cubicBezTo>
                          <a:pt x="0" y="9670"/>
                          <a:pt x="9670" y="0"/>
                          <a:pt x="21600" y="0"/>
                        </a:cubicBezTo>
                        <a:cubicBezTo>
                          <a:pt x="31294" y="-1"/>
                          <a:pt x="39800" y="6458"/>
                          <a:pt x="42405" y="15796"/>
                        </a:cubicBezTo>
                        <a:lnTo>
                          <a:pt x="21600" y="21600"/>
                        </a:lnTo>
                        <a:lnTo>
                          <a:pt x="571" y="26534"/>
                        </a:lnTo>
                        <a:close/>
                      </a:path>
                    </a:pathLst>
                  </a:custGeom>
                  <a:solidFill>
                    <a:srgbClr val="7F3F00"/>
                  </a:solidFill>
                  <a:ln w="7938">
                    <a:solidFill>
                      <a:srgbClr val="000000"/>
                    </a:solidFill>
                    <a:round/>
                    <a:headEnd/>
                    <a:tailEnd/>
                  </a:ln>
                </p:spPr>
                <p:txBody>
                  <a:bodyPr/>
                  <a:lstStyle/>
                  <a:p>
                    <a:endParaRPr lang="zh-CN" altLang="en-US"/>
                  </a:p>
                </p:txBody>
              </p:sp>
            </p:grpSp>
            <p:grpSp>
              <p:nvGrpSpPr>
                <p:cNvPr id="13" name="Group 37"/>
                <p:cNvGrpSpPr>
                  <a:grpSpLocks/>
                </p:cNvGrpSpPr>
                <p:nvPr/>
              </p:nvGrpSpPr>
              <p:grpSpPr bwMode="auto">
                <a:xfrm>
                  <a:off x="2815" y="3623"/>
                  <a:ext cx="117" cy="76"/>
                  <a:chOff x="2815" y="3623"/>
                  <a:chExt cx="117" cy="76"/>
                </a:xfrm>
              </p:grpSpPr>
              <p:grpSp>
                <p:nvGrpSpPr>
                  <p:cNvPr id="14" name="Group 38"/>
                  <p:cNvGrpSpPr>
                    <a:grpSpLocks/>
                  </p:cNvGrpSpPr>
                  <p:nvPr/>
                </p:nvGrpSpPr>
                <p:grpSpPr bwMode="auto">
                  <a:xfrm>
                    <a:off x="2815" y="3623"/>
                    <a:ext cx="111" cy="64"/>
                    <a:chOff x="2815" y="3623"/>
                    <a:chExt cx="111" cy="64"/>
                  </a:xfrm>
                </p:grpSpPr>
                <p:sp>
                  <p:nvSpPr>
                    <p:cNvPr id="45092" name="Arc 39"/>
                    <p:cNvSpPr>
                      <a:spLocks/>
                    </p:cNvSpPr>
                    <p:nvPr/>
                  </p:nvSpPr>
                  <p:spPr bwMode="auto">
                    <a:xfrm>
                      <a:off x="2815" y="3623"/>
                      <a:ext cx="111" cy="64"/>
                    </a:xfrm>
                    <a:custGeom>
                      <a:avLst/>
                      <a:gdLst>
                        <a:gd name="T0" fmla="*/ 0 w 42628"/>
                        <a:gd name="T1" fmla="*/ 0 h 26145"/>
                        <a:gd name="T2" fmla="*/ 0 w 42628"/>
                        <a:gd name="T3" fmla="*/ 0 h 26145"/>
                        <a:gd name="T4" fmla="*/ 0 w 42628"/>
                        <a:gd name="T5" fmla="*/ 0 h 26145"/>
                        <a:gd name="T6" fmla="*/ 0 60000 65536"/>
                        <a:gd name="T7" fmla="*/ 0 60000 65536"/>
                        <a:gd name="T8" fmla="*/ 0 60000 65536"/>
                        <a:gd name="T9" fmla="*/ 0 w 42628"/>
                        <a:gd name="T10" fmla="*/ 0 h 26145"/>
                        <a:gd name="T11" fmla="*/ 42628 w 42628"/>
                        <a:gd name="T12" fmla="*/ 26145 h 26145"/>
                      </a:gdLst>
                      <a:ahLst/>
                      <a:cxnLst>
                        <a:cxn ang="T6">
                          <a:pos x="T0" y="T1"/>
                        </a:cxn>
                        <a:cxn ang="T7">
                          <a:pos x="T2" y="T3"/>
                        </a:cxn>
                        <a:cxn ang="T8">
                          <a:pos x="T4" y="T5"/>
                        </a:cxn>
                      </a:cxnLst>
                      <a:rect l="T9" t="T10" r="T11" b="T12"/>
                      <a:pathLst>
                        <a:path w="42628" h="26145" fill="none" extrusionOk="0">
                          <a:moveTo>
                            <a:pt x="483" y="26145"/>
                          </a:moveTo>
                          <a:cubicBezTo>
                            <a:pt x="162" y="24651"/>
                            <a:pt x="0" y="23127"/>
                            <a:pt x="0" y="21600"/>
                          </a:cubicBezTo>
                          <a:cubicBezTo>
                            <a:pt x="0" y="9670"/>
                            <a:pt x="9670" y="0"/>
                            <a:pt x="21600" y="0"/>
                          </a:cubicBezTo>
                          <a:cubicBezTo>
                            <a:pt x="31627" y="-1"/>
                            <a:pt x="40336" y="6900"/>
                            <a:pt x="42628" y="16662"/>
                          </a:cubicBezTo>
                        </a:path>
                        <a:path w="42628" h="26145" stroke="0" extrusionOk="0">
                          <a:moveTo>
                            <a:pt x="483" y="26145"/>
                          </a:moveTo>
                          <a:cubicBezTo>
                            <a:pt x="162" y="24651"/>
                            <a:pt x="0" y="23127"/>
                            <a:pt x="0" y="21600"/>
                          </a:cubicBezTo>
                          <a:cubicBezTo>
                            <a:pt x="0" y="9670"/>
                            <a:pt x="9670" y="0"/>
                            <a:pt x="21600" y="0"/>
                          </a:cubicBezTo>
                          <a:cubicBezTo>
                            <a:pt x="31627" y="-1"/>
                            <a:pt x="40336" y="6900"/>
                            <a:pt x="42628" y="16662"/>
                          </a:cubicBezTo>
                          <a:lnTo>
                            <a:pt x="21600" y="21600"/>
                          </a:lnTo>
                          <a:lnTo>
                            <a:pt x="483" y="26145"/>
                          </a:lnTo>
                          <a:close/>
                        </a:path>
                      </a:pathLst>
                    </a:custGeom>
                    <a:solidFill>
                      <a:srgbClr val="5F3F1F"/>
                    </a:solidFill>
                    <a:ln w="9525">
                      <a:noFill/>
                      <a:round/>
                      <a:headEnd/>
                      <a:tailEnd/>
                    </a:ln>
                  </p:spPr>
                  <p:txBody>
                    <a:bodyPr/>
                    <a:lstStyle/>
                    <a:p>
                      <a:endParaRPr lang="zh-CN" altLang="en-US"/>
                    </a:p>
                  </p:txBody>
                </p:sp>
                <p:sp>
                  <p:nvSpPr>
                    <p:cNvPr id="45093" name="Arc 40"/>
                    <p:cNvSpPr>
                      <a:spLocks/>
                    </p:cNvSpPr>
                    <p:nvPr/>
                  </p:nvSpPr>
                  <p:spPr bwMode="auto">
                    <a:xfrm>
                      <a:off x="2815" y="3630"/>
                      <a:ext cx="56" cy="57"/>
                    </a:xfrm>
                    <a:custGeom>
                      <a:avLst/>
                      <a:gdLst>
                        <a:gd name="T0" fmla="*/ 0 w 21600"/>
                        <a:gd name="T1" fmla="*/ 0 h 23427"/>
                        <a:gd name="T2" fmla="*/ 0 w 21600"/>
                        <a:gd name="T3" fmla="*/ 0 h 23427"/>
                        <a:gd name="T4" fmla="*/ 0 w 21600"/>
                        <a:gd name="T5" fmla="*/ 0 h 23427"/>
                        <a:gd name="T6" fmla="*/ 0 60000 65536"/>
                        <a:gd name="T7" fmla="*/ 0 60000 65536"/>
                        <a:gd name="T8" fmla="*/ 0 60000 65536"/>
                        <a:gd name="T9" fmla="*/ 0 w 21600"/>
                        <a:gd name="T10" fmla="*/ 0 h 23427"/>
                        <a:gd name="T11" fmla="*/ 21600 w 21600"/>
                        <a:gd name="T12" fmla="*/ 23427 h 23427"/>
                      </a:gdLst>
                      <a:ahLst/>
                      <a:cxnLst>
                        <a:cxn ang="T6">
                          <a:pos x="T0" y="T1"/>
                        </a:cxn>
                        <a:cxn ang="T7">
                          <a:pos x="T2" y="T3"/>
                        </a:cxn>
                        <a:cxn ang="T8">
                          <a:pos x="T4" y="T5"/>
                        </a:cxn>
                      </a:cxnLst>
                      <a:rect l="T9" t="T10" r="T11" b="T12"/>
                      <a:pathLst>
                        <a:path w="21600" h="23427" fill="none" extrusionOk="0">
                          <a:moveTo>
                            <a:pt x="483" y="23427"/>
                          </a:moveTo>
                          <a:cubicBezTo>
                            <a:pt x="162" y="21933"/>
                            <a:pt x="0" y="20409"/>
                            <a:pt x="0" y="18882"/>
                          </a:cubicBezTo>
                          <a:cubicBezTo>
                            <a:pt x="-1" y="11037"/>
                            <a:pt x="4253" y="3809"/>
                            <a:pt x="11110" y="-1"/>
                          </a:cubicBezTo>
                        </a:path>
                        <a:path w="21600" h="23427" stroke="0" extrusionOk="0">
                          <a:moveTo>
                            <a:pt x="483" y="23427"/>
                          </a:moveTo>
                          <a:cubicBezTo>
                            <a:pt x="162" y="21933"/>
                            <a:pt x="0" y="20409"/>
                            <a:pt x="0" y="18882"/>
                          </a:cubicBezTo>
                          <a:cubicBezTo>
                            <a:pt x="-1" y="11037"/>
                            <a:pt x="4253" y="3809"/>
                            <a:pt x="11110" y="-1"/>
                          </a:cubicBezTo>
                          <a:lnTo>
                            <a:pt x="21600" y="18882"/>
                          </a:lnTo>
                          <a:lnTo>
                            <a:pt x="483" y="23427"/>
                          </a:lnTo>
                          <a:close/>
                        </a:path>
                      </a:pathLst>
                    </a:custGeom>
                    <a:solidFill>
                      <a:srgbClr val="3F1F00"/>
                    </a:solidFill>
                    <a:ln w="9525">
                      <a:noFill/>
                      <a:round/>
                      <a:headEnd/>
                      <a:tailEnd/>
                    </a:ln>
                  </p:spPr>
                  <p:txBody>
                    <a:bodyPr/>
                    <a:lstStyle/>
                    <a:p>
                      <a:endParaRPr lang="zh-CN" altLang="en-US"/>
                    </a:p>
                  </p:txBody>
                </p:sp>
                <p:sp>
                  <p:nvSpPr>
                    <p:cNvPr id="45094" name="Arc 41"/>
                    <p:cNvSpPr>
                      <a:spLocks/>
                    </p:cNvSpPr>
                    <p:nvPr/>
                  </p:nvSpPr>
                  <p:spPr bwMode="auto">
                    <a:xfrm>
                      <a:off x="2815" y="3623"/>
                      <a:ext cx="111" cy="64"/>
                    </a:xfrm>
                    <a:custGeom>
                      <a:avLst/>
                      <a:gdLst>
                        <a:gd name="T0" fmla="*/ 0 w 42497"/>
                        <a:gd name="T1" fmla="*/ 0 h 26104"/>
                        <a:gd name="T2" fmla="*/ 0 w 42497"/>
                        <a:gd name="T3" fmla="*/ 0 h 26104"/>
                        <a:gd name="T4" fmla="*/ 0 w 42497"/>
                        <a:gd name="T5" fmla="*/ 0 h 26104"/>
                        <a:gd name="T6" fmla="*/ 0 60000 65536"/>
                        <a:gd name="T7" fmla="*/ 0 60000 65536"/>
                        <a:gd name="T8" fmla="*/ 0 60000 65536"/>
                        <a:gd name="T9" fmla="*/ 0 w 42497"/>
                        <a:gd name="T10" fmla="*/ 0 h 26104"/>
                        <a:gd name="T11" fmla="*/ 42497 w 42497"/>
                        <a:gd name="T12" fmla="*/ 26104 h 26104"/>
                      </a:gdLst>
                      <a:ahLst/>
                      <a:cxnLst>
                        <a:cxn ang="T6">
                          <a:pos x="T0" y="T1"/>
                        </a:cxn>
                        <a:cxn ang="T7">
                          <a:pos x="T2" y="T3"/>
                        </a:cxn>
                        <a:cxn ang="T8">
                          <a:pos x="T4" y="T5"/>
                        </a:cxn>
                      </a:cxnLst>
                      <a:rect l="T9" t="T10" r="T11" b="T12"/>
                      <a:pathLst>
                        <a:path w="42497" h="26104" fill="none" extrusionOk="0">
                          <a:moveTo>
                            <a:pt x="474" y="26104"/>
                          </a:moveTo>
                          <a:cubicBezTo>
                            <a:pt x="159" y="24623"/>
                            <a:pt x="0" y="23113"/>
                            <a:pt x="0" y="21600"/>
                          </a:cubicBezTo>
                          <a:cubicBezTo>
                            <a:pt x="0" y="9670"/>
                            <a:pt x="9670" y="0"/>
                            <a:pt x="21600" y="0"/>
                          </a:cubicBezTo>
                          <a:cubicBezTo>
                            <a:pt x="31424" y="-1"/>
                            <a:pt x="40012" y="6630"/>
                            <a:pt x="42497" y="16135"/>
                          </a:cubicBezTo>
                        </a:path>
                        <a:path w="42497" h="26104" stroke="0" extrusionOk="0">
                          <a:moveTo>
                            <a:pt x="474" y="26104"/>
                          </a:moveTo>
                          <a:cubicBezTo>
                            <a:pt x="159" y="24623"/>
                            <a:pt x="0" y="23113"/>
                            <a:pt x="0" y="21600"/>
                          </a:cubicBezTo>
                          <a:cubicBezTo>
                            <a:pt x="0" y="9670"/>
                            <a:pt x="9670" y="0"/>
                            <a:pt x="21600" y="0"/>
                          </a:cubicBezTo>
                          <a:cubicBezTo>
                            <a:pt x="31424" y="-1"/>
                            <a:pt x="40012" y="6630"/>
                            <a:pt x="42497" y="16135"/>
                          </a:cubicBezTo>
                          <a:lnTo>
                            <a:pt x="21600" y="21600"/>
                          </a:lnTo>
                          <a:lnTo>
                            <a:pt x="474" y="26104"/>
                          </a:lnTo>
                          <a:close/>
                        </a:path>
                      </a:pathLst>
                    </a:custGeom>
                    <a:noFill/>
                    <a:ln w="7938">
                      <a:solidFill>
                        <a:srgbClr val="000000"/>
                      </a:solidFill>
                      <a:round/>
                      <a:headEnd/>
                      <a:tailEnd/>
                    </a:ln>
                  </p:spPr>
                  <p:txBody>
                    <a:bodyPr/>
                    <a:lstStyle/>
                    <a:p>
                      <a:endParaRPr lang="zh-CN" altLang="en-US"/>
                    </a:p>
                  </p:txBody>
                </p:sp>
              </p:grpSp>
              <p:sp>
                <p:nvSpPr>
                  <p:cNvPr id="45091" name="Arc 42"/>
                  <p:cNvSpPr>
                    <a:spLocks/>
                  </p:cNvSpPr>
                  <p:nvPr/>
                </p:nvSpPr>
                <p:spPr bwMode="auto">
                  <a:xfrm>
                    <a:off x="2820" y="3634"/>
                    <a:ext cx="112" cy="65"/>
                  </a:xfrm>
                  <a:custGeom>
                    <a:avLst/>
                    <a:gdLst>
                      <a:gd name="T0" fmla="*/ 0 w 42523"/>
                      <a:gd name="T1" fmla="*/ 0 h 26181"/>
                      <a:gd name="T2" fmla="*/ 0 w 42523"/>
                      <a:gd name="T3" fmla="*/ 0 h 26181"/>
                      <a:gd name="T4" fmla="*/ 0 w 42523"/>
                      <a:gd name="T5" fmla="*/ 0 h 26181"/>
                      <a:gd name="T6" fmla="*/ 0 60000 65536"/>
                      <a:gd name="T7" fmla="*/ 0 60000 65536"/>
                      <a:gd name="T8" fmla="*/ 0 60000 65536"/>
                      <a:gd name="T9" fmla="*/ 0 w 42523"/>
                      <a:gd name="T10" fmla="*/ 0 h 26181"/>
                      <a:gd name="T11" fmla="*/ 42523 w 42523"/>
                      <a:gd name="T12" fmla="*/ 26181 h 26181"/>
                    </a:gdLst>
                    <a:ahLst/>
                    <a:cxnLst>
                      <a:cxn ang="T6">
                        <a:pos x="T0" y="T1"/>
                      </a:cxn>
                      <a:cxn ang="T7">
                        <a:pos x="T2" y="T3"/>
                      </a:cxn>
                      <a:cxn ang="T8">
                        <a:pos x="T4" y="T5"/>
                      </a:cxn>
                    </a:cxnLst>
                    <a:rect l="T9" t="T10" r="T11" b="T12"/>
                    <a:pathLst>
                      <a:path w="42523" h="26181" fill="none" extrusionOk="0">
                        <a:moveTo>
                          <a:pt x="491" y="26180"/>
                        </a:moveTo>
                        <a:cubicBezTo>
                          <a:pt x="164" y="24675"/>
                          <a:pt x="0" y="23140"/>
                          <a:pt x="0" y="21600"/>
                        </a:cubicBezTo>
                        <a:cubicBezTo>
                          <a:pt x="0" y="9670"/>
                          <a:pt x="9670" y="0"/>
                          <a:pt x="21600" y="0"/>
                        </a:cubicBezTo>
                        <a:cubicBezTo>
                          <a:pt x="31462" y="-1"/>
                          <a:pt x="40072" y="6680"/>
                          <a:pt x="42522" y="16234"/>
                        </a:cubicBezTo>
                      </a:path>
                      <a:path w="42523" h="26181" stroke="0" extrusionOk="0">
                        <a:moveTo>
                          <a:pt x="491" y="26180"/>
                        </a:moveTo>
                        <a:cubicBezTo>
                          <a:pt x="164" y="24675"/>
                          <a:pt x="0" y="23140"/>
                          <a:pt x="0" y="21600"/>
                        </a:cubicBezTo>
                        <a:cubicBezTo>
                          <a:pt x="0" y="9670"/>
                          <a:pt x="9670" y="0"/>
                          <a:pt x="21600" y="0"/>
                        </a:cubicBezTo>
                        <a:cubicBezTo>
                          <a:pt x="31462" y="-1"/>
                          <a:pt x="40072" y="6680"/>
                          <a:pt x="42522" y="16234"/>
                        </a:cubicBezTo>
                        <a:lnTo>
                          <a:pt x="21600" y="21600"/>
                        </a:lnTo>
                        <a:lnTo>
                          <a:pt x="491" y="26180"/>
                        </a:lnTo>
                        <a:close/>
                      </a:path>
                    </a:pathLst>
                  </a:custGeom>
                  <a:solidFill>
                    <a:srgbClr val="7F3F00"/>
                  </a:solidFill>
                  <a:ln w="7938">
                    <a:solidFill>
                      <a:srgbClr val="000000"/>
                    </a:solidFill>
                    <a:round/>
                    <a:headEnd/>
                    <a:tailEnd/>
                  </a:ln>
                </p:spPr>
                <p:txBody>
                  <a:bodyPr/>
                  <a:lstStyle/>
                  <a:p>
                    <a:endParaRPr lang="zh-CN" altLang="en-US"/>
                  </a:p>
                </p:txBody>
              </p:sp>
            </p:grpSp>
            <p:grpSp>
              <p:nvGrpSpPr>
                <p:cNvPr id="15" name="Group 43"/>
                <p:cNvGrpSpPr>
                  <a:grpSpLocks/>
                </p:cNvGrpSpPr>
                <p:nvPr/>
              </p:nvGrpSpPr>
              <p:grpSpPr bwMode="auto">
                <a:xfrm>
                  <a:off x="2826" y="3644"/>
                  <a:ext cx="111" cy="63"/>
                  <a:chOff x="2826" y="3644"/>
                  <a:chExt cx="111" cy="63"/>
                </a:xfrm>
              </p:grpSpPr>
              <p:sp>
                <p:nvSpPr>
                  <p:cNvPr id="45088" name="Arc 44"/>
                  <p:cNvSpPr>
                    <a:spLocks/>
                  </p:cNvSpPr>
                  <p:nvPr/>
                </p:nvSpPr>
                <p:spPr bwMode="auto">
                  <a:xfrm>
                    <a:off x="2826" y="3644"/>
                    <a:ext cx="111" cy="63"/>
                  </a:xfrm>
                  <a:custGeom>
                    <a:avLst/>
                    <a:gdLst>
                      <a:gd name="T0" fmla="*/ 0 w 42608"/>
                      <a:gd name="T1" fmla="*/ 0 h 25748"/>
                      <a:gd name="T2" fmla="*/ 0 w 42608"/>
                      <a:gd name="T3" fmla="*/ 0 h 25748"/>
                      <a:gd name="T4" fmla="*/ 0 w 42608"/>
                      <a:gd name="T5" fmla="*/ 0 h 25748"/>
                      <a:gd name="T6" fmla="*/ 0 60000 65536"/>
                      <a:gd name="T7" fmla="*/ 0 60000 65536"/>
                      <a:gd name="T8" fmla="*/ 0 60000 65536"/>
                      <a:gd name="T9" fmla="*/ 0 w 42608"/>
                      <a:gd name="T10" fmla="*/ 0 h 25748"/>
                      <a:gd name="T11" fmla="*/ 42608 w 42608"/>
                      <a:gd name="T12" fmla="*/ 25748 h 25748"/>
                    </a:gdLst>
                    <a:ahLst/>
                    <a:cxnLst>
                      <a:cxn ang="T6">
                        <a:pos x="T0" y="T1"/>
                      </a:cxn>
                      <a:cxn ang="T7">
                        <a:pos x="T2" y="T3"/>
                      </a:cxn>
                      <a:cxn ang="T8">
                        <a:pos x="T4" y="T5"/>
                      </a:cxn>
                    </a:cxnLst>
                    <a:rect l="T9" t="T10" r="T11" b="T12"/>
                    <a:pathLst>
                      <a:path w="42608" h="25748" fill="none" extrusionOk="0">
                        <a:moveTo>
                          <a:pt x="402" y="25747"/>
                        </a:moveTo>
                        <a:cubicBezTo>
                          <a:pt x="134" y="24381"/>
                          <a:pt x="0" y="22992"/>
                          <a:pt x="0" y="21600"/>
                        </a:cubicBezTo>
                        <a:cubicBezTo>
                          <a:pt x="0" y="9670"/>
                          <a:pt x="9670" y="0"/>
                          <a:pt x="21600" y="0"/>
                        </a:cubicBezTo>
                        <a:cubicBezTo>
                          <a:pt x="31594" y="-1"/>
                          <a:pt x="40283" y="6856"/>
                          <a:pt x="42607" y="16576"/>
                        </a:cubicBezTo>
                      </a:path>
                      <a:path w="42608" h="25748" stroke="0" extrusionOk="0">
                        <a:moveTo>
                          <a:pt x="402" y="25747"/>
                        </a:moveTo>
                        <a:cubicBezTo>
                          <a:pt x="134" y="24381"/>
                          <a:pt x="0" y="22992"/>
                          <a:pt x="0" y="21600"/>
                        </a:cubicBezTo>
                        <a:cubicBezTo>
                          <a:pt x="0" y="9670"/>
                          <a:pt x="9670" y="0"/>
                          <a:pt x="21600" y="0"/>
                        </a:cubicBezTo>
                        <a:cubicBezTo>
                          <a:pt x="31594" y="-1"/>
                          <a:pt x="40283" y="6856"/>
                          <a:pt x="42607" y="16576"/>
                        </a:cubicBezTo>
                        <a:lnTo>
                          <a:pt x="21600" y="21600"/>
                        </a:lnTo>
                        <a:lnTo>
                          <a:pt x="402" y="25747"/>
                        </a:lnTo>
                        <a:close/>
                      </a:path>
                    </a:pathLst>
                  </a:custGeom>
                  <a:solidFill>
                    <a:srgbClr val="5F3F1F"/>
                  </a:solidFill>
                  <a:ln w="9525">
                    <a:noFill/>
                    <a:round/>
                    <a:headEnd/>
                    <a:tailEnd/>
                  </a:ln>
                </p:spPr>
                <p:txBody>
                  <a:bodyPr/>
                  <a:lstStyle/>
                  <a:p>
                    <a:endParaRPr lang="zh-CN" altLang="en-US"/>
                  </a:p>
                </p:txBody>
              </p:sp>
              <p:sp>
                <p:nvSpPr>
                  <p:cNvPr id="45089" name="Arc 45"/>
                  <p:cNvSpPr>
                    <a:spLocks/>
                  </p:cNvSpPr>
                  <p:nvPr/>
                </p:nvSpPr>
                <p:spPr bwMode="auto">
                  <a:xfrm>
                    <a:off x="2826" y="3651"/>
                    <a:ext cx="57" cy="56"/>
                  </a:xfrm>
                  <a:custGeom>
                    <a:avLst/>
                    <a:gdLst>
                      <a:gd name="T0" fmla="*/ 0 w 21600"/>
                      <a:gd name="T1" fmla="*/ 0 h 23111"/>
                      <a:gd name="T2" fmla="*/ 0 w 21600"/>
                      <a:gd name="T3" fmla="*/ 0 h 23111"/>
                      <a:gd name="T4" fmla="*/ 0 w 21600"/>
                      <a:gd name="T5" fmla="*/ 0 h 23111"/>
                      <a:gd name="T6" fmla="*/ 0 60000 65536"/>
                      <a:gd name="T7" fmla="*/ 0 60000 65536"/>
                      <a:gd name="T8" fmla="*/ 0 60000 65536"/>
                      <a:gd name="T9" fmla="*/ 0 w 21600"/>
                      <a:gd name="T10" fmla="*/ 0 h 23111"/>
                      <a:gd name="T11" fmla="*/ 21600 w 21600"/>
                      <a:gd name="T12" fmla="*/ 23111 h 23111"/>
                    </a:gdLst>
                    <a:ahLst/>
                    <a:cxnLst>
                      <a:cxn ang="T6">
                        <a:pos x="T0" y="T1"/>
                      </a:cxn>
                      <a:cxn ang="T7">
                        <a:pos x="T2" y="T3"/>
                      </a:cxn>
                      <a:cxn ang="T8">
                        <a:pos x="T4" y="T5"/>
                      </a:cxn>
                    </a:cxnLst>
                    <a:rect l="T9" t="T10" r="T11" b="T12"/>
                    <a:pathLst>
                      <a:path w="21600" h="23111" fill="none" extrusionOk="0">
                        <a:moveTo>
                          <a:pt x="402" y="23110"/>
                        </a:moveTo>
                        <a:cubicBezTo>
                          <a:pt x="134" y="21744"/>
                          <a:pt x="0" y="20355"/>
                          <a:pt x="0" y="18963"/>
                        </a:cubicBezTo>
                        <a:cubicBezTo>
                          <a:pt x="-1" y="11058"/>
                          <a:pt x="4318" y="3784"/>
                          <a:pt x="11257" y="-1"/>
                        </a:cubicBezTo>
                      </a:path>
                      <a:path w="21600" h="23111" stroke="0" extrusionOk="0">
                        <a:moveTo>
                          <a:pt x="402" y="23110"/>
                        </a:moveTo>
                        <a:cubicBezTo>
                          <a:pt x="134" y="21744"/>
                          <a:pt x="0" y="20355"/>
                          <a:pt x="0" y="18963"/>
                        </a:cubicBezTo>
                        <a:cubicBezTo>
                          <a:pt x="-1" y="11058"/>
                          <a:pt x="4318" y="3784"/>
                          <a:pt x="11257" y="-1"/>
                        </a:cubicBezTo>
                        <a:lnTo>
                          <a:pt x="21600" y="18963"/>
                        </a:lnTo>
                        <a:lnTo>
                          <a:pt x="402" y="23110"/>
                        </a:lnTo>
                        <a:close/>
                      </a:path>
                    </a:pathLst>
                  </a:custGeom>
                  <a:solidFill>
                    <a:srgbClr val="3F1F00"/>
                  </a:solidFill>
                  <a:ln w="9525">
                    <a:noFill/>
                    <a:round/>
                    <a:headEnd/>
                    <a:tailEnd/>
                  </a:ln>
                </p:spPr>
                <p:txBody>
                  <a:bodyPr/>
                  <a:lstStyle/>
                  <a:p>
                    <a:endParaRPr lang="zh-CN" altLang="en-US"/>
                  </a:p>
                </p:txBody>
              </p:sp>
            </p:grpSp>
            <p:grpSp>
              <p:nvGrpSpPr>
                <p:cNvPr id="16" name="Group 46"/>
                <p:cNvGrpSpPr>
                  <a:grpSpLocks/>
                </p:cNvGrpSpPr>
                <p:nvPr/>
              </p:nvGrpSpPr>
              <p:grpSpPr bwMode="auto">
                <a:xfrm>
                  <a:off x="2826" y="3643"/>
                  <a:ext cx="118" cy="76"/>
                  <a:chOff x="2826" y="3643"/>
                  <a:chExt cx="118" cy="76"/>
                </a:xfrm>
              </p:grpSpPr>
              <p:sp>
                <p:nvSpPr>
                  <p:cNvPr id="45086" name="Arc 47"/>
                  <p:cNvSpPr>
                    <a:spLocks/>
                  </p:cNvSpPr>
                  <p:nvPr/>
                </p:nvSpPr>
                <p:spPr bwMode="auto">
                  <a:xfrm>
                    <a:off x="2826" y="3643"/>
                    <a:ext cx="112" cy="64"/>
                  </a:xfrm>
                  <a:custGeom>
                    <a:avLst/>
                    <a:gdLst>
                      <a:gd name="T0" fmla="*/ 0 w 42523"/>
                      <a:gd name="T1" fmla="*/ 0 h 25781"/>
                      <a:gd name="T2" fmla="*/ 0 w 42523"/>
                      <a:gd name="T3" fmla="*/ 0 h 25781"/>
                      <a:gd name="T4" fmla="*/ 0 w 42523"/>
                      <a:gd name="T5" fmla="*/ 0 h 25781"/>
                      <a:gd name="T6" fmla="*/ 0 60000 65536"/>
                      <a:gd name="T7" fmla="*/ 0 60000 65536"/>
                      <a:gd name="T8" fmla="*/ 0 60000 65536"/>
                      <a:gd name="T9" fmla="*/ 0 w 42523"/>
                      <a:gd name="T10" fmla="*/ 0 h 25781"/>
                      <a:gd name="T11" fmla="*/ 42523 w 42523"/>
                      <a:gd name="T12" fmla="*/ 25781 h 25781"/>
                    </a:gdLst>
                    <a:ahLst/>
                    <a:cxnLst>
                      <a:cxn ang="T6">
                        <a:pos x="T0" y="T1"/>
                      </a:cxn>
                      <a:cxn ang="T7">
                        <a:pos x="T2" y="T3"/>
                      </a:cxn>
                      <a:cxn ang="T8">
                        <a:pos x="T4" y="T5"/>
                      </a:cxn>
                    </a:cxnLst>
                    <a:rect l="T9" t="T10" r="T11" b="T12"/>
                    <a:pathLst>
                      <a:path w="42523" h="25781" fill="none" extrusionOk="0">
                        <a:moveTo>
                          <a:pt x="408" y="25781"/>
                        </a:moveTo>
                        <a:cubicBezTo>
                          <a:pt x="136" y="24403"/>
                          <a:pt x="0" y="23003"/>
                          <a:pt x="0" y="21600"/>
                        </a:cubicBezTo>
                        <a:cubicBezTo>
                          <a:pt x="0" y="9670"/>
                          <a:pt x="9670" y="0"/>
                          <a:pt x="21600" y="0"/>
                        </a:cubicBezTo>
                        <a:cubicBezTo>
                          <a:pt x="31462" y="-1"/>
                          <a:pt x="40072" y="6680"/>
                          <a:pt x="42522" y="16234"/>
                        </a:cubicBezTo>
                      </a:path>
                      <a:path w="42523" h="25781" stroke="0" extrusionOk="0">
                        <a:moveTo>
                          <a:pt x="408" y="25781"/>
                        </a:moveTo>
                        <a:cubicBezTo>
                          <a:pt x="136" y="24403"/>
                          <a:pt x="0" y="23003"/>
                          <a:pt x="0" y="21600"/>
                        </a:cubicBezTo>
                        <a:cubicBezTo>
                          <a:pt x="0" y="9670"/>
                          <a:pt x="9670" y="0"/>
                          <a:pt x="21600" y="0"/>
                        </a:cubicBezTo>
                        <a:cubicBezTo>
                          <a:pt x="31462" y="-1"/>
                          <a:pt x="40072" y="6680"/>
                          <a:pt x="42522" y="16234"/>
                        </a:cubicBezTo>
                        <a:lnTo>
                          <a:pt x="21600" y="21600"/>
                        </a:lnTo>
                        <a:lnTo>
                          <a:pt x="408" y="25781"/>
                        </a:lnTo>
                        <a:close/>
                      </a:path>
                    </a:pathLst>
                  </a:custGeom>
                  <a:noFill/>
                  <a:ln w="7938">
                    <a:solidFill>
                      <a:srgbClr val="000000"/>
                    </a:solidFill>
                    <a:round/>
                    <a:headEnd/>
                    <a:tailEnd/>
                  </a:ln>
                </p:spPr>
                <p:txBody>
                  <a:bodyPr/>
                  <a:lstStyle/>
                  <a:p>
                    <a:endParaRPr lang="zh-CN" altLang="en-US"/>
                  </a:p>
                </p:txBody>
              </p:sp>
              <p:sp>
                <p:nvSpPr>
                  <p:cNvPr id="45087" name="Arc 48"/>
                  <p:cNvSpPr>
                    <a:spLocks/>
                  </p:cNvSpPr>
                  <p:nvPr/>
                </p:nvSpPr>
                <p:spPr bwMode="auto">
                  <a:xfrm>
                    <a:off x="2832" y="3655"/>
                    <a:ext cx="112" cy="64"/>
                  </a:xfrm>
                  <a:custGeom>
                    <a:avLst/>
                    <a:gdLst>
                      <a:gd name="T0" fmla="*/ 0 w 42608"/>
                      <a:gd name="T1" fmla="*/ 0 h 26222"/>
                      <a:gd name="T2" fmla="*/ 0 w 42608"/>
                      <a:gd name="T3" fmla="*/ 0 h 26222"/>
                      <a:gd name="T4" fmla="*/ 0 w 42608"/>
                      <a:gd name="T5" fmla="*/ 0 h 26222"/>
                      <a:gd name="T6" fmla="*/ 0 60000 65536"/>
                      <a:gd name="T7" fmla="*/ 0 60000 65536"/>
                      <a:gd name="T8" fmla="*/ 0 60000 65536"/>
                      <a:gd name="T9" fmla="*/ 0 w 42608"/>
                      <a:gd name="T10" fmla="*/ 0 h 26222"/>
                      <a:gd name="T11" fmla="*/ 42608 w 42608"/>
                      <a:gd name="T12" fmla="*/ 26222 h 26222"/>
                    </a:gdLst>
                    <a:ahLst/>
                    <a:cxnLst>
                      <a:cxn ang="T6">
                        <a:pos x="T0" y="T1"/>
                      </a:cxn>
                      <a:cxn ang="T7">
                        <a:pos x="T2" y="T3"/>
                      </a:cxn>
                      <a:cxn ang="T8">
                        <a:pos x="T4" y="T5"/>
                      </a:cxn>
                    </a:cxnLst>
                    <a:rect l="T9" t="T10" r="T11" b="T12"/>
                    <a:pathLst>
                      <a:path w="42608" h="26222" fill="none" extrusionOk="0">
                        <a:moveTo>
                          <a:pt x="500" y="26221"/>
                        </a:moveTo>
                        <a:cubicBezTo>
                          <a:pt x="167" y="24703"/>
                          <a:pt x="0" y="23154"/>
                          <a:pt x="0" y="21600"/>
                        </a:cubicBezTo>
                        <a:cubicBezTo>
                          <a:pt x="0" y="9670"/>
                          <a:pt x="9670" y="0"/>
                          <a:pt x="21600" y="0"/>
                        </a:cubicBezTo>
                        <a:cubicBezTo>
                          <a:pt x="31595" y="-1"/>
                          <a:pt x="40284" y="6857"/>
                          <a:pt x="42608" y="16578"/>
                        </a:cubicBezTo>
                      </a:path>
                      <a:path w="42608" h="26222" stroke="0" extrusionOk="0">
                        <a:moveTo>
                          <a:pt x="500" y="26221"/>
                        </a:moveTo>
                        <a:cubicBezTo>
                          <a:pt x="167" y="24703"/>
                          <a:pt x="0" y="23154"/>
                          <a:pt x="0" y="21600"/>
                        </a:cubicBezTo>
                        <a:cubicBezTo>
                          <a:pt x="0" y="9670"/>
                          <a:pt x="9670" y="0"/>
                          <a:pt x="21600" y="0"/>
                        </a:cubicBezTo>
                        <a:cubicBezTo>
                          <a:pt x="31595" y="-1"/>
                          <a:pt x="40284" y="6857"/>
                          <a:pt x="42608" y="16578"/>
                        </a:cubicBezTo>
                        <a:lnTo>
                          <a:pt x="21600" y="21600"/>
                        </a:lnTo>
                        <a:lnTo>
                          <a:pt x="500" y="26221"/>
                        </a:lnTo>
                        <a:close/>
                      </a:path>
                    </a:pathLst>
                  </a:custGeom>
                  <a:solidFill>
                    <a:srgbClr val="7F3F00"/>
                  </a:solidFill>
                  <a:ln w="7938">
                    <a:solidFill>
                      <a:srgbClr val="000000"/>
                    </a:solidFill>
                    <a:round/>
                    <a:headEnd/>
                    <a:tailEnd/>
                  </a:ln>
                </p:spPr>
                <p:txBody>
                  <a:bodyPr/>
                  <a:lstStyle/>
                  <a:p>
                    <a:endParaRPr lang="zh-CN" altLang="en-US"/>
                  </a:p>
                </p:txBody>
              </p:sp>
            </p:grpSp>
            <p:grpSp>
              <p:nvGrpSpPr>
                <p:cNvPr id="17" name="Group 49"/>
                <p:cNvGrpSpPr>
                  <a:grpSpLocks/>
                </p:cNvGrpSpPr>
                <p:nvPr/>
              </p:nvGrpSpPr>
              <p:grpSpPr bwMode="auto">
                <a:xfrm>
                  <a:off x="2763" y="3550"/>
                  <a:ext cx="363" cy="522"/>
                  <a:chOff x="2763" y="3550"/>
                  <a:chExt cx="363" cy="522"/>
                </a:xfrm>
              </p:grpSpPr>
              <p:sp>
                <p:nvSpPr>
                  <p:cNvPr id="45084" name="Line 50"/>
                  <p:cNvSpPr>
                    <a:spLocks noChangeShapeType="1"/>
                  </p:cNvSpPr>
                  <p:nvPr/>
                </p:nvSpPr>
                <p:spPr bwMode="auto">
                  <a:xfrm>
                    <a:off x="2868" y="3550"/>
                    <a:ext cx="258" cy="464"/>
                  </a:xfrm>
                  <a:prstGeom prst="line">
                    <a:avLst/>
                  </a:prstGeom>
                  <a:noFill/>
                  <a:ln w="7938">
                    <a:solidFill>
                      <a:srgbClr val="000000"/>
                    </a:solidFill>
                    <a:round/>
                    <a:headEnd/>
                    <a:tailEnd/>
                  </a:ln>
                </p:spPr>
                <p:txBody>
                  <a:bodyPr/>
                  <a:lstStyle/>
                  <a:p>
                    <a:endParaRPr lang="zh-CN" altLang="en-US"/>
                  </a:p>
                </p:txBody>
              </p:sp>
              <p:sp>
                <p:nvSpPr>
                  <p:cNvPr id="45085" name="Line 51"/>
                  <p:cNvSpPr>
                    <a:spLocks noChangeShapeType="1"/>
                  </p:cNvSpPr>
                  <p:nvPr/>
                </p:nvSpPr>
                <p:spPr bwMode="auto">
                  <a:xfrm>
                    <a:off x="2763" y="3588"/>
                    <a:ext cx="258" cy="484"/>
                  </a:xfrm>
                  <a:prstGeom prst="line">
                    <a:avLst/>
                  </a:prstGeom>
                  <a:noFill/>
                  <a:ln w="7938">
                    <a:solidFill>
                      <a:srgbClr val="000000"/>
                    </a:solidFill>
                    <a:round/>
                    <a:headEnd/>
                    <a:tailEnd/>
                  </a:ln>
                </p:spPr>
                <p:txBody>
                  <a:bodyPr/>
                  <a:lstStyle/>
                  <a:p>
                    <a:endParaRPr lang="zh-CN" altLang="en-US"/>
                  </a:p>
                </p:txBody>
              </p:sp>
            </p:grpSp>
            <p:grpSp>
              <p:nvGrpSpPr>
                <p:cNvPr id="18" name="Group 52"/>
                <p:cNvGrpSpPr>
                  <a:grpSpLocks/>
                </p:cNvGrpSpPr>
                <p:nvPr/>
              </p:nvGrpSpPr>
              <p:grpSpPr bwMode="auto">
                <a:xfrm>
                  <a:off x="2838" y="3664"/>
                  <a:ext cx="116" cy="75"/>
                  <a:chOff x="2838" y="3664"/>
                  <a:chExt cx="116" cy="75"/>
                </a:xfrm>
              </p:grpSpPr>
              <p:grpSp>
                <p:nvGrpSpPr>
                  <p:cNvPr id="19" name="Group 53"/>
                  <p:cNvGrpSpPr>
                    <a:grpSpLocks/>
                  </p:cNvGrpSpPr>
                  <p:nvPr/>
                </p:nvGrpSpPr>
                <p:grpSpPr bwMode="auto">
                  <a:xfrm>
                    <a:off x="2838" y="3664"/>
                    <a:ext cx="111" cy="64"/>
                    <a:chOff x="2838" y="3664"/>
                    <a:chExt cx="111" cy="64"/>
                  </a:xfrm>
                </p:grpSpPr>
                <p:sp>
                  <p:nvSpPr>
                    <p:cNvPr id="45082" name="Arc 54"/>
                    <p:cNvSpPr>
                      <a:spLocks/>
                    </p:cNvSpPr>
                    <p:nvPr/>
                  </p:nvSpPr>
                  <p:spPr bwMode="auto">
                    <a:xfrm>
                      <a:off x="2838" y="3664"/>
                      <a:ext cx="111" cy="63"/>
                    </a:xfrm>
                    <a:custGeom>
                      <a:avLst/>
                      <a:gdLst>
                        <a:gd name="T0" fmla="*/ 0 w 42716"/>
                        <a:gd name="T1" fmla="*/ 0 h 25748"/>
                        <a:gd name="T2" fmla="*/ 0 w 42716"/>
                        <a:gd name="T3" fmla="*/ 0 h 25748"/>
                        <a:gd name="T4" fmla="*/ 0 w 42716"/>
                        <a:gd name="T5" fmla="*/ 0 h 25748"/>
                        <a:gd name="T6" fmla="*/ 0 60000 65536"/>
                        <a:gd name="T7" fmla="*/ 0 60000 65536"/>
                        <a:gd name="T8" fmla="*/ 0 60000 65536"/>
                        <a:gd name="T9" fmla="*/ 0 w 42716"/>
                        <a:gd name="T10" fmla="*/ 0 h 25748"/>
                        <a:gd name="T11" fmla="*/ 42716 w 42716"/>
                        <a:gd name="T12" fmla="*/ 25748 h 25748"/>
                      </a:gdLst>
                      <a:ahLst/>
                      <a:cxnLst>
                        <a:cxn ang="T6">
                          <a:pos x="T0" y="T1"/>
                        </a:cxn>
                        <a:cxn ang="T7">
                          <a:pos x="T2" y="T3"/>
                        </a:cxn>
                        <a:cxn ang="T8">
                          <a:pos x="T4" y="T5"/>
                        </a:cxn>
                      </a:cxnLst>
                      <a:rect l="T9" t="T10" r="T11" b="T12"/>
                      <a:pathLst>
                        <a:path w="42716" h="25748" fill="none" extrusionOk="0">
                          <a:moveTo>
                            <a:pt x="402" y="25747"/>
                          </a:moveTo>
                          <a:cubicBezTo>
                            <a:pt x="134" y="24381"/>
                            <a:pt x="0" y="22992"/>
                            <a:pt x="0" y="21600"/>
                          </a:cubicBezTo>
                          <a:cubicBezTo>
                            <a:pt x="0" y="9670"/>
                            <a:pt x="9670" y="0"/>
                            <a:pt x="21600" y="0"/>
                          </a:cubicBezTo>
                          <a:cubicBezTo>
                            <a:pt x="31777" y="-1"/>
                            <a:pt x="40574" y="7104"/>
                            <a:pt x="42716" y="17054"/>
                          </a:cubicBezTo>
                        </a:path>
                        <a:path w="42716" h="25748" stroke="0" extrusionOk="0">
                          <a:moveTo>
                            <a:pt x="402" y="25747"/>
                          </a:moveTo>
                          <a:cubicBezTo>
                            <a:pt x="134" y="24381"/>
                            <a:pt x="0" y="22992"/>
                            <a:pt x="0" y="21600"/>
                          </a:cubicBezTo>
                          <a:cubicBezTo>
                            <a:pt x="0" y="9670"/>
                            <a:pt x="9670" y="0"/>
                            <a:pt x="21600" y="0"/>
                          </a:cubicBezTo>
                          <a:cubicBezTo>
                            <a:pt x="31777" y="-1"/>
                            <a:pt x="40574" y="7104"/>
                            <a:pt x="42716" y="17054"/>
                          </a:cubicBezTo>
                          <a:lnTo>
                            <a:pt x="21600" y="21600"/>
                          </a:lnTo>
                          <a:lnTo>
                            <a:pt x="402" y="25747"/>
                          </a:lnTo>
                          <a:close/>
                        </a:path>
                      </a:pathLst>
                    </a:custGeom>
                    <a:solidFill>
                      <a:srgbClr val="5F3F1F"/>
                    </a:solidFill>
                    <a:ln w="9525">
                      <a:noFill/>
                      <a:round/>
                      <a:headEnd/>
                      <a:tailEnd/>
                    </a:ln>
                  </p:spPr>
                  <p:txBody>
                    <a:bodyPr/>
                    <a:lstStyle/>
                    <a:p>
                      <a:endParaRPr lang="zh-CN" altLang="en-US"/>
                    </a:p>
                  </p:txBody>
                </p:sp>
                <p:sp>
                  <p:nvSpPr>
                    <p:cNvPr id="45083" name="Arc 55"/>
                    <p:cNvSpPr>
                      <a:spLocks/>
                    </p:cNvSpPr>
                    <p:nvPr/>
                  </p:nvSpPr>
                  <p:spPr bwMode="auto">
                    <a:xfrm>
                      <a:off x="2838" y="3671"/>
                      <a:ext cx="56" cy="57"/>
                    </a:xfrm>
                    <a:custGeom>
                      <a:avLst/>
                      <a:gdLst>
                        <a:gd name="T0" fmla="*/ 0 w 21600"/>
                        <a:gd name="T1" fmla="*/ 0 h 23030"/>
                        <a:gd name="T2" fmla="*/ 0 w 21600"/>
                        <a:gd name="T3" fmla="*/ 0 h 23030"/>
                        <a:gd name="T4" fmla="*/ 0 w 21600"/>
                        <a:gd name="T5" fmla="*/ 0 h 23030"/>
                        <a:gd name="T6" fmla="*/ 0 60000 65536"/>
                        <a:gd name="T7" fmla="*/ 0 60000 65536"/>
                        <a:gd name="T8" fmla="*/ 0 60000 65536"/>
                        <a:gd name="T9" fmla="*/ 0 w 21600"/>
                        <a:gd name="T10" fmla="*/ 0 h 23030"/>
                        <a:gd name="T11" fmla="*/ 21600 w 21600"/>
                        <a:gd name="T12" fmla="*/ 23030 h 23030"/>
                      </a:gdLst>
                      <a:ahLst/>
                      <a:cxnLst>
                        <a:cxn ang="T6">
                          <a:pos x="T0" y="T1"/>
                        </a:cxn>
                        <a:cxn ang="T7">
                          <a:pos x="T2" y="T3"/>
                        </a:cxn>
                        <a:cxn ang="T8">
                          <a:pos x="T4" y="T5"/>
                        </a:cxn>
                      </a:cxnLst>
                      <a:rect l="T9" t="T10" r="T11" b="T12"/>
                      <a:pathLst>
                        <a:path w="21600" h="23030" fill="none" extrusionOk="0">
                          <a:moveTo>
                            <a:pt x="402" y="23029"/>
                          </a:moveTo>
                          <a:cubicBezTo>
                            <a:pt x="134" y="21663"/>
                            <a:pt x="0" y="20274"/>
                            <a:pt x="0" y="18882"/>
                          </a:cubicBezTo>
                          <a:cubicBezTo>
                            <a:pt x="-1" y="11037"/>
                            <a:pt x="4253" y="3809"/>
                            <a:pt x="11110" y="-1"/>
                          </a:cubicBezTo>
                        </a:path>
                        <a:path w="21600" h="23030" stroke="0" extrusionOk="0">
                          <a:moveTo>
                            <a:pt x="402" y="23029"/>
                          </a:moveTo>
                          <a:cubicBezTo>
                            <a:pt x="134" y="21663"/>
                            <a:pt x="0" y="20274"/>
                            <a:pt x="0" y="18882"/>
                          </a:cubicBezTo>
                          <a:cubicBezTo>
                            <a:pt x="-1" y="11037"/>
                            <a:pt x="4253" y="3809"/>
                            <a:pt x="11110" y="-1"/>
                          </a:cubicBezTo>
                          <a:lnTo>
                            <a:pt x="21600" y="18882"/>
                          </a:lnTo>
                          <a:lnTo>
                            <a:pt x="402" y="23029"/>
                          </a:lnTo>
                          <a:close/>
                        </a:path>
                      </a:pathLst>
                    </a:custGeom>
                    <a:solidFill>
                      <a:srgbClr val="3F1F00"/>
                    </a:solidFill>
                    <a:ln w="9525">
                      <a:noFill/>
                      <a:round/>
                      <a:headEnd/>
                      <a:tailEnd/>
                    </a:ln>
                  </p:spPr>
                  <p:txBody>
                    <a:bodyPr/>
                    <a:lstStyle/>
                    <a:p>
                      <a:endParaRPr lang="zh-CN" altLang="en-US"/>
                    </a:p>
                  </p:txBody>
                </p:sp>
              </p:grpSp>
              <p:sp>
                <p:nvSpPr>
                  <p:cNvPr id="45080" name="Arc 56"/>
                  <p:cNvSpPr>
                    <a:spLocks/>
                  </p:cNvSpPr>
                  <p:nvPr/>
                </p:nvSpPr>
                <p:spPr bwMode="auto">
                  <a:xfrm>
                    <a:off x="2838" y="3664"/>
                    <a:ext cx="112" cy="63"/>
                  </a:xfrm>
                  <a:custGeom>
                    <a:avLst/>
                    <a:gdLst>
                      <a:gd name="T0" fmla="*/ 0 w 42608"/>
                      <a:gd name="T1" fmla="*/ 0 h 25745"/>
                      <a:gd name="T2" fmla="*/ 0 w 42608"/>
                      <a:gd name="T3" fmla="*/ 0 h 25745"/>
                      <a:gd name="T4" fmla="*/ 0 w 42608"/>
                      <a:gd name="T5" fmla="*/ 0 h 25745"/>
                      <a:gd name="T6" fmla="*/ 0 60000 65536"/>
                      <a:gd name="T7" fmla="*/ 0 60000 65536"/>
                      <a:gd name="T8" fmla="*/ 0 60000 65536"/>
                      <a:gd name="T9" fmla="*/ 0 w 42608"/>
                      <a:gd name="T10" fmla="*/ 0 h 25745"/>
                      <a:gd name="T11" fmla="*/ 42608 w 42608"/>
                      <a:gd name="T12" fmla="*/ 25745 h 25745"/>
                    </a:gdLst>
                    <a:ahLst/>
                    <a:cxnLst>
                      <a:cxn ang="T6">
                        <a:pos x="T0" y="T1"/>
                      </a:cxn>
                      <a:cxn ang="T7">
                        <a:pos x="T2" y="T3"/>
                      </a:cxn>
                      <a:cxn ang="T8">
                        <a:pos x="T4" y="T5"/>
                      </a:cxn>
                    </a:cxnLst>
                    <a:rect l="T9" t="T10" r="T11" b="T12"/>
                    <a:pathLst>
                      <a:path w="42608" h="25745" fill="none" extrusionOk="0">
                        <a:moveTo>
                          <a:pt x="401" y="25744"/>
                        </a:moveTo>
                        <a:cubicBezTo>
                          <a:pt x="134" y="24379"/>
                          <a:pt x="0" y="22991"/>
                          <a:pt x="0" y="21600"/>
                        </a:cubicBezTo>
                        <a:cubicBezTo>
                          <a:pt x="0" y="9670"/>
                          <a:pt x="9670" y="0"/>
                          <a:pt x="21600" y="0"/>
                        </a:cubicBezTo>
                        <a:cubicBezTo>
                          <a:pt x="31595" y="-1"/>
                          <a:pt x="40284" y="6857"/>
                          <a:pt x="42608" y="16578"/>
                        </a:cubicBezTo>
                      </a:path>
                      <a:path w="42608" h="25745" stroke="0" extrusionOk="0">
                        <a:moveTo>
                          <a:pt x="401" y="25744"/>
                        </a:moveTo>
                        <a:cubicBezTo>
                          <a:pt x="134" y="24379"/>
                          <a:pt x="0" y="22991"/>
                          <a:pt x="0" y="21600"/>
                        </a:cubicBezTo>
                        <a:cubicBezTo>
                          <a:pt x="0" y="9670"/>
                          <a:pt x="9670" y="0"/>
                          <a:pt x="21600" y="0"/>
                        </a:cubicBezTo>
                        <a:cubicBezTo>
                          <a:pt x="31595" y="-1"/>
                          <a:pt x="40284" y="6857"/>
                          <a:pt x="42608" y="16578"/>
                        </a:cubicBezTo>
                        <a:lnTo>
                          <a:pt x="21600" y="21600"/>
                        </a:lnTo>
                        <a:lnTo>
                          <a:pt x="401" y="25744"/>
                        </a:lnTo>
                        <a:close/>
                      </a:path>
                    </a:pathLst>
                  </a:custGeom>
                  <a:noFill/>
                  <a:ln w="7938">
                    <a:solidFill>
                      <a:srgbClr val="000000"/>
                    </a:solidFill>
                    <a:round/>
                    <a:headEnd/>
                    <a:tailEnd/>
                  </a:ln>
                </p:spPr>
                <p:txBody>
                  <a:bodyPr/>
                  <a:lstStyle/>
                  <a:p>
                    <a:endParaRPr lang="zh-CN" altLang="en-US"/>
                  </a:p>
                </p:txBody>
              </p:sp>
              <p:sp>
                <p:nvSpPr>
                  <p:cNvPr id="45081" name="Arc 57"/>
                  <p:cNvSpPr>
                    <a:spLocks/>
                  </p:cNvSpPr>
                  <p:nvPr/>
                </p:nvSpPr>
                <p:spPr bwMode="auto">
                  <a:xfrm>
                    <a:off x="2844" y="3674"/>
                    <a:ext cx="110" cy="65"/>
                  </a:xfrm>
                  <a:custGeom>
                    <a:avLst/>
                    <a:gdLst>
                      <a:gd name="T0" fmla="*/ 0 w 42419"/>
                      <a:gd name="T1" fmla="*/ 0 h 26582"/>
                      <a:gd name="T2" fmla="*/ 0 w 42419"/>
                      <a:gd name="T3" fmla="*/ 0 h 26582"/>
                      <a:gd name="T4" fmla="*/ 0 w 42419"/>
                      <a:gd name="T5" fmla="*/ 0 h 26582"/>
                      <a:gd name="T6" fmla="*/ 0 60000 65536"/>
                      <a:gd name="T7" fmla="*/ 0 60000 65536"/>
                      <a:gd name="T8" fmla="*/ 0 60000 65536"/>
                      <a:gd name="T9" fmla="*/ 0 w 42419"/>
                      <a:gd name="T10" fmla="*/ 0 h 26582"/>
                      <a:gd name="T11" fmla="*/ 42419 w 42419"/>
                      <a:gd name="T12" fmla="*/ 26582 h 26582"/>
                    </a:gdLst>
                    <a:ahLst/>
                    <a:cxnLst>
                      <a:cxn ang="T6">
                        <a:pos x="T0" y="T1"/>
                      </a:cxn>
                      <a:cxn ang="T7">
                        <a:pos x="T2" y="T3"/>
                      </a:cxn>
                      <a:cxn ang="T8">
                        <a:pos x="T4" y="T5"/>
                      </a:cxn>
                    </a:cxnLst>
                    <a:rect l="T9" t="T10" r="T11" b="T12"/>
                    <a:pathLst>
                      <a:path w="42419" h="26582" fill="none" extrusionOk="0">
                        <a:moveTo>
                          <a:pt x="582" y="26581"/>
                        </a:moveTo>
                        <a:cubicBezTo>
                          <a:pt x="195" y="24949"/>
                          <a:pt x="0" y="23277"/>
                          <a:pt x="0" y="21600"/>
                        </a:cubicBezTo>
                        <a:cubicBezTo>
                          <a:pt x="0" y="9670"/>
                          <a:pt x="9670" y="0"/>
                          <a:pt x="21600" y="0"/>
                        </a:cubicBezTo>
                        <a:cubicBezTo>
                          <a:pt x="31312" y="-1"/>
                          <a:pt x="39830" y="6482"/>
                          <a:pt x="42418" y="15843"/>
                        </a:cubicBezTo>
                      </a:path>
                      <a:path w="42419" h="26582" stroke="0" extrusionOk="0">
                        <a:moveTo>
                          <a:pt x="582" y="26581"/>
                        </a:moveTo>
                        <a:cubicBezTo>
                          <a:pt x="195" y="24949"/>
                          <a:pt x="0" y="23277"/>
                          <a:pt x="0" y="21600"/>
                        </a:cubicBezTo>
                        <a:cubicBezTo>
                          <a:pt x="0" y="9670"/>
                          <a:pt x="9670" y="0"/>
                          <a:pt x="21600" y="0"/>
                        </a:cubicBezTo>
                        <a:cubicBezTo>
                          <a:pt x="31312" y="-1"/>
                          <a:pt x="39830" y="6482"/>
                          <a:pt x="42418" y="15843"/>
                        </a:cubicBezTo>
                        <a:lnTo>
                          <a:pt x="21600" y="21600"/>
                        </a:lnTo>
                        <a:lnTo>
                          <a:pt x="582" y="26581"/>
                        </a:lnTo>
                        <a:close/>
                      </a:path>
                    </a:pathLst>
                  </a:custGeom>
                  <a:solidFill>
                    <a:srgbClr val="5F3F1F"/>
                  </a:solidFill>
                  <a:ln w="9525">
                    <a:noFill/>
                    <a:round/>
                    <a:headEnd/>
                    <a:tailEnd/>
                  </a:ln>
                </p:spPr>
                <p:txBody>
                  <a:bodyPr/>
                  <a:lstStyle/>
                  <a:p>
                    <a:endParaRPr lang="zh-CN" altLang="en-US"/>
                  </a:p>
                </p:txBody>
              </p:sp>
            </p:grpSp>
            <p:sp>
              <p:nvSpPr>
                <p:cNvPr id="45077" name="Freeform 58"/>
                <p:cNvSpPr>
                  <a:spLocks/>
                </p:cNvSpPr>
                <p:nvPr/>
              </p:nvSpPr>
              <p:spPr bwMode="auto">
                <a:xfrm>
                  <a:off x="2841" y="3677"/>
                  <a:ext cx="224" cy="384"/>
                </a:xfrm>
                <a:custGeom>
                  <a:avLst/>
                  <a:gdLst>
                    <a:gd name="T0" fmla="*/ 1 w 448"/>
                    <a:gd name="T1" fmla="*/ 0 h 769"/>
                    <a:gd name="T2" fmla="*/ 1 w 448"/>
                    <a:gd name="T3" fmla="*/ 0 h 769"/>
                    <a:gd name="T4" fmla="*/ 1 w 448"/>
                    <a:gd name="T5" fmla="*/ 0 h 769"/>
                    <a:gd name="T6" fmla="*/ 1 w 448"/>
                    <a:gd name="T7" fmla="*/ 0 h 769"/>
                    <a:gd name="T8" fmla="*/ 1 w 448"/>
                    <a:gd name="T9" fmla="*/ 0 h 769"/>
                    <a:gd name="T10" fmla="*/ 1 w 448"/>
                    <a:gd name="T11" fmla="*/ 0 h 769"/>
                    <a:gd name="T12" fmla="*/ 1 w 448"/>
                    <a:gd name="T13" fmla="*/ 0 h 769"/>
                    <a:gd name="T14" fmla="*/ 0 w 448"/>
                    <a:gd name="T15" fmla="*/ 0 h 769"/>
                    <a:gd name="T16" fmla="*/ 0 w 448"/>
                    <a:gd name="T17" fmla="*/ 0 h 769"/>
                    <a:gd name="T18" fmla="*/ 3 w 448"/>
                    <a:gd name="T19" fmla="*/ 6 h 769"/>
                    <a:gd name="T20" fmla="*/ 4 w 448"/>
                    <a:gd name="T21" fmla="*/ 5 h 769"/>
                    <a:gd name="T22" fmla="*/ 1 w 448"/>
                    <a:gd name="T23" fmla="*/ 0 h 76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48"/>
                    <a:gd name="T37" fmla="*/ 0 h 769"/>
                    <a:gd name="T38" fmla="*/ 448 w 448"/>
                    <a:gd name="T39" fmla="*/ 769 h 76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48" h="769">
                      <a:moveTo>
                        <a:pt x="57" y="0"/>
                      </a:moveTo>
                      <a:lnTo>
                        <a:pt x="40" y="10"/>
                      </a:lnTo>
                      <a:lnTo>
                        <a:pt x="27" y="21"/>
                      </a:lnTo>
                      <a:lnTo>
                        <a:pt x="15" y="33"/>
                      </a:lnTo>
                      <a:lnTo>
                        <a:pt x="10" y="46"/>
                      </a:lnTo>
                      <a:lnTo>
                        <a:pt x="5" y="61"/>
                      </a:lnTo>
                      <a:lnTo>
                        <a:pt x="1" y="75"/>
                      </a:lnTo>
                      <a:lnTo>
                        <a:pt x="0" y="91"/>
                      </a:lnTo>
                      <a:lnTo>
                        <a:pt x="0" y="111"/>
                      </a:lnTo>
                      <a:lnTo>
                        <a:pt x="347" y="769"/>
                      </a:lnTo>
                      <a:lnTo>
                        <a:pt x="448" y="699"/>
                      </a:lnTo>
                      <a:lnTo>
                        <a:pt x="57" y="0"/>
                      </a:lnTo>
                      <a:close/>
                    </a:path>
                  </a:pathLst>
                </a:custGeom>
                <a:solidFill>
                  <a:srgbClr val="3F1F00"/>
                </a:solidFill>
                <a:ln w="9525">
                  <a:noFill/>
                  <a:round/>
                  <a:headEnd/>
                  <a:tailEnd/>
                </a:ln>
              </p:spPr>
              <p:txBody>
                <a:bodyPr/>
                <a:lstStyle/>
                <a:p>
                  <a:endParaRPr lang="zh-CN" altLang="en-US"/>
                </a:p>
              </p:txBody>
            </p:sp>
            <p:sp>
              <p:nvSpPr>
                <p:cNvPr id="45078" name="Oval 59"/>
                <p:cNvSpPr>
                  <a:spLocks noChangeArrowheads="1"/>
                </p:cNvSpPr>
                <p:nvPr/>
              </p:nvSpPr>
              <p:spPr bwMode="auto">
                <a:xfrm>
                  <a:off x="3017" y="3995"/>
                  <a:ext cx="123" cy="118"/>
                </a:xfrm>
                <a:prstGeom prst="ellipse">
                  <a:avLst/>
                </a:prstGeom>
                <a:solidFill>
                  <a:srgbClr val="7F5F3F"/>
                </a:solidFill>
                <a:ln w="7938">
                  <a:solidFill>
                    <a:srgbClr val="000000"/>
                  </a:solidFill>
                  <a:round/>
                  <a:headEnd/>
                  <a:tailEnd/>
                </a:ln>
              </p:spPr>
              <p:txBody>
                <a:bodyPr/>
                <a:lstStyle/>
                <a:p>
                  <a:endParaRPr lang="zh-CN" altLang="en-US"/>
                </a:p>
              </p:txBody>
            </p:sp>
          </p:grpSp>
        </p:grpSp>
      </p:grpSp>
    </p:spTree>
  </p:cSld>
  <p:clrMapOvr>
    <a:masterClrMapping/>
  </p:clrMapOvr>
  <p:transition>
    <p:cover dir="l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Text Box 2"/>
          <p:cNvSpPr txBox="1">
            <a:spLocks noChangeArrowheads="1"/>
          </p:cNvSpPr>
          <p:nvPr/>
        </p:nvSpPr>
        <p:spPr bwMode="auto">
          <a:xfrm>
            <a:off x="3963988" y="304801"/>
            <a:ext cx="5561012" cy="777875"/>
          </a:xfrm>
          <a:prstGeom prst="rect">
            <a:avLst/>
          </a:prstGeom>
          <a:noFill/>
          <a:ln w="12700" cap="sq">
            <a:noFill/>
            <a:miter lim="800000"/>
            <a:headEnd type="none" w="sm" len="sm"/>
            <a:tailEnd type="none" w="sm" len="sm"/>
          </a:ln>
        </p:spPr>
        <p:txBody>
          <a:bodyPr>
            <a:spAutoFit/>
          </a:bodyPr>
          <a:lstStyle/>
          <a:p>
            <a:pPr>
              <a:lnSpc>
                <a:spcPct val="90000"/>
              </a:lnSpc>
            </a:pPr>
            <a:r>
              <a:rPr lang="zh-CN" altLang="en-US" sz="2500" b="1">
                <a:solidFill>
                  <a:srgbClr val="003399"/>
                </a:solidFill>
                <a:ea typeface="幼圆" pitchFamily="49" charset="-122"/>
              </a:rPr>
              <a:t>当</a:t>
            </a:r>
            <a:r>
              <a:rPr lang="en-US" altLang="zh-CN" sz="2500" b="1">
                <a:solidFill>
                  <a:srgbClr val="003399"/>
                </a:solidFill>
              </a:rPr>
              <a:t>i=1</a:t>
            </a:r>
            <a:r>
              <a:rPr lang="zh-CN" altLang="en-US" sz="2500" b="1">
                <a:solidFill>
                  <a:srgbClr val="003399"/>
                </a:solidFill>
                <a:ea typeface="幼圆" pitchFamily="49" charset="-122"/>
              </a:rPr>
              <a:t>时，删除第</a:t>
            </a:r>
            <a:r>
              <a:rPr lang="zh-CN" altLang="en-US" sz="2500" b="1">
                <a:solidFill>
                  <a:srgbClr val="003399"/>
                </a:solidFill>
              </a:rPr>
              <a:t>1</a:t>
            </a:r>
            <a:r>
              <a:rPr lang="zh-CN" altLang="en-US" sz="2500" b="1">
                <a:solidFill>
                  <a:srgbClr val="003399"/>
                </a:solidFill>
                <a:ea typeface="幼圆" pitchFamily="49" charset="-122"/>
              </a:rPr>
              <a:t>个栈的栈顶元素</a:t>
            </a:r>
            <a:r>
              <a:rPr lang="zh-CN" altLang="en-US" sz="2500" b="1">
                <a:solidFill>
                  <a:srgbClr val="003399"/>
                </a:solidFill>
              </a:rPr>
              <a:t>，</a:t>
            </a:r>
          </a:p>
          <a:p>
            <a:pPr>
              <a:lnSpc>
                <a:spcPct val="90000"/>
              </a:lnSpc>
            </a:pPr>
            <a:r>
              <a:rPr lang="zh-CN" altLang="en-US" sz="2500" b="1">
                <a:solidFill>
                  <a:srgbClr val="003399"/>
                </a:solidFill>
                <a:ea typeface="幼圆" pitchFamily="49" charset="-122"/>
              </a:rPr>
              <a:t>当</a:t>
            </a:r>
            <a:r>
              <a:rPr lang="en-US" altLang="zh-CN" sz="2500" b="1">
                <a:solidFill>
                  <a:srgbClr val="003399"/>
                </a:solidFill>
              </a:rPr>
              <a:t>i=2</a:t>
            </a:r>
            <a:r>
              <a:rPr lang="zh-CN" altLang="en-US" sz="2500" b="1">
                <a:solidFill>
                  <a:srgbClr val="003399"/>
                </a:solidFill>
                <a:ea typeface="幼圆" pitchFamily="49" charset="-122"/>
              </a:rPr>
              <a:t>时，删除第</a:t>
            </a:r>
            <a:r>
              <a:rPr lang="zh-CN" altLang="en-US" sz="2500" b="1">
                <a:solidFill>
                  <a:srgbClr val="003399"/>
                </a:solidFill>
              </a:rPr>
              <a:t>2</a:t>
            </a:r>
            <a:r>
              <a:rPr lang="zh-CN" altLang="en-US" sz="2500" b="1">
                <a:solidFill>
                  <a:srgbClr val="003399"/>
                </a:solidFill>
                <a:ea typeface="幼圆" pitchFamily="49" charset="-122"/>
              </a:rPr>
              <a:t>个栈的栈顶元素</a:t>
            </a:r>
            <a:r>
              <a:rPr lang="zh-CN" altLang="en-US" sz="2500" b="1">
                <a:solidFill>
                  <a:srgbClr val="003399"/>
                </a:solidFill>
              </a:rPr>
              <a:t>。</a:t>
            </a:r>
          </a:p>
        </p:txBody>
      </p:sp>
      <p:grpSp>
        <p:nvGrpSpPr>
          <p:cNvPr id="2" name="Group 3"/>
          <p:cNvGrpSpPr>
            <a:grpSpLocks/>
          </p:cNvGrpSpPr>
          <p:nvPr/>
        </p:nvGrpSpPr>
        <p:grpSpPr bwMode="auto">
          <a:xfrm>
            <a:off x="2344738" y="2420938"/>
            <a:ext cx="2743200" cy="1143000"/>
            <a:chOff x="480" y="1655"/>
            <a:chExt cx="1728" cy="720"/>
          </a:xfrm>
        </p:grpSpPr>
        <p:sp>
          <p:nvSpPr>
            <p:cNvPr id="47156" name="Cloud"/>
            <p:cNvSpPr>
              <a:spLocks noChangeAspect="1" noEditPoints="1" noChangeArrowheads="1"/>
            </p:cNvSpPr>
            <p:nvPr/>
          </p:nvSpPr>
          <p:spPr bwMode="auto">
            <a:xfrm>
              <a:off x="480" y="1895"/>
              <a:ext cx="1728" cy="48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975 w 21600"/>
                <a:gd name="T13" fmla="*/ 3240 h 21600"/>
                <a:gd name="T14" fmla="*/ 17088 w 21600"/>
                <a:gd name="T15" fmla="*/ 17325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0">
              <a:gsLst>
                <a:gs pos="0">
                  <a:srgbClr val="007676"/>
                </a:gs>
                <a:gs pos="50000">
                  <a:srgbClr val="00FFFF"/>
                </a:gs>
                <a:gs pos="100000">
                  <a:srgbClr val="007676"/>
                </a:gs>
              </a:gsLst>
              <a:lin ang="5400000" scaled="1"/>
            </a:gradFill>
            <a:ln w="9525">
              <a:solidFill>
                <a:srgbClr val="000000"/>
              </a:solidFill>
              <a:miter lim="800000"/>
              <a:headEnd/>
              <a:tailEnd/>
            </a:ln>
            <a:effectLst>
              <a:outerShdw dist="107763" dir="2700000" algn="ctr" rotWithShape="0">
                <a:srgbClr val="808080"/>
              </a:outerShdw>
            </a:effectLst>
          </p:spPr>
          <p:txBody>
            <a:bodyPr/>
            <a:lstStyle/>
            <a:p>
              <a:endParaRPr lang="zh-CN" altLang="en-US"/>
            </a:p>
          </p:txBody>
        </p:sp>
        <p:sp>
          <p:nvSpPr>
            <p:cNvPr id="47157" name="Text Box 5"/>
            <p:cNvSpPr txBox="1">
              <a:spLocks noChangeArrowheads="1"/>
            </p:cNvSpPr>
            <p:nvPr/>
          </p:nvSpPr>
          <p:spPr bwMode="auto">
            <a:xfrm>
              <a:off x="950" y="1957"/>
              <a:ext cx="1162" cy="308"/>
            </a:xfrm>
            <a:prstGeom prst="rect">
              <a:avLst/>
            </a:prstGeom>
            <a:noFill/>
            <a:ln w="12700" cap="sq">
              <a:noFill/>
              <a:miter lim="800000"/>
              <a:headEnd type="none" w="sm" len="sm"/>
              <a:tailEnd type="none" w="sm" len="sm"/>
            </a:ln>
          </p:spPr>
          <p:txBody>
            <a:bodyPr>
              <a:spAutoFit/>
            </a:bodyPr>
            <a:lstStyle/>
            <a:p>
              <a:r>
                <a:rPr lang="en-US" altLang="zh-CN" sz="2600" b="1" dirty="0">
                  <a:solidFill>
                    <a:srgbClr val="FF6600"/>
                  </a:solidFill>
                </a:rPr>
                <a:t>top1</a:t>
              </a:r>
              <a:r>
                <a:rPr lang="en-US" altLang="zh-CN" sz="2600" b="1" dirty="0">
                  <a:solidFill>
                    <a:srgbClr val="FF6600"/>
                  </a:solidFill>
                  <a:ea typeface="宋体" charset="-122"/>
                  <a:cs typeface="Times New Roman" pitchFamily="18" charset="0"/>
                </a:rPr>
                <a:t>– –</a:t>
              </a:r>
              <a:r>
                <a:rPr lang="en-US" altLang="zh-CN" sz="2600" b="1" dirty="0">
                  <a:solidFill>
                    <a:srgbClr val="FF6600"/>
                  </a:solidFill>
                </a:rPr>
                <a:t>;</a:t>
              </a:r>
            </a:p>
          </p:txBody>
        </p:sp>
        <p:sp>
          <p:nvSpPr>
            <p:cNvPr id="47158" name="AutoShape 6"/>
            <p:cNvSpPr>
              <a:spLocks noChangeArrowheads="1"/>
            </p:cNvSpPr>
            <p:nvPr/>
          </p:nvSpPr>
          <p:spPr bwMode="auto">
            <a:xfrm>
              <a:off x="576" y="1703"/>
              <a:ext cx="528" cy="240"/>
            </a:xfrm>
            <a:prstGeom prst="foldedCorner">
              <a:avLst>
                <a:gd name="adj" fmla="val 12500"/>
              </a:avLst>
            </a:prstGeom>
            <a:solidFill>
              <a:srgbClr val="FF0000"/>
            </a:solidFill>
            <a:ln w="12700" cap="sq">
              <a:noFill/>
              <a:round/>
              <a:headEnd type="none" w="sm" len="sm"/>
              <a:tailEnd type="none" w="sm" len="sm"/>
            </a:ln>
            <a:effectLst>
              <a:outerShdw dist="71842" dir="2700000" algn="ctr" rotWithShape="0">
                <a:schemeClr val="bg1"/>
              </a:outerShdw>
            </a:effectLst>
          </p:spPr>
          <p:txBody>
            <a:bodyPr wrap="none" anchor="ctr"/>
            <a:lstStyle/>
            <a:p>
              <a:endParaRPr lang="zh-CN" altLang="en-US"/>
            </a:p>
          </p:txBody>
        </p:sp>
        <p:sp>
          <p:nvSpPr>
            <p:cNvPr id="47159" name="Text Box 7"/>
            <p:cNvSpPr txBox="1">
              <a:spLocks noChangeArrowheads="1"/>
            </p:cNvSpPr>
            <p:nvPr/>
          </p:nvSpPr>
          <p:spPr bwMode="auto">
            <a:xfrm>
              <a:off x="642" y="1655"/>
              <a:ext cx="461" cy="327"/>
            </a:xfrm>
            <a:prstGeom prst="rect">
              <a:avLst/>
            </a:prstGeom>
            <a:noFill/>
            <a:ln w="12700" cap="sq">
              <a:noFill/>
              <a:miter lim="800000"/>
              <a:headEnd type="none" w="sm" len="sm"/>
              <a:tailEnd type="none" w="sm" len="sm"/>
            </a:ln>
            <a:effectLst>
              <a:outerShdw dist="28398" dir="1593903" algn="ctr" rotWithShape="0">
                <a:schemeClr val="bg2"/>
              </a:outerShdw>
            </a:effectLst>
          </p:spPr>
          <p:txBody>
            <a:bodyPr>
              <a:spAutoFit/>
            </a:bodyPr>
            <a:lstStyle/>
            <a:p>
              <a:r>
                <a:rPr lang="en-US" altLang="zh-CN" sz="2800" b="1"/>
                <a:t>i=1</a:t>
              </a:r>
            </a:p>
          </p:txBody>
        </p:sp>
      </p:grpSp>
      <p:grpSp>
        <p:nvGrpSpPr>
          <p:cNvPr id="3" name="Group 8"/>
          <p:cNvGrpSpPr>
            <a:grpSpLocks/>
          </p:cNvGrpSpPr>
          <p:nvPr/>
        </p:nvGrpSpPr>
        <p:grpSpPr bwMode="auto">
          <a:xfrm>
            <a:off x="6783388" y="2420938"/>
            <a:ext cx="2940050" cy="1143000"/>
            <a:chOff x="3408" y="1655"/>
            <a:chExt cx="1852" cy="720"/>
          </a:xfrm>
        </p:grpSpPr>
        <p:sp>
          <p:nvSpPr>
            <p:cNvPr id="47152" name="Cloud"/>
            <p:cNvSpPr>
              <a:spLocks noChangeAspect="1" noEditPoints="1" noChangeArrowheads="1"/>
            </p:cNvSpPr>
            <p:nvPr/>
          </p:nvSpPr>
          <p:spPr bwMode="auto">
            <a:xfrm>
              <a:off x="3408" y="1895"/>
              <a:ext cx="1728" cy="48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975 w 21600"/>
                <a:gd name="T13" fmla="*/ 3240 h 21600"/>
                <a:gd name="T14" fmla="*/ 17088 w 21600"/>
                <a:gd name="T15" fmla="*/ 17325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0">
              <a:gsLst>
                <a:gs pos="0">
                  <a:srgbClr val="007676"/>
                </a:gs>
                <a:gs pos="50000">
                  <a:srgbClr val="00FFFF"/>
                </a:gs>
                <a:gs pos="100000">
                  <a:srgbClr val="007676"/>
                </a:gs>
              </a:gsLst>
              <a:lin ang="5400000" scaled="1"/>
            </a:gradFill>
            <a:ln w="9525">
              <a:solidFill>
                <a:srgbClr val="000000"/>
              </a:solidFill>
              <a:miter lim="800000"/>
              <a:headEnd/>
              <a:tailEnd/>
            </a:ln>
            <a:effectLst>
              <a:outerShdw dist="107763" dir="2700000" algn="ctr" rotWithShape="0">
                <a:srgbClr val="808080"/>
              </a:outerShdw>
            </a:effectLst>
          </p:spPr>
          <p:txBody>
            <a:bodyPr/>
            <a:lstStyle/>
            <a:p>
              <a:endParaRPr lang="zh-CN" altLang="en-US"/>
            </a:p>
          </p:txBody>
        </p:sp>
        <p:sp>
          <p:nvSpPr>
            <p:cNvPr id="47153" name="Text Box 10"/>
            <p:cNvSpPr txBox="1">
              <a:spLocks noChangeArrowheads="1"/>
            </p:cNvSpPr>
            <p:nvPr/>
          </p:nvSpPr>
          <p:spPr bwMode="auto">
            <a:xfrm>
              <a:off x="3850" y="1968"/>
              <a:ext cx="1018" cy="308"/>
            </a:xfrm>
            <a:prstGeom prst="rect">
              <a:avLst/>
            </a:prstGeom>
            <a:noFill/>
            <a:ln w="12700" cap="sq">
              <a:noFill/>
              <a:miter lim="800000"/>
              <a:headEnd type="none" w="sm" len="sm"/>
              <a:tailEnd type="none" w="sm" len="sm"/>
            </a:ln>
          </p:spPr>
          <p:txBody>
            <a:bodyPr>
              <a:spAutoFit/>
            </a:bodyPr>
            <a:lstStyle/>
            <a:p>
              <a:r>
                <a:rPr lang="en-US" altLang="zh-CN" sz="2600" b="1" dirty="0">
                  <a:solidFill>
                    <a:srgbClr val="FF6600"/>
                  </a:solidFill>
                </a:rPr>
                <a:t>top2+</a:t>
              </a:r>
              <a:r>
                <a:rPr lang="en-US" altLang="zh-CN" sz="2600" b="1" dirty="0">
                  <a:solidFill>
                    <a:srgbClr val="FF6600"/>
                  </a:solidFill>
                  <a:ea typeface="宋体" charset="-122"/>
                  <a:cs typeface="Times New Roman" pitchFamily="18" charset="0"/>
                </a:rPr>
                <a:t>+</a:t>
              </a:r>
              <a:r>
                <a:rPr lang="en-US" altLang="zh-CN" sz="2600" b="1" dirty="0">
                  <a:solidFill>
                    <a:srgbClr val="FF6600"/>
                  </a:solidFill>
                </a:rPr>
                <a:t>;</a:t>
              </a:r>
            </a:p>
          </p:txBody>
        </p:sp>
        <p:sp>
          <p:nvSpPr>
            <p:cNvPr id="47154" name="AutoShape 11"/>
            <p:cNvSpPr>
              <a:spLocks noChangeArrowheads="1"/>
            </p:cNvSpPr>
            <p:nvPr/>
          </p:nvSpPr>
          <p:spPr bwMode="auto">
            <a:xfrm>
              <a:off x="4714" y="1692"/>
              <a:ext cx="528" cy="240"/>
            </a:xfrm>
            <a:prstGeom prst="foldedCorner">
              <a:avLst>
                <a:gd name="adj" fmla="val 12500"/>
              </a:avLst>
            </a:prstGeom>
            <a:solidFill>
              <a:srgbClr val="FF0000"/>
            </a:solidFill>
            <a:ln w="12700" cap="sq">
              <a:noFill/>
              <a:round/>
              <a:headEnd type="none" w="sm" len="sm"/>
              <a:tailEnd type="none" w="sm" len="sm"/>
            </a:ln>
            <a:effectLst>
              <a:outerShdw dist="99190" dir="3011666" algn="ctr" rotWithShape="0">
                <a:schemeClr val="bg2"/>
              </a:outerShdw>
            </a:effectLst>
          </p:spPr>
          <p:txBody>
            <a:bodyPr wrap="none" anchor="ctr"/>
            <a:lstStyle/>
            <a:p>
              <a:endParaRPr lang="zh-CN" altLang="en-US"/>
            </a:p>
          </p:txBody>
        </p:sp>
        <p:sp>
          <p:nvSpPr>
            <p:cNvPr id="47155" name="Text Box 12"/>
            <p:cNvSpPr txBox="1">
              <a:spLocks noChangeArrowheads="1"/>
            </p:cNvSpPr>
            <p:nvPr/>
          </p:nvSpPr>
          <p:spPr bwMode="auto">
            <a:xfrm>
              <a:off x="4764" y="1655"/>
              <a:ext cx="496" cy="327"/>
            </a:xfrm>
            <a:prstGeom prst="rect">
              <a:avLst/>
            </a:prstGeom>
            <a:noFill/>
            <a:ln w="12700" cap="sq">
              <a:noFill/>
              <a:miter lim="800000"/>
              <a:headEnd type="none" w="sm" len="sm"/>
              <a:tailEnd type="none" w="sm" len="sm"/>
            </a:ln>
            <a:effectLst>
              <a:outerShdw dist="28398" dir="1593903" algn="ctr" rotWithShape="0">
                <a:schemeClr val="bg2"/>
              </a:outerShdw>
            </a:effectLst>
          </p:spPr>
          <p:txBody>
            <a:bodyPr>
              <a:spAutoFit/>
            </a:bodyPr>
            <a:lstStyle/>
            <a:p>
              <a:r>
                <a:rPr lang="en-US" altLang="zh-CN" sz="2800" b="1"/>
                <a:t>i=2</a:t>
              </a:r>
            </a:p>
          </p:txBody>
        </p:sp>
      </p:grpSp>
      <p:grpSp>
        <p:nvGrpSpPr>
          <p:cNvPr id="4" name="Group 13"/>
          <p:cNvGrpSpPr>
            <a:grpSpLocks/>
          </p:cNvGrpSpPr>
          <p:nvPr/>
        </p:nvGrpSpPr>
        <p:grpSpPr bwMode="auto">
          <a:xfrm>
            <a:off x="2733675" y="4051301"/>
            <a:ext cx="6711950" cy="792163"/>
            <a:chOff x="739" y="2688"/>
            <a:chExt cx="4228" cy="499"/>
          </a:xfrm>
        </p:grpSpPr>
        <p:sp>
          <p:nvSpPr>
            <p:cNvPr id="47149" name="Rectangle 14"/>
            <p:cNvSpPr>
              <a:spLocks noChangeArrowheads="1"/>
            </p:cNvSpPr>
            <p:nvPr/>
          </p:nvSpPr>
          <p:spPr bwMode="auto">
            <a:xfrm>
              <a:off x="739" y="2864"/>
              <a:ext cx="4137" cy="323"/>
            </a:xfrm>
            <a:prstGeom prst="rect">
              <a:avLst/>
            </a:prstGeom>
            <a:noFill/>
            <a:ln w="22225" cap="sq">
              <a:solidFill>
                <a:srgbClr val="00006C"/>
              </a:solidFill>
              <a:miter lim="800000"/>
              <a:headEnd type="none" w="sm" len="sm"/>
              <a:tailEnd type="none" w="sm" len="sm"/>
            </a:ln>
          </p:spPr>
          <p:txBody>
            <a:bodyPr wrap="none" anchor="ctr"/>
            <a:lstStyle/>
            <a:p>
              <a:endParaRPr lang="zh-CN" altLang="en-US"/>
            </a:p>
          </p:txBody>
        </p:sp>
        <p:sp>
          <p:nvSpPr>
            <p:cNvPr id="47150" name="Text Box 15"/>
            <p:cNvSpPr txBox="1">
              <a:spLocks noChangeArrowheads="1"/>
            </p:cNvSpPr>
            <p:nvPr/>
          </p:nvSpPr>
          <p:spPr bwMode="auto">
            <a:xfrm>
              <a:off x="739" y="2688"/>
              <a:ext cx="4228" cy="212"/>
            </a:xfrm>
            <a:prstGeom prst="rect">
              <a:avLst/>
            </a:prstGeom>
            <a:noFill/>
            <a:ln w="12700" cap="sq">
              <a:noFill/>
              <a:miter lim="800000"/>
              <a:headEnd type="none" w="sm" len="sm"/>
              <a:tailEnd type="none" w="sm" len="sm"/>
            </a:ln>
          </p:spPr>
          <p:txBody>
            <a:bodyPr>
              <a:spAutoFit/>
            </a:bodyPr>
            <a:lstStyle/>
            <a:p>
              <a:r>
                <a:rPr lang="zh-CN" altLang="en-US" sz="1600" b="1" dirty="0"/>
                <a:t>0   1   2   </a:t>
              </a:r>
              <a:r>
                <a:rPr lang="zh-CN" altLang="en-US" sz="1600" b="1" dirty="0">
                  <a:ea typeface="宋体" charset="-122"/>
                  <a:cs typeface="Times New Roman" pitchFamily="18" charset="0"/>
                </a:rPr>
                <a:t>…</a:t>
              </a:r>
              <a:r>
                <a:rPr lang="zh-CN" altLang="en-US" sz="1600" b="1" dirty="0"/>
                <a:t>                                                                                                   </a:t>
              </a:r>
              <a:r>
                <a:rPr lang="en-US" altLang="zh-CN" sz="1600" b="1" dirty="0"/>
                <a:t>MAXSIZE</a:t>
              </a:r>
              <a:r>
                <a:rPr lang="en-US" altLang="zh-CN" sz="1600" b="1" dirty="0">
                  <a:latin typeface="宋体" charset="-122"/>
                  <a:ea typeface="宋体" charset="-122"/>
                </a:rPr>
                <a:t>-</a:t>
              </a:r>
              <a:r>
                <a:rPr lang="en-US" altLang="zh-CN" sz="1600" b="1" dirty="0"/>
                <a:t>1</a:t>
              </a:r>
            </a:p>
          </p:txBody>
        </p:sp>
        <p:sp>
          <p:nvSpPr>
            <p:cNvPr id="47151" name="Text Box 16"/>
            <p:cNvSpPr txBox="1">
              <a:spLocks noChangeArrowheads="1"/>
            </p:cNvSpPr>
            <p:nvPr/>
          </p:nvSpPr>
          <p:spPr bwMode="auto">
            <a:xfrm>
              <a:off x="2385" y="2870"/>
              <a:ext cx="1189" cy="279"/>
            </a:xfrm>
            <a:prstGeom prst="rect">
              <a:avLst/>
            </a:prstGeom>
            <a:noFill/>
            <a:ln w="12700" cap="sq">
              <a:noFill/>
              <a:miter lim="800000"/>
              <a:headEnd type="none" w="sm" len="sm"/>
              <a:tailEnd type="none" w="sm" len="sm"/>
            </a:ln>
          </p:spPr>
          <p:txBody>
            <a:bodyPr>
              <a:spAutoFit/>
            </a:bodyPr>
            <a:lstStyle/>
            <a:p>
              <a:r>
                <a:rPr lang="zh-CN" altLang="en-US" sz="2300" b="1">
                  <a:solidFill>
                    <a:srgbClr val="003399"/>
                  </a:solidFill>
                  <a:ea typeface="幼圆" pitchFamily="49" charset="-122"/>
                </a:rPr>
                <a:t>可  用  空  间</a:t>
              </a:r>
            </a:p>
          </p:txBody>
        </p:sp>
      </p:grpSp>
      <p:grpSp>
        <p:nvGrpSpPr>
          <p:cNvPr id="5" name="Group 17"/>
          <p:cNvGrpSpPr>
            <a:grpSpLocks/>
          </p:cNvGrpSpPr>
          <p:nvPr/>
        </p:nvGrpSpPr>
        <p:grpSpPr bwMode="auto">
          <a:xfrm>
            <a:off x="3503614" y="5851525"/>
            <a:ext cx="2276475" cy="457200"/>
            <a:chOff x="1247" y="3686"/>
            <a:chExt cx="1434" cy="288"/>
          </a:xfrm>
        </p:grpSpPr>
        <p:sp>
          <p:nvSpPr>
            <p:cNvPr id="47147" name="AutoShape 18"/>
            <p:cNvSpPr>
              <a:spLocks noChangeArrowheads="1"/>
            </p:cNvSpPr>
            <p:nvPr/>
          </p:nvSpPr>
          <p:spPr bwMode="auto">
            <a:xfrm>
              <a:off x="1247" y="3686"/>
              <a:ext cx="1384" cy="288"/>
            </a:xfrm>
            <a:prstGeom prst="wedgeRectCallout">
              <a:avLst>
                <a:gd name="adj1" fmla="val -47542"/>
                <a:gd name="adj2" fmla="val -120833"/>
              </a:avLst>
            </a:prstGeom>
            <a:noFill/>
            <a:ln w="57150" cap="sq">
              <a:solidFill>
                <a:srgbClr val="0085A4"/>
              </a:solidFill>
              <a:miter lim="800000"/>
              <a:headEnd type="none" w="sm" len="sm"/>
              <a:tailEnd type="none" w="sm" len="sm"/>
            </a:ln>
          </p:spPr>
          <p:txBody>
            <a:bodyPr/>
            <a:lstStyle/>
            <a:p>
              <a:pPr algn="ctr"/>
              <a:endParaRPr lang="zh-CN" altLang="en-US"/>
            </a:p>
          </p:txBody>
        </p:sp>
        <p:sp>
          <p:nvSpPr>
            <p:cNvPr id="47148" name="Text Box 19"/>
            <p:cNvSpPr txBox="1">
              <a:spLocks noChangeArrowheads="1"/>
            </p:cNvSpPr>
            <p:nvPr/>
          </p:nvSpPr>
          <p:spPr bwMode="auto">
            <a:xfrm>
              <a:off x="1286" y="3707"/>
              <a:ext cx="1395" cy="250"/>
            </a:xfrm>
            <a:prstGeom prst="rect">
              <a:avLst/>
            </a:prstGeom>
            <a:noFill/>
            <a:ln w="12700" cap="sq">
              <a:noFill/>
              <a:miter lim="800000"/>
              <a:headEnd type="none" w="sm" len="sm"/>
              <a:tailEnd type="none" w="sm" len="sm"/>
            </a:ln>
          </p:spPr>
          <p:txBody>
            <a:bodyPr>
              <a:spAutoFit/>
            </a:bodyPr>
            <a:lstStyle/>
            <a:p>
              <a:r>
                <a:rPr lang="zh-CN" altLang="en-US" sz="2000" b="1">
                  <a:solidFill>
                    <a:srgbClr val="FF0000"/>
                  </a:solidFill>
                  <a:latin typeface="幼圆" pitchFamily="49" charset="-122"/>
                  <a:ea typeface="幼圆" pitchFamily="49" charset="-122"/>
                </a:rPr>
                <a:t>第</a:t>
              </a:r>
              <a:r>
                <a:rPr lang="zh-CN" altLang="en-US" sz="2000" b="1">
                  <a:solidFill>
                    <a:srgbClr val="FF0000"/>
                  </a:solidFill>
                  <a:ea typeface="幼圆" pitchFamily="49" charset="-122"/>
                </a:rPr>
                <a:t>1</a:t>
              </a:r>
              <a:r>
                <a:rPr lang="zh-CN" altLang="en-US" sz="2000" b="1">
                  <a:solidFill>
                    <a:srgbClr val="FF0000"/>
                  </a:solidFill>
                  <a:latin typeface="幼圆" pitchFamily="49" charset="-122"/>
                  <a:ea typeface="幼圆" pitchFamily="49" charset="-122"/>
                </a:rPr>
                <a:t>栈栈空的条件</a:t>
              </a:r>
            </a:p>
          </p:txBody>
        </p:sp>
      </p:grpSp>
      <p:grpSp>
        <p:nvGrpSpPr>
          <p:cNvPr id="6" name="Group 20"/>
          <p:cNvGrpSpPr>
            <a:grpSpLocks/>
          </p:cNvGrpSpPr>
          <p:nvPr/>
        </p:nvGrpSpPr>
        <p:grpSpPr bwMode="auto">
          <a:xfrm>
            <a:off x="2417763" y="333375"/>
            <a:ext cx="1517650" cy="533400"/>
            <a:chOff x="476" y="300"/>
            <a:chExt cx="956" cy="336"/>
          </a:xfrm>
        </p:grpSpPr>
        <p:sp>
          <p:nvSpPr>
            <p:cNvPr id="47145" name="Oval 21"/>
            <p:cNvSpPr>
              <a:spLocks noChangeArrowheads="1"/>
            </p:cNvSpPr>
            <p:nvPr/>
          </p:nvSpPr>
          <p:spPr bwMode="auto">
            <a:xfrm>
              <a:off x="476" y="300"/>
              <a:ext cx="768" cy="336"/>
            </a:xfrm>
            <a:prstGeom prst="ellipse">
              <a:avLst/>
            </a:prstGeom>
            <a:solidFill>
              <a:srgbClr val="3FDAFF"/>
            </a:solidFill>
            <a:ln w="12700" cap="sq">
              <a:noFill/>
              <a:round/>
              <a:headEnd type="none" w="sm" len="sm"/>
              <a:tailEnd type="none" w="sm" len="sm"/>
            </a:ln>
            <a:effectLst>
              <a:outerShdw dist="45791" dir="2021404" algn="ctr" rotWithShape="0">
                <a:srgbClr val="B2B2B2"/>
              </a:outerShdw>
            </a:effectLst>
          </p:spPr>
          <p:txBody>
            <a:bodyPr wrap="none" anchor="ctr"/>
            <a:lstStyle/>
            <a:p>
              <a:endParaRPr lang="zh-CN" altLang="en-US"/>
            </a:p>
          </p:txBody>
        </p:sp>
        <p:sp>
          <p:nvSpPr>
            <p:cNvPr id="47146" name="Rectangle 22"/>
            <p:cNvSpPr>
              <a:spLocks noChangeArrowheads="1"/>
            </p:cNvSpPr>
            <p:nvPr/>
          </p:nvSpPr>
          <p:spPr bwMode="auto">
            <a:xfrm>
              <a:off x="568" y="311"/>
              <a:ext cx="864" cy="302"/>
            </a:xfrm>
            <a:prstGeom prst="rect">
              <a:avLst/>
            </a:prstGeom>
            <a:noFill/>
            <a:ln w="12700" cap="sq">
              <a:noFill/>
              <a:miter lim="800000"/>
              <a:headEnd type="none" w="sm" len="sm"/>
              <a:tailEnd type="none" w="sm" len="sm"/>
            </a:ln>
            <a:effectLst>
              <a:outerShdw dist="12700" algn="ctr" rotWithShape="0">
                <a:srgbClr val="000000"/>
              </a:outerShdw>
            </a:effectLst>
          </p:spPr>
          <p:txBody>
            <a:bodyPr>
              <a:spAutoFit/>
            </a:bodyPr>
            <a:lstStyle/>
            <a:p>
              <a:pPr>
                <a:lnSpc>
                  <a:spcPct val="90000"/>
                </a:lnSpc>
                <a:spcAft>
                  <a:spcPct val="25000"/>
                </a:spcAft>
              </a:pPr>
              <a:r>
                <a:rPr lang="zh-CN" altLang="en-US" sz="2800" b="1" dirty="0">
                  <a:solidFill>
                    <a:srgbClr val="FF3300"/>
                  </a:solidFill>
                  <a:latin typeface="黑体" pitchFamily="2" charset="-122"/>
                  <a:ea typeface="黑体" pitchFamily="2" charset="-122"/>
                </a:rPr>
                <a:t>出栈</a:t>
              </a:r>
              <a:r>
                <a:rPr lang="zh-CN" altLang="en-US" sz="2600" b="1" dirty="0">
                  <a:solidFill>
                    <a:schemeClr val="bg1"/>
                  </a:solidFill>
                  <a:latin typeface="黑体" pitchFamily="2" charset="-122"/>
                  <a:ea typeface="黑体" pitchFamily="2" charset="-122"/>
                </a:rPr>
                <a:t> </a:t>
              </a:r>
            </a:p>
          </p:txBody>
        </p:sp>
      </p:grpSp>
      <p:grpSp>
        <p:nvGrpSpPr>
          <p:cNvPr id="7" name="Group 23"/>
          <p:cNvGrpSpPr>
            <a:grpSpLocks/>
          </p:cNvGrpSpPr>
          <p:nvPr/>
        </p:nvGrpSpPr>
        <p:grpSpPr bwMode="auto">
          <a:xfrm rot="412227">
            <a:off x="5159375" y="2924175"/>
            <a:ext cx="1676400" cy="1219200"/>
            <a:chOff x="4704" y="2069"/>
            <a:chExt cx="1056" cy="768"/>
          </a:xfrm>
        </p:grpSpPr>
        <p:grpSp>
          <p:nvGrpSpPr>
            <p:cNvPr id="8" name="Group 24"/>
            <p:cNvGrpSpPr>
              <a:grpSpLocks/>
            </p:cNvGrpSpPr>
            <p:nvPr/>
          </p:nvGrpSpPr>
          <p:grpSpPr bwMode="auto">
            <a:xfrm>
              <a:off x="4704" y="2069"/>
              <a:ext cx="1056" cy="768"/>
              <a:chOff x="4656" y="2496"/>
              <a:chExt cx="1056" cy="768"/>
            </a:xfrm>
          </p:grpSpPr>
          <p:sp>
            <p:nvSpPr>
              <p:cNvPr id="47143" name="AutoShape 25"/>
              <p:cNvSpPr>
                <a:spLocks noChangeArrowheads="1"/>
              </p:cNvSpPr>
              <p:nvPr/>
            </p:nvSpPr>
            <p:spPr bwMode="auto">
              <a:xfrm>
                <a:off x="4656" y="2496"/>
                <a:ext cx="1056" cy="768"/>
              </a:xfrm>
              <a:prstGeom prst="irregularSeal1">
                <a:avLst/>
              </a:prstGeom>
              <a:solidFill>
                <a:srgbClr val="00FFFF"/>
              </a:solidFill>
              <a:ln w="12700" cap="sq">
                <a:noFill/>
                <a:miter lim="800000"/>
                <a:headEnd type="none" w="sm" len="sm"/>
                <a:tailEnd type="none" w="sm" len="sm"/>
              </a:ln>
              <a:effectLst>
                <a:outerShdw dist="92457" dir="956724" algn="ctr" rotWithShape="0">
                  <a:schemeClr val="bg2"/>
                </a:outerShdw>
              </a:effectLst>
            </p:spPr>
            <p:txBody>
              <a:bodyPr wrap="none" anchor="ctr"/>
              <a:lstStyle/>
              <a:p>
                <a:endParaRPr lang="zh-CN" altLang="en-US"/>
              </a:p>
            </p:txBody>
          </p:sp>
          <p:sp>
            <p:nvSpPr>
              <p:cNvPr id="47144" name="Rectangle 26"/>
              <p:cNvSpPr>
                <a:spLocks noChangeArrowheads="1"/>
              </p:cNvSpPr>
              <p:nvPr/>
            </p:nvSpPr>
            <p:spPr bwMode="auto">
              <a:xfrm>
                <a:off x="4790" y="2634"/>
                <a:ext cx="740" cy="432"/>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wrap="none">
                <a:spAutoFit/>
              </a:bodyPr>
              <a:lstStyle/>
              <a:p>
                <a:r>
                  <a:rPr lang="zh-CN" altLang="en-US" sz="3900" b="1">
                    <a:solidFill>
                      <a:srgbClr val="FF3300"/>
                    </a:solidFill>
                    <a:ea typeface="华文新魏" pitchFamily="2" charset="-122"/>
                  </a:rPr>
                  <a:t>栈空</a:t>
                </a:r>
              </a:p>
            </p:txBody>
          </p:sp>
        </p:grpSp>
        <p:grpSp>
          <p:nvGrpSpPr>
            <p:cNvPr id="9" name="Group 27"/>
            <p:cNvGrpSpPr>
              <a:grpSpLocks/>
            </p:cNvGrpSpPr>
            <p:nvPr/>
          </p:nvGrpSpPr>
          <p:grpSpPr bwMode="auto">
            <a:xfrm>
              <a:off x="5061" y="2582"/>
              <a:ext cx="408" cy="227"/>
              <a:chOff x="2995" y="2106"/>
              <a:chExt cx="989" cy="768"/>
            </a:xfrm>
          </p:grpSpPr>
          <p:sp>
            <p:nvSpPr>
              <p:cNvPr id="47140" name="Freeform 28"/>
              <p:cNvSpPr>
                <a:spLocks/>
              </p:cNvSpPr>
              <p:nvPr/>
            </p:nvSpPr>
            <p:spPr bwMode="auto">
              <a:xfrm rot="421002">
                <a:off x="2995" y="2106"/>
                <a:ext cx="989" cy="768"/>
              </a:xfrm>
              <a:custGeom>
                <a:avLst/>
                <a:gdLst>
                  <a:gd name="T0" fmla="*/ 44145 w 439"/>
                  <a:gd name="T1" fmla="*/ 421 h 683"/>
                  <a:gd name="T2" fmla="*/ 57112 w 439"/>
                  <a:gd name="T3" fmla="*/ 313 h 683"/>
                  <a:gd name="T4" fmla="*/ 80138 w 439"/>
                  <a:gd name="T5" fmla="*/ 378 h 683"/>
                  <a:gd name="T6" fmla="*/ 78048 w 439"/>
                  <a:gd name="T7" fmla="*/ 552 h 683"/>
                  <a:gd name="T8" fmla="*/ 50311 w 439"/>
                  <a:gd name="T9" fmla="*/ 693 h 683"/>
                  <a:gd name="T10" fmla="*/ 45075 w 439"/>
                  <a:gd name="T11" fmla="*/ 1077 h 683"/>
                  <a:gd name="T12" fmla="*/ 50311 w 439"/>
                  <a:gd name="T13" fmla="*/ 1199 h 683"/>
                  <a:gd name="T14" fmla="*/ 41223 w 439"/>
                  <a:gd name="T15" fmla="*/ 1330 h 683"/>
                  <a:gd name="T16" fmla="*/ 43302 w 439"/>
                  <a:gd name="T17" fmla="*/ 1464 h 683"/>
                  <a:gd name="T18" fmla="*/ 62726 w 439"/>
                  <a:gd name="T19" fmla="*/ 1554 h 683"/>
                  <a:gd name="T20" fmla="*/ 88386 w 439"/>
                  <a:gd name="T21" fmla="*/ 1492 h 683"/>
                  <a:gd name="T22" fmla="*/ 96618 w 439"/>
                  <a:gd name="T23" fmla="*/ 1330 h 683"/>
                  <a:gd name="T24" fmla="*/ 86291 w 439"/>
                  <a:gd name="T25" fmla="*/ 1175 h 683"/>
                  <a:gd name="T26" fmla="*/ 97553 w 439"/>
                  <a:gd name="T27" fmla="*/ 1093 h 683"/>
                  <a:gd name="T28" fmla="*/ 97553 w 439"/>
                  <a:gd name="T29" fmla="*/ 878 h 683"/>
                  <a:gd name="T30" fmla="*/ 126263 w 439"/>
                  <a:gd name="T31" fmla="*/ 698 h 683"/>
                  <a:gd name="T32" fmla="*/ 129284 w 439"/>
                  <a:gd name="T33" fmla="*/ 425 h 683"/>
                  <a:gd name="T34" fmla="*/ 110714 w 439"/>
                  <a:gd name="T35" fmla="*/ 133 h 683"/>
                  <a:gd name="T36" fmla="*/ 73875 w 439"/>
                  <a:gd name="T37" fmla="*/ 0 h 683"/>
                  <a:gd name="T38" fmla="*/ 32975 w 439"/>
                  <a:gd name="T39" fmla="*/ 88 h 683"/>
                  <a:gd name="T40" fmla="*/ 9171 w 439"/>
                  <a:gd name="T41" fmla="*/ 261 h 683"/>
                  <a:gd name="T42" fmla="*/ 0 w 439"/>
                  <a:gd name="T43" fmla="*/ 532 h 683"/>
                  <a:gd name="T44" fmla="*/ 1158 w 439"/>
                  <a:gd name="T45" fmla="*/ 693 h 683"/>
                  <a:gd name="T46" fmla="*/ 43302 w 439"/>
                  <a:gd name="T47" fmla="*/ 672 h 683"/>
                  <a:gd name="T48" fmla="*/ 44145 w 439"/>
                  <a:gd name="T49" fmla="*/ 421 h 68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39"/>
                  <a:gd name="T76" fmla="*/ 0 h 683"/>
                  <a:gd name="T77" fmla="*/ 439 w 439"/>
                  <a:gd name="T78" fmla="*/ 683 h 68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39" h="683">
                    <a:moveTo>
                      <a:pt x="150" y="185"/>
                    </a:moveTo>
                    <a:lnTo>
                      <a:pt x="194" y="138"/>
                    </a:lnTo>
                    <a:lnTo>
                      <a:pt x="272" y="167"/>
                    </a:lnTo>
                    <a:lnTo>
                      <a:pt x="265" y="244"/>
                    </a:lnTo>
                    <a:lnTo>
                      <a:pt x="171" y="304"/>
                    </a:lnTo>
                    <a:lnTo>
                      <a:pt x="153" y="474"/>
                    </a:lnTo>
                    <a:lnTo>
                      <a:pt x="171" y="527"/>
                    </a:lnTo>
                    <a:lnTo>
                      <a:pt x="140" y="585"/>
                    </a:lnTo>
                    <a:lnTo>
                      <a:pt x="147" y="645"/>
                    </a:lnTo>
                    <a:lnTo>
                      <a:pt x="213" y="683"/>
                    </a:lnTo>
                    <a:lnTo>
                      <a:pt x="300" y="656"/>
                    </a:lnTo>
                    <a:lnTo>
                      <a:pt x="328" y="585"/>
                    </a:lnTo>
                    <a:lnTo>
                      <a:pt x="293" y="518"/>
                    </a:lnTo>
                    <a:lnTo>
                      <a:pt x="331" y="480"/>
                    </a:lnTo>
                    <a:lnTo>
                      <a:pt x="331" y="387"/>
                    </a:lnTo>
                    <a:lnTo>
                      <a:pt x="429" y="308"/>
                    </a:lnTo>
                    <a:lnTo>
                      <a:pt x="439" y="188"/>
                    </a:lnTo>
                    <a:lnTo>
                      <a:pt x="376" y="59"/>
                    </a:lnTo>
                    <a:lnTo>
                      <a:pt x="251" y="0"/>
                    </a:lnTo>
                    <a:lnTo>
                      <a:pt x="112" y="38"/>
                    </a:lnTo>
                    <a:lnTo>
                      <a:pt x="31" y="115"/>
                    </a:lnTo>
                    <a:lnTo>
                      <a:pt x="0" y="234"/>
                    </a:lnTo>
                    <a:lnTo>
                      <a:pt x="4" y="304"/>
                    </a:lnTo>
                    <a:lnTo>
                      <a:pt x="147" y="296"/>
                    </a:lnTo>
                    <a:lnTo>
                      <a:pt x="150" y="185"/>
                    </a:lnTo>
                    <a:close/>
                  </a:path>
                </a:pathLst>
              </a:custGeom>
              <a:solidFill>
                <a:srgbClr val="FFFF00"/>
              </a:solidFill>
              <a:ln w="9525">
                <a:solidFill>
                  <a:srgbClr val="00FFFF"/>
                </a:solidFill>
                <a:round/>
                <a:headEnd/>
                <a:tailEnd/>
              </a:ln>
            </p:spPr>
            <p:txBody>
              <a:bodyPr/>
              <a:lstStyle/>
              <a:p>
                <a:endParaRPr lang="zh-CN" altLang="en-US"/>
              </a:p>
            </p:txBody>
          </p:sp>
          <p:sp>
            <p:nvSpPr>
              <p:cNvPr id="47141" name="Freeform 29"/>
              <p:cNvSpPr>
                <a:spLocks/>
              </p:cNvSpPr>
              <p:nvPr/>
            </p:nvSpPr>
            <p:spPr bwMode="auto">
              <a:xfrm rot="421002">
                <a:off x="3036" y="2100"/>
                <a:ext cx="880" cy="535"/>
              </a:xfrm>
              <a:custGeom>
                <a:avLst/>
                <a:gdLst>
                  <a:gd name="T0" fmla="*/ 0 w 390"/>
                  <a:gd name="T1" fmla="*/ 381 h 477"/>
                  <a:gd name="T2" fmla="*/ 1482 w 390"/>
                  <a:gd name="T3" fmla="*/ 363 h 477"/>
                  <a:gd name="T4" fmla="*/ 2311 w 390"/>
                  <a:gd name="T5" fmla="*/ 381 h 477"/>
                  <a:gd name="T6" fmla="*/ 2250 w 390"/>
                  <a:gd name="T7" fmla="*/ 277 h 477"/>
                  <a:gd name="T8" fmla="*/ 2872 w 390"/>
                  <a:gd name="T9" fmla="*/ 159 h 477"/>
                  <a:gd name="T10" fmla="*/ 5341 w 390"/>
                  <a:gd name="T11" fmla="*/ 117 h 477"/>
                  <a:gd name="T12" fmla="*/ 6501 w 390"/>
                  <a:gd name="T13" fmla="*/ 166 h 477"/>
                  <a:gd name="T14" fmla="*/ 7755 w 390"/>
                  <a:gd name="T15" fmla="*/ 242 h 477"/>
                  <a:gd name="T16" fmla="*/ 7387 w 390"/>
                  <a:gd name="T17" fmla="*/ 375 h 477"/>
                  <a:gd name="T18" fmla="*/ 5057 w 390"/>
                  <a:gd name="T19" fmla="*/ 437 h 477"/>
                  <a:gd name="T20" fmla="*/ 4434 w 390"/>
                  <a:gd name="T21" fmla="*/ 531 h 477"/>
                  <a:gd name="T22" fmla="*/ 4619 w 390"/>
                  <a:gd name="T23" fmla="*/ 625 h 477"/>
                  <a:gd name="T24" fmla="*/ 4307 w 390"/>
                  <a:gd name="T25" fmla="*/ 755 h 477"/>
                  <a:gd name="T26" fmla="*/ 6638 w 390"/>
                  <a:gd name="T27" fmla="*/ 755 h 477"/>
                  <a:gd name="T28" fmla="*/ 6950 w 390"/>
                  <a:gd name="T29" fmla="*/ 659 h 477"/>
                  <a:gd name="T30" fmla="*/ 6767 w 390"/>
                  <a:gd name="T31" fmla="*/ 546 h 477"/>
                  <a:gd name="T32" fmla="*/ 8193 w 390"/>
                  <a:gd name="T33" fmla="*/ 486 h 477"/>
                  <a:gd name="T34" fmla="*/ 9281 w 390"/>
                  <a:gd name="T35" fmla="*/ 454 h 477"/>
                  <a:gd name="T36" fmla="*/ 10111 w 390"/>
                  <a:gd name="T37" fmla="*/ 311 h 477"/>
                  <a:gd name="T38" fmla="*/ 9364 w 390"/>
                  <a:gd name="T39" fmla="*/ 155 h 477"/>
                  <a:gd name="T40" fmla="*/ 6848 w 390"/>
                  <a:gd name="T41" fmla="*/ 0 h 477"/>
                  <a:gd name="T42" fmla="*/ 3777 w 390"/>
                  <a:gd name="T43" fmla="*/ 12 h 477"/>
                  <a:gd name="T44" fmla="*/ 1318 w 390"/>
                  <a:gd name="T45" fmla="*/ 105 h 477"/>
                  <a:gd name="T46" fmla="*/ 264 w 390"/>
                  <a:gd name="T47" fmla="*/ 221 h 477"/>
                  <a:gd name="T48" fmla="*/ 0 w 390"/>
                  <a:gd name="T49" fmla="*/ 381 h 47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90" h="477">
                    <a:moveTo>
                      <a:pt x="0" y="241"/>
                    </a:moveTo>
                    <a:lnTo>
                      <a:pt x="57" y="230"/>
                    </a:lnTo>
                    <a:lnTo>
                      <a:pt x="89" y="241"/>
                    </a:lnTo>
                    <a:lnTo>
                      <a:pt x="87" y="175"/>
                    </a:lnTo>
                    <a:lnTo>
                      <a:pt x="111" y="101"/>
                    </a:lnTo>
                    <a:lnTo>
                      <a:pt x="206" y="74"/>
                    </a:lnTo>
                    <a:lnTo>
                      <a:pt x="251" y="105"/>
                    </a:lnTo>
                    <a:lnTo>
                      <a:pt x="299" y="153"/>
                    </a:lnTo>
                    <a:lnTo>
                      <a:pt x="285" y="237"/>
                    </a:lnTo>
                    <a:lnTo>
                      <a:pt x="195" y="276"/>
                    </a:lnTo>
                    <a:lnTo>
                      <a:pt x="171" y="335"/>
                    </a:lnTo>
                    <a:lnTo>
                      <a:pt x="178" y="395"/>
                    </a:lnTo>
                    <a:lnTo>
                      <a:pt x="166" y="477"/>
                    </a:lnTo>
                    <a:lnTo>
                      <a:pt x="256" y="477"/>
                    </a:lnTo>
                    <a:lnTo>
                      <a:pt x="268" y="416"/>
                    </a:lnTo>
                    <a:lnTo>
                      <a:pt x="261" y="345"/>
                    </a:lnTo>
                    <a:lnTo>
                      <a:pt x="316" y="307"/>
                    </a:lnTo>
                    <a:lnTo>
                      <a:pt x="358" y="287"/>
                    </a:lnTo>
                    <a:lnTo>
                      <a:pt x="390" y="196"/>
                    </a:lnTo>
                    <a:lnTo>
                      <a:pt x="361" y="98"/>
                    </a:lnTo>
                    <a:lnTo>
                      <a:pt x="264" y="0"/>
                    </a:lnTo>
                    <a:lnTo>
                      <a:pt x="146" y="8"/>
                    </a:lnTo>
                    <a:lnTo>
                      <a:pt x="51" y="67"/>
                    </a:lnTo>
                    <a:lnTo>
                      <a:pt x="10" y="140"/>
                    </a:lnTo>
                    <a:lnTo>
                      <a:pt x="0" y="241"/>
                    </a:lnTo>
                    <a:close/>
                  </a:path>
                </a:pathLst>
              </a:custGeom>
              <a:solidFill>
                <a:srgbClr val="FF3300"/>
              </a:solidFill>
              <a:ln w="25400">
                <a:solidFill>
                  <a:srgbClr val="FFCC00"/>
                </a:solidFill>
                <a:round/>
                <a:headEnd/>
                <a:tailEnd/>
              </a:ln>
              <a:effectLst>
                <a:outerShdw dist="45791" dir="2021404" algn="ctr" rotWithShape="0">
                  <a:srgbClr val="808080"/>
                </a:outerShdw>
              </a:effectLst>
            </p:spPr>
            <p:txBody>
              <a:bodyPr/>
              <a:lstStyle/>
              <a:p>
                <a:endParaRPr lang="zh-CN" altLang="en-US"/>
              </a:p>
            </p:txBody>
          </p:sp>
          <p:sp>
            <p:nvSpPr>
              <p:cNvPr id="47142" name="Freeform 30"/>
              <p:cNvSpPr>
                <a:spLocks/>
              </p:cNvSpPr>
              <p:nvPr/>
            </p:nvSpPr>
            <p:spPr bwMode="auto">
              <a:xfrm rot="421002">
                <a:off x="3335" y="2712"/>
                <a:ext cx="284" cy="122"/>
              </a:xfrm>
              <a:custGeom>
                <a:avLst/>
                <a:gdLst>
                  <a:gd name="T0" fmla="*/ 13269 w 126"/>
                  <a:gd name="T1" fmla="*/ 0 h 109"/>
                  <a:gd name="T2" fmla="*/ 2612 w 126"/>
                  <a:gd name="T3" fmla="*/ 44 h 109"/>
                  <a:gd name="T4" fmla="*/ 0 w 126"/>
                  <a:gd name="T5" fmla="*/ 161 h 109"/>
                  <a:gd name="T6" fmla="*/ 8256 w 126"/>
                  <a:gd name="T7" fmla="*/ 240 h 109"/>
                  <a:gd name="T8" fmla="*/ 28959 w 126"/>
                  <a:gd name="T9" fmla="*/ 240 h 109"/>
                  <a:gd name="T10" fmla="*/ 37240 w 126"/>
                  <a:gd name="T11" fmla="*/ 146 h 109"/>
                  <a:gd name="T12" fmla="*/ 30151 w 126"/>
                  <a:gd name="T13" fmla="*/ 31 h 109"/>
                  <a:gd name="T14" fmla="*/ 13269 w 126"/>
                  <a:gd name="T15" fmla="*/ 0 h 109"/>
                  <a:gd name="T16" fmla="*/ 0 60000 65536"/>
                  <a:gd name="T17" fmla="*/ 0 60000 65536"/>
                  <a:gd name="T18" fmla="*/ 0 60000 65536"/>
                  <a:gd name="T19" fmla="*/ 0 60000 65536"/>
                  <a:gd name="T20" fmla="*/ 0 60000 65536"/>
                  <a:gd name="T21" fmla="*/ 0 60000 65536"/>
                  <a:gd name="T22" fmla="*/ 0 60000 65536"/>
                  <a:gd name="T23" fmla="*/ 0 60000 65536"/>
                  <a:gd name="T24" fmla="*/ 0 w 126"/>
                  <a:gd name="T25" fmla="*/ 0 h 109"/>
                  <a:gd name="T26" fmla="*/ 126 w 126"/>
                  <a:gd name="T27" fmla="*/ 109 h 1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6" h="109">
                    <a:moveTo>
                      <a:pt x="45" y="0"/>
                    </a:moveTo>
                    <a:lnTo>
                      <a:pt x="9" y="20"/>
                    </a:lnTo>
                    <a:lnTo>
                      <a:pt x="0" y="73"/>
                    </a:lnTo>
                    <a:lnTo>
                      <a:pt x="28" y="109"/>
                    </a:lnTo>
                    <a:lnTo>
                      <a:pt x="98" y="109"/>
                    </a:lnTo>
                    <a:lnTo>
                      <a:pt x="126" y="66"/>
                    </a:lnTo>
                    <a:lnTo>
                      <a:pt x="102" y="14"/>
                    </a:lnTo>
                    <a:lnTo>
                      <a:pt x="45" y="0"/>
                    </a:lnTo>
                    <a:close/>
                  </a:path>
                </a:pathLst>
              </a:custGeom>
              <a:solidFill>
                <a:srgbClr val="FF3300"/>
              </a:solidFill>
              <a:ln w="9525">
                <a:solidFill>
                  <a:srgbClr val="00FFFF"/>
                </a:solidFill>
                <a:round/>
                <a:headEnd/>
                <a:tailEnd/>
              </a:ln>
            </p:spPr>
            <p:txBody>
              <a:bodyPr/>
              <a:lstStyle/>
              <a:p>
                <a:endParaRPr lang="zh-CN" altLang="en-US"/>
              </a:p>
            </p:txBody>
          </p:sp>
        </p:grpSp>
      </p:grpSp>
      <p:grpSp>
        <p:nvGrpSpPr>
          <p:cNvPr id="10" name="Group 49"/>
          <p:cNvGrpSpPr>
            <a:grpSpLocks/>
          </p:cNvGrpSpPr>
          <p:nvPr/>
        </p:nvGrpSpPr>
        <p:grpSpPr bwMode="auto">
          <a:xfrm>
            <a:off x="2328864" y="4843463"/>
            <a:ext cx="7921625" cy="703262"/>
            <a:chOff x="476" y="3182"/>
            <a:chExt cx="4990" cy="443"/>
          </a:xfrm>
        </p:grpSpPr>
        <p:sp>
          <p:nvSpPr>
            <p:cNvPr id="47135" name="Text Box 50"/>
            <p:cNvSpPr txBox="1">
              <a:spLocks noChangeArrowheads="1"/>
            </p:cNvSpPr>
            <p:nvPr/>
          </p:nvSpPr>
          <p:spPr bwMode="auto">
            <a:xfrm>
              <a:off x="476" y="3385"/>
              <a:ext cx="4990" cy="240"/>
            </a:xfrm>
            <a:prstGeom prst="rect">
              <a:avLst/>
            </a:prstGeom>
            <a:noFill/>
            <a:ln w="12700" cap="sq">
              <a:noFill/>
              <a:miter lim="800000"/>
              <a:headEnd type="none" w="sm" len="sm"/>
              <a:tailEnd type="none" w="sm" len="sm"/>
            </a:ln>
          </p:spPr>
          <p:txBody>
            <a:bodyPr>
              <a:spAutoFit/>
            </a:bodyPr>
            <a:lstStyle/>
            <a:p>
              <a:r>
                <a:rPr lang="en-US" altLang="zh-CN" sz="1900" b="1" dirty="0">
                  <a:solidFill>
                    <a:srgbClr val="FF3300"/>
                  </a:solidFill>
                </a:rPr>
                <a:t>top1==</a:t>
              </a:r>
              <a:r>
                <a:rPr lang="en-US" altLang="zh-CN" sz="1900" b="1" dirty="0">
                  <a:solidFill>
                    <a:srgbClr val="FF3300"/>
                  </a:solidFill>
                  <a:latin typeface="宋体" charset="-122"/>
                  <a:ea typeface="宋体" charset="-122"/>
                </a:rPr>
                <a:t>-</a:t>
              </a:r>
              <a:r>
                <a:rPr lang="en-US" altLang="zh-CN" sz="1900" b="1" dirty="0">
                  <a:solidFill>
                    <a:srgbClr val="FF3300"/>
                  </a:solidFill>
                </a:rPr>
                <a:t>1                                                                                          top2==MAXSIZE</a:t>
              </a:r>
            </a:p>
          </p:txBody>
        </p:sp>
        <p:sp>
          <p:nvSpPr>
            <p:cNvPr id="47136" name="Line 51"/>
            <p:cNvSpPr>
              <a:spLocks noChangeShapeType="1"/>
            </p:cNvSpPr>
            <p:nvPr/>
          </p:nvSpPr>
          <p:spPr bwMode="auto">
            <a:xfrm flipV="1">
              <a:off x="657" y="3207"/>
              <a:ext cx="0" cy="181"/>
            </a:xfrm>
            <a:prstGeom prst="line">
              <a:avLst/>
            </a:prstGeom>
            <a:noFill/>
            <a:ln w="25400" cap="sq">
              <a:solidFill>
                <a:schemeClr val="accent2"/>
              </a:solidFill>
              <a:round/>
              <a:headEnd type="none" w="sm" len="sm"/>
              <a:tailEnd type="triangle" w="med" len="med"/>
            </a:ln>
          </p:spPr>
          <p:txBody>
            <a:bodyPr/>
            <a:lstStyle/>
            <a:p>
              <a:endParaRPr lang="zh-CN" altLang="en-US"/>
            </a:p>
          </p:txBody>
        </p:sp>
        <p:sp>
          <p:nvSpPr>
            <p:cNvPr id="47137" name="Line 52"/>
            <p:cNvSpPr>
              <a:spLocks noChangeShapeType="1"/>
            </p:cNvSpPr>
            <p:nvPr/>
          </p:nvSpPr>
          <p:spPr bwMode="auto">
            <a:xfrm flipV="1">
              <a:off x="4935" y="3182"/>
              <a:ext cx="0" cy="181"/>
            </a:xfrm>
            <a:prstGeom prst="line">
              <a:avLst/>
            </a:prstGeom>
            <a:noFill/>
            <a:ln w="25400" cap="sq">
              <a:solidFill>
                <a:schemeClr val="accent2"/>
              </a:solidFill>
              <a:round/>
              <a:headEnd type="none" w="sm" len="sm"/>
              <a:tailEnd type="triangle" w="med" len="med"/>
            </a:ln>
          </p:spPr>
          <p:txBody>
            <a:bodyPr/>
            <a:lstStyle/>
            <a:p>
              <a:endParaRPr lang="zh-CN" altLang="en-US"/>
            </a:p>
          </p:txBody>
        </p:sp>
      </p:grpSp>
      <p:grpSp>
        <p:nvGrpSpPr>
          <p:cNvPr id="11" name="Group 53"/>
          <p:cNvGrpSpPr>
            <a:grpSpLocks/>
          </p:cNvGrpSpPr>
          <p:nvPr/>
        </p:nvGrpSpPr>
        <p:grpSpPr bwMode="auto">
          <a:xfrm>
            <a:off x="6634163" y="5851525"/>
            <a:ext cx="2254250" cy="457200"/>
            <a:chOff x="3219" y="3686"/>
            <a:chExt cx="1420" cy="288"/>
          </a:xfrm>
        </p:grpSpPr>
        <p:sp>
          <p:nvSpPr>
            <p:cNvPr id="47133" name="AutoShape 54"/>
            <p:cNvSpPr>
              <a:spLocks noChangeArrowheads="1"/>
            </p:cNvSpPr>
            <p:nvPr/>
          </p:nvSpPr>
          <p:spPr bwMode="auto">
            <a:xfrm>
              <a:off x="3219" y="3686"/>
              <a:ext cx="1384" cy="288"/>
            </a:xfrm>
            <a:prstGeom prst="wedgeRectCallout">
              <a:avLst>
                <a:gd name="adj1" fmla="val 49421"/>
                <a:gd name="adj2" fmla="val -111111"/>
              </a:avLst>
            </a:prstGeom>
            <a:noFill/>
            <a:ln w="57150" cap="sq">
              <a:solidFill>
                <a:srgbClr val="0085A4"/>
              </a:solidFill>
              <a:miter lim="800000"/>
              <a:headEnd type="none" w="sm" len="sm"/>
              <a:tailEnd type="none" w="sm" len="sm"/>
            </a:ln>
          </p:spPr>
          <p:txBody>
            <a:bodyPr/>
            <a:lstStyle/>
            <a:p>
              <a:pPr algn="ctr"/>
              <a:endParaRPr lang="zh-CN" altLang="en-US"/>
            </a:p>
          </p:txBody>
        </p:sp>
        <p:sp>
          <p:nvSpPr>
            <p:cNvPr id="47134" name="Text Box 55"/>
            <p:cNvSpPr txBox="1">
              <a:spLocks noChangeArrowheads="1"/>
            </p:cNvSpPr>
            <p:nvPr/>
          </p:nvSpPr>
          <p:spPr bwMode="auto">
            <a:xfrm>
              <a:off x="3244" y="3707"/>
              <a:ext cx="1395" cy="250"/>
            </a:xfrm>
            <a:prstGeom prst="rect">
              <a:avLst/>
            </a:prstGeom>
            <a:noFill/>
            <a:ln w="12700" cap="sq">
              <a:noFill/>
              <a:miter lim="800000"/>
              <a:headEnd type="none" w="sm" len="sm"/>
              <a:tailEnd type="none" w="sm" len="sm"/>
            </a:ln>
          </p:spPr>
          <p:txBody>
            <a:bodyPr>
              <a:spAutoFit/>
            </a:bodyPr>
            <a:lstStyle/>
            <a:p>
              <a:r>
                <a:rPr lang="zh-CN" altLang="en-US" sz="2000" b="1">
                  <a:solidFill>
                    <a:srgbClr val="FF0000"/>
                  </a:solidFill>
                  <a:latin typeface="幼圆" pitchFamily="49" charset="-122"/>
                  <a:ea typeface="幼圆" pitchFamily="49" charset="-122"/>
                </a:rPr>
                <a:t>第</a:t>
              </a:r>
              <a:r>
                <a:rPr lang="en-US" altLang="zh-CN" sz="2000" b="1">
                  <a:solidFill>
                    <a:srgbClr val="FF0000"/>
                  </a:solidFill>
                  <a:ea typeface="幼圆" pitchFamily="49" charset="-122"/>
                </a:rPr>
                <a:t>2</a:t>
              </a:r>
              <a:r>
                <a:rPr lang="zh-CN" altLang="en-US" sz="2000" b="1">
                  <a:solidFill>
                    <a:srgbClr val="FF0000"/>
                  </a:solidFill>
                  <a:latin typeface="幼圆" pitchFamily="49" charset="-122"/>
                  <a:ea typeface="幼圆" pitchFamily="49" charset="-122"/>
                </a:rPr>
                <a:t>栈栈空的条件</a:t>
              </a:r>
            </a:p>
          </p:txBody>
        </p:sp>
      </p:grpSp>
      <p:grpSp>
        <p:nvGrpSpPr>
          <p:cNvPr id="12" name="Group 66"/>
          <p:cNvGrpSpPr>
            <a:grpSpLocks/>
          </p:cNvGrpSpPr>
          <p:nvPr/>
        </p:nvGrpSpPr>
        <p:grpSpPr bwMode="auto">
          <a:xfrm>
            <a:off x="2689225" y="981076"/>
            <a:ext cx="6813550" cy="1482725"/>
            <a:chOff x="839" y="1933"/>
            <a:chExt cx="4292" cy="934"/>
          </a:xfrm>
        </p:grpSpPr>
        <p:sp>
          <p:nvSpPr>
            <p:cNvPr id="47116" name="Text Box 67"/>
            <p:cNvSpPr txBox="1">
              <a:spLocks noChangeArrowheads="1"/>
            </p:cNvSpPr>
            <p:nvPr/>
          </p:nvSpPr>
          <p:spPr bwMode="auto">
            <a:xfrm>
              <a:off x="2517" y="2156"/>
              <a:ext cx="1179" cy="279"/>
            </a:xfrm>
            <a:prstGeom prst="rect">
              <a:avLst/>
            </a:prstGeom>
            <a:noFill/>
            <a:ln w="12700" cap="sq">
              <a:noFill/>
              <a:miter lim="800000"/>
              <a:headEnd type="none" w="sm" len="sm"/>
              <a:tailEnd type="none" w="sm" len="sm"/>
            </a:ln>
          </p:spPr>
          <p:txBody>
            <a:bodyPr>
              <a:spAutoFit/>
            </a:bodyPr>
            <a:lstStyle/>
            <a:p>
              <a:r>
                <a:rPr lang="zh-CN" altLang="en-US" sz="2300" b="1">
                  <a:solidFill>
                    <a:srgbClr val="000099"/>
                  </a:solidFill>
                  <a:ea typeface="幼圆" pitchFamily="49" charset="-122"/>
                </a:rPr>
                <a:t>可用空间</a:t>
              </a:r>
            </a:p>
          </p:txBody>
        </p:sp>
        <p:sp>
          <p:nvSpPr>
            <p:cNvPr id="47117" name="Text Box 68"/>
            <p:cNvSpPr txBox="1">
              <a:spLocks noChangeArrowheads="1"/>
            </p:cNvSpPr>
            <p:nvPr/>
          </p:nvSpPr>
          <p:spPr bwMode="auto">
            <a:xfrm>
              <a:off x="839" y="1933"/>
              <a:ext cx="3831" cy="213"/>
            </a:xfrm>
            <a:prstGeom prst="rect">
              <a:avLst/>
            </a:prstGeom>
            <a:noFill/>
            <a:ln w="12700" cap="sq">
              <a:noFill/>
              <a:miter lim="800000"/>
              <a:headEnd type="none" w="sm" len="sm"/>
              <a:tailEnd type="none" w="sm" len="sm"/>
            </a:ln>
          </p:spPr>
          <p:txBody>
            <a:bodyPr wrap="none">
              <a:spAutoFit/>
            </a:bodyPr>
            <a:lstStyle/>
            <a:p>
              <a:r>
                <a:rPr lang="zh-CN" altLang="en-US" sz="1600" b="1" dirty="0"/>
                <a:t>0  1  2   </a:t>
              </a:r>
              <a:r>
                <a:rPr lang="zh-CN" altLang="en-US" sz="1600" b="1" dirty="0">
                  <a:ea typeface="宋体" charset="-122"/>
                  <a:cs typeface="Times New Roman" pitchFamily="18" charset="0"/>
                </a:rPr>
                <a:t>…</a:t>
              </a:r>
              <a:r>
                <a:rPr lang="zh-CN" altLang="en-US" sz="1600" b="1" dirty="0"/>
                <a:t>                                                                                                       </a:t>
              </a:r>
              <a:r>
                <a:rPr lang="en-US" altLang="zh-CN" sz="1600" b="1" dirty="0"/>
                <a:t>M</a:t>
              </a:r>
              <a:r>
                <a:rPr lang="en-US" altLang="zh-CN" sz="1600" b="1" dirty="0">
                  <a:latin typeface="宋体" charset="-122"/>
                  <a:ea typeface="宋体" charset="-122"/>
                </a:rPr>
                <a:t>-</a:t>
              </a:r>
              <a:r>
                <a:rPr lang="en-US" altLang="zh-CN" sz="1600" b="1" dirty="0"/>
                <a:t>1</a:t>
              </a:r>
            </a:p>
          </p:txBody>
        </p:sp>
        <p:sp>
          <p:nvSpPr>
            <p:cNvPr id="47118" name="Text Box 69"/>
            <p:cNvSpPr txBox="1">
              <a:spLocks noChangeArrowheads="1"/>
            </p:cNvSpPr>
            <p:nvPr/>
          </p:nvSpPr>
          <p:spPr bwMode="auto">
            <a:xfrm>
              <a:off x="1997" y="2617"/>
              <a:ext cx="2230" cy="250"/>
            </a:xfrm>
            <a:prstGeom prst="rect">
              <a:avLst/>
            </a:prstGeom>
            <a:noFill/>
            <a:ln w="12700" cap="sq">
              <a:noFill/>
              <a:miter lim="800000"/>
              <a:headEnd type="none" w="sm" len="sm"/>
              <a:tailEnd type="none" w="sm" len="sm"/>
            </a:ln>
          </p:spPr>
          <p:txBody>
            <a:bodyPr>
              <a:spAutoFit/>
            </a:bodyPr>
            <a:lstStyle/>
            <a:p>
              <a:r>
                <a:rPr lang="en-US" altLang="zh-CN" sz="2000" b="1" dirty="0">
                  <a:solidFill>
                    <a:srgbClr val="FF3300"/>
                  </a:solidFill>
                </a:rPr>
                <a:t>top1                                top2</a:t>
              </a:r>
            </a:p>
          </p:txBody>
        </p:sp>
        <p:sp>
          <p:nvSpPr>
            <p:cNvPr id="47119" name="Line 70"/>
            <p:cNvSpPr>
              <a:spLocks noChangeShapeType="1"/>
            </p:cNvSpPr>
            <p:nvPr/>
          </p:nvSpPr>
          <p:spPr bwMode="auto">
            <a:xfrm flipV="1">
              <a:off x="2200" y="2502"/>
              <a:ext cx="0" cy="181"/>
            </a:xfrm>
            <a:prstGeom prst="line">
              <a:avLst/>
            </a:prstGeom>
            <a:noFill/>
            <a:ln w="22225" cap="sq">
              <a:solidFill>
                <a:schemeClr val="accent2"/>
              </a:solidFill>
              <a:round/>
              <a:headEnd type="none" w="sm" len="sm"/>
              <a:tailEnd type="triangle" w="med" len="med"/>
            </a:ln>
          </p:spPr>
          <p:txBody>
            <a:bodyPr/>
            <a:lstStyle/>
            <a:p>
              <a:endParaRPr lang="zh-CN" altLang="en-US"/>
            </a:p>
          </p:txBody>
        </p:sp>
        <p:sp>
          <p:nvSpPr>
            <p:cNvPr id="47120" name="Line 71"/>
            <p:cNvSpPr>
              <a:spLocks noChangeShapeType="1"/>
            </p:cNvSpPr>
            <p:nvPr/>
          </p:nvSpPr>
          <p:spPr bwMode="auto">
            <a:xfrm>
              <a:off x="839" y="2146"/>
              <a:ext cx="4173" cy="0"/>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47121" name="Line 72"/>
            <p:cNvSpPr>
              <a:spLocks noChangeShapeType="1"/>
            </p:cNvSpPr>
            <p:nvPr/>
          </p:nvSpPr>
          <p:spPr bwMode="auto">
            <a:xfrm>
              <a:off x="839" y="2477"/>
              <a:ext cx="4173" cy="0"/>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47122" name="Line 73"/>
            <p:cNvSpPr>
              <a:spLocks noChangeShapeType="1"/>
            </p:cNvSpPr>
            <p:nvPr/>
          </p:nvSpPr>
          <p:spPr bwMode="auto">
            <a:xfrm>
              <a:off x="839" y="2146"/>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47123" name="Line 74"/>
            <p:cNvSpPr>
              <a:spLocks noChangeShapeType="1"/>
            </p:cNvSpPr>
            <p:nvPr/>
          </p:nvSpPr>
          <p:spPr bwMode="auto">
            <a:xfrm>
              <a:off x="5012" y="2146"/>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47124" name="Line 75"/>
            <p:cNvSpPr>
              <a:spLocks noChangeShapeType="1"/>
            </p:cNvSpPr>
            <p:nvPr/>
          </p:nvSpPr>
          <p:spPr bwMode="auto">
            <a:xfrm>
              <a:off x="2280" y="2146"/>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47125" name="Line 76"/>
            <p:cNvSpPr>
              <a:spLocks noChangeShapeType="1"/>
            </p:cNvSpPr>
            <p:nvPr/>
          </p:nvSpPr>
          <p:spPr bwMode="auto">
            <a:xfrm>
              <a:off x="3658" y="2153"/>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47126" name="Rectangle 77"/>
            <p:cNvSpPr>
              <a:spLocks noChangeArrowheads="1"/>
            </p:cNvSpPr>
            <p:nvPr/>
          </p:nvSpPr>
          <p:spPr bwMode="auto">
            <a:xfrm>
              <a:off x="853" y="2156"/>
              <a:ext cx="1421" cy="311"/>
            </a:xfrm>
            <a:prstGeom prst="rect">
              <a:avLst/>
            </a:prstGeom>
            <a:solidFill>
              <a:srgbClr val="C1F7F2"/>
            </a:solidFill>
            <a:ln w="12700" cap="sq">
              <a:noFill/>
              <a:miter lim="800000"/>
              <a:headEnd type="none" w="sm" len="sm"/>
              <a:tailEnd type="none" w="sm" len="sm"/>
            </a:ln>
          </p:spPr>
          <p:txBody>
            <a:bodyPr wrap="none" anchor="ctr"/>
            <a:lstStyle/>
            <a:p>
              <a:endParaRPr lang="zh-CN" altLang="en-US"/>
            </a:p>
          </p:txBody>
        </p:sp>
        <p:sp>
          <p:nvSpPr>
            <p:cNvPr id="47127" name="Rectangle 78"/>
            <p:cNvSpPr>
              <a:spLocks noChangeArrowheads="1"/>
            </p:cNvSpPr>
            <p:nvPr/>
          </p:nvSpPr>
          <p:spPr bwMode="auto">
            <a:xfrm>
              <a:off x="3668" y="2160"/>
              <a:ext cx="1330" cy="311"/>
            </a:xfrm>
            <a:prstGeom prst="rect">
              <a:avLst/>
            </a:prstGeom>
            <a:solidFill>
              <a:srgbClr val="C9C9C9"/>
            </a:solidFill>
            <a:ln w="12700" cap="sq">
              <a:noFill/>
              <a:miter lim="800000"/>
              <a:headEnd type="none" w="sm" len="sm"/>
              <a:tailEnd type="none" w="sm" len="sm"/>
            </a:ln>
          </p:spPr>
          <p:txBody>
            <a:bodyPr wrap="none" anchor="ctr"/>
            <a:lstStyle/>
            <a:p>
              <a:endParaRPr lang="zh-CN" altLang="en-US"/>
            </a:p>
          </p:txBody>
        </p:sp>
        <p:sp>
          <p:nvSpPr>
            <p:cNvPr id="47128" name="Line 79"/>
            <p:cNvSpPr>
              <a:spLocks noChangeShapeType="1"/>
            </p:cNvSpPr>
            <p:nvPr/>
          </p:nvSpPr>
          <p:spPr bwMode="auto">
            <a:xfrm>
              <a:off x="2109" y="2153"/>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47129" name="Line 80"/>
            <p:cNvSpPr>
              <a:spLocks noChangeShapeType="1"/>
            </p:cNvSpPr>
            <p:nvPr/>
          </p:nvSpPr>
          <p:spPr bwMode="auto">
            <a:xfrm>
              <a:off x="3833" y="2153"/>
              <a:ext cx="0" cy="317"/>
            </a:xfrm>
            <a:prstGeom prst="line">
              <a:avLst/>
            </a:prstGeom>
            <a:noFill/>
            <a:ln w="28575" cap="sq">
              <a:solidFill>
                <a:srgbClr val="000080"/>
              </a:solidFill>
              <a:round/>
              <a:headEnd type="none" w="sm" len="sm"/>
              <a:tailEnd type="none" w="sm" len="sm"/>
            </a:ln>
          </p:spPr>
          <p:txBody>
            <a:bodyPr/>
            <a:lstStyle/>
            <a:p>
              <a:endParaRPr lang="zh-CN" altLang="en-US"/>
            </a:p>
          </p:txBody>
        </p:sp>
        <p:sp>
          <p:nvSpPr>
            <p:cNvPr id="47130" name="Text Box 81"/>
            <p:cNvSpPr txBox="1">
              <a:spLocks noChangeArrowheads="1"/>
            </p:cNvSpPr>
            <p:nvPr/>
          </p:nvSpPr>
          <p:spPr bwMode="auto">
            <a:xfrm>
              <a:off x="1069" y="2184"/>
              <a:ext cx="1134" cy="269"/>
            </a:xfrm>
            <a:prstGeom prst="rect">
              <a:avLst/>
            </a:prstGeom>
            <a:noFill/>
            <a:ln w="12700" cap="sq">
              <a:noFill/>
              <a:miter lim="800000"/>
              <a:headEnd type="none" w="sm" len="sm"/>
              <a:tailEnd type="none" w="sm" len="sm"/>
            </a:ln>
          </p:spPr>
          <p:txBody>
            <a:bodyPr>
              <a:spAutoFit/>
            </a:bodyPr>
            <a:lstStyle/>
            <a:p>
              <a:r>
                <a:rPr lang="zh-CN" altLang="en-US" sz="2200" b="1" dirty="0">
                  <a:latin typeface="幼圆" pitchFamily="49" charset="-122"/>
                  <a:ea typeface="幼圆" pitchFamily="49" charset="-122"/>
                </a:rPr>
                <a:t>第</a:t>
              </a:r>
              <a:r>
                <a:rPr lang="zh-CN" altLang="en-US" sz="2200" b="1" dirty="0">
                  <a:ea typeface="幼圆" pitchFamily="49" charset="-122"/>
                </a:rPr>
                <a:t>1</a:t>
              </a:r>
              <a:r>
                <a:rPr lang="zh-CN" altLang="en-US" sz="2200" b="1" dirty="0">
                  <a:latin typeface="幼圆" pitchFamily="49" charset="-122"/>
                  <a:ea typeface="幼圆" pitchFamily="49" charset="-122"/>
                </a:rPr>
                <a:t>个栈</a:t>
              </a:r>
            </a:p>
          </p:txBody>
        </p:sp>
        <p:sp>
          <p:nvSpPr>
            <p:cNvPr id="47131" name="Text Box 82"/>
            <p:cNvSpPr txBox="1">
              <a:spLocks noChangeArrowheads="1"/>
            </p:cNvSpPr>
            <p:nvPr/>
          </p:nvSpPr>
          <p:spPr bwMode="auto">
            <a:xfrm>
              <a:off x="3997" y="2181"/>
              <a:ext cx="1134" cy="269"/>
            </a:xfrm>
            <a:prstGeom prst="rect">
              <a:avLst/>
            </a:prstGeom>
            <a:noFill/>
            <a:ln w="12700" cap="sq">
              <a:noFill/>
              <a:miter lim="800000"/>
              <a:headEnd type="none" w="sm" len="sm"/>
              <a:tailEnd type="none" w="sm" len="sm"/>
            </a:ln>
          </p:spPr>
          <p:txBody>
            <a:bodyPr>
              <a:spAutoFit/>
            </a:bodyPr>
            <a:lstStyle/>
            <a:p>
              <a:r>
                <a:rPr lang="zh-CN" altLang="en-US" sz="2200" b="1" dirty="0">
                  <a:latin typeface="幼圆" pitchFamily="49" charset="-122"/>
                  <a:ea typeface="幼圆" pitchFamily="49" charset="-122"/>
                </a:rPr>
                <a:t>第</a:t>
              </a:r>
              <a:r>
                <a:rPr lang="en-US" altLang="zh-CN" sz="2200" b="1" dirty="0">
                  <a:ea typeface="幼圆" pitchFamily="49" charset="-122"/>
                </a:rPr>
                <a:t>2</a:t>
              </a:r>
              <a:r>
                <a:rPr lang="zh-CN" altLang="en-US" sz="2200" b="1" dirty="0">
                  <a:latin typeface="幼圆" pitchFamily="49" charset="-122"/>
                  <a:ea typeface="幼圆" pitchFamily="49" charset="-122"/>
                </a:rPr>
                <a:t>个栈</a:t>
              </a:r>
            </a:p>
          </p:txBody>
        </p:sp>
        <p:sp>
          <p:nvSpPr>
            <p:cNvPr id="47132" name="Line 83"/>
            <p:cNvSpPr>
              <a:spLocks noChangeShapeType="1"/>
            </p:cNvSpPr>
            <p:nvPr/>
          </p:nvSpPr>
          <p:spPr bwMode="auto">
            <a:xfrm flipV="1">
              <a:off x="3749" y="2488"/>
              <a:ext cx="0" cy="181"/>
            </a:xfrm>
            <a:prstGeom prst="line">
              <a:avLst/>
            </a:prstGeom>
            <a:noFill/>
            <a:ln w="22225" cap="sq">
              <a:solidFill>
                <a:schemeClr val="accent2"/>
              </a:solidFill>
              <a:round/>
              <a:headEnd type="none" w="sm" len="sm"/>
              <a:tailEnd type="triangle" w="med" len="med"/>
            </a:ln>
          </p:spPr>
          <p:txBody>
            <a:bodyPr/>
            <a:lstStyle/>
            <a:p>
              <a:endParaRPr lang="zh-CN" altLang="en-US"/>
            </a:p>
          </p:txBody>
        </p:sp>
      </p:grpSp>
    </p:spTree>
  </p:cSld>
  <p:clrMapOvr>
    <a:masterClrMapping/>
  </p:clrMapOvr>
  <p:transition>
    <p:strip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96962"/>
                                        </p:tgtEl>
                                        <p:attrNameLst>
                                          <p:attrName>style.visibility</p:attrName>
                                        </p:attrNameLst>
                                      </p:cBhvr>
                                      <p:to>
                                        <p:strVal val="visible"/>
                                      </p:to>
                                    </p:set>
                                    <p:animEffect transition="in" filter="blinds(vertical)">
                                      <p:cBhvr>
                                        <p:cTn id="7" dur="500"/>
                                        <p:tgtEl>
                                          <p:spTgt spid="2969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0-#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2"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1+#ppt_w/2"/>
                                          </p:val>
                                        </p:tav>
                                        <p:tav tm="100000">
                                          <p:val>
                                            <p:strVal val="#ppt_x"/>
                                          </p:val>
                                        </p:tav>
                                      </p:tavLst>
                                    </p:anim>
                                    <p:anim calcmode="lin" valueType="num">
                                      <p:cBhvr additive="base">
                                        <p:cTn id="19"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3" presetClass="entr" presetSubtype="528"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anim calcmode="lin" valueType="num">
                                      <p:cBhvr>
                                        <p:cTn id="26" dur="500" fill="hold"/>
                                        <p:tgtEl>
                                          <p:spTgt spid="7"/>
                                        </p:tgtEl>
                                        <p:attrNameLst>
                                          <p:attrName>ppt_x</p:attrName>
                                        </p:attrNameLst>
                                      </p:cBhvr>
                                      <p:tavLst>
                                        <p:tav tm="0">
                                          <p:val>
                                            <p:fltVal val="0.5"/>
                                          </p:val>
                                        </p:tav>
                                        <p:tav tm="100000">
                                          <p:val>
                                            <p:strVal val="#ppt_x"/>
                                          </p:val>
                                        </p:tav>
                                      </p:tavLst>
                                    </p:anim>
                                    <p:anim calcmode="lin" valueType="num">
                                      <p:cBhvr>
                                        <p:cTn id="27" dur="500" fill="hold"/>
                                        <p:tgtEl>
                                          <p:spTgt spid="7"/>
                                        </p:tgtEl>
                                        <p:attrNameLst>
                                          <p:attrName>ppt_y</p:attrName>
                                        </p:attrNameLst>
                                      </p:cBhvr>
                                      <p:tavLst>
                                        <p:tav tm="0">
                                          <p:val>
                                            <p:fltVal val="0.5"/>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21"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barn(inVertical)">
                                      <p:cBhvr>
                                        <p:cTn id="32" dur="500"/>
                                        <p:tgtEl>
                                          <p:spTgt spid="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down)">
                                      <p:cBhvr>
                                        <p:cTn id="37" dur="500"/>
                                        <p:tgtEl>
                                          <p:spTgt spid="1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2"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right)">
                                      <p:cBhvr>
                                        <p:cTn id="42" dur="500"/>
                                        <p:tgtEl>
                                          <p:spTgt spid="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62"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Text Box 4"/>
          <p:cNvSpPr txBox="1">
            <a:spLocks noChangeArrowheads="1"/>
          </p:cNvSpPr>
          <p:nvPr/>
        </p:nvSpPr>
        <p:spPr bwMode="auto">
          <a:xfrm>
            <a:off x="1919537" y="908720"/>
            <a:ext cx="7788275" cy="4873642"/>
          </a:xfrm>
          <a:prstGeom prst="rect">
            <a:avLst/>
          </a:prstGeom>
          <a:noFill/>
          <a:ln w="12700" cap="sq">
            <a:noFill/>
            <a:miter lim="800000"/>
            <a:headEnd type="none" w="sm" len="sm"/>
            <a:tailEnd type="none" w="sm" len="sm"/>
          </a:ln>
        </p:spPr>
        <p:txBody>
          <a:bodyPr>
            <a:spAutoFit/>
          </a:bodyPr>
          <a:lstStyle/>
          <a:p>
            <a:pPr>
              <a:lnSpc>
                <a:spcPct val="75000"/>
              </a:lnSpc>
            </a:pPr>
            <a:endParaRPr lang="zh-CN" altLang="en-US" sz="2600" b="1" dirty="0"/>
          </a:p>
          <a:p>
            <a:pPr>
              <a:lnSpc>
                <a:spcPct val="75000"/>
              </a:lnSpc>
            </a:pPr>
            <a:r>
              <a:rPr lang="en-US" altLang="zh-CN" sz="2600" b="1" dirty="0" err="1"/>
              <a:t>EleType</a:t>
            </a:r>
            <a:r>
              <a:rPr lang="en-US" altLang="zh-CN" sz="2600" b="1" dirty="0"/>
              <a:t>  pop( </a:t>
            </a:r>
            <a:r>
              <a:rPr lang="en-US" altLang="zh-CN" sz="2600" b="1" dirty="0" err="1"/>
              <a:t>ElemType</a:t>
            </a:r>
            <a:r>
              <a:rPr lang="en-US" altLang="zh-CN" sz="2600" b="1" dirty="0"/>
              <a:t> s[ ],  </a:t>
            </a:r>
            <a:r>
              <a:rPr lang="en-US" altLang="zh-CN" sz="2600" b="1" dirty="0" err="1"/>
              <a:t>int</a:t>
            </a:r>
            <a:r>
              <a:rPr lang="en-US" altLang="zh-CN" sz="2600" b="1" dirty="0"/>
              <a:t> </a:t>
            </a:r>
            <a:r>
              <a:rPr lang="en-US" altLang="zh-CN" sz="2600" b="1" dirty="0" err="1"/>
              <a:t>i</a:t>
            </a:r>
            <a:r>
              <a:rPr lang="en-US" altLang="zh-CN" sz="2600" b="1" dirty="0"/>
              <a:t>)</a:t>
            </a:r>
          </a:p>
          <a:p>
            <a:pPr>
              <a:lnSpc>
                <a:spcPct val="75000"/>
              </a:lnSpc>
            </a:pPr>
            <a:r>
              <a:rPr lang="en-US" altLang="zh-CN" sz="2600" b="1" dirty="0"/>
              <a:t>{</a:t>
            </a:r>
          </a:p>
          <a:p>
            <a:pPr>
              <a:lnSpc>
                <a:spcPct val="75000"/>
              </a:lnSpc>
            </a:pPr>
            <a:r>
              <a:rPr lang="en-US" altLang="zh-CN" sz="2600" b="1" dirty="0"/>
              <a:t>       if(</a:t>
            </a:r>
            <a:r>
              <a:rPr lang="en-US" altLang="zh-CN" sz="2600" b="1" dirty="0" err="1"/>
              <a:t>i</a:t>
            </a:r>
            <a:r>
              <a:rPr lang="en-US" altLang="zh-CN" sz="2600" b="1" dirty="0"/>
              <a:t>==</a:t>
            </a:r>
            <a:r>
              <a:rPr lang="en-US" altLang="zh-CN" sz="2600" b="1" dirty="0">
                <a:ea typeface="宋体" charset="-122"/>
                <a:cs typeface="Times New Roman" pitchFamily="18" charset="0"/>
              </a:rPr>
              <a:t>1) </a:t>
            </a:r>
          </a:p>
          <a:p>
            <a:pPr>
              <a:lnSpc>
                <a:spcPct val="75000"/>
              </a:lnSpc>
            </a:pPr>
            <a:r>
              <a:rPr lang="en-US" altLang="zh-CN" sz="2600" b="1" dirty="0">
                <a:solidFill>
                  <a:schemeClr val="bg1"/>
                </a:solidFill>
                <a:ea typeface="宋体" charset="-122"/>
                <a:cs typeface="Times New Roman" pitchFamily="18" charset="0"/>
              </a:rPr>
              <a:t>             </a:t>
            </a:r>
            <a:r>
              <a:rPr lang="en-US" altLang="zh-CN" sz="2600" b="1" dirty="0">
                <a:solidFill>
                  <a:srgbClr val="002BB6"/>
                </a:solidFill>
                <a:ea typeface="宋体" charset="-122"/>
                <a:cs typeface="Times New Roman" pitchFamily="18" charset="0"/>
              </a:rPr>
              <a:t>if(top1==</a:t>
            </a:r>
            <a:r>
              <a:rPr lang="en-US" altLang="zh-CN" sz="2600" b="1" dirty="0">
                <a:solidFill>
                  <a:srgbClr val="000099"/>
                </a:solidFill>
                <a:ea typeface="宋体" charset="-122"/>
                <a:cs typeface="Times New Roman" pitchFamily="18" charset="0"/>
              </a:rPr>
              <a:t>–</a:t>
            </a:r>
            <a:r>
              <a:rPr lang="en-US" altLang="zh-CN" sz="2600" b="1" dirty="0">
                <a:solidFill>
                  <a:srgbClr val="002BB6"/>
                </a:solidFill>
                <a:ea typeface="宋体" charset="-122"/>
                <a:cs typeface="Times New Roman" pitchFamily="18" charset="0"/>
              </a:rPr>
              <a:t>1) </a:t>
            </a:r>
          </a:p>
          <a:p>
            <a:pPr>
              <a:lnSpc>
                <a:spcPct val="75000"/>
              </a:lnSpc>
            </a:pPr>
            <a:r>
              <a:rPr lang="en-US" altLang="zh-CN" sz="2600" b="1" dirty="0">
                <a:solidFill>
                  <a:srgbClr val="002BB6"/>
                </a:solidFill>
                <a:ea typeface="宋体" charset="-122"/>
                <a:cs typeface="Times New Roman" pitchFamily="18" charset="0"/>
              </a:rPr>
              <a:t>                    Error(“Empty Stack1!”);</a:t>
            </a:r>
          </a:p>
          <a:p>
            <a:pPr>
              <a:lnSpc>
                <a:spcPct val="75000"/>
              </a:lnSpc>
            </a:pPr>
            <a:r>
              <a:rPr lang="en-US" altLang="zh-CN" sz="2600" b="1" dirty="0">
                <a:solidFill>
                  <a:srgbClr val="002BB6"/>
                </a:solidFill>
                <a:ea typeface="宋体" charset="-122"/>
                <a:cs typeface="Times New Roman" pitchFamily="18" charset="0"/>
              </a:rPr>
              <a:t>              else   </a:t>
            </a:r>
          </a:p>
          <a:p>
            <a:pPr>
              <a:lnSpc>
                <a:spcPct val="75000"/>
              </a:lnSpc>
            </a:pPr>
            <a:r>
              <a:rPr lang="en-US" altLang="zh-CN" sz="2600" b="1" dirty="0">
                <a:solidFill>
                  <a:srgbClr val="002BB6"/>
                </a:solidFill>
                <a:ea typeface="宋体" charset="-122"/>
                <a:cs typeface="Times New Roman" pitchFamily="18" charset="0"/>
              </a:rPr>
              <a:t>                    return s[top1</a:t>
            </a:r>
            <a:r>
              <a:rPr lang="en-US" altLang="zh-CN" sz="2600" b="1" dirty="0">
                <a:solidFill>
                  <a:srgbClr val="000099"/>
                </a:solidFill>
                <a:ea typeface="宋体" charset="-122"/>
                <a:cs typeface="Times New Roman" pitchFamily="18" charset="0"/>
              </a:rPr>
              <a:t>– –</a:t>
            </a:r>
            <a:r>
              <a:rPr lang="en-US" altLang="zh-CN" sz="2600" b="1" dirty="0">
                <a:solidFill>
                  <a:srgbClr val="002BB6"/>
                </a:solidFill>
                <a:ea typeface="宋体" charset="-122"/>
                <a:cs typeface="Times New Roman" pitchFamily="18" charset="0"/>
              </a:rPr>
              <a:t>];</a:t>
            </a:r>
          </a:p>
          <a:p>
            <a:pPr>
              <a:lnSpc>
                <a:spcPct val="75000"/>
              </a:lnSpc>
            </a:pPr>
            <a:r>
              <a:rPr lang="en-US" altLang="zh-CN" sz="2600" b="1" dirty="0">
                <a:solidFill>
                  <a:srgbClr val="002BB6"/>
                </a:solidFill>
                <a:ea typeface="宋体" charset="-122"/>
                <a:cs typeface="Times New Roman" pitchFamily="18" charset="0"/>
              </a:rPr>
              <a:t>                    </a:t>
            </a:r>
          </a:p>
          <a:p>
            <a:pPr>
              <a:lnSpc>
                <a:spcPct val="75000"/>
              </a:lnSpc>
            </a:pPr>
            <a:r>
              <a:rPr lang="en-US" altLang="zh-CN" sz="2600" b="1" dirty="0">
                <a:solidFill>
                  <a:srgbClr val="002BB6"/>
                </a:solidFill>
                <a:ea typeface="宋体" charset="-122"/>
                <a:cs typeface="Times New Roman" pitchFamily="18" charset="0"/>
              </a:rPr>
              <a:t>       </a:t>
            </a:r>
            <a:r>
              <a:rPr lang="en-US" altLang="zh-CN" sz="2600" b="1" dirty="0">
                <a:ea typeface="宋体" charset="-122"/>
                <a:cs typeface="Times New Roman" pitchFamily="18" charset="0"/>
                <a:sym typeface="Symbol" pitchFamily="18" charset="2"/>
              </a:rPr>
              <a:t>else</a:t>
            </a:r>
            <a:endParaRPr lang="en-US" altLang="zh-CN" sz="2600" b="1" dirty="0">
              <a:ea typeface="宋体" charset="-122"/>
              <a:cs typeface="Times New Roman" pitchFamily="18" charset="0"/>
            </a:endParaRPr>
          </a:p>
          <a:p>
            <a:pPr>
              <a:lnSpc>
                <a:spcPct val="70000"/>
              </a:lnSpc>
            </a:pPr>
            <a:r>
              <a:rPr lang="en-US" altLang="zh-CN" sz="2600" b="1" dirty="0">
                <a:solidFill>
                  <a:schemeClr val="bg1"/>
                </a:solidFill>
                <a:ea typeface="宋体" charset="-122"/>
                <a:cs typeface="Times New Roman" pitchFamily="18" charset="0"/>
              </a:rPr>
              <a:t>              </a:t>
            </a:r>
            <a:r>
              <a:rPr lang="en-US" altLang="zh-CN" sz="2600" b="1" dirty="0">
                <a:solidFill>
                  <a:srgbClr val="FF0000"/>
                </a:solidFill>
                <a:ea typeface="宋体" charset="-122"/>
                <a:cs typeface="Times New Roman" pitchFamily="18" charset="0"/>
              </a:rPr>
              <a:t>if(top2==MAXSIZE)</a:t>
            </a:r>
          </a:p>
          <a:p>
            <a:pPr>
              <a:lnSpc>
                <a:spcPct val="75000"/>
              </a:lnSpc>
            </a:pPr>
            <a:r>
              <a:rPr lang="en-US" altLang="zh-CN" sz="2600" b="1" dirty="0">
                <a:solidFill>
                  <a:srgbClr val="FF3300"/>
                </a:solidFill>
                <a:ea typeface="宋体" charset="-122"/>
                <a:cs typeface="Times New Roman" pitchFamily="18" charset="0"/>
              </a:rPr>
              <a:t>                     Error(“Empty Stack2!”);</a:t>
            </a:r>
            <a:r>
              <a:rPr lang="en-US" altLang="zh-CN" sz="2600" b="1" dirty="0">
                <a:solidFill>
                  <a:srgbClr val="002BB6"/>
                </a:solidFill>
                <a:ea typeface="宋体" charset="-122"/>
                <a:cs typeface="Times New Roman" pitchFamily="18" charset="0"/>
              </a:rPr>
              <a:t> </a:t>
            </a:r>
            <a:endParaRPr lang="en-US" altLang="zh-CN" sz="2600" b="1" dirty="0">
              <a:solidFill>
                <a:srgbClr val="FF0000"/>
              </a:solidFill>
              <a:ea typeface="宋体" charset="-122"/>
              <a:cs typeface="Times New Roman" pitchFamily="18" charset="0"/>
            </a:endParaRPr>
          </a:p>
          <a:p>
            <a:pPr>
              <a:lnSpc>
                <a:spcPct val="75000"/>
              </a:lnSpc>
            </a:pPr>
            <a:r>
              <a:rPr lang="en-US" altLang="zh-CN" sz="2600" b="1" dirty="0">
                <a:solidFill>
                  <a:srgbClr val="FF0000"/>
                </a:solidFill>
                <a:ea typeface="宋体" charset="-122"/>
                <a:cs typeface="Times New Roman" pitchFamily="18" charset="0"/>
                <a:sym typeface="Symbol" pitchFamily="18" charset="2"/>
              </a:rPr>
              <a:t>              else</a:t>
            </a:r>
          </a:p>
          <a:p>
            <a:pPr>
              <a:lnSpc>
                <a:spcPct val="75000"/>
              </a:lnSpc>
            </a:pPr>
            <a:r>
              <a:rPr lang="en-US" altLang="zh-CN" sz="2600" b="1" dirty="0">
                <a:solidFill>
                  <a:srgbClr val="FF0000"/>
                </a:solidFill>
                <a:ea typeface="宋体" charset="-122"/>
                <a:cs typeface="Times New Roman" pitchFamily="18" charset="0"/>
              </a:rPr>
              <a:t>                     return s[top2++];</a:t>
            </a:r>
          </a:p>
          <a:p>
            <a:pPr>
              <a:lnSpc>
                <a:spcPct val="75000"/>
              </a:lnSpc>
            </a:pPr>
            <a:endParaRPr lang="en-US" altLang="zh-CN" sz="2600" b="1" dirty="0">
              <a:ea typeface="宋体" charset="-122"/>
              <a:cs typeface="Times New Roman" pitchFamily="18" charset="0"/>
              <a:sym typeface="Symbol" pitchFamily="18" charset="2"/>
            </a:endParaRPr>
          </a:p>
          <a:p>
            <a:pPr>
              <a:lnSpc>
                <a:spcPct val="75000"/>
              </a:lnSpc>
            </a:pPr>
            <a:r>
              <a:rPr lang="en-US" altLang="zh-CN" sz="2600" b="1" dirty="0">
                <a:ea typeface="宋体" charset="-122"/>
                <a:cs typeface="Times New Roman" pitchFamily="18" charset="0"/>
                <a:sym typeface="Symbol" pitchFamily="18" charset="2"/>
              </a:rPr>
              <a:t>}</a:t>
            </a:r>
          </a:p>
        </p:txBody>
      </p:sp>
      <p:grpSp>
        <p:nvGrpSpPr>
          <p:cNvPr id="2" name="Group 198"/>
          <p:cNvGrpSpPr>
            <a:grpSpLocks/>
          </p:cNvGrpSpPr>
          <p:nvPr/>
        </p:nvGrpSpPr>
        <p:grpSpPr bwMode="auto">
          <a:xfrm>
            <a:off x="8401051" y="188913"/>
            <a:ext cx="2124075" cy="1676400"/>
            <a:chOff x="4420" y="316"/>
            <a:chExt cx="1338" cy="1056"/>
          </a:xfrm>
        </p:grpSpPr>
        <p:sp>
          <p:nvSpPr>
            <p:cNvPr id="48140" name="AutoShape 139"/>
            <p:cNvSpPr>
              <a:spLocks noChangeArrowheads="1"/>
            </p:cNvSpPr>
            <p:nvPr/>
          </p:nvSpPr>
          <p:spPr bwMode="auto">
            <a:xfrm rot="3351264">
              <a:off x="4478" y="562"/>
              <a:ext cx="1056" cy="564"/>
            </a:xfrm>
            <a:prstGeom prst="irregularSeal2">
              <a:avLst/>
            </a:prstGeom>
            <a:solidFill>
              <a:srgbClr val="FF3300"/>
            </a:solidFill>
            <a:ln w="53975">
              <a:solidFill>
                <a:srgbClr val="FFFF00"/>
              </a:solidFill>
              <a:miter lim="800000"/>
              <a:headEnd type="none" w="sm" len="sm"/>
              <a:tailEnd type="none" w="sm" len="sm"/>
            </a:ln>
            <a:effectLst>
              <a:outerShdw dist="104727" dir="842175" algn="ctr" rotWithShape="0">
                <a:srgbClr val="B2B2B2"/>
              </a:outerShdw>
            </a:effectLst>
          </p:spPr>
          <p:txBody>
            <a:bodyPr wrap="none" anchor="ctr"/>
            <a:lstStyle/>
            <a:p>
              <a:endParaRPr lang="zh-CN" altLang="en-US"/>
            </a:p>
          </p:txBody>
        </p:sp>
        <p:sp>
          <p:nvSpPr>
            <p:cNvPr id="48141" name="Text Box 140"/>
            <p:cNvSpPr txBox="1">
              <a:spLocks noChangeArrowheads="1"/>
            </p:cNvSpPr>
            <p:nvPr/>
          </p:nvSpPr>
          <p:spPr bwMode="auto">
            <a:xfrm rot="397914">
              <a:off x="4420" y="481"/>
              <a:ext cx="1338" cy="596"/>
            </a:xfrm>
            <a:prstGeom prst="rect">
              <a:avLst/>
            </a:prstGeom>
            <a:noFill/>
            <a:ln w="12700" cap="sq">
              <a:noFill/>
              <a:miter lim="800000"/>
              <a:headEnd type="none" w="sm" len="sm"/>
              <a:tailEnd type="none" w="sm" len="sm"/>
            </a:ln>
            <a:effectLst>
              <a:outerShdw dist="56796" dir="1593903" algn="ctr" rotWithShape="0">
                <a:schemeClr val="bg2"/>
              </a:outerShdw>
            </a:effectLst>
          </p:spPr>
          <p:txBody>
            <a:bodyPr>
              <a:spAutoFit/>
            </a:bodyPr>
            <a:lstStyle/>
            <a:p>
              <a:r>
                <a:rPr lang="zh-CN" altLang="en-US" sz="5600" b="1" i="1">
                  <a:solidFill>
                    <a:srgbClr val="FFFFFF"/>
                  </a:solidFill>
                  <a:ea typeface="黑体" pitchFamily="2" charset="-122"/>
                </a:rPr>
                <a:t>算法</a:t>
              </a:r>
            </a:p>
          </p:txBody>
        </p:sp>
      </p:grpSp>
      <p:grpSp>
        <p:nvGrpSpPr>
          <p:cNvPr id="3" name="Group 199"/>
          <p:cNvGrpSpPr>
            <a:grpSpLocks/>
          </p:cNvGrpSpPr>
          <p:nvPr/>
        </p:nvGrpSpPr>
        <p:grpSpPr bwMode="auto">
          <a:xfrm>
            <a:off x="3048000" y="2128838"/>
            <a:ext cx="7620000" cy="1600200"/>
            <a:chOff x="960" y="1357"/>
            <a:chExt cx="4800" cy="1008"/>
          </a:xfrm>
        </p:grpSpPr>
        <p:sp>
          <p:nvSpPr>
            <p:cNvPr id="48137" name="Rectangle 190"/>
            <p:cNvSpPr>
              <a:spLocks noChangeArrowheads="1"/>
            </p:cNvSpPr>
            <p:nvPr/>
          </p:nvSpPr>
          <p:spPr bwMode="auto">
            <a:xfrm>
              <a:off x="960" y="1357"/>
              <a:ext cx="2784" cy="1008"/>
            </a:xfrm>
            <a:prstGeom prst="rect">
              <a:avLst/>
            </a:prstGeom>
            <a:noFill/>
            <a:ln w="28575">
              <a:solidFill>
                <a:srgbClr val="FF00FF"/>
              </a:solidFill>
              <a:prstDash val="lgDash"/>
              <a:miter lim="800000"/>
              <a:headEnd type="none" w="sm" len="sm"/>
              <a:tailEnd type="none" w="sm" len="sm"/>
            </a:ln>
          </p:spPr>
          <p:txBody>
            <a:bodyPr wrap="none" anchor="ctr"/>
            <a:lstStyle/>
            <a:p>
              <a:endParaRPr lang="zh-CN" altLang="en-US"/>
            </a:p>
          </p:txBody>
        </p:sp>
        <p:sp>
          <p:nvSpPr>
            <p:cNvPr id="48138" name="AutoShape 192"/>
            <p:cNvSpPr>
              <a:spLocks noChangeArrowheads="1"/>
            </p:cNvSpPr>
            <p:nvPr/>
          </p:nvSpPr>
          <p:spPr bwMode="auto">
            <a:xfrm>
              <a:off x="3828" y="1405"/>
              <a:ext cx="1776" cy="384"/>
            </a:xfrm>
            <a:prstGeom prst="wedgeRectCallout">
              <a:avLst>
                <a:gd name="adj1" fmla="val -74889"/>
                <a:gd name="adj2" fmla="val 43750"/>
              </a:avLst>
            </a:prstGeom>
            <a:solidFill>
              <a:srgbClr val="00FFFF"/>
            </a:solidFill>
            <a:ln w="12700" cap="sq">
              <a:noFill/>
              <a:miter lim="800000"/>
              <a:headEnd type="none" w="sm" len="sm"/>
              <a:tailEnd type="none" w="sm" len="sm"/>
            </a:ln>
            <a:effectLst>
              <a:outerShdw dist="99190" dir="2388334" algn="ctr" rotWithShape="0">
                <a:srgbClr val="B2B2B2"/>
              </a:outerShdw>
            </a:effectLst>
          </p:spPr>
          <p:txBody>
            <a:bodyPr/>
            <a:lstStyle/>
            <a:p>
              <a:pPr algn="ctr"/>
              <a:endParaRPr lang="zh-CN" altLang="en-US"/>
            </a:p>
          </p:txBody>
        </p:sp>
        <p:sp>
          <p:nvSpPr>
            <p:cNvPr id="48139" name="Text Box 193"/>
            <p:cNvSpPr txBox="1">
              <a:spLocks noChangeArrowheads="1"/>
            </p:cNvSpPr>
            <p:nvPr/>
          </p:nvSpPr>
          <p:spPr bwMode="auto">
            <a:xfrm>
              <a:off x="3804" y="1468"/>
              <a:ext cx="1956" cy="279"/>
            </a:xfrm>
            <a:prstGeom prst="rect">
              <a:avLst/>
            </a:prstGeom>
            <a:noFill/>
            <a:ln w="12700" cap="sq">
              <a:noFill/>
              <a:miter lim="800000"/>
              <a:headEnd type="none" w="sm" len="sm"/>
              <a:tailEnd type="none" w="sm" len="sm"/>
            </a:ln>
            <a:effectLst>
              <a:outerShdw dist="17961" dir="2700000" algn="ctr" rotWithShape="0">
                <a:schemeClr val="bg1"/>
              </a:outerShdw>
            </a:effectLst>
          </p:spPr>
          <p:txBody>
            <a:bodyPr>
              <a:spAutoFit/>
            </a:bodyPr>
            <a:lstStyle/>
            <a:p>
              <a:r>
                <a:rPr lang="zh-CN" altLang="en-US" sz="2300" b="1">
                  <a:solidFill>
                    <a:srgbClr val="FF3300"/>
                  </a:solidFill>
                  <a:ea typeface="幼圆" pitchFamily="49" charset="-122"/>
                </a:rPr>
                <a:t>对第一个栈进行操作</a:t>
              </a:r>
            </a:p>
          </p:txBody>
        </p:sp>
      </p:grpSp>
      <p:grpSp>
        <p:nvGrpSpPr>
          <p:cNvPr id="4" name="Group 200"/>
          <p:cNvGrpSpPr>
            <a:grpSpLocks/>
          </p:cNvGrpSpPr>
          <p:nvPr/>
        </p:nvGrpSpPr>
        <p:grpSpPr bwMode="auto">
          <a:xfrm>
            <a:off x="3048000" y="3645024"/>
            <a:ext cx="7620000" cy="1828800"/>
            <a:chOff x="960" y="2592"/>
            <a:chExt cx="4800" cy="1152"/>
          </a:xfrm>
        </p:grpSpPr>
        <p:sp>
          <p:nvSpPr>
            <p:cNvPr id="48134" name="Rectangle 191"/>
            <p:cNvSpPr>
              <a:spLocks noChangeArrowheads="1"/>
            </p:cNvSpPr>
            <p:nvPr/>
          </p:nvSpPr>
          <p:spPr bwMode="auto">
            <a:xfrm>
              <a:off x="960" y="2736"/>
              <a:ext cx="2784" cy="1008"/>
            </a:xfrm>
            <a:prstGeom prst="rect">
              <a:avLst/>
            </a:prstGeom>
            <a:noFill/>
            <a:ln w="28575">
              <a:solidFill>
                <a:srgbClr val="FF00FF"/>
              </a:solidFill>
              <a:prstDash val="lgDash"/>
              <a:miter lim="800000"/>
              <a:headEnd type="none" w="sm" len="sm"/>
              <a:tailEnd type="none" w="sm" len="sm"/>
            </a:ln>
          </p:spPr>
          <p:txBody>
            <a:bodyPr wrap="none" anchor="ctr"/>
            <a:lstStyle/>
            <a:p>
              <a:endParaRPr lang="zh-CN" altLang="en-US"/>
            </a:p>
          </p:txBody>
        </p:sp>
        <p:sp>
          <p:nvSpPr>
            <p:cNvPr id="48135" name="AutoShape 194"/>
            <p:cNvSpPr>
              <a:spLocks noChangeArrowheads="1"/>
            </p:cNvSpPr>
            <p:nvPr/>
          </p:nvSpPr>
          <p:spPr bwMode="auto">
            <a:xfrm>
              <a:off x="3840" y="2592"/>
              <a:ext cx="1776" cy="384"/>
            </a:xfrm>
            <a:prstGeom prst="wedgeRectCallout">
              <a:avLst>
                <a:gd name="adj1" fmla="val -74889"/>
                <a:gd name="adj2" fmla="val 43750"/>
              </a:avLst>
            </a:prstGeom>
            <a:solidFill>
              <a:srgbClr val="00FFFF"/>
            </a:solidFill>
            <a:ln w="12700" cap="sq">
              <a:noFill/>
              <a:miter lim="800000"/>
              <a:headEnd type="none" w="sm" len="sm"/>
              <a:tailEnd type="none" w="sm" len="sm"/>
            </a:ln>
            <a:effectLst>
              <a:outerShdw dist="99190" dir="2388334" algn="ctr" rotWithShape="0">
                <a:srgbClr val="B2B2B2"/>
              </a:outerShdw>
            </a:effectLst>
          </p:spPr>
          <p:txBody>
            <a:bodyPr/>
            <a:lstStyle/>
            <a:p>
              <a:pPr algn="ctr"/>
              <a:endParaRPr lang="zh-CN" altLang="en-US"/>
            </a:p>
          </p:txBody>
        </p:sp>
        <p:sp>
          <p:nvSpPr>
            <p:cNvPr id="48136" name="Text Box 195"/>
            <p:cNvSpPr txBox="1">
              <a:spLocks noChangeArrowheads="1"/>
            </p:cNvSpPr>
            <p:nvPr/>
          </p:nvSpPr>
          <p:spPr bwMode="auto">
            <a:xfrm>
              <a:off x="3840" y="2649"/>
              <a:ext cx="1920" cy="279"/>
            </a:xfrm>
            <a:prstGeom prst="rect">
              <a:avLst/>
            </a:prstGeom>
            <a:noFill/>
            <a:ln w="12700" cap="sq">
              <a:noFill/>
              <a:miter lim="800000"/>
              <a:headEnd type="none" w="sm" len="sm"/>
              <a:tailEnd type="none" w="sm" len="sm"/>
            </a:ln>
            <a:effectLst>
              <a:outerShdw dist="17961" dir="2700000" algn="ctr" rotWithShape="0">
                <a:schemeClr val="bg1"/>
              </a:outerShdw>
            </a:effectLst>
          </p:spPr>
          <p:txBody>
            <a:bodyPr>
              <a:spAutoFit/>
            </a:bodyPr>
            <a:lstStyle/>
            <a:p>
              <a:r>
                <a:rPr lang="zh-CN" altLang="en-US" sz="2300" b="1">
                  <a:solidFill>
                    <a:srgbClr val="FF3300"/>
                  </a:solidFill>
                  <a:ea typeface="幼圆" pitchFamily="49" charset="-122"/>
                </a:rPr>
                <a:t>对第二个栈进行操作</a:t>
              </a:r>
            </a:p>
          </p:txBody>
        </p:sp>
      </p:gr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6084"/>
                                        </p:tgtEl>
                                        <p:attrNameLst>
                                          <p:attrName>style.visibility</p:attrName>
                                        </p:attrNameLst>
                                      </p:cBhvr>
                                      <p:to>
                                        <p:strVal val="visible"/>
                                      </p:to>
                                    </p:set>
                                    <p:animEffect transition="in" filter="strips(downRight)">
                                      <p:cBhvr>
                                        <p:cTn id="7" dur="500"/>
                                        <p:tgtEl>
                                          <p:spTgt spid="460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4"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1"/>
          <p:cNvGrpSpPr>
            <a:grpSpLocks/>
          </p:cNvGrpSpPr>
          <p:nvPr/>
        </p:nvGrpSpPr>
        <p:grpSpPr bwMode="auto">
          <a:xfrm>
            <a:off x="2209801" y="2971800"/>
            <a:ext cx="7783513" cy="2362200"/>
            <a:chOff x="432" y="1872"/>
            <a:chExt cx="4903" cy="1488"/>
          </a:xfrm>
        </p:grpSpPr>
        <p:sp>
          <p:nvSpPr>
            <p:cNvPr id="49165" name="Rectangle 51"/>
            <p:cNvSpPr>
              <a:spLocks noChangeArrowheads="1"/>
            </p:cNvSpPr>
            <p:nvPr/>
          </p:nvSpPr>
          <p:spPr bwMode="auto">
            <a:xfrm>
              <a:off x="432" y="1872"/>
              <a:ext cx="4848" cy="1488"/>
            </a:xfrm>
            <a:prstGeom prst="rect">
              <a:avLst/>
            </a:prstGeom>
            <a:solidFill>
              <a:srgbClr val="FFFFCD"/>
            </a:solidFill>
            <a:ln w="12700" cap="sq">
              <a:noFill/>
              <a:miter lim="800000"/>
              <a:headEnd type="none" w="sm" len="sm"/>
              <a:tailEnd type="none" w="sm" len="sm"/>
            </a:ln>
            <a:effectLst>
              <a:outerShdw dist="233487" dir="2700000" algn="ctr" rotWithShape="0">
                <a:srgbClr val="C0C0C0"/>
              </a:outerShdw>
            </a:effectLst>
          </p:spPr>
          <p:txBody>
            <a:bodyPr wrap="none" anchor="ctr"/>
            <a:lstStyle/>
            <a:p>
              <a:endParaRPr lang="zh-CN" altLang="en-US"/>
            </a:p>
          </p:txBody>
        </p:sp>
        <p:sp>
          <p:nvSpPr>
            <p:cNvPr id="49166" name="Text Box 52"/>
            <p:cNvSpPr txBox="1">
              <a:spLocks noChangeArrowheads="1"/>
            </p:cNvSpPr>
            <p:nvPr/>
          </p:nvSpPr>
          <p:spPr bwMode="auto">
            <a:xfrm>
              <a:off x="679" y="2080"/>
              <a:ext cx="4656" cy="1052"/>
            </a:xfrm>
            <a:prstGeom prst="rect">
              <a:avLst/>
            </a:prstGeom>
            <a:noFill/>
            <a:ln w="12700" cap="sq">
              <a:noFill/>
              <a:miter lim="800000"/>
              <a:headEnd type="none" w="sm" len="sm"/>
              <a:tailEnd type="none" w="sm" len="sm"/>
            </a:ln>
          </p:spPr>
          <p:txBody>
            <a:bodyPr>
              <a:spAutoFit/>
            </a:bodyPr>
            <a:lstStyle/>
            <a:p>
              <a:pPr eaLnBrk="1" hangingPunct="1">
                <a:lnSpc>
                  <a:spcPct val="95000"/>
                </a:lnSpc>
              </a:pPr>
              <a:r>
                <a:rPr kumimoji="1" lang="zh-CN" altLang="en-US" sz="2700" b="1" dirty="0">
                  <a:solidFill>
                    <a:srgbClr val="000099"/>
                  </a:solidFill>
                  <a:latin typeface="幼圆" pitchFamily="49" charset="-122"/>
                  <a:ea typeface="幼圆" pitchFamily="49" charset="-122"/>
                </a:rPr>
                <a:t>    链接栈就是用一个线性链表来实现一</a:t>
              </a:r>
            </a:p>
            <a:p>
              <a:pPr eaLnBrk="1" hangingPunct="1">
                <a:lnSpc>
                  <a:spcPct val="95000"/>
                </a:lnSpc>
              </a:pPr>
              <a:r>
                <a:rPr kumimoji="1" lang="zh-CN" altLang="en-US" sz="2700" b="1" dirty="0">
                  <a:solidFill>
                    <a:srgbClr val="000099"/>
                  </a:solidFill>
                  <a:latin typeface="幼圆" pitchFamily="49" charset="-122"/>
                  <a:ea typeface="幼圆" pitchFamily="49" charset="-122"/>
                </a:rPr>
                <a:t>个栈结构, 同时设置一个指针变量( 这里</a:t>
              </a:r>
            </a:p>
            <a:p>
              <a:pPr eaLnBrk="1" hangingPunct="1">
                <a:lnSpc>
                  <a:spcPct val="95000"/>
                </a:lnSpc>
              </a:pPr>
              <a:r>
                <a:rPr kumimoji="1" lang="zh-CN" altLang="en-US" sz="2700" b="1" dirty="0">
                  <a:solidFill>
                    <a:srgbClr val="000099"/>
                  </a:solidFill>
                  <a:latin typeface="幼圆" pitchFamily="49" charset="-122"/>
                  <a:ea typeface="幼圆" pitchFamily="49" charset="-122"/>
                </a:rPr>
                <a:t>不妨仍用</a:t>
              </a:r>
              <a:r>
                <a:rPr kumimoji="1" lang="en-US" altLang="en-US" sz="2800" b="1" dirty="0">
                  <a:solidFill>
                    <a:srgbClr val="FF3300"/>
                  </a:solidFill>
                  <a:ea typeface="幼圆" pitchFamily="49" charset="-122"/>
                </a:rPr>
                <a:t>top</a:t>
              </a:r>
              <a:r>
                <a:rPr kumimoji="1" lang="zh-CN" altLang="en-US" sz="2700" b="1" dirty="0">
                  <a:solidFill>
                    <a:srgbClr val="000099"/>
                  </a:solidFill>
                  <a:latin typeface="幼圆" pitchFamily="49" charset="-122"/>
                  <a:ea typeface="幼圆" pitchFamily="49" charset="-122"/>
                </a:rPr>
                <a:t>表示)指出当前栈顶元素所在链</a:t>
              </a:r>
            </a:p>
            <a:p>
              <a:pPr eaLnBrk="1" hangingPunct="1">
                <a:lnSpc>
                  <a:spcPct val="95000"/>
                </a:lnSpc>
              </a:pPr>
              <a:r>
                <a:rPr kumimoji="1" lang="zh-CN" altLang="en-US" sz="2700" b="1" dirty="0">
                  <a:solidFill>
                    <a:srgbClr val="000099"/>
                  </a:solidFill>
                  <a:latin typeface="幼圆" pitchFamily="49" charset="-122"/>
                  <a:ea typeface="幼圆" pitchFamily="49" charset="-122"/>
                </a:rPr>
                <a:t>结点的位置。栈为空时，有</a:t>
              </a:r>
              <a:r>
                <a:rPr kumimoji="1" lang="en-US" altLang="en-US" sz="2700" b="1" dirty="0">
                  <a:solidFill>
                    <a:srgbClr val="000099"/>
                  </a:solidFill>
                  <a:ea typeface="幼圆" pitchFamily="49" charset="-122"/>
                </a:rPr>
                <a:t>top=NULL</a:t>
              </a:r>
              <a:r>
                <a:rPr kumimoji="1" lang="en-US" altLang="zh-CN" sz="2700" b="1" dirty="0">
                  <a:solidFill>
                    <a:srgbClr val="000099"/>
                  </a:solidFill>
                  <a:latin typeface="幼圆" pitchFamily="49" charset="-122"/>
                  <a:ea typeface="幼圆" pitchFamily="49" charset="-122"/>
                </a:rPr>
                <a:t>。</a:t>
              </a:r>
            </a:p>
          </p:txBody>
        </p:sp>
      </p:grpSp>
      <p:grpSp>
        <p:nvGrpSpPr>
          <p:cNvPr id="3" name="Group 163"/>
          <p:cNvGrpSpPr>
            <a:grpSpLocks/>
          </p:cNvGrpSpPr>
          <p:nvPr/>
        </p:nvGrpSpPr>
        <p:grpSpPr bwMode="auto">
          <a:xfrm>
            <a:off x="983432" y="116632"/>
            <a:ext cx="5486400" cy="685800"/>
            <a:chOff x="372" y="576"/>
            <a:chExt cx="3456" cy="432"/>
          </a:xfrm>
        </p:grpSpPr>
        <p:sp>
          <p:nvSpPr>
            <p:cNvPr id="49163" name="Rectangle 121"/>
            <p:cNvSpPr>
              <a:spLocks noChangeArrowheads="1"/>
            </p:cNvSpPr>
            <p:nvPr/>
          </p:nvSpPr>
          <p:spPr bwMode="auto">
            <a:xfrm>
              <a:off x="372" y="576"/>
              <a:ext cx="3456" cy="432"/>
            </a:xfrm>
            <a:prstGeom prst="rect">
              <a:avLst/>
            </a:prstGeom>
            <a:gradFill rotWithShape="0">
              <a:gsLst>
                <a:gs pos="0">
                  <a:srgbClr val="000076"/>
                </a:gs>
                <a:gs pos="50000">
                  <a:srgbClr val="0000FF"/>
                </a:gs>
                <a:gs pos="100000">
                  <a:srgbClr val="000076"/>
                </a:gs>
              </a:gsLst>
              <a:lin ang="5400000" scaled="1"/>
            </a:gradFill>
            <a:ln w="12700" cap="sq">
              <a:noFill/>
              <a:miter lim="800000"/>
              <a:headEnd type="none" w="sm" len="sm"/>
              <a:tailEnd type="none" w="sm" len="sm"/>
            </a:ln>
            <a:effectLst>
              <a:outerShdw dist="125724" dir="2700000" algn="ctr" rotWithShape="0">
                <a:srgbClr val="B2B2B2"/>
              </a:outerShdw>
            </a:effectLst>
          </p:spPr>
          <p:txBody>
            <a:bodyPr wrap="none" anchor="ctr"/>
            <a:lstStyle/>
            <a:p>
              <a:endParaRPr lang="zh-CN" altLang="en-US"/>
            </a:p>
          </p:txBody>
        </p:sp>
        <p:sp>
          <p:nvSpPr>
            <p:cNvPr id="49164" name="Rectangle 122"/>
            <p:cNvSpPr>
              <a:spLocks noChangeArrowheads="1"/>
            </p:cNvSpPr>
            <p:nvPr/>
          </p:nvSpPr>
          <p:spPr bwMode="auto">
            <a:xfrm>
              <a:off x="427" y="600"/>
              <a:ext cx="3281" cy="404"/>
            </a:xfrm>
            <a:prstGeom prst="rect">
              <a:avLst/>
            </a:prstGeom>
            <a:noFill/>
            <a:ln w="12700" cap="sq">
              <a:noFill/>
              <a:miter lim="800000"/>
              <a:headEnd type="none" w="sm" len="sm"/>
              <a:tailEnd type="none" w="sm" len="sm"/>
            </a:ln>
            <a:effectLst>
              <a:outerShdw dist="35921" dir="2700000" algn="ctr" rotWithShape="0">
                <a:schemeClr val="bg1"/>
              </a:outerShdw>
            </a:effectLst>
          </p:spPr>
          <p:txBody>
            <a:bodyPr>
              <a:spAutoFit/>
            </a:bodyPr>
            <a:lstStyle/>
            <a:p>
              <a:r>
                <a:rPr kumimoji="1" lang="zh-CN" altLang="en-US" sz="3600" b="1" dirty="0">
                  <a:solidFill>
                    <a:srgbClr val="FFFFFF"/>
                  </a:solidFill>
                  <a:ea typeface="宋体" charset="-122"/>
                </a:rPr>
                <a:t> </a:t>
              </a:r>
              <a:r>
                <a:rPr kumimoji="1" lang="en-US" altLang="zh-CN" sz="3600" b="1" dirty="0">
                  <a:solidFill>
                    <a:srgbClr val="FFFFFF"/>
                  </a:solidFill>
                  <a:ea typeface="宋体" charset="-122"/>
                </a:rPr>
                <a:t>3</a:t>
              </a:r>
              <a:r>
                <a:rPr kumimoji="1" lang="zh-CN" altLang="en-US" sz="3600" b="1" dirty="0">
                  <a:solidFill>
                    <a:srgbClr val="FFFFFF"/>
                  </a:solidFill>
                  <a:ea typeface="宋体" charset="-122"/>
                </a:rPr>
                <a:t>.3</a:t>
              </a:r>
              <a:r>
                <a:rPr kumimoji="1" lang="zh-CN" altLang="en-US" sz="3600" dirty="0">
                  <a:solidFill>
                    <a:srgbClr val="FFFFFF"/>
                  </a:solidFill>
                  <a:ea typeface="宋体" charset="-122"/>
                </a:rPr>
                <a:t> </a:t>
              </a:r>
              <a:r>
                <a:rPr kumimoji="1" lang="zh-CN" altLang="en-US" sz="3600" b="1" dirty="0">
                  <a:solidFill>
                    <a:srgbClr val="FFFFFF"/>
                  </a:solidFill>
                </a:rPr>
                <a:t>栈的链式存储结构</a:t>
              </a:r>
            </a:p>
          </p:txBody>
        </p:sp>
      </p:grpSp>
      <p:grpSp>
        <p:nvGrpSpPr>
          <p:cNvPr id="4" name="Group 172"/>
          <p:cNvGrpSpPr>
            <a:grpSpLocks/>
          </p:cNvGrpSpPr>
          <p:nvPr/>
        </p:nvGrpSpPr>
        <p:grpSpPr bwMode="auto">
          <a:xfrm>
            <a:off x="2133600" y="1828800"/>
            <a:ext cx="2882900" cy="609600"/>
            <a:chOff x="384" y="1152"/>
            <a:chExt cx="1680" cy="384"/>
          </a:xfrm>
        </p:grpSpPr>
        <p:sp>
          <p:nvSpPr>
            <p:cNvPr id="49161" name="Rectangle 159"/>
            <p:cNvSpPr>
              <a:spLocks noChangeArrowheads="1"/>
            </p:cNvSpPr>
            <p:nvPr/>
          </p:nvSpPr>
          <p:spPr bwMode="auto">
            <a:xfrm>
              <a:off x="384" y="1152"/>
              <a:ext cx="1584" cy="384"/>
            </a:xfrm>
            <a:prstGeom prst="rect">
              <a:avLst/>
            </a:prstGeom>
            <a:solidFill>
              <a:srgbClr val="CCFFFF"/>
            </a:solidFill>
            <a:ln w="12700" cap="sq">
              <a:noFill/>
              <a:miter lim="800000"/>
              <a:headEnd type="none" w="sm" len="sm"/>
              <a:tailEnd type="none" w="sm" len="sm"/>
            </a:ln>
            <a:effectLst>
              <a:outerShdw dist="107763" dir="2700000" algn="ctr" rotWithShape="0">
                <a:srgbClr val="C0C0C0"/>
              </a:outerShdw>
            </a:effectLst>
          </p:spPr>
          <p:txBody>
            <a:bodyPr wrap="none" anchor="ctr"/>
            <a:lstStyle/>
            <a:p>
              <a:endParaRPr lang="zh-CN" altLang="en-US"/>
            </a:p>
          </p:txBody>
        </p:sp>
        <p:sp>
          <p:nvSpPr>
            <p:cNvPr id="49162" name="Rectangle 160"/>
            <p:cNvSpPr>
              <a:spLocks noChangeArrowheads="1"/>
            </p:cNvSpPr>
            <p:nvPr/>
          </p:nvSpPr>
          <p:spPr bwMode="auto">
            <a:xfrm>
              <a:off x="436" y="1163"/>
              <a:ext cx="1628" cy="349"/>
            </a:xfrm>
            <a:prstGeom prst="rect">
              <a:avLst/>
            </a:prstGeom>
            <a:noFill/>
            <a:ln w="12700" cap="sq">
              <a:noFill/>
              <a:miter lim="800000"/>
              <a:headEnd type="none" w="sm" len="sm"/>
              <a:tailEnd type="none" w="sm" len="sm"/>
            </a:ln>
          </p:spPr>
          <p:txBody>
            <a:bodyPr>
              <a:spAutoFit/>
            </a:bodyPr>
            <a:lstStyle/>
            <a:p>
              <a:r>
                <a:rPr kumimoji="1" lang="en-US" altLang="zh-CN" sz="3000" b="1">
                  <a:solidFill>
                    <a:schemeClr val="accent2"/>
                  </a:solidFill>
                  <a:latin typeface="黑体" pitchFamily="2" charset="-122"/>
                  <a:ea typeface="黑体" pitchFamily="2" charset="-122"/>
                </a:rPr>
                <a:t>(</a:t>
              </a:r>
              <a:r>
                <a:rPr kumimoji="1" lang="zh-CN" altLang="en-US" sz="3000" b="1">
                  <a:solidFill>
                    <a:schemeClr val="accent2"/>
                  </a:solidFill>
                  <a:latin typeface="黑体" pitchFamily="2" charset="-122"/>
                  <a:ea typeface="黑体" pitchFamily="2" charset="-122"/>
                </a:rPr>
                <a:t>一</a:t>
              </a:r>
              <a:r>
                <a:rPr kumimoji="1" lang="en-US" altLang="zh-CN" sz="3000" b="1">
                  <a:solidFill>
                    <a:schemeClr val="accent2"/>
                  </a:solidFill>
                  <a:latin typeface="黑体" pitchFamily="2" charset="-122"/>
                  <a:ea typeface="黑体" pitchFamily="2" charset="-122"/>
                </a:rPr>
                <a:t>)</a:t>
              </a:r>
              <a:r>
                <a:rPr kumimoji="1" lang="zh-CN" altLang="en-US" sz="3000" b="1">
                  <a:solidFill>
                    <a:schemeClr val="accent2"/>
                  </a:solidFill>
                  <a:latin typeface="黑体" pitchFamily="2" charset="-122"/>
                  <a:ea typeface="黑体" pitchFamily="2" charset="-122"/>
                </a:rPr>
                <a:t>构造原理</a:t>
              </a:r>
            </a:p>
          </p:txBody>
        </p:sp>
      </p:grpSp>
      <p:grpSp>
        <p:nvGrpSpPr>
          <p:cNvPr id="15" name="组合 14"/>
          <p:cNvGrpSpPr/>
          <p:nvPr/>
        </p:nvGrpSpPr>
        <p:grpSpPr>
          <a:xfrm>
            <a:off x="7642226" y="1295400"/>
            <a:ext cx="2873375" cy="1524000"/>
            <a:chOff x="6118225" y="1295400"/>
            <a:chExt cx="2873375" cy="1524000"/>
          </a:xfrm>
        </p:grpSpPr>
        <p:grpSp>
          <p:nvGrpSpPr>
            <p:cNvPr id="5" name="Group 173"/>
            <p:cNvGrpSpPr>
              <a:grpSpLocks/>
            </p:cNvGrpSpPr>
            <p:nvPr/>
          </p:nvGrpSpPr>
          <p:grpSpPr bwMode="auto">
            <a:xfrm>
              <a:off x="6118225" y="1295400"/>
              <a:ext cx="2873375" cy="1524000"/>
              <a:chOff x="3854" y="816"/>
              <a:chExt cx="1810" cy="960"/>
            </a:xfrm>
          </p:grpSpPr>
          <p:sp>
            <p:nvSpPr>
              <p:cNvPr id="49159" name="Freeform 166"/>
              <p:cNvSpPr>
                <a:spLocks/>
              </p:cNvSpPr>
              <p:nvPr/>
            </p:nvSpPr>
            <p:spPr bwMode="auto">
              <a:xfrm>
                <a:off x="3854" y="816"/>
                <a:ext cx="1810" cy="960"/>
              </a:xfrm>
              <a:custGeom>
                <a:avLst/>
                <a:gdLst>
                  <a:gd name="T0" fmla="*/ 565 w 1137"/>
                  <a:gd name="T1" fmla="*/ 153 h 1082"/>
                  <a:gd name="T2" fmla="*/ 339 w 1137"/>
                  <a:gd name="T3" fmla="*/ 354 h 1082"/>
                  <a:gd name="T4" fmla="*/ 638 w 1137"/>
                  <a:gd name="T5" fmla="*/ 432 h 1082"/>
                  <a:gd name="T6" fmla="*/ 715 w 1137"/>
                  <a:gd name="T7" fmla="*/ 597 h 1082"/>
                  <a:gd name="T8" fmla="*/ 1078 w 1137"/>
                  <a:gd name="T9" fmla="*/ 640 h 1082"/>
                  <a:gd name="T10" fmla="*/ 3524 w 1137"/>
                  <a:gd name="T11" fmla="*/ 646 h 1082"/>
                  <a:gd name="T12" fmla="*/ 4414 w 1137"/>
                  <a:gd name="T13" fmla="*/ 640 h 1082"/>
                  <a:gd name="T14" fmla="*/ 5077 w 1137"/>
                  <a:gd name="T15" fmla="*/ 632 h 1082"/>
                  <a:gd name="T16" fmla="*/ 6555 w 1137"/>
                  <a:gd name="T17" fmla="*/ 625 h 1082"/>
                  <a:gd name="T18" fmla="*/ 7076 w 1137"/>
                  <a:gd name="T19" fmla="*/ 667 h 1082"/>
                  <a:gd name="T20" fmla="*/ 7000 w 1137"/>
                  <a:gd name="T21" fmla="*/ 646 h 1082"/>
                  <a:gd name="T22" fmla="*/ 6855 w 1137"/>
                  <a:gd name="T23" fmla="*/ 625 h 1082"/>
                  <a:gd name="T24" fmla="*/ 7149 w 1137"/>
                  <a:gd name="T25" fmla="*/ 153 h 1082"/>
                  <a:gd name="T26" fmla="*/ 4777 w 1137"/>
                  <a:gd name="T27" fmla="*/ 68 h 1082"/>
                  <a:gd name="T28" fmla="*/ 4336 w 1137"/>
                  <a:gd name="T29" fmla="*/ 46 h 1082"/>
                  <a:gd name="T30" fmla="*/ 3743 w 1137"/>
                  <a:gd name="T31" fmla="*/ 32 h 1082"/>
                  <a:gd name="T32" fmla="*/ 2268 w 1137"/>
                  <a:gd name="T33" fmla="*/ 40 h 1082"/>
                  <a:gd name="T34" fmla="*/ 1972 w 1137"/>
                  <a:gd name="T35" fmla="*/ 68 h 1082"/>
                  <a:gd name="T36" fmla="*/ 1226 w 1137"/>
                  <a:gd name="T37" fmla="*/ 104 h 1082"/>
                  <a:gd name="T38" fmla="*/ 339 w 1137"/>
                  <a:gd name="T39" fmla="*/ 96 h 1082"/>
                  <a:gd name="T40" fmla="*/ 46 w 1137"/>
                  <a:gd name="T41" fmla="*/ 90 h 1082"/>
                  <a:gd name="T42" fmla="*/ 271 w 1137"/>
                  <a:gd name="T43" fmla="*/ 111 h 1082"/>
                  <a:gd name="T44" fmla="*/ 415 w 1137"/>
                  <a:gd name="T45" fmla="*/ 161 h 1082"/>
                  <a:gd name="T46" fmla="*/ 715 w 1137"/>
                  <a:gd name="T47" fmla="*/ 168 h 1082"/>
                  <a:gd name="T48" fmla="*/ 565 w 1137"/>
                  <a:gd name="T49" fmla="*/ 153 h 108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137" h="1082">
                    <a:moveTo>
                      <a:pt x="88" y="248"/>
                    </a:moveTo>
                    <a:cubicBezTo>
                      <a:pt x="114" y="357"/>
                      <a:pt x="115" y="477"/>
                      <a:pt x="53" y="571"/>
                    </a:cubicBezTo>
                    <a:cubicBezTo>
                      <a:pt x="64" y="621"/>
                      <a:pt x="84" y="651"/>
                      <a:pt x="99" y="698"/>
                    </a:cubicBezTo>
                    <a:cubicBezTo>
                      <a:pt x="103" y="786"/>
                      <a:pt x="101" y="874"/>
                      <a:pt x="111" y="962"/>
                    </a:cubicBezTo>
                    <a:cubicBezTo>
                      <a:pt x="115" y="1002"/>
                      <a:pt x="128" y="1030"/>
                      <a:pt x="168" y="1032"/>
                    </a:cubicBezTo>
                    <a:cubicBezTo>
                      <a:pt x="295" y="1039"/>
                      <a:pt x="422" y="1039"/>
                      <a:pt x="549" y="1043"/>
                    </a:cubicBezTo>
                    <a:cubicBezTo>
                      <a:pt x="595" y="1039"/>
                      <a:pt x="642" y="1041"/>
                      <a:pt x="687" y="1032"/>
                    </a:cubicBezTo>
                    <a:cubicBezTo>
                      <a:pt x="812" y="1007"/>
                      <a:pt x="586" y="987"/>
                      <a:pt x="790" y="1020"/>
                    </a:cubicBezTo>
                    <a:cubicBezTo>
                      <a:pt x="854" y="1082"/>
                      <a:pt x="949" y="1038"/>
                      <a:pt x="1021" y="1009"/>
                    </a:cubicBezTo>
                    <a:cubicBezTo>
                      <a:pt x="1032" y="1020"/>
                      <a:pt x="1087" y="1078"/>
                      <a:pt x="1102" y="1078"/>
                    </a:cubicBezTo>
                    <a:cubicBezTo>
                      <a:pt x="1114" y="1078"/>
                      <a:pt x="1096" y="1054"/>
                      <a:pt x="1090" y="1043"/>
                    </a:cubicBezTo>
                    <a:cubicBezTo>
                      <a:pt x="1084" y="1031"/>
                      <a:pt x="1075" y="1020"/>
                      <a:pt x="1067" y="1009"/>
                    </a:cubicBezTo>
                    <a:cubicBezTo>
                      <a:pt x="1075" y="569"/>
                      <a:pt x="1028" y="519"/>
                      <a:pt x="1113" y="248"/>
                    </a:cubicBezTo>
                    <a:cubicBezTo>
                      <a:pt x="1068" y="0"/>
                      <a:pt x="1137" y="146"/>
                      <a:pt x="744" y="110"/>
                    </a:cubicBezTo>
                    <a:cubicBezTo>
                      <a:pt x="718" y="108"/>
                      <a:pt x="700" y="82"/>
                      <a:pt x="675" y="75"/>
                    </a:cubicBezTo>
                    <a:cubicBezTo>
                      <a:pt x="645" y="67"/>
                      <a:pt x="583" y="52"/>
                      <a:pt x="583" y="52"/>
                    </a:cubicBezTo>
                    <a:cubicBezTo>
                      <a:pt x="506" y="56"/>
                      <a:pt x="428" y="48"/>
                      <a:pt x="353" y="64"/>
                    </a:cubicBezTo>
                    <a:cubicBezTo>
                      <a:pt x="332" y="68"/>
                      <a:pt x="324" y="97"/>
                      <a:pt x="307" y="110"/>
                    </a:cubicBezTo>
                    <a:cubicBezTo>
                      <a:pt x="272" y="136"/>
                      <a:pt x="227" y="144"/>
                      <a:pt x="191" y="168"/>
                    </a:cubicBezTo>
                    <a:cubicBezTo>
                      <a:pt x="145" y="164"/>
                      <a:pt x="99" y="162"/>
                      <a:pt x="53" y="156"/>
                    </a:cubicBezTo>
                    <a:cubicBezTo>
                      <a:pt x="37" y="154"/>
                      <a:pt x="14" y="131"/>
                      <a:pt x="7" y="145"/>
                    </a:cubicBezTo>
                    <a:cubicBezTo>
                      <a:pt x="0" y="160"/>
                      <a:pt x="30" y="168"/>
                      <a:pt x="42" y="179"/>
                    </a:cubicBezTo>
                    <a:cubicBezTo>
                      <a:pt x="50" y="206"/>
                      <a:pt x="45" y="240"/>
                      <a:pt x="65" y="260"/>
                    </a:cubicBezTo>
                    <a:cubicBezTo>
                      <a:pt x="76" y="271"/>
                      <a:pt x="97" y="278"/>
                      <a:pt x="111" y="271"/>
                    </a:cubicBezTo>
                    <a:cubicBezTo>
                      <a:pt x="121" y="266"/>
                      <a:pt x="96" y="256"/>
                      <a:pt x="88" y="248"/>
                    </a:cubicBezTo>
                    <a:close/>
                  </a:path>
                </a:pathLst>
              </a:custGeom>
              <a:noFill/>
              <a:ln w="76200" cap="sq" cmpd="sng">
                <a:solidFill>
                  <a:srgbClr val="00CCFF"/>
                </a:solidFill>
                <a:prstDash val="solid"/>
                <a:round/>
                <a:headEnd type="none" w="sm" len="sm"/>
                <a:tailEnd type="none" w="sm" len="sm"/>
              </a:ln>
              <a:effectLst>
                <a:outerShdw dist="53882" dir="2700000" algn="ctr" rotWithShape="0">
                  <a:srgbClr val="B2B2B2"/>
                </a:outerShdw>
              </a:effectLst>
            </p:spPr>
            <p:txBody>
              <a:bodyPr/>
              <a:lstStyle/>
              <a:p>
                <a:endParaRPr lang="zh-CN" altLang="en-US"/>
              </a:p>
            </p:txBody>
          </p:sp>
          <p:sp>
            <p:nvSpPr>
              <p:cNvPr id="49160" name="Text Box 167"/>
              <p:cNvSpPr txBox="1">
                <a:spLocks noChangeArrowheads="1"/>
              </p:cNvSpPr>
              <p:nvPr/>
            </p:nvSpPr>
            <p:spPr bwMode="auto">
              <a:xfrm>
                <a:off x="4094" y="936"/>
                <a:ext cx="1553" cy="442"/>
              </a:xfrm>
              <a:prstGeom prst="rect">
                <a:avLst/>
              </a:prstGeom>
              <a:noFill/>
              <a:ln w="12700" cap="sq">
                <a:noFill/>
                <a:miter lim="800000"/>
                <a:headEnd type="none" w="sm" len="sm"/>
                <a:tailEnd type="none" w="sm" len="sm"/>
              </a:ln>
              <a:effectLst>
                <a:outerShdw dist="17961" dir="2700000" algn="ctr" rotWithShape="0">
                  <a:schemeClr val="bg1"/>
                </a:outerShdw>
              </a:effectLst>
            </p:spPr>
            <p:txBody>
              <a:bodyPr>
                <a:spAutoFit/>
              </a:bodyPr>
              <a:lstStyle/>
              <a:p>
                <a:r>
                  <a:rPr lang="zh-CN" altLang="en-US" sz="4000" b="1" dirty="0">
                    <a:solidFill>
                      <a:srgbClr val="FF3300"/>
                    </a:solidFill>
                    <a:ea typeface="华文新魏" pitchFamily="2" charset="-122"/>
                  </a:rPr>
                  <a:t>链接栈</a:t>
                </a:r>
              </a:p>
            </p:txBody>
          </p:sp>
        </p:grpSp>
        <p:sp>
          <p:nvSpPr>
            <p:cNvPr id="13481" name="Text Box 169"/>
            <p:cNvSpPr txBox="1">
              <a:spLocks noChangeArrowheads="1"/>
            </p:cNvSpPr>
            <p:nvPr/>
          </p:nvSpPr>
          <p:spPr bwMode="auto">
            <a:xfrm>
              <a:off x="6948488" y="2014538"/>
              <a:ext cx="1295400" cy="641350"/>
            </a:xfrm>
            <a:prstGeom prst="rect">
              <a:avLst/>
            </a:prstGeom>
            <a:noFill/>
            <a:ln w="12700" cap="sq">
              <a:noFill/>
              <a:miter lim="800000"/>
              <a:headEnd type="none" w="sm" len="sm"/>
              <a:tailEnd type="none" w="sm" len="sm"/>
            </a:ln>
            <a:effectLst>
              <a:outerShdw dist="17961" dir="2700000" algn="ctr" rotWithShape="0">
                <a:schemeClr val="bg1"/>
              </a:outerShdw>
            </a:effectLst>
          </p:spPr>
          <p:txBody>
            <a:bodyPr>
              <a:spAutoFit/>
            </a:bodyPr>
            <a:lstStyle/>
            <a:p>
              <a:r>
                <a:rPr lang="zh-CN" altLang="en-US" sz="3600" b="1">
                  <a:solidFill>
                    <a:srgbClr val="FF3300"/>
                  </a:solidFill>
                  <a:ea typeface="黑体" pitchFamily="2" charset="-122"/>
                </a:rPr>
                <a:t>链栈</a:t>
              </a: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3"/>
          <p:cNvGrpSpPr>
            <a:grpSpLocks/>
          </p:cNvGrpSpPr>
          <p:nvPr/>
        </p:nvGrpSpPr>
        <p:grpSpPr bwMode="auto">
          <a:xfrm>
            <a:off x="4798740" y="4376812"/>
            <a:ext cx="2260600" cy="762000"/>
            <a:chOff x="1824" y="2928"/>
            <a:chExt cx="1424" cy="480"/>
          </a:xfrm>
        </p:grpSpPr>
        <p:sp>
          <p:nvSpPr>
            <p:cNvPr id="50206" name="AutoShape 17"/>
            <p:cNvSpPr>
              <a:spLocks noChangeArrowheads="1"/>
            </p:cNvSpPr>
            <p:nvPr/>
          </p:nvSpPr>
          <p:spPr bwMode="auto">
            <a:xfrm>
              <a:off x="1824" y="2928"/>
              <a:ext cx="1392" cy="480"/>
            </a:xfrm>
            <a:prstGeom prst="cloudCallout">
              <a:avLst>
                <a:gd name="adj1" fmla="val -77875"/>
                <a:gd name="adj2" fmla="val -105833"/>
              </a:avLst>
            </a:prstGeom>
            <a:noFill/>
            <a:ln w="57150" cap="sq">
              <a:solidFill>
                <a:srgbClr val="00CCFF"/>
              </a:solidFill>
              <a:round/>
              <a:headEnd type="none" w="sm" len="sm"/>
              <a:tailEnd type="none" w="sm" len="sm"/>
            </a:ln>
            <a:effectLst>
              <a:outerShdw dist="56796" dir="1593903" algn="ctr" rotWithShape="0">
                <a:srgbClr val="B2B2B2"/>
              </a:outerShdw>
            </a:effectLst>
          </p:spPr>
          <p:txBody>
            <a:bodyPr wrap="none" anchor="ctr"/>
            <a:lstStyle/>
            <a:p>
              <a:pPr algn="ctr"/>
              <a:endParaRPr lang="zh-CN" altLang="en-US" sz="2400" b="1">
                <a:ea typeface="黑体" pitchFamily="2" charset="-122"/>
              </a:endParaRPr>
            </a:p>
          </p:txBody>
        </p:sp>
        <p:sp>
          <p:nvSpPr>
            <p:cNvPr id="50207" name="Text Box 18"/>
            <p:cNvSpPr txBox="1">
              <a:spLocks noChangeArrowheads="1"/>
            </p:cNvSpPr>
            <p:nvPr/>
          </p:nvSpPr>
          <p:spPr bwMode="auto">
            <a:xfrm>
              <a:off x="1964" y="2960"/>
              <a:ext cx="1284" cy="346"/>
            </a:xfrm>
            <a:prstGeom prst="rect">
              <a:avLst/>
            </a:prstGeom>
            <a:noFill/>
            <a:ln w="12700" cap="sq">
              <a:noFill/>
              <a:miter lim="800000"/>
              <a:headEnd type="none" w="sm" len="sm"/>
              <a:tailEnd type="none" w="sm" len="sm"/>
            </a:ln>
            <a:effectLst>
              <a:outerShdw dist="12700" algn="ctr" rotWithShape="0">
                <a:srgbClr val="000000"/>
              </a:outerShdw>
            </a:effectLst>
          </p:spPr>
          <p:txBody>
            <a:bodyPr>
              <a:spAutoFit/>
            </a:bodyPr>
            <a:lstStyle/>
            <a:p>
              <a:r>
                <a:rPr lang="zh-CN" altLang="en-US" sz="3000" b="1">
                  <a:solidFill>
                    <a:srgbClr val="FF0000"/>
                  </a:solidFill>
                  <a:ea typeface="黑体" pitchFamily="2" charset="-122"/>
                </a:rPr>
                <a:t>栈顶元素</a:t>
              </a:r>
            </a:p>
          </p:txBody>
        </p:sp>
      </p:grpSp>
      <p:grpSp>
        <p:nvGrpSpPr>
          <p:cNvPr id="3" name="Group 58"/>
          <p:cNvGrpSpPr>
            <a:grpSpLocks/>
          </p:cNvGrpSpPr>
          <p:nvPr/>
        </p:nvGrpSpPr>
        <p:grpSpPr bwMode="auto">
          <a:xfrm>
            <a:off x="2057400" y="549276"/>
            <a:ext cx="7856538" cy="2016125"/>
            <a:chOff x="336" y="255"/>
            <a:chExt cx="4949" cy="1270"/>
          </a:xfrm>
        </p:grpSpPr>
        <p:sp>
          <p:nvSpPr>
            <p:cNvPr id="50203" name="Text Box 30"/>
            <p:cNvSpPr txBox="1">
              <a:spLocks noChangeArrowheads="1"/>
            </p:cNvSpPr>
            <p:nvPr/>
          </p:nvSpPr>
          <p:spPr bwMode="auto">
            <a:xfrm>
              <a:off x="341" y="642"/>
              <a:ext cx="4944" cy="883"/>
            </a:xfrm>
            <a:prstGeom prst="rect">
              <a:avLst/>
            </a:prstGeom>
            <a:noFill/>
            <a:ln w="12700" cap="sq">
              <a:noFill/>
              <a:miter lim="800000"/>
              <a:headEnd type="none" w="sm" len="sm"/>
              <a:tailEnd type="none" w="sm" len="sm"/>
            </a:ln>
          </p:spPr>
          <p:txBody>
            <a:bodyPr>
              <a:spAutoFit/>
            </a:bodyPr>
            <a:lstStyle/>
            <a:p>
              <a:pPr eaLnBrk="1" hangingPunct="1">
                <a:lnSpc>
                  <a:spcPct val="90000"/>
                </a:lnSpc>
              </a:pPr>
              <a:r>
                <a:rPr kumimoji="1" lang="zh-CN" altLang="en-US" sz="2600" b="1" dirty="0">
                  <a:solidFill>
                    <a:srgbClr val="00009A"/>
                  </a:solidFill>
                  <a:latin typeface="幼圆" pitchFamily="49" charset="-122"/>
                  <a:ea typeface="幼圆" pitchFamily="49" charset="-122"/>
                </a:rPr>
                <a:t>        在一个初始为空的链接栈中依次插入元素</a:t>
              </a:r>
            </a:p>
            <a:p>
              <a:pPr eaLnBrk="1" hangingPunct="1">
                <a:lnSpc>
                  <a:spcPct val="90000"/>
                </a:lnSpc>
                <a:spcBef>
                  <a:spcPct val="20000"/>
                </a:spcBef>
                <a:spcAft>
                  <a:spcPct val="20000"/>
                </a:spcAft>
              </a:pPr>
              <a:r>
                <a:rPr kumimoji="1" lang="zh-CN" altLang="en-US" sz="2800" b="1" dirty="0">
                  <a:solidFill>
                    <a:srgbClr val="00009A"/>
                  </a:solidFill>
                  <a:ea typeface="幼圆" pitchFamily="49" charset="-122"/>
                </a:rPr>
                <a:t>                                 </a:t>
              </a:r>
              <a:r>
                <a:rPr kumimoji="1" lang="en-US" altLang="en-US" sz="3000" b="1" dirty="0">
                  <a:solidFill>
                    <a:srgbClr val="FF3300"/>
                  </a:solidFill>
                  <a:ea typeface="幼圆" pitchFamily="49" charset="-122"/>
                </a:rPr>
                <a:t>A,   B,   C,   D</a:t>
              </a:r>
            </a:p>
            <a:p>
              <a:pPr eaLnBrk="1" hangingPunct="1">
                <a:lnSpc>
                  <a:spcPct val="90000"/>
                </a:lnSpc>
              </a:pPr>
              <a:r>
                <a:rPr kumimoji="1" lang="zh-CN" altLang="en-US" sz="2600" b="1" dirty="0">
                  <a:solidFill>
                    <a:srgbClr val="00009A"/>
                  </a:solidFill>
                  <a:latin typeface="幼圆" pitchFamily="49" charset="-122"/>
                  <a:ea typeface="幼圆" pitchFamily="49" charset="-122"/>
                </a:rPr>
                <a:t>       以后, 栈的状态为</a:t>
              </a:r>
              <a:endParaRPr kumimoji="1" lang="zh-CN" altLang="en-US" sz="2600" dirty="0">
                <a:solidFill>
                  <a:srgbClr val="00009A"/>
                </a:solidFill>
                <a:latin typeface="幼圆" pitchFamily="49" charset="-122"/>
                <a:ea typeface="幼圆" pitchFamily="49" charset="-122"/>
              </a:endParaRPr>
            </a:p>
          </p:txBody>
        </p:sp>
        <p:sp>
          <p:nvSpPr>
            <p:cNvPr id="50204" name="Oval 31"/>
            <p:cNvSpPr>
              <a:spLocks noChangeArrowheads="1"/>
            </p:cNvSpPr>
            <p:nvPr/>
          </p:nvSpPr>
          <p:spPr bwMode="auto">
            <a:xfrm>
              <a:off x="336" y="318"/>
              <a:ext cx="672" cy="432"/>
            </a:xfrm>
            <a:prstGeom prst="ellipse">
              <a:avLst/>
            </a:prstGeom>
            <a:solidFill>
              <a:srgbClr val="CCFFFF"/>
            </a:solidFill>
            <a:ln w="12700" cap="sq">
              <a:noFill/>
              <a:round/>
              <a:headEnd type="none" w="sm" len="sm"/>
              <a:tailEnd type="none" w="sm" len="sm"/>
            </a:ln>
            <a:effectLst>
              <a:outerShdw dist="45791" dir="2021404" algn="ctr" rotWithShape="0">
                <a:srgbClr val="B2B2B2"/>
              </a:outerShdw>
            </a:effectLst>
          </p:spPr>
          <p:txBody>
            <a:bodyPr wrap="none" anchor="ctr"/>
            <a:lstStyle/>
            <a:p>
              <a:endParaRPr lang="zh-CN" altLang="en-US"/>
            </a:p>
          </p:txBody>
        </p:sp>
        <p:sp>
          <p:nvSpPr>
            <p:cNvPr id="50205" name="Text Box 32"/>
            <p:cNvSpPr txBox="1">
              <a:spLocks noChangeArrowheads="1"/>
            </p:cNvSpPr>
            <p:nvPr/>
          </p:nvSpPr>
          <p:spPr bwMode="auto">
            <a:xfrm>
              <a:off x="410" y="255"/>
              <a:ext cx="516" cy="538"/>
            </a:xfrm>
            <a:prstGeom prst="rect">
              <a:avLst/>
            </a:prstGeom>
            <a:noFill/>
            <a:ln w="12700" cap="sq">
              <a:noFill/>
              <a:miter lim="800000"/>
              <a:headEnd type="none" w="sm" len="sm"/>
              <a:tailEnd type="none" w="sm" len="sm"/>
            </a:ln>
            <a:effectLst>
              <a:outerShdw dist="28398" dir="3806097" algn="ctr" rotWithShape="0">
                <a:srgbClr val="000000"/>
              </a:outerShdw>
            </a:effectLst>
          </p:spPr>
          <p:txBody>
            <a:bodyPr wrap="none">
              <a:spAutoFit/>
            </a:bodyPr>
            <a:lstStyle/>
            <a:p>
              <a:r>
                <a:rPr lang="zh-CN" altLang="en-US" sz="5000" b="1">
                  <a:solidFill>
                    <a:srgbClr val="FF3300"/>
                  </a:solidFill>
                  <a:ea typeface="华文新魏" pitchFamily="2" charset="-122"/>
                </a:rPr>
                <a:t>例</a:t>
              </a:r>
            </a:p>
          </p:txBody>
        </p:sp>
      </p:grpSp>
      <p:grpSp>
        <p:nvGrpSpPr>
          <p:cNvPr id="4" name="Group 57"/>
          <p:cNvGrpSpPr>
            <a:grpSpLocks/>
          </p:cNvGrpSpPr>
          <p:nvPr/>
        </p:nvGrpSpPr>
        <p:grpSpPr bwMode="auto">
          <a:xfrm>
            <a:off x="2855641" y="2636911"/>
            <a:ext cx="6405563" cy="1209674"/>
            <a:chOff x="838" y="1480"/>
            <a:chExt cx="4035" cy="762"/>
          </a:xfrm>
        </p:grpSpPr>
        <p:grpSp>
          <p:nvGrpSpPr>
            <p:cNvPr id="5" name="Group 36"/>
            <p:cNvGrpSpPr>
              <a:grpSpLocks/>
            </p:cNvGrpSpPr>
            <p:nvPr/>
          </p:nvGrpSpPr>
          <p:grpSpPr bwMode="auto">
            <a:xfrm>
              <a:off x="1383" y="1933"/>
              <a:ext cx="635" cy="272"/>
              <a:chOff x="1565" y="1933"/>
              <a:chExt cx="635" cy="272"/>
            </a:xfrm>
          </p:grpSpPr>
          <p:sp>
            <p:nvSpPr>
              <p:cNvPr id="50201" name="Rectangle 34"/>
              <p:cNvSpPr>
                <a:spLocks noChangeArrowheads="1"/>
              </p:cNvSpPr>
              <p:nvPr/>
            </p:nvSpPr>
            <p:spPr bwMode="auto">
              <a:xfrm>
                <a:off x="1565" y="1933"/>
                <a:ext cx="408" cy="272"/>
              </a:xfrm>
              <a:prstGeom prst="rect">
                <a:avLst/>
              </a:prstGeom>
              <a:noFill/>
              <a:ln w="25400" cap="sq">
                <a:solidFill>
                  <a:srgbClr val="000000"/>
                </a:solidFill>
                <a:miter lim="800000"/>
                <a:headEnd type="none" w="sm" len="sm"/>
                <a:tailEnd type="none" w="sm" len="sm"/>
              </a:ln>
            </p:spPr>
            <p:txBody>
              <a:bodyPr wrap="none" anchor="ctr"/>
              <a:lstStyle/>
              <a:p>
                <a:endParaRPr lang="zh-CN" altLang="en-US"/>
              </a:p>
            </p:txBody>
          </p:sp>
          <p:sp>
            <p:nvSpPr>
              <p:cNvPr id="50202" name="Rectangle 35"/>
              <p:cNvSpPr>
                <a:spLocks noChangeArrowheads="1"/>
              </p:cNvSpPr>
              <p:nvPr/>
            </p:nvSpPr>
            <p:spPr bwMode="auto">
              <a:xfrm>
                <a:off x="1974" y="1933"/>
                <a:ext cx="226" cy="272"/>
              </a:xfrm>
              <a:prstGeom prst="rect">
                <a:avLst/>
              </a:prstGeom>
              <a:noFill/>
              <a:ln w="25400" cap="sq">
                <a:solidFill>
                  <a:srgbClr val="000000"/>
                </a:solidFill>
                <a:miter lim="800000"/>
                <a:headEnd type="none" w="sm" len="sm"/>
                <a:tailEnd type="none" w="sm" len="sm"/>
              </a:ln>
            </p:spPr>
            <p:txBody>
              <a:bodyPr wrap="none" anchor="ctr"/>
              <a:lstStyle/>
              <a:p>
                <a:endParaRPr lang="zh-CN" altLang="en-US"/>
              </a:p>
            </p:txBody>
          </p:sp>
        </p:grpSp>
        <p:grpSp>
          <p:nvGrpSpPr>
            <p:cNvPr id="6" name="Group 37"/>
            <p:cNvGrpSpPr>
              <a:grpSpLocks/>
            </p:cNvGrpSpPr>
            <p:nvPr/>
          </p:nvGrpSpPr>
          <p:grpSpPr bwMode="auto">
            <a:xfrm>
              <a:off x="2336" y="1933"/>
              <a:ext cx="635" cy="272"/>
              <a:chOff x="1565" y="1933"/>
              <a:chExt cx="635" cy="272"/>
            </a:xfrm>
          </p:grpSpPr>
          <p:sp>
            <p:nvSpPr>
              <p:cNvPr id="50199" name="Rectangle 38"/>
              <p:cNvSpPr>
                <a:spLocks noChangeArrowheads="1"/>
              </p:cNvSpPr>
              <p:nvPr/>
            </p:nvSpPr>
            <p:spPr bwMode="auto">
              <a:xfrm>
                <a:off x="1565" y="1933"/>
                <a:ext cx="408" cy="272"/>
              </a:xfrm>
              <a:prstGeom prst="rect">
                <a:avLst/>
              </a:prstGeom>
              <a:noFill/>
              <a:ln w="25400" cap="sq">
                <a:solidFill>
                  <a:srgbClr val="000000"/>
                </a:solidFill>
                <a:miter lim="800000"/>
                <a:headEnd type="none" w="sm" len="sm"/>
                <a:tailEnd type="none" w="sm" len="sm"/>
              </a:ln>
            </p:spPr>
            <p:txBody>
              <a:bodyPr wrap="none" anchor="ctr"/>
              <a:lstStyle/>
              <a:p>
                <a:endParaRPr lang="zh-CN" altLang="en-US"/>
              </a:p>
            </p:txBody>
          </p:sp>
          <p:sp>
            <p:nvSpPr>
              <p:cNvPr id="50200" name="Rectangle 39"/>
              <p:cNvSpPr>
                <a:spLocks noChangeArrowheads="1"/>
              </p:cNvSpPr>
              <p:nvPr/>
            </p:nvSpPr>
            <p:spPr bwMode="auto">
              <a:xfrm>
                <a:off x="1974" y="1933"/>
                <a:ext cx="226" cy="272"/>
              </a:xfrm>
              <a:prstGeom prst="rect">
                <a:avLst/>
              </a:prstGeom>
              <a:noFill/>
              <a:ln w="25400" cap="sq">
                <a:solidFill>
                  <a:srgbClr val="000000"/>
                </a:solidFill>
                <a:miter lim="800000"/>
                <a:headEnd type="none" w="sm" len="sm"/>
                <a:tailEnd type="none" w="sm" len="sm"/>
              </a:ln>
            </p:spPr>
            <p:txBody>
              <a:bodyPr wrap="none" anchor="ctr"/>
              <a:lstStyle/>
              <a:p>
                <a:endParaRPr lang="zh-CN" altLang="en-US"/>
              </a:p>
            </p:txBody>
          </p:sp>
        </p:grpSp>
        <p:grpSp>
          <p:nvGrpSpPr>
            <p:cNvPr id="7" name="Group 40"/>
            <p:cNvGrpSpPr>
              <a:grpSpLocks/>
            </p:cNvGrpSpPr>
            <p:nvPr/>
          </p:nvGrpSpPr>
          <p:grpSpPr bwMode="auto">
            <a:xfrm>
              <a:off x="3291" y="1933"/>
              <a:ext cx="635" cy="272"/>
              <a:chOff x="1565" y="1933"/>
              <a:chExt cx="635" cy="272"/>
            </a:xfrm>
          </p:grpSpPr>
          <p:sp>
            <p:nvSpPr>
              <p:cNvPr id="50197" name="Rectangle 41"/>
              <p:cNvSpPr>
                <a:spLocks noChangeArrowheads="1"/>
              </p:cNvSpPr>
              <p:nvPr/>
            </p:nvSpPr>
            <p:spPr bwMode="auto">
              <a:xfrm>
                <a:off x="1565" y="1933"/>
                <a:ext cx="408" cy="272"/>
              </a:xfrm>
              <a:prstGeom prst="rect">
                <a:avLst/>
              </a:prstGeom>
              <a:noFill/>
              <a:ln w="25400" cap="sq">
                <a:solidFill>
                  <a:srgbClr val="000000"/>
                </a:solidFill>
                <a:miter lim="800000"/>
                <a:headEnd type="none" w="sm" len="sm"/>
                <a:tailEnd type="none" w="sm" len="sm"/>
              </a:ln>
            </p:spPr>
            <p:txBody>
              <a:bodyPr wrap="none" anchor="ctr"/>
              <a:lstStyle/>
              <a:p>
                <a:endParaRPr lang="zh-CN" altLang="en-US"/>
              </a:p>
            </p:txBody>
          </p:sp>
          <p:sp>
            <p:nvSpPr>
              <p:cNvPr id="50198" name="Rectangle 42"/>
              <p:cNvSpPr>
                <a:spLocks noChangeArrowheads="1"/>
              </p:cNvSpPr>
              <p:nvPr/>
            </p:nvSpPr>
            <p:spPr bwMode="auto">
              <a:xfrm>
                <a:off x="1974" y="1933"/>
                <a:ext cx="226" cy="272"/>
              </a:xfrm>
              <a:prstGeom prst="rect">
                <a:avLst/>
              </a:prstGeom>
              <a:noFill/>
              <a:ln w="25400" cap="sq">
                <a:solidFill>
                  <a:srgbClr val="000000"/>
                </a:solidFill>
                <a:miter lim="800000"/>
                <a:headEnd type="none" w="sm" len="sm"/>
                <a:tailEnd type="none" w="sm" len="sm"/>
              </a:ln>
            </p:spPr>
            <p:txBody>
              <a:bodyPr wrap="none" anchor="ctr"/>
              <a:lstStyle/>
              <a:p>
                <a:endParaRPr lang="zh-CN" altLang="en-US"/>
              </a:p>
            </p:txBody>
          </p:sp>
        </p:grpSp>
        <p:grpSp>
          <p:nvGrpSpPr>
            <p:cNvPr id="8" name="Group 43"/>
            <p:cNvGrpSpPr>
              <a:grpSpLocks/>
            </p:cNvGrpSpPr>
            <p:nvPr/>
          </p:nvGrpSpPr>
          <p:grpSpPr bwMode="auto">
            <a:xfrm>
              <a:off x="4238" y="1933"/>
              <a:ext cx="635" cy="272"/>
              <a:chOff x="1565" y="1933"/>
              <a:chExt cx="635" cy="272"/>
            </a:xfrm>
          </p:grpSpPr>
          <p:sp>
            <p:nvSpPr>
              <p:cNvPr id="50195" name="Rectangle 44"/>
              <p:cNvSpPr>
                <a:spLocks noChangeArrowheads="1"/>
              </p:cNvSpPr>
              <p:nvPr/>
            </p:nvSpPr>
            <p:spPr bwMode="auto">
              <a:xfrm>
                <a:off x="1565" y="1933"/>
                <a:ext cx="408" cy="272"/>
              </a:xfrm>
              <a:prstGeom prst="rect">
                <a:avLst/>
              </a:prstGeom>
              <a:noFill/>
              <a:ln w="25400" cap="sq">
                <a:solidFill>
                  <a:srgbClr val="000000"/>
                </a:solidFill>
                <a:miter lim="800000"/>
                <a:headEnd type="none" w="sm" len="sm"/>
                <a:tailEnd type="none" w="sm" len="sm"/>
              </a:ln>
            </p:spPr>
            <p:txBody>
              <a:bodyPr wrap="none" anchor="ctr"/>
              <a:lstStyle/>
              <a:p>
                <a:endParaRPr lang="zh-CN" altLang="en-US"/>
              </a:p>
            </p:txBody>
          </p:sp>
          <p:sp>
            <p:nvSpPr>
              <p:cNvPr id="50196" name="Rectangle 45"/>
              <p:cNvSpPr>
                <a:spLocks noChangeArrowheads="1"/>
              </p:cNvSpPr>
              <p:nvPr/>
            </p:nvSpPr>
            <p:spPr bwMode="auto">
              <a:xfrm>
                <a:off x="1974" y="1933"/>
                <a:ext cx="226" cy="272"/>
              </a:xfrm>
              <a:prstGeom prst="rect">
                <a:avLst/>
              </a:prstGeom>
              <a:noFill/>
              <a:ln w="25400" cap="sq">
                <a:solidFill>
                  <a:srgbClr val="000000"/>
                </a:solidFill>
                <a:miter lim="800000"/>
                <a:headEnd type="none" w="sm" len="sm"/>
                <a:tailEnd type="none" w="sm" len="sm"/>
              </a:ln>
            </p:spPr>
            <p:txBody>
              <a:bodyPr wrap="none" anchor="ctr"/>
              <a:lstStyle/>
              <a:p>
                <a:endParaRPr lang="zh-CN" altLang="en-US"/>
              </a:p>
            </p:txBody>
          </p:sp>
        </p:grpSp>
        <p:sp>
          <p:nvSpPr>
            <p:cNvPr id="50185" name="Line 47"/>
            <p:cNvSpPr>
              <a:spLocks noChangeShapeType="1"/>
            </p:cNvSpPr>
            <p:nvPr/>
          </p:nvSpPr>
          <p:spPr bwMode="auto">
            <a:xfrm>
              <a:off x="1919" y="2064"/>
              <a:ext cx="409" cy="0"/>
            </a:xfrm>
            <a:prstGeom prst="line">
              <a:avLst/>
            </a:prstGeom>
            <a:noFill/>
            <a:ln w="28575" cap="sq">
              <a:solidFill>
                <a:srgbClr val="000080"/>
              </a:solidFill>
              <a:round/>
              <a:headEnd type="none" w="sm" len="sm"/>
              <a:tailEnd type="triangle" w="med" len="med"/>
            </a:ln>
          </p:spPr>
          <p:txBody>
            <a:bodyPr/>
            <a:lstStyle/>
            <a:p>
              <a:endParaRPr lang="zh-CN" altLang="en-US"/>
            </a:p>
          </p:txBody>
        </p:sp>
        <p:sp>
          <p:nvSpPr>
            <p:cNvPr id="50186" name="Line 48"/>
            <p:cNvSpPr>
              <a:spLocks noChangeShapeType="1"/>
            </p:cNvSpPr>
            <p:nvPr/>
          </p:nvSpPr>
          <p:spPr bwMode="auto">
            <a:xfrm>
              <a:off x="2855" y="2069"/>
              <a:ext cx="409" cy="0"/>
            </a:xfrm>
            <a:prstGeom prst="line">
              <a:avLst/>
            </a:prstGeom>
            <a:noFill/>
            <a:ln w="28575" cap="sq">
              <a:solidFill>
                <a:srgbClr val="003366"/>
              </a:solidFill>
              <a:round/>
              <a:headEnd type="none" w="sm" len="sm"/>
              <a:tailEnd type="triangle" w="med" len="med"/>
            </a:ln>
          </p:spPr>
          <p:txBody>
            <a:bodyPr/>
            <a:lstStyle/>
            <a:p>
              <a:endParaRPr lang="zh-CN" altLang="en-US"/>
            </a:p>
          </p:txBody>
        </p:sp>
        <p:sp>
          <p:nvSpPr>
            <p:cNvPr id="50187" name="Line 49"/>
            <p:cNvSpPr>
              <a:spLocks noChangeShapeType="1"/>
            </p:cNvSpPr>
            <p:nvPr/>
          </p:nvSpPr>
          <p:spPr bwMode="auto">
            <a:xfrm>
              <a:off x="3810" y="2069"/>
              <a:ext cx="409" cy="0"/>
            </a:xfrm>
            <a:prstGeom prst="line">
              <a:avLst/>
            </a:prstGeom>
            <a:noFill/>
            <a:ln w="28575" cap="sq">
              <a:solidFill>
                <a:srgbClr val="000080"/>
              </a:solidFill>
              <a:round/>
              <a:headEnd type="none" w="sm" len="sm"/>
              <a:tailEnd type="triangle" w="med" len="med"/>
            </a:ln>
          </p:spPr>
          <p:txBody>
            <a:bodyPr/>
            <a:lstStyle/>
            <a:p>
              <a:endParaRPr lang="zh-CN" altLang="en-US"/>
            </a:p>
          </p:txBody>
        </p:sp>
        <p:sp>
          <p:nvSpPr>
            <p:cNvPr id="50188" name="Text Box 50"/>
            <p:cNvSpPr txBox="1">
              <a:spLocks noChangeArrowheads="1"/>
            </p:cNvSpPr>
            <p:nvPr/>
          </p:nvSpPr>
          <p:spPr bwMode="auto">
            <a:xfrm>
              <a:off x="4628" y="1912"/>
              <a:ext cx="186" cy="233"/>
            </a:xfrm>
            <a:prstGeom prst="rect">
              <a:avLst/>
            </a:prstGeom>
            <a:noFill/>
            <a:ln w="12700" cap="sq">
              <a:noFill/>
              <a:miter lim="800000"/>
              <a:headEnd type="none" w="sm" len="sm"/>
              <a:tailEnd type="none" w="sm" len="sm"/>
            </a:ln>
          </p:spPr>
          <p:txBody>
            <a:bodyPr wrap="none">
              <a:spAutoFit/>
            </a:bodyPr>
            <a:lstStyle/>
            <a:p>
              <a:r>
                <a:rPr lang="en-US" altLang="zh-CN" b="1">
                  <a:solidFill>
                    <a:srgbClr val="003399"/>
                  </a:solidFill>
                </a:rPr>
                <a:t>^</a:t>
              </a:r>
            </a:p>
          </p:txBody>
        </p:sp>
        <p:sp>
          <p:nvSpPr>
            <p:cNvPr id="50189" name="Rectangle 51"/>
            <p:cNvSpPr>
              <a:spLocks noChangeArrowheads="1"/>
            </p:cNvSpPr>
            <p:nvPr/>
          </p:nvSpPr>
          <p:spPr bwMode="auto">
            <a:xfrm>
              <a:off x="4313" y="1902"/>
              <a:ext cx="251" cy="330"/>
            </a:xfrm>
            <a:prstGeom prst="rect">
              <a:avLst/>
            </a:prstGeom>
            <a:noFill/>
            <a:ln w="12700" cap="sq">
              <a:noFill/>
              <a:miter lim="800000"/>
              <a:headEnd type="none" w="sm" len="sm"/>
              <a:tailEnd type="none" w="sm" len="sm"/>
            </a:ln>
          </p:spPr>
          <p:txBody>
            <a:bodyPr wrap="none">
              <a:spAutoFit/>
            </a:bodyPr>
            <a:lstStyle/>
            <a:p>
              <a:r>
                <a:rPr kumimoji="1" lang="en-US" altLang="en-US" sz="2800" b="1">
                  <a:solidFill>
                    <a:srgbClr val="FF3300"/>
                  </a:solidFill>
                </a:rPr>
                <a:t>A</a:t>
              </a:r>
              <a:endParaRPr kumimoji="1" lang="zh-CN" altLang="en-US" sz="2800" b="1">
                <a:solidFill>
                  <a:srgbClr val="FF3300"/>
                </a:solidFill>
              </a:endParaRPr>
            </a:p>
          </p:txBody>
        </p:sp>
        <p:sp>
          <p:nvSpPr>
            <p:cNvPr id="50190" name="Rectangle 52"/>
            <p:cNvSpPr>
              <a:spLocks noChangeArrowheads="1"/>
            </p:cNvSpPr>
            <p:nvPr/>
          </p:nvSpPr>
          <p:spPr bwMode="auto">
            <a:xfrm>
              <a:off x="3360" y="1912"/>
              <a:ext cx="251" cy="330"/>
            </a:xfrm>
            <a:prstGeom prst="rect">
              <a:avLst/>
            </a:prstGeom>
            <a:noFill/>
            <a:ln w="12700" cap="sq">
              <a:noFill/>
              <a:miter lim="800000"/>
              <a:headEnd type="none" w="sm" len="sm"/>
              <a:tailEnd type="none" w="sm" len="sm"/>
            </a:ln>
          </p:spPr>
          <p:txBody>
            <a:bodyPr wrap="none">
              <a:spAutoFit/>
            </a:bodyPr>
            <a:lstStyle/>
            <a:p>
              <a:r>
                <a:rPr kumimoji="1" lang="en-US" altLang="zh-CN" sz="2800" b="1">
                  <a:solidFill>
                    <a:srgbClr val="FF3300"/>
                  </a:solidFill>
                </a:rPr>
                <a:t>B</a:t>
              </a:r>
              <a:endParaRPr kumimoji="1" lang="zh-CN" altLang="en-US" sz="2800" b="1">
                <a:solidFill>
                  <a:srgbClr val="FF3300"/>
                </a:solidFill>
              </a:endParaRPr>
            </a:p>
          </p:txBody>
        </p:sp>
        <p:sp>
          <p:nvSpPr>
            <p:cNvPr id="50191" name="Rectangle 53"/>
            <p:cNvSpPr>
              <a:spLocks noChangeArrowheads="1"/>
            </p:cNvSpPr>
            <p:nvPr/>
          </p:nvSpPr>
          <p:spPr bwMode="auto">
            <a:xfrm>
              <a:off x="2402" y="1904"/>
              <a:ext cx="251" cy="330"/>
            </a:xfrm>
            <a:prstGeom prst="rect">
              <a:avLst/>
            </a:prstGeom>
            <a:noFill/>
            <a:ln w="12700" cap="sq">
              <a:noFill/>
              <a:miter lim="800000"/>
              <a:headEnd type="none" w="sm" len="sm"/>
              <a:tailEnd type="none" w="sm" len="sm"/>
            </a:ln>
          </p:spPr>
          <p:txBody>
            <a:bodyPr wrap="none">
              <a:spAutoFit/>
            </a:bodyPr>
            <a:lstStyle/>
            <a:p>
              <a:r>
                <a:rPr kumimoji="1" lang="en-US" altLang="zh-CN" sz="2800" b="1">
                  <a:solidFill>
                    <a:srgbClr val="FF3300"/>
                  </a:solidFill>
                </a:rPr>
                <a:t>C</a:t>
              </a:r>
              <a:endParaRPr kumimoji="1" lang="zh-CN" altLang="en-US" sz="2800" b="1">
                <a:solidFill>
                  <a:srgbClr val="FF3300"/>
                </a:solidFill>
              </a:endParaRPr>
            </a:p>
          </p:txBody>
        </p:sp>
        <p:sp>
          <p:nvSpPr>
            <p:cNvPr id="50192" name="Rectangle 54"/>
            <p:cNvSpPr>
              <a:spLocks noChangeArrowheads="1"/>
            </p:cNvSpPr>
            <p:nvPr/>
          </p:nvSpPr>
          <p:spPr bwMode="auto">
            <a:xfrm>
              <a:off x="1450" y="1901"/>
              <a:ext cx="251" cy="330"/>
            </a:xfrm>
            <a:prstGeom prst="rect">
              <a:avLst/>
            </a:prstGeom>
            <a:noFill/>
            <a:ln w="12700" cap="sq">
              <a:noFill/>
              <a:miter lim="800000"/>
              <a:headEnd type="none" w="sm" len="sm"/>
              <a:tailEnd type="none" w="sm" len="sm"/>
            </a:ln>
          </p:spPr>
          <p:txBody>
            <a:bodyPr wrap="none">
              <a:spAutoFit/>
            </a:bodyPr>
            <a:lstStyle/>
            <a:p>
              <a:r>
                <a:rPr kumimoji="1" lang="en-US" altLang="zh-CN" sz="2800" b="1">
                  <a:solidFill>
                    <a:srgbClr val="FF3300"/>
                  </a:solidFill>
                </a:rPr>
                <a:t>D</a:t>
              </a:r>
              <a:endParaRPr kumimoji="1" lang="zh-CN" altLang="en-US" sz="2800" b="1">
                <a:solidFill>
                  <a:srgbClr val="FF3300"/>
                </a:solidFill>
              </a:endParaRPr>
            </a:p>
          </p:txBody>
        </p:sp>
        <p:sp>
          <p:nvSpPr>
            <p:cNvPr id="50193" name="Rectangle 55"/>
            <p:cNvSpPr>
              <a:spLocks noChangeArrowheads="1"/>
            </p:cNvSpPr>
            <p:nvPr/>
          </p:nvSpPr>
          <p:spPr bwMode="auto">
            <a:xfrm>
              <a:off x="838" y="1480"/>
              <a:ext cx="545" cy="308"/>
            </a:xfrm>
            <a:prstGeom prst="rect">
              <a:avLst/>
            </a:prstGeom>
            <a:noFill/>
            <a:ln w="12700" cap="sq">
              <a:noFill/>
              <a:miter lim="800000"/>
              <a:headEnd type="none" w="sm" len="sm"/>
              <a:tailEnd type="none" w="sm" len="sm"/>
            </a:ln>
          </p:spPr>
          <p:txBody>
            <a:bodyPr>
              <a:spAutoFit/>
            </a:bodyPr>
            <a:lstStyle/>
            <a:p>
              <a:r>
                <a:rPr kumimoji="1" lang="en-US" altLang="zh-CN" sz="2600" b="1">
                  <a:solidFill>
                    <a:srgbClr val="FF0000"/>
                  </a:solidFill>
                </a:rPr>
                <a:t>top</a:t>
              </a:r>
              <a:endParaRPr kumimoji="1" lang="zh-CN" altLang="en-US" sz="2600" b="1">
                <a:solidFill>
                  <a:srgbClr val="FF0000"/>
                </a:solidFill>
              </a:endParaRPr>
            </a:p>
          </p:txBody>
        </p:sp>
        <p:sp>
          <p:nvSpPr>
            <p:cNvPr id="50194" name="Line 56"/>
            <p:cNvSpPr>
              <a:spLocks noChangeShapeType="1"/>
            </p:cNvSpPr>
            <p:nvPr/>
          </p:nvSpPr>
          <p:spPr bwMode="auto">
            <a:xfrm>
              <a:off x="1172" y="1784"/>
              <a:ext cx="182" cy="136"/>
            </a:xfrm>
            <a:prstGeom prst="line">
              <a:avLst/>
            </a:prstGeom>
            <a:noFill/>
            <a:ln w="25400" cap="sq">
              <a:solidFill>
                <a:srgbClr val="FF0000"/>
              </a:solidFill>
              <a:round/>
              <a:headEnd type="none" w="sm" len="sm"/>
              <a:tailEnd type="triangle" w="med" len="lg"/>
            </a:ln>
          </p:spPr>
          <p:txBody>
            <a:bodyPr/>
            <a:lstStyle/>
            <a:p>
              <a:endParaRPr lang="zh-CN" altLang="en-US"/>
            </a:p>
          </p:txBody>
        </p:sp>
      </p:grpSp>
      <p:grpSp>
        <p:nvGrpSpPr>
          <p:cNvPr id="32" name="Group 171"/>
          <p:cNvGrpSpPr>
            <a:grpSpLocks/>
          </p:cNvGrpSpPr>
          <p:nvPr/>
        </p:nvGrpSpPr>
        <p:grpSpPr bwMode="auto">
          <a:xfrm>
            <a:off x="2279577" y="5229200"/>
            <a:ext cx="7783513" cy="1340768"/>
            <a:chOff x="432" y="1872"/>
            <a:chExt cx="4903" cy="1488"/>
          </a:xfrm>
        </p:grpSpPr>
        <p:sp>
          <p:nvSpPr>
            <p:cNvPr id="33" name="Rectangle 51"/>
            <p:cNvSpPr>
              <a:spLocks noChangeArrowheads="1"/>
            </p:cNvSpPr>
            <p:nvPr/>
          </p:nvSpPr>
          <p:spPr bwMode="auto">
            <a:xfrm>
              <a:off x="432" y="1872"/>
              <a:ext cx="4848" cy="1488"/>
            </a:xfrm>
            <a:prstGeom prst="rect">
              <a:avLst/>
            </a:prstGeom>
            <a:solidFill>
              <a:srgbClr val="FFFFCD"/>
            </a:solidFill>
            <a:ln w="12700" cap="sq">
              <a:noFill/>
              <a:miter lim="800000"/>
              <a:headEnd type="none" w="sm" len="sm"/>
              <a:tailEnd type="none" w="sm" len="sm"/>
            </a:ln>
            <a:effectLst>
              <a:outerShdw dist="233487" dir="2700000" algn="ctr" rotWithShape="0">
                <a:srgbClr val="C0C0C0"/>
              </a:outerShdw>
            </a:effectLst>
          </p:spPr>
          <p:txBody>
            <a:bodyPr wrap="none" anchor="ctr"/>
            <a:lstStyle/>
            <a:p>
              <a:endParaRPr lang="zh-CN" altLang="en-US" dirty="0">
                <a:solidFill>
                  <a:srgbClr val="7030A0"/>
                </a:solidFill>
              </a:endParaRPr>
            </a:p>
          </p:txBody>
        </p:sp>
        <p:sp>
          <p:nvSpPr>
            <p:cNvPr id="34" name="Text Box 52"/>
            <p:cNvSpPr txBox="1">
              <a:spLocks noChangeArrowheads="1"/>
            </p:cNvSpPr>
            <p:nvPr/>
          </p:nvSpPr>
          <p:spPr bwMode="auto">
            <a:xfrm>
              <a:off x="679" y="2080"/>
              <a:ext cx="4656" cy="881"/>
            </a:xfrm>
            <a:prstGeom prst="rect">
              <a:avLst/>
            </a:prstGeom>
            <a:noFill/>
            <a:ln w="12700" cap="sq">
              <a:noFill/>
              <a:miter lim="800000"/>
              <a:headEnd type="none" w="sm" len="sm"/>
              <a:tailEnd type="none" w="sm" len="sm"/>
            </a:ln>
          </p:spPr>
          <p:txBody>
            <a:bodyPr>
              <a:spAutoFit/>
            </a:bodyPr>
            <a:lstStyle/>
            <a:p>
              <a:pPr>
                <a:lnSpc>
                  <a:spcPct val="95000"/>
                </a:lnSpc>
              </a:pPr>
              <a:r>
                <a:rPr kumimoji="1" lang="zh-CN" altLang="en-US" sz="2400" b="1" dirty="0">
                  <a:solidFill>
                    <a:srgbClr val="7030A0"/>
                  </a:solidFill>
                  <a:latin typeface="幼圆" pitchFamily="49" charset="-122"/>
                  <a:ea typeface="幼圆" pitchFamily="49" charset="-122"/>
                </a:rPr>
                <a:t>链栈是一种特殊的链表，其结点的插入（进栈）和删除（出栈）操作始终在链表的头。</a:t>
              </a:r>
              <a:endParaRPr kumimoji="1" lang="en-US" altLang="zh-CN" sz="2400" b="1" dirty="0">
                <a:solidFill>
                  <a:srgbClr val="7030A0"/>
                </a:solidFill>
                <a:latin typeface="幼圆" pitchFamily="49" charset="-122"/>
                <a:ea typeface="幼圆" pitchFamily="49" charset="-122"/>
              </a:endParaRPr>
            </a:p>
          </p:txBody>
        </p:sp>
      </p:gr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barn(inVertical)">
                                      <p:cBhvr>
                                        <p:cTn id="1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8"/>
          <p:cNvGrpSpPr>
            <a:grpSpLocks/>
          </p:cNvGrpSpPr>
          <p:nvPr/>
        </p:nvGrpSpPr>
        <p:grpSpPr bwMode="auto">
          <a:xfrm>
            <a:off x="3071814" y="1400176"/>
            <a:ext cx="5976937" cy="3108327"/>
            <a:chOff x="1111" y="709"/>
            <a:chExt cx="3765" cy="1958"/>
          </a:xfrm>
        </p:grpSpPr>
        <p:sp>
          <p:nvSpPr>
            <p:cNvPr id="51203" name="Rectangle 3"/>
            <p:cNvSpPr>
              <a:spLocks noChangeArrowheads="1"/>
            </p:cNvSpPr>
            <p:nvPr/>
          </p:nvSpPr>
          <p:spPr bwMode="auto">
            <a:xfrm>
              <a:off x="1446" y="1150"/>
              <a:ext cx="3354" cy="1517"/>
            </a:xfrm>
            <a:prstGeom prst="rect">
              <a:avLst/>
            </a:prstGeom>
            <a:solidFill>
              <a:srgbClr val="FFFFCD"/>
            </a:solidFill>
            <a:ln w="12700" cap="sq">
              <a:noFill/>
              <a:miter lim="800000"/>
              <a:headEnd/>
              <a:tailEnd/>
            </a:ln>
            <a:effectLst>
              <a:outerShdw dist="197566" dir="2700000" algn="ctr" rotWithShape="0">
                <a:srgbClr val="C0C0C0"/>
              </a:outerShdw>
            </a:effectLst>
          </p:spPr>
          <p:txBody>
            <a:bodyPr wrap="none" anchor="ctr"/>
            <a:lstStyle/>
            <a:p>
              <a:endParaRPr lang="zh-CN" altLang="en-US"/>
            </a:p>
          </p:txBody>
        </p:sp>
        <p:sp>
          <p:nvSpPr>
            <p:cNvPr id="51204" name="Text Box 4"/>
            <p:cNvSpPr txBox="1">
              <a:spLocks noChangeArrowheads="1"/>
            </p:cNvSpPr>
            <p:nvPr/>
          </p:nvSpPr>
          <p:spPr bwMode="auto">
            <a:xfrm>
              <a:off x="1610" y="1125"/>
              <a:ext cx="3266" cy="1541"/>
            </a:xfrm>
            <a:prstGeom prst="rect">
              <a:avLst/>
            </a:prstGeom>
            <a:noFill/>
            <a:ln w="12700" cap="sq">
              <a:noFill/>
              <a:miter lim="800000"/>
              <a:headEnd/>
              <a:tailEnd/>
            </a:ln>
          </p:spPr>
          <p:txBody>
            <a:bodyPr wrap="square">
              <a:spAutoFit/>
            </a:bodyPr>
            <a:lstStyle/>
            <a:p>
              <a:pPr fontAlgn="t">
                <a:lnSpc>
                  <a:spcPct val="85000"/>
                </a:lnSpc>
              </a:pPr>
              <a:r>
                <a:rPr lang="en-US" altLang="zh-CN" sz="3600" b="1" baseline="-10000" dirty="0" err="1">
                  <a:solidFill>
                    <a:srgbClr val="000099"/>
                  </a:solidFill>
                </a:rPr>
                <a:t>struct</a:t>
              </a:r>
              <a:r>
                <a:rPr lang="en-US" altLang="zh-CN" sz="3600" b="1" baseline="-10000" dirty="0">
                  <a:solidFill>
                    <a:srgbClr val="000099"/>
                  </a:solidFill>
                </a:rPr>
                <a:t>  node { </a:t>
              </a:r>
            </a:p>
            <a:p>
              <a:pPr fontAlgn="t">
                <a:lnSpc>
                  <a:spcPct val="85000"/>
                </a:lnSpc>
              </a:pPr>
              <a:r>
                <a:rPr lang="en-US" altLang="zh-CN" sz="3600" b="1" baseline="-10000" dirty="0">
                  <a:solidFill>
                    <a:srgbClr val="000099"/>
                  </a:solidFill>
                </a:rPr>
                <a:t>        </a:t>
              </a:r>
              <a:r>
                <a:rPr lang="en-US" altLang="zh-CN" sz="3600" b="1" baseline="-10000" dirty="0" err="1">
                  <a:solidFill>
                    <a:srgbClr val="000099"/>
                  </a:solidFill>
                </a:rPr>
                <a:t>SElmeType</a:t>
              </a:r>
              <a:r>
                <a:rPr lang="en-US" altLang="zh-CN" sz="3600" b="1" baseline="-10000" dirty="0">
                  <a:solidFill>
                    <a:srgbClr val="000099"/>
                  </a:solidFill>
                </a:rPr>
                <a:t>  data;</a:t>
              </a:r>
            </a:p>
            <a:p>
              <a:pPr fontAlgn="t">
                <a:lnSpc>
                  <a:spcPct val="85000"/>
                </a:lnSpc>
              </a:pPr>
              <a:r>
                <a:rPr lang="en-US" altLang="zh-CN" sz="3600" b="1" baseline="-10000" dirty="0">
                  <a:solidFill>
                    <a:srgbClr val="000099"/>
                  </a:solidFill>
                </a:rPr>
                <a:t>        </a:t>
              </a:r>
              <a:r>
                <a:rPr lang="en-US" altLang="zh-CN" sz="3600" b="1" baseline="-10000" dirty="0" err="1">
                  <a:solidFill>
                    <a:srgbClr val="000099"/>
                  </a:solidFill>
                </a:rPr>
                <a:t>struct</a:t>
              </a:r>
              <a:r>
                <a:rPr lang="en-US" altLang="zh-CN" sz="3600" b="1" baseline="-10000" dirty="0">
                  <a:solidFill>
                    <a:srgbClr val="000099"/>
                  </a:solidFill>
                </a:rPr>
                <a:t>  node  *link;</a:t>
              </a:r>
            </a:p>
            <a:p>
              <a:pPr fontAlgn="t">
                <a:lnSpc>
                  <a:spcPct val="85000"/>
                </a:lnSpc>
              </a:pPr>
              <a:r>
                <a:rPr lang="en-US" altLang="zh-CN" sz="3600" b="1" baseline="-10000" dirty="0">
                  <a:solidFill>
                    <a:srgbClr val="000099"/>
                  </a:solidFill>
                </a:rPr>
                <a:t>};</a:t>
              </a:r>
            </a:p>
            <a:p>
              <a:pPr fontAlgn="t">
                <a:lnSpc>
                  <a:spcPct val="85000"/>
                </a:lnSpc>
              </a:pPr>
              <a:r>
                <a:rPr lang="en-US" altLang="zh-CN" sz="3600" b="1" baseline="-10000" dirty="0" err="1">
                  <a:solidFill>
                    <a:srgbClr val="000099"/>
                  </a:solidFill>
                </a:rPr>
                <a:t>typedef</a:t>
              </a:r>
              <a:r>
                <a:rPr lang="en-US" altLang="zh-CN" sz="3600" b="1" baseline="-10000" dirty="0">
                  <a:solidFill>
                    <a:srgbClr val="000099"/>
                  </a:solidFill>
                </a:rPr>
                <a:t>  </a:t>
              </a:r>
              <a:r>
                <a:rPr lang="en-US" altLang="zh-CN" sz="3600" b="1" baseline="-10000" dirty="0" err="1">
                  <a:solidFill>
                    <a:srgbClr val="000099"/>
                  </a:solidFill>
                </a:rPr>
                <a:t>struct</a:t>
              </a:r>
              <a:r>
                <a:rPr lang="en-US" altLang="zh-CN" sz="3600" b="1" baseline="-10000" dirty="0">
                  <a:solidFill>
                    <a:srgbClr val="000099"/>
                  </a:solidFill>
                </a:rPr>
                <a:t> node  *</a:t>
              </a:r>
              <a:r>
                <a:rPr lang="en-US" altLang="zh-CN" sz="3600" b="1" baseline="-10000" dirty="0" err="1">
                  <a:solidFill>
                    <a:srgbClr val="FF0000"/>
                  </a:solidFill>
                </a:rPr>
                <a:t>Nodeptr</a:t>
              </a:r>
              <a:r>
                <a:rPr lang="en-US" altLang="zh-CN" sz="3600" b="1" baseline="-10000" dirty="0">
                  <a:solidFill>
                    <a:srgbClr val="FF0000"/>
                  </a:solidFill>
                </a:rPr>
                <a:t>;</a:t>
              </a:r>
            </a:p>
            <a:p>
              <a:pPr fontAlgn="t">
                <a:lnSpc>
                  <a:spcPct val="85000"/>
                </a:lnSpc>
              </a:pPr>
              <a:r>
                <a:rPr lang="en-US" altLang="zh-CN" sz="3600" b="1" baseline="-10000" dirty="0" err="1">
                  <a:solidFill>
                    <a:srgbClr val="000099"/>
                  </a:solidFill>
                </a:rPr>
                <a:t>typedef</a:t>
              </a:r>
              <a:r>
                <a:rPr lang="en-US" altLang="zh-CN" sz="3600" b="1" baseline="-10000" dirty="0">
                  <a:solidFill>
                    <a:srgbClr val="000099"/>
                  </a:solidFill>
                </a:rPr>
                <a:t>  </a:t>
              </a:r>
              <a:r>
                <a:rPr lang="en-US" altLang="zh-CN" sz="3600" b="1" baseline="-10000" dirty="0" err="1">
                  <a:solidFill>
                    <a:srgbClr val="000099"/>
                  </a:solidFill>
                </a:rPr>
                <a:t>struct</a:t>
              </a:r>
              <a:r>
                <a:rPr lang="en-US" altLang="zh-CN" sz="3600" b="1" baseline="-10000" dirty="0">
                  <a:solidFill>
                    <a:srgbClr val="000099"/>
                  </a:solidFill>
                </a:rPr>
                <a:t> node  </a:t>
              </a:r>
              <a:r>
                <a:rPr lang="en-US" altLang="zh-CN" sz="3600" b="1" baseline="-10000" dirty="0" err="1">
                  <a:solidFill>
                    <a:srgbClr val="FF0000"/>
                  </a:solidFill>
                </a:rPr>
                <a:t>Node</a:t>
              </a:r>
              <a:r>
                <a:rPr lang="en-US" altLang="zh-CN" sz="3600" b="1" baseline="-10000" dirty="0">
                  <a:solidFill>
                    <a:srgbClr val="FF0000"/>
                  </a:solidFill>
                </a:rPr>
                <a:t>;</a:t>
              </a:r>
            </a:p>
            <a:p>
              <a:pPr fontAlgn="t">
                <a:lnSpc>
                  <a:spcPct val="85000"/>
                </a:lnSpc>
              </a:pPr>
              <a:r>
                <a:rPr lang="en-US" altLang="zh-CN" sz="3600" b="1" baseline="-10000" dirty="0" err="1">
                  <a:solidFill>
                    <a:srgbClr val="000099"/>
                  </a:solidFill>
                </a:rPr>
                <a:t>Nodeptr</a:t>
              </a:r>
              <a:r>
                <a:rPr lang="en-US" altLang="zh-CN" sz="3600" b="1" baseline="-10000" dirty="0">
                  <a:solidFill>
                    <a:srgbClr val="FF0000"/>
                  </a:solidFill>
                </a:rPr>
                <a:t> Top; //</a:t>
              </a:r>
              <a:r>
                <a:rPr lang="zh-CN" altLang="en-US" sz="3600" b="1" baseline="-10000" dirty="0">
                  <a:solidFill>
                    <a:srgbClr val="FF0000"/>
                  </a:solidFill>
                </a:rPr>
                <a:t>即为链表的头结点指针</a:t>
              </a:r>
              <a:r>
                <a:rPr lang="en-US" altLang="zh-CN" sz="3600" b="1" dirty="0">
                  <a:solidFill>
                    <a:srgbClr val="FF0000"/>
                  </a:solidFill>
                </a:rPr>
                <a:t>  </a:t>
              </a:r>
              <a:endParaRPr lang="en-US" altLang="zh-CN" sz="3600" b="1" baseline="-10000" dirty="0">
                <a:solidFill>
                  <a:srgbClr val="FF0000"/>
                </a:solidFill>
              </a:endParaRPr>
            </a:p>
          </p:txBody>
        </p:sp>
        <p:sp>
          <p:nvSpPr>
            <p:cNvPr id="51205" name="Oval 125"/>
            <p:cNvSpPr>
              <a:spLocks noChangeArrowheads="1"/>
            </p:cNvSpPr>
            <p:nvPr/>
          </p:nvSpPr>
          <p:spPr bwMode="auto">
            <a:xfrm rot="-383283">
              <a:off x="1111" y="810"/>
              <a:ext cx="1676" cy="384"/>
            </a:xfrm>
            <a:prstGeom prst="ellipse">
              <a:avLst/>
            </a:prstGeom>
            <a:solidFill>
              <a:srgbClr val="CCFFFF"/>
            </a:solidFill>
            <a:ln w="12700" cap="sq">
              <a:noFill/>
              <a:round/>
              <a:headEnd type="none" w="sm" len="sm"/>
              <a:tailEnd type="none" w="sm" len="sm"/>
            </a:ln>
            <a:effectLst>
              <a:outerShdw dist="63500" dir="2212194" algn="ctr" rotWithShape="0">
                <a:srgbClr val="C0C0C0"/>
              </a:outerShdw>
            </a:effectLst>
          </p:spPr>
          <p:txBody>
            <a:bodyPr wrap="none" anchor="ctr"/>
            <a:lstStyle/>
            <a:p>
              <a:endParaRPr lang="zh-CN" altLang="en-US"/>
            </a:p>
          </p:txBody>
        </p:sp>
        <p:sp>
          <p:nvSpPr>
            <p:cNvPr id="51206" name="Text Box 126"/>
            <p:cNvSpPr txBox="1">
              <a:spLocks noChangeArrowheads="1"/>
            </p:cNvSpPr>
            <p:nvPr/>
          </p:nvSpPr>
          <p:spPr bwMode="auto">
            <a:xfrm rot="-448457">
              <a:off x="1243" y="709"/>
              <a:ext cx="1396" cy="442"/>
            </a:xfrm>
            <a:prstGeom prst="rect">
              <a:avLst/>
            </a:prstGeom>
            <a:noFill/>
            <a:ln w="12700" cap="sq">
              <a:noFill/>
              <a:miter lim="800000"/>
              <a:headEnd/>
              <a:tailEnd/>
            </a:ln>
            <a:effectLst>
              <a:outerShdw dist="17961" dir="2700000" algn="ctr" rotWithShape="0">
                <a:schemeClr val="bg1"/>
              </a:outerShdw>
            </a:effectLst>
          </p:spPr>
          <p:txBody>
            <a:bodyPr wrap="none">
              <a:spAutoFit/>
            </a:bodyPr>
            <a:lstStyle/>
            <a:p>
              <a:pPr fontAlgn="t"/>
              <a:r>
                <a:rPr lang="zh-CN" altLang="en-US" sz="6000" b="1" baseline="-10000">
                  <a:solidFill>
                    <a:srgbClr val="FF3300"/>
                  </a:solidFill>
                  <a:ea typeface="华文新魏" pitchFamily="2" charset="-122"/>
                </a:rPr>
                <a:t>类型定义</a:t>
              </a:r>
            </a:p>
          </p:txBody>
        </p:sp>
      </p:grpSp>
      <p:grpSp>
        <p:nvGrpSpPr>
          <p:cNvPr id="7" name="Group 136"/>
          <p:cNvGrpSpPr>
            <a:grpSpLocks/>
          </p:cNvGrpSpPr>
          <p:nvPr/>
        </p:nvGrpSpPr>
        <p:grpSpPr bwMode="auto">
          <a:xfrm>
            <a:off x="3143672" y="5085185"/>
            <a:ext cx="2736304" cy="1397571"/>
            <a:chOff x="3016" y="2704"/>
            <a:chExt cx="1584" cy="561"/>
          </a:xfrm>
        </p:grpSpPr>
        <p:sp>
          <p:nvSpPr>
            <p:cNvPr id="8" name="AutoShape 133"/>
            <p:cNvSpPr>
              <a:spLocks noChangeArrowheads="1"/>
            </p:cNvSpPr>
            <p:nvPr/>
          </p:nvSpPr>
          <p:spPr bwMode="auto">
            <a:xfrm>
              <a:off x="3016" y="2704"/>
              <a:ext cx="1584" cy="561"/>
            </a:xfrm>
            <a:prstGeom prst="wedgeRectCallout">
              <a:avLst>
                <a:gd name="adj1" fmla="val 19256"/>
                <a:gd name="adj2" fmla="val -113652"/>
              </a:avLst>
            </a:prstGeom>
            <a:noFill/>
            <a:ln w="63500" cap="sq">
              <a:solidFill>
                <a:srgbClr val="33CCCC"/>
              </a:solidFill>
              <a:miter lim="800000"/>
              <a:headEnd type="none" w="sm" len="sm"/>
              <a:tailEnd type="none" w="sm" len="sm"/>
            </a:ln>
            <a:effectLst/>
          </p:spPr>
          <p:txBody>
            <a:bodyPr/>
            <a:lstStyle/>
            <a:p>
              <a:pPr algn="ctr">
                <a:defRPr/>
              </a:pPr>
              <a:endParaRPr lang="zh-CN" altLang="en-US" sz="3700" b="1">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a typeface="黑体" pitchFamily="2" charset="-122"/>
              </a:endParaRPr>
            </a:p>
          </p:txBody>
        </p:sp>
        <p:sp>
          <p:nvSpPr>
            <p:cNvPr id="9" name="Text Box 134"/>
            <p:cNvSpPr txBox="1">
              <a:spLocks noChangeArrowheads="1"/>
            </p:cNvSpPr>
            <p:nvPr/>
          </p:nvSpPr>
          <p:spPr bwMode="auto">
            <a:xfrm>
              <a:off x="3016" y="2704"/>
              <a:ext cx="1542" cy="531"/>
            </a:xfrm>
            <a:prstGeom prst="rect">
              <a:avLst/>
            </a:prstGeom>
            <a:noFill/>
            <a:ln w="12700" cap="sq">
              <a:noFill/>
              <a:miter lim="800000"/>
              <a:headEnd type="none" w="sm" len="sm"/>
              <a:tailEnd type="none" w="sm" len="sm"/>
            </a:ln>
            <a:effectLst>
              <a:outerShdw dist="12700" algn="ctr" rotWithShape="0">
                <a:srgbClr val="000000"/>
              </a:outerShdw>
            </a:effectLst>
          </p:spPr>
          <p:txBody>
            <a:bodyPr wrap="square">
              <a:spAutoFit/>
            </a:bodyPr>
            <a:lstStyle/>
            <a:p>
              <a:r>
                <a:rPr lang="zh-CN" altLang="en-US" sz="2000" b="1" dirty="0">
                  <a:ea typeface="黑体" pitchFamily="2" charset="-122"/>
                </a:rPr>
                <a:t>由于</a:t>
              </a:r>
              <a:r>
                <a:rPr lang="en-US" altLang="zh-CN" sz="2000" b="1" dirty="0">
                  <a:ea typeface="黑体" pitchFamily="2" charset="-122"/>
                </a:rPr>
                <a:t>Top</a:t>
              </a:r>
              <a:r>
                <a:rPr lang="zh-CN" altLang="en-US" sz="2000" b="1" dirty="0">
                  <a:ea typeface="黑体" pitchFamily="2" charset="-122"/>
                </a:rPr>
                <a:t>变量需要在多个函数间共享，为了简化操作在此定义为</a:t>
              </a:r>
              <a:r>
                <a:rPr lang="zh-CN" altLang="en-US" sz="2000" b="1" dirty="0">
                  <a:solidFill>
                    <a:srgbClr val="FF3300"/>
                  </a:solidFill>
                  <a:ea typeface="黑体" pitchFamily="2" charset="-122"/>
                </a:rPr>
                <a:t>全局变量。</a:t>
              </a:r>
              <a:endParaRPr lang="en-US" altLang="zh-CN" sz="2000" b="1" dirty="0">
                <a:solidFill>
                  <a:srgbClr val="FF3300"/>
                </a:solidFill>
                <a:ea typeface="黑体" pitchFamily="2" charset="-122"/>
              </a:endParaRPr>
            </a:p>
          </p:txBody>
        </p:sp>
      </p:grpSp>
    </p:spTree>
  </p:cSld>
  <p:clrMapOvr>
    <a:masterClrMapping/>
  </p:clrMapOvr>
  <p:transition>
    <p:cover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0"/>
          <p:cNvGrpSpPr>
            <a:grpSpLocks/>
          </p:cNvGrpSpPr>
          <p:nvPr/>
        </p:nvGrpSpPr>
        <p:grpSpPr bwMode="auto">
          <a:xfrm>
            <a:off x="2646364" y="1319213"/>
            <a:ext cx="6802437" cy="2209800"/>
            <a:chOff x="707" y="912"/>
            <a:chExt cx="4285" cy="1392"/>
          </a:xfrm>
        </p:grpSpPr>
        <p:sp>
          <p:nvSpPr>
            <p:cNvPr id="52239" name="Freeform 3"/>
            <p:cNvSpPr>
              <a:spLocks/>
            </p:cNvSpPr>
            <p:nvPr/>
          </p:nvSpPr>
          <p:spPr bwMode="auto">
            <a:xfrm>
              <a:off x="707" y="912"/>
              <a:ext cx="4285" cy="1392"/>
            </a:xfrm>
            <a:custGeom>
              <a:avLst/>
              <a:gdLst>
                <a:gd name="T0" fmla="*/ 65 w 4477"/>
                <a:gd name="T1" fmla="*/ 113 h 1464"/>
                <a:gd name="T2" fmla="*/ 683 w 4477"/>
                <a:gd name="T3" fmla="*/ 122 h 1464"/>
                <a:gd name="T4" fmla="*/ 837 w 4477"/>
                <a:gd name="T5" fmla="*/ 84 h 1464"/>
                <a:gd name="T6" fmla="*/ 1119 w 4477"/>
                <a:gd name="T7" fmla="*/ 94 h 1464"/>
                <a:gd name="T8" fmla="*/ 1389 w 4477"/>
                <a:gd name="T9" fmla="*/ 65 h 1464"/>
                <a:gd name="T10" fmla="*/ 2520 w 4477"/>
                <a:gd name="T11" fmla="*/ 57 h 1464"/>
                <a:gd name="T12" fmla="*/ 3091 w 4477"/>
                <a:gd name="T13" fmla="*/ 65 h 1464"/>
                <a:gd name="T14" fmla="*/ 3709 w 4477"/>
                <a:gd name="T15" fmla="*/ 19 h 1464"/>
                <a:gd name="T16" fmla="*/ 3748 w 4477"/>
                <a:gd name="T17" fmla="*/ 28 h 1464"/>
                <a:gd name="T18" fmla="*/ 3738 w 4477"/>
                <a:gd name="T19" fmla="*/ 696 h 1464"/>
                <a:gd name="T20" fmla="*/ 3690 w 4477"/>
                <a:gd name="T21" fmla="*/ 932 h 1464"/>
                <a:gd name="T22" fmla="*/ 3670 w 4477"/>
                <a:gd name="T23" fmla="*/ 1055 h 1464"/>
                <a:gd name="T24" fmla="*/ 3622 w 4477"/>
                <a:gd name="T25" fmla="*/ 1063 h 1464"/>
                <a:gd name="T26" fmla="*/ 3032 w 4477"/>
                <a:gd name="T27" fmla="*/ 1101 h 1464"/>
                <a:gd name="T28" fmla="*/ 2376 w 4477"/>
                <a:gd name="T29" fmla="*/ 1101 h 1464"/>
                <a:gd name="T30" fmla="*/ 1864 w 4477"/>
                <a:gd name="T31" fmla="*/ 1111 h 1464"/>
                <a:gd name="T32" fmla="*/ 74 w 4477"/>
                <a:gd name="T33" fmla="*/ 1101 h 1464"/>
                <a:gd name="T34" fmla="*/ 93 w 4477"/>
                <a:gd name="T35" fmla="*/ 1063 h 1464"/>
                <a:gd name="T36" fmla="*/ 84 w 4477"/>
                <a:gd name="T37" fmla="*/ 998 h 1464"/>
                <a:gd name="T38" fmla="*/ 65 w 4477"/>
                <a:gd name="T39" fmla="*/ 960 h 1464"/>
                <a:gd name="T40" fmla="*/ 46 w 4477"/>
                <a:gd name="T41" fmla="*/ 885 h 1464"/>
                <a:gd name="T42" fmla="*/ 65 w 4477"/>
                <a:gd name="T43" fmla="*/ 650 h 1464"/>
                <a:gd name="T44" fmla="*/ 93 w 4477"/>
                <a:gd name="T45" fmla="*/ 546 h 1464"/>
                <a:gd name="T46" fmla="*/ 103 w 4477"/>
                <a:gd name="T47" fmla="*/ 517 h 1464"/>
                <a:gd name="T48" fmla="*/ 34 w 4477"/>
                <a:gd name="T49" fmla="*/ 236 h 1464"/>
                <a:gd name="T50" fmla="*/ 65 w 4477"/>
                <a:gd name="T51" fmla="*/ 113 h 146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4477" h="1464">
                  <a:moveTo>
                    <a:pt x="77" y="138"/>
                  </a:moveTo>
                  <a:cubicBezTo>
                    <a:pt x="323" y="142"/>
                    <a:pt x="568" y="149"/>
                    <a:pt x="814" y="149"/>
                  </a:cubicBezTo>
                  <a:cubicBezTo>
                    <a:pt x="896" y="149"/>
                    <a:pt x="937" y="144"/>
                    <a:pt x="998" y="103"/>
                  </a:cubicBezTo>
                  <a:cubicBezTo>
                    <a:pt x="1134" y="115"/>
                    <a:pt x="1195" y="125"/>
                    <a:pt x="1333" y="115"/>
                  </a:cubicBezTo>
                  <a:cubicBezTo>
                    <a:pt x="1437" y="88"/>
                    <a:pt x="1655" y="80"/>
                    <a:pt x="1655" y="80"/>
                  </a:cubicBezTo>
                  <a:cubicBezTo>
                    <a:pt x="2078" y="0"/>
                    <a:pt x="2560" y="84"/>
                    <a:pt x="3003" y="69"/>
                  </a:cubicBezTo>
                  <a:cubicBezTo>
                    <a:pt x="3230" y="51"/>
                    <a:pt x="3457" y="49"/>
                    <a:pt x="3683" y="80"/>
                  </a:cubicBezTo>
                  <a:cubicBezTo>
                    <a:pt x="3914" y="74"/>
                    <a:pt x="4190" y="95"/>
                    <a:pt x="4420" y="23"/>
                  </a:cubicBezTo>
                  <a:cubicBezTo>
                    <a:pt x="4435" y="27"/>
                    <a:pt x="4465" y="18"/>
                    <a:pt x="4466" y="34"/>
                  </a:cubicBezTo>
                  <a:cubicBezTo>
                    <a:pt x="4477" y="306"/>
                    <a:pt x="4460" y="579"/>
                    <a:pt x="4454" y="852"/>
                  </a:cubicBezTo>
                  <a:cubicBezTo>
                    <a:pt x="4452" y="947"/>
                    <a:pt x="4452" y="1058"/>
                    <a:pt x="4397" y="1140"/>
                  </a:cubicBezTo>
                  <a:cubicBezTo>
                    <a:pt x="4389" y="1190"/>
                    <a:pt x="4397" y="1245"/>
                    <a:pt x="4374" y="1290"/>
                  </a:cubicBezTo>
                  <a:cubicBezTo>
                    <a:pt x="4365" y="1308"/>
                    <a:pt x="4336" y="1299"/>
                    <a:pt x="4316" y="1301"/>
                  </a:cubicBezTo>
                  <a:cubicBezTo>
                    <a:pt x="4083" y="1320"/>
                    <a:pt x="3847" y="1336"/>
                    <a:pt x="3613" y="1347"/>
                  </a:cubicBezTo>
                  <a:cubicBezTo>
                    <a:pt x="3280" y="1390"/>
                    <a:pt x="3648" y="1347"/>
                    <a:pt x="2830" y="1347"/>
                  </a:cubicBezTo>
                  <a:cubicBezTo>
                    <a:pt x="2627" y="1347"/>
                    <a:pt x="2423" y="1355"/>
                    <a:pt x="2220" y="1359"/>
                  </a:cubicBezTo>
                  <a:cubicBezTo>
                    <a:pt x="1513" y="1464"/>
                    <a:pt x="791" y="1459"/>
                    <a:pt x="88" y="1347"/>
                  </a:cubicBezTo>
                  <a:cubicBezTo>
                    <a:pt x="50" y="1230"/>
                    <a:pt x="89" y="1389"/>
                    <a:pt x="111" y="1301"/>
                  </a:cubicBezTo>
                  <a:cubicBezTo>
                    <a:pt x="118" y="1275"/>
                    <a:pt x="107" y="1247"/>
                    <a:pt x="100" y="1221"/>
                  </a:cubicBezTo>
                  <a:cubicBezTo>
                    <a:pt x="96" y="1204"/>
                    <a:pt x="82" y="1191"/>
                    <a:pt x="77" y="1175"/>
                  </a:cubicBezTo>
                  <a:cubicBezTo>
                    <a:pt x="67" y="1145"/>
                    <a:pt x="54" y="1083"/>
                    <a:pt x="54" y="1083"/>
                  </a:cubicBezTo>
                  <a:cubicBezTo>
                    <a:pt x="72" y="682"/>
                    <a:pt x="43" y="947"/>
                    <a:pt x="77" y="795"/>
                  </a:cubicBezTo>
                  <a:cubicBezTo>
                    <a:pt x="100" y="693"/>
                    <a:pt x="73" y="781"/>
                    <a:pt x="111" y="668"/>
                  </a:cubicBezTo>
                  <a:cubicBezTo>
                    <a:pt x="115" y="656"/>
                    <a:pt x="123" y="633"/>
                    <a:pt x="123" y="633"/>
                  </a:cubicBezTo>
                  <a:cubicBezTo>
                    <a:pt x="109" y="515"/>
                    <a:pt x="96" y="396"/>
                    <a:pt x="42" y="288"/>
                  </a:cubicBezTo>
                  <a:cubicBezTo>
                    <a:pt x="30" y="226"/>
                    <a:pt x="0" y="162"/>
                    <a:pt x="77" y="138"/>
                  </a:cubicBezTo>
                  <a:close/>
                </a:path>
              </a:pathLst>
            </a:custGeom>
            <a:solidFill>
              <a:srgbClr val="FFFFCD"/>
            </a:solidFill>
            <a:ln w="12700" cap="sq" cmpd="sng">
              <a:noFill/>
              <a:prstDash val="solid"/>
              <a:round/>
              <a:headEnd type="none" w="sm" len="sm"/>
              <a:tailEnd type="none" w="sm" len="sm"/>
            </a:ln>
            <a:effectLst>
              <a:outerShdw dist="179605" dir="2700000" algn="ctr" rotWithShape="0">
                <a:srgbClr val="C0C0C0"/>
              </a:outerShdw>
            </a:effectLst>
          </p:spPr>
          <p:txBody>
            <a:bodyPr/>
            <a:lstStyle/>
            <a:p>
              <a:endParaRPr lang="zh-CN" altLang="en-US"/>
            </a:p>
          </p:txBody>
        </p:sp>
        <p:sp>
          <p:nvSpPr>
            <p:cNvPr id="52240" name="Text Box 4"/>
            <p:cNvSpPr txBox="1">
              <a:spLocks noChangeArrowheads="1"/>
            </p:cNvSpPr>
            <p:nvPr/>
          </p:nvSpPr>
          <p:spPr bwMode="auto">
            <a:xfrm>
              <a:off x="1248" y="1218"/>
              <a:ext cx="3024" cy="858"/>
            </a:xfrm>
            <a:prstGeom prst="rect">
              <a:avLst/>
            </a:prstGeom>
            <a:noFill/>
            <a:ln w="12700" cap="sq">
              <a:noFill/>
              <a:miter lim="800000"/>
              <a:headEnd type="none" w="sm" len="sm"/>
              <a:tailEnd type="none" w="sm" len="sm"/>
            </a:ln>
          </p:spPr>
          <p:txBody>
            <a:bodyPr>
              <a:spAutoFit/>
            </a:bodyPr>
            <a:lstStyle/>
            <a:p>
              <a:pPr>
                <a:lnSpc>
                  <a:spcPct val="80000"/>
                </a:lnSpc>
              </a:pPr>
              <a:r>
                <a:rPr lang="en-US" altLang="zh-CN" sz="2600" b="1" dirty="0">
                  <a:solidFill>
                    <a:srgbClr val="003399"/>
                  </a:solidFill>
                </a:rPr>
                <a:t>void </a:t>
              </a:r>
              <a:r>
                <a:rPr lang="en-US" altLang="zh-CN" sz="2600" b="1" dirty="0" err="1">
                  <a:solidFill>
                    <a:srgbClr val="003399"/>
                  </a:solidFill>
                </a:rPr>
                <a:t>initStack</a:t>
              </a:r>
              <a:r>
                <a:rPr lang="en-US" altLang="zh-CN" sz="2600" b="1" dirty="0">
                  <a:solidFill>
                    <a:srgbClr val="003399"/>
                  </a:solidFill>
                </a:rPr>
                <a:t>(  )</a:t>
              </a:r>
            </a:p>
            <a:p>
              <a:pPr>
                <a:lnSpc>
                  <a:spcPct val="80000"/>
                </a:lnSpc>
              </a:pPr>
              <a:r>
                <a:rPr lang="en-US" altLang="zh-CN" sz="2600" b="1" dirty="0">
                  <a:solidFill>
                    <a:srgbClr val="003399"/>
                  </a:solidFill>
                </a:rPr>
                <a:t>{</a:t>
              </a:r>
            </a:p>
            <a:p>
              <a:pPr>
                <a:lnSpc>
                  <a:spcPct val="80000"/>
                </a:lnSpc>
              </a:pPr>
              <a:r>
                <a:rPr lang="en-US" altLang="zh-CN" sz="2600" b="1" dirty="0">
                  <a:solidFill>
                    <a:srgbClr val="003399"/>
                  </a:solidFill>
                </a:rPr>
                <a:t>        Top=NULL;</a:t>
              </a:r>
            </a:p>
            <a:p>
              <a:pPr>
                <a:lnSpc>
                  <a:spcPct val="80000"/>
                </a:lnSpc>
              </a:pPr>
              <a:r>
                <a:rPr lang="en-US" altLang="zh-CN" sz="2600" b="1" dirty="0">
                  <a:solidFill>
                    <a:srgbClr val="003399"/>
                  </a:solidFill>
                </a:rPr>
                <a:t>}</a:t>
              </a:r>
            </a:p>
          </p:txBody>
        </p:sp>
      </p:grpSp>
      <p:grpSp>
        <p:nvGrpSpPr>
          <p:cNvPr id="3" name="Group 27"/>
          <p:cNvGrpSpPr>
            <a:grpSpLocks/>
          </p:cNvGrpSpPr>
          <p:nvPr/>
        </p:nvGrpSpPr>
        <p:grpSpPr bwMode="auto">
          <a:xfrm>
            <a:off x="2092326" y="990600"/>
            <a:ext cx="4079875" cy="609600"/>
            <a:chOff x="358" y="705"/>
            <a:chExt cx="2570" cy="384"/>
          </a:xfrm>
        </p:grpSpPr>
        <p:sp>
          <p:nvSpPr>
            <p:cNvPr id="52237" name="Oval 22"/>
            <p:cNvSpPr>
              <a:spLocks noChangeArrowheads="1"/>
            </p:cNvSpPr>
            <p:nvPr/>
          </p:nvSpPr>
          <p:spPr bwMode="auto">
            <a:xfrm>
              <a:off x="358" y="705"/>
              <a:ext cx="2064" cy="384"/>
            </a:xfrm>
            <a:prstGeom prst="ellipse">
              <a:avLst/>
            </a:prstGeom>
            <a:solidFill>
              <a:srgbClr val="B9F2FF"/>
            </a:solidFill>
            <a:ln w="12700" cap="sq">
              <a:noFill/>
              <a:round/>
              <a:headEnd type="none" w="sm" len="sm"/>
              <a:tailEnd type="none" w="sm" len="sm"/>
            </a:ln>
            <a:effectLst>
              <a:outerShdw dist="91581" dir="2021404" algn="ctr" rotWithShape="0">
                <a:srgbClr val="C0C0C0"/>
              </a:outerShdw>
            </a:effectLst>
          </p:spPr>
          <p:txBody>
            <a:bodyPr wrap="none" anchor="ctr"/>
            <a:lstStyle/>
            <a:p>
              <a:endParaRPr lang="zh-CN" altLang="en-US"/>
            </a:p>
          </p:txBody>
        </p:sp>
        <p:sp>
          <p:nvSpPr>
            <p:cNvPr id="52238" name="Text Box 23"/>
            <p:cNvSpPr txBox="1">
              <a:spLocks noChangeArrowheads="1"/>
            </p:cNvSpPr>
            <p:nvPr/>
          </p:nvSpPr>
          <p:spPr bwMode="auto">
            <a:xfrm>
              <a:off x="576" y="720"/>
              <a:ext cx="2352" cy="336"/>
            </a:xfrm>
            <a:prstGeom prst="rect">
              <a:avLst/>
            </a:prstGeom>
            <a:noFill/>
            <a:ln w="12700" cap="sq">
              <a:noFill/>
              <a:miter lim="800000"/>
              <a:headEnd type="none" w="sm" len="sm"/>
              <a:tailEnd type="none" w="sm" len="sm"/>
            </a:ln>
          </p:spPr>
          <p:txBody>
            <a:bodyPr>
              <a:spAutoFit/>
            </a:bodyPr>
            <a:lstStyle/>
            <a:p>
              <a:pPr eaLnBrk="1" hangingPunct="1"/>
              <a:r>
                <a:rPr kumimoji="1" lang="zh-CN" altLang="en-US" sz="2900" b="1" dirty="0">
                  <a:solidFill>
                    <a:schemeClr val="accent2"/>
                  </a:solidFill>
                  <a:ea typeface="幼圆" pitchFamily="49" charset="-122"/>
                </a:rPr>
                <a:t>1</a:t>
              </a:r>
              <a:r>
                <a:rPr kumimoji="1" lang="zh-CN" altLang="en-US" sz="2900" b="1" dirty="0">
                  <a:solidFill>
                    <a:schemeClr val="accent2"/>
                  </a:solidFill>
                  <a:latin typeface="幼圆" pitchFamily="49" charset="-122"/>
                  <a:ea typeface="幼圆" pitchFamily="49" charset="-122"/>
                </a:rPr>
                <a:t>.栈初始化</a:t>
              </a:r>
              <a:endParaRPr kumimoji="1" lang="zh-CN" altLang="en-US" sz="2900" dirty="0">
                <a:solidFill>
                  <a:schemeClr val="accent2"/>
                </a:solidFill>
                <a:latin typeface="幼圆" pitchFamily="49" charset="-122"/>
                <a:ea typeface="幼圆" pitchFamily="49" charset="-122"/>
              </a:endParaRPr>
            </a:p>
          </p:txBody>
        </p:sp>
      </p:grpSp>
      <p:grpSp>
        <p:nvGrpSpPr>
          <p:cNvPr id="4" name="Group 29"/>
          <p:cNvGrpSpPr>
            <a:grpSpLocks/>
          </p:cNvGrpSpPr>
          <p:nvPr/>
        </p:nvGrpSpPr>
        <p:grpSpPr bwMode="auto">
          <a:xfrm>
            <a:off x="969963" y="128588"/>
            <a:ext cx="4398963" cy="609600"/>
            <a:chOff x="336" y="192"/>
            <a:chExt cx="1776" cy="384"/>
          </a:xfrm>
        </p:grpSpPr>
        <p:sp>
          <p:nvSpPr>
            <p:cNvPr id="52235" name="Rectangle 25"/>
            <p:cNvSpPr>
              <a:spLocks noChangeArrowheads="1"/>
            </p:cNvSpPr>
            <p:nvPr/>
          </p:nvSpPr>
          <p:spPr bwMode="auto">
            <a:xfrm>
              <a:off x="336" y="192"/>
              <a:ext cx="1776" cy="384"/>
            </a:xfrm>
            <a:prstGeom prst="rect">
              <a:avLst/>
            </a:prstGeom>
            <a:solidFill>
              <a:srgbClr val="CCFFCC"/>
            </a:solidFill>
            <a:ln w="12700" cap="sq">
              <a:noFill/>
              <a:miter lim="800000"/>
              <a:headEnd type="none" w="sm" len="sm"/>
              <a:tailEnd type="none" w="sm" len="sm"/>
            </a:ln>
            <a:effectLst>
              <a:outerShdw dist="117088" dir="2436078" algn="ctr" rotWithShape="0">
                <a:srgbClr val="C0C0C0"/>
              </a:outerShdw>
            </a:effectLst>
          </p:spPr>
          <p:txBody>
            <a:bodyPr wrap="none" anchor="ctr"/>
            <a:lstStyle/>
            <a:p>
              <a:endParaRPr lang="zh-CN" altLang="en-US"/>
            </a:p>
          </p:txBody>
        </p:sp>
        <p:sp>
          <p:nvSpPr>
            <p:cNvPr id="52236" name="Rectangle 26"/>
            <p:cNvSpPr>
              <a:spLocks noChangeArrowheads="1"/>
            </p:cNvSpPr>
            <p:nvPr/>
          </p:nvSpPr>
          <p:spPr bwMode="auto">
            <a:xfrm>
              <a:off x="436" y="225"/>
              <a:ext cx="1628" cy="349"/>
            </a:xfrm>
            <a:prstGeom prst="rect">
              <a:avLst/>
            </a:prstGeom>
            <a:noFill/>
            <a:ln w="12700" cap="sq">
              <a:noFill/>
              <a:miter lim="800000"/>
              <a:headEnd type="none" w="sm" len="sm"/>
              <a:tailEnd type="none" w="sm" len="sm"/>
            </a:ln>
          </p:spPr>
          <p:txBody>
            <a:bodyPr>
              <a:spAutoFit/>
            </a:bodyPr>
            <a:lstStyle/>
            <a:p>
              <a:r>
                <a:rPr kumimoji="1" lang="en-US" altLang="zh-CN" sz="3000" b="1" dirty="0">
                  <a:solidFill>
                    <a:srgbClr val="003399"/>
                  </a:solidFill>
                  <a:latin typeface="黑体" pitchFamily="2" charset="-122"/>
                  <a:ea typeface="黑体" pitchFamily="2" charset="-122"/>
                </a:rPr>
                <a:t>(</a:t>
              </a:r>
              <a:r>
                <a:rPr kumimoji="1" lang="zh-CN" altLang="en-US" sz="3000" b="1" dirty="0">
                  <a:solidFill>
                    <a:srgbClr val="003399"/>
                  </a:solidFill>
                  <a:latin typeface="黑体" pitchFamily="2" charset="-122"/>
                  <a:ea typeface="黑体" pitchFamily="2" charset="-122"/>
                </a:rPr>
                <a:t>二</a:t>
              </a:r>
              <a:r>
                <a:rPr kumimoji="1" lang="en-US" altLang="zh-CN" sz="3000" b="1" dirty="0">
                  <a:solidFill>
                    <a:srgbClr val="003399"/>
                  </a:solidFill>
                  <a:latin typeface="黑体" pitchFamily="2" charset="-122"/>
                  <a:ea typeface="黑体" pitchFamily="2" charset="-122"/>
                </a:rPr>
                <a:t>)</a:t>
              </a:r>
              <a:r>
                <a:rPr kumimoji="1" lang="zh-CN" altLang="en-US" sz="3000" b="1" dirty="0">
                  <a:solidFill>
                    <a:srgbClr val="003399"/>
                  </a:solidFill>
                  <a:latin typeface="黑体" pitchFamily="2" charset="-122"/>
                  <a:ea typeface="黑体" pitchFamily="2" charset="-122"/>
                </a:rPr>
                <a:t>链栈的基本算法</a:t>
              </a:r>
            </a:p>
          </p:txBody>
        </p:sp>
      </p:grpSp>
      <p:grpSp>
        <p:nvGrpSpPr>
          <p:cNvPr id="5" name="Group 42"/>
          <p:cNvGrpSpPr>
            <a:grpSpLocks/>
          </p:cNvGrpSpPr>
          <p:nvPr/>
        </p:nvGrpSpPr>
        <p:grpSpPr bwMode="auto">
          <a:xfrm>
            <a:off x="2501900" y="4267200"/>
            <a:ext cx="7251700" cy="2243138"/>
            <a:chOff x="616" y="2688"/>
            <a:chExt cx="4568" cy="1413"/>
          </a:xfrm>
        </p:grpSpPr>
        <p:sp>
          <p:nvSpPr>
            <p:cNvPr id="52233" name="Freeform 43"/>
            <p:cNvSpPr>
              <a:spLocks/>
            </p:cNvSpPr>
            <p:nvPr/>
          </p:nvSpPr>
          <p:spPr bwMode="auto">
            <a:xfrm>
              <a:off x="616" y="2688"/>
              <a:ext cx="4568" cy="1413"/>
            </a:xfrm>
            <a:custGeom>
              <a:avLst/>
              <a:gdLst>
                <a:gd name="T0" fmla="*/ 137 w 4844"/>
                <a:gd name="T1" fmla="*/ 154 h 1413"/>
                <a:gd name="T2" fmla="*/ 174 w 4844"/>
                <a:gd name="T3" fmla="*/ 787 h 1413"/>
                <a:gd name="T4" fmla="*/ 110 w 4844"/>
                <a:gd name="T5" fmla="*/ 1018 h 1413"/>
                <a:gd name="T6" fmla="*/ 638 w 4844"/>
                <a:gd name="T7" fmla="*/ 1248 h 1413"/>
                <a:gd name="T8" fmla="*/ 902 w 4844"/>
                <a:gd name="T9" fmla="*/ 1248 h 1413"/>
                <a:gd name="T10" fmla="*/ 957 w 4844"/>
                <a:gd name="T11" fmla="*/ 1202 h 1413"/>
                <a:gd name="T12" fmla="*/ 2041 w 4844"/>
                <a:gd name="T13" fmla="*/ 1179 h 1413"/>
                <a:gd name="T14" fmla="*/ 2314 w 4844"/>
                <a:gd name="T15" fmla="*/ 1145 h 1413"/>
                <a:gd name="T16" fmla="*/ 3699 w 4844"/>
                <a:gd name="T17" fmla="*/ 1145 h 1413"/>
                <a:gd name="T18" fmla="*/ 3763 w 4844"/>
                <a:gd name="T19" fmla="*/ 1110 h 1413"/>
                <a:gd name="T20" fmla="*/ 3681 w 4844"/>
                <a:gd name="T21" fmla="*/ 695 h 1413"/>
                <a:gd name="T22" fmla="*/ 3690 w 4844"/>
                <a:gd name="T23" fmla="*/ 200 h 1413"/>
                <a:gd name="T24" fmla="*/ 3681 w 4844"/>
                <a:gd name="T25" fmla="*/ 27 h 1413"/>
                <a:gd name="T26" fmla="*/ 3644 w 4844"/>
                <a:gd name="T27" fmla="*/ 4 h 1413"/>
                <a:gd name="T28" fmla="*/ 2770 w 4844"/>
                <a:gd name="T29" fmla="*/ 16 h 1413"/>
                <a:gd name="T30" fmla="*/ 2505 w 4844"/>
                <a:gd name="T31" fmla="*/ 50 h 1413"/>
                <a:gd name="T32" fmla="*/ 1148 w 4844"/>
                <a:gd name="T33" fmla="*/ 62 h 1413"/>
                <a:gd name="T34" fmla="*/ 548 w 4844"/>
                <a:gd name="T35" fmla="*/ 27 h 1413"/>
                <a:gd name="T36" fmla="*/ 201 w 4844"/>
                <a:gd name="T37" fmla="*/ 16 h 1413"/>
                <a:gd name="T38" fmla="*/ 137 w 4844"/>
                <a:gd name="T39" fmla="*/ 119 h 1413"/>
                <a:gd name="T40" fmla="*/ 137 w 4844"/>
                <a:gd name="T41" fmla="*/ 154 h 141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844" h="1413">
                  <a:moveTo>
                    <a:pt x="173" y="154"/>
                  </a:moveTo>
                  <a:cubicBezTo>
                    <a:pt x="176" y="314"/>
                    <a:pt x="100" y="612"/>
                    <a:pt x="219" y="787"/>
                  </a:cubicBezTo>
                  <a:cubicBezTo>
                    <a:pt x="209" y="903"/>
                    <a:pt x="214" y="940"/>
                    <a:pt x="139" y="1018"/>
                  </a:cubicBezTo>
                  <a:cubicBezTo>
                    <a:pt x="0" y="1413"/>
                    <a:pt x="665" y="1246"/>
                    <a:pt x="807" y="1248"/>
                  </a:cubicBezTo>
                  <a:cubicBezTo>
                    <a:pt x="929" y="1260"/>
                    <a:pt x="1011" y="1274"/>
                    <a:pt x="1141" y="1248"/>
                  </a:cubicBezTo>
                  <a:cubicBezTo>
                    <a:pt x="1341" y="1208"/>
                    <a:pt x="956" y="1209"/>
                    <a:pt x="1210" y="1202"/>
                  </a:cubicBezTo>
                  <a:cubicBezTo>
                    <a:pt x="1667" y="1190"/>
                    <a:pt x="2124" y="1189"/>
                    <a:pt x="2581" y="1179"/>
                  </a:cubicBezTo>
                  <a:cubicBezTo>
                    <a:pt x="2834" y="1151"/>
                    <a:pt x="2719" y="1162"/>
                    <a:pt x="2926" y="1145"/>
                  </a:cubicBezTo>
                  <a:cubicBezTo>
                    <a:pt x="3262" y="1148"/>
                    <a:pt x="4238" y="1168"/>
                    <a:pt x="4677" y="1145"/>
                  </a:cubicBezTo>
                  <a:cubicBezTo>
                    <a:pt x="4706" y="1143"/>
                    <a:pt x="4729" y="1115"/>
                    <a:pt x="4758" y="1110"/>
                  </a:cubicBezTo>
                  <a:cubicBezTo>
                    <a:pt x="4844" y="979"/>
                    <a:pt x="4686" y="819"/>
                    <a:pt x="4654" y="695"/>
                  </a:cubicBezTo>
                  <a:cubicBezTo>
                    <a:pt x="4637" y="532"/>
                    <a:pt x="4611" y="357"/>
                    <a:pt x="4666" y="200"/>
                  </a:cubicBezTo>
                  <a:cubicBezTo>
                    <a:pt x="4662" y="142"/>
                    <a:pt x="4670" y="82"/>
                    <a:pt x="4654" y="27"/>
                  </a:cubicBezTo>
                  <a:cubicBezTo>
                    <a:pt x="4649" y="11"/>
                    <a:pt x="4625" y="4"/>
                    <a:pt x="4608" y="4"/>
                  </a:cubicBezTo>
                  <a:cubicBezTo>
                    <a:pt x="4239" y="0"/>
                    <a:pt x="3871" y="12"/>
                    <a:pt x="3502" y="16"/>
                  </a:cubicBezTo>
                  <a:cubicBezTo>
                    <a:pt x="3390" y="27"/>
                    <a:pt x="3281" y="42"/>
                    <a:pt x="3168" y="50"/>
                  </a:cubicBezTo>
                  <a:cubicBezTo>
                    <a:pt x="2608" y="168"/>
                    <a:pt x="2024" y="66"/>
                    <a:pt x="1452" y="62"/>
                  </a:cubicBezTo>
                  <a:cubicBezTo>
                    <a:pt x="1196" y="38"/>
                    <a:pt x="953" y="33"/>
                    <a:pt x="692" y="27"/>
                  </a:cubicBezTo>
                  <a:cubicBezTo>
                    <a:pt x="538" y="12"/>
                    <a:pt x="411" y="7"/>
                    <a:pt x="254" y="16"/>
                  </a:cubicBezTo>
                  <a:cubicBezTo>
                    <a:pt x="200" y="69"/>
                    <a:pt x="227" y="37"/>
                    <a:pt x="173" y="119"/>
                  </a:cubicBezTo>
                  <a:cubicBezTo>
                    <a:pt x="146" y="160"/>
                    <a:pt x="136" y="154"/>
                    <a:pt x="173" y="154"/>
                  </a:cubicBezTo>
                  <a:close/>
                </a:path>
              </a:pathLst>
            </a:custGeom>
            <a:solidFill>
              <a:srgbClr val="FFD8B1"/>
            </a:solidFill>
            <a:ln w="12700" cap="sq" cmpd="sng">
              <a:noFill/>
              <a:prstDash val="solid"/>
              <a:round/>
              <a:headEnd type="none" w="sm" len="sm"/>
              <a:tailEnd type="none" w="sm" len="sm"/>
            </a:ln>
            <a:effectLst>
              <a:outerShdw dist="152928" dir="2498012" algn="ctr" rotWithShape="0">
                <a:srgbClr val="C0C0C0"/>
              </a:outerShdw>
            </a:effectLst>
          </p:spPr>
          <p:txBody>
            <a:bodyPr/>
            <a:lstStyle/>
            <a:p>
              <a:endParaRPr lang="zh-CN" altLang="en-US"/>
            </a:p>
          </p:txBody>
        </p:sp>
        <p:sp>
          <p:nvSpPr>
            <p:cNvPr id="52234" name="Text Box 44"/>
            <p:cNvSpPr txBox="1">
              <a:spLocks noChangeArrowheads="1"/>
            </p:cNvSpPr>
            <p:nvPr/>
          </p:nvSpPr>
          <p:spPr bwMode="auto">
            <a:xfrm>
              <a:off x="1294" y="2941"/>
              <a:ext cx="2890" cy="810"/>
            </a:xfrm>
            <a:prstGeom prst="rect">
              <a:avLst/>
            </a:prstGeom>
            <a:noFill/>
            <a:ln w="12700" cap="sq">
              <a:noFill/>
              <a:miter lim="800000"/>
              <a:headEnd type="none" w="sm" len="sm"/>
              <a:tailEnd type="none" w="sm" len="sm"/>
            </a:ln>
          </p:spPr>
          <p:txBody>
            <a:bodyPr>
              <a:spAutoFit/>
            </a:bodyPr>
            <a:lstStyle/>
            <a:p>
              <a:pPr>
                <a:lnSpc>
                  <a:spcPct val="75000"/>
                </a:lnSpc>
              </a:pPr>
              <a:r>
                <a:rPr lang="en-US" altLang="zh-CN" sz="2600" b="1" dirty="0" err="1">
                  <a:solidFill>
                    <a:srgbClr val="003399"/>
                  </a:solidFill>
                </a:rPr>
                <a:t>int</a:t>
              </a:r>
              <a:r>
                <a:rPr lang="en-US" altLang="zh-CN" sz="2600" b="1" dirty="0">
                  <a:solidFill>
                    <a:srgbClr val="003399"/>
                  </a:solidFill>
                </a:rPr>
                <a:t>  </a:t>
              </a:r>
              <a:r>
                <a:rPr lang="en-US" altLang="zh-CN" sz="2600" b="1" dirty="0" err="1">
                  <a:solidFill>
                    <a:srgbClr val="003399"/>
                  </a:solidFill>
                </a:rPr>
                <a:t>isEmpty</a:t>
              </a:r>
              <a:r>
                <a:rPr lang="en-US" altLang="zh-CN" sz="2600" b="1" dirty="0">
                  <a:solidFill>
                    <a:srgbClr val="003399"/>
                  </a:solidFill>
                </a:rPr>
                <a:t>( )</a:t>
              </a:r>
            </a:p>
            <a:p>
              <a:pPr>
                <a:lnSpc>
                  <a:spcPct val="75000"/>
                </a:lnSpc>
              </a:pPr>
              <a:r>
                <a:rPr lang="en-US" altLang="zh-CN" sz="2600" b="1" dirty="0">
                  <a:solidFill>
                    <a:srgbClr val="003399"/>
                  </a:solidFill>
                </a:rPr>
                <a:t>{</a:t>
              </a:r>
            </a:p>
            <a:p>
              <a:pPr>
                <a:lnSpc>
                  <a:spcPct val="75000"/>
                </a:lnSpc>
              </a:pPr>
              <a:r>
                <a:rPr lang="en-US" altLang="zh-CN" sz="2600" b="1" dirty="0">
                  <a:solidFill>
                    <a:srgbClr val="003399"/>
                  </a:solidFill>
                </a:rPr>
                <a:t>       return Top==NULL;</a:t>
              </a:r>
            </a:p>
            <a:p>
              <a:pPr>
                <a:lnSpc>
                  <a:spcPct val="75000"/>
                </a:lnSpc>
              </a:pPr>
              <a:r>
                <a:rPr lang="en-US" altLang="zh-CN" sz="2600" b="1" dirty="0">
                  <a:solidFill>
                    <a:srgbClr val="003399"/>
                  </a:solidFill>
                </a:rPr>
                <a:t>}</a:t>
              </a:r>
            </a:p>
          </p:txBody>
        </p:sp>
      </p:grpSp>
      <p:grpSp>
        <p:nvGrpSpPr>
          <p:cNvPr id="6" name="Group 55"/>
          <p:cNvGrpSpPr>
            <a:grpSpLocks/>
          </p:cNvGrpSpPr>
          <p:nvPr/>
        </p:nvGrpSpPr>
        <p:grpSpPr bwMode="auto">
          <a:xfrm>
            <a:off x="2057400" y="3733800"/>
            <a:ext cx="4572000" cy="685800"/>
            <a:chOff x="336" y="2400"/>
            <a:chExt cx="2880" cy="432"/>
          </a:xfrm>
        </p:grpSpPr>
        <p:sp>
          <p:nvSpPr>
            <p:cNvPr id="52231" name="Oval 56"/>
            <p:cNvSpPr>
              <a:spLocks noChangeArrowheads="1"/>
            </p:cNvSpPr>
            <p:nvPr/>
          </p:nvSpPr>
          <p:spPr bwMode="auto">
            <a:xfrm>
              <a:off x="336" y="2400"/>
              <a:ext cx="2592" cy="432"/>
            </a:xfrm>
            <a:prstGeom prst="ellipse">
              <a:avLst/>
            </a:prstGeom>
            <a:solidFill>
              <a:srgbClr val="B9F2FF"/>
            </a:solidFill>
            <a:ln w="12700" cap="sq">
              <a:noFill/>
              <a:round/>
              <a:headEnd type="none" w="sm" len="sm"/>
              <a:tailEnd type="none" w="sm" len="sm"/>
            </a:ln>
            <a:effectLst>
              <a:outerShdw dist="91581" dir="2021404" algn="ctr" rotWithShape="0">
                <a:srgbClr val="C0C0C0"/>
              </a:outerShdw>
            </a:effectLst>
          </p:spPr>
          <p:txBody>
            <a:bodyPr wrap="none" anchor="ctr"/>
            <a:lstStyle/>
            <a:p>
              <a:endParaRPr lang="zh-CN" altLang="en-US"/>
            </a:p>
          </p:txBody>
        </p:sp>
        <p:sp>
          <p:nvSpPr>
            <p:cNvPr id="52232" name="Text Box 57"/>
            <p:cNvSpPr txBox="1">
              <a:spLocks noChangeArrowheads="1"/>
            </p:cNvSpPr>
            <p:nvPr/>
          </p:nvSpPr>
          <p:spPr bwMode="auto">
            <a:xfrm>
              <a:off x="480" y="2448"/>
              <a:ext cx="2736" cy="336"/>
            </a:xfrm>
            <a:prstGeom prst="rect">
              <a:avLst/>
            </a:prstGeom>
            <a:noFill/>
            <a:ln w="12700" cap="sq">
              <a:noFill/>
              <a:miter lim="800000"/>
              <a:headEnd type="none" w="sm" len="sm"/>
              <a:tailEnd type="none" w="sm" len="sm"/>
            </a:ln>
          </p:spPr>
          <p:txBody>
            <a:bodyPr>
              <a:spAutoFit/>
            </a:bodyPr>
            <a:lstStyle/>
            <a:p>
              <a:pPr eaLnBrk="1" hangingPunct="1"/>
              <a:r>
                <a:rPr kumimoji="1" lang="zh-CN" altLang="en-US" sz="2900" b="1">
                  <a:solidFill>
                    <a:schemeClr val="accent2"/>
                  </a:solidFill>
                  <a:ea typeface="幼圆" pitchFamily="49" charset="-122"/>
                </a:rPr>
                <a:t>2</a:t>
              </a:r>
              <a:r>
                <a:rPr kumimoji="1" lang="zh-CN" altLang="en-US" sz="2900" b="1">
                  <a:solidFill>
                    <a:schemeClr val="accent2"/>
                  </a:solidFill>
                  <a:latin typeface="幼圆" pitchFamily="49" charset="-122"/>
                  <a:ea typeface="幼圆" pitchFamily="49" charset="-122"/>
                </a:rPr>
                <a:t>.测试堆栈是否为空</a:t>
              </a:r>
              <a:endParaRPr kumimoji="1" lang="zh-CN" altLang="en-US" sz="2900">
                <a:solidFill>
                  <a:schemeClr val="accent2"/>
                </a:solidFill>
                <a:latin typeface="幼圆" pitchFamily="49" charset="-122"/>
                <a:ea typeface="幼圆" pitchFamily="49" charset="-122"/>
              </a:endParaRPr>
            </a:p>
          </p:txBody>
        </p:sp>
      </p:grpSp>
      <p:grpSp>
        <p:nvGrpSpPr>
          <p:cNvPr id="17" name="组合 19"/>
          <p:cNvGrpSpPr/>
          <p:nvPr/>
        </p:nvGrpSpPr>
        <p:grpSpPr>
          <a:xfrm>
            <a:off x="6744072" y="2708218"/>
            <a:ext cx="2662422" cy="1800230"/>
            <a:chOff x="0" y="43922"/>
            <a:chExt cx="2662422" cy="1800230"/>
          </a:xfrm>
        </p:grpSpPr>
        <p:grpSp>
          <p:nvGrpSpPr>
            <p:cNvPr id="18" name="Group 7"/>
            <p:cNvGrpSpPr>
              <a:grpSpLocks/>
            </p:cNvGrpSpPr>
            <p:nvPr/>
          </p:nvGrpSpPr>
          <p:grpSpPr bwMode="auto">
            <a:xfrm>
              <a:off x="0" y="43922"/>
              <a:ext cx="2662422" cy="1800230"/>
              <a:chOff x="476" y="415"/>
              <a:chExt cx="596" cy="1132"/>
            </a:xfrm>
          </p:grpSpPr>
          <p:sp>
            <p:nvSpPr>
              <p:cNvPr id="21" name="Freeform 8"/>
              <p:cNvSpPr>
                <a:spLocks/>
              </p:cNvSpPr>
              <p:nvPr/>
            </p:nvSpPr>
            <p:spPr bwMode="auto">
              <a:xfrm>
                <a:off x="476" y="415"/>
                <a:ext cx="596" cy="1132"/>
              </a:xfrm>
              <a:custGeom>
                <a:avLst/>
                <a:gdLst>
                  <a:gd name="T0" fmla="*/ 7 w 710"/>
                  <a:gd name="T1" fmla="*/ 134 h 616"/>
                  <a:gd name="T2" fmla="*/ 13 w 710"/>
                  <a:gd name="T3" fmla="*/ 284 h 616"/>
                  <a:gd name="T4" fmla="*/ 84 w 710"/>
                  <a:gd name="T5" fmla="*/ 242 h 616"/>
                  <a:gd name="T6" fmla="*/ 77 w 710"/>
                  <a:gd name="T7" fmla="*/ 91 h 616"/>
                  <a:gd name="T8" fmla="*/ 66 w 710"/>
                  <a:gd name="T9" fmla="*/ 79 h 616"/>
                  <a:gd name="T10" fmla="*/ 16 w 710"/>
                  <a:gd name="T11" fmla="*/ 62 h 616"/>
                  <a:gd name="T12" fmla="*/ 9 w 710"/>
                  <a:gd name="T13" fmla="*/ 91 h 616"/>
                  <a:gd name="T14" fmla="*/ 8 w 710"/>
                  <a:gd name="T15" fmla="*/ 105 h 616"/>
                  <a:gd name="T16" fmla="*/ 7 w 710"/>
                  <a:gd name="T17" fmla="*/ 134 h 6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0" h="616">
                    <a:moveTo>
                      <a:pt x="58" y="225"/>
                    </a:moveTo>
                    <a:cubicBezTo>
                      <a:pt x="63" y="383"/>
                      <a:pt x="0" y="441"/>
                      <a:pt x="107" y="477"/>
                    </a:cubicBezTo>
                    <a:cubicBezTo>
                      <a:pt x="511" y="472"/>
                      <a:pt x="586" y="616"/>
                      <a:pt x="690" y="407"/>
                    </a:cubicBezTo>
                    <a:cubicBezTo>
                      <a:pt x="688" y="366"/>
                      <a:pt x="710" y="188"/>
                      <a:pt x="634" y="154"/>
                    </a:cubicBezTo>
                    <a:cubicBezTo>
                      <a:pt x="601" y="139"/>
                      <a:pt x="585" y="139"/>
                      <a:pt x="550" y="133"/>
                    </a:cubicBezTo>
                    <a:cubicBezTo>
                      <a:pt x="462" y="0"/>
                      <a:pt x="367" y="101"/>
                      <a:pt x="135" y="105"/>
                    </a:cubicBezTo>
                    <a:cubicBezTo>
                      <a:pt x="112" y="120"/>
                      <a:pt x="102" y="139"/>
                      <a:pt x="79" y="154"/>
                    </a:cubicBezTo>
                    <a:cubicBezTo>
                      <a:pt x="74" y="161"/>
                      <a:pt x="66" y="167"/>
                      <a:pt x="65" y="175"/>
                    </a:cubicBezTo>
                    <a:cubicBezTo>
                      <a:pt x="60" y="231"/>
                      <a:pt x="93" y="242"/>
                      <a:pt x="58" y="225"/>
                    </a:cubicBezTo>
                    <a:close/>
                  </a:path>
                </a:pathLst>
              </a:custGeom>
              <a:solidFill>
                <a:srgbClr val="99CCFF"/>
              </a:solidFill>
              <a:ln w="9525" cap="flat" cmpd="sng">
                <a:noFill/>
                <a:prstDash val="solid"/>
                <a:round/>
                <a:headEnd/>
                <a:tailEnd/>
              </a:ln>
              <a:effectLst>
                <a:outerShdw dist="45791" dir="2021404" algn="ctr" rotWithShape="0">
                  <a:srgbClr val="7B7B7B"/>
                </a:outerShdw>
              </a:effectLst>
            </p:spPr>
            <p:txBody>
              <a:bodyPr wrap="none" anchor="ctr"/>
              <a:lstStyle/>
              <a:p>
                <a:endParaRPr lang="zh-CN" altLang="en-US"/>
              </a:p>
            </p:txBody>
          </p:sp>
          <p:sp>
            <p:nvSpPr>
              <p:cNvPr id="22" name="Rectangle 9"/>
              <p:cNvSpPr>
                <a:spLocks noChangeArrowheads="1"/>
              </p:cNvSpPr>
              <p:nvPr/>
            </p:nvSpPr>
            <p:spPr bwMode="auto">
              <a:xfrm>
                <a:off x="557" y="445"/>
                <a:ext cx="499" cy="888"/>
              </a:xfrm>
              <a:prstGeom prst="rect">
                <a:avLst/>
              </a:prstGeom>
              <a:noFill/>
              <a:ln w="9525">
                <a:noFill/>
                <a:miter lim="800000"/>
                <a:headEnd/>
                <a:tailEnd/>
              </a:ln>
              <a:effectLst>
                <a:outerShdw dist="28398" dir="3806097" algn="ctr" rotWithShape="0">
                  <a:schemeClr val="bg1"/>
                </a:outerShdw>
              </a:effectLst>
            </p:spPr>
            <p:txBody>
              <a:bodyPr wrap="square" anchor="ctr">
                <a:spAutoFit/>
              </a:bodyPr>
              <a:lstStyle/>
              <a:p>
                <a:r>
                  <a:rPr lang="zh-CN" altLang="en-US" sz="4400" dirty="0">
                    <a:solidFill>
                      <a:srgbClr val="FF0000"/>
                    </a:solidFill>
                    <a:ea typeface="华文新魏" pitchFamily="2" charset="-122"/>
                  </a:rPr>
                  <a:t>思考</a:t>
                </a:r>
                <a:endParaRPr lang="en-US" altLang="zh-CN" sz="4400" dirty="0">
                  <a:solidFill>
                    <a:srgbClr val="FF0000"/>
                  </a:solidFill>
                  <a:ea typeface="华文新魏" pitchFamily="2" charset="-122"/>
                </a:endParaRPr>
              </a:p>
              <a:p>
                <a:pPr>
                  <a:lnSpc>
                    <a:spcPts val="2300"/>
                  </a:lnSpc>
                </a:pPr>
                <a:r>
                  <a:rPr lang="zh-CN" altLang="en-US" sz="2000" dirty="0">
                    <a:solidFill>
                      <a:srgbClr val="7030A0"/>
                    </a:solidFill>
                    <a:latin typeface="黑体" pitchFamily="49" charset="-122"/>
                    <a:ea typeface="黑体" pitchFamily="49" charset="-122"/>
                  </a:rPr>
                  <a:t>为什么不需要测试栈是否已满</a:t>
                </a:r>
                <a:r>
                  <a:rPr lang="zh-CN" altLang="en-US" sz="4400" dirty="0">
                    <a:solidFill>
                      <a:srgbClr val="7030A0"/>
                    </a:solidFill>
                    <a:ea typeface="华文新魏" pitchFamily="2" charset="-122"/>
                  </a:rPr>
                  <a:t> </a:t>
                </a:r>
              </a:p>
            </p:txBody>
          </p:sp>
        </p:grpSp>
        <p:sp>
          <p:nvSpPr>
            <p:cNvPr id="19" name="Freeform 31"/>
            <p:cNvSpPr>
              <a:spLocks/>
            </p:cNvSpPr>
            <p:nvPr/>
          </p:nvSpPr>
          <p:spPr bwMode="auto">
            <a:xfrm rot="530513">
              <a:off x="1611946" y="362107"/>
              <a:ext cx="413605" cy="393319"/>
            </a:xfrm>
            <a:custGeom>
              <a:avLst/>
              <a:gdLst>
                <a:gd name="T0" fmla="*/ 19595 w 439"/>
                <a:gd name="T1" fmla="*/ 374 h 683"/>
                <a:gd name="T2" fmla="*/ 25351 w 439"/>
                <a:gd name="T3" fmla="*/ 278 h 683"/>
                <a:gd name="T4" fmla="*/ 35572 w 439"/>
                <a:gd name="T5" fmla="*/ 336 h 683"/>
                <a:gd name="T6" fmla="*/ 34644 w 439"/>
                <a:gd name="T7" fmla="*/ 491 h 683"/>
                <a:gd name="T8" fmla="*/ 22332 w 439"/>
                <a:gd name="T9" fmla="*/ 616 h 683"/>
                <a:gd name="T10" fmla="*/ 20008 w 439"/>
                <a:gd name="T11" fmla="*/ 958 h 683"/>
                <a:gd name="T12" fmla="*/ 22332 w 439"/>
                <a:gd name="T13" fmla="*/ 1066 h 683"/>
                <a:gd name="T14" fmla="*/ 18298 w 439"/>
                <a:gd name="T15" fmla="*/ 1183 h 683"/>
                <a:gd name="T16" fmla="*/ 19221 w 439"/>
                <a:gd name="T17" fmla="*/ 1302 h 683"/>
                <a:gd name="T18" fmla="*/ 27843 w 439"/>
                <a:gd name="T19" fmla="*/ 1382 h 683"/>
                <a:gd name="T20" fmla="*/ 39233 w 439"/>
                <a:gd name="T21" fmla="*/ 1327 h 683"/>
                <a:gd name="T22" fmla="*/ 42887 w 439"/>
                <a:gd name="T23" fmla="*/ 1183 h 683"/>
                <a:gd name="T24" fmla="*/ 38303 w 439"/>
                <a:gd name="T25" fmla="*/ 1045 h 683"/>
                <a:gd name="T26" fmla="*/ 43302 w 439"/>
                <a:gd name="T27" fmla="*/ 972 h 683"/>
                <a:gd name="T28" fmla="*/ 43302 w 439"/>
                <a:gd name="T29" fmla="*/ 781 h 683"/>
                <a:gd name="T30" fmla="*/ 56046 w 439"/>
                <a:gd name="T31" fmla="*/ 621 h 683"/>
                <a:gd name="T32" fmla="*/ 57387 w 439"/>
                <a:gd name="T33" fmla="*/ 378 h 683"/>
                <a:gd name="T34" fmla="*/ 49144 w 439"/>
                <a:gd name="T35" fmla="*/ 118 h 683"/>
                <a:gd name="T36" fmla="*/ 32792 w 439"/>
                <a:gd name="T37" fmla="*/ 0 h 683"/>
                <a:gd name="T38" fmla="*/ 14637 w 439"/>
                <a:gd name="T39" fmla="*/ 78 h 683"/>
                <a:gd name="T40" fmla="*/ 4071 w 439"/>
                <a:gd name="T41" fmla="*/ 232 h 683"/>
                <a:gd name="T42" fmla="*/ 0 w 439"/>
                <a:gd name="T43" fmla="*/ 473 h 683"/>
                <a:gd name="T44" fmla="*/ 514 w 439"/>
                <a:gd name="T45" fmla="*/ 616 h 683"/>
                <a:gd name="T46" fmla="*/ 19221 w 439"/>
                <a:gd name="T47" fmla="*/ 598 h 683"/>
                <a:gd name="T48" fmla="*/ 19595 w 439"/>
                <a:gd name="T49" fmla="*/ 374 h 68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39" h="683">
                  <a:moveTo>
                    <a:pt x="150" y="185"/>
                  </a:moveTo>
                  <a:lnTo>
                    <a:pt x="194" y="138"/>
                  </a:lnTo>
                  <a:lnTo>
                    <a:pt x="272" y="167"/>
                  </a:lnTo>
                  <a:lnTo>
                    <a:pt x="265" y="244"/>
                  </a:lnTo>
                  <a:lnTo>
                    <a:pt x="171" y="304"/>
                  </a:lnTo>
                  <a:lnTo>
                    <a:pt x="153" y="474"/>
                  </a:lnTo>
                  <a:lnTo>
                    <a:pt x="171" y="527"/>
                  </a:lnTo>
                  <a:lnTo>
                    <a:pt x="140" y="585"/>
                  </a:lnTo>
                  <a:lnTo>
                    <a:pt x="147" y="645"/>
                  </a:lnTo>
                  <a:lnTo>
                    <a:pt x="213" y="683"/>
                  </a:lnTo>
                  <a:lnTo>
                    <a:pt x="300" y="656"/>
                  </a:lnTo>
                  <a:lnTo>
                    <a:pt x="328" y="585"/>
                  </a:lnTo>
                  <a:lnTo>
                    <a:pt x="293" y="518"/>
                  </a:lnTo>
                  <a:lnTo>
                    <a:pt x="331" y="480"/>
                  </a:lnTo>
                  <a:lnTo>
                    <a:pt x="331" y="387"/>
                  </a:lnTo>
                  <a:lnTo>
                    <a:pt x="429" y="308"/>
                  </a:lnTo>
                  <a:lnTo>
                    <a:pt x="439" y="188"/>
                  </a:lnTo>
                  <a:lnTo>
                    <a:pt x="376" y="59"/>
                  </a:lnTo>
                  <a:lnTo>
                    <a:pt x="251" y="0"/>
                  </a:lnTo>
                  <a:lnTo>
                    <a:pt x="112" y="38"/>
                  </a:lnTo>
                  <a:lnTo>
                    <a:pt x="31" y="115"/>
                  </a:lnTo>
                  <a:lnTo>
                    <a:pt x="0" y="234"/>
                  </a:lnTo>
                  <a:lnTo>
                    <a:pt x="4" y="304"/>
                  </a:lnTo>
                  <a:lnTo>
                    <a:pt x="147" y="296"/>
                  </a:lnTo>
                  <a:lnTo>
                    <a:pt x="150" y="185"/>
                  </a:lnTo>
                  <a:close/>
                </a:path>
              </a:pathLst>
            </a:custGeom>
            <a:solidFill>
              <a:srgbClr val="FF0000"/>
            </a:solidFill>
            <a:ln w="9525">
              <a:solidFill>
                <a:srgbClr val="00FFFF"/>
              </a:solidFill>
              <a:round/>
              <a:headEnd/>
              <a:tailEnd/>
            </a:ln>
            <a:effectLst>
              <a:outerShdw dist="40161" dir="1106097" algn="ctr" rotWithShape="0">
                <a:srgbClr val="808080"/>
              </a:outerShdw>
            </a:effectLst>
          </p:spPr>
          <p:txBody>
            <a:bodyPr/>
            <a:lstStyle/>
            <a:p>
              <a:endParaRPr lang="zh-CN" altLang="en-US" dirty="0">
                <a:solidFill>
                  <a:srgbClr val="FF0000"/>
                </a:solidFill>
              </a:endParaRPr>
            </a:p>
          </p:txBody>
        </p:sp>
        <p:sp>
          <p:nvSpPr>
            <p:cNvPr id="20" name="Freeform 33"/>
            <p:cNvSpPr>
              <a:spLocks/>
            </p:cNvSpPr>
            <p:nvPr/>
          </p:nvSpPr>
          <p:spPr bwMode="auto">
            <a:xfrm rot="530513">
              <a:off x="1664649" y="707945"/>
              <a:ext cx="208191" cy="126243"/>
            </a:xfrm>
            <a:custGeom>
              <a:avLst/>
              <a:gdLst>
                <a:gd name="T0" fmla="*/ 5777 w 126"/>
                <a:gd name="T1" fmla="*/ 0 h 109"/>
                <a:gd name="T2" fmla="*/ 1145 w 126"/>
                <a:gd name="T3" fmla="*/ 45 h 109"/>
                <a:gd name="T4" fmla="*/ 0 w 126"/>
                <a:gd name="T5" fmla="*/ 165 h 109"/>
                <a:gd name="T6" fmla="*/ 3612 w 126"/>
                <a:gd name="T7" fmla="*/ 248 h 109"/>
                <a:gd name="T8" fmla="*/ 12576 w 126"/>
                <a:gd name="T9" fmla="*/ 248 h 109"/>
                <a:gd name="T10" fmla="*/ 16178 w 126"/>
                <a:gd name="T11" fmla="*/ 151 h 109"/>
                <a:gd name="T12" fmla="*/ 13076 w 126"/>
                <a:gd name="T13" fmla="*/ 32 h 109"/>
                <a:gd name="T14" fmla="*/ 5777 w 126"/>
                <a:gd name="T15" fmla="*/ 0 h 10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6" h="109">
                  <a:moveTo>
                    <a:pt x="45" y="0"/>
                  </a:moveTo>
                  <a:lnTo>
                    <a:pt x="9" y="20"/>
                  </a:lnTo>
                  <a:lnTo>
                    <a:pt x="0" y="73"/>
                  </a:lnTo>
                  <a:lnTo>
                    <a:pt x="28" y="109"/>
                  </a:lnTo>
                  <a:lnTo>
                    <a:pt x="98" y="109"/>
                  </a:lnTo>
                  <a:lnTo>
                    <a:pt x="126" y="66"/>
                  </a:lnTo>
                  <a:lnTo>
                    <a:pt x="102" y="14"/>
                  </a:lnTo>
                  <a:lnTo>
                    <a:pt x="45" y="0"/>
                  </a:lnTo>
                  <a:close/>
                </a:path>
              </a:pathLst>
            </a:custGeom>
            <a:solidFill>
              <a:srgbClr val="FF3300"/>
            </a:solidFill>
            <a:ln w="9525">
              <a:solidFill>
                <a:srgbClr val="00FFFF"/>
              </a:solidFill>
              <a:round/>
              <a:headEnd/>
              <a:tailEnd/>
            </a:ln>
            <a:effectLst>
              <a:outerShdw dist="40161" dir="1106097" algn="ctr" rotWithShape="0">
                <a:srgbClr val="808080"/>
              </a:outerShdw>
            </a:effectLst>
          </p:spPr>
          <p:txBody>
            <a:bodyPr/>
            <a:lstStyle/>
            <a:p>
              <a:endParaRPr lang="zh-CN" altLang="en-US"/>
            </a:p>
          </p:txBody>
        </p:sp>
      </p:grpSp>
    </p:spTree>
  </p:cSld>
  <p:clrMapOvr>
    <a:masterClrMapping/>
  </p:clrMapOvr>
  <p:transition>
    <p:strip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6" presetClass="entr" presetSubtype="37"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arn(outVertical)">
                                      <p:cBhvr>
                                        <p:cTn id="13" dur="500"/>
                                        <p:tgtEl>
                                          <p:spTgt spid="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0-#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4" presetClass="entr" presetSubtype="16"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ox(in)">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blinds(horizontal)">
                                      <p:cBhvr>
                                        <p:cTn id="2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110845" y="116609"/>
            <a:ext cx="3962400" cy="685800"/>
            <a:chOff x="336" y="240"/>
            <a:chExt cx="2496" cy="432"/>
          </a:xfrm>
        </p:grpSpPr>
        <p:sp>
          <p:nvSpPr>
            <p:cNvPr id="53290" name="Oval 3"/>
            <p:cNvSpPr>
              <a:spLocks noChangeArrowheads="1"/>
            </p:cNvSpPr>
            <p:nvPr/>
          </p:nvSpPr>
          <p:spPr bwMode="auto">
            <a:xfrm>
              <a:off x="336" y="240"/>
              <a:ext cx="2304" cy="432"/>
            </a:xfrm>
            <a:prstGeom prst="ellipse">
              <a:avLst/>
            </a:prstGeom>
            <a:solidFill>
              <a:srgbClr val="B9F2FF"/>
            </a:solidFill>
            <a:ln w="12700" cap="sq">
              <a:noFill/>
              <a:round/>
              <a:headEnd type="none" w="sm" len="sm"/>
              <a:tailEnd type="none" w="sm" len="sm"/>
            </a:ln>
            <a:effectLst>
              <a:outerShdw dist="91581" dir="2021404" algn="ctr" rotWithShape="0">
                <a:srgbClr val="C0C0C0"/>
              </a:outerShdw>
            </a:effectLst>
          </p:spPr>
          <p:txBody>
            <a:bodyPr wrap="none" anchor="ctr"/>
            <a:lstStyle/>
            <a:p>
              <a:endParaRPr lang="zh-CN" altLang="en-US"/>
            </a:p>
          </p:txBody>
        </p:sp>
        <p:sp>
          <p:nvSpPr>
            <p:cNvPr id="53291" name="Text Box 4"/>
            <p:cNvSpPr txBox="1">
              <a:spLocks noChangeArrowheads="1"/>
            </p:cNvSpPr>
            <p:nvPr/>
          </p:nvSpPr>
          <p:spPr bwMode="auto">
            <a:xfrm>
              <a:off x="480" y="288"/>
              <a:ext cx="2352" cy="336"/>
            </a:xfrm>
            <a:prstGeom prst="rect">
              <a:avLst/>
            </a:prstGeom>
            <a:noFill/>
            <a:ln w="12700" cap="sq">
              <a:noFill/>
              <a:miter lim="800000"/>
              <a:headEnd type="none" w="sm" len="sm"/>
              <a:tailEnd type="none" w="sm" len="sm"/>
            </a:ln>
          </p:spPr>
          <p:txBody>
            <a:bodyPr>
              <a:spAutoFit/>
            </a:bodyPr>
            <a:lstStyle/>
            <a:p>
              <a:pPr eaLnBrk="1" hangingPunct="1"/>
              <a:r>
                <a:rPr kumimoji="1" lang="zh-CN" altLang="en-US" sz="2900" b="1" dirty="0">
                  <a:solidFill>
                    <a:schemeClr val="accent2"/>
                  </a:solidFill>
                  <a:ea typeface="幼圆" pitchFamily="49" charset="-122"/>
                </a:rPr>
                <a:t>3</a:t>
              </a:r>
              <a:r>
                <a:rPr kumimoji="1" lang="zh-CN" altLang="en-US" sz="2900" b="1" dirty="0">
                  <a:solidFill>
                    <a:schemeClr val="accent2"/>
                  </a:solidFill>
                  <a:latin typeface="幼圆" pitchFamily="49" charset="-122"/>
                  <a:ea typeface="幼圆" pitchFamily="49" charset="-122"/>
                </a:rPr>
                <a:t>.进栈算法</a:t>
              </a:r>
              <a:endParaRPr kumimoji="1" lang="zh-CN" altLang="en-US" sz="2900" dirty="0">
                <a:solidFill>
                  <a:schemeClr val="accent2"/>
                </a:solidFill>
                <a:latin typeface="幼圆" pitchFamily="49" charset="-122"/>
                <a:ea typeface="幼圆" pitchFamily="49" charset="-122"/>
              </a:endParaRPr>
            </a:p>
          </p:txBody>
        </p:sp>
      </p:grpSp>
      <p:grpSp>
        <p:nvGrpSpPr>
          <p:cNvPr id="3" name="Group 5"/>
          <p:cNvGrpSpPr>
            <a:grpSpLocks/>
          </p:cNvGrpSpPr>
          <p:nvPr/>
        </p:nvGrpSpPr>
        <p:grpSpPr bwMode="auto">
          <a:xfrm>
            <a:off x="3403600" y="1066802"/>
            <a:ext cx="6021388" cy="1166813"/>
            <a:chOff x="982" y="1044"/>
            <a:chExt cx="3793" cy="735"/>
          </a:xfrm>
        </p:grpSpPr>
        <p:sp>
          <p:nvSpPr>
            <p:cNvPr id="53274" name="Text Box 6"/>
            <p:cNvSpPr txBox="1">
              <a:spLocks noChangeArrowheads="1"/>
            </p:cNvSpPr>
            <p:nvPr/>
          </p:nvSpPr>
          <p:spPr bwMode="auto">
            <a:xfrm>
              <a:off x="982" y="1044"/>
              <a:ext cx="322" cy="252"/>
            </a:xfrm>
            <a:prstGeom prst="rect">
              <a:avLst/>
            </a:prstGeom>
            <a:noFill/>
            <a:ln w="12700" cap="sq">
              <a:noFill/>
              <a:miter lim="800000"/>
              <a:headEnd type="none" w="sm" len="sm"/>
              <a:tailEnd type="none" w="sm" len="sm"/>
            </a:ln>
          </p:spPr>
          <p:txBody>
            <a:bodyPr wrap="none">
              <a:spAutoFit/>
            </a:bodyPr>
            <a:lstStyle/>
            <a:p>
              <a:pPr eaLnBrk="1" hangingPunct="1"/>
              <a:r>
                <a:rPr kumimoji="1" lang="en-US" altLang="zh-CN" sz="2000" b="1">
                  <a:solidFill>
                    <a:srgbClr val="FF3300"/>
                  </a:solidFill>
                </a:rPr>
                <a:t>top</a:t>
              </a:r>
              <a:endParaRPr kumimoji="1" lang="en-US" altLang="zh-CN" sz="2400">
                <a:solidFill>
                  <a:srgbClr val="FF3300"/>
                </a:solidFill>
              </a:endParaRPr>
            </a:p>
          </p:txBody>
        </p:sp>
        <p:sp>
          <p:nvSpPr>
            <p:cNvPr id="53275" name="Line 7"/>
            <p:cNvSpPr>
              <a:spLocks noChangeShapeType="1"/>
            </p:cNvSpPr>
            <p:nvPr/>
          </p:nvSpPr>
          <p:spPr bwMode="auto">
            <a:xfrm>
              <a:off x="1884" y="1630"/>
              <a:ext cx="336" cy="0"/>
            </a:xfrm>
            <a:prstGeom prst="line">
              <a:avLst/>
            </a:prstGeom>
            <a:noFill/>
            <a:ln w="15875" cap="sq">
              <a:solidFill>
                <a:schemeClr val="tx1"/>
              </a:solidFill>
              <a:round/>
              <a:headEnd type="none" w="sm" len="sm"/>
              <a:tailEnd type="triangle" w="med" len="med"/>
            </a:ln>
          </p:spPr>
          <p:txBody>
            <a:bodyPr wrap="none" anchor="ctr"/>
            <a:lstStyle/>
            <a:p>
              <a:endParaRPr lang="zh-CN" altLang="en-US"/>
            </a:p>
          </p:txBody>
        </p:sp>
        <p:sp>
          <p:nvSpPr>
            <p:cNvPr id="53276" name="Line 8"/>
            <p:cNvSpPr>
              <a:spLocks noChangeShapeType="1"/>
            </p:cNvSpPr>
            <p:nvPr/>
          </p:nvSpPr>
          <p:spPr bwMode="auto">
            <a:xfrm>
              <a:off x="2760" y="1618"/>
              <a:ext cx="432" cy="0"/>
            </a:xfrm>
            <a:prstGeom prst="line">
              <a:avLst/>
            </a:prstGeom>
            <a:noFill/>
            <a:ln w="15875" cap="sq">
              <a:solidFill>
                <a:schemeClr val="tx1"/>
              </a:solidFill>
              <a:round/>
              <a:headEnd type="none" w="sm" len="sm"/>
              <a:tailEnd type="triangle" w="med" len="med"/>
            </a:ln>
          </p:spPr>
          <p:txBody>
            <a:bodyPr wrap="none" anchor="ctr"/>
            <a:lstStyle/>
            <a:p>
              <a:endParaRPr lang="zh-CN" altLang="en-US"/>
            </a:p>
          </p:txBody>
        </p:sp>
        <p:sp>
          <p:nvSpPr>
            <p:cNvPr id="53277" name="Line 9"/>
            <p:cNvSpPr>
              <a:spLocks noChangeShapeType="1"/>
            </p:cNvSpPr>
            <p:nvPr/>
          </p:nvSpPr>
          <p:spPr bwMode="auto">
            <a:xfrm>
              <a:off x="3840" y="1630"/>
              <a:ext cx="336" cy="0"/>
            </a:xfrm>
            <a:prstGeom prst="line">
              <a:avLst/>
            </a:prstGeom>
            <a:noFill/>
            <a:ln w="15875" cap="sq">
              <a:solidFill>
                <a:srgbClr val="003300"/>
              </a:solidFill>
              <a:round/>
              <a:headEnd type="none" w="sm" len="sm"/>
              <a:tailEnd type="triangle" w="med" len="med"/>
            </a:ln>
          </p:spPr>
          <p:txBody>
            <a:bodyPr wrap="none" anchor="ctr"/>
            <a:lstStyle/>
            <a:p>
              <a:endParaRPr lang="zh-CN" altLang="en-US"/>
            </a:p>
          </p:txBody>
        </p:sp>
        <p:sp>
          <p:nvSpPr>
            <p:cNvPr id="53278" name="Text Box 10"/>
            <p:cNvSpPr txBox="1">
              <a:spLocks noChangeArrowheads="1"/>
            </p:cNvSpPr>
            <p:nvPr/>
          </p:nvSpPr>
          <p:spPr bwMode="auto">
            <a:xfrm>
              <a:off x="3312" y="1426"/>
              <a:ext cx="516" cy="291"/>
            </a:xfrm>
            <a:prstGeom prst="rect">
              <a:avLst/>
            </a:prstGeom>
            <a:noFill/>
            <a:ln w="12700" cap="sq">
              <a:noFill/>
              <a:miter lim="800000"/>
              <a:headEnd type="none" w="sm" len="sm"/>
              <a:tailEnd type="none" w="sm" len="sm"/>
            </a:ln>
          </p:spPr>
          <p:txBody>
            <a:bodyPr wrap="none">
              <a:spAutoFit/>
            </a:bodyPr>
            <a:lstStyle/>
            <a:p>
              <a:pPr eaLnBrk="1" hangingPunct="1"/>
              <a:r>
                <a:rPr kumimoji="1" lang="zh-CN" altLang="en-US" sz="2400" i="1" dirty="0"/>
                <a:t> ......  </a:t>
              </a:r>
            </a:p>
          </p:txBody>
        </p:sp>
        <p:sp>
          <p:nvSpPr>
            <p:cNvPr id="53279" name="Line 11"/>
            <p:cNvSpPr>
              <a:spLocks noChangeShapeType="1"/>
            </p:cNvSpPr>
            <p:nvPr/>
          </p:nvSpPr>
          <p:spPr bwMode="auto">
            <a:xfrm flipH="1" flipV="1">
              <a:off x="1296" y="1296"/>
              <a:ext cx="144" cy="144"/>
            </a:xfrm>
            <a:prstGeom prst="line">
              <a:avLst/>
            </a:prstGeom>
            <a:noFill/>
            <a:ln w="15875">
              <a:solidFill>
                <a:srgbClr val="FF0000"/>
              </a:solidFill>
              <a:round/>
              <a:headEnd type="triangle" w="med" len="med"/>
              <a:tailEnd type="none" w="sm" len="sm"/>
            </a:ln>
          </p:spPr>
          <p:txBody>
            <a:bodyPr wrap="none" anchor="ctr"/>
            <a:lstStyle/>
            <a:p>
              <a:endParaRPr lang="zh-CN" altLang="en-US"/>
            </a:p>
          </p:txBody>
        </p:sp>
        <p:grpSp>
          <p:nvGrpSpPr>
            <p:cNvPr id="4" name="Group 12"/>
            <p:cNvGrpSpPr>
              <a:grpSpLocks/>
            </p:cNvGrpSpPr>
            <p:nvPr/>
          </p:nvGrpSpPr>
          <p:grpSpPr bwMode="auto">
            <a:xfrm>
              <a:off x="1392" y="1488"/>
              <a:ext cx="576" cy="250"/>
              <a:chOff x="1392" y="1488"/>
              <a:chExt cx="576" cy="250"/>
            </a:xfrm>
          </p:grpSpPr>
          <p:sp>
            <p:nvSpPr>
              <p:cNvPr id="53288" name="Rectangle 13"/>
              <p:cNvSpPr>
                <a:spLocks noChangeArrowheads="1"/>
              </p:cNvSpPr>
              <p:nvPr/>
            </p:nvSpPr>
            <p:spPr bwMode="auto">
              <a:xfrm>
                <a:off x="1392" y="1488"/>
                <a:ext cx="432" cy="25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53289" name="Rectangle 14"/>
              <p:cNvSpPr>
                <a:spLocks noChangeArrowheads="1"/>
              </p:cNvSpPr>
              <p:nvPr/>
            </p:nvSpPr>
            <p:spPr bwMode="auto">
              <a:xfrm>
                <a:off x="1824" y="1488"/>
                <a:ext cx="144" cy="25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grpSp>
        <p:grpSp>
          <p:nvGrpSpPr>
            <p:cNvPr id="5" name="Group 15"/>
            <p:cNvGrpSpPr>
              <a:grpSpLocks/>
            </p:cNvGrpSpPr>
            <p:nvPr/>
          </p:nvGrpSpPr>
          <p:grpSpPr bwMode="auto">
            <a:xfrm>
              <a:off x="2256" y="1488"/>
              <a:ext cx="576" cy="250"/>
              <a:chOff x="1392" y="1488"/>
              <a:chExt cx="576" cy="250"/>
            </a:xfrm>
          </p:grpSpPr>
          <p:sp>
            <p:nvSpPr>
              <p:cNvPr id="53286" name="Rectangle 16"/>
              <p:cNvSpPr>
                <a:spLocks noChangeArrowheads="1"/>
              </p:cNvSpPr>
              <p:nvPr/>
            </p:nvSpPr>
            <p:spPr bwMode="auto">
              <a:xfrm>
                <a:off x="1392" y="1488"/>
                <a:ext cx="432" cy="25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53287" name="Rectangle 17"/>
              <p:cNvSpPr>
                <a:spLocks noChangeArrowheads="1"/>
              </p:cNvSpPr>
              <p:nvPr/>
            </p:nvSpPr>
            <p:spPr bwMode="auto">
              <a:xfrm>
                <a:off x="1824" y="1488"/>
                <a:ext cx="144" cy="25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grpSp>
        <p:grpSp>
          <p:nvGrpSpPr>
            <p:cNvPr id="6" name="Group 18"/>
            <p:cNvGrpSpPr>
              <a:grpSpLocks/>
            </p:cNvGrpSpPr>
            <p:nvPr/>
          </p:nvGrpSpPr>
          <p:grpSpPr bwMode="auto">
            <a:xfrm>
              <a:off x="4176" y="1488"/>
              <a:ext cx="576" cy="250"/>
              <a:chOff x="1392" y="1488"/>
              <a:chExt cx="576" cy="250"/>
            </a:xfrm>
          </p:grpSpPr>
          <p:sp>
            <p:nvSpPr>
              <p:cNvPr id="53284" name="Rectangle 19"/>
              <p:cNvSpPr>
                <a:spLocks noChangeArrowheads="1"/>
              </p:cNvSpPr>
              <p:nvPr/>
            </p:nvSpPr>
            <p:spPr bwMode="auto">
              <a:xfrm>
                <a:off x="1392" y="1488"/>
                <a:ext cx="432" cy="25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53285" name="Rectangle 20"/>
              <p:cNvSpPr>
                <a:spLocks noChangeArrowheads="1"/>
              </p:cNvSpPr>
              <p:nvPr/>
            </p:nvSpPr>
            <p:spPr bwMode="auto">
              <a:xfrm>
                <a:off x="1824" y="1488"/>
                <a:ext cx="144" cy="25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grpSp>
        <p:sp>
          <p:nvSpPr>
            <p:cNvPr id="53283" name="Rectangle 21"/>
            <p:cNvSpPr>
              <a:spLocks noChangeArrowheads="1"/>
            </p:cNvSpPr>
            <p:nvPr/>
          </p:nvSpPr>
          <p:spPr bwMode="auto">
            <a:xfrm>
              <a:off x="4584" y="1488"/>
              <a:ext cx="191" cy="291"/>
            </a:xfrm>
            <a:prstGeom prst="rect">
              <a:avLst/>
            </a:prstGeom>
            <a:noFill/>
            <a:ln w="12700" cap="sq">
              <a:noFill/>
              <a:miter lim="800000"/>
              <a:headEnd type="none" w="sm" len="sm"/>
              <a:tailEnd type="none" w="sm" len="sm"/>
            </a:ln>
          </p:spPr>
          <p:txBody>
            <a:bodyPr wrap="none">
              <a:spAutoFit/>
            </a:bodyPr>
            <a:lstStyle/>
            <a:p>
              <a:r>
                <a:rPr kumimoji="1" lang="zh-CN" altLang="en-US" sz="2400" dirty="0">
                  <a:ea typeface="宋体" charset="-122"/>
                </a:rPr>
                <a:t>^</a:t>
              </a:r>
            </a:p>
          </p:txBody>
        </p:sp>
      </p:grpSp>
      <p:sp>
        <p:nvSpPr>
          <p:cNvPr id="266262" name="Line 22"/>
          <p:cNvSpPr>
            <a:spLocks noChangeShapeType="1"/>
          </p:cNvSpPr>
          <p:nvPr/>
        </p:nvSpPr>
        <p:spPr bwMode="auto">
          <a:xfrm>
            <a:off x="3521075" y="1987550"/>
            <a:ext cx="533400" cy="0"/>
          </a:xfrm>
          <a:prstGeom prst="line">
            <a:avLst/>
          </a:prstGeom>
          <a:noFill/>
          <a:ln w="19050" cap="sq">
            <a:solidFill>
              <a:srgbClr val="FF0000"/>
            </a:solidFill>
            <a:round/>
            <a:headEnd type="none" w="sm" len="sm"/>
            <a:tailEnd type="triangle" w="med" len="med"/>
          </a:ln>
        </p:spPr>
        <p:txBody>
          <a:bodyPr wrap="none" anchor="ctr"/>
          <a:lstStyle/>
          <a:p>
            <a:endParaRPr lang="zh-CN" altLang="en-US"/>
          </a:p>
        </p:txBody>
      </p:sp>
      <p:sp>
        <p:nvSpPr>
          <p:cNvPr id="266263" name="Rectangle 23"/>
          <p:cNvSpPr>
            <a:spLocks noChangeArrowheads="1"/>
          </p:cNvSpPr>
          <p:nvPr/>
        </p:nvSpPr>
        <p:spPr bwMode="auto">
          <a:xfrm>
            <a:off x="2740026" y="1752601"/>
            <a:ext cx="704039" cy="461665"/>
          </a:xfrm>
          <a:prstGeom prst="rect">
            <a:avLst/>
          </a:prstGeom>
          <a:noFill/>
          <a:ln w="12700" cap="sq">
            <a:noFill/>
            <a:miter lim="800000"/>
            <a:headEnd type="none" w="sm" len="sm"/>
            <a:tailEnd type="none" w="sm" len="sm"/>
          </a:ln>
        </p:spPr>
        <p:txBody>
          <a:bodyPr wrap="none">
            <a:spAutoFit/>
          </a:bodyPr>
          <a:lstStyle/>
          <a:p>
            <a:r>
              <a:rPr kumimoji="1" lang="en-US" altLang="en-US" sz="2400" b="1">
                <a:solidFill>
                  <a:srgbClr val="0000FF"/>
                </a:solidFill>
              </a:rPr>
              <a:t>item</a:t>
            </a:r>
            <a:endParaRPr kumimoji="1" lang="en-US" altLang="zh-CN" sz="2400" b="1">
              <a:solidFill>
                <a:srgbClr val="0000FF"/>
              </a:solidFill>
            </a:endParaRPr>
          </a:p>
        </p:txBody>
      </p:sp>
      <p:grpSp>
        <p:nvGrpSpPr>
          <p:cNvPr id="7" name="Group 24"/>
          <p:cNvGrpSpPr>
            <a:grpSpLocks/>
          </p:cNvGrpSpPr>
          <p:nvPr/>
        </p:nvGrpSpPr>
        <p:grpSpPr bwMode="auto">
          <a:xfrm>
            <a:off x="2690813" y="1776416"/>
            <a:ext cx="982662" cy="766763"/>
            <a:chOff x="533" y="1488"/>
            <a:chExt cx="619" cy="483"/>
          </a:xfrm>
        </p:grpSpPr>
        <p:grpSp>
          <p:nvGrpSpPr>
            <p:cNvPr id="8" name="Group 25"/>
            <p:cNvGrpSpPr>
              <a:grpSpLocks/>
            </p:cNvGrpSpPr>
            <p:nvPr/>
          </p:nvGrpSpPr>
          <p:grpSpPr bwMode="auto">
            <a:xfrm>
              <a:off x="576" y="1488"/>
              <a:ext cx="576" cy="250"/>
              <a:chOff x="1392" y="1488"/>
              <a:chExt cx="576" cy="250"/>
            </a:xfrm>
          </p:grpSpPr>
          <p:sp>
            <p:nvSpPr>
              <p:cNvPr id="53272" name="Rectangle 26"/>
              <p:cNvSpPr>
                <a:spLocks noChangeArrowheads="1"/>
              </p:cNvSpPr>
              <p:nvPr/>
            </p:nvSpPr>
            <p:spPr bwMode="auto">
              <a:xfrm>
                <a:off x="1392" y="1488"/>
                <a:ext cx="432" cy="250"/>
              </a:xfrm>
              <a:prstGeom prst="rect">
                <a:avLst/>
              </a:prstGeom>
              <a:noFill/>
              <a:ln w="19050" cap="sq">
                <a:solidFill>
                  <a:srgbClr val="FF0000"/>
                </a:solidFill>
                <a:miter lim="800000"/>
                <a:headEnd type="none" w="sm" len="sm"/>
                <a:tailEnd type="none" w="sm" len="sm"/>
              </a:ln>
            </p:spPr>
            <p:txBody>
              <a:bodyPr wrap="none" anchor="ctr"/>
              <a:lstStyle/>
              <a:p>
                <a:endParaRPr lang="zh-CN" altLang="en-US"/>
              </a:p>
            </p:txBody>
          </p:sp>
          <p:sp>
            <p:nvSpPr>
              <p:cNvPr id="53273" name="Rectangle 27"/>
              <p:cNvSpPr>
                <a:spLocks noChangeArrowheads="1"/>
              </p:cNvSpPr>
              <p:nvPr/>
            </p:nvSpPr>
            <p:spPr bwMode="auto">
              <a:xfrm>
                <a:off x="1824" y="1488"/>
                <a:ext cx="144" cy="250"/>
              </a:xfrm>
              <a:prstGeom prst="rect">
                <a:avLst/>
              </a:prstGeom>
              <a:noFill/>
              <a:ln w="19050" cap="sq">
                <a:solidFill>
                  <a:srgbClr val="FF0000"/>
                </a:solidFill>
                <a:miter lim="800000"/>
                <a:headEnd type="none" w="sm" len="sm"/>
                <a:tailEnd type="none" w="sm" len="sm"/>
              </a:ln>
            </p:spPr>
            <p:txBody>
              <a:bodyPr wrap="none" anchor="ctr"/>
              <a:lstStyle/>
              <a:p>
                <a:endParaRPr lang="zh-CN" altLang="en-US"/>
              </a:p>
            </p:txBody>
          </p:sp>
        </p:grpSp>
        <p:sp>
          <p:nvSpPr>
            <p:cNvPr id="53271" name="Text Box 28"/>
            <p:cNvSpPr txBox="1">
              <a:spLocks noChangeArrowheads="1"/>
            </p:cNvSpPr>
            <p:nvPr/>
          </p:nvSpPr>
          <p:spPr bwMode="auto">
            <a:xfrm>
              <a:off x="533" y="1680"/>
              <a:ext cx="213" cy="291"/>
            </a:xfrm>
            <a:prstGeom prst="rect">
              <a:avLst/>
            </a:prstGeom>
            <a:noFill/>
            <a:ln w="12700" cap="sq">
              <a:noFill/>
              <a:miter lim="800000"/>
              <a:headEnd type="none" w="sm" len="sm"/>
              <a:tailEnd type="none" w="sm" len="sm"/>
            </a:ln>
          </p:spPr>
          <p:txBody>
            <a:bodyPr wrap="none">
              <a:spAutoFit/>
            </a:bodyPr>
            <a:lstStyle/>
            <a:p>
              <a:r>
                <a:rPr lang="en-US" altLang="zh-CN" sz="2400" b="1">
                  <a:solidFill>
                    <a:srgbClr val="FF3300"/>
                  </a:solidFill>
                </a:rPr>
                <a:t>p</a:t>
              </a:r>
            </a:p>
          </p:txBody>
        </p:sp>
      </p:grpSp>
      <p:grpSp>
        <p:nvGrpSpPr>
          <p:cNvPr id="9" name="Group 29"/>
          <p:cNvGrpSpPr>
            <a:grpSpLocks/>
          </p:cNvGrpSpPr>
          <p:nvPr/>
        </p:nvGrpSpPr>
        <p:grpSpPr bwMode="auto">
          <a:xfrm>
            <a:off x="2911475" y="1430338"/>
            <a:ext cx="1371600" cy="323850"/>
            <a:chOff x="672" y="1248"/>
            <a:chExt cx="864" cy="204"/>
          </a:xfrm>
        </p:grpSpPr>
        <p:sp>
          <p:nvSpPr>
            <p:cNvPr id="53268" name="Rectangle 30"/>
            <p:cNvSpPr>
              <a:spLocks noChangeArrowheads="1"/>
            </p:cNvSpPr>
            <p:nvPr/>
          </p:nvSpPr>
          <p:spPr bwMode="auto">
            <a:xfrm>
              <a:off x="1248" y="1260"/>
              <a:ext cx="288" cy="192"/>
            </a:xfrm>
            <a:prstGeom prst="rect">
              <a:avLst/>
            </a:prstGeom>
            <a:solidFill>
              <a:srgbClr val="FFFFFF"/>
            </a:solidFill>
            <a:ln w="12700" cap="sq">
              <a:noFill/>
              <a:miter lim="800000"/>
              <a:headEnd type="none" w="sm" len="sm"/>
              <a:tailEnd type="none" w="sm" len="sm"/>
            </a:ln>
          </p:spPr>
          <p:txBody>
            <a:bodyPr wrap="none" anchor="ctr"/>
            <a:lstStyle/>
            <a:p>
              <a:endParaRPr lang="zh-CN" altLang="en-US"/>
            </a:p>
          </p:txBody>
        </p:sp>
        <p:sp>
          <p:nvSpPr>
            <p:cNvPr id="53269" name="Line 31"/>
            <p:cNvSpPr>
              <a:spLocks noChangeShapeType="1"/>
            </p:cNvSpPr>
            <p:nvPr/>
          </p:nvSpPr>
          <p:spPr bwMode="auto">
            <a:xfrm flipH="1">
              <a:off x="672" y="1248"/>
              <a:ext cx="288" cy="192"/>
            </a:xfrm>
            <a:prstGeom prst="line">
              <a:avLst/>
            </a:prstGeom>
            <a:noFill/>
            <a:ln w="19050" cap="sq">
              <a:solidFill>
                <a:srgbClr val="FF0000"/>
              </a:solidFill>
              <a:round/>
              <a:headEnd type="none" w="sm" len="sm"/>
              <a:tailEnd type="triangle" w="sm" len="sm"/>
            </a:ln>
          </p:spPr>
          <p:txBody>
            <a:bodyPr/>
            <a:lstStyle/>
            <a:p>
              <a:endParaRPr lang="zh-CN" altLang="en-US"/>
            </a:p>
          </p:txBody>
        </p:sp>
      </p:grpSp>
      <p:grpSp>
        <p:nvGrpSpPr>
          <p:cNvPr id="44" name="组合 43"/>
          <p:cNvGrpSpPr/>
          <p:nvPr/>
        </p:nvGrpSpPr>
        <p:grpSpPr>
          <a:xfrm>
            <a:off x="1676400" y="2609850"/>
            <a:ext cx="8534400" cy="4019550"/>
            <a:chOff x="152400" y="2609850"/>
            <a:chExt cx="8534400" cy="4019550"/>
          </a:xfrm>
        </p:grpSpPr>
        <p:grpSp>
          <p:nvGrpSpPr>
            <p:cNvPr id="10" name="Group 32"/>
            <p:cNvGrpSpPr>
              <a:grpSpLocks/>
            </p:cNvGrpSpPr>
            <p:nvPr/>
          </p:nvGrpSpPr>
          <p:grpSpPr bwMode="auto">
            <a:xfrm>
              <a:off x="457200" y="3200400"/>
              <a:ext cx="8229600" cy="3429000"/>
              <a:chOff x="288" y="2016"/>
              <a:chExt cx="5184" cy="2160"/>
            </a:xfrm>
          </p:grpSpPr>
          <p:sp>
            <p:nvSpPr>
              <p:cNvPr id="53266" name="Rectangle 33"/>
              <p:cNvSpPr>
                <a:spLocks noChangeArrowheads="1"/>
              </p:cNvSpPr>
              <p:nvPr/>
            </p:nvSpPr>
            <p:spPr bwMode="auto">
              <a:xfrm>
                <a:off x="288" y="2016"/>
                <a:ext cx="5184" cy="2160"/>
              </a:xfrm>
              <a:prstGeom prst="rect">
                <a:avLst/>
              </a:prstGeom>
              <a:solidFill>
                <a:srgbClr val="FFF3E7"/>
              </a:solidFill>
              <a:ln w="12700" cap="sq">
                <a:noFill/>
                <a:miter lim="800000"/>
                <a:headEnd type="none" w="sm" len="sm"/>
                <a:tailEnd type="none" w="sm" len="sm"/>
              </a:ln>
              <a:effectLst>
                <a:outerShdw dist="198380" dir="2388334" algn="ctr" rotWithShape="0">
                  <a:srgbClr val="C0C0C0"/>
                </a:outerShdw>
              </a:effectLst>
            </p:spPr>
            <p:txBody>
              <a:bodyPr wrap="none" anchor="ctr"/>
              <a:lstStyle/>
              <a:p>
                <a:endParaRPr lang="zh-CN" altLang="en-US"/>
              </a:p>
            </p:txBody>
          </p:sp>
          <p:sp>
            <p:nvSpPr>
              <p:cNvPr id="53267" name="Text Box 34"/>
              <p:cNvSpPr txBox="1">
                <a:spLocks noChangeArrowheads="1"/>
              </p:cNvSpPr>
              <p:nvPr/>
            </p:nvSpPr>
            <p:spPr bwMode="auto">
              <a:xfrm>
                <a:off x="468" y="2246"/>
                <a:ext cx="4956" cy="1730"/>
              </a:xfrm>
              <a:prstGeom prst="rect">
                <a:avLst/>
              </a:prstGeom>
              <a:noFill/>
              <a:ln w="12700" cap="sq">
                <a:noFill/>
                <a:miter lim="800000"/>
                <a:headEnd type="none" w="sm" len="sm"/>
                <a:tailEnd type="none" w="sm" len="sm"/>
              </a:ln>
            </p:spPr>
            <p:txBody>
              <a:bodyPr>
                <a:spAutoFit/>
              </a:bodyPr>
              <a:lstStyle/>
              <a:p>
                <a:pPr eaLnBrk="1" hangingPunct="1">
                  <a:lnSpc>
                    <a:spcPct val="70000"/>
                  </a:lnSpc>
                </a:pPr>
                <a:r>
                  <a:rPr kumimoji="1" lang="en-US" altLang="zh-CN" sz="2500" b="1" dirty="0">
                    <a:solidFill>
                      <a:srgbClr val="003399"/>
                    </a:solidFill>
                  </a:rPr>
                  <a:t>void  push( </a:t>
                </a:r>
                <a:r>
                  <a:rPr kumimoji="1" lang="en-US" altLang="zh-CN" sz="2500" b="1" dirty="0" err="1">
                    <a:solidFill>
                      <a:srgbClr val="003399"/>
                    </a:solidFill>
                  </a:rPr>
                  <a:t>ElemType</a:t>
                </a:r>
                <a:r>
                  <a:rPr kumimoji="1" lang="en-US" altLang="zh-CN" sz="2500" b="1" dirty="0">
                    <a:solidFill>
                      <a:srgbClr val="003399"/>
                    </a:solidFill>
                  </a:rPr>
                  <a:t> item )</a:t>
                </a:r>
              </a:p>
              <a:p>
                <a:pPr eaLnBrk="1" hangingPunct="1">
                  <a:lnSpc>
                    <a:spcPct val="70000"/>
                  </a:lnSpc>
                </a:pPr>
                <a:r>
                  <a:rPr kumimoji="1" lang="en-US" altLang="zh-CN" sz="2500" b="1" dirty="0">
                    <a:solidFill>
                      <a:srgbClr val="003399"/>
                    </a:solidFill>
                  </a:rPr>
                  <a:t>{    </a:t>
                </a:r>
                <a:r>
                  <a:rPr kumimoji="1" lang="en-US" altLang="zh-CN" sz="2500" b="1" dirty="0" err="1">
                    <a:solidFill>
                      <a:srgbClr val="003399"/>
                    </a:solidFill>
                  </a:rPr>
                  <a:t>Nodeptr</a:t>
                </a:r>
                <a:r>
                  <a:rPr kumimoji="1" lang="en-US" altLang="zh-CN" sz="2500" b="1" dirty="0">
                    <a:solidFill>
                      <a:srgbClr val="003399"/>
                    </a:solidFill>
                  </a:rPr>
                  <a:t> p;</a:t>
                </a:r>
              </a:p>
              <a:p>
                <a:pPr eaLnBrk="1" hangingPunct="1">
                  <a:lnSpc>
                    <a:spcPct val="70000"/>
                  </a:lnSpc>
                </a:pPr>
                <a:r>
                  <a:rPr kumimoji="1" lang="en-US" altLang="zh-CN" sz="2500" b="1" dirty="0">
                    <a:solidFill>
                      <a:srgbClr val="003399"/>
                    </a:solidFill>
                  </a:rPr>
                  <a:t>      if( (p=(</a:t>
                </a:r>
                <a:r>
                  <a:rPr kumimoji="1" lang="en-US" altLang="zh-CN" sz="2500" b="1" dirty="0" err="1">
                    <a:solidFill>
                      <a:srgbClr val="003399"/>
                    </a:solidFill>
                  </a:rPr>
                  <a:t>Nodeptr</a:t>
                </a:r>
                <a:r>
                  <a:rPr kumimoji="1" lang="en-US" altLang="zh-CN" sz="2500" b="1" dirty="0">
                    <a:solidFill>
                      <a:srgbClr val="003399"/>
                    </a:solidFill>
                  </a:rPr>
                  <a:t>)</a:t>
                </a:r>
                <a:r>
                  <a:rPr kumimoji="1" lang="en-US" altLang="zh-CN" sz="2500" b="1" dirty="0" err="1">
                    <a:solidFill>
                      <a:srgbClr val="003399"/>
                    </a:solidFill>
                  </a:rPr>
                  <a:t>malloc</a:t>
                </a:r>
                <a:r>
                  <a:rPr kumimoji="1" lang="en-US" altLang="zh-CN" sz="2500" b="1" dirty="0">
                    <a:solidFill>
                      <a:srgbClr val="003399"/>
                    </a:solidFill>
                  </a:rPr>
                  <a:t>(</a:t>
                </a:r>
                <a:r>
                  <a:rPr kumimoji="1" lang="en-US" altLang="zh-CN" sz="2500" b="1" dirty="0" err="1">
                    <a:solidFill>
                      <a:srgbClr val="003399"/>
                    </a:solidFill>
                  </a:rPr>
                  <a:t>sizeof</a:t>
                </a:r>
                <a:r>
                  <a:rPr kumimoji="1" lang="en-US" altLang="zh-CN" sz="2500" b="1" dirty="0">
                    <a:solidFill>
                      <a:srgbClr val="003399"/>
                    </a:solidFill>
                  </a:rPr>
                  <a:t>(Node)))==NULL )</a:t>
                </a:r>
              </a:p>
              <a:p>
                <a:pPr eaLnBrk="1" hangingPunct="1">
                  <a:lnSpc>
                    <a:spcPct val="70000"/>
                  </a:lnSpc>
                </a:pPr>
                <a:r>
                  <a:rPr kumimoji="1" lang="zh-CN" altLang="en-US" sz="2500" b="1" dirty="0">
                    <a:solidFill>
                      <a:srgbClr val="003399"/>
                    </a:solidFill>
                  </a:rPr>
                  <a:t>             </a:t>
                </a:r>
                <a:r>
                  <a:rPr kumimoji="1" lang="en-US" altLang="zh-CN" sz="2500" b="1" dirty="0">
                    <a:solidFill>
                      <a:srgbClr val="003399"/>
                    </a:solidFill>
                  </a:rPr>
                  <a:t>Error(“No memory!”);  </a:t>
                </a:r>
              </a:p>
              <a:p>
                <a:pPr eaLnBrk="1" hangingPunct="1">
                  <a:lnSpc>
                    <a:spcPct val="70000"/>
                  </a:lnSpc>
                </a:pPr>
                <a:r>
                  <a:rPr kumimoji="1" lang="en-US" altLang="zh-CN" sz="2500" b="1" dirty="0">
                    <a:solidFill>
                      <a:srgbClr val="003399"/>
                    </a:solidFill>
                  </a:rPr>
                  <a:t>      else{</a:t>
                </a:r>
                <a:endParaRPr kumimoji="1" lang="en-US" altLang="zh-CN" sz="2200" b="1" dirty="0">
                  <a:solidFill>
                    <a:srgbClr val="003399"/>
                  </a:solidFill>
                </a:endParaRPr>
              </a:p>
              <a:p>
                <a:pPr eaLnBrk="1" hangingPunct="1">
                  <a:lnSpc>
                    <a:spcPct val="70000"/>
                  </a:lnSpc>
                </a:pPr>
                <a:r>
                  <a:rPr kumimoji="1" lang="zh-CN" altLang="en-US" sz="2500" b="1" dirty="0">
                    <a:solidFill>
                      <a:srgbClr val="FF0000"/>
                    </a:solidFill>
                  </a:rPr>
                  <a:t> </a:t>
                </a:r>
                <a:r>
                  <a:rPr kumimoji="1" lang="zh-CN" altLang="zh-CN" sz="2500" b="1" dirty="0">
                    <a:solidFill>
                      <a:srgbClr val="FF0000"/>
                    </a:solidFill>
                  </a:rPr>
                  <a:t>     </a:t>
                </a:r>
                <a:r>
                  <a:rPr kumimoji="1" lang="zh-CN" altLang="en-US" sz="2500" b="1" dirty="0">
                    <a:solidFill>
                      <a:srgbClr val="FF0000"/>
                    </a:solidFill>
                  </a:rPr>
                  <a:t>       p</a:t>
                </a:r>
                <a:r>
                  <a:rPr kumimoji="1" lang="zh-CN" altLang="en-US" sz="2500" b="1" dirty="0">
                    <a:solidFill>
                      <a:srgbClr val="FF0000"/>
                    </a:solidFill>
                    <a:latin typeface="宋体" charset="-122"/>
                    <a:ea typeface="宋体" charset="-122"/>
                  </a:rPr>
                  <a:t>-</a:t>
                </a:r>
                <a:r>
                  <a:rPr kumimoji="1" lang="zh-CN" altLang="en-US" sz="2500" b="1" dirty="0">
                    <a:solidFill>
                      <a:srgbClr val="FF0000"/>
                    </a:solidFill>
                  </a:rPr>
                  <a:t>&gt;</a:t>
                </a:r>
                <a:r>
                  <a:rPr kumimoji="1" lang="en-US" altLang="zh-CN" sz="2500" b="1" dirty="0">
                    <a:solidFill>
                      <a:srgbClr val="FF0000"/>
                    </a:solidFill>
                  </a:rPr>
                  <a:t>data=</a:t>
                </a:r>
                <a:r>
                  <a:rPr lang="en-US" altLang="zh-CN" sz="2500" b="1" dirty="0">
                    <a:solidFill>
                      <a:srgbClr val="FF0000"/>
                    </a:solidFill>
                  </a:rPr>
                  <a:t>item;           </a:t>
                </a:r>
                <a:r>
                  <a:rPr lang="en-US" altLang="zh-CN" sz="2200" b="1" dirty="0">
                    <a:solidFill>
                      <a:srgbClr val="FF0000"/>
                    </a:solidFill>
                  </a:rPr>
                  <a:t>/*</a:t>
                </a:r>
                <a:r>
                  <a:rPr lang="zh-CN" altLang="en-US" sz="2200" b="1" dirty="0">
                    <a:solidFill>
                      <a:srgbClr val="FF0000"/>
                    </a:solidFill>
                    <a:latin typeface="幼圆" pitchFamily="49" charset="-122"/>
                    <a:ea typeface="幼圆" pitchFamily="49" charset="-122"/>
                  </a:rPr>
                  <a:t>将</a:t>
                </a:r>
                <a:r>
                  <a:rPr lang="en-US" altLang="en-US" sz="2200" b="1" dirty="0">
                    <a:solidFill>
                      <a:srgbClr val="FF0000"/>
                    </a:solidFill>
                    <a:ea typeface="幼圆" pitchFamily="49" charset="-122"/>
                  </a:rPr>
                  <a:t>item</a:t>
                </a:r>
                <a:r>
                  <a:rPr lang="zh-CN" altLang="en-US" sz="2200" b="1" dirty="0">
                    <a:solidFill>
                      <a:srgbClr val="FF0000"/>
                    </a:solidFill>
                    <a:latin typeface="幼圆" pitchFamily="49" charset="-122"/>
                    <a:ea typeface="幼圆" pitchFamily="49" charset="-122"/>
                  </a:rPr>
                  <a:t>送新结点数据域*/</a:t>
                </a:r>
              </a:p>
              <a:p>
                <a:pPr eaLnBrk="1" hangingPunct="1">
                  <a:lnSpc>
                    <a:spcPct val="70000"/>
                  </a:lnSpc>
                </a:pPr>
                <a:r>
                  <a:rPr lang="zh-CN" altLang="zh-CN" sz="2500" b="1" dirty="0">
                    <a:solidFill>
                      <a:srgbClr val="FF0000"/>
                    </a:solidFill>
                  </a:rPr>
                  <a:t>    </a:t>
                </a:r>
                <a:r>
                  <a:rPr lang="zh-CN" altLang="en-US" sz="2500" b="1" dirty="0">
                    <a:solidFill>
                      <a:srgbClr val="FF0000"/>
                    </a:solidFill>
                  </a:rPr>
                  <a:t> </a:t>
                </a:r>
                <a:r>
                  <a:rPr lang="zh-CN" altLang="zh-CN" sz="2500" b="1" dirty="0">
                    <a:solidFill>
                      <a:srgbClr val="FF0000"/>
                    </a:solidFill>
                  </a:rPr>
                  <a:t> </a:t>
                </a:r>
                <a:r>
                  <a:rPr lang="zh-CN" altLang="en-US" sz="2500" b="1" dirty="0">
                    <a:solidFill>
                      <a:srgbClr val="FF0000"/>
                    </a:solidFill>
                  </a:rPr>
                  <a:t>       p</a:t>
                </a:r>
                <a:r>
                  <a:rPr lang="zh-CN" altLang="en-US" sz="2500" b="1" dirty="0">
                    <a:solidFill>
                      <a:srgbClr val="FF0000"/>
                    </a:solidFill>
                    <a:latin typeface="宋体" charset="-122"/>
                    <a:ea typeface="宋体" charset="-122"/>
                  </a:rPr>
                  <a:t>-</a:t>
                </a:r>
                <a:r>
                  <a:rPr lang="zh-CN" altLang="en-US" sz="2500" b="1" dirty="0">
                    <a:solidFill>
                      <a:srgbClr val="FF0000"/>
                    </a:solidFill>
                  </a:rPr>
                  <a:t>&gt;</a:t>
                </a:r>
                <a:r>
                  <a:rPr lang="en-US" altLang="zh-CN" sz="2500" b="1" dirty="0">
                    <a:solidFill>
                      <a:srgbClr val="FF0000"/>
                    </a:solidFill>
                  </a:rPr>
                  <a:t>link=Top;              </a:t>
                </a:r>
                <a:r>
                  <a:rPr lang="en-US" altLang="zh-CN" sz="2200" b="1" dirty="0">
                    <a:solidFill>
                      <a:srgbClr val="FF0000"/>
                    </a:solidFill>
                  </a:rPr>
                  <a:t>/*</a:t>
                </a:r>
                <a:r>
                  <a:rPr lang="zh-CN" altLang="en-US" sz="2200" b="1" dirty="0">
                    <a:solidFill>
                      <a:srgbClr val="FF0000"/>
                    </a:solidFill>
                    <a:ea typeface="幼圆" pitchFamily="49" charset="-122"/>
                  </a:rPr>
                  <a:t>将新结点插在链表最前面</a:t>
                </a:r>
                <a:r>
                  <a:rPr lang="zh-CN" altLang="en-US" sz="2200" b="1" dirty="0">
                    <a:solidFill>
                      <a:srgbClr val="FF0000"/>
                    </a:solidFill>
                  </a:rPr>
                  <a:t>*/</a:t>
                </a:r>
              </a:p>
              <a:p>
                <a:pPr eaLnBrk="1" hangingPunct="1">
                  <a:lnSpc>
                    <a:spcPct val="70000"/>
                  </a:lnSpc>
                </a:pPr>
                <a:r>
                  <a:rPr lang="zh-CN" altLang="zh-CN" sz="2500" b="1" dirty="0">
                    <a:solidFill>
                      <a:srgbClr val="FF0000"/>
                    </a:solidFill>
                  </a:rPr>
                  <a:t>     </a:t>
                </a:r>
                <a:r>
                  <a:rPr lang="zh-CN" altLang="en-US" sz="2500" b="1" dirty="0">
                    <a:solidFill>
                      <a:srgbClr val="FF0000"/>
                    </a:solidFill>
                  </a:rPr>
                  <a:t>        </a:t>
                </a:r>
                <a:r>
                  <a:rPr lang="en-US" altLang="zh-CN" sz="2500" b="1" dirty="0">
                    <a:solidFill>
                      <a:srgbClr val="FF0000"/>
                    </a:solidFill>
                  </a:rPr>
                  <a:t>Top=p;                         </a:t>
                </a:r>
                <a:r>
                  <a:rPr lang="en-US" altLang="zh-CN" sz="2200" b="1" dirty="0">
                    <a:solidFill>
                      <a:srgbClr val="FF0000"/>
                    </a:solidFill>
                  </a:rPr>
                  <a:t>/*</a:t>
                </a:r>
                <a:r>
                  <a:rPr lang="zh-CN" altLang="en-US" sz="2200" b="1" dirty="0">
                    <a:solidFill>
                      <a:srgbClr val="FF0000"/>
                    </a:solidFill>
                    <a:ea typeface="幼圆" pitchFamily="49" charset="-122"/>
                  </a:rPr>
                  <a:t>修改栈顶指针的指向</a:t>
                </a:r>
                <a:r>
                  <a:rPr lang="zh-CN" altLang="en-US" sz="2200" b="1" dirty="0">
                    <a:solidFill>
                      <a:srgbClr val="FF0000"/>
                    </a:solidFill>
                  </a:rPr>
                  <a:t>*/</a:t>
                </a:r>
                <a:endParaRPr lang="en-US" altLang="zh-CN" sz="2500" b="1" dirty="0">
                  <a:solidFill>
                    <a:srgbClr val="FF0000"/>
                  </a:solidFill>
                </a:endParaRPr>
              </a:p>
              <a:p>
                <a:pPr eaLnBrk="1" hangingPunct="1">
                  <a:lnSpc>
                    <a:spcPct val="65000"/>
                  </a:lnSpc>
                </a:pPr>
                <a:r>
                  <a:rPr lang="en-US" altLang="zh-CN" sz="2500" b="1" dirty="0">
                    <a:solidFill>
                      <a:srgbClr val="003399"/>
                    </a:solidFill>
                  </a:rPr>
                  <a:t>      }</a:t>
                </a:r>
              </a:p>
              <a:p>
                <a:pPr eaLnBrk="1" hangingPunct="1">
                  <a:lnSpc>
                    <a:spcPct val="65000"/>
                  </a:lnSpc>
                </a:pPr>
                <a:r>
                  <a:rPr lang="en-US" altLang="zh-CN" sz="2500" b="1" dirty="0">
                    <a:solidFill>
                      <a:srgbClr val="003399"/>
                    </a:solidFill>
                  </a:rPr>
                  <a:t>}</a:t>
                </a:r>
              </a:p>
            </p:txBody>
          </p:sp>
        </p:grpSp>
        <p:grpSp>
          <p:nvGrpSpPr>
            <p:cNvPr id="11" name="Group 54"/>
            <p:cNvGrpSpPr>
              <a:grpSpLocks/>
            </p:cNvGrpSpPr>
            <p:nvPr/>
          </p:nvGrpSpPr>
          <p:grpSpPr bwMode="auto">
            <a:xfrm>
              <a:off x="152400" y="2609850"/>
              <a:ext cx="2039938" cy="895350"/>
              <a:chOff x="96" y="1644"/>
              <a:chExt cx="1285" cy="564"/>
            </a:xfrm>
          </p:grpSpPr>
          <p:sp>
            <p:nvSpPr>
              <p:cNvPr id="53264" name="AutoShape 36"/>
              <p:cNvSpPr>
                <a:spLocks noChangeArrowheads="1"/>
              </p:cNvSpPr>
              <p:nvPr/>
            </p:nvSpPr>
            <p:spPr bwMode="auto">
              <a:xfrm rot="348149">
                <a:off x="96" y="1644"/>
                <a:ext cx="1056" cy="564"/>
              </a:xfrm>
              <a:prstGeom prst="irregularSeal2">
                <a:avLst/>
              </a:prstGeom>
              <a:solidFill>
                <a:srgbClr val="FF3300"/>
              </a:solidFill>
              <a:ln w="57150">
                <a:solidFill>
                  <a:srgbClr val="FFFF00"/>
                </a:solidFill>
                <a:miter lim="800000"/>
                <a:headEnd type="none" w="sm" len="sm"/>
                <a:tailEnd type="none" w="sm" len="sm"/>
              </a:ln>
              <a:effectLst>
                <a:outerShdw dist="104727" dir="842175" algn="ctr" rotWithShape="0">
                  <a:srgbClr val="C0C0C0"/>
                </a:outerShdw>
              </a:effectLst>
            </p:spPr>
            <p:txBody>
              <a:bodyPr wrap="none" anchor="ctr"/>
              <a:lstStyle/>
              <a:p>
                <a:endParaRPr lang="zh-CN" altLang="en-US"/>
              </a:p>
            </p:txBody>
          </p:sp>
          <p:sp>
            <p:nvSpPr>
              <p:cNvPr id="53265" name="Text Box 37"/>
              <p:cNvSpPr txBox="1">
                <a:spLocks noChangeArrowheads="1"/>
              </p:cNvSpPr>
              <p:nvPr/>
            </p:nvSpPr>
            <p:spPr bwMode="auto">
              <a:xfrm rot="-335369">
                <a:off x="146" y="1670"/>
                <a:ext cx="1235" cy="442"/>
              </a:xfrm>
              <a:prstGeom prst="rect">
                <a:avLst/>
              </a:prstGeom>
              <a:noFill/>
              <a:ln w="12700" cap="sq">
                <a:noFill/>
                <a:miter lim="800000"/>
                <a:headEnd type="none" w="sm" len="sm"/>
                <a:tailEnd type="none" w="sm" len="sm"/>
              </a:ln>
              <a:effectLst>
                <a:outerShdw dist="40161" dir="1106097" algn="ctr" rotWithShape="0">
                  <a:srgbClr val="000000"/>
                </a:outerShdw>
              </a:effectLst>
            </p:spPr>
            <p:txBody>
              <a:bodyPr>
                <a:spAutoFit/>
              </a:bodyPr>
              <a:lstStyle/>
              <a:p>
                <a:r>
                  <a:rPr lang="zh-CN" altLang="en-US" sz="4000" b="1" i="1">
                    <a:solidFill>
                      <a:srgbClr val="FFFFFF"/>
                    </a:solidFill>
                    <a:ea typeface="黑体" pitchFamily="2" charset="-122"/>
                  </a:rPr>
                  <a:t>算法</a:t>
                </a:r>
              </a:p>
            </p:txBody>
          </p:sp>
        </p:grpSp>
      </p:grpSp>
      <p:grpSp>
        <p:nvGrpSpPr>
          <p:cNvPr id="12" name="Group 48"/>
          <p:cNvGrpSpPr>
            <a:grpSpLocks/>
          </p:cNvGrpSpPr>
          <p:nvPr/>
        </p:nvGrpSpPr>
        <p:grpSpPr bwMode="auto">
          <a:xfrm>
            <a:off x="6781800" y="2397125"/>
            <a:ext cx="3276600" cy="838200"/>
            <a:chOff x="3312" y="1510"/>
            <a:chExt cx="2064" cy="528"/>
          </a:xfrm>
        </p:grpSpPr>
        <p:sp>
          <p:nvSpPr>
            <p:cNvPr id="53262" name="AutoShape 49"/>
            <p:cNvSpPr>
              <a:spLocks noChangeArrowheads="1"/>
            </p:cNvSpPr>
            <p:nvPr/>
          </p:nvSpPr>
          <p:spPr bwMode="auto">
            <a:xfrm>
              <a:off x="3312" y="1510"/>
              <a:ext cx="2064" cy="528"/>
            </a:xfrm>
            <a:prstGeom prst="cloudCallout">
              <a:avLst>
                <a:gd name="adj1" fmla="val -58574"/>
                <a:gd name="adj2" fmla="val -56440"/>
              </a:avLst>
            </a:prstGeom>
            <a:noFill/>
            <a:ln w="63500" cap="sq">
              <a:solidFill>
                <a:srgbClr val="33CCCC"/>
              </a:solidFill>
              <a:round/>
              <a:headEnd type="none" w="sm" len="sm"/>
              <a:tailEnd type="none" w="sm" len="sm"/>
            </a:ln>
          </p:spPr>
          <p:txBody>
            <a:bodyPr/>
            <a:lstStyle/>
            <a:p>
              <a:pPr algn="ctr"/>
              <a:endParaRPr lang="zh-CN" altLang="en-US"/>
            </a:p>
          </p:txBody>
        </p:sp>
        <p:sp>
          <p:nvSpPr>
            <p:cNvPr id="53263" name="Text Box 50"/>
            <p:cNvSpPr txBox="1">
              <a:spLocks noChangeArrowheads="1"/>
            </p:cNvSpPr>
            <p:nvPr/>
          </p:nvSpPr>
          <p:spPr bwMode="auto">
            <a:xfrm>
              <a:off x="3506" y="1574"/>
              <a:ext cx="1870" cy="291"/>
            </a:xfrm>
            <a:prstGeom prst="rect">
              <a:avLst/>
            </a:prstGeom>
            <a:noFill/>
            <a:ln w="12700" cap="sq">
              <a:noFill/>
              <a:miter lim="800000"/>
              <a:headEnd type="none" w="sm" len="sm"/>
              <a:tailEnd type="none" w="sm" len="sm"/>
            </a:ln>
            <a:effectLst>
              <a:outerShdw dist="17961" dir="2700000" algn="ctr" rotWithShape="0">
                <a:schemeClr val="bg1"/>
              </a:outerShdw>
            </a:effectLst>
          </p:spPr>
          <p:txBody>
            <a:bodyPr>
              <a:spAutoFit/>
            </a:bodyPr>
            <a:lstStyle/>
            <a:p>
              <a:r>
                <a:rPr lang="zh-CN" altLang="en-US" sz="2400" b="1" dirty="0">
                  <a:solidFill>
                    <a:srgbClr val="FF3300"/>
                  </a:solidFill>
                  <a:ea typeface="幼圆" pitchFamily="49" charset="-122"/>
                </a:rPr>
                <a:t>不必判断栈满</a:t>
              </a:r>
            </a:p>
          </p:txBody>
        </p:sp>
      </p:grpSp>
      <p:grpSp>
        <p:nvGrpSpPr>
          <p:cNvPr id="13" name="Group 51"/>
          <p:cNvGrpSpPr>
            <a:grpSpLocks/>
          </p:cNvGrpSpPr>
          <p:nvPr/>
        </p:nvGrpSpPr>
        <p:grpSpPr bwMode="auto">
          <a:xfrm>
            <a:off x="6740526" y="304800"/>
            <a:ext cx="3089275" cy="1066800"/>
            <a:chOff x="3146" y="107"/>
            <a:chExt cx="1946" cy="672"/>
          </a:xfrm>
        </p:grpSpPr>
        <p:sp>
          <p:nvSpPr>
            <p:cNvPr id="53260" name="Freeform 52"/>
            <p:cNvSpPr>
              <a:spLocks/>
            </p:cNvSpPr>
            <p:nvPr/>
          </p:nvSpPr>
          <p:spPr bwMode="auto">
            <a:xfrm>
              <a:off x="3146" y="107"/>
              <a:ext cx="1946" cy="672"/>
            </a:xfrm>
            <a:custGeom>
              <a:avLst/>
              <a:gdLst>
                <a:gd name="T0" fmla="*/ 215 w 1104"/>
                <a:gd name="T1" fmla="*/ 96 h 517"/>
                <a:gd name="T2" fmla="*/ 0 w 1104"/>
                <a:gd name="T3" fmla="*/ 419 h 517"/>
                <a:gd name="T4" fmla="*/ 102 w 1104"/>
                <a:gd name="T5" fmla="*/ 1065 h 517"/>
                <a:gd name="T6" fmla="*/ 215 w 1104"/>
                <a:gd name="T7" fmla="*/ 1224 h 517"/>
                <a:gd name="T8" fmla="*/ 659 w 1104"/>
                <a:gd name="T9" fmla="*/ 1256 h 517"/>
                <a:gd name="T10" fmla="*/ 2945 w 1104"/>
                <a:gd name="T11" fmla="*/ 1291 h 517"/>
                <a:gd name="T12" fmla="*/ 9048 w 1104"/>
                <a:gd name="T13" fmla="*/ 1256 h 517"/>
                <a:gd name="T14" fmla="*/ 9265 w 1104"/>
                <a:gd name="T15" fmla="*/ 1162 h 517"/>
                <a:gd name="T16" fmla="*/ 9924 w 1104"/>
                <a:gd name="T17" fmla="*/ 1097 h 517"/>
                <a:gd name="T18" fmla="*/ 10571 w 1104"/>
                <a:gd name="T19" fmla="*/ 773 h 517"/>
                <a:gd name="T20" fmla="*/ 10465 w 1104"/>
                <a:gd name="T21" fmla="*/ 192 h 517"/>
                <a:gd name="T22" fmla="*/ 9924 w 1104"/>
                <a:gd name="T23" fmla="*/ 160 h 517"/>
                <a:gd name="T24" fmla="*/ 9265 w 1104"/>
                <a:gd name="T25" fmla="*/ 66 h 517"/>
                <a:gd name="T26" fmla="*/ 8503 w 1104"/>
                <a:gd name="T27" fmla="*/ 0 h 517"/>
                <a:gd name="T28" fmla="*/ 3598 w 1104"/>
                <a:gd name="T29" fmla="*/ 30 h 517"/>
                <a:gd name="T30" fmla="*/ 659 w 1104"/>
                <a:gd name="T31" fmla="*/ 126 h 517"/>
                <a:gd name="T32" fmla="*/ 215 w 1104"/>
                <a:gd name="T33" fmla="*/ 96 h 51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104" h="517">
                  <a:moveTo>
                    <a:pt x="22" y="34"/>
                  </a:moveTo>
                  <a:cubicBezTo>
                    <a:pt x="16" y="72"/>
                    <a:pt x="0" y="109"/>
                    <a:pt x="0" y="147"/>
                  </a:cubicBezTo>
                  <a:cubicBezTo>
                    <a:pt x="0" y="222"/>
                    <a:pt x="5" y="298"/>
                    <a:pt x="11" y="373"/>
                  </a:cubicBezTo>
                  <a:cubicBezTo>
                    <a:pt x="12" y="392"/>
                    <a:pt x="10" y="415"/>
                    <a:pt x="22" y="429"/>
                  </a:cubicBezTo>
                  <a:cubicBezTo>
                    <a:pt x="32" y="441"/>
                    <a:pt x="52" y="439"/>
                    <a:pt x="68" y="440"/>
                  </a:cubicBezTo>
                  <a:cubicBezTo>
                    <a:pt x="147" y="446"/>
                    <a:pt x="226" y="448"/>
                    <a:pt x="305" y="452"/>
                  </a:cubicBezTo>
                  <a:cubicBezTo>
                    <a:pt x="507" y="517"/>
                    <a:pt x="737" y="510"/>
                    <a:pt x="937" y="440"/>
                  </a:cubicBezTo>
                  <a:cubicBezTo>
                    <a:pt x="945" y="429"/>
                    <a:pt x="949" y="414"/>
                    <a:pt x="960" y="407"/>
                  </a:cubicBezTo>
                  <a:cubicBezTo>
                    <a:pt x="980" y="394"/>
                    <a:pt x="1028" y="384"/>
                    <a:pt x="1028" y="384"/>
                  </a:cubicBezTo>
                  <a:cubicBezTo>
                    <a:pt x="1059" y="336"/>
                    <a:pt x="1081" y="329"/>
                    <a:pt x="1095" y="271"/>
                  </a:cubicBezTo>
                  <a:cubicBezTo>
                    <a:pt x="1091" y="203"/>
                    <a:pt x="1104" y="133"/>
                    <a:pt x="1084" y="68"/>
                  </a:cubicBezTo>
                  <a:cubicBezTo>
                    <a:pt x="1078" y="50"/>
                    <a:pt x="1046" y="61"/>
                    <a:pt x="1028" y="56"/>
                  </a:cubicBezTo>
                  <a:cubicBezTo>
                    <a:pt x="951" y="36"/>
                    <a:pt x="1038" y="57"/>
                    <a:pt x="960" y="23"/>
                  </a:cubicBezTo>
                  <a:cubicBezTo>
                    <a:pt x="935" y="12"/>
                    <a:pt x="907" y="8"/>
                    <a:pt x="881" y="0"/>
                  </a:cubicBezTo>
                  <a:cubicBezTo>
                    <a:pt x="712" y="4"/>
                    <a:pt x="542" y="4"/>
                    <a:pt x="373" y="11"/>
                  </a:cubicBezTo>
                  <a:cubicBezTo>
                    <a:pt x="275" y="15"/>
                    <a:pt x="166" y="39"/>
                    <a:pt x="68" y="45"/>
                  </a:cubicBezTo>
                  <a:cubicBezTo>
                    <a:pt x="26" y="59"/>
                    <a:pt x="40" y="66"/>
                    <a:pt x="22" y="34"/>
                  </a:cubicBezTo>
                  <a:close/>
                </a:path>
              </a:pathLst>
            </a:custGeom>
            <a:gradFill rotWithShape="0">
              <a:gsLst>
                <a:gs pos="0">
                  <a:srgbClr val="FF3300"/>
                </a:gs>
                <a:gs pos="50000">
                  <a:srgbClr val="761800"/>
                </a:gs>
                <a:gs pos="100000">
                  <a:srgbClr val="FF3300"/>
                </a:gs>
              </a:gsLst>
              <a:lin ang="18900000" scaled="1"/>
            </a:gradFill>
            <a:ln w="12700" cap="sq" cmpd="sng">
              <a:noFill/>
              <a:prstDash val="solid"/>
              <a:round/>
              <a:headEnd type="none" w="sm" len="sm"/>
              <a:tailEnd type="none" w="sm" len="sm"/>
            </a:ln>
            <a:effectLst>
              <a:outerShdw dist="71842" dir="2700000" algn="ctr" rotWithShape="0">
                <a:srgbClr val="B2B2B2"/>
              </a:outerShdw>
            </a:effectLst>
          </p:spPr>
          <p:txBody>
            <a:bodyPr/>
            <a:lstStyle/>
            <a:p>
              <a:endParaRPr lang="zh-CN" altLang="en-US"/>
            </a:p>
          </p:txBody>
        </p:sp>
        <p:sp>
          <p:nvSpPr>
            <p:cNvPr id="53261" name="Rectangle 53"/>
            <p:cNvSpPr>
              <a:spLocks noChangeArrowheads="1"/>
            </p:cNvSpPr>
            <p:nvPr/>
          </p:nvSpPr>
          <p:spPr bwMode="auto">
            <a:xfrm>
              <a:off x="3238" y="192"/>
              <a:ext cx="1824" cy="450"/>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a:spAutoFit/>
            </a:bodyPr>
            <a:lstStyle/>
            <a:p>
              <a:pPr>
                <a:lnSpc>
                  <a:spcPct val="85000"/>
                </a:lnSpc>
              </a:pPr>
              <a:r>
                <a:rPr lang="zh-CN" altLang="en-US" sz="2400" b="1">
                  <a:solidFill>
                    <a:srgbClr val="FFFF23"/>
                  </a:solidFill>
                  <a:ea typeface="黑体" pitchFamily="2" charset="-122"/>
                </a:rPr>
                <a:t>等效于在链表最前</a:t>
              </a:r>
            </a:p>
            <a:p>
              <a:pPr>
                <a:lnSpc>
                  <a:spcPct val="85000"/>
                </a:lnSpc>
              </a:pPr>
              <a:r>
                <a:rPr lang="zh-CN" altLang="en-US" sz="2400" b="1">
                  <a:solidFill>
                    <a:srgbClr val="FFFF23"/>
                  </a:solidFill>
                  <a:ea typeface="黑体" pitchFamily="2" charset="-122"/>
                </a:rPr>
                <a:t>面插入一个新结点</a:t>
              </a:r>
            </a:p>
          </p:txBody>
        </p:sp>
      </p:grpSp>
    </p:spTree>
  </p:cSld>
  <p:clrMapOvr>
    <a:masterClrMapping/>
  </p:clrMapOvr>
  <p:transition>
    <p:strip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52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anim calcmode="lin" valueType="num">
                                      <p:cBhvr>
                                        <p:cTn id="14" dur="500" fill="hold"/>
                                        <p:tgtEl>
                                          <p:spTgt spid="13"/>
                                        </p:tgtEl>
                                        <p:attrNameLst>
                                          <p:attrName>ppt_x</p:attrName>
                                        </p:attrNameLst>
                                      </p:cBhvr>
                                      <p:tavLst>
                                        <p:tav tm="0">
                                          <p:val>
                                            <p:fltVal val="0.5"/>
                                          </p:val>
                                        </p:tav>
                                        <p:tav tm="100000">
                                          <p:val>
                                            <p:strVal val="#ppt_x"/>
                                          </p:val>
                                        </p:tav>
                                      </p:tavLst>
                                    </p:anim>
                                    <p:anim calcmode="lin" valueType="num">
                                      <p:cBhvr>
                                        <p:cTn id="15" dur="500" fill="hold"/>
                                        <p:tgtEl>
                                          <p:spTgt spid="13"/>
                                        </p:tgtEl>
                                        <p:attrNameLst>
                                          <p:attrName>ppt_y</p:attrName>
                                        </p:attrNameLst>
                                      </p:cBhvr>
                                      <p:tavLst>
                                        <p:tav tm="0">
                                          <p:val>
                                            <p:fltVal val="0.5"/>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8"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0-#ppt_w/2"/>
                                          </p:val>
                                        </p:tav>
                                        <p:tav tm="100000">
                                          <p:val>
                                            <p:strVal val="#ppt_x"/>
                                          </p:val>
                                        </p:tav>
                                      </p:tavLst>
                                    </p:anim>
                                    <p:anim calcmode="lin" valueType="num">
                                      <p:cBhvr additive="base">
                                        <p:cTn id="21"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15" presetClass="entr" presetSubtype="0" fill="hold" grpId="0" nodeType="clickEffect">
                                  <p:stCondLst>
                                    <p:cond delay="0"/>
                                  </p:stCondLst>
                                  <p:childTnLst>
                                    <p:set>
                                      <p:cBhvr>
                                        <p:cTn id="25" dur="1" fill="hold">
                                          <p:stCondLst>
                                            <p:cond delay="0"/>
                                          </p:stCondLst>
                                        </p:cTn>
                                        <p:tgtEl>
                                          <p:spTgt spid="266263"/>
                                        </p:tgtEl>
                                        <p:attrNameLst>
                                          <p:attrName>style.visibility</p:attrName>
                                        </p:attrNameLst>
                                      </p:cBhvr>
                                      <p:to>
                                        <p:strVal val="visible"/>
                                      </p:to>
                                    </p:set>
                                    <p:anim calcmode="lin" valueType="num">
                                      <p:cBhvr>
                                        <p:cTn id="26" dur="1000" fill="hold"/>
                                        <p:tgtEl>
                                          <p:spTgt spid="266263"/>
                                        </p:tgtEl>
                                        <p:attrNameLst>
                                          <p:attrName>ppt_w</p:attrName>
                                        </p:attrNameLst>
                                      </p:cBhvr>
                                      <p:tavLst>
                                        <p:tav tm="0">
                                          <p:val>
                                            <p:fltVal val="0"/>
                                          </p:val>
                                        </p:tav>
                                        <p:tav tm="100000">
                                          <p:val>
                                            <p:strVal val="#ppt_w"/>
                                          </p:val>
                                        </p:tav>
                                      </p:tavLst>
                                    </p:anim>
                                    <p:anim calcmode="lin" valueType="num">
                                      <p:cBhvr>
                                        <p:cTn id="27" dur="1000" fill="hold"/>
                                        <p:tgtEl>
                                          <p:spTgt spid="266263"/>
                                        </p:tgtEl>
                                        <p:attrNameLst>
                                          <p:attrName>ppt_h</p:attrName>
                                        </p:attrNameLst>
                                      </p:cBhvr>
                                      <p:tavLst>
                                        <p:tav tm="0">
                                          <p:val>
                                            <p:fltVal val="0"/>
                                          </p:val>
                                        </p:tav>
                                        <p:tav tm="100000">
                                          <p:val>
                                            <p:strVal val="#ppt_h"/>
                                          </p:val>
                                        </p:tav>
                                      </p:tavLst>
                                    </p:anim>
                                    <p:anim calcmode="lin" valueType="num">
                                      <p:cBhvr>
                                        <p:cTn id="28" dur="1000" fill="hold"/>
                                        <p:tgtEl>
                                          <p:spTgt spid="266263"/>
                                        </p:tgtEl>
                                        <p:attrNameLst>
                                          <p:attrName>ppt_x</p:attrName>
                                        </p:attrNameLst>
                                      </p:cBhvr>
                                      <p:tavLst>
                                        <p:tav tm="0" fmla="#ppt_x+(cos(-2*pi*(1-$))*-#ppt_x-sin(-2*pi*(1-$))*(1-#ppt_y))*(1-$)">
                                          <p:val>
                                            <p:fltVal val="0"/>
                                          </p:val>
                                        </p:tav>
                                        <p:tav tm="100000">
                                          <p:val>
                                            <p:fltVal val="1"/>
                                          </p:val>
                                        </p:tav>
                                      </p:tavLst>
                                    </p:anim>
                                    <p:anim calcmode="lin" valueType="num">
                                      <p:cBhvr>
                                        <p:cTn id="29" dur="1000" fill="hold"/>
                                        <p:tgtEl>
                                          <p:spTgt spid="26626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66262"/>
                                        </p:tgtEl>
                                        <p:attrNameLst>
                                          <p:attrName>style.visibility</p:attrName>
                                        </p:attrNameLst>
                                      </p:cBhvr>
                                      <p:to>
                                        <p:strVal val="visible"/>
                                      </p:to>
                                    </p:set>
                                    <p:animEffect transition="in" filter="wipe(left)">
                                      <p:cBhvr>
                                        <p:cTn id="34" dur="500"/>
                                        <p:tgtEl>
                                          <p:spTgt spid="26626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ipe(up)">
                                      <p:cBhvr>
                                        <p:cTn id="39" dur="500"/>
                                        <p:tgtEl>
                                          <p:spTgt spid="9"/>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7" presetClass="entr" presetSubtype="2" fill="hold" nodeType="click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5000" fill="hold"/>
                                        <p:tgtEl>
                                          <p:spTgt spid="12"/>
                                        </p:tgtEl>
                                        <p:attrNameLst>
                                          <p:attrName>ppt_x</p:attrName>
                                        </p:attrNameLst>
                                      </p:cBhvr>
                                      <p:tavLst>
                                        <p:tav tm="0">
                                          <p:val>
                                            <p:strVal val="1+#ppt_w/2"/>
                                          </p:val>
                                        </p:tav>
                                        <p:tav tm="100000">
                                          <p:val>
                                            <p:strVal val="#ppt_x"/>
                                          </p:val>
                                        </p:tav>
                                      </p:tavLst>
                                    </p:anim>
                                    <p:anim calcmode="lin" valueType="num">
                                      <p:cBhvr additive="base">
                                        <p:cTn id="45" dur="50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blinds(horizontal)">
                                      <p:cBhvr>
                                        <p:cTn id="50"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2" grpId="0" animBg="1"/>
      <p:bldP spid="266263"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0"/>
          <p:cNvGrpSpPr>
            <a:grpSpLocks/>
          </p:cNvGrpSpPr>
          <p:nvPr/>
        </p:nvGrpSpPr>
        <p:grpSpPr bwMode="auto">
          <a:xfrm>
            <a:off x="1040229" y="85738"/>
            <a:ext cx="3962400" cy="685800"/>
            <a:chOff x="288" y="240"/>
            <a:chExt cx="2496" cy="432"/>
          </a:xfrm>
        </p:grpSpPr>
        <p:sp>
          <p:nvSpPr>
            <p:cNvPr id="54313" name="Oval 3"/>
            <p:cNvSpPr>
              <a:spLocks noChangeArrowheads="1"/>
            </p:cNvSpPr>
            <p:nvPr/>
          </p:nvSpPr>
          <p:spPr bwMode="auto">
            <a:xfrm>
              <a:off x="288" y="240"/>
              <a:ext cx="2352" cy="432"/>
            </a:xfrm>
            <a:prstGeom prst="ellipse">
              <a:avLst/>
            </a:prstGeom>
            <a:solidFill>
              <a:srgbClr val="B9F2FF"/>
            </a:solidFill>
            <a:ln w="12700" cap="sq">
              <a:noFill/>
              <a:round/>
              <a:headEnd type="none" w="sm" len="sm"/>
              <a:tailEnd type="none" w="sm" len="sm"/>
            </a:ln>
            <a:effectLst>
              <a:outerShdw dist="91581" dir="2021404" algn="ctr" rotWithShape="0">
                <a:srgbClr val="B2B2B2"/>
              </a:outerShdw>
            </a:effectLst>
          </p:spPr>
          <p:txBody>
            <a:bodyPr wrap="none" anchor="ctr"/>
            <a:lstStyle/>
            <a:p>
              <a:endParaRPr lang="zh-CN" altLang="en-US"/>
            </a:p>
          </p:txBody>
        </p:sp>
        <p:sp>
          <p:nvSpPr>
            <p:cNvPr id="54314" name="Text Box 4"/>
            <p:cNvSpPr txBox="1">
              <a:spLocks noChangeArrowheads="1"/>
            </p:cNvSpPr>
            <p:nvPr/>
          </p:nvSpPr>
          <p:spPr bwMode="auto">
            <a:xfrm>
              <a:off x="432" y="288"/>
              <a:ext cx="2352" cy="336"/>
            </a:xfrm>
            <a:prstGeom prst="rect">
              <a:avLst/>
            </a:prstGeom>
            <a:noFill/>
            <a:ln w="12700" cap="sq">
              <a:noFill/>
              <a:miter lim="800000"/>
              <a:headEnd type="none" w="sm" len="sm"/>
              <a:tailEnd type="none" w="sm" len="sm"/>
            </a:ln>
          </p:spPr>
          <p:txBody>
            <a:bodyPr>
              <a:spAutoFit/>
            </a:bodyPr>
            <a:lstStyle/>
            <a:p>
              <a:pPr eaLnBrk="1" hangingPunct="1"/>
              <a:r>
                <a:rPr kumimoji="1" lang="zh-CN" altLang="en-US" sz="2900" b="1" dirty="0">
                  <a:solidFill>
                    <a:schemeClr val="accent2"/>
                  </a:solidFill>
                  <a:ea typeface="幼圆" pitchFamily="49" charset="-122"/>
                </a:rPr>
                <a:t>4</a:t>
              </a:r>
              <a:r>
                <a:rPr kumimoji="1" lang="zh-CN" altLang="en-US" sz="2900" b="1" dirty="0">
                  <a:solidFill>
                    <a:schemeClr val="accent2"/>
                  </a:solidFill>
                  <a:latin typeface="幼圆" pitchFamily="49" charset="-122"/>
                  <a:ea typeface="幼圆" pitchFamily="49" charset="-122"/>
                </a:rPr>
                <a:t>.出栈算法</a:t>
              </a:r>
            </a:p>
          </p:txBody>
        </p:sp>
      </p:grpSp>
      <p:grpSp>
        <p:nvGrpSpPr>
          <p:cNvPr id="3" name="Group 5"/>
          <p:cNvGrpSpPr>
            <a:grpSpLocks/>
          </p:cNvGrpSpPr>
          <p:nvPr/>
        </p:nvGrpSpPr>
        <p:grpSpPr bwMode="auto">
          <a:xfrm>
            <a:off x="2682876" y="990602"/>
            <a:ext cx="6818313" cy="1147763"/>
            <a:chOff x="480" y="1056"/>
            <a:chExt cx="4295" cy="723"/>
          </a:xfrm>
        </p:grpSpPr>
        <p:sp>
          <p:nvSpPr>
            <p:cNvPr id="54293" name="Text Box 6"/>
            <p:cNvSpPr txBox="1">
              <a:spLocks noChangeArrowheads="1"/>
            </p:cNvSpPr>
            <p:nvPr/>
          </p:nvSpPr>
          <p:spPr bwMode="auto">
            <a:xfrm>
              <a:off x="480" y="1056"/>
              <a:ext cx="349" cy="252"/>
            </a:xfrm>
            <a:prstGeom prst="rect">
              <a:avLst/>
            </a:prstGeom>
            <a:noFill/>
            <a:ln w="12700" cap="sq">
              <a:noFill/>
              <a:miter lim="800000"/>
              <a:headEnd type="none" w="sm" len="sm"/>
              <a:tailEnd type="none" w="sm" len="sm"/>
            </a:ln>
          </p:spPr>
          <p:txBody>
            <a:bodyPr wrap="none">
              <a:spAutoFit/>
            </a:bodyPr>
            <a:lstStyle/>
            <a:p>
              <a:pPr eaLnBrk="1" hangingPunct="1"/>
              <a:r>
                <a:rPr kumimoji="1" lang="en-US" altLang="zh-CN" sz="2000" b="1" dirty="0">
                  <a:solidFill>
                    <a:srgbClr val="FF3300"/>
                  </a:solidFill>
                </a:rPr>
                <a:t>Top</a:t>
              </a:r>
              <a:endParaRPr kumimoji="1" lang="en-US" altLang="zh-CN" sz="2400" dirty="0">
                <a:solidFill>
                  <a:srgbClr val="FF3300"/>
                </a:solidFill>
              </a:endParaRPr>
            </a:p>
          </p:txBody>
        </p:sp>
        <p:sp>
          <p:nvSpPr>
            <p:cNvPr id="54294" name="Line 7"/>
            <p:cNvSpPr>
              <a:spLocks noChangeShapeType="1"/>
            </p:cNvSpPr>
            <p:nvPr/>
          </p:nvSpPr>
          <p:spPr bwMode="auto">
            <a:xfrm>
              <a:off x="1884" y="1630"/>
              <a:ext cx="336" cy="0"/>
            </a:xfrm>
            <a:prstGeom prst="line">
              <a:avLst/>
            </a:prstGeom>
            <a:noFill/>
            <a:ln w="15875" cap="sq">
              <a:solidFill>
                <a:schemeClr val="tx1"/>
              </a:solidFill>
              <a:round/>
              <a:headEnd type="none" w="sm" len="sm"/>
              <a:tailEnd type="triangle" w="med" len="med"/>
            </a:ln>
          </p:spPr>
          <p:txBody>
            <a:bodyPr wrap="none" anchor="ctr"/>
            <a:lstStyle/>
            <a:p>
              <a:endParaRPr lang="zh-CN" altLang="en-US"/>
            </a:p>
          </p:txBody>
        </p:sp>
        <p:sp>
          <p:nvSpPr>
            <p:cNvPr id="54295" name="Line 8"/>
            <p:cNvSpPr>
              <a:spLocks noChangeShapeType="1"/>
            </p:cNvSpPr>
            <p:nvPr/>
          </p:nvSpPr>
          <p:spPr bwMode="auto">
            <a:xfrm>
              <a:off x="2760" y="1618"/>
              <a:ext cx="432" cy="0"/>
            </a:xfrm>
            <a:prstGeom prst="line">
              <a:avLst/>
            </a:prstGeom>
            <a:noFill/>
            <a:ln w="15875" cap="sq">
              <a:solidFill>
                <a:schemeClr val="tx1"/>
              </a:solidFill>
              <a:round/>
              <a:headEnd type="none" w="sm" len="sm"/>
              <a:tailEnd type="triangle" w="med" len="med"/>
            </a:ln>
          </p:spPr>
          <p:txBody>
            <a:bodyPr wrap="none" anchor="ctr"/>
            <a:lstStyle/>
            <a:p>
              <a:endParaRPr lang="zh-CN" altLang="en-US"/>
            </a:p>
          </p:txBody>
        </p:sp>
        <p:sp>
          <p:nvSpPr>
            <p:cNvPr id="54296" name="Line 9"/>
            <p:cNvSpPr>
              <a:spLocks noChangeShapeType="1"/>
            </p:cNvSpPr>
            <p:nvPr/>
          </p:nvSpPr>
          <p:spPr bwMode="auto">
            <a:xfrm>
              <a:off x="3840" y="1630"/>
              <a:ext cx="336" cy="0"/>
            </a:xfrm>
            <a:prstGeom prst="line">
              <a:avLst/>
            </a:prstGeom>
            <a:noFill/>
            <a:ln w="15875" cap="sq">
              <a:solidFill>
                <a:srgbClr val="003300"/>
              </a:solidFill>
              <a:round/>
              <a:headEnd type="none" w="sm" len="sm"/>
              <a:tailEnd type="triangle" w="med" len="med"/>
            </a:ln>
          </p:spPr>
          <p:txBody>
            <a:bodyPr wrap="none" anchor="ctr"/>
            <a:lstStyle/>
            <a:p>
              <a:endParaRPr lang="zh-CN" altLang="en-US"/>
            </a:p>
          </p:txBody>
        </p:sp>
        <p:sp>
          <p:nvSpPr>
            <p:cNvPr id="54297" name="Text Box 10"/>
            <p:cNvSpPr txBox="1">
              <a:spLocks noChangeArrowheads="1"/>
            </p:cNvSpPr>
            <p:nvPr/>
          </p:nvSpPr>
          <p:spPr bwMode="auto">
            <a:xfrm>
              <a:off x="3312" y="1426"/>
              <a:ext cx="516" cy="291"/>
            </a:xfrm>
            <a:prstGeom prst="rect">
              <a:avLst/>
            </a:prstGeom>
            <a:noFill/>
            <a:ln w="12700" cap="sq">
              <a:noFill/>
              <a:miter lim="800000"/>
              <a:headEnd type="none" w="sm" len="sm"/>
              <a:tailEnd type="none" w="sm" len="sm"/>
            </a:ln>
          </p:spPr>
          <p:txBody>
            <a:bodyPr wrap="none">
              <a:spAutoFit/>
            </a:bodyPr>
            <a:lstStyle/>
            <a:p>
              <a:pPr eaLnBrk="1" hangingPunct="1"/>
              <a:r>
                <a:rPr kumimoji="1" lang="zh-CN" altLang="en-US" sz="2400" i="1" dirty="0"/>
                <a:t> ......  </a:t>
              </a:r>
            </a:p>
          </p:txBody>
        </p:sp>
        <p:grpSp>
          <p:nvGrpSpPr>
            <p:cNvPr id="4" name="Group 11"/>
            <p:cNvGrpSpPr>
              <a:grpSpLocks/>
            </p:cNvGrpSpPr>
            <p:nvPr/>
          </p:nvGrpSpPr>
          <p:grpSpPr bwMode="auto">
            <a:xfrm>
              <a:off x="1392" y="1488"/>
              <a:ext cx="576" cy="250"/>
              <a:chOff x="1392" y="1488"/>
              <a:chExt cx="576" cy="250"/>
            </a:xfrm>
          </p:grpSpPr>
          <p:sp>
            <p:nvSpPr>
              <p:cNvPr id="54311" name="Rectangle 12"/>
              <p:cNvSpPr>
                <a:spLocks noChangeArrowheads="1"/>
              </p:cNvSpPr>
              <p:nvPr/>
            </p:nvSpPr>
            <p:spPr bwMode="auto">
              <a:xfrm>
                <a:off x="1392" y="1488"/>
                <a:ext cx="432" cy="25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54312" name="Rectangle 13"/>
              <p:cNvSpPr>
                <a:spLocks noChangeArrowheads="1"/>
              </p:cNvSpPr>
              <p:nvPr/>
            </p:nvSpPr>
            <p:spPr bwMode="auto">
              <a:xfrm>
                <a:off x="1824" y="1488"/>
                <a:ext cx="144" cy="25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grpSp>
        <p:grpSp>
          <p:nvGrpSpPr>
            <p:cNvPr id="5" name="Group 14"/>
            <p:cNvGrpSpPr>
              <a:grpSpLocks/>
            </p:cNvGrpSpPr>
            <p:nvPr/>
          </p:nvGrpSpPr>
          <p:grpSpPr bwMode="auto">
            <a:xfrm>
              <a:off x="2256" y="1488"/>
              <a:ext cx="576" cy="250"/>
              <a:chOff x="1392" y="1488"/>
              <a:chExt cx="576" cy="250"/>
            </a:xfrm>
          </p:grpSpPr>
          <p:sp>
            <p:nvSpPr>
              <p:cNvPr id="54309" name="Rectangle 15"/>
              <p:cNvSpPr>
                <a:spLocks noChangeArrowheads="1"/>
              </p:cNvSpPr>
              <p:nvPr/>
            </p:nvSpPr>
            <p:spPr bwMode="auto">
              <a:xfrm>
                <a:off x="1392" y="1488"/>
                <a:ext cx="432" cy="25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54310" name="Rectangle 16"/>
              <p:cNvSpPr>
                <a:spLocks noChangeArrowheads="1"/>
              </p:cNvSpPr>
              <p:nvPr/>
            </p:nvSpPr>
            <p:spPr bwMode="auto">
              <a:xfrm>
                <a:off x="1824" y="1488"/>
                <a:ext cx="144" cy="25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grpSp>
        <p:grpSp>
          <p:nvGrpSpPr>
            <p:cNvPr id="6" name="Group 17"/>
            <p:cNvGrpSpPr>
              <a:grpSpLocks/>
            </p:cNvGrpSpPr>
            <p:nvPr/>
          </p:nvGrpSpPr>
          <p:grpSpPr bwMode="auto">
            <a:xfrm>
              <a:off x="4176" y="1488"/>
              <a:ext cx="576" cy="250"/>
              <a:chOff x="1392" y="1488"/>
              <a:chExt cx="576" cy="250"/>
            </a:xfrm>
          </p:grpSpPr>
          <p:sp>
            <p:nvSpPr>
              <p:cNvPr id="54307" name="Rectangle 18"/>
              <p:cNvSpPr>
                <a:spLocks noChangeArrowheads="1"/>
              </p:cNvSpPr>
              <p:nvPr/>
            </p:nvSpPr>
            <p:spPr bwMode="auto">
              <a:xfrm>
                <a:off x="1392" y="1488"/>
                <a:ext cx="432" cy="25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54308" name="Rectangle 19"/>
              <p:cNvSpPr>
                <a:spLocks noChangeArrowheads="1"/>
              </p:cNvSpPr>
              <p:nvPr/>
            </p:nvSpPr>
            <p:spPr bwMode="auto">
              <a:xfrm>
                <a:off x="1824" y="1488"/>
                <a:ext cx="144" cy="25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grpSp>
        <p:sp>
          <p:nvSpPr>
            <p:cNvPr id="54301" name="Rectangle 20"/>
            <p:cNvSpPr>
              <a:spLocks noChangeArrowheads="1"/>
            </p:cNvSpPr>
            <p:nvPr/>
          </p:nvSpPr>
          <p:spPr bwMode="auto">
            <a:xfrm>
              <a:off x="4584" y="1488"/>
              <a:ext cx="191" cy="291"/>
            </a:xfrm>
            <a:prstGeom prst="rect">
              <a:avLst/>
            </a:prstGeom>
            <a:noFill/>
            <a:ln w="12700" cap="sq">
              <a:noFill/>
              <a:miter lim="800000"/>
              <a:headEnd type="none" w="sm" len="sm"/>
              <a:tailEnd type="none" w="sm" len="sm"/>
            </a:ln>
          </p:spPr>
          <p:txBody>
            <a:bodyPr wrap="none">
              <a:spAutoFit/>
            </a:bodyPr>
            <a:lstStyle/>
            <a:p>
              <a:r>
                <a:rPr kumimoji="1" lang="zh-CN" altLang="en-US" sz="2400" dirty="0">
                  <a:ea typeface="宋体" charset="-122"/>
                </a:rPr>
                <a:t>^</a:t>
              </a:r>
            </a:p>
          </p:txBody>
        </p:sp>
        <p:grpSp>
          <p:nvGrpSpPr>
            <p:cNvPr id="7" name="Group 21"/>
            <p:cNvGrpSpPr>
              <a:grpSpLocks/>
            </p:cNvGrpSpPr>
            <p:nvPr/>
          </p:nvGrpSpPr>
          <p:grpSpPr bwMode="auto">
            <a:xfrm>
              <a:off x="540" y="1488"/>
              <a:ext cx="576" cy="250"/>
              <a:chOff x="1392" y="1488"/>
              <a:chExt cx="576" cy="250"/>
            </a:xfrm>
          </p:grpSpPr>
          <p:sp>
            <p:nvSpPr>
              <p:cNvPr id="54305" name="Rectangle 22"/>
              <p:cNvSpPr>
                <a:spLocks noChangeArrowheads="1"/>
              </p:cNvSpPr>
              <p:nvPr/>
            </p:nvSpPr>
            <p:spPr bwMode="auto">
              <a:xfrm>
                <a:off x="1392" y="1488"/>
                <a:ext cx="432" cy="25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54306" name="Rectangle 23"/>
              <p:cNvSpPr>
                <a:spLocks noChangeArrowheads="1"/>
              </p:cNvSpPr>
              <p:nvPr/>
            </p:nvSpPr>
            <p:spPr bwMode="auto">
              <a:xfrm>
                <a:off x="1824" y="1488"/>
                <a:ext cx="144" cy="25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grpSp>
        <p:sp>
          <p:nvSpPr>
            <p:cNvPr id="54303" name="Line 24"/>
            <p:cNvSpPr>
              <a:spLocks noChangeShapeType="1"/>
            </p:cNvSpPr>
            <p:nvPr/>
          </p:nvSpPr>
          <p:spPr bwMode="auto">
            <a:xfrm>
              <a:off x="1032" y="1620"/>
              <a:ext cx="336" cy="0"/>
            </a:xfrm>
            <a:prstGeom prst="line">
              <a:avLst/>
            </a:prstGeom>
            <a:noFill/>
            <a:ln w="15875" cap="sq">
              <a:solidFill>
                <a:schemeClr val="tx1"/>
              </a:solidFill>
              <a:round/>
              <a:headEnd type="none" w="sm" len="sm"/>
              <a:tailEnd type="triangle" w="med" len="med"/>
            </a:ln>
          </p:spPr>
          <p:txBody>
            <a:bodyPr wrap="none" anchor="ctr"/>
            <a:lstStyle/>
            <a:p>
              <a:endParaRPr lang="zh-CN" altLang="en-US"/>
            </a:p>
          </p:txBody>
        </p:sp>
        <p:sp>
          <p:nvSpPr>
            <p:cNvPr id="54304" name="Line 25"/>
            <p:cNvSpPr>
              <a:spLocks noChangeShapeType="1"/>
            </p:cNvSpPr>
            <p:nvPr/>
          </p:nvSpPr>
          <p:spPr bwMode="auto">
            <a:xfrm>
              <a:off x="624" y="1296"/>
              <a:ext cx="48" cy="144"/>
            </a:xfrm>
            <a:prstGeom prst="line">
              <a:avLst/>
            </a:prstGeom>
            <a:noFill/>
            <a:ln w="19050" cap="sq">
              <a:solidFill>
                <a:srgbClr val="FF0000"/>
              </a:solidFill>
              <a:round/>
              <a:headEnd type="none" w="sm" len="sm"/>
              <a:tailEnd type="triangle" w="sm" len="sm"/>
            </a:ln>
          </p:spPr>
          <p:txBody>
            <a:bodyPr/>
            <a:lstStyle/>
            <a:p>
              <a:endParaRPr lang="zh-CN" altLang="en-US"/>
            </a:p>
          </p:txBody>
        </p:sp>
      </p:grpSp>
      <p:sp>
        <p:nvSpPr>
          <p:cNvPr id="220186" name="Text Box 26"/>
          <p:cNvSpPr txBox="1">
            <a:spLocks noChangeArrowheads="1"/>
          </p:cNvSpPr>
          <p:nvPr/>
        </p:nvSpPr>
        <p:spPr bwMode="auto">
          <a:xfrm>
            <a:off x="2682875" y="1955801"/>
            <a:ext cx="338554" cy="461665"/>
          </a:xfrm>
          <a:prstGeom prst="rect">
            <a:avLst/>
          </a:prstGeom>
          <a:noFill/>
          <a:ln w="12700" cap="sq">
            <a:noFill/>
            <a:miter lim="800000"/>
            <a:headEnd type="none" w="sm" len="sm"/>
            <a:tailEnd type="none" w="sm" len="sm"/>
          </a:ln>
        </p:spPr>
        <p:txBody>
          <a:bodyPr wrap="none">
            <a:spAutoFit/>
          </a:bodyPr>
          <a:lstStyle/>
          <a:p>
            <a:r>
              <a:rPr lang="en-US" altLang="zh-CN" sz="2400" b="1">
                <a:solidFill>
                  <a:srgbClr val="0000CC"/>
                </a:solidFill>
              </a:rPr>
              <a:t>p</a:t>
            </a:r>
          </a:p>
        </p:txBody>
      </p:sp>
      <p:grpSp>
        <p:nvGrpSpPr>
          <p:cNvPr id="8" name="Group 27"/>
          <p:cNvGrpSpPr>
            <a:grpSpLocks/>
          </p:cNvGrpSpPr>
          <p:nvPr/>
        </p:nvGrpSpPr>
        <p:grpSpPr bwMode="auto">
          <a:xfrm>
            <a:off x="2701925" y="1277938"/>
            <a:ext cx="1428750" cy="381000"/>
            <a:chOff x="540" y="1248"/>
            <a:chExt cx="900" cy="240"/>
          </a:xfrm>
        </p:grpSpPr>
        <p:sp>
          <p:nvSpPr>
            <p:cNvPr id="54291" name="Rectangle 28"/>
            <p:cNvSpPr>
              <a:spLocks noChangeArrowheads="1"/>
            </p:cNvSpPr>
            <p:nvPr/>
          </p:nvSpPr>
          <p:spPr bwMode="auto">
            <a:xfrm>
              <a:off x="540" y="1296"/>
              <a:ext cx="240" cy="192"/>
            </a:xfrm>
            <a:prstGeom prst="rect">
              <a:avLst/>
            </a:prstGeom>
            <a:solidFill>
              <a:srgbClr val="FFFFFF"/>
            </a:solidFill>
            <a:ln w="12700" cap="sq">
              <a:noFill/>
              <a:miter lim="800000"/>
              <a:headEnd type="none" w="sm" len="sm"/>
              <a:tailEnd type="none" w="sm" len="sm"/>
            </a:ln>
          </p:spPr>
          <p:txBody>
            <a:bodyPr wrap="none" anchor="ctr"/>
            <a:lstStyle/>
            <a:p>
              <a:endParaRPr lang="zh-CN" altLang="en-US"/>
            </a:p>
          </p:txBody>
        </p:sp>
        <p:sp>
          <p:nvSpPr>
            <p:cNvPr id="54292" name="Line 29"/>
            <p:cNvSpPr>
              <a:spLocks noChangeShapeType="1"/>
            </p:cNvSpPr>
            <p:nvPr/>
          </p:nvSpPr>
          <p:spPr bwMode="auto">
            <a:xfrm flipH="1" flipV="1">
              <a:off x="768" y="1248"/>
              <a:ext cx="672" cy="192"/>
            </a:xfrm>
            <a:prstGeom prst="line">
              <a:avLst/>
            </a:prstGeom>
            <a:noFill/>
            <a:ln w="19050">
              <a:solidFill>
                <a:srgbClr val="FF0000"/>
              </a:solidFill>
              <a:round/>
              <a:headEnd type="triangle" w="med" len="med"/>
              <a:tailEnd type="none" w="sm" len="sm"/>
            </a:ln>
          </p:spPr>
          <p:txBody>
            <a:bodyPr wrap="none" anchor="ctr"/>
            <a:lstStyle/>
            <a:p>
              <a:endParaRPr lang="zh-CN" altLang="en-US"/>
            </a:p>
          </p:txBody>
        </p:sp>
      </p:grpSp>
      <p:sp>
        <p:nvSpPr>
          <p:cNvPr id="220190" name="Rectangle 30"/>
          <p:cNvSpPr>
            <a:spLocks noChangeArrowheads="1"/>
          </p:cNvSpPr>
          <p:nvPr/>
        </p:nvSpPr>
        <p:spPr bwMode="auto">
          <a:xfrm>
            <a:off x="2639616" y="1628800"/>
            <a:ext cx="1447800" cy="514350"/>
          </a:xfrm>
          <a:prstGeom prst="rect">
            <a:avLst/>
          </a:prstGeom>
          <a:solidFill>
            <a:srgbClr val="FFFFFF"/>
          </a:solidFill>
          <a:ln w="12700" cap="sq">
            <a:noFill/>
            <a:miter lim="800000"/>
            <a:headEnd type="none" w="sm" len="sm"/>
            <a:tailEnd type="none" w="sm" len="sm"/>
          </a:ln>
        </p:spPr>
        <p:txBody>
          <a:bodyPr wrap="none" anchor="ctr"/>
          <a:lstStyle/>
          <a:p>
            <a:endParaRPr lang="zh-CN" altLang="en-US"/>
          </a:p>
        </p:txBody>
      </p:sp>
      <p:grpSp>
        <p:nvGrpSpPr>
          <p:cNvPr id="11" name="Group 51"/>
          <p:cNvGrpSpPr>
            <a:grpSpLocks/>
          </p:cNvGrpSpPr>
          <p:nvPr/>
        </p:nvGrpSpPr>
        <p:grpSpPr bwMode="auto">
          <a:xfrm>
            <a:off x="6858001" y="228600"/>
            <a:ext cx="3462338" cy="838200"/>
            <a:chOff x="3360" y="192"/>
            <a:chExt cx="2181" cy="528"/>
          </a:xfrm>
        </p:grpSpPr>
        <p:sp>
          <p:nvSpPr>
            <p:cNvPr id="54285" name="AutoShape 38"/>
            <p:cNvSpPr>
              <a:spLocks noChangeArrowheads="1"/>
            </p:cNvSpPr>
            <p:nvPr/>
          </p:nvSpPr>
          <p:spPr bwMode="auto">
            <a:xfrm>
              <a:off x="3360" y="192"/>
              <a:ext cx="2064" cy="528"/>
            </a:xfrm>
            <a:prstGeom prst="cloudCallout">
              <a:avLst>
                <a:gd name="adj1" fmla="val -51403"/>
                <a:gd name="adj2" fmla="val 90907"/>
              </a:avLst>
            </a:prstGeom>
            <a:noFill/>
            <a:ln w="57150" cap="sq">
              <a:solidFill>
                <a:srgbClr val="33CCCC"/>
              </a:solidFill>
              <a:round/>
              <a:headEnd type="none" w="sm" len="sm"/>
              <a:tailEnd type="none" w="sm" len="sm"/>
            </a:ln>
          </p:spPr>
          <p:txBody>
            <a:bodyPr/>
            <a:lstStyle/>
            <a:p>
              <a:pPr algn="ctr"/>
              <a:endParaRPr lang="zh-CN" altLang="en-US"/>
            </a:p>
          </p:txBody>
        </p:sp>
        <p:sp>
          <p:nvSpPr>
            <p:cNvPr id="54286" name="Text Box 39"/>
            <p:cNvSpPr txBox="1">
              <a:spLocks noChangeArrowheads="1"/>
            </p:cNvSpPr>
            <p:nvPr/>
          </p:nvSpPr>
          <p:spPr bwMode="auto">
            <a:xfrm>
              <a:off x="3470" y="303"/>
              <a:ext cx="2071" cy="291"/>
            </a:xfrm>
            <a:prstGeom prst="rect">
              <a:avLst/>
            </a:prstGeom>
            <a:noFill/>
            <a:ln w="12700" cap="sq">
              <a:noFill/>
              <a:miter lim="800000"/>
              <a:headEnd type="none" w="sm" len="sm"/>
              <a:tailEnd type="none" w="sm" len="sm"/>
            </a:ln>
            <a:effectLst>
              <a:outerShdw dist="17961" dir="2700000" algn="ctr" rotWithShape="0">
                <a:schemeClr val="bg1"/>
              </a:outerShdw>
            </a:effectLst>
          </p:spPr>
          <p:txBody>
            <a:bodyPr>
              <a:spAutoFit/>
            </a:bodyPr>
            <a:lstStyle/>
            <a:p>
              <a:r>
                <a:rPr lang="zh-CN" altLang="en-US" sz="2400" b="1" dirty="0">
                  <a:solidFill>
                    <a:srgbClr val="FF3300"/>
                  </a:solidFill>
                  <a:ea typeface="幼圆" pitchFamily="49" charset="-122"/>
                </a:rPr>
                <a:t>仍然要判断栈空！</a:t>
              </a:r>
            </a:p>
          </p:txBody>
        </p:sp>
      </p:grpSp>
      <p:grpSp>
        <p:nvGrpSpPr>
          <p:cNvPr id="43" name="组合 42"/>
          <p:cNvGrpSpPr/>
          <p:nvPr/>
        </p:nvGrpSpPr>
        <p:grpSpPr>
          <a:xfrm>
            <a:off x="1905000" y="2362200"/>
            <a:ext cx="8574088" cy="4402138"/>
            <a:chOff x="381000" y="2362200"/>
            <a:chExt cx="8574088" cy="4402138"/>
          </a:xfrm>
        </p:grpSpPr>
        <p:grpSp>
          <p:nvGrpSpPr>
            <p:cNvPr id="9" name="Group 52"/>
            <p:cNvGrpSpPr>
              <a:grpSpLocks/>
            </p:cNvGrpSpPr>
            <p:nvPr/>
          </p:nvGrpSpPr>
          <p:grpSpPr bwMode="auto">
            <a:xfrm>
              <a:off x="381000" y="2819400"/>
              <a:ext cx="8229600" cy="3944938"/>
              <a:chOff x="240" y="1776"/>
              <a:chExt cx="5184" cy="2485"/>
            </a:xfrm>
          </p:grpSpPr>
          <p:sp>
            <p:nvSpPr>
              <p:cNvPr id="54289" name="Rectangle 32"/>
              <p:cNvSpPr>
                <a:spLocks noChangeArrowheads="1"/>
              </p:cNvSpPr>
              <p:nvPr/>
            </p:nvSpPr>
            <p:spPr bwMode="auto">
              <a:xfrm>
                <a:off x="240" y="1776"/>
                <a:ext cx="5184" cy="2352"/>
              </a:xfrm>
              <a:prstGeom prst="rect">
                <a:avLst/>
              </a:prstGeom>
              <a:solidFill>
                <a:srgbClr val="FFFFD5"/>
              </a:solidFill>
              <a:ln w="12700" cap="sq">
                <a:noFill/>
                <a:miter lim="800000"/>
                <a:headEnd type="none" w="sm" len="sm"/>
                <a:tailEnd type="none" w="sm" len="sm"/>
              </a:ln>
              <a:effectLst>
                <a:outerShdw dist="198380" dir="2388334" algn="ctr" rotWithShape="0">
                  <a:srgbClr val="B2B2B2"/>
                </a:outerShdw>
              </a:effectLst>
            </p:spPr>
            <p:txBody>
              <a:bodyPr wrap="none" anchor="ctr"/>
              <a:lstStyle/>
              <a:p>
                <a:endParaRPr lang="zh-CN" altLang="en-US"/>
              </a:p>
            </p:txBody>
          </p:sp>
          <p:sp>
            <p:nvSpPr>
              <p:cNvPr id="54290" name="Text Box 33"/>
              <p:cNvSpPr txBox="1">
                <a:spLocks noChangeArrowheads="1"/>
              </p:cNvSpPr>
              <p:nvPr/>
            </p:nvSpPr>
            <p:spPr bwMode="auto">
              <a:xfrm>
                <a:off x="384" y="1942"/>
                <a:ext cx="4896" cy="2319"/>
              </a:xfrm>
              <a:prstGeom prst="rect">
                <a:avLst/>
              </a:prstGeom>
              <a:noFill/>
              <a:ln w="12700" cap="sq">
                <a:noFill/>
                <a:miter lim="800000"/>
                <a:headEnd type="none" w="sm" len="sm"/>
                <a:tailEnd type="none" w="sm" len="sm"/>
              </a:ln>
            </p:spPr>
            <p:txBody>
              <a:bodyPr>
                <a:spAutoFit/>
              </a:bodyPr>
              <a:lstStyle/>
              <a:p>
                <a:pPr eaLnBrk="1" hangingPunct="1">
                  <a:lnSpc>
                    <a:spcPct val="70000"/>
                  </a:lnSpc>
                </a:pPr>
                <a:r>
                  <a:rPr kumimoji="1" lang="en-US" altLang="zh-CN" sz="2500" b="1" dirty="0" err="1">
                    <a:solidFill>
                      <a:srgbClr val="003399"/>
                    </a:solidFill>
                  </a:rPr>
                  <a:t>ElemType</a:t>
                </a:r>
                <a:r>
                  <a:rPr kumimoji="1" lang="en-US" altLang="zh-CN" sz="2500" b="1" dirty="0">
                    <a:solidFill>
                      <a:srgbClr val="003399"/>
                    </a:solidFill>
                  </a:rPr>
                  <a:t>  pop( )</a:t>
                </a:r>
              </a:p>
              <a:p>
                <a:pPr eaLnBrk="1" hangingPunct="1">
                  <a:lnSpc>
                    <a:spcPct val="75000"/>
                  </a:lnSpc>
                </a:pPr>
                <a:r>
                  <a:rPr kumimoji="1" lang="en-US" altLang="zh-CN" sz="2500" b="1" dirty="0">
                    <a:solidFill>
                      <a:srgbClr val="003399"/>
                    </a:solidFill>
                  </a:rPr>
                  <a:t>{    </a:t>
                </a:r>
                <a:r>
                  <a:rPr kumimoji="1" lang="en-US" altLang="zh-CN" sz="2500" b="1" dirty="0" err="1">
                    <a:solidFill>
                      <a:srgbClr val="003399"/>
                    </a:solidFill>
                  </a:rPr>
                  <a:t>Nodeptr</a:t>
                </a:r>
                <a:r>
                  <a:rPr kumimoji="1" lang="en-US" altLang="zh-CN" sz="2500" b="1" dirty="0">
                    <a:solidFill>
                      <a:srgbClr val="003399"/>
                    </a:solidFill>
                  </a:rPr>
                  <a:t> p;</a:t>
                </a:r>
              </a:p>
              <a:p>
                <a:pPr eaLnBrk="1" hangingPunct="1">
                  <a:lnSpc>
                    <a:spcPct val="75000"/>
                  </a:lnSpc>
                </a:pPr>
                <a:r>
                  <a:rPr kumimoji="1" lang="en-US" altLang="zh-CN" sz="2500" b="1" dirty="0">
                    <a:solidFill>
                      <a:srgbClr val="003399"/>
                    </a:solidFill>
                  </a:rPr>
                  <a:t>      </a:t>
                </a:r>
                <a:r>
                  <a:rPr kumimoji="1" lang="en-US" altLang="zh-CN" sz="2500" b="1" dirty="0" err="1">
                    <a:solidFill>
                      <a:srgbClr val="003399"/>
                    </a:solidFill>
                  </a:rPr>
                  <a:t>ElemType</a:t>
                </a:r>
                <a:r>
                  <a:rPr kumimoji="1" lang="en-US" altLang="zh-CN" sz="2500" b="1" dirty="0">
                    <a:solidFill>
                      <a:srgbClr val="003399"/>
                    </a:solidFill>
                  </a:rPr>
                  <a:t> item;</a:t>
                </a:r>
              </a:p>
              <a:p>
                <a:pPr eaLnBrk="1" hangingPunct="1">
                  <a:lnSpc>
                    <a:spcPct val="75000"/>
                  </a:lnSpc>
                </a:pPr>
                <a:r>
                  <a:rPr lang="zh-CN" altLang="en-US" sz="2500" b="1" dirty="0">
                    <a:solidFill>
                      <a:srgbClr val="003399"/>
                    </a:solidFill>
                  </a:rPr>
                  <a:t>     </a:t>
                </a:r>
                <a:r>
                  <a:rPr lang="en-US" altLang="zh-CN" sz="2500" b="1" dirty="0">
                    <a:solidFill>
                      <a:srgbClr val="003399"/>
                    </a:solidFill>
                  </a:rPr>
                  <a:t>if ( </a:t>
                </a:r>
                <a:r>
                  <a:rPr lang="en-US" altLang="zh-CN" sz="2500" b="1" dirty="0" err="1">
                    <a:solidFill>
                      <a:srgbClr val="003399"/>
                    </a:solidFill>
                  </a:rPr>
                  <a:t>isEmpty</a:t>
                </a:r>
                <a:r>
                  <a:rPr lang="en-US" altLang="zh-CN" sz="2500" b="1" dirty="0">
                    <a:solidFill>
                      <a:srgbClr val="003399"/>
                    </a:solidFill>
                  </a:rPr>
                  <a:t>() ) </a:t>
                </a:r>
              </a:p>
              <a:p>
                <a:pPr eaLnBrk="1" hangingPunct="1">
                  <a:lnSpc>
                    <a:spcPct val="75000"/>
                  </a:lnSpc>
                </a:pPr>
                <a:r>
                  <a:rPr lang="en-US" altLang="zh-CN" sz="2500" b="1" dirty="0">
                    <a:solidFill>
                      <a:srgbClr val="003399"/>
                    </a:solidFill>
                  </a:rPr>
                  <a:t>           Error(“Empty Stack!”);                      </a:t>
                </a:r>
                <a:r>
                  <a:rPr lang="en-US" altLang="zh-CN" sz="2200" b="1" dirty="0">
                    <a:solidFill>
                      <a:srgbClr val="003399"/>
                    </a:solidFill>
                  </a:rPr>
                  <a:t>/* </a:t>
                </a:r>
                <a:r>
                  <a:rPr lang="zh-CN" altLang="en-US" sz="2200" b="1" dirty="0">
                    <a:solidFill>
                      <a:srgbClr val="003399"/>
                    </a:solidFill>
                    <a:ea typeface="幼圆" pitchFamily="49" charset="-122"/>
                  </a:rPr>
                  <a:t>栈中无元素</a:t>
                </a:r>
                <a:r>
                  <a:rPr lang="zh-CN" altLang="en-US" sz="2200" b="1" dirty="0">
                    <a:solidFill>
                      <a:srgbClr val="003399"/>
                    </a:solidFill>
                  </a:rPr>
                  <a:t>*/</a:t>
                </a:r>
                <a:endParaRPr lang="en-US" altLang="zh-CN" sz="2500" b="1" dirty="0">
                  <a:solidFill>
                    <a:srgbClr val="003399"/>
                  </a:solidFill>
                </a:endParaRPr>
              </a:p>
              <a:p>
                <a:pPr eaLnBrk="1" hangingPunct="1">
                  <a:lnSpc>
                    <a:spcPct val="75000"/>
                  </a:lnSpc>
                </a:pPr>
                <a:r>
                  <a:rPr lang="en-US" altLang="zh-CN" sz="2500" b="1" dirty="0">
                    <a:solidFill>
                      <a:srgbClr val="003399"/>
                    </a:solidFill>
                  </a:rPr>
                  <a:t>     else{</a:t>
                </a:r>
              </a:p>
              <a:p>
                <a:pPr eaLnBrk="1" hangingPunct="1">
                  <a:lnSpc>
                    <a:spcPct val="75000"/>
                  </a:lnSpc>
                </a:pPr>
                <a:r>
                  <a:rPr lang="en-US" altLang="zh-CN" sz="2500" b="1" dirty="0">
                    <a:solidFill>
                      <a:srgbClr val="FF0000"/>
                    </a:solidFill>
                  </a:rPr>
                  <a:t>           p=Top;                          </a:t>
                </a:r>
                <a:r>
                  <a:rPr lang="en-US" altLang="zh-CN" sz="2200" b="1" dirty="0">
                    <a:solidFill>
                      <a:srgbClr val="FF0000"/>
                    </a:solidFill>
                  </a:rPr>
                  <a:t>/* </a:t>
                </a:r>
                <a:r>
                  <a:rPr lang="zh-CN" altLang="en-US" sz="2200" b="1" dirty="0">
                    <a:solidFill>
                      <a:srgbClr val="FF0000"/>
                    </a:solidFill>
                    <a:ea typeface="幼圆" pitchFamily="49" charset="-122"/>
                  </a:rPr>
                  <a:t>暂时保存栈顶结点的地址</a:t>
                </a:r>
                <a:r>
                  <a:rPr lang="zh-CN" altLang="en-US" sz="2200" b="1" dirty="0">
                    <a:solidFill>
                      <a:srgbClr val="FF0000"/>
                    </a:solidFill>
                  </a:rPr>
                  <a:t>*/</a:t>
                </a:r>
                <a:r>
                  <a:rPr lang="zh-CN" altLang="en-US" sz="2300" b="1" dirty="0">
                    <a:solidFill>
                      <a:srgbClr val="FF0000"/>
                    </a:solidFill>
                  </a:rPr>
                  <a:t>  </a:t>
                </a:r>
              </a:p>
              <a:p>
                <a:pPr eaLnBrk="1" hangingPunct="1">
                  <a:lnSpc>
                    <a:spcPct val="75000"/>
                  </a:lnSpc>
                </a:pPr>
                <a:r>
                  <a:rPr lang="zh-CN" altLang="en-US" sz="2500" b="1" dirty="0">
                    <a:solidFill>
                      <a:srgbClr val="FF0000"/>
                    </a:solidFill>
                  </a:rPr>
                  <a:t> </a:t>
                </a:r>
                <a:r>
                  <a:rPr lang="zh-CN" altLang="zh-CN" sz="2500" b="1" dirty="0">
                    <a:solidFill>
                      <a:srgbClr val="FF0000"/>
                    </a:solidFill>
                  </a:rPr>
                  <a:t>          </a:t>
                </a:r>
                <a:r>
                  <a:rPr lang="en-US" altLang="zh-CN" sz="2500" b="1" dirty="0">
                    <a:solidFill>
                      <a:srgbClr val="FF0000"/>
                    </a:solidFill>
                  </a:rPr>
                  <a:t>item=Top</a:t>
                </a:r>
                <a:r>
                  <a:rPr lang="en-US" altLang="zh-CN" sz="2500" b="1" dirty="0">
                    <a:solidFill>
                      <a:srgbClr val="FF0000"/>
                    </a:solidFill>
                    <a:latin typeface="宋体" charset="-122"/>
                    <a:ea typeface="宋体" charset="-122"/>
                  </a:rPr>
                  <a:t>-</a:t>
                </a:r>
                <a:r>
                  <a:rPr lang="en-US" altLang="zh-CN" sz="2500" b="1" dirty="0">
                    <a:solidFill>
                      <a:srgbClr val="FF0000"/>
                    </a:solidFill>
                  </a:rPr>
                  <a:t>&gt;data;         </a:t>
                </a:r>
                <a:r>
                  <a:rPr lang="en-US" altLang="zh-CN" sz="2200" b="1" dirty="0">
                    <a:solidFill>
                      <a:srgbClr val="FF0000"/>
                    </a:solidFill>
                  </a:rPr>
                  <a:t>/*</a:t>
                </a:r>
                <a:r>
                  <a:rPr lang="zh-CN" altLang="en-US" sz="2200" b="1" dirty="0">
                    <a:solidFill>
                      <a:srgbClr val="FF0000"/>
                    </a:solidFill>
                    <a:ea typeface="幼圆" pitchFamily="49" charset="-122"/>
                  </a:rPr>
                  <a:t>保存被删栈顶的数据信息</a:t>
                </a:r>
                <a:r>
                  <a:rPr lang="zh-CN" altLang="en-US" sz="2200" b="1" dirty="0">
                    <a:solidFill>
                      <a:srgbClr val="FF0000"/>
                    </a:solidFill>
                  </a:rPr>
                  <a:t>*/</a:t>
                </a:r>
              </a:p>
              <a:p>
                <a:pPr eaLnBrk="1" hangingPunct="1">
                  <a:lnSpc>
                    <a:spcPct val="75000"/>
                  </a:lnSpc>
                </a:pPr>
                <a:r>
                  <a:rPr lang="zh-CN" altLang="zh-CN" sz="2500" b="1" dirty="0">
                    <a:solidFill>
                      <a:srgbClr val="FF0000"/>
                    </a:solidFill>
                  </a:rPr>
                  <a:t>           </a:t>
                </a:r>
                <a:r>
                  <a:rPr lang="en-US" altLang="zh-CN" sz="2500" b="1" dirty="0">
                    <a:solidFill>
                      <a:srgbClr val="FF0000"/>
                    </a:solidFill>
                  </a:rPr>
                  <a:t>Top=Top</a:t>
                </a:r>
                <a:r>
                  <a:rPr lang="en-US" altLang="zh-CN" sz="2500" b="1" dirty="0">
                    <a:solidFill>
                      <a:srgbClr val="FF0000"/>
                    </a:solidFill>
                    <a:latin typeface="宋体" charset="-122"/>
                    <a:ea typeface="宋体" charset="-122"/>
                  </a:rPr>
                  <a:t>-</a:t>
                </a:r>
                <a:r>
                  <a:rPr lang="en-US" altLang="zh-CN" sz="2500" b="1" dirty="0">
                    <a:solidFill>
                      <a:srgbClr val="FF0000"/>
                    </a:solidFill>
                  </a:rPr>
                  <a:t>&gt;link;            </a:t>
                </a:r>
                <a:r>
                  <a:rPr lang="en-US" altLang="zh-CN" sz="2200" b="1" dirty="0">
                    <a:solidFill>
                      <a:srgbClr val="FF0000"/>
                    </a:solidFill>
                  </a:rPr>
                  <a:t>/* </a:t>
                </a:r>
                <a:r>
                  <a:rPr lang="zh-CN" altLang="en-US" sz="2200" b="1" dirty="0">
                    <a:solidFill>
                      <a:srgbClr val="FF0000"/>
                    </a:solidFill>
                    <a:ea typeface="幼圆" pitchFamily="49" charset="-122"/>
                  </a:rPr>
                  <a:t>删除栈顶结点</a:t>
                </a:r>
                <a:r>
                  <a:rPr lang="zh-CN" altLang="en-US" sz="2200" b="1" dirty="0">
                    <a:solidFill>
                      <a:srgbClr val="FF0000"/>
                    </a:solidFill>
                  </a:rPr>
                  <a:t> */</a:t>
                </a:r>
                <a:r>
                  <a:rPr lang="zh-CN" altLang="en-US" sz="2500" b="1" dirty="0">
                    <a:solidFill>
                      <a:srgbClr val="FF0000"/>
                    </a:solidFill>
                  </a:rPr>
                  <a:t> </a:t>
                </a:r>
              </a:p>
              <a:p>
                <a:pPr eaLnBrk="1" hangingPunct="1">
                  <a:lnSpc>
                    <a:spcPct val="75000"/>
                  </a:lnSpc>
                </a:pPr>
                <a:r>
                  <a:rPr lang="zh-CN" altLang="zh-CN" sz="2500" b="1" dirty="0">
                    <a:solidFill>
                      <a:srgbClr val="FF0000"/>
                    </a:solidFill>
                  </a:rPr>
                  <a:t>          </a:t>
                </a:r>
                <a:r>
                  <a:rPr lang="zh-CN" altLang="en-US" sz="2500" b="1" dirty="0">
                    <a:solidFill>
                      <a:srgbClr val="FF0000"/>
                    </a:solidFill>
                  </a:rPr>
                  <a:t> </a:t>
                </a:r>
                <a:r>
                  <a:rPr lang="en-US" altLang="zh-CN" sz="2500" b="1" dirty="0">
                    <a:solidFill>
                      <a:srgbClr val="FF0000"/>
                    </a:solidFill>
                  </a:rPr>
                  <a:t>free(p);             </a:t>
                </a:r>
                <a:r>
                  <a:rPr lang="en-US" altLang="zh-CN" sz="2300" b="1" dirty="0">
                    <a:solidFill>
                      <a:srgbClr val="FF0000"/>
                    </a:solidFill>
                  </a:rPr>
                  <a:t>            </a:t>
                </a:r>
                <a:r>
                  <a:rPr lang="en-US" altLang="zh-CN" sz="2200" b="1" dirty="0">
                    <a:solidFill>
                      <a:srgbClr val="FF0000"/>
                    </a:solidFill>
                  </a:rPr>
                  <a:t>/* </a:t>
                </a:r>
                <a:r>
                  <a:rPr lang="zh-CN" altLang="en-US" sz="2200" b="1" dirty="0">
                    <a:solidFill>
                      <a:srgbClr val="FF0000"/>
                    </a:solidFill>
                    <a:ea typeface="幼圆" pitchFamily="49" charset="-122"/>
                  </a:rPr>
                  <a:t>释放被删除结点</a:t>
                </a:r>
                <a:r>
                  <a:rPr lang="zh-CN" altLang="en-US" sz="2200" b="1" dirty="0">
                    <a:solidFill>
                      <a:srgbClr val="FF0000"/>
                    </a:solidFill>
                  </a:rPr>
                  <a:t>*/</a:t>
                </a:r>
              </a:p>
              <a:p>
                <a:pPr eaLnBrk="1" hangingPunct="1">
                  <a:lnSpc>
                    <a:spcPct val="75000"/>
                  </a:lnSpc>
                </a:pPr>
                <a:r>
                  <a:rPr lang="en-US" altLang="zh-CN" sz="2200" b="1" dirty="0">
                    <a:solidFill>
                      <a:srgbClr val="FF0000"/>
                    </a:solidFill>
                  </a:rPr>
                  <a:t>            </a:t>
                </a:r>
                <a:r>
                  <a:rPr lang="en-US" altLang="zh-CN" sz="2500" b="1" dirty="0">
                    <a:solidFill>
                      <a:srgbClr val="FF0000"/>
                    </a:solidFill>
                  </a:rPr>
                  <a:t>return item;</a:t>
                </a:r>
                <a:r>
                  <a:rPr lang="en-US" altLang="zh-CN" sz="2200" b="1" dirty="0">
                    <a:solidFill>
                      <a:srgbClr val="FF0000"/>
                    </a:solidFill>
                  </a:rPr>
                  <a:t>                         /* </a:t>
                </a:r>
                <a:r>
                  <a:rPr lang="zh-CN" altLang="en-US" sz="2200" b="1" dirty="0">
                    <a:solidFill>
                      <a:srgbClr val="FF0000"/>
                    </a:solidFill>
                    <a:ea typeface="幼圆" pitchFamily="49" charset="-122"/>
                  </a:rPr>
                  <a:t>返回出栈元素</a:t>
                </a:r>
                <a:r>
                  <a:rPr lang="zh-CN" altLang="en-US" sz="2200" b="1" dirty="0">
                    <a:solidFill>
                      <a:srgbClr val="FF0000"/>
                    </a:solidFill>
                  </a:rPr>
                  <a:t>*/</a:t>
                </a:r>
                <a:endParaRPr lang="en-US" altLang="zh-CN" sz="2200" b="1" dirty="0">
                  <a:solidFill>
                    <a:srgbClr val="FF0000"/>
                  </a:solidFill>
                </a:endParaRPr>
              </a:p>
              <a:p>
                <a:pPr eaLnBrk="1" hangingPunct="1">
                  <a:lnSpc>
                    <a:spcPct val="60000"/>
                  </a:lnSpc>
                </a:pPr>
                <a:r>
                  <a:rPr lang="en-US" altLang="zh-CN" sz="2200" b="1" dirty="0">
                    <a:solidFill>
                      <a:srgbClr val="003399"/>
                    </a:solidFill>
                  </a:rPr>
                  <a:t>      }</a:t>
                </a:r>
              </a:p>
              <a:p>
                <a:pPr eaLnBrk="1" hangingPunct="1">
                  <a:lnSpc>
                    <a:spcPct val="60000"/>
                  </a:lnSpc>
                </a:pPr>
                <a:r>
                  <a:rPr lang="en-US" altLang="zh-CN" sz="2500" b="1" dirty="0">
                    <a:solidFill>
                      <a:srgbClr val="003399"/>
                    </a:solidFill>
                  </a:rPr>
                  <a:t>}</a:t>
                </a:r>
              </a:p>
            </p:txBody>
          </p:sp>
        </p:grpSp>
        <p:grpSp>
          <p:nvGrpSpPr>
            <p:cNvPr id="10" name="Group 63"/>
            <p:cNvGrpSpPr>
              <a:grpSpLocks/>
            </p:cNvGrpSpPr>
            <p:nvPr/>
          </p:nvGrpSpPr>
          <p:grpSpPr bwMode="auto">
            <a:xfrm>
              <a:off x="7112000" y="2362200"/>
              <a:ext cx="1843088" cy="895350"/>
              <a:chOff x="4480" y="1488"/>
              <a:chExt cx="1161" cy="564"/>
            </a:xfrm>
          </p:grpSpPr>
          <p:sp>
            <p:nvSpPr>
              <p:cNvPr id="54287" name="AutoShape 35"/>
              <p:cNvSpPr>
                <a:spLocks noChangeArrowheads="1"/>
              </p:cNvSpPr>
              <p:nvPr/>
            </p:nvSpPr>
            <p:spPr bwMode="auto">
              <a:xfrm rot="1591731">
                <a:off x="4480" y="1488"/>
                <a:ext cx="1056" cy="564"/>
              </a:xfrm>
              <a:prstGeom prst="irregularSeal2">
                <a:avLst/>
              </a:prstGeom>
              <a:solidFill>
                <a:srgbClr val="FF3300"/>
              </a:solidFill>
              <a:ln w="50800">
                <a:solidFill>
                  <a:srgbClr val="FFFF00"/>
                </a:solidFill>
                <a:miter lim="800000"/>
                <a:headEnd type="none" w="sm" len="sm"/>
                <a:tailEnd type="none" w="sm" len="sm"/>
              </a:ln>
              <a:effectLst>
                <a:outerShdw dist="104727" dir="842175" algn="ctr" rotWithShape="0">
                  <a:srgbClr val="B2B2B2"/>
                </a:outerShdw>
              </a:effectLst>
            </p:spPr>
            <p:txBody>
              <a:bodyPr wrap="none" anchor="ctr"/>
              <a:lstStyle/>
              <a:p>
                <a:endParaRPr lang="zh-CN" altLang="en-US"/>
              </a:p>
            </p:txBody>
          </p:sp>
          <p:sp>
            <p:nvSpPr>
              <p:cNvPr id="54288" name="Text Box 36"/>
              <p:cNvSpPr txBox="1">
                <a:spLocks noChangeArrowheads="1"/>
              </p:cNvSpPr>
              <p:nvPr/>
            </p:nvSpPr>
            <p:spPr bwMode="auto">
              <a:xfrm rot="908213">
                <a:off x="4530" y="1502"/>
                <a:ext cx="1111" cy="480"/>
              </a:xfrm>
              <a:prstGeom prst="rect">
                <a:avLst/>
              </a:prstGeom>
              <a:noFill/>
              <a:ln w="12700" cap="sq">
                <a:noFill/>
                <a:miter lim="800000"/>
                <a:headEnd type="none" w="sm" len="sm"/>
                <a:tailEnd type="none" w="sm" len="sm"/>
              </a:ln>
              <a:effectLst>
                <a:outerShdw dist="45791" dir="2021404" algn="ctr" rotWithShape="0">
                  <a:srgbClr val="000000"/>
                </a:outerShdw>
              </a:effectLst>
            </p:spPr>
            <p:txBody>
              <a:bodyPr>
                <a:spAutoFit/>
              </a:bodyPr>
              <a:lstStyle/>
              <a:p>
                <a:r>
                  <a:rPr lang="zh-CN" altLang="en-US" sz="4400" b="1" i="1">
                    <a:solidFill>
                      <a:srgbClr val="FFFFFF"/>
                    </a:solidFill>
                    <a:ea typeface="黑体" pitchFamily="2" charset="-122"/>
                  </a:rPr>
                  <a:t>算法</a:t>
                </a:r>
              </a:p>
            </p:txBody>
          </p:sp>
        </p:grpSp>
        <p:sp>
          <p:nvSpPr>
            <p:cNvPr id="54284" name="Line 66"/>
            <p:cNvSpPr>
              <a:spLocks noChangeShapeType="1"/>
            </p:cNvSpPr>
            <p:nvPr/>
          </p:nvSpPr>
          <p:spPr bwMode="auto">
            <a:xfrm>
              <a:off x="1043608" y="4221088"/>
              <a:ext cx="2303462" cy="0"/>
            </a:xfrm>
            <a:prstGeom prst="line">
              <a:avLst/>
            </a:prstGeom>
            <a:noFill/>
            <a:ln w="50800" cap="sq">
              <a:solidFill>
                <a:srgbClr val="FF0000"/>
              </a:solidFill>
              <a:round/>
              <a:headEnd type="none" w="sm" len="sm"/>
              <a:tailEnd type="none" w="sm" len="sm"/>
            </a:ln>
          </p:spPr>
          <p:txBody>
            <a:bodyPr/>
            <a:lstStyle/>
            <a:p>
              <a:endParaRPr lang="zh-CN" altLang="en-US"/>
            </a:p>
          </p:txBody>
        </p:sp>
      </p:grpSp>
    </p:spTree>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5" presetClass="entr" presetSubtype="0" fill="hold" grpId="0" nodeType="clickEffect">
                                  <p:stCondLst>
                                    <p:cond delay="0"/>
                                  </p:stCondLst>
                                  <p:childTnLst>
                                    <p:set>
                                      <p:cBhvr>
                                        <p:cTn id="11" dur="1" fill="hold">
                                          <p:stCondLst>
                                            <p:cond delay="0"/>
                                          </p:stCondLst>
                                        </p:cTn>
                                        <p:tgtEl>
                                          <p:spTgt spid="220186"/>
                                        </p:tgtEl>
                                        <p:attrNameLst>
                                          <p:attrName>style.visibility</p:attrName>
                                        </p:attrNameLst>
                                      </p:cBhvr>
                                      <p:to>
                                        <p:strVal val="visible"/>
                                      </p:to>
                                    </p:set>
                                    <p:anim calcmode="lin" valueType="num">
                                      <p:cBhvr>
                                        <p:cTn id="12" dur="1000" fill="hold"/>
                                        <p:tgtEl>
                                          <p:spTgt spid="220186"/>
                                        </p:tgtEl>
                                        <p:attrNameLst>
                                          <p:attrName>ppt_w</p:attrName>
                                        </p:attrNameLst>
                                      </p:cBhvr>
                                      <p:tavLst>
                                        <p:tav tm="0">
                                          <p:val>
                                            <p:fltVal val="0"/>
                                          </p:val>
                                        </p:tav>
                                        <p:tav tm="100000">
                                          <p:val>
                                            <p:strVal val="#ppt_w"/>
                                          </p:val>
                                        </p:tav>
                                      </p:tavLst>
                                    </p:anim>
                                    <p:anim calcmode="lin" valueType="num">
                                      <p:cBhvr>
                                        <p:cTn id="13" dur="1000" fill="hold"/>
                                        <p:tgtEl>
                                          <p:spTgt spid="220186"/>
                                        </p:tgtEl>
                                        <p:attrNameLst>
                                          <p:attrName>ppt_h</p:attrName>
                                        </p:attrNameLst>
                                      </p:cBhvr>
                                      <p:tavLst>
                                        <p:tav tm="0">
                                          <p:val>
                                            <p:fltVal val="0"/>
                                          </p:val>
                                        </p:tav>
                                        <p:tav tm="100000">
                                          <p:val>
                                            <p:strVal val="#ppt_h"/>
                                          </p:val>
                                        </p:tav>
                                      </p:tavLst>
                                    </p:anim>
                                    <p:anim calcmode="lin" valueType="num">
                                      <p:cBhvr>
                                        <p:cTn id="14" dur="1000" fill="hold"/>
                                        <p:tgtEl>
                                          <p:spTgt spid="220186"/>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22018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20190"/>
                                        </p:tgtEl>
                                        <p:attrNameLst>
                                          <p:attrName>style.visibility</p:attrName>
                                        </p:attrNameLst>
                                      </p:cBhvr>
                                      <p:to>
                                        <p:strVal val="visible"/>
                                      </p:to>
                                    </p:set>
                                    <p:animEffect transition="in" filter="wipe(left)">
                                      <p:cBhvr>
                                        <p:cTn id="25" dur="500"/>
                                        <p:tgtEl>
                                          <p:spTgt spid="22019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2" fill="hold"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right)">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43"/>
                                        </p:tgtEl>
                                        <p:attrNameLst>
                                          <p:attrName>style.visibility</p:attrName>
                                        </p:attrNameLst>
                                      </p:cBhvr>
                                      <p:to>
                                        <p:strVal val="visible"/>
                                      </p:to>
                                    </p:set>
                                    <p:animEffect transition="in" filter="blinds(horizontal)">
                                      <p:cBhvr>
                                        <p:cTn id="35"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86" grpId="0" autoUpdateAnimBg="0"/>
      <p:bldP spid="22019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44624"/>
            <a:ext cx="10515600" cy="831628"/>
          </a:xfrm>
        </p:spPr>
        <p:txBody>
          <a:bodyPr/>
          <a:lstStyle/>
          <a:p>
            <a:r>
              <a:rPr lang="zh-CN" altLang="en-US" dirty="0"/>
              <a:t>问题</a:t>
            </a:r>
            <a:r>
              <a:rPr lang="en-US" altLang="zh-CN" dirty="0"/>
              <a:t>3.1</a:t>
            </a:r>
            <a:r>
              <a:rPr lang="zh-CN" altLang="en-US" dirty="0"/>
              <a:t>：计算器（表达式计算）</a:t>
            </a:r>
          </a:p>
        </p:txBody>
      </p:sp>
      <p:sp>
        <p:nvSpPr>
          <p:cNvPr id="3" name="灯片编号占位符 2"/>
          <p:cNvSpPr>
            <a:spLocks noGrp="1"/>
          </p:cNvSpPr>
          <p:nvPr>
            <p:ph type="sldNum" sz="quarter" idx="12"/>
          </p:nvPr>
        </p:nvSpPr>
        <p:spPr>
          <a:xfrm>
            <a:off x="7026424" y="6428357"/>
            <a:ext cx="2743200" cy="365125"/>
          </a:xfrm>
        </p:spPr>
        <p:txBody>
          <a:bodyPr/>
          <a:lstStyle/>
          <a:p>
            <a:fld id="{0C913308-F349-4B6D-A68A-DD1791B4A57B}" type="slidenum">
              <a:rPr lang="zh-CN" altLang="en-US" smtClean="0"/>
              <a:pPr/>
              <a:t>30</a:t>
            </a:fld>
            <a:endParaRPr lang="zh-CN" altLang="en-US" dirty="0"/>
          </a:p>
        </p:txBody>
      </p:sp>
      <p:sp>
        <p:nvSpPr>
          <p:cNvPr id="4" name="矩形 3"/>
          <p:cNvSpPr/>
          <p:nvPr/>
        </p:nvSpPr>
        <p:spPr>
          <a:xfrm>
            <a:off x="911424" y="1268760"/>
            <a:ext cx="7344816" cy="5078313"/>
          </a:xfrm>
          <a:prstGeom prst="rect">
            <a:avLst/>
          </a:prstGeom>
        </p:spPr>
        <p:txBody>
          <a:bodyPr wrap="square">
            <a:spAutoFit/>
          </a:bodyPr>
          <a:lstStyle/>
          <a:p>
            <a:r>
              <a:rPr lang="en-US" altLang="zh-CN" dirty="0"/>
              <a:t>【</a:t>
            </a:r>
            <a:r>
              <a:rPr lang="zh-CN" altLang="en-US" dirty="0"/>
              <a:t>问题描述</a:t>
            </a:r>
            <a:r>
              <a:rPr lang="en-US" altLang="zh-CN" dirty="0"/>
              <a:t>】</a:t>
            </a:r>
          </a:p>
          <a:p>
            <a:pPr lvl="1"/>
            <a:r>
              <a:rPr lang="zh-CN" altLang="en-US" dirty="0"/>
              <a:t>从标准输入中读入一个整数算术运算表达式，如</a:t>
            </a:r>
            <a:r>
              <a:rPr lang="en-US" altLang="zh-CN" dirty="0"/>
              <a:t>24 / ( 1 + 2 + 36 / 6 / 2 - 2) * ( 12 / 2 / 2 )= </a:t>
            </a:r>
            <a:r>
              <a:rPr lang="zh-CN" altLang="en-US" dirty="0"/>
              <a:t>，计算表达式结果，并输出。</a:t>
            </a:r>
          </a:p>
          <a:p>
            <a:pPr lvl="1"/>
            <a:r>
              <a:rPr lang="zh-CN" altLang="en-US" dirty="0"/>
              <a:t>要求：</a:t>
            </a:r>
            <a:br>
              <a:rPr lang="zh-CN" altLang="en-US" dirty="0"/>
            </a:br>
            <a:r>
              <a:rPr lang="en-US" altLang="zh-CN" dirty="0"/>
              <a:t>1</a:t>
            </a:r>
            <a:r>
              <a:rPr lang="zh-CN" altLang="en-US" dirty="0"/>
              <a:t>、表达式运算符只有</a:t>
            </a:r>
            <a:r>
              <a:rPr lang="en-US" altLang="zh-CN" dirty="0"/>
              <a:t>+</a:t>
            </a:r>
            <a:r>
              <a:rPr lang="zh-CN" altLang="en-US" dirty="0"/>
              <a:t>、</a:t>
            </a:r>
            <a:r>
              <a:rPr lang="en-US" altLang="zh-CN" dirty="0"/>
              <a:t>-</a:t>
            </a:r>
            <a:r>
              <a:rPr lang="zh-CN" altLang="en-US" dirty="0"/>
              <a:t>、*、</a:t>
            </a:r>
            <a:r>
              <a:rPr lang="en-US" altLang="zh-CN" dirty="0"/>
              <a:t>/</a:t>
            </a:r>
            <a:r>
              <a:rPr lang="zh-CN" altLang="en-US" dirty="0"/>
              <a:t>，表达式末尾的’</a:t>
            </a:r>
            <a:r>
              <a:rPr lang="en-US" altLang="zh-CN" dirty="0"/>
              <a:t>=’</a:t>
            </a:r>
            <a:r>
              <a:rPr lang="zh-CN" altLang="en-US" dirty="0"/>
              <a:t>字符表示表达式输入结束，表达式中可能会出现空格；</a:t>
            </a:r>
            <a:br>
              <a:rPr lang="zh-CN" altLang="en-US" dirty="0"/>
            </a:br>
            <a:r>
              <a:rPr lang="en-US" altLang="zh-CN" dirty="0"/>
              <a:t>2</a:t>
            </a:r>
            <a:r>
              <a:rPr lang="zh-CN" altLang="en-US" dirty="0"/>
              <a:t>、表达式中会出现圆括号，括号可能嵌套，不会出现错误的表达式；</a:t>
            </a:r>
            <a:br>
              <a:rPr lang="zh-CN" altLang="en-US" dirty="0"/>
            </a:br>
            <a:r>
              <a:rPr lang="en-US" altLang="zh-CN" dirty="0"/>
              <a:t>3</a:t>
            </a:r>
            <a:r>
              <a:rPr lang="zh-CN" altLang="en-US" dirty="0"/>
              <a:t>、出现除号</a:t>
            </a:r>
            <a:r>
              <a:rPr lang="en-US" altLang="zh-CN" dirty="0"/>
              <a:t>/</a:t>
            </a:r>
            <a:r>
              <a:rPr lang="zh-CN" altLang="en-US" dirty="0"/>
              <a:t>时，以整数相除进行运算，结果仍为整数，例如：</a:t>
            </a:r>
            <a:r>
              <a:rPr lang="en-US" altLang="zh-CN" dirty="0"/>
              <a:t>5/3</a:t>
            </a:r>
            <a:r>
              <a:rPr lang="zh-CN" altLang="en-US" dirty="0"/>
              <a:t>结果应为</a:t>
            </a:r>
            <a:r>
              <a:rPr lang="en-US" altLang="zh-CN" dirty="0"/>
              <a:t>1</a:t>
            </a:r>
            <a:r>
              <a:rPr lang="zh-CN" altLang="en-US" dirty="0"/>
              <a:t>。</a:t>
            </a:r>
          </a:p>
          <a:p>
            <a:r>
              <a:rPr lang="en-US" altLang="zh-CN" dirty="0"/>
              <a:t>【</a:t>
            </a:r>
            <a:r>
              <a:rPr lang="zh-CN" altLang="en-US" dirty="0"/>
              <a:t>输入形式</a:t>
            </a:r>
            <a:r>
              <a:rPr lang="en-US" altLang="zh-CN" dirty="0"/>
              <a:t>】</a:t>
            </a:r>
          </a:p>
          <a:p>
            <a:pPr lvl="1"/>
            <a:r>
              <a:rPr lang="zh-CN" altLang="en-US" dirty="0"/>
              <a:t>从键盘输入一个以’</a:t>
            </a:r>
            <a:r>
              <a:rPr lang="en-US" altLang="zh-CN" dirty="0"/>
              <a:t>=’</a:t>
            </a:r>
            <a:r>
              <a:rPr lang="zh-CN" altLang="en-US" dirty="0"/>
              <a:t>结尾的整数算术运算表达式。</a:t>
            </a:r>
          </a:p>
          <a:p>
            <a:r>
              <a:rPr lang="en-US" altLang="zh-CN" dirty="0"/>
              <a:t>【</a:t>
            </a:r>
            <a:r>
              <a:rPr lang="zh-CN" altLang="en-US" dirty="0"/>
              <a:t>输出形式</a:t>
            </a:r>
            <a:r>
              <a:rPr lang="en-US" altLang="zh-CN" dirty="0"/>
              <a:t>】</a:t>
            </a:r>
          </a:p>
          <a:p>
            <a:pPr lvl="1"/>
            <a:r>
              <a:rPr lang="zh-CN" altLang="en-US" dirty="0"/>
              <a:t>在屏幕上输出计算结果（为整数）。</a:t>
            </a:r>
          </a:p>
          <a:p>
            <a:r>
              <a:rPr lang="en-US" altLang="zh-CN" dirty="0"/>
              <a:t>【</a:t>
            </a:r>
            <a:r>
              <a:rPr lang="zh-CN" altLang="en-US" dirty="0"/>
              <a:t>样例</a:t>
            </a:r>
            <a:r>
              <a:rPr lang="en-US" altLang="zh-CN" dirty="0"/>
              <a:t>1</a:t>
            </a:r>
            <a:r>
              <a:rPr lang="zh-CN" altLang="en-US" dirty="0"/>
              <a:t>输入</a:t>
            </a:r>
            <a:r>
              <a:rPr lang="en-US" altLang="zh-CN" dirty="0"/>
              <a:t>】</a:t>
            </a:r>
          </a:p>
          <a:p>
            <a:pPr lvl="1"/>
            <a:r>
              <a:rPr lang="en-US" altLang="zh-CN" dirty="0"/>
              <a:t>24 / ( 1 + 2 + 36 / 6 / 2 - 2) * ( 12 / 2 / 2 )=</a:t>
            </a:r>
          </a:p>
          <a:p>
            <a:r>
              <a:rPr lang="en-US" altLang="zh-CN" dirty="0"/>
              <a:t>【</a:t>
            </a:r>
            <a:r>
              <a:rPr lang="zh-CN" altLang="en-US" dirty="0"/>
              <a:t>样例</a:t>
            </a:r>
            <a:r>
              <a:rPr lang="en-US" altLang="zh-CN" dirty="0"/>
              <a:t>1</a:t>
            </a:r>
            <a:r>
              <a:rPr lang="zh-CN" altLang="en-US" dirty="0"/>
              <a:t>输出</a:t>
            </a:r>
            <a:r>
              <a:rPr lang="en-US" altLang="zh-CN" dirty="0"/>
              <a:t>】</a:t>
            </a:r>
          </a:p>
          <a:p>
            <a:pPr lvl="1"/>
            <a:r>
              <a:rPr lang="en-US" altLang="zh-CN" dirty="0"/>
              <a:t>18</a:t>
            </a: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27448" y="52911"/>
            <a:ext cx="8229600" cy="807061"/>
          </a:xfrm>
        </p:spPr>
        <p:txBody>
          <a:bodyPr/>
          <a:lstStyle/>
          <a:p>
            <a:r>
              <a:rPr lang="zh-CN" altLang="en-US" dirty="0"/>
              <a:t>问题</a:t>
            </a:r>
            <a:r>
              <a:rPr lang="en-US" altLang="zh-CN" dirty="0"/>
              <a:t>3.1</a:t>
            </a:r>
            <a:r>
              <a:rPr lang="zh-CN" altLang="en-US" dirty="0"/>
              <a:t>：问题分析</a:t>
            </a:r>
          </a:p>
        </p:txBody>
      </p:sp>
      <p:sp>
        <p:nvSpPr>
          <p:cNvPr id="4" name="灯片编号占位符 3"/>
          <p:cNvSpPr>
            <a:spLocks noGrp="1"/>
          </p:cNvSpPr>
          <p:nvPr>
            <p:ph type="sldNum" sz="quarter" idx="12"/>
          </p:nvPr>
        </p:nvSpPr>
        <p:spPr/>
        <p:txBody>
          <a:bodyPr/>
          <a:lstStyle/>
          <a:p>
            <a:pPr>
              <a:defRPr/>
            </a:pPr>
            <a:fld id="{EE5104C4-9BBA-4869-957B-C459F96FE33D}" type="slidenum">
              <a:rPr lang="zh-CN" altLang="en-US" smtClean="0"/>
              <a:pPr>
                <a:defRPr/>
              </a:pPr>
              <a:t>31</a:t>
            </a:fld>
            <a:endParaRPr lang="en-US" altLang="zh-CN"/>
          </a:p>
        </p:txBody>
      </p:sp>
      <p:sp>
        <p:nvSpPr>
          <p:cNvPr id="6" name="TextBox 5"/>
          <p:cNvSpPr txBox="1"/>
          <p:nvPr/>
        </p:nvSpPr>
        <p:spPr>
          <a:xfrm>
            <a:off x="2495600" y="1340768"/>
            <a:ext cx="5812810" cy="369332"/>
          </a:xfrm>
          <a:prstGeom prst="rect">
            <a:avLst/>
          </a:prstGeom>
          <a:noFill/>
        </p:spPr>
        <p:txBody>
          <a:bodyPr wrap="none" rtlCol="0">
            <a:spAutoFit/>
          </a:bodyPr>
          <a:lstStyle/>
          <a:p>
            <a:r>
              <a:rPr lang="zh-CN" altLang="en-US" b="1" dirty="0"/>
              <a:t>对于一般形式的表达式（通常称为</a:t>
            </a:r>
            <a:r>
              <a:rPr lang="zh-CN" altLang="en-US" b="1" dirty="0">
                <a:solidFill>
                  <a:srgbClr val="7030A0"/>
                </a:solidFill>
              </a:rPr>
              <a:t>中缀表达式</a:t>
            </a:r>
            <a:r>
              <a:rPr lang="en-US" altLang="zh-CN" b="1" dirty="0">
                <a:solidFill>
                  <a:srgbClr val="7030A0"/>
                </a:solidFill>
              </a:rPr>
              <a:t>(infix)</a:t>
            </a:r>
            <a:r>
              <a:rPr lang="zh-CN" altLang="en-US" b="1" dirty="0"/>
              <a:t>）：</a:t>
            </a:r>
          </a:p>
        </p:txBody>
      </p:sp>
      <p:sp>
        <p:nvSpPr>
          <p:cNvPr id="7" name="TextBox 6"/>
          <p:cNvSpPr txBox="1"/>
          <p:nvPr/>
        </p:nvSpPr>
        <p:spPr>
          <a:xfrm>
            <a:off x="3575721" y="1916832"/>
            <a:ext cx="3775024" cy="523220"/>
          </a:xfrm>
          <a:prstGeom prst="rect">
            <a:avLst/>
          </a:prstGeom>
          <a:solidFill>
            <a:schemeClr val="bg2">
              <a:lumMod val="20000"/>
              <a:lumOff val="80000"/>
            </a:schemeClr>
          </a:solidFill>
          <a:ln>
            <a:noFill/>
          </a:ln>
        </p:spPr>
        <p:txBody>
          <a:bodyPr wrap="square" rtlCol="0">
            <a:spAutoFit/>
          </a:bodyPr>
          <a:lstStyle/>
          <a:p>
            <a:r>
              <a:rPr lang="en-US" altLang="zh-CN" sz="2800" b="1" i="1" dirty="0">
                <a:solidFill>
                  <a:srgbClr val="7030A0"/>
                </a:solidFill>
              </a:rPr>
              <a:t>a + b * c + ( d * e + f ) / g</a:t>
            </a:r>
            <a:endParaRPr lang="zh-CN" altLang="en-US" sz="2800" b="1" i="1" dirty="0">
              <a:solidFill>
                <a:srgbClr val="7030A0"/>
              </a:solidFill>
            </a:endParaRPr>
          </a:p>
        </p:txBody>
      </p:sp>
      <p:sp>
        <p:nvSpPr>
          <p:cNvPr id="8" name="TextBox 7"/>
          <p:cNvSpPr txBox="1"/>
          <p:nvPr/>
        </p:nvSpPr>
        <p:spPr>
          <a:xfrm>
            <a:off x="2567609" y="2708920"/>
            <a:ext cx="5530681" cy="923330"/>
          </a:xfrm>
          <a:prstGeom prst="rect">
            <a:avLst/>
          </a:prstGeom>
          <a:noFill/>
        </p:spPr>
        <p:txBody>
          <a:bodyPr wrap="none" rtlCol="0">
            <a:spAutoFit/>
          </a:bodyPr>
          <a:lstStyle/>
          <a:p>
            <a:r>
              <a:rPr lang="zh-CN" altLang="en-US" b="1" dirty="0"/>
              <a:t>在（计算机）计算表达式的值时面临的主要问题有：</a:t>
            </a:r>
            <a:endParaRPr lang="en-US" altLang="zh-CN" b="1" dirty="0"/>
          </a:p>
          <a:p>
            <a:pPr lvl="1">
              <a:buFont typeface="Wingdings" pitchFamily="2" charset="2"/>
              <a:buChar char="u"/>
            </a:pPr>
            <a:r>
              <a:rPr lang="en-US" altLang="zh-CN" dirty="0"/>
              <a:t> </a:t>
            </a:r>
            <a:r>
              <a:rPr lang="zh-CN" altLang="en-US" dirty="0">
                <a:solidFill>
                  <a:srgbClr val="7030A0"/>
                </a:solidFill>
              </a:rPr>
              <a:t>运算符有优先级</a:t>
            </a:r>
            <a:endParaRPr lang="en-US" altLang="zh-CN" dirty="0">
              <a:solidFill>
                <a:srgbClr val="7030A0"/>
              </a:solidFill>
            </a:endParaRPr>
          </a:p>
          <a:p>
            <a:pPr lvl="1">
              <a:buFont typeface="Wingdings" pitchFamily="2" charset="2"/>
              <a:buChar char="u"/>
            </a:pPr>
            <a:r>
              <a:rPr lang="en-US" altLang="zh-CN" dirty="0">
                <a:solidFill>
                  <a:srgbClr val="7030A0"/>
                </a:solidFill>
              </a:rPr>
              <a:t> </a:t>
            </a:r>
            <a:r>
              <a:rPr lang="zh-CN" altLang="en-US" dirty="0">
                <a:solidFill>
                  <a:srgbClr val="7030A0"/>
                </a:solidFill>
              </a:rPr>
              <a:t>括号会改变计算的次序</a:t>
            </a:r>
          </a:p>
        </p:txBody>
      </p:sp>
      <p:sp>
        <p:nvSpPr>
          <p:cNvPr id="9" name="TextBox 8"/>
          <p:cNvSpPr txBox="1"/>
          <p:nvPr/>
        </p:nvSpPr>
        <p:spPr>
          <a:xfrm>
            <a:off x="2351584" y="3717032"/>
            <a:ext cx="7488832" cy="1446550"/>
          </a:xfrm>
          <a:prstGeom prst="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zh-CN" altLang="en-US" sz="2000" b="1" dirty="0">
                <a:latin typeface="楷体" pitchFamily="49" charset="-122"/>
                <a:ea typeface="楷体" pitchFamily="49" charset="-122"/>
              </a:rPr>
              <a:t>为了方便表达式的（计算机）计算，波兰数学家</a:t>
            </a:r>
            <a:r>
              <a:rPr lang="en-US" altLang="zh-CN" sz="2000" b="1" dirty="0" err="1">
                <a:latin typeface="楷体" pitchFamily="49" charset="-122"/>
                <a:ea typeface="楷体" pitchFamily="49" charset="-122"/>
              </a:rPr>
              <a:t>Lukasiewicz</a:t>
            </a:r>
            <a:r>
              <a:rPr lang="zh-CN" altLang="en-US" sz="2000" b="1" dirty="0">
                <a:latin typeface="楷体" pitchFamily="49" charset="-122"/>
                <a:ea typeface="楷体" pitchFamily="49" charset="-122"/>
              </a:rPr>
              <a:t>在</a:t>
            </a:r>
            <a:r>
              <a:rPr lang="en-US" altLang="zh-CN" sz="2000" b="1" dirty="0">
                <a:latin typeface="楷体" pitchFamily="49" charset="-122"/>
                <a:ea typeface="楷体" pitchFamily="49" charset="-122"/>
              </a:rPr>
              <a:t>20</a:t>
            </a:r>
            <a:r>
              <a:rPr lang="zh-CN" altLang="en-US" sz="2000" b="1" dirty="0">
                <a:latin typeface="楷体" pitchFamily="49" charset="-122"/>
                <a:ea typeface="楷体" pitchFamily="49" charset="-122"/>
              </a:rPr>
              <a:t>世纪</a:t>
            </a:r>
            <a:r>
              <a:rPr lang="en-US" altLang="zh-CN" sz="2000" b="1" dirty="0">
                <a:latin typeface="楷体" pitchFamily="49" charset="-122"/>
                <a:ea typeface="楷体" pitchFamily="49" charset="-122"/>
              </a:rPr>
              <a:t>50</a:t>
            </a:r>
            <a:r>
              <a:rPr lang="zh-CN" altLang="en-US" sz="2000" b="1" dirty="0">
                <a:latin typeface="楷体" pitchFamily="49" charset="-122"/>
                <a:ea typeface="楷体" pitchFamily="49" charset="-122"/>
              </a:rPr>
              <a:t>年代发明了一种将运算符写在操作数之后的表达式表示方式（称为</a:t>
            </a:r>
            <a:r>
              <a:rPr lang="zh-CN" altLang="en-US" sz="2400" b="1" dirty="0">
                <a:solidFill>
                  <a:srgbClr val="7030A0"/>
                </a:solidFill>
                <a:latin typeface="楷体" pitchFamily="49" charset="-122"/>
                <a:ea typeface="楷体" pitchFamily="49" charset="-122"/>
              </a:rPr>
              <a:t>后缀表达式</a:t>
            </a:r>
            <a:r>
              <a:rPr lang="en-US" altLang="zh-CN" sz="2400" b="1" dirty="0">
                <a:solidFill>
                  <a:srgbClr val="7030A0"/>
                </a:solidFill>
                <a:latin typeface="楷体" pitchFamily="49" charset="-122"/>
                <a:ea typeface="楷体" pitchFamily="49" charset="-122"/>
              </a:rPr>
              <a:t>(postfix)</a:t>
            </a:r>
            <a:r>
              <a:rPr lang="zh-CN" altLang="en-US" sz="2400" b="1" dirty="0">
                <a:solidFill>
                  <a:srgbClr val="7030A0"/>
                </a:solidFill>
                <a:latin typeface="楷体" pitchFamily="49" charset="-122"/>
                <a:ea typeface="楷体" pitchFamily="49" charset="-122"/>
              </a:rPr>
              <a:t>，或逆波兰表示，</a:t>
            </a:r>
            <a:r>
              <a:rPr lang="en-US" altLang="zh-CN" sz="2400" b="1" dirty="0">
                <a:solidFill>
                  <a:srgbClr val="7030A0"/>
                </a:solidFill>
                <a:latin typeface="楷体" pitchFamily="49" charset="-122"/>
                <a:ea typeface="楷体" pitchFamily="49" charset="-122"/>
              </a:rPr>
              <a:t>Reverse Polish </a:t>
            </a:r>
            <a:r>
              <a:rPr lang="en-US" altLang="zh-CN" sz="2400" b="1" dirty="0" err="1">
                <a:solidFill>
                  <a:srgbClr val="7030A0"/>
                </a:solidFill>
                <a:latin typeface="楷体" pitchFamily="49" charset="-122"/>
                <a:ea typeface="楷体" pitchFamily="49" charset="-122"/>
              </a:rPr>
              <a:t>Notation,RPN</a:t>
            </a:r>
            <a:r>
              <a:rPr lang="zh-CN" altLang="en-US" sz="2000" dirty="0">
                <a:latin typeface="楷体" pitchFamily="49" charset="-122"/>
                <a:ea typeface="楷体" pitchFamily="49" charset="-122"/>
              </a:rPr>
              <a:t>）</a:t>
            </a:r>
          </a:p>
        </p:txBody>
      </p:sp>
      <p:graphicFrame>
        <p:nvGraphicFramePr>
          <p:cNvPr id="10" name="表格 9"/>
          <p:cNvGraphicFramePr>
            <a:graphicFrameLocks noGrp="1"/>
          </p:cNvGraphicFramePr>
          <p:nvPr>
            <p:extLst>
              <p:ext uri="{D42A27DB-BD31-4B8C-83A1-F6EECF244321}">
                <p14:modId xmlns:p14="http://schemas.microsoft.com/office/powerpoint/2010/main" val="3722614988"/>
              </p:ext>
            </p:extLst>
          </p:nvPr>
        </p:nvGraphicFramePr>
        <p:xfrm>
          <a:off x="2279576" y="5157192"/>
          <a:ext cx="7560840" cy="1483360"/>
        </p:xfrm>
        <a:graphic>
          <a:graphicData uri="http://schemas.openxmlformats.org/drawingml/2006/table">
            <a:tbl>
              <a:tblPr firstRow="1" bandRow="1">
                <a:tableStyleId>{5C22544A-7EE6-4342-B048-85BDC9FD1C3A}</a:tableStyleId>
              </a:tblPr>
              <a:tblGrid>
                <a:gridCol w="3780420">
                  <a:extLst>
                    <a:ext uri="{9D8B030D-6E8A-4147-A177-3AD203B41FA5}">
                      <a16:colId xmlns:a16="http://schemas.microsoft.com/office/drawing/2014/main" val="20000"/>
                    </a:ext>
                  </a:extLst>
                </a:gridCol>
                <a:gridCol w="3780420">
                  <a:extLst>
                    <a:ext uri="{9D8B030D-6E8A-4147-A177-3AD203B41FA5}">
                      <a16:colId xmlns:a16="http://schemas.microsoft.com/office/drawing/2014/main" val="20001"/>
                    </a:ext>
                  </a:extLst>
                </a:gridCol>
              </a:tblGrid>
              <a:tr h="370840">
                <a:tc>
                  <a:txBody>
                    <a:bodyPr/>
                    <a:lstStyle/>
                    <a:p>
                      <a:pPr algn="ctr"/>
                      <a:r>
                        <a:rPr lang="zh-CN" altLang="en-US" dirty="0"/>
                        <a:t>中缀表达式</a:t>
                      </a:r>
                    </a:p>
                  </a:txBody>
                  <a:tcPr>
                    <a:solidFill>
                      <a:schemeClr val="tx1"/>
                    </a:solidFill>
                  </a:tcPr>
                </a:tc>
                <a:tc>
                  <a:txBody>
                    <a:bodyPr/>
                    <a:lstStyle/>
                    <a:p>
                      <a:pPr algn="ctr"/>
                      <a:r>
                        <a:rPr lang="zh-CN" altLang="en-US" dirty="0"/>
                        <a:t>后缀表达式（</a:t>
                      </a:r>
                      <a:r>
                        <a:rPr lang="en-US" altLang="zh-CN" dirty="0"/>
                        <a:t>RPN</a:t>
                      </a:r>
                      <a:r>
                        <a:rPr lang="zh-CN" altLang="en-US" dirty="0"/>
                        <a:t>）</a:t>
                      </a:r>
                    </a:p>
                  </a:txBody>
                  <a:tcPr>
                    <a:solidFill>
                      <a:schemeClr val="tx1"/>
                    </a:solidFill>
                  </a:tcPr>
                </a:tc>
                <a:extLst>
                  <a:ext uri="{0D108BD9-81ED-4DB2-BD59-A6C34878D82A}">
                    <a16:rowId xmlns:a16="http://schemas.microsoft.com/office/drawing/2014/main" val="10000"/>
                  </a:ext>
                </a:extLst>
              </a:tr>
              <a:tr h="370840">
                <a:tc>
                  <a:txBody>
                    <a:bodyPr/>
                    <a:lstStyle/>
                    <a:p>
                      <a:pPr algn="ctr"/>
                      <a:r>
                        <a:rPr lang="en-US" altLang="zh-CN" dirty="0"/>
                        <a:t>a + b</a:t>
                      </a:r>
                      <a:endParaRPr lang="zh-CN" altLang="en-US" dirty="0"/>
                    </a:p>
                  </a:txBody>
                  <a:tcPr/>
                </a:tc>
                <a:tc>
                  <a:txBody>
                    <a:bodyPr/>
                    <a:lstStyle/>
                    <a:p>
                      <a:pPr algn="ctr"/>
                      <a:r>
                        <a:rPr lang="en-US" altLang="zh-CN" dirty="0"/>
                        <a:t>a b +</a:t>
                      </a:r>
                      <a:endParaRPr lang="zh-CN" altLang="en-US" dirty="0"/>
                    </a:p>
                  </a:txBody>
                  <a:tcPr/>
                </a:tc>
                <a:extLst>
                  <a:ext uri="{0D108BD9-81ED-4DB2-BD59-A6C34878D82A}">
                    <a16:rowId xmlns:a16="http://schemas.microsoft.com/office/drawing/2014/main" val="10001"/>
                  </a:ext>
                </a:extLst>
              </a:tr>
              <a:tr h="370840">
                <a:tc>
                  <a:txBody>
                    <a:bodyPr/>
                    <a:lstStyle/>
                    <a:p>
                      <a:pPr algn="ctr"/>
                      <a:r>
                        <a:rPr lang="en-US" altLang="zh-CN" dirty="0"/>
                        <a:t>a+ b * c</a:t>
                      </a:r>
                      <a:endParaRPr lang="zh-CN" altLang="en-US" dirty="0"/>
                    </a:p>
                  </a:txBody>
                  <a:tcPr/>
                </a:tc>
                <a:tc>
                  <a:txBody>
                    <a:bodyPr/>
                    <a:lstStyle/>
                    <a:p>
                      <a:pPr algn="ctr"/>
                      <a:r>
                        <a:rPr lang="en-US" altLang="zh-CN" dirty="0"/>
                        <a:t>a b c * +</a:t>
                      </a:r>
                      <a:endParaRPr lang="zh-CN" altLang="en-US" dirty="0"/>
                    </a:p>
                  </a:txBody>
                  <a:tcPr/>
                </a:tc>
                <a:extLst>
                  <a:ext uri="{0D108BD9-81ED-4DB2-BD59-A6C34878D82A}">
                    <a16:rowId xmlns:a16="http://schemas.microsoft.com/office/drawing/2014/main" val="10002"/>
                  </a:ext>
                </a:extLst>
              </a:tr>
              <a:tr h="370840">
                <a:tc>
                  <a:txBody>
                    <a:bodyPr/>
                    <a:lstStyle/>
                    <a:p>
                      <a:pPr algn="ctr"/>
                      <a:r>
                        <a:rPr lang="en-US" altLang="zh-CN" baseline="0" dirty="0"/>
                        <a:t>a + b * c + ( d * e + f ) / g</a:t>
                      </a:r>
                      <a:endParaRPr lang="zh-CN" altLang="en-US" dirty="0"/>
                    </a:p>
                  </a:txBody>
                  <a:tcPr/>
                </a:tc>
                <a:tc>
                  <a:txBody>
                    <a:bodyPr/>
                    <a:lstStyle/>
                    <a:p>
                      <a:pPr algn="ctr"/>
                      <a:r>
                        <a:rPr lang="en-US" altLang="zh-CN" dirty="0"/>
                        <a:t>a b c * + d e * f + </a:t>
                      </a:r>
                      <a:r>
                        <a:rPr lang="en-US" altLang="zh-CN"/>
                        <a:t>g / </a:t>
                      </a:r>
                      <a:r>
                        <a:rPr lang="en-US" altLang="zh-CN" dirty="0"/>
                        <a:t>+</a:t>
                      </a:r>
                      <a:endParaRPr lang="zh-CN" altLang="en-US" dirty="0"/>
                    </a:p>
                  </a:txBody>
                  <a:tcPr/>
                </a:tc>
                <a:extLst>
                  <a:ext uri="{0D108BD9-81ED-4DB2-BD59-A6C34878D82A}">
                    <a16:rowId xmlns:a16="http://schemas.microsoft.com/office/drawing/2014/main" val="10003"/>
                  </a:ext>
                </a:extLst>
              </a:tr>
            </a:tbl>
          </a:graphicData>
        </a:graphic>
      </p:graphicFrame>
      <p:grpSp>
        <p:nvGrpSpPr>
          <p:cNvPr id="11" name="Group 51"/>
          <p:cNvGrpSpPr>
            <a:grpSpLocks/>
          </p:cNvGrpSpPr>
          <p:nvPr/>
        </p:nvGrpSpPr>
        <p:grpSpPr bwMode="auto">
          <a:xfrm>
            <a:off x="7176120" y="1484784"/>
            <a:ext cx="3276600" cy="1440160"/>
            <a:chOff x="3360" y="192"/>
            <a:chExt cx="2064" cy="528"/>
          </a:xfrm>
        </p:grpSpPr>
        <p:sp>
          <p:nvSpPr>
            <p:cNvPr id="12" name="AutoShape 38"/>
            <p:cNvSpPr>
              <a:spLocks noChangeArrowheads="1"/>
            </p:cNvSpPr>
            <p:nvPr/>
          </p:nvSpPr>
          <p:spPr bwMode="auto">
            <a:xfrm>
              <a:off x="3360" y="192"/>
              <a:ext cx="2064" cy="528"/>
            </a:xfrm>
            <a:prstGeom prst="cloudCallout">
              <a:avLst>
                <a:gd name="adj1" fmla="val -51403"/>
                <a:gd name="adj2" fmla="val 90907"/>
              </a:avLst>
            </a:prstGeom>
            <a:noFill/>
            <a:ln w="57150" cap="sq">
              <a:solidFill>
                <a:srgbClr val="33CCCC"/>
              </a:solidFill>
              <a:round/>
              <a:headEnd type="none" w="sm" len="sm"/>
              <a:tailEnd type="none" w="sm" len="sm"/>
            </a:ln>
          </p:spPr>
          <p:txBody>
            <a:bodyPr/>
            <a:lstStyle/>
            <a:p>
              <a:pPr algn="ctr"/>
              <a:endParaRPr lang="zh-CN" altLang="en-US"/>
            </a:p>
          </p:txBody>
        </p:sp>
        <p:sp>
          <p:nvSpPr>
            <p:cNvPr id="13" name="Text Box 39"/>
            <p:cNvSpPr txBox="1">
              <a:spLocks noChangeArrowheads="1"/>
            </p:cNvSpPr>
            <p:nvPr/>
          </p:nvSpPr>
          <p:spPr bwMode="auto">
            <a:xfrm>
              <a:off x="3470" y="303"/>
              <a:ext cx="1822" cy="339"/>
            </a:xfrm>
            <a:prstGeom prst="rect">
              <a:avLst/>
            </a:prstGeom>
            <a:noFill/>
            <a:ln w="12700" cap="sq">
              <a:noFill/>
              <a:miter lim="800000"/>
              <a:headEnd type="none" w="sm" len="sm"/>
              <a:tailEnd type="none" w="sm" len="sm"/>
            </a:ln>
            <a:effectLst>
              <a:outerShdw dist="17961" dir="2700000" algn="ctr" rotWithShape="0">
                <a:schemeClr val="bg1"/>
              </a:outerShdw>
            </a:effectLst>
          </p:spPr>
          <p:txBody>
            <a:bodyPr wrap="square">
              <a:spAutoFit/>
            </a:bodyPr>
            <a:lstStyle/>
            <a:p>
              <a:pPr algn="ctr"/>
              <a:r>
                <a:rPr lang="zh-CN" altLang="en-US" b="1" dirty="0">
                  <a:solidFill>
                    <a:srgbClr val="FF3300"/>
                  </a:solidFill>
                  <a:ea typeface="幼圆" pitchFamily="49" charset="-122"/>
                </a:rPr>
                <a:t>后缀表达式的最大好处是没有括号，也不用考虑运算符的优先级！</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linds(horizontal)">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right)">
                                      <p:cBhvr>
                                        <p:cTn id="3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22242" y="140154"/>
            <a:ext cx="8229600" cy="692696"/>
          </a:xfrm>
        </p:spPr>
        <p:txBody>
          <a:bodyPr/>
          <a:lstStyle/>
          <a:p>
            <a:r>
              <a:rPr lang="zh-CN" altLang="en-US" dirty="0"/>
              <a:t>中缀到后缀的转换规则</a:t>
            </a:r>
          </a:p>
        </p:txBody>
      </p:sp>
      <p:sp>
        <p:nvSpPr>
          <p:cNvPr id="4" name="灯片编号占位符 3"/>
          <p:cNvSpPr>
            <a:spLocks noGrp="1"/>
          </p:cNvSpPr>
          <p:nvPr>
            <p:ph type="sldNum" sz="quarter" idx="12"/>
          </p:nvPr>
        </p:nvSpPr>
        <p:spPr/>
        <p:txBody>
          <a:bodyPr/>
          <a:lstStyle/>
          <a:p>
            <a:pPr>
              <a:defRPr/>
            </a:pPr>
            <a:fld id="{EE5104C4-9BBA-4869-957B-C459F96FE33D}" type="slidenum">
              <a:rPr lang="zh-CN" altLang="en-US" smtClean="0"/>
              <a:pPr>
                <a:defRPr/>
              </a:pPr>
              <a:t>32</a:t>
            </a:fld>
            <a:endParaRPr lang="en-US" altLang="zh-CN"/>
          </a:p>
        </p:txBody>
      </p:sp>
      <p:grpSp>
        <p:nvGrpSpPr>
          <p:cNvPr id="6" name="Group 38"/>
          <p:cNvGrpSpPr>
            <a:grpSpLocks/>
          </p:cNvGrpSpPr>
          <p:nvPr/>
        </p:nvGrpSpPr>
        <p:grpSpPr bwMode="auto">
          <a:xfrm>
            <a:off x="2351584" y="1340769"/>
            <a:ext cx="7056784" cy="4751733"/>
            <a:chOff x="289" y="1200"/>
            <a:chExt cx="5136" cy="2676"/>
          </a:xfrm>
        </p:grpSpPr>
        <p:sp>
          <p:nvSpPr>
            <p:cNvPr id="7" name="Freeform 9"/>
            <p:cNvSpPr>
              <a:spLocks/>
            </p:cNvSpPr>
            <p:nvPr/>
          </p:nvSpPr>
          <p:spPr bwMode="auto">
            <a:xfrm>
              <a:off x="289" y="1200"/>
              <a:ext cx="5136" cy="2676"/>
            </a:xfrm>
            <a:custGeom>
              <a:avLst/>
              <a:gdLst>
                <a:gd name="T0" fmla="*/ 517 w 4969"/>
                <a:gd name="T1" fmla="*/ 63 h 2578"/>
                <a:gd name="T2" fmla="*/ 1684 w 4969"/>
                <a:gd name="T3" fmla="*/ 68 h 2578"/>
                <a:gd name="T4" fmla="*/ 2638 w 4969"/>
                <a:gd name="T5" fmla="*/ 39 h 2578"/>
                <a:gd name="T6" fmla="*/ 3377 w 4969"/>
                <a:gd name="T7" fmla="*/ 63 h 2578"/>
                <a:gd name="T8" fmla="*/ 4047 w 4969"/>
                <a:gd name="T9" fmla="*/ 99 h 2578"/>
                <a:gd name="T10" fmla="*/ 5455 w 4969"/>
                <a:gd name="T11" fmla="*/ 93 h 2578"/>
                <a:gd name="T12" fmla="*/ 6011 w 4969"/>
                <a:gd name="T13" fmla="*/ 63 h 2578"/>
                <a:gd name="T14" fmla="*/ 6211 w 4969"/>
                <a:gd name="T15" fmla="*/ 111 h 2578"/>
                <a:gd name="T16" fmla="*/ 6181 w 4969"/>
                <a:gd name="T17" fmla="*/ 129 h 2578"/>
                <a:gd name="T18" fmla="*/ 6154 w 4969"/>
                <a:gd name="T19" fmla="*/ 349 h 2578"/>
                <a:gd name="T20" fmla="*/ 6124 w 4969"/>
                <a:gd name="T21" fmla="*/ 539 h 2578"/>
                <a:gd name="T22" fmla="*/ 6099 w 4969"/>
                <a:gd name="T23" fmla="*/ 884 h 2578"/>
                <a:gd name="T24" fmla="*/ 6111 w 4969"/>
                <a:gd name="T25" fmla="*/ 826 h 2578"/>
                <a:gd name="T26" fmla="*/ 6124 w 4969"/>
                <a:gd name="T27" fmla="*/ 794 h 2578"/>
                <a:gd name="T28" fmla="*/ 6140 w 4969"/>
                <a:gd name="T29" fmla="*/ 826 h 2578"/>
                <a:gd name="T30" fmla="*/ 6169 w 4969"/>
                <a:gd name="T31" fmla="*/ 842 h 2578"/>
                <a:gd name="T32" fmla="*/ 6140 w 4969"/>
                <a:gd name="T33" fmla="*/ 1336 h 2578"/>
                <a:gd name="T34" fmla="*/ 4789 w 4969"/>
                <a:gd name="T35" fmla="*/ 1329 h 2578"/>
                <a:gd name="T36" fmla="*/ 4871 w 4969"/>
                <a:gd name="T37" fmla="*/ 1324 h 2578"/>
                <a:gd name="T38" fmla="*/ 3535 w 4969"/>
                <a:gd name="T39" fmla="*/ 1316 h 2578"/>
                <a:gd name="T40" fmla="*/ 2083 w 4969"/>
                <a:gd name="T41" fmla="*/ 1299 h 2578"/>
                <a:gd name="T42" fmla="*/ 1242 w 4969"/>
                <a:gd name="T43" fmla="*/ 1299 h 2578"/>
                <a:gd name="T44" fmla="*/ 161 w 4969"/>
                <a:gd name="T45" fmla="*/ 1353 h 2578"/>
                <a:gd name="T46" fmla="*/ 90 w 4969"/>
                <a:gd name="T47" fmla="*/ 663 h 2578"/>
                <a:gd name="T48" fmla="*/ 133 w 4969"/>
                <a:gd name="T49" fmla="*/ 82 h 2578"/>
                <a:gd name="T50" fmla="*/ 190 w 4969"/>
                <a:gd name="T51" fmla="*/ 88 h 2578"/>
                <a:gd name="T52" fmla="*/ 275 w 4969"/>
                <a:gd name="T53" fmla="*/ 99 h 2578"/>
                <a:gd name="T54" fmla="*/ 389 w 4969"/>
                <a:gd name="T55" fmla="*/ 52 h 2578"/>
                <a:gd name="T56" fmla="*/ 517 w 4969"/>
                <a:gd name="T57" fmla="*/ 63 h 2578"/>
                <a:gd name="T58" fmla="*/ 517 w 4969"/>
                <a:gd name="T59" fmla="*/ 63 h 257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969" h="2578">
                  <a:moveTo>
                    <a:pt x="410" y="121"/>
                  </a:moveTo>
                  <a:cubicBezTo>
                    <a:pt x="749" y="132"/>
                    <a:pt x="984" y="140"/>
                    <a:pt x="1336" y="132"/>
                  </a:cubicBezTo>
                  <a:cubicBezTo>
                    <a:pt x="1588" y="105"/>
                    <a:pt x="1841" y="98"/>
                    <a:pt x="2093" y="76"/>
                  </a:cubicBezTo>
                  <a:cubicBezTo>
                    <a:pt x="1871" y="226"/>
                    <a:pt x="2499" y="91"/>
                    <a:pt x="2680" y="121"/>
                  </a:cubicBezTo>
                  <a:cubicBezTo>
                    <a:pt x="3241" y="111"/>
                    <a:pt x="3496" y="0"/>
                    <a:pt x="3211" y="189"/>
                  </a:cubicBezTo>
                  <a:cubicBezTo>
                    <a:pt x="2900" y="395"/>
                    <a:pt x="3956" y="182"/>
                    <a:pt x="4329" y="178"/>
                  </a:cubicBezTo>
                  <a:cubicBezTo>
                    <a:pt x="4474" y="140"/>
                    <a:pt x="4621" y="130"/>
                    <a:pt x="4770" y="121"/>
                  </a:cubicBezTo>
                  <a:cubicBezTo>
                    <a:pt x="4910" y="140"/>
                    <a:pt x="4969" y="91"/>
                    <a:pt x="4928" y="212"/>
                  </a:cubicBezTo>
                  <a:cubicBezTo>
                    <a:pt x="4924" y="225"/>
                    <a:pt x="4913" y="234"/>
                    <a:pt x="4905" y="245"/>
                  </a:cubicBezTo>
                  <a:cubicBezTo>
                    <a:pt x="4854" y="402"/>
                    <a:pt x="4898" y="255"/>
                    <a:pt x="4883" y="663"/>
                  </a:cubicBezTo>
                  <a:cubicBezTo>
                    <a:pt x="4875" y="867"/>
                    <a:pt x="4874" y="861"/>
                    <a:pt x="4860" y="1025"/>
                  </a:cubicBezTo>
                  <a:cubicBezTo>
                    <a:pt x="4855" y="1243"/>
                    <a:pt x="4838" y="1462"/>
                    <a:pt x="4838" y="1680"/>
                  </a:cubicBezTo>
                  <a:cubicBezTo>
                    <a:pt x="4838" y="1718"/>
                    <a:pt x="4844" y="1605"/>
                    <a:pt x="4849" y="1567"/>
                  </a:cubicBezTo>
                  <a:cubicBezTo>
                    <a:pt x="4851" y="1548"/>
                    <a:pt x="4856" y="1529"/>
                    <a:pt x="4860" y="1510"/>
                  </a:cubicBezTo>
                  <a:cubicBezTo>
                    <a:pt x="4864" y="1529"/>
                    <a:pt x="4864" y="1549"/>
                    <a:pt x="4871" y="1567"/>
                  </a:cubicBezTo>
                  <a:cubicBezTo>
                    <a:pt x="4876" y="1580"/>
                    <a:pt x="4894" y="1587"/>
                    <a:pt x="4894" y="1601"/>
                  </a:cubicBezTo>
                  <a:cubicBezTo>
                    <a:pt x="4894" y="1913"/>
                    <a:pt x="4879" y="2226"/>
                    <a:pt x="4871" y="2538"/>
                  </a:cubicBezTo>
                  <a:cubicBezTo>
                    <a:pt x="4514" y="2534"/>
                    <a:pt x="4156" y="2535"/>
                    <a:pt x="3799" y="2527"/>
                  </a:cubicBezTo>
                  <a:cubicBezTo>
                    <a:pt x="3776" y="2527"/>
                    <a:pt x="3889" y="2517"/>
                    <a:pt x="3866" y="2516"/>
                  </a:cubicBezTo>
                  <a:cubicBezTo>
                    <a:pt x="3512" y="2508"/>
                    <a:pt x="3159" y="2508"/>
                    <a:pt x="2805" y="2504"/>
                  </a:cubicBezTo>
                  <a:cubicBezTo>
                    <a:pt x="2734" y="2506"/>
                    <a:pt x="1040" y="2578"/>
                    <a:pt x="1653" y="2470"/>
                  </a:cubicBezTo>
                  <a:cubicBezTo>
                    <a:pt x="1450" y="2572"/>
                    <a:pt x="1204" y="2516"/>
                    <a:pt x="986" y="2470"/>
                  </a:cubicBezTo>
                  <a:cubicBezTo>
                    <a:pt x="872" y="2472"/>
                    <a:pt x="318" y="2382"/>
                    <a:pt x="128" y="2572"/>
                  </a:cubicBezTo>
                  <a:cubicBezTo>
                    <a:pt x="0" y="2261"/>
                    <a:pt x="85" y="1659"/>
                    <a:pt x="71" y="1262"/>
                  </a:cubicBezTo>
                  <a:cubicBezTo>
                    <a:pt x="81" y="466"/>
                    <a:pt x="28" y="556"/>
                    <a:pt x="105" y="155"/>
                  </a:cubicBezTo>
                  <a:cubicBezTo>
                    <a:pt x="120" y="159"/>
                    <a:pt x="138" y="157"/>
                    <a:pt x="151" y="166"/>
                  </a:cubicBezTo>
                  <a:cubicBezTo>
                    <a:pt x="211" y="206"/>
                    <a:pt x="126" y="211"/>
                    <a:pt x="218" y="189"/>
                  </a:cubicBezTo>
                  <a:cubicBezTo>
                    <a:pt x="244" y="150"/>
                    <a:pt x="269" y="125"/>
                    <a:pt x="309" y="99"/>
                  </a:cubicBezTo>
                  <a:cubicBezTo>
                    <a:pt x="348" y="107"/>
                    <a:pt x="373" y="111"/>
                    <a:pt x="410" y="121"/>
                  </a:cubicBezTo>
                  <a:cubicBezTo>
                    <a:pt x="410" y="121"/>
                    <a:pt x="501" y="150"/>
                    <a:pt x="410" y="121"/>
                  </a:cubicBezTo>
                  <a:close/>
                </a:path>
              </a:pathLst>
            </a:custGeom>
            <a:solidFill>
              <a:srgbClr val="C9E4FF"/>
            </a:solidFill>
            <a:ln w="31750" cap="sq" cmpd="sng">
              <a:noFill/>
              <a:prstDash val="solid"/>
              <a:round/>
              <a:headEnd/>
              <a:tailEnd/>
            </a:ln>
            <a:effectLst>
              <a:outerShdw dist="224686" dir="2837437" algn="ctr" rotWithShape="0">
                <a:srgbClr val="B9B9B9"/>
              </a:outerShdw>
            </a:effectLst>
          </p:spPr>
          <p:txBody>
            <a:bodyPr wrap="none" anchor="ctr"/>
            <a:lstStyle/>
            <a:p>
              <a:endParaRPr lang="zh-CN" altLang="en-US"/>
            </a:p>
          </p:txBody>
        </p:sp>
        <p:sp>
          <p:nvSpPr>
            <p:cNvPr id="8" name="Text Box 10"/>
            <p:cNvSpPr txBox="1">
              <a:spLocks noChangeArrowheads="1"/>
            </p:cNvSpPr>
            <p:nvPr/>
          </p:nvSpPr>
          <p:spPr bwMode="auto">
            <a:xfrm>
              <a:off x="655" y="1522"/>
              <a:ext cx="4508" cy="2063"/>
            </a:xfrm>
            <a:prstGeom prst="rect">
              <a:avLst/>
            </a:prstGeom>
            <a:noFill/>
            <a:ln w="9525">
              <a:noFill/>
              <a:miter lim="800000"/>
              <a:headEnd/>
              <a:tailEnd/>
            </a:ln>
          </p:spPr>
          <p:txBody>
            <a:bodyPr wrap="square">
              <a:spAutoFit/>
            </a:bodyPr>
            <a:lstStyle/>
            <a:p>
              <a:pPr algn="just" fontAlgn="base">
                <a:spcBef>
                  <a:spcPct val="0"/>
                </a:spcBef>
              </a:pPr>
              <a:r>
                <a:rPr lang="zh-CN" altLang="en-US" sz="2400" b="1" dirty="0">
                  <a:solidFill>
                    <a:srgbClr val="000080"/>
                  </a:solidFill>
                  <a:latin typeface="幼圆" pitchFamily="49" charset="-122"/>
                  <a:ea typeface="幼圆" pitchFamily="49" charset="-122"/>
                </a:rPr>
                <a:t>规则：</a:t>
              </a:r>
              <a:r>
                <a:rPr lang="zh-CN" altLang="en-US" sz="2400" dirty="0">
                  <a:solidFill>
                    <a:srgbClr val="000080"/>
                  </a:solidFill>
                  <a:latin typeface="幼圆" pitchFamily="49" charset="-122"/>
                  <a:ea typeface="幼圆" pitchFamily="49" charset="-122"/>
                </a:rPr>
                <a:t>从左至右遍历中缀表达式中每个数字和符号：</a:t>
              </a:r>
              <a:endParaRPr lang="en-US" altLang="zh-CN" sz="2400" dirty="0">
                <a:solidFill>
                  <a:srgbClr val="000080"/>
                </a:solidFill>
                <a:latin typeface="幼圆" pitchFamily="49" charset="-122"/>
                <a:ea typeface="幼圆" pitchFamily="49" charset="-122"/>
              </a:endParaRPr>
            </a:p>
            <a:p>
              <a:pPr algn="just" fontAlgn="base">
                <a:spcBef>
                  <a:spcPct val="0"/>
                </a:spcBef>
                <a:buFont typeface="Wingdings" pitchFamily="2" charset="2"/>
                <a:buChar char="u"/>
              </a:pPr>
              <a:r>
                <a:rPr lang="en-US" altLang="zh-CN" sz="2400" dirty="0">
                  <a:solidFill>
                    <a:srgbClr val="000080"/>
                  </a:solidFill>
                  <a:latin typeface="幼圆" pitchFamily="49" charset="-122"/>
                  <a:ea typeface="幼圆" pitchFamily="49" charset="-122"/>
                </a:rPr>
                <a:t> </a:t>
              </a:r>
              <a:r>
                <a:rPr lang="zh-CN" altLang="en-US" sz="2000" dirty="0">
                  <a:solidFill>
                    <a:srgbClr val="000080"/>
                  </a:solidFill>
                  <a:latin typeface="楷体" pitchFamily="49" charset="-122"/>
                  <a:ea typeface="楷体" pitchFamily="49" charset="-122"/>
                </a:rPr>
                <a:t>若是数字直接输出，即成为后缀表达式的一部分；</a:t>
              </a:r>
              <a:endParaRPr lang="en-US" altLang="zh-CN" sz="2000" dirty="0">
                <a:solidFill>
                  <a:srgbClr val="000080"/>
                </a:solidFill>
                <a:latin typeface="楷体" pitchFamily="49" charset="-122"/>
                <a:ea typeface="楷体" pitchFamily="49" charset="-122"/>
              </a:endParaRPr>
            </a:p>
            <a:p>
              <a:pPr algn="just" fontAlgn="base">
                <a:spcBef>
                  <a:spcPct val="0"/>
                </a:spcBef>
                <a:buFont typeface="Wingdings" pitchFamily="2" charset="2"/>
                <a:buChar char="u"/>
              </a:pPr>
              <a:r>
                <a:rPr lang="en-US" altLang="zh-CN" sz="2000" dirty="0">
                  <a:solidFill>
                    <a:srgbClr val="000080"/>
                  </a:solidFill>
                  <a:latin typeface="楷体" pitchFamily="49" charset="-122"/>
                  <a:ea typeface="楷体" pitchFamily="49" charset="-122"/>
                </a:rPr>
                <a:t> </a:t>
              </a:r>
              <a:r>
                <a:rPr lang="zh-CN" altLang="en-US" sz="2000" dirty="0">
                  <a:solidFill>
                    <a:srgbClr val="000080"/>
                  </a:solidFill>
                  <a:latin typeface="楷体" pitchFamily="49" charset="-122"/>
                  <a:ea typeface="楷体" pitchFamily="49" charset="-122"/>
                </a:rPr>
                <a:t>若是符号：</a:t>
              </a:r>
              <a:endParaRPr lang="en-US" altLang="zh-CN" sz="2000" dirty="0">
                <a:solidFill>
                  <a:srgbClr val="000080"/>
                </a:solidFill>
                <a:latin typeface="楷体" pitchFamily="49" charset="-122"/>
                <a:ea typeface="楷体" pitchFamily="49" charset="-122"/>
              </a:endParaRPr>
            </a:p>
            <a:p>
              <a:pPr lvl="1" algn="just" fontAlgn="base">
                <a:spcBef>
                  <a:spcPct val="0"/>
                </a:spcBef>
                <a:buFont typeface="Wingdings" pitchFamily="2" charset="2"/>
                <a:buChar char="Ø"/>
              </a:pPr>
              <a:r>
                <a:rPr lang="zh-CN" altLang="en-US" sz="2000" dirty="0">
                  <a:solidFill>
                    <a:srgbClr val="000080"/>
                  </a:solidFill>
                  <a:latin typeface="楷体" pitchFamily="49" charset="-122"/>
                  <a:ea typeface="楷体" pitchFamily="49" charset="-122"/>
                </a:rPr>
                <a:t>若是</a:t>
              </a:r>
              <a:r>
                <a:rPr lang="en-US" altLang="zh-CN" sz="2000" dirty="0">
                  <a:solidFill>
                    <a:srgbClr val="000080"/>
                  </a:solidFill>
                  <a:latin typeface="楷体" pitchFamily="49" charset="-122"/>
                  <a:ea typeface="楷体" pitchFamily="49" charset="-122"/>
                </a:rPr>
                <a:t>)</a:t>
              </a:r>
              <a:r>
                <a:rPr lang="zh-CN" altLang="en-US" sz="2000" dirty="0">
                  <a:solidFill>
                    <a:srgbClr val="000080"/>
                  </a:solidFill>
                  <a:latin typeface="楷体" pitchFamily="49" charset="-122"/>
                  <a:ea typeface="楷体" pitchFamily="49" charset="-122"/>
                </a:rPr>
                <a:t>，则将栈中元素弹出并输出，直到遇到“</a:t>
              </a:r>
              <a:r>
                <a:rPr lang="en-US" altLang="zh-CN" sz="2000" dirty="0">
                  <a:solidFill>
                    <a:srgbClr val="000080"/>
                  </a:solidFill>
                  <a:latin typeface="楷体" pitchFamily="49" charset="-122"/>
                  <a:ea typeface="楷体" pitchFamily="49" charset="-122"/>
                </a:rPr>
                <a:t>(</a:t>
              </a:r>
              <a:r>
                <a:rPr lang="zh-CN" altLang="en-US" sz="2000" dirty="0">
                  <a:solidFill>
                    <a:srgbClr val="000080"/>
                  </a:solidFill>
                  <a:latin typeface="楷体" pitchFamily="49" charset="-122"/>
                  <a:ea typeface="楷体" pitchFamily="49" charset="-122"/>
                </a:rPr>
                <a:t>”， “</a:t>
              </a:r>
              <a:r>
                <a:rPr lang="en-US" altLang="zh-CN" sz="2000" dirty="0">
                  <a:solidFill>
                    <a:srgbClr val="000080"/>
                  </a:solidFill>
                  <a:latin typeface="楷体" pitchFamily="49" charset="-122"/>
                  <a:ea typeface="楷体" pitchFamily="49" charset="-122"/>
                </a:rPr>
                <a:t>(</a:t>
              </a:r>
              <a:r>
                <a:rPr lang="zh-CN" altLang="en-US" sz="2000" dirty="0">
                  <a:solidFill>
                    <a:srgbClr val="000080"/>
                  </a:solidFill>
                  <a:latin typeface="楷体" pitchFamily="49" charset="-122"/>
                  <a:ea typeface="楷体" pitchFamily="49" charset="-122"/>
                </a:rPr>
                <a:t>”弹出但不输出；</a:t>
              </a:r>
              <a:endParaRPr lang="en-US" altLang="zh-CN" sz="2000" dirty="0">
                <a:solidFill>
                  <a:srgbClr val="000080"/>
                </a:solidFill>
                <a:latin typeface="楷体" pitchFamily="49" charset="-122"/>
                <a:ea typeface="楷体" pitchFamily="49" charset="-122"/>
              </a:endParaRPr>
            </a:p>
            <a:p>
              <a:pPr lvl="1" algn="just" fontAlgn="base">
                <a:spcBef>
                  <a:spcPct val="0"/>
                </a:spcBef>
                <a:buFont typeface="Wingdings" pitchFamily="2" charset="2"/>
                <a:buChar char="Ø"/>
              </a:pPr>
              <a:r>
                <a:rPr lang="en-US" altLang="zh-CN" sz="2000" dirty="0">
                  <a:solidFill>
                    <a:srgbClr val="000080"/>
                  </a:solidFill>
                  <a:latin typeface="楷体" pitchFamily="49" charset="-122"/>
                  <a:ea typeface="楷体" pitchFamily="49" charset="-122"/>
                </a:rPr>
                <a:t> </a:t>
              </a:r>
              <a:r>
                <a:rPr lang="zh-CN" altLang="en-US" sz="2000" dirty="0">
                  <a:solidFill>
                    <a:srgbClr val="000080"/>
                  </a:solidFill>
                  <a:latin typeface="楷体" pitchFamily="49" charset="-122"/>
                  <a:ea typeface="楷体" pitchFamily="49" charset="-122"/>
                </a:rPr>
                <a:t>若是</a:t>
              </a:r>
              <a:r>
                <a:rPr lang="en-US" altLang="zh-CN" sz="2000" dirty="0">
                  <a:solidFill>
                    <a:srgbClr val="000080"/>
                  </a:solidFill>
                  <a:latin typeface="楷体" pitchFamily="49" charset="-122"/>
                  <a:ea typeface="楷体" pitchFamily="49" charset="-122"/>
                </a:rPr>
                <a:t>(</a:t>
              </a:r>
              <a:r>
                <a:rPr lang="zh-CN" altLang="en-US" sz="2000" dirty="0">
                  <a:solidFill>
                    <a:srgbClr val="000080"/>
                  </a:solidFill>
                  <a:latin typeface="楷体" pitchFamily="49" charset="-122"/>
                  <a:ea typeface="楷体" pitchFamily="49" charset="-122"/>
                </a:rPr>
                <a:t>，</a:t>
              </a:r>
              <a:r>
                <a:rPr lang="en-US" altLang="zh-CN" sz="2000" dirty="0">
                  <a:solidFill>
                    <a:srgbClr val="000080"/>
                  </a:solidFill>
                  <a:latin typeface="楷体" pitchFamily="49" charset="-122"/>
                  <a:ea typeface="楷体" pitchFamily="49" charset="-122"/>
                </a:rPr>
                <a:t>+</a:t>
              </a:r>
              <a:r>
                <a:rPr lang="zh-CN" altLang="en-US" sz="2000" dirty="0">
                  <a:solidFill>
                    <a:srgbClr val="000080"/>
                  </a:solidFill>
                  <a:latin typeface="楷体" pitchFamily="49" charset="-122"/>
                  <a:ea typeface="楷体" pitchFamily="49" charset="-122"/>
                </a:rPr>
                <a:t>，</a:t>
              </a:r>
              <a:r>
                <a:rPr lang="en-US" altLang="zh-CN" sz="2000" dirty="0">
                  <a:solidFill>
                    <a:srgbClr val="000080"/>
                  </a:solidFill>
                  <a:latin typeface="楷体" pitchFamily="49" charset="-122"/>
                  <a:ea typeface="楷体" pitchFamily="49" charset="-122"/>
                </a:rPr>
                <a:t>*</a:t>
              </a:r>
              <a:r>
                <a:rPr lang="zh-CN" altLang="en-US" sz="2000" dirty="0">
                  <a:solidFill>
                    <a:srgbClr val="000080"/>
                  </a:solidFill>
                  <a:latin typeface="楷体" pitchFamily="49" charset="-122"/>
                  <a:ea typeface="楷体" pitchFamily="49" charset="-122"/>
                </a:rPr>
                <a:t>等符号，则从栈中弹出并输出优先级高于当前的符号，直到遇到一个优先级低的符号；然后将当前符号压入栈中。</a:t>
              </a:r>
              <a:endParaRPr lang="en-US" altLang="zh-CN" sz="2000" dirty="0">
                <a:solidFill>
                  <a:srgbClr val="000080"/>
                </a:solidFill>
                <a:latin typeface="楷体" pitchFamily="49" charset="-122"/>
                <a:ea typeface="楷体" pitchFamily="49" charset="-122"/>
              </a:endParaRPr>
            </a:p>
            <a:p>
              <a:pPr lvl="1" algn="just" fontAlgn="base">
                <a:spcBef>
                  <a:spcPct val="0"/>
                </a:spcBef>
              </a:pPr>
              <a:r>
                <a:rPr lang="zh-CN" altLang="en-US" sz="2000" dirty="0">
                  <a:solidFill>
                    <a:srgbClr val="000080"/>
                  </a:solidFill>
                  <a:latin typeface="楷体" pitchFamily="49" charset="-122"/>
                  <a:ea typeface="楷体" pitchFamily="49" charset="-122"/>
                </a:rPr>
                <a:t>（</a:t>
              </a:r>
              <a:r>
                <a:rPr lang="zh-CN" altLang="en-US" sz="2000" dirty="0">
                  <a:latin typeface="楷体" pitchFamily="49" charset="-122"/>
                  <a:ea typeface="楷体" pitchFamily="49" charset="-122"/>
                </a:rPr>
                <a:t>优先级</a:t>
              </a:r>
              <a:r>
                <a:rPr lang="en-US" altLang="zh-CN" sz="2000" dirty="0">
                  <a:latin typeface="楷体" pitchFamily="49" charset="-122"/>
                  <a:ea typeface="楷体" pitchFamily="49" charset="-122"/>
                </a:rPr>
                <a:t>+</a:t>
              </a:r>
              <a:r>
                <a:rPr lang="zh-CN" altLang="en-US" sz="2000" dirty="0">
                  <a:latin typeface="楷体" pitchFamily="49" charset="-122"/>
                  <a:ea typeface="楷体" pitchFamily="49" charset="-122"/>
                </a:rPr>
                <a:t>，</a:t>
              </a:r>
              <a:r>
                <a:rPr lang="en-US" altLang="zh-CN" sz="2000" dirty="0">
                  <a:latin typeface="楷体" pitchFamily="49" charset="-122"/>
                  <a:ea typeface="楷体" pitchFamily="49" charset="-122"/>
                </a:rPr>
                <a:t>-</a:t>
              </a:r>
              <a:r>
                <a:rPr lang="zh-CN" altLang="en-US" sz="2000" dirty="0">
                  <a:latin typeface="楷体" pitchFamily="49" charset="-122"/>
                  <a:ea typeface="楷体" pitchFamily="49" charset="-122"/>
                </a:rPr>
                <a:t>最低，</a:t>
              </a:r>
              <a:r>
                <a:rPr lang="en-US" altLang="zh-CN" sz="2000" dirty="0">
                  <a:latin typeface="楷体" pitchFamily="49" charset="-122"/>
                  <a:ea typeface="楷体" pitchFamily="49" charset="-122"/>
                </a:rPr>
                <a:t>*</a:t>
              </a:r>
              <a:r>
                <a:rPr lang="zh-CN" altLang="en-US" sz="2000" dirty="0">
                  <a:latin typeface="楷体" pitchFamily="49" charset="-122"/>
                  <a:ea typeface="楷体" pitchFamily="49" charset="-122"/>
                </a:rPr>
                <a:t>，</a:t>
              </a:r>
              <a:r>
                <a:rPr lang="en-US" altLang="zh-CN" sz="2000" dirty="0">
                  <a:latin typeface="楷体" pitchFamily="49" charset="-122"/>
                  <a:ea typeface="楷体" pitchFamily="49" charset="-122"/>
                </a:rPr>
                <a:t>/</a:t>
              </a:r>
              <a:r>
                <a:rPr lang="zh-CN" altLang="en-US" sz="2000" dirty="0">
                  <a:latin typeface="楷体" pitchFamily="49" charset="-122"/>
                  <a:ea typeface="楷体" pitchFamily="49" charset="-122"/>
                </a:rPr>
                <a:t>次之，“</a:t>
              </a:r>
              <a:r>
                <a:rPr lang="en-US" altLang="zh-CN" sz="2000" dirty="0">
                  <a:latin typeface="楷体" pitchFamily="49" charset="-122"/>
                  <a:ea typeface="楷体" pitchFamily="49" charset="-122"/>
                </a:rPr>
                <a:t>(</a:t>
              </a:r>
              <a:r>
                <a:rPr lang="zh-CN" altLang="en-US" sz="2000" dirty="0">
                  <a:latin typeface="楷体" pitchFamily="49" charset="-122"/>
                  <a:ea typeface="楷体" pitchFamily="49" charset="-122"/>
                </a:rPr>
                <a:t>”最高</a:t>
              </a:r>
              <a:r>
                <a:rPr lang="zh-CN" altLang="en-US" sz="2000" dirty="0">
                  <a:solidFill>
                    <a:srgbClr val="000080"/>
                  </a:solidFill>
                  <a:latin typeface="楷体" pitchFamily="49" charset="-122"/>
                  <a:ea typeface="楷体" pitchFamily="49" charset="-122"/>
                </a:rPr>
                <a:t>）</a:t>
              </a:r>
              <a:endParaRPr lang="en-US" altLang="zh-CN" sz="2000" dirty="0">
                <a:solidFill>
                  <a:srgbClr val="000080"/>
                </a:solidFill>
                <a:latin typeface="楷体" pitchFamily="49" charset="-122"/>
                <a:ea typeface="楷体" pitchFamily="49" charset="-122"/>
              </a:endParaRPr>
            </a:p>
            <a:p>
              <a:pPr algn="just" fontAlgn="base">
                <a:spcBef>
                  <a:spcPct val="0"/>
                </a:spcBef>
                <a:buFont typeface="Wingdings" pitchFamily="2" charset="2"/>
                <a:buChar char="u"/>
              </a:pPr>
              <a:r>
                <a:rPr lang="en-US" altLang="zh-CN" sz="2000" dirty="0">
                  <a:solidFill>
                    <a:srgbClr val="000080"/>
                  </a:solidFill>
                  <a:latin typeface="楷体" pitchFamily="49" charset="-122"/>
                  <a:ea typeface="楷体" pitchFamily="49" charset="-122"/>
                </a:rPr>
                <a:t> </a:t>
              </a:r>
              <a:r>
                <a:rPr lang="zh-CN" altLang="en-US" sz="2000" dirty="0">
                  <a:solidFill>
                    <a:srgbClr val="000080"/>
                  </a:solidFill>
                  <a:latin typeface="楷体" pitchFamily="49" charset="-122"/>
                  <a:ea typeface="楷体" pitchFamily="49" charset="-122"/>
                </a:rPr>
                <a:t>遍历结束，将栈中所有元素依次弹出，直到栈为空。</a:t>
              </a:r>
              <a:endParaRPr lang="en-US" altLang="zh-CN" sz="2000" dirty="0">
                <a:solidFill>
                  <a:srgbClr val="000080"/>
                </a:solidFill>
                <a:latin typeface="楷体" pitchFamily="49" charset="-122"/>
                <a:ea typeface="楷体" pitchFamily="49" charset="-122"/>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righ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后缀表达式计算</a:t>
            </a:r>
          </a:p>
        </p:txBody>
      </p:sp>
      <p:sp>
        <p:nvSpPr>
          <p:cNvPr id="4" name="灯片编号占位符 3"/>
          <p:cNvSpPr>
            <a:spLocks noGrp="1"/>
          </p:cNvSpPr>
          <p:nvPr>
            <p:ph type="sldNum" sz="quarter" idx="12"/>
          </p:nvPr>
        </p:nvSpPr>
        <p:spPr/>
        <p:txBody>
          <a:bodyPr/>
          <a:lstStyle/>
          <a:p>
            <a:pPr>
              <a:defRPr/>
            </a:pPr>
            <a:fld id="{EE5104C4-9BBA-4869-957B-C459F96FE33D}" type="slidenum">
              <a:rPr lang="zh-CN" altLang="en-US" smtClean="0"/>
              <a:pPr>
                <a:defRPr/>
              </a:pPr>
              <a:t>33</a:t>
            </a:fld>
            <a:endParaRPr lang="en-US" altLang="zh-CN"/>
          </a:p>
        </p:txBody>
      </p:sp>
      <p:grpSp>
        <p:nvGrpSpPr>
          <p:cNvPr id="5" name="Group 38"/>
          <p:cNvGrpSpPr>
            <a:grpSpLocks/>
          </p:cNvGrpSpPr>
          <p:nvPr/>
        </p:nvGrpSpPr>
        <p:grpSpPr bwMode="auto">
          <a:xfrm>
            <a:off x="2351584" y="1340769"/>
            <a:ext cx="7056784" cy="4751733"/>
            <a:chOff x="289" y="1200"/>
            <a:chExt cx="5136" cy="2676"/>
          </a:xfrm>
        </p:grpSpPr>
        <p:sp>
          <p:nvSpPr>
            <p:cNvPr id="6" name="Freeform 9"/>
            <p:cNvSpPr>
              <a:spLocks/>
            </p:cNvSpPr>
            <p:nvPr/>
          </p:nvSpPr>
          <p:spPr bwMode="auto">
            <a:xfrm>
              <a:off x="289" y="1200"/>
              <a:ext cx="5136" cy="2676"/>
            </a:xfrm>
            <a:custGeom>
              <a:avLst/>
              <a:gdLst>
                <a:gd name="T0" fmla="*/ 517 w 4969"/>
                <a:gd name="T1" fmla="*/ 63 h 2578"/>
                <a:gd name="T2" fmla="*/ 1684 w 4969"/>
                <a:gd name="T3" fmla="*/ 68 h 2578"/>
                <a:gd name="T4" fmla="*/ 2638 w 4969"/>
                <a:gd name="T5" fmla="*/ 39 h 2578"/>
                <a:gd name="T6" fmla="*/ 3377 w 4969"/>
                <a:gd name="T7" fmla="*/ 63 h 2578"/>
                <a:gd name="T8" fmla="*/ 4047 w 4969"/>
                <a:gd name="T9" fmla="*/ 99 h 2578"/>
                <a:gd name="T10" fmla="*/ 5455 w 4969"/>
                <a:gd name="T11" fmla="*/ 93 h 2578"/>
                <a:gd name="T12" fmla="*/ 6011 w 4969"/>
                <a:gd name="T13" fmla="*/ 63 h 2578"/>
                <a:gd name="T14" fmla="*/ 6211 w 4969"/>
                <a:gd name="T15" fmla="*/ 111 h 2578"/>
                <a:gd name="T16" fmla="*/ 6181 w 4969"/>
                <a:gd name="T17" fmla="*/ 129 h 2578"/>
                <a:gd name="T18" fmla="*/ 6154 w 4969"/>
                <a:gd name="T19" fmla="*/ 349 h 2578"/>
                <a:gd name="T20" fmla="*/ 6124 w 4969"/>
                <a:gd name="T21" fmla="*/ 539 h 2578"/>
                <a:gd name="T22" fmla="*/ 6099 w 4969"/>
                <a:gd name="T23" fmla="*/ 884 h 2578"/>
                <a:gd name="T24" fmla="*/ 6111 w 4969"/>
                <a:gd name="T25" fmla="*/ 826 h 2578"/>
                <a:gd name="T26" fmla="*/ 6124 w 4969"/>
                <a:gd name="T27" fmla="*/ 794 h 2578"/>
                <a:gd name="T28" fmla="*/ 6140 w 4969"/>
                <a:gd name="T29" fmla="*/ 826 h 2578"/>
                <a:gd name="T30" fmla="*/ 6169 w 4969"/>
                <a:gd name="T31" fmla="*/ 842 h 2578"/>
                <a:gd name="T32" fmla="*/ 6140 w 4969"/>
                <a:gd name="T33" fmla="*/ 1336 h 2578"/>
                <a:gd name="T34" fmla="*/ 4789 w 4969"/>
                <a:gd name="T35" fmla="*/ 1329 h 2578"/>
                <a:gd name="T36" fmla="*/ 4871 w 4969"/>
                <a:gd name="T37" fmla="*/ 1324 h 2578"/>
                <a:gd name="T38" fmla="*/ 3535 w 4969"/>
                <a:gd name="T39" fmla="*/ 1316 h 2578"/>
                <a:gd name="T40" fmla="*/ 2083 w 4969"/>
                <a:gd name="T41" fmla="*/ 1299 h 2578"/>
                <a:gd name="T42" fmla="*/ 1242 w 4969"/>
                <a:gd name="T43" fmla="*/ 1299 h 2578"/>
                <a:gd name="T44" fmla="*/ 161 w 4969"/>
                <a:gd name="T45" fmla="*/ 1353 h 2578"/>
                <a:gd name="T46" fmla="*/ 90 w 4969"/>
                <a:gd name="T47" fmla="*/ 663 h 2578"/>
                <a:gd name="T48" fmla="*/ 133 w 4969"/>
                <a:gd name="T49" fmla="*/ 82 h 2578"/>
                <a:gd name="T50" fmla="*/ 190 w 4969"/>
                <a:gd name="T51" fmla="*/ 88 h 2578"/>
                <a:gd name="T52" fmla="*/ 275 w 4969"/>
                <a:gd name="T53" fmla="*/ 99 h 2578"/>
                <a:gd name="T54" fmla="*/ 389 w 4969"/>
                <a:gd name="T55" fmla="*/ 52 h 2578"/>
                <a:gd name="T56" fmla="*/ 517 w 4969"/>
                <a:gd name="T57" fmla="*/ 63 h 2578"/>
                <a:gd name="T58" fmla="*/ 517 w 4969"/>
                <a:gd name="T59" fmla="*/ 63 h 257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969" h="2578">
                  <a:moveTo>
                    <a:pt x="410" y="121"/>
                  </a:moveTo>
                  <a:cubicBezTo>
                    <a:pt x="749" y="132"/>
                    <a:pt x="984" y="140"/>
                    <a:pt x="1336" y="132"/>
                  </a:cubicBezTo>
                  <a:cubicBezTo>
                    <a:pt x="1588" y="105"/>
                    <a:pt x="1841" y="98"/>
                    <a:pt x="2093" y="76"/>
                  </a:cubicBezTo>
                  <a:cubicBezTo>
                    <a:pt x="1871" y="226"/>
                    <a:pt x="2499" y="91"/>
                    <a:pt x="2680" y="121"/>
                  </a:cubicBezTo>
                  <a:cubicBezTo>
                    <a:pt x="3241" y="111"/>
                    <a:pt x="3496" y="0"/>
                    <a:pt x="3211" y="189"/>
                  </a:cubicBezTo>
                  <a:cubicBezTo>
                    <a:pt x="2900" y="395"/>
                    <a:pt x="3956" y="182"/>
                    <a:pt x="4329" y="178"/>
                  </a:cubicBezTo>
                  <a:cubicBezTo>
                    <a:pt x="4474" y="140"/>
                    <a:pt x="4621" y="130"/>
                    <a:pt x="4770" y="121"/>
                  </a:cubicBezTo>
                  <a:cubicBezTo>
                    <a:pt x="4910" y="140"/>
                    <a:pt x="4969" y="91"/>
                    <a:pt x="4928" y="212"/>
                  </a:cubicBezTo>
                  <a:cubicBezTo>
                    <a:pt x="4924" y="225"/>
                    <a:pt x="4913" y="234"/>
                    <a:pt x="4905" y="245"/>
                  </a:cubicBezTo>
                  <a:cubicBezTo>
                    <a:pt x="4854" y="402"/>
                    <a:pt x="4898" y="255"/>
                    <a:pt x="4883" y="663"/>
                  </a:cubicBezTo>
                  <a:cubicBezTo>
                    <a:pt x="4875" y="867"/>
                    <a:pt x="4874" y="861"/>
                    <a:pt x="4860" y="1025"/>
                  </a:cubicBezTo>
                  <a:cubicBezTo>
                    <a:pt x="4855" y="1243"/>
                    <a:pt x="4838" y="1462"/>
                    <a:pt x="4838" y="1680"/>
                  </a:cubicBezTo>
                  <a:cubicBezTo>
                    <a:pt x="4838" y="1718"/>
                    <a:pt x="4844" y="1605"/>
                    <a:pt x="4849" y="1567"/>
                  </a:cubicBezTo>
                  <a:cubicBezTo>
                    <a:pt x="4851" y="1548"/>
                    <a:pt x="4856" y="1529"/>
                    <a:pt x="4860" y="1510"/>
                  </a:cubicBezTo>
                  <a:cubicBezTo>
                    <a:pt x="4864" y="1529"/>
                    <a:pt x="4864" y="1549"/>
                    <a:pt x="4871" y="1567"/>
                  </a:cubicBezTo>
                  <a:cubicBezTo>
                    <a:pt x="4876" y="1580"/>
                    <a:pt x="4894" y="1587"/>
                    <a:pt x="4894" y="1601"/>
                  </a:cubicBezTo>
                  <a:cubicBezTo>
                    <a:pt x="4894" y="1913"/>
                    <a:pt x="4879" y="2226"/>
                    <a:pt x="4871" y="2538"/>
                  </a:cubicBezTo>
                  <a:cubicBezTo>
                    <a:pt x="4514" y="2534"/>
                    <a:pt x="4156" y="2535"/>
                    <a:pt x="3799" y="2527"/>
                  </a:cubicBezTo>
                  <a:cubicBezTo>
                    <a:pt x="3776" y="2527"/>
                    <a:pt x="3889" y="2517"/>
                    <a:pt x="3866" y="2516"/>
                  </a:cubicBezTo>
                  <a:cubicBezTo>
                    <a:pt x="3512" y="2508"/>
                    <a:pt x="3159" y="2508"/>
                    <a:pt x="2805" y="2504"/>
                  </a:cubicBezTo>
                  <a:cubicBezTo>
                    <a:pt x="2734" y="2506"/>
                    <a:pt x="1040" y="2578"/>
                    <a:pt x="1653" y="2470"/>
                  </a:cubicBezTo>
                  <a:cubicBezTo>
                    <a:pt x="1450" y="2572"/>
                    <a:pt x="1204" y="2516"/>
                    <a:pt x="986" y="2470"/>
                  </a:cubicBezTo>
                  <a:cubicBezTo>
                    <a:pt x="872" y="2472"/>
                    <a:pt x="318" y="2382"/>
                    <a:pt x="128" y="2572"/>
                  </a:cubicBezTo>
                  <a:cubicBezTo>
                    <a:pt x="0" y="2261"/>
                    <a:pt x="85" y="1659"/>
                    <a:pt x="71" y="1262"/>
                  </a:cubicBezTo>
                  <a:cubicBezTo>
                    <a:pt x="81" y="466"/>
                    <a:pt x="28" y="556"/>
                    <a:pt x="105" y="155"/>
                  </a:cubicBezTo>
                  <a:cubicBezTo>
                    <a:pt x="120" y="159"/>
                    <a:pt x="138" y="157"/>
                    <a:pt x="151" y="166"/>
                  </a:cubicBezTo>
                  <a:cubicBezTo>
                    <a:pt x="211" y="206"/>
                    <a:pt x="126" y="211"/>
                    <a:pt x="218" y="189"/>
                  </a:cubicBezTo>
                  <a:cubicBezTo>
                    <a:pt x="244" y="150"/>
                    <a:pt x="269" y="125"/>
                    <a:pt x="309" y="99"/>
                  </a:cubicBezTo>
                  <a:cubicBezTo>
                    <a:pt x="348" y="107"/>
                    <a:pt x="373" y="111"/>
                    <a:pt x="410" y="121"/>
                  </a:cubicBezTo>
                  <a:cubicBezTo>
                    <a:pt x="410" y="121"/>
                    <a:pt x="501" y="150"/>
                    <a:pt x="410" y="121"/>
                  </a:cubicBezTo>
                  <a:close/>
                </a:path>
              </a:pathLst>
            </a:custGeom>
            <a:solidFill>
              <a:srgbClr val="C9E4FF"/>
            </a:solidFill>
            <a:ln w="31750" cap="sq" cmpd="sng">
              <a:noFill/>
              <a:prstDash val="solid"/>
              <a:round/>
              <a:headEnd/>
              <a:tailEnd/>
            </a:ln>
            <a:effectLst>
              <a:outerShdw dist="224686" dir="2837437" algn="ctr" rotWithShape="0">
                <a:srgbClr val="B9B9B9"/>
              </a:outerShdw>
            </a:effectLst>
          </p:spPr>
          <p:txBody>
            <a:bodyPr wrap="none" anchor="ctr"/>
            <a:lstStyle/>
            <a:p>
              <a:endParaRPr lang="zh-CN" altLang="en-US"/>
            </a:p>
          </p:txBody>
        </p:sp>
        <p:sp>
          <p:nvSpPr>
            <p:cNvPr id="7" name="Text Box 10"/>
            <p:cNvSpPr txBox="1">
              <a:spLocks noChangeArrowheads="1"/>
            </p:cNvSpPr>
            <p:nvPr/>
          </p:nvSpPr>
          <p:spPr bwMode="auto">
            <a:xfrm>
              <a:off x="655" y="1522"/>
              <a:ext cx="4508" cy="1716"/>
            </a:xfrm>
            <a:prstGeom prst="rect">
              <a:avLst/>
            </a:prstGeom>
            <a:noFill/>
            <a:ln w="9525">
              <a:noFill/>
              <a:miter lim="800000"/>
              <a:headEnd/>
              <a:tailEnd/>
            </a:ln>
          </p:spPr>
          <p:txBody>
            <a:bodyPr wrap="square">
              <a:spAutoFit/>
            </a:bodyPr>
            <a:lstStyle/>
            <a:p>
              <a:pPr algn="just" fontAlgn="base">
                <a:spcBef>
                  <a:spcPct val="0"/>
                </a:spcBef>
              </a:pPr>
              <a:r>
                <a:rPr lang="zh-CN" altLang="en-US" sz="2400" b="1" dirty="0">
                  <a:solidFill>
                    <a:srgbClr val="000080"/>
                  </a:solidFill>
                  <a:latin typeface="幼圆" pitchFamily="49" charset="-122"/>
                  <a:ea typeface="幼圆" pitchFamily="49" charset="-122"/>
                </a:rPr>
                <a:t>规则：</a:t>
              </a:r>
              <a:r>
                <a:rPr lang="zh-CN" altLang="en-US" sz="2400" dirty="0">
                  <a:solidFill>
                    <a:srgbClr val="000080"/>
                  </a:solidFill>
                  <a:latin typeface="幼圆" pitchFamily="49" charset="-122"/>
                  <a:ea typeface="幼圆" pitchFamily="49" charset="-122"/>
                </a:rPr>
                <a:t>从左至右遍历后缀表达式中每个数字和符号：</a:t>
              </a:r>
              <a:endParaRPr lang="en-US" altLang="zh-CN" sz="2400" dirty="0">
                <a:solidFill>
                  <a:srgbClr val="000080"/>
                </a:solidFill>
                <a:latin typeface="幼圆" pitchFamily="49" charset="-122"/>
                <a:ea typeface="幼圆" pitchFamily="49" charset="-122"/>
              </a:endParaRPr>
            </a:p>
            <a:p>
              <a:pPr algn="just" fontAlgn="base">
                <a:spcBef>
                  <a:spcPct val="0"/>
                </a:spcBef>
              </a:pPr>
              <a:endParaRPr lang="en-US" altLang="zh-CN" sz="2400" dirty="0">
                <a:solidFill>
                  <a:srgbClr val="000080"/>
                </a:solidFill>
                <a:latin typeface="幼圆" pitchFamily="49" charset="-122"/>
                <a:ea typeface="幼圆" pitchFamily="49" charset="-122"/>
              </a:endParaRPr>
            </a:p>
            <a:p>
              <a:pPr marL="363538" indent="-363538" algn="just" fontAlgn="base">
                <a:spcBef>
                  <a:spcPct val="0"/>
                </a:spcBef>
                <a:buFont typeface="Wingdings" pitchFamily="2" charset="2"/>
                <a:buChar char="u"/>
              </a:pPr>
              <a:r>
                <a:rPr lang="zh-CN" altLang="en-US" sz="2000" dirty="0">
                  <a:solidFill>
                    <a:srgbClr val="000080"/>
                  </a:solidFill>
                  <a:latin typeface="楷体" pitchFamily="49" charset="-122"/>
                  <a:ea typeface="楷体" pitchFamily="49" charset="-122"/>
                </a:rPr>
                <a:t>若是数字直接进栈；</a:t>
              </a:r>
              <a:endParaRPr lang="en-US" altLang="zh-CN" sz="2000" dirty="0">
                <a:solidFill>
                  <a:srgbClr val="000080"/>
                </a:solidFill>
                <a:latin typeface="楷体" pitchFamily="49" charset="-122"/>
                <a:ea typeface="楷体" pitchFamily="49" charset="-122"/>
              </a:endParaRPr>
            </a:p>
            <a:p>
              <a:pPr marL="363538" indent="-363538" algn="just" fontAlgn="base">
                <a:spcBef>
                  <a:spcPct val="0"/>
                </a:spcBef>
                <a:buFont typeface="Wingdings" pitchFamily="2" charset="2"/>
                <a:buChar char="u"/>
              </a:pPr>
              <a:r>
                <a:rPr lang="zh-CN" altLang="en-US" sz="2000" dirty="0">
                  <a:solidFill>
                    <a:srgbClr val="000080"/>
                  </a:solidFill>
                  <a:latin typeface="楷体" pitchFamily="49" charset="-122"/>
                  <a:ea typeface="楷体" pitchFamily="49" charset="-122"/>
                </a:rPr>
                <a:t>若是运算符（</a:t>
              </a:r>
              <a:r>
                <a:rPr lang="en-US" altLang="zh-CN" sz="2000" dirty="0">
                  <a:solidFill>
                    <a:srgbClr val="000080"/>
                  </a:solidFill>
                  <a:latin typeface="楷体" pitchFamily="49" charset="-122"/>
                  <a:ea typeface="楷体" pitchFamily="49" charset="-122"/>
                </a:rPr>
                <a:t>+</a:t>
              </a:r>
              <a:r>
                <a:rPr lang="zh-CN" altLang="en-US" sz="2000" dirty="0">
                  <a:solidFill>
                    <a:srgbClr val="000080"/>
                  </a:solidFill>
                  <a:latin typeface="楷体" pitchFamily="49" charset="-122"/>
                  <a:ea typeface="楷体" pitchFamily="49" charset="-122"/>
                </a:rPr>
                <a:t>，</a:t>
              </a:r>
              <a:r>
                <a:rPr lang="en-US" altLang="zh-CN" sz="2000" dirty="0">
                  <a:solidFill>
                    <a:srgbClr val="000080"/>
                  </a:solidFill>
                  <a:latin typeface="楷体" pitchFamily="49" charset="-122"/>
                  <a:ea typeface="楷体" pitchFamily="49" charset="-122"/>
                </a:rPr>
                <a:t>-</a:t>
              </a:r>
              <a:r>
                <a:rPr lang="zh-CN" altLang="en-US" sz="2000" dirty="0">
                  <a:solidFill>
                    <a:srgbClr val="000080"/>
                  </a:solidFill>
                  <a:latin typeface="楷体" pitchFamily="49" charset="-122"/>
                  <a:ea typeface="楷体" pitchFamily="49" charset="-122"/>
                </a:rPr>
                <a:t>，</a:t>
              </a:r>
              <a:r>
                <a:rPr lang="en-US" altLang="zh-CN" sz="2000" dirty="0">
                  <a:solidFill>
                    <a:srgbClr val="000080"/>
                  </a:solidFill>
                  <a:latin typeface="楷体" pitchFamily="49" charset="-122"/>
                  <a:ea typeface="楷体" pitchFamily="49" charset="-122"/>
                </a:rPr>
                <a:t>*</a:t>
              </a:r>
              <a:r>
                <a:rPr lang="zh-CN" altLang="en-US" sz="2000" dirty="0">
                  <a:solidFill>
                    <a:srgbClr val="000080"/>
                  </a:solidFill>
                  <a:latin typeface="楷体" pitchFamily="49" charset="-122"/>
                  <a:ea typeface="楷体" pitchFamily="49" charset="-122"/>
                </a:rPr>
                <a:t>，</a:t>
              </a:r>
              <a:r>
                <a:rPr lang="en-US" altLang="zh-CN" sz="2000" dirty="0">
                  <a:solidFill>
                    <a:srgbClr val="000080"/>
                  </a:solidFill>
                  <a:latin typeface="楷体" pitchFamily="49" charset="-122"/>
                  <a:ea typeface="楷体" pitchFamily="49" charset="-122"/>
                </a:rPr>
                <a:t>/</a:t>
              </a:r>
              <a:r>
                <a:rPr lang="zh-CN" altLang="en-US" sz="2000" dirty="0">
                  <a:solidFill>
                    <a:srgbClr val="000080"/>
                  </a:solidFill>
                  <a:latin typeface="楷体" pitchFamily="49" charset="-122"/>
                  <a:ea typeface="楷体" pitchFamily="49" charset="-122"/>
                </a:rPr>
                <a:t>），则从栈中弹出两个元素进行计算（注意：后弹出的是左运算数），并将计算结果进栈。</a:t>
              </a:r>
              <a:endParaRPr lang="en-US" altLang="zh-CN" sz="2000" dirty="0">
                <a:solidFill>
                  <a:srgbClr val="000080"/>
                </a:solidFill>
                <a:latin typeface="楷体" pitchFamily="49" charset="-122"/>
                <a:ea typeface="楷体" pitchFamily="49" charset="-122"/>
              </a:endParaRPr>
            </a:p>
            <a:p>
              <a:pPr marL="363538" indent="-363538" algn="just" fontAlgn="base">
                <a:spcBef>
                  <a:spcPct val="0"/>
                </a:spcBef>
                <a:buFont typeface="Wingdings" pitchFamily="2" charset="2"/>
                <a:buChar char="u"/>
              </a:pPr>
              <a:r>
                <a:rPr lang="en-US" altLang="zh-CN" sz="2000" dirty="0">
                  <a:solidFill>
                    <a:srgbClr val="000080"/>
                  </a:solidFill>
                  <a:latin typeface="楷体" pitchFamily="49" charset="-122"/>
                  <a:ea typeface="楷体" pitchFamily="49" charset="-122"/>
                </a:rPr>
                <a:t> </a:t>
              </a:r>
              <a:r>
                <a:rPr lang="zh-CN" altLang="en-US" sz="2000" dirty="0">
                  <a:solidFill>
                    <a:srgbClr val="000080"/>
                  </a:solidFill>
                  <a:latin typeface="楷体" pitchFamily="49" charset="-122"/>
                  <a:ea typeface="楷体" pitchFamily="49" charset="-122"/>
                </a:rPr>
                <a:t>遍历结束，将计算结果从栈中弹出（栈中应只有一个元素，否则表达式有错）。</a:t>
              </a:r>
              <a:endParaRPr lang="en-US" altLang="zh-CN" sz="2000" dirty="0">
                <a:solidFill>
                  <a:srgbClr val="000080"/>
                </a:solidFill>
                <a:latin typeface="楷体" pitchFamily="49" charset="-122"/>
                <a:ea typeface="楷体" pitchFamily="49" charset="-122"/>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righ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34</a:t>
            </a:fld>
            <a:endParaRPr lang="zh-CN" altLang="en-US"/>
          </a:p>
        </p:txBody>
      </p:sp>
      <p:grpSp>
        <p:nvGrpSpPr>
          <p:cNvPr id="3" name="Group 38"/>
          <p:cNvGrpSpPr>
            <a:grpSpLocks/>
          </p:cNvGrpSpPr>
          <p:nvPr/>
        </p:nvGrpSpPr>
        <p:grpSpPr bwMode="auto">
          <a:xfrm>
            <a:off x="3647728" y="2276872"/>
            <a:ext cx="5049316" cy="2629396"/>
            <a:chOff x="289" y="1200"/>
            <a:chExt cx="5136" cy="2352"/>
          </a:xfrm>
        </p:grpSpPr>
        <p:sp>
          <p:nvSpPr>
            <p:cNvPr id="4" name="Freeform 9"/>
            <p:cNvSpPr>
              <a:spLocks/>
            </p:cNvSpPr>
            <p:nvPr/>
          </p:nvSpPr>
          <p:spPr bwMode="auto">
            <a:xfrm>
              <a:off x="289" y="1200"/>
              <a:ext cx="5136" cy="2352"/>
            </a:xfrm>
            <a:custGeom>
              <a:avLst/>
              <a:gdLst>
                <a:gd name="T0" fmla="*/ 517 w 4969"/>
                <a:gd name="T1" fmla="*/ 63 h 2578"/>
                <a:gd name="T2" fmla="*/ 1684 w 4969"/>
                <a:gd name="T3" fmla="*/ 68 h 2578"/>
                <a:gd name="T4" fmla="*/ 2638 w 4969"/>
                <a:gd name="T5" fmla="*/ 39 h 2578"/>
                <a:gd name="T6" fmla="*/ 3377 w 4969"/>
                <a:gd name="T7" fmla="*/ 63 h 2578"/>
                <a:gd name="T8" fmla="*/ 4047 w 4969"/>
                <a:gd name="T9" fmla="*/ 99 h 2578"/>
                <a:gd name="T10" fmla="*/ 5455 w 4969"/>
                <a:gd name="T11" fmla="*/ 93 h 2578"/>
                <a:gd name="T12" fmla="*/ 6011 w 4969"/>
                <a:gd name="T13" fmla="*/ 63 h 2578"/>
                <a:gd name="T14" fmla="*/ 6211 w 4969"/>
                <a:gd name="T15" fmla="*/ 111 h 2578"/>
                <a:gd name="T16" fmla="*/ 6181 w 4969"/>
                <a:gd name="T17" fmla="*/ 129 h 2578"/>
                <a:gd name="T18" fmla="*/ 6154 w 4969"/>
                <a:gd name="T19" fmla="*/ 349 h 2578"/>
                <a:gd name="T20" fmla="*/ 6124 w 4969"/>
                <a:gd name="T21" fmla="*/ 539 h 2578"/>
                <a:gd name="T22" fmla="*/ 6099 w 4969"/>
                <a:gd name="T23" fmla="*/ 884 h 2578"/>
                <a:gd name="T24" fmla="*/ 6111 w 4969"/>
                <a:gd name="T25" fmla="*/ 826 h 2578"/>
                <a:gd name="T26" fmla="*/ 6124 w 4969"/>
                <a:gd name="T27" fmla="*/ 794 h 2578"/>
                <a:gd name="T28" fmla="*/ 6140 w 4969"/>
                <a:gd name="T29" fmla="*/ 826 h 2578"/>
                <a:gd name="T30" fmla="*/ 6169 w 4969"/>
                <a:gd name="T31" fmla="*/ 842 h 2578"/>
                <a:gd name="T32" fmla="*/ 6140 w 4969"/>
                <a:gd name="T33" fmla="*/ 1336 h 2578"/>
                <a:gd name="T34" fmla="*/ 4789 w 4969"/>
                <a:gd name="T35" fmla="*/ 1329 h 2578"/>
                <a:gd name="T36" fmla="*/ 4871 w 4969"/>
                <a:gd name="T37" fmla="*/ 1324 h 2578"/>
                <a:gd name="T38" fmla="*/ 3535 w 4969"/>
                <a:gd name="T39" fmla="*/ 1316 h 2578"/>
                <a:gd name="T40" fmla="*/ 2083 w 4969"/>
                <a:gd name="T41" fmla="*/ 1299 h 2578"/>
                <a:gd name="T42" fmla="*/ 1242 w 4969"/>
                <a:gd name="T43" fmla="*/ 1299 h 2578"/>
                <a:gd name="T44" fmla="*/ 161 w 4969"/>
                <a:gd name="T45" fmla="*/ 1353 h 2578"/>
                <a:gd name="T46" fmla="*/ 90 w 4969"/>
                <a:gd name="T47" fmla="*/ 663 h 2578"/>
                <a:gd name="T48" fmla="*/ 133 w 4969"/>
                <a:gd name="T49" fmla="*/ 82 h 2578"/>
                <a:gd name="T50" fmla="*/ 190 w 4969"/>
                <a:gd name="T51" fmla="*/ 88 h 2578"/>
                <a:gd name="T52" fmla="*/ 275 w 4969"/>
                <a:gd name="T53" fmla="*/ 99 h 2578"/>
                <a:gd name="T54" fmla="*/ 389 w 4969"/>
                <a:gd name="T55" fmla="*/ 52 h 2578"/>
                <a:gd name="T56" fmla="*/ 517 w 4969"/>
                <a:gd name="T57" fmla="*/ 63 h 2578"/>
                <a:gd name="T58" fmla="*/ 517 w 4969"/>
                <a:gd name="T59" fmla="*/ 63 h 257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969" h="2578">
                  <a:moveTo>
                    <a:pt x="410" y="121"/>
                  </a:moveTo>
                  <a:cubicBezTo>
                    <a:pt x="749" y="132"/>
                    <a:pt x="984" y="140"/>
                    <a:pt x="1336" y="132"/>
                  </a:cubicBezTo>
                  <a:cubicBezTo>
                    <a:pt x="1588" y="105"/>
                    <a:pt x="1841" y="98"/>
                    <a:pt x="2093" y="76"/>
                  </a:cubicBezTo>
                  <a:cubicBezTo>
                    <a:pt x="1871" y="226"/>
                    <a:pt x="2499" y="91"/>
                    <a:pt x="2680" y="121"/>
                  </a:cubicBezTo>
                  <a:cubicBezTo>
                    <a:pt x="3241" y="111"/>
                    <a:pt x="3496" y="0"/>
                    <a:pt x="3211" y="189"/>
                  </a:cubicBezTo>
                  <a:cubicBezTo>
                    <a:pt x="2900" y="395"/>
                    <a:pt x="3956" y="182"/>
                    <a:pt x="4329" y="178"/>
                  </a:cubicBezTo>
                  <a:cubicBezTo>
                    <a:pt x="4474" y="140"/>
                    <a:pt x="4621" y="130"/>
                    <a:pt x="4770" y="121"/>
                  </a:cubicBezTo>
                  <a:cubicBezTo>
                    <a:pt x="4910" y="140"/>
                    <a:pt x="4969" y="91"/>
                    <a:pt x="4928" y="212"/>
                  </a:cubicBezTo>
                  <a:cubicBezTo>
                    <a:pt x="4924" y="225"/>
                    <a:pt x="4913" y="234"/>
                    <a:pt x="4905" y="245"/>
                  </a:cubicBezTo>
                  <a:cubicBezTo>
                    <a:pt x="4854" y="402"/>
                    <a:pt x="4898" y="255"/>
                    <a:pt x="4883" y="663"/>
                  </a:cubicBezTo>
                  <a:cubicBezTo>
                    <a:pt x="4875" y="867"/>
                    <a:pt x="4874" y="861"/>
                    <a:pt x="4860" y="1025"/>
                  </a:cubicBezTo>
                  <a:cubicBezTo>
                    <a:pt x="4855" y="1243"/>
                    <a:pt x="4838" y="1462"/>
                    <a:pt x="4838" y="1680"/>
                  </a:cubicBezTo>
                  <a:cubicBezTo>
                    <a:pt x="4838" y="1718"/>
                    <a:pt x="4844" y="1605"/>
                    <a:pt x="4849" y="1567"/>
                  </a:cubicBezTo>
                  <a:cubicBezTo>
                    <a:pt x="4851" y="1548"/>
                    <a:pt x="4856" y="1529"/>
                    <a:pt x="4860" y="1510"/>
                  </a:cubicBezTo>
                  <a:cubicBezTo>
                    <a:pt x="4864" y="1529"/>
                    <a:pt x="4864" y="1549"/>
                    <a:pt x="4871" y="1567"/>
                  </a:cubicBezTo>
                  <a:cubicBezTo>
                    <a:pt x="4876" y="1580"/>
                    <a:pt x="4894" y="1587"/>
                    <a:pt x="4894" y="1601"/>
                  </a:cubicBezTo>
                  <a:cubicBezTo>
                    <a:pt x="4894" y="1913"/>
                    <a:pt x="4879" y="2226"/>
                    <a:pt x="4871" y="2538"/>
                  </a:cubicBezTo>
                  <a:cubicBezTo>
                    <a:pt x="4514" y="2534"/>
                    <a:pt x="4156" y="2535"/>
                    <a:pt x="3799" y="2527"/>
                  </a:cubicBezTo>
                  <a:cubicBezTo>
                    <a:pt x="3776" y="2527"/>
                    <a:pt x="3889" y="2517"/>
                    <a:pt x="3866" y="2516"/>
                  </a:cubicBezTo>
                  <a:cubicBezTo>
                    <a:pt x="3512" y="2508"/>
                    <a:pt x="3159" y="2508"/>
                    <a:pt x="2805" y="2504"/>
                  </a:cubicBezTo>
                  <a:cubicBezTo>
                    <a:pt x="2734" y="2506"/>
                    <a:pt x="1040" y="2578"/>
                    <a:pt x="1653" y="2470"/>
                  </a:cubicBezTo>
                  <a:cubicBezTo>
                    <a:pt x="1450" y="2572"/>
                    <a:pt x="1204" y="2516"/>
                    <a:pt x="986" y="2470"/>
                  </a:cubicBezTo>
                  <a:cubicBezTo>
                    <a:pt x="872" y="2472"/>
                    <a:pt x="318" y="2382"/>
                    <a:pt x="128" y="2572"/>
                  </a:cubicBezTo>
                  <a:cubicBezTo>
                    <a:pt x="0" y="2261"/>
                    <a:pt x="85" y="1659"/>
                    <a:pt x="71" y="1262"/>
                  </a:cubicBezTo>
                  <a:cubicBezTo>
                    <a:pt x="81" y="466"/>
                    <a:pt x="28" y="556"/>
                    <a:pt x="105" y="155"/>
                  </a:cubicBezTo>
                  <a:cubicBezTo>
                    <a:pt x="120" y="159"/>
                    <a:pt x="138" y="157"/>
                    <a:pt x="151" y="166"/>
                  </a:cubicBezTo>
                  <a:cubicBezTo>
                    <a:pt x="211" y="206"/>
                    <a:pt x="126" y="211"/>
                    <a:pt x="218" y="189"/>
                  </a:cubicBezTo>
                  <a:cubicBezTo>
                    <a:pt x="244" y="150"/>
                    <a:pt x="269" y="125"/>
                    <a:pt x="309" y="99"/>
                  </a:cubicBezTo>
                  <a:cubicBezTo>
                    <a:pt x="348" y="107"/>
                    <a:pt x="373" y="111"/>
                    <a:pt x="410" y="121"/>
                  </a:cubicBezTo>
                  <a:cubicBezTo>
                    <a:pt x="410" y="121"/>
                    <a:pt x="501" y="150"/>
                    <a:pt x="410" y="121"/>
                  </a:cubicBezTo>
                  <a:close/>
                </a:path>
              </a:pathLst>
            </a:custGeom>
            <a:solidFill>
              <a:srgbClr val="C9E4FF"/>
            </a:solidFill>
            <a:ln w="31750" cap="sq" cmpd="sng">
              <a:noFill/>
              <a:prstDash val="solid"/>
              <a:round/>
              <a:headEnd/>
              <a:tailEnd/>
            </a:ln>
            <a:effectLst>
              <a:outerShdw dist="224686" dir="2837437" algn="ctr" rotWithShape="0">
                <a:srgbClr val="B9B9B9"/>
              </a:outerShdw>
            </a:effectLst>
          </p:spPr>
          <p:txBody>
            <a:bodyPr wrap="none" anchor="ctr"/>
            <a:lstStyle/>
            <a:p>
              <a:endParaRPr lang="zh-CN" altLang="en-US"/>
            </a:p>
          </p:txBody>
        </p:sp>
        <p:sp>
          <p:nvSpPr>
            <p:cNvPr id="5" name="Text Box 10"/>
            <p:cNvSpPr txBox="1">
              <a:spLocks noChangeArrowheads="1"/>
            </p:cNvSpPr>
            <p:nvPr/>
          </p:nvSpPr>
          <p:spPr bwMode="auto">
            <a:xfrm>
              <a:off x="655" y="1522"/>
              <a:ext cx="4322" cy="1514"/>
            </a:xfrm>
            <a:prstGeom prst="rect">
              <a:avLst/>
            </a:prstGeom>
            <a:noFill/>
            <a:ln w="9525">
              <a:noFill/>
              <a:miter lim="800000"/>
              <a:headEnd/>
              <a:tailEnd/>
            </a:ln>
          </p:spPr>
          <p:txBody>
            <a:bodyPr wrap="square">
              <a:spAutoFit/>
            </a:bodyPr>
            <a:lstStyle/>
            <a:p>
              <a:pPr algn="just" fontAlgn="base">
                <a:spcBef>
                  <a:spcPct val="0"/>
                </a:spcBef>
              </a:pPr>
              <a:r>
                <a:rPr lang="zh-CN" altLang="en-US" sz="2600" b="1" dirty="0">
                  <a:solidFill>
                    <a:srgbClr val="000080"/>
                  </a:solidFill>
                  <a:latin typeface="幼圆" pitchFamily="49" charset="-122"/>
                  <a:ea typeface="幼圆" pitchFamily="49" charset="-122"/>
                </a:rPr>
                <a:t>今天许多编译器通常先将数学表达式转换成后缀表达式，然后再将后缀表达式转换成机器执行代码。</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righ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7408" y="117998"/>
            <a:ext cx="10515600" cy="759619"/>
          </a:xfrm>
        </p:spPr>
        <p:txBody>
          <a:bodyPr/>
          <a:lstStyle/>
          <a:p>
            <a:r>
              <a:rPr lang="zh-CN" altLang="en-US" dirty="0"/>
              <a:t>问题</a:t>
            </a:r>
            <a:r>
              <a:rPr lang="en-US" altLang="zh-CN" dirty="0"/>
              <a:t>3.1</a:t>
            </a:r>
            <a:r>
              <a:rPr lang="zh-CN" altLang="en-US" dirty="0"/>
              <a:t>：算法分析</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35</a:t>
            </a:fld>
            <a:endParaRPr lang="zh-CN" altLang="en-US" dirty="0"/>
          </a:p>
        </p:txBody>
      </p:sp>
      <p:grpSp>
        <p:nvGrpSpPr>
          <p:cNvPr id="4" name="Group 38"/>
          <p:cNvGrpSpPr>
            <a:grpSpLocks/>
          </p:cNvGrpSpPr>
          <p:nvPr/>
        </p:nvGrpSpPr>
        <p:grpSpPr bwMode="auto">
          <a:xfrm>
            <a:off x="1271464" y="648642"/>
            <a:ext cx="9073007" cy="6095281"/>
            <a:chOff x="289" y="1200"/>
            <a:chExt cx="5136" cy="3832"/>
          </a:xfrm>
        </p:grpSpPr>
        <p:sp>
          <p:nvSpPr>
            <p:cNvPr id="5" name="Freeform 9"/>
            <p:cNvSpPr>
              <a:spLocks/>
            </p:cNvSpPr>
            <p:nvPr/>
          </p:nvSpPr>
          <p:spPr bwMode="auto">
            <a:xfrm>
              <a:off x="289" y="1200"/>
              <a:ext cx="5136" cy="3832"/>
            </a:xfrm>
            <a:custGeom>
              <a:avLst/>
              <a:gdLst>
                <a:gd name="T0" fmla="*/ 517 w 4969"/>
                <a:gd name="T1" fmla="*/ 63 h 2578"/>
                <a:gd name="T2" fmla="*/ 1684 w 4969"/>
                <a:gd name="T3" fmla="*/ 68 h 2578"/>
                <a:gd name="T4" fmla="*/ 2638 w 4969"/>
                <a:gd name="T5" fmla="*/ 39 h 2578"/>
                <a:gd name="T6" fmla="*/ 3377 w 4969"/>
                <a:gd name="T7" fmla="*/ 63 h 2578"/>
                <a:gd name="T8" fmla="*/ 4047 w 4969"/>
                <a:gd name="T9" fmla="*/ 99 h 2578"/>
                <a:gd name="T10" fmla="*/ 5455 w 4969"/>
                <a:gd name="T11" fmla="*/ 93 h 2578"/>
                <a:gd name="T12" fmla="*/ 6011 w 4969"/>
                <a:gd name="T13" fmla="*/ 63 h 2578"/>
                <a:gd name="T14" fmla="*/ 6211 w 4969"/>
                <a:gd name="T15" fmla="*/ 111 h 2578"/>
                <a:gd name="T16" fmla="*/ 6181 w 4969"/>
                <a:gd name="T17" fmla="*/ 129 h 2578"/>
                <a:gd name="T18" fmla="*/ 6154 w 4969"/>
                <a:gd name="T19" fmla="*/ 349 h 2578"/>
                <a:gd name="T20" fmla="*/ 6124 w 4969"/>
                <a:gd name="T21" fmla="*/ 539 h 2578"/>
                <a:gd name="T22" fmla="*/ 6099 w 4969"/>
                <a:gd name="T23" fmla="*/ 884 h 2578"/>
                <a:gd name="T24" fmla="*/ 6111 w 4969"/>
                <a:gd name="T25" fmla="*/ 826 h 2578"/>
                <a:gd name="T26" fmla="*/ 6124 w 4969"/>
                <a:gd name="T27" fmla="*/ 794 h 2578"/>
                <a:gd name="T28" fmla="*/ 6140 w 4969"/>
                <a:gd name="T29" fmla="*/ 826 h 2578"/>
                <a:gd name="T30" fmla="*/ 6169 w 4969"/>
                <a:gd name="T31" fmla="*/ 842 h 2578"/>
                <a:gd name="T32" fmla="*/ 6140 w 4969"/>
                <a:gd name="T33" fmla="*/ 1336 h 2578"/>
                <a:gd name="T34" fmla="*/ 4789 w 4969"/>
                <a:gd name="T35" fmla="*/ 1329 h 2578"/>
                <a:gd name="T36" fmla="*/ 4871 w 4969"/>
                <a:gd name="T37" fmla="*/ 1324 h 2578"/>
                <a:gd name="T38" fmla="*/ 3535 w 4969"/>
                <a:gd name="T39" fmla="*/ 1316 h 2578"/>
                <a:gd name="T40" fmla="*/ 2083 w 4969"/>
                <a:gd name="T41" fmla="*/ 1299 h 2578"/>
                <a:gd name="T42" fmla="*/ 1242 w 4969"/>
                <a:gd name="T43" fmla="*/ 1299 h 2578"/>
                <a:gd name="T44" fmla="*/ 161 w 4969"/>
                <a:gd name="T45" fmla="*/ 1353 h 2578"/>
                <a:gd name="T46" fmla="*/ 90 w 4969"/>
                <a:gd name="T47" fmla="*/ 663 h 2578"/>
                <a:gd name="T48" fmla="*/ 133 w 4969"/>
                <a:gd name="T49" fmla="*/ 82 h 2578"/>
                <a:gd name="T50" fmla="*/ 190 w 4969"/>
                <a:gd name="T51" fmla="*/ 88 h 2578"/>
                <a:gd name="T52" fmla="*/ 275 w 4969"/>
                <a:gd name="T53" fmla="*/ 99 h 2578"/>
                <a:gd name="T54" fmla="*/ 389 w 4969"/>
                <a:gd name="T55" fmla="*/ 52 h 2578"/>
                <a:gd name="T56" fmla="*/ 517 w 4969"/>
                <a:gd name="T57" fmla="*/ 63 h 2578"/>
                <a:gd name="T58" fmla="*/ 517 w 4969"/>
                <a:gd name="T59" fmla="*/ 63 h 257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969" h="2578">
                  <a:moveTo>
                    <a:pt x="410" y="121"/>
                  </a:moveTo>
                  <a:cubicBezTo>
                    <a:pt x="749" y="132"/>
                    <a:pt x="984" y="140"/>
                    <a:pt x="1336" y="132"/>
                  </a:cubicBezTo>
                  <a:cubicBezTo>
                    <a:pt x="1588" y="105"/>
                    <a:pt x="1841" y="98"/>
                    <a:pt x="2093" y="76"/>
                  </a:cubicBezTo>
                  <a:cubicBezTo>
                    <a:pt x="1871" y="226"/>
                    <a:pt x="2499" y="91"/>
                    <a:pt x="2680" y="121"/>
                  </a:cubicBezTo>
                  <a:cubicBezTo>
                    <a:pt x="3241" y="111"/>
                    <a:pt x="3496" y="0"/>
                    <a:pt x="3211" y="189"/>
                  </a:cubicBezTo>
                  <a:cubicBezTo>
                    <a:pt x="2900" y="395"/>
                    <a:pt x="3956" y="182"/>
                    <a:pt x="4329" y="178"/>
                  </a:cubicBezTo>
                  <a:cubicBezTo>
                    <a:pt x="4474" y="140"/>
                    <a:pt x="4621" y="130"/>
                    <a:pt x="4770" y="121"/>
                  </a:cubicBezTo>
                  <a:cubicBezTo>
                    <a:pt x="4910" y="140"/>
                    <a:pt x="4969" y="91"/>
                    <a:pt x="4928" y="212"/>
                  </a:cubicBezTo>
                  <a:cubicBezTo>
                    <a:pt x="4924" y="225"/>
                    <a:pt x="4913" y="234"/>
                    <a:pt x="4905" y="245"/>
                  </a:cubicBezTo>
                  <a:cubicBezTo>
                    <a:pt x="4854" y="402"/>
                    <a:pt x="4898" y="255"/>
                    <a:pt x="4883" y="663"/>
                  </a:cubicBezTo>
                  <a:cubicBezTo>
                    <a:pt x="4875" y="867"/>
                    <a:pt x="4874" y="861"/>
                    <a:pt x="4860" y="1025"/>
                  </a:cubicBezTo>
                  <a:cubicBezTo>
                    <a:pt x="4855" y="1243"/>
                    <a:pt x="4838" y="1462"/>
                    <a:pt x="4838" y="1680"/>
                  </a:cubicBezTo>
                  <a:cubicBezTo>
                    <a:pt x="4838" y="1718"/>
                    <a:pt x="4844" y="1605"/>
                    <a:pt x="4849" y="1567"/>
                  </a:cubicBezTo>
                  <a:cubicBezTo>
                    <a:pt x="4851" y="1548"/>
                    <a:pt x="4856" y="1529"/>
                    <a:pt x="4860" y="1510"/>
                  </a:cubicBezTo>
                  <a:cubicBezTo>
                    <a:pt x="4864" y="1529"/>
                    <a:pt x="4864" y="1549"/>
                    <a:pt x="4871" y="1567"/>
                  </a:cubicBezTo>
                  <a:cubicBezTo>
                    <a:pt x="4876" y="1580"/>
                    <a:pt x="4894" y="1587"/>
                    <a:pt x="4894" y="1601"/>
                  </a:cubicBezTo>
                  <a:cubicBezTo>
                    <a:pt x="4894" y="1913"/>
                    <a:pt x="4879" y="2226"/>
                    <a:pt x="4871" y="2538"/>
                  </a:cubicBezTo>
                  <a:cubicBezTo>
                    <a:pt x="4514" y="2534"/>
                    <a:pt x="4156" y="2535"/>
                    <a:pt x="3799" y="2527"/>
                  </a:cubicBezTo>
                  <a:cubicBezTo>
                    <a:pt x="3776" y="2527"/>
                    <a:pt x="3889" y="2517"/>
                    <a:pt x="3866" y="2516"/>
                  </a:cubicBezTo>
                  <a:cubicBezTo>
                    <a:pt x="3512" y="2508"/>
                    <a:pt x="3159" y="2508"/>
                    <a:pt x="2805" y="2504"/>
                  </a:cubicBezTo>
                  <a:cubicBezTo>
                    <a:pt x="2734" y="2506"/>
                    <a:pt x="1040" y="2578"/>
                    <a:pt x="1653" y="2470"/>
                  </a:cubicBezTo>
                  <a:cubicBezTo>
                    <a:pt x="1450" y="2572"/>
                    <a:pt x="1204" y="2516"/>
                    <a:pt x="986" y="2470"/>
                  </a:cubicBezTo>
                  <a:cubicBezTo>
                    <a:pt x="872" y="2472"/>
                    <a:pt x="318" y="2382"/>
                    <a:pt x="128" y="2572"/>
                  </a:cubicBezTo>
                  <a:cubicBezTo>
                    <a:pt x="0" y="2261"/>
                    <a:pt x="85" y="1659"/>
                    <a:pt x="71" y="1262"/>
                  </a:cubicBezTo>
                  <a:cubicBezTo>
                    <a:pt x="81" y="466"/>
                    <a:pt x="28" y="556"/>
                    <a:pt x="105" y="155"/>
                  </a:cubicBezTo>
                  <a:cubicBezTo>
                    <a:pt x="120" y="159"/>
                    <a:pt x="138" y="157"/>
                    <a:pt x="151" y="166"/>
                  </a:cubicBezTo>
                  <a:cubicBezTo>
                    <a:pt x="211" y="206"/>
                    <a:pt x="126" y="211"/>
                    <a:pt x="218" y="189"/>
                  </a:cubicBezTo>
                  <a:cubicBezTo>
                    <a:pt x="244" y="150"/>
                    <a:pt x="269" y="125"/>
                    <a:pt x="309" y="99"/>
                  </a:cubicBezTo>
                  <a:cubicBezTo>
                    <a:pt x="348" y="107"/>
                    <a:pt x="373" y="111"/>
                    <a:pt x="410" y="121"/>
                  </a:cubicBezTo>
                  <a:cubicBezTo>
                    <a:pt x="410" y="121"/>
                    <a:pt x="501" y="150"/>
                    <a:pt x="410" y="121"/>
                  </a:cubicBezTo>
                  <a:close/>
                </a:path>
              </a:pathLst>
            </a:custGeom>
            <a:solidFill>
              <a:srgbClr val="C9E4FF"/>
            </a:solidFill>
            <a:ln w="31750" cap="sq" cmpd="sng">
              <a:noFill/>
              <a:prstDash val="solid"/>
              <a:round/>
              <a:headEnd/>
              <a:tailEnd/>
            </a:ln>
            <a:effectLst>
              <a:outerShdw dist="224686" dir="2837437" algn="ctr" rotWithShape="0">
                <a:srgbClr val="B9B9B9"/>
              </a:outerShdw>
            </a:effectLst>
          </p:spPr>
          <p:txBody>
            <a:bodyPr wrap="none" anchor="ctr"/>
            <a:lstStyle/>
            <a:p>
              <a:endParaRPr lang="zh-CN" altLang="en-US"/>
            </a:p>
          </p:txBody>
        </p:sp>
        <p:sp>
          <p:nvSpPr>
            <p:cNvPr id="6" name="Text Box 10"/>
            <p:cNvSpPr txBox="1">
              <a:spLocks noChangeArrowheads="1"/>
            </p:cNvSpPr>
            <p:nvPr/>
          </p:nvSpPr>
          <p:spPr bwMode="auto">
            <a:xfrm>
              <a:off x="387" y="1325"/>
              <a:ext cx="4939" cy="3638"/>
            </a:xfrm>
            <a:prstGeom prst="rect">
              <a:avLst/>
            </a:prstGeom>
            <a:noFill/>
            <a:ln w="9525">
              <a:noFill/>
              <a:miter lim="800000"/>
              <a:headEnd/>
              <a:tailEnd/>
            </a:ln>
          </p:spPr>
          <p:txBody>
            <a:bodyPr wrap="square">
              <a:spAutoFit/>
            </a:bodyPr>
            <a:lstStyle/>
            <a:p>
              <a:pPr algn="just" fontAlgn="base">
                <a:spcBef>
                  <a:spcPct val="0"/>
                </a:spcBef>
              </a:pPr>
              <a:r>
                <a:rPr lang="zh-CN" altLang="en-US" sz="2600" b="1" dirty="0">
                  <a:solidFill>
                    <a:srgbClr val="000080"/>
                  </a:solidFill>
                  <a:latin typeface="幼圆" pitchFamily="49" charset="-122"/>
                  <a:ea typeface="幼圆" pitchFamily="49" charset="-122"/>
                </a:rPr>
                <a:t>算法：</a:t>
              </a:r>
              <a:endParaRPr lang="en-US" altLang="zh-CN" sz="2600" b="1" dirty="0">
                <a:solidFill>
                  <a:srgbClr val="000080"/>
                </a:solidFill>
                <a:latin typeface="幼圆" pitchFamily="49" charset="-122"/>
                <a:ea typeface="幼圆" pitchFamily="49" charset="-122"/>
              </a:endParaRPr>
            </a:p>
            <a:p>
              <a:pPr algn="just" fontAlgn="base">
                <a:spcBef>
                  <a:spcPct val="0"/>
                </a:spcBef>
              </a:pPr>
              <a:r>
                <a:rPr lang="zh-CN" altLang="en-US" sz="2000" dirty="0">
                  <a:solidFill>
                    <a:srgbClr val="000080"/>
                  </a:solidFill>
                  <a:latin typeface="幼圆" pitchFamily="49" charset="-122"/>
                  <a:ea typeface="幼圆" pitchFamily="49" charset="-122"/>
                </a:rPr>
                <a:t>对于问题</a:t>
              </a:r>
              <a:r>
                <a:rPr lang="en-US" altLang="zh-CN" sz="2000" dirty="0">
                  <a:solidFill>
                    <a:srgbClr val="000080"/>
                  </a:solidFill>
                  <a:latin typeface="幼圆" pitchFamily="49" charset="-122"/>
                  <a:ea typeface="幼圆" pitchFamily="49" charset="-122"/>
                </a:rPr>
                <a:t>3.1</a:t>
              </a:r>
              <a:r>
                <a:rPr lang="zh-CN" altLang="en-US" sz="2000" dirty="0">
                  <a:solidFill>
                    <a:srgbClr val="000080"/>
                  </a:solidFill>
                  <a:latin typeface="幼圆" pitchFamily="49" charset="-122"/>
                  <a:ea typeface="幼圆" pitchFamily="49" charset="-122"/>
                </a:rPr>
                <a:t>我们没有必要象编译程序那样先将中缀表达式转换为后缀表达式，然后再进行计算。</a:t>
              </a:r>
              <a:endParaRPr lang="en-US" altLang="zh-CN" sz="2000" dirty="0">
                <a:solidFill>
                  <a:srgbClr val="000080"/>
                </a:solidFill>
                <a:latin typeface="幼圆" pitchFamily="49" charset="-122"/>
                <a:ea typeface="幼圆" pitchFamily="49" charset="-122"/>
              </a:endParaRPr>
            </a:p>
            <a:p>
              <a:pPr algn="just" fontAlgn="base">
                <a:spcBef>
                  <a:spcPct val="0"/>
                </a:spcBef>
              </a:pPr>
              <a:r>
                <a:rPr lang="zh-CN" altLang="en-US" sz="2000" dirty="0">
                  <a:solidFill>
                    <a:srgbClr val="000080"/>
                  </a:solidFill>
                  <a:latin typeface="幼圆" pitchFamily="49" charset="-122"/>
                  <a:ea typeface="幼圆" pitchFamily="49" charset="-122"/>
                </a:rPr>
                <a:t>为此，可设两个栈，一个为</a:t>
              </a:r>
              <a:r>
                <a:rPr lang="zh-CN" altLang="en-US" sz="2000" b="1" dirty="0">
                  <a:solidFill>
                    <a:srgbClr val="000080"/>
                  </a:solidFill>
                  <a:latin typeface="幼圆" pitchFamily="49" charset="-122"/>
                  <a:ea typeface="幼圆" pitchFamily="49" charset="-122"/>
                </a:rPr>
                <a:t>数据栈</a:t>
              </a:r>
              <a:r>
                <a:rPr lang="zh-CN" altLang="en-US" sz="2000" dirty="0">
                  <a:solidFill>
                    <a:srgbClr val="000080"/>
                  </a:solidFill>
                  <a:latin typeface="幼圆" pitchFamily="49" charset="-122"/>
                  <a:ea typeface="幼圆" pitchFamily="49" charset="-122"/>
                </a:rPr>
                <a:t>，另一个为</a:t>
              </a:r>
              <a:r>
                <a:rPr lang="zh-CN" altLang="en-US" sz="2000" b="1" dirty="0">
                  <a:solidFill>
                    <a:srgbClr val="000080"/>
                  </a:solidFill>
                  <a:latin typeface="幼圆" pitchFamily="49" charset="-122"/>
                  <a:ea typeface="幼圆" pitchFamily="49" charset="-122"/>
                </a:rPr>
                <a:t>运算符栈</a:t>
              </a:r>
              <a:r>
                <a:rPr lang="zh-CN" altLang="en-US" sz="2000" dirty="0">
                  <a:solidFill>
                    <a:srgbClr val="000080"/>
                  </a:solidFill>
                  <a:latin typeface="幼圆" pitchFamily="49" charset="-122"/>
                  <a:ea typeface="幼圆" pitchFamily="49" charset="-122"/>
                </a:rPr>
                <a:t>，在转换中缀表达式的同时进行表达式的计算。</a:t>
              </a:r>
              <a:r>
                <a:rPr lang="zh-CN" altLang="en-US" sz="2000" b="1" dirty="0">
                  <a:solidFill>
                    <a:srgbClr val="000080"/>
                  </a:solidFill>
                  <a:latin typeface="楷体" pitchFamily="49" charset="-122"/>
                  <a:ea typeface="楷体" pitchFamily="49" charset="-122"/>
                </a:rPr>
                <a:t>主要思路为：当一个运算符出栈时，即与数据栈中的数据进行相应计算，计算结果仍存至数据栈中。算法如下：</a:t>
              </a:r>
              <a:endParaRPr lang="en-US" altLang="zh-CN" sz="2000" b="1" dirty="0">
                <a:solidFill>
                  <a:srgbClr val="000080"/>
                </a:solidFill>
                <a:latin typeface="楷体" pitchFamily="49" charset="-122"/>
                <a:ea typeface="楷体" pitchFamily="49" charset="-122"/>
              </a:endParaRPr>
            </a:p>
            <a:p>
              <a:pPr algn="just" fontAlgn="base">
                <a:spcBef>
                  <a:spcPct val="0"/>
                </a:spcBef>
              </a:pPr>
              <a:r>
                <a:rPr lang="en-US" altLang="zh-CN" sz="2000" i="1" dirty="0">
                  <a:solidFill>
                    <a:srgbClr val="000080"/>
                  </a:solidFill>
                  <a:latin typeface="楷体" pitchFamily="49" charset="-122"/>
                  <a:ea typeface="楷体" pitchFamily="49" charset="-122"/>
                </a:rPr>
                <a:t>1.</a:t>
              </a:r>
              <a:r>
                <a:rPr lang="zh-CN" altLang="en-US" sz="2000" i="1" dirty="0">
                  <a:solidFill>
                    <a:srgbClr val="000080"/>
                  </a:solidFill>
                  <a:latin typeface="楷体" pitchFamily="49" charset="-122"/>
                  <a:ea typeface="楷体" pitchFamily="49" charset="-122"/>
                </a:rPr>
                <a:t>从输入（中缀表达式）中获取一项：</a:t>
              </a:r>
              <a:endParaRPr lang="en-US" altLang="zh-CN" sz="2000" i="1" dirty="0">
                <a:solidFill>
                  <a:srgbClr val="000080"/>
                </a:solidFill>
                <a:latin typeface="楷体" pitchFamily="49" charset="-122"/>
                <a:ea typeface="楷体" pitchFamily="49" charset="-122"/>
              </a:endParaRPr>
            </a:p>
            <a:p>
              <a:pPr lvl="1" algn="just" fontAlgn="base">
                <a:spcBef>
                  <a:spcPct val="0"/>
                </a:spcBef>
                <a:buFont typeface="Wingdings" pitchFamily="2" charset="2"/>
                <a:buChar char="u"/>
              </a:pPr>
              <a:r>
                <a:rPr lang="zh-CN" altLang="en-US" sz="2000" i="1" dirty="0">
                  <a:solidFill>
                    <a:srgbClr val="000080"/>
                  </a:solidFill>
                  <a:latin typeface="楷体" pitchFamily="49" charset="-122"/>
                  <a:ea typeface="楷体" pitchFamily="49" charset="-122"/>
                </a:rPr>
                <a:t>若是数字则压入数据栈中；</a:t>
              </a:r>
              <a:endParaRPr lang="en-US" altLang="zh-CN" sz="2000" i="1" dirty="0">
                <a:solidFill>
                  <a:srgbClr val="000080"/>
                </a:solidFill>
                <a:latin typeface="楷体" pitchFamily="49" charset="-122"/>
                <a:ea typeface="楷体" pitchFamily="49" charset="-122"/>
              </a:endParaRPr>
            </a:p>
            <a:p>
              <a:pPr lvl="1" algn="just" fontAlgn="base">
                <a:spcBef>
                  <a:spcPct val="0"/>
                </a:spcBef>
                <a:buFont typeface="Wingdings" pitchFamily="2" charset="2"/>
                <a:buChar char="u"/>
              </a:pPr>
              <a:r>
                <a:rPr lang="en-US" altLang="zh-CN" sz="2000" i="1" dirty="0">
                  <a:solidFill>
                    <a:srgbClr val="000080"/>
                  </a:solidFill>
                  <a:latin typeface="楷体" pitchFamily="49" charset="-122"/>
                  <a:ea typeface="楷体" pitchFamily="49" charset="-122"/>
                </a:rPr>
                <a:t> </a:t>
              </a:r>
              <a:r>
                <a:rPr lang="zh-CN" altLang="en-US" sz="2000" i="1" dirty="0">
                  <a:solidFill>
                    <a:srgbClr val="000080"/>
                  </a:solidFill>
                  <a:latin typeface="楷体" pitchFamily="49" charset="-122"/>
                  <a:ea typeface="楷体" pitchFamily="49" charset="-122"/>
                </a:rPr>
                <a:t>若是符号：</a:t>
              </a:r>
              <a:endParaRPr lang="en-US" altLang="zh-CN" sz="2000" i="1" dirty="0">
                <a:solidFill>
                  <a:srgbClr val="000080"/>
                </a:solidFill>
                <a:latin typeface="楷体" pitchFamily="49" charset="-122"/>
                <a:ea typeface="楷体" pitchFamily="49" charset="-122"/>
              </a:endParaRPr>
            </a:p>
            <a:p>
              <a:pPr lvl="2" algn="just" fontAlgn="base">
                <a:spcBef>
                  <a:spcPct val="0"/>
                </a:spcBef>
                <a:buFont typeface="Wingdings" pitchFamily="2" charset="2"/>
                <a:buChar char="Ø"/>
              </a:pPr>
              <a:r>
                <a:rPr lang="zh-CN" altLang="en-US" sz="2000" i="1" dirty="0">
                  <a:solidFill>
                    <a:srgbClr val="000080"/>
                  </a:solidFill>
                  <a:latin typeface="楷体" pitchFamily="49" charset="-122"/>
                  <a:ea typeface="楷体" pitchFamily="49" charset="-122"/>
                </a:rPr>
                <a:t> 若是</a:t>
              </a:r>
              <a:r>
                <a:rPr lang="en-US" altLang="zh-CN" sz="2000" i="1" dirty="0">
                  <a:solidFill>
                    <a:srgbClr val="000080"/>
                  </a:solidFill>
                  <a:latin typeface="楷体" pitchFamily="49" charset="-122"/>
                  <a:ea typeface="楷体" pitchFamily="49" charset="-122"/>
                </a:rPr>
                <a:t>)</a:t>
              </a:r>
              <a:r>
                <a:rPr lang="zh-CN" altLang="en-US" sz="2000" i="1" dirty="0">
                  <a:solidFill>
                    <a:srgbClr val="000080"/>
                  </a:solidFill>
                  <a:latin typeface="楷体" pitchFamily="49" charset="-122"/>
                  <a:ea typeface="楷体" pitchFamily="49" charset="-122"/>
                </a:rPr>
                <a:t>，则将符号栈中元素弹出</a:t>
              </a:r>
              <a:r>
                <a:rPr lang="zh-CN" altLang="en-US" sz="2000" b="1" i="1" dirty="0">
                  <a:solidFill>
                    <a:srgbClr val="000080"/>
                  </a:solidFill>
                  <a:latin typeface="楷体" pitchFamily="49" charset="-122"/>
                  <a:ea typeface="楷体" pitchFamily="49" charset="-122"/>
                </a:rPr>
                <a:t>并与数据栈中元素进行计算、计算结果放回数据栈中</a:t>
              </a:r>
              <a:r>
                <a:rPr lang="zh-CN" altLang="en-US" sz="2000" i="1" dirty="0">
                  <a:solidFill>
                    <a:srgbClr val="000080"/>
                  </a:solidFill>
                  <a:latin typeface="楷体" pitchFamily="49" charset="-122"/>
                  <a:ea typeface="楷体" pitchFamily="49" charset="-122"/>
                </a:rPr>
                <a:t>，直到遇到“</a:t>
              </a:r>
              <a:r>
                <a:rPr lang="en-US" altLang="zh-CN" sz="2000" i="1" dirty="0">
                  <a:solidFill>
                    <a:srgbClr val="000080"/>
                  </a:solidFill>
                  <a:latin typeface="楷体" pitchFamily="49" charset="-122"/>
                  <a:ea typeface="楷体" pitchFamily="49" charset="-122"/>
                </a:rPr>
                <a:t>(</a:t>
              </a:r>
              <a:r>
                <a:rPr lang="zh-CN" altLang="en-US" sz="2000" i="1" dirty="0">
                  <a:solidFill>
                    <a:srgbClr val="000080"/>
                  </a:solidFill>
                  <a:latin typeface="楷体" pitchFamily="49" charset="-122"/>
                  <a:ea typeface="楷体" pitchFamily="49" charset="-122"/>
                </a:rPr>
                <a:t>”， “</a:t>
              </a:r>
              <a:r>
                <a:rPr lang="en-US" altLang="zh-CN" sz="2000" i="1" dirty="0">
                  <a:solidFill>
                    <a:srgbClr val="000080"/>
                  </a:solidFill>
                  <a:latin typeface="楷体" pitchFamily="49" charset="-122"/>
                  <a:ea typeface="楷体" pitchFamily="49" charset="-122"/>
                </a:rPr>
                <a:t>(</a:t>
              </a:r>
              <a:r>
                <a:rPr lang="zh-CN" altLang="en-US" sz="2000" i="1" dirty="0">
                  <a:solidFill>
                    <a:srgbClr val="000080"/>
                  </a:solidFill>
                  <a:latin typeface="楷体" pitchFamily="49" charset="-122"/>
                  <a:ea typeface="楷体" pitchFamily="49" charset="-122"/>
                </a:rPr>
                <a:t>”弹出但不计算；</a:t>
              </a:r>
              <a:endParaRPr lang="en-US" altLang="zh-CN" sz="2000" i="1" dirty="0">
                <a:solidFill>
                  <a:srgbClr val="000080"/>
                </a:solidFill>
                <a:latin typeface="楷体" pitchFamily="49" charset="-122"/>
                <a:ea typeface="楷体" pitchFamily="49" charset="-122"/>
              </a:endParaRPr>
            </a:p>
            <a:p>
              <a:pPr lvl="2" algn="just" fontAlgn="base">
                <a:spcBef>
                  <a:spcPct val="0"/>
                </a:spcBef>
                <a:buFont typeface="Wingdings" pitchFamily="2" charset="2"/>
                <a:buChar char="Ø"/>
              </a:pPr>
              <a:r>
                <a:rPr lang="en-US" altLang="zh-CN" sz="2000" i="1" dirty="0">
                  <a:solidFill>
                    <a:srgbClr val="000080"/>
                  </a:solidFill>
                  <a:latin typeface="楷体" pitchFamily="49" charset="-122"/>
                  <a:ea typeface="楷体" pitchFamily="49" charset="-122"/>
                </a:rPr>
                <a:t> </a:t>
              </a:r>
              <a:r>
                <a:rPr lang="zh-CN" altLang="en-US" sz="2000" i="1" dirty="0">
                  <a:solidFill>
                    <a:srgbClr val="000080"/>
                  </a:solidFill>
                  <a:latin typeface="楷体" pitchFamily="49" charset="-122"/>
                  <a:ea typeface="楷体" pitchFamily="49" charset="-122"/>
                </a:rPr>
                <a:t>若是</a:t>
              </a:r>
              <a:r>
                <a:rPr lang="en-US" altLang="zh-CN" sz="2000" i="1" dirty="0">
                  <a:solidFill>
                    <a:srgbClr val="000080"/>
                  </a:solidFill>
                  <a:latin typeface="楷体" pitchFamily="49" charset="-122"/>
                  <a:ea typeface="楷体" pitchFamily="49" charset="-122"/>
                </a:rPr>
                <a:t>(</a:t>
              </a:r>
              <a:r>
                <a:rPr lang="zh-CN" altLang="en-US" sz="2000" i="1" dirty="0">
                  <a:solidFill>
                    <a:srgbClr val="000080"/>
                  </a:solidFill>
                  <a:latin typeface="楷体" pitchFamily="49" charset="-122"/>
                  <a:ea typeface="楷体" pitchFamily="49" charset="-122"/>
                </a:rPr>
                <a:t>，</a:t>
              </a:r>
              <a:r>
                <a:rPr lang="en-US" altLang="zh-CN" sz="2000" i="1" dirty="0">
                  <a:solidFill>
                    <a:srgbClr val="000080"/>
                  </a:solidFill>
                  <a:latin typeface="楷体" pitchFamily="49" charset="-122"/>
                  <a:ea typeface="楷体" pitchFamily="49" charset="-122"/>
                </a:rPr>
                <a:t>+</a:t>
              </a:r>
              <a:r>
                <a:rPr lang="zh-CN" altLang="en-US" sz="2000" i="1" dirty="0">
                  <a:solidFill>
                    <a:srgbClr val="000080"/>
                  </a:solidFill>
                  <a:latin typeface="楷体" pitchFamily="49" charset="-122"/>
                  <a:ea typeface="楷体" pitchFamily="49" charset="-122"/>
                </a:rPr>
                <a:t>，</a:t>
              </a:r>
              <a:r>
                <a:rPr lang="en-US" altLang="zh-CN" sz="2000" i="1" dirty="0">
                  <a:solidFill>
                    <a:srgbClr val="000080"/>
                  </a:solidFill>
                  <a:latin typeface="楷体" pitchFamily="49" charset="-122"/>
                  <a:ea typeface="楷体" pitchFamily="49" charset="-122"/>
                </a:rPr>
                <a:t>*</a:t>
              </a:r>
              <a:r>
                <a:rPr lang="zh-CN" altLang="en-US" sz="2000" i="1" dirty="0">
                  <a:solidFill>
                    <a:srgbClr val="000080"/>
                  </a:solidFill>
                  <a:latin typeface="楷体" pitchFamily="49" charset="-122"/>
                  <a:ea typeface="楷体" pitchFamily="49" charset="-122"/>
                </a:rPr>
                <a:t>等符号，则从符号栈中弹出优先级高于当前的符号</a:t>
              </a:r>
              <a:r>
                <a:rPr lang="zh-CN" altLang="en-US" sz="2000" b="1" i="1" dirty="0">
                  <a:solidFill>
                    <a:srgbClr val="000080"/>
                  </a:solidFill>
                  <a:latin typeface="楷体" pitchFamily="49" charset="-122"/>
                  <a:ea typeface="楷体" pitchFamily="49" charset="-122"/>
                </a:rPr>
                <a:t>并与数据栈中元素进行计算、计算结果放回数据栈中</a:t>
              </a:r>
              <a:r>
                <a:rPr lang="zh-CN" altLang="en-US" sz="2000" i="1" dirty="0">
                  <a:solidFill>
                    <a:srgbClr val="000080"/>
                  </a:solidFill>
                  <a:latin typeface="楷体" pitchFamily="49" charset="-122"/>
                  <a:ea typeface="楷体" pitchFamily="49" charset="-122"/>
                </a:rPr>
                <a:t>，直到遇到一个优先级低的符号；然后将当前符号压入栈中。</a:t>
              </a:r>
              <a:endParaRPr lang="en-US" altLang="zh-CN" sz="2000" i="1" dirty="0">
                <a:solidFill>
                  <a:srgbClr val="000080"/>
                </a:solidFill>
                <a:latin typeface="楷体" pitchFamily="49" charset="-122"/>
                <a:ea typeface="楷体" pitchFamily="49" charset="-122"/>
              </a:endParaRPr>
            </a:p>
            <a:p>
              <a:pPr marL="800100" lvl="1" indent="-342900" algn="just" fontAlgn="base">
                <a:spcBef>
                  <a:spcPct val="0"/>
                </a:spcBef>
                <a:buFont typeface="Wingdings" panose="05000000000000000000" pitchFamily="2" charset="2"/>
                <a:buChar char="u"/>
              </a:pPr>
              <a:r>
                <a:rPr lang="zh-CN" altLang="en-US" sz="2000" i="1" dirty="0">
                  <a:solidFill>
                    <a:srgbClr val="000080"/>
                  </a:solidFill>
                  <a:latin typeface="楷体" pitchFamily="49" charset="-122"/>
                  <a:ea typeface="楷体" pitchFamily="49" charset="-122"/>
                </a:rPr>
                <a:t>若是</a:t>
              </a:r>
              <a:r>
                <a:rPr lang="en-US" altLang="zh-CN" sz="2000" i="1" dirty="0">
                  <a:solidFill>
                    <a:srgbClr val="000080"/>
                  </a:solidFill>
                  <a:latin typeface="楷体" pitchFamily="49" charset="-122"/>
                  <a:ea typeface="楷体" pitchFamily="49" charset="-122"/>
                </a:rPr>
                <a:t>=</a:t>
              </a:r>
              <a:r>
                <a:rPr lang="zh-CN" altLang="en-US" sz="2000" i="1" dirty="0">
                  <a:solidFill>
                    <a:srgbClr val="000080"/>
                  </a:solidFill>
                  <a:latin typeface="楷体" pitchFamily="49" charset="-122"/>
                  <a:ea typeface="楷体" pitchFamily="49" charset="-122"/>
                </a:rPr>
                <a:t>号，将符号栈中所有元素依次弹出</a:t>
              </a:r>
              <a:r>
                <a:rPr lang="zh-CN" altLang="en-US" sz="2000" b="1" i="1" dirty="0">
                  <a:solidFill>
                    <a:srgbClr val="000080"/>
                  </a:solidFill>
                  <a:latin typeface="楷体" pitchFamily="49" charset="-122"/>
                  <a:ea typeface="楷体" pitchFamily="49" charset="-122"/>
                </a:rPr>
                <a:t>并与数据栈中元素进行计算、计算结果放回数据栈中</a:t>
              </a:r>
              <a:r>
                <a:rPr lang="zh-CN" altLang="en-US" sz="2000" i="1" dirty="0">
                  <a:solidFill>
                    <a:srgbClr val="000080"/>
                  </a:solidFill>
                  <a:latin typeface="楷体" pitchFamily="49" charset="-122"/>
                  <a:ea typeface="楷体" pitchFamily="49" charset="-122"/>
                </a:rPr>
                <a:t>，直到符号栈为空，此时数据栈中为计算结果；否则转</a:t>
              </a:r>
              <a:r>
                <a:rPr lang="en-US" altLang="zh-CN" sz="2000" i="1" dirty="0">
                  <a:solidFill>
                    <a:srgbClr val="000080"/>
                  </a:solidFill>
                  <a:latin typeface="楷体" pitchFamily="49" charset="-122"/>
                  <a:ea typeface="楷体" pitchFamily="49" charset="-122"/>
                </a:rPr>
                <a:t>1</a:t>
              </a:r>
              <a:r>
                <a:rPr lang="zh-CN" altLang="en-US" sz="2000" i="1" dirty="0">
                  <a:solidFill>
                    <a:srgbClr val="000080"/>
                  </a:solidFill>
                  <a:latin typeface="楷体" pitchFamily="49" charset="-122"/>
                  <a:ea typeface="楷体" pitchFamily="49" charset="-122"/>
                </a:rPr>
                <a:t>。</a:t>
              </a:r>
              <a:endParaRPr lang="en-US" altLang="zh-CN" sz="2000" i="1" dirty="0">
                <a:solidFill>
                  <a:srgbClr val="000080"/>
                </a:solidFill>
                <a:latin typeface="楷体" pitchFamily="49" charset="-122"/>
                <a:ea typeface="楷体" pitchFamily="49" charset="-122"/>
              </a:endParaRPr>
            </a:p>
            <a:p>
              <a:pPr algn="just" fontAlgn="base">
                <a:spcBef>
                  <a:spcPct val="0"/>
                </a:spcBef>
              </a:pPr>
              <a:endParaRPr lang="zh-CN" altLang="en-US" sz="2400" b="1" dirty="0">
                <a:solidFill>
                  <a:srgbClr val="000080"/>
                </a:solidFill>
                <a:latin typeface="楷体" pitchFamily="49" charset="-122"/>
                <a:ea typeface="楷体" pitchFamily="49" charset="-122"/>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3327"/>
            <a:ext cx="10515600" cy="759620"/>
          </a:xfrm>
        </p:spPr>
        <p:txBody>
          <a:bodyPr/>
          <a:lstStyle/>
          <a:p>
            <a:r>
              <a:rPr lang="zh-CN" altLang="en-US" dirty="0"/>
              <a:t>问题</a:t>
            </a:r>
            <a:r>
              <a:rPr lang="en-US" altLang="zh-CN" dirty="0"/>
              <a:t>3.1</a:t>
            </a:r>
            <a:r>
              <a:rPr lang="zh-CN" altLang="en-US" dirty="0"/>
              <a:t>：算法分析</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36</a:t>
            </a:fld>
            <a:endParaRPr lang="zh-CN" altLang="en-US" dirty="0"/>
          </a:p>
        </p:txBody>
      </p:sp>
      <p:sp>
        <p:nvSpPr>
          <p:cNvPr id="4" name="流程图: 决策 3"/>
          <p:cNvSpPr/>
          <p:nvPr/>
        </p:nvSpPr>
        <p:spPr bwMode="auto">
          <a:xfrm>
            <a:off x="4727848" y="1268761"/>
            <a:ext cx="2808312" cy="917079"/>
          </a:xfrm>
          <a:prstGeom prst="flowChartDecision">
            <a:avLst/>
          </a:prstGeom>
          <a:solidFill>
            <a:schemeClr val="bg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algn="ctr" eaLnBrk="0" fontAlgn="base" hangingPunct="0">
              <a:spcBef>
                <a:spcPct val="0"/>
              </a:spcBef>
              <a:spcAft>
                <a:spcPct val="0"/>
              </a:spcAft>
            </a:pPr>
            <a:r>
              <a:rPr lang="zh-CN" altLang="en-US" sz="1200" dirty="0">
                <a:latin typeface="楷体" pitchFamily="49" charset="-122"/>
                <a:ea typeface="楷体" pitchFamily="49" charset="-122"/>
              </a:rPr>
              <a:t>从输入中获取一个符号</a:t>
            </a:r>
            <a:endParaRPr lang="zh-CN" altLang="en-US" sz="1100" dirty="0">
              <a:latin typeface="楷体" pitchFamily="49" charset="-122"/>
              <a:ea typeface="楷体" pitchFamily="49" charset="-122"/>
            </a:endParaRPr>
          </a:p>
        </p:txBody>
      </p:sp>
      <p:sp>
        <p:nvSpPr>
          <p:cNvPr id="5" name="流程图: 决策 4"/>
          <p:cNvSpPr/>
          <p:nvPr/>
        </p:nvSpPr>
        <p:spPr bwMode="auto">
          <a:xfrm>
            <a:off x="4727848" y="2420888"/>
            <a:ext cx="2808312" cy="1039356"/>
          </a:xfrm>
          <a:prstGeom prst="flowChartDecision">
            <a:avLst/>
          </a:prstGeom>
          <a:solidFill>
            <a:schemeClr val="bg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algn="ctr" eaLnBrk="0" fontAlgn="base" hangingPunct="0">
              <a:spcBef>
                <a:spcPct val="0"/>
              </a:spcBef>
              <a:spcAft>
                <a:spcPct val="0"/>
              </a:spcAft>
            </a:pPr>
            <a:r>
              <a:rPr lang="zh-CN" altLang="en-US" sz="1400" dirty="0">
                <a:latin typeface="楷体" pitchFamily="49" charset="-122"/>
                <a:ea typeface="楷体" pitchFamily="49" charset="-122"/>
              </a:rPr>
              <a:t>是否为数据或操作符</a:t>
            </a:r>
          </a:p>
        </p:txBody>
      </p:sp>
      <p:sp>
        <p:nvSpPr>
          <p:cNvPr id="6" name="矩形 5"/>
          <p:cNvSpPr/>
          <p:nvPr/>
        </p:nvSpPr>
        <p:spPr bwMode="auto">
          <a:xfrm>
            <a:off x="3359696" y="3501008"/>
            <a:ext cx="2664296" cy="400110"/>
          </a:xfrm>
          <a:prstGeom prst="rect">
            <a:avLst/>
          </a:prstGeom>
          <a:solidFill>
            <a:schemeClr val="bg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algn="ctr" eaLnBrk="0" fontAlgn="base" hangingPunct="0">
              <a:spcBef>
                <a:spcPct val="0"/>
              </a:spcBef>
              <a:spcAft>
                <a:spcPct val="0"/>
              </a:spcAft>
            </a:pPr>
            <a:r>
              <a:rPr lang="zh-CN" altLang="en-US" sz="2000" dirty="0">
                <a:latin typeface="楷体" pitchFamily="49" charset="-122"/>
                <a:ea typeface="楷体" pitchFamily="49" charset="-122"/>
              </a:rPr>
              <a:t>直接进数据栈</a:t>
            </a:r>
          </a:p>
        </p:txBody>
      </p:sp>
      <p:sp>
        <p:nvSpPr>
          <p:cNvPr id="7" name="矩形 6"/>
          <p:cNvSpPr/>
          <p:nvPr/>
        </p:nvSpPr>
        <p:spPr bwMode="auto">
          <a:xfrm>
            <a:off x="6312024" y="3501008"/>
            <a:ext cx="2664296" cy="369332"/>
          </a:xfrm>
          <a:prstGeom prst="rect">
            <a:avLst/>
          </a:prstGeom>
          <a:solidFill>
            <a:schemeClr val="bg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eaLnBrk="0" fontAlgn="base" hangingPunct="0">
              <a:spcBef>
                <a:spcPct val="0"/>
              </a:spcBef>
              <a:spcAft>
                <a:spcPct val="0"/>
              </a:spcAft>
            </a:pPr>
            <a:r>
              <a:rPr lang="zh-CN" altLang="en-US" dirty="0">
                <a:latin typeface="楷体" pitchFamily="49" charset="-122"/>
                <a:ea typeface="楷体" pitchFamily="49" charset="-122"/>
              </a:rPr>
              <a:t>视情况进符号栈或计算</a:t>
            </a:r>
          </a:p>
        </p:txBody>
      </p:sp>
      <p:sp>
        <p:nvSpPr>
          <p:cNvPr id="8" name="流程图: 决策 7"/>
          <p:cNvSpPr/>
          <p:nvPr/>
        </p:nvSpPr>
        <p:spPr bwMode="auto">
          <a:xfrm>
            <a:off x="4727848" y="4293096"/>
            <a:ext cx="2808312" cy="1039356"/>
          </a:xfrm>
          <a:prstGeom prst="flowChartDecision">
            <a:avLst/>
          </a:prstGeom>
          <a:solidFill>
            <a:schemeClr val="bg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algn="ctr" eaLnBrk="0" fontAlgn="base" hangingPunct="0">
              <a:spcBef>
                <a:spcPct val="0"/>
              </a:spcBef>
              <a:spcAft>
                <a:spcPct val="0"/>
              </a:spcAft>
            </a:pPr>
            <a:r>
              <a:rPr lang="zh-CN" altLang="en-US" sz="1400" dirty="0">
                <a:latin typeface="楷体" pitchFamily="49" charset="-122"/>
                <a:ea typeface="楷体" pitchFamily="49" charset="-122"/>
              </a:rPr>
              <a:t>符号栈是否为空</a:t>
            </a:r>
          </a:p>
        </p:txBody>
      </p:sp>
      <p:sp>
        <p:nvSpPr>
          <p:cNvPr id="9" name="矩形 8"/>
          <p:cNvSpPr/>
          <p:nvPr/>
        </p:nvSpPr>
        <p:spPr bwMode="auto">
          <a:xfrm>
            <a:off x="4799856" y="5517232"/>
            <a:ext cx="2664296" cy="400110"/>
          </a:xfrm>
          <a:prstGeom prst="rect">
            <a:avLst/>
          </a:prstGeom>
          <a:solidFill>
            <a:schemeClr val="bg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algn="ctr" eaLnBrk="0" fontAlgn="base" hangingPunct="0">
              <a:spcBef>
                <a:spcPct val="0"/>
              </a:spcBef>
              <a:spcAft>
                <a:spcPct val="0"/>
              </a:spcAft>
            </a:pPr>
            <a:r>
              <a:rPr lang="zh-CN" altLang="en-US" sz="2000" dirty="0">
                <a:latin typeface="楷体" pitchFamily="49" charset="-122"/>
                <a:ea typeface="楷体" pitchFamily="49" charset="-122"/>
              </a:rPr>
              <a:t>进行计算</a:t>
            </a:r>
          </a:p>
        </p:txBody>
      </p:sp>
      <p:sp>
        <p:nvSpPr>
          <p:cNvPr id="10" name="矩形 9"/>
          <p:cNvSpPr/>
          <p:nvPr/>
        </p:nvSpPr>
        <p:spPr bwMode="auto">
          <a:xfrm>
            <a:off x="7752184" y="5517232"/>
            <a:ext cx="2664296" cy="400110"/>
          </a:xfrm>
          <a:prstGeom prst="rect">
            <a:avLst/>
          </a:prstGeom>
          <a:solidFill>
            <a:schemeClr val="bg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algn="ctr" eaLnBrk="0" fontAlgn="base" hangingPunct="0">
              <a:spcBef>
                <a:spcPct val="0"/>
              </a:spcBef>
              <a:spcAft>
                <a:spcPct val="0"/>
              </a:spcAft>
            </a:pPr>
            <a:r>
              <a:rPr lang="zh-CN" altLang="en-US" sz="2000" dirty="0">
                <a:latin typeface="楷体" pitchFamily="49" charset="-122"/>
                <a:ea typeface="楷体" pitchFamily="49" charset="-122"/>
              </a:rPr>
              <a:t>输出计算结果</a:t>
            </a:r>
          </a:p>
        </p:txBody>
      </p:sp>
      <p:cxnSp>
        <p:nvCxnSpPr>
          <p:cNvPr id="14" name="直接箭头连接符 13"/>
          <p:cNvCxnSpPr>
            <a:endCxn id="4" idx="0"/>
          </p:cNvCxnSpPr>
          <p:nvPr/>
        </p:nvCxnSpPr>
        <p:spPr bwMode="auto">
          <a:xfrm>
            <a:off x="6096000" y="980728"/>
            <a:ext cx="36004" cy="288032"/>
          </a:xfrm>
          <a:prstGeom prst="straightConnector1">
            <a:avLst/>
          </a:prstGeom>
          <a:noFill/>
          <a:ln w="9525" cap="flat" cmpd="sng" algn="ctr">
            <a:solidFill>
              <a:schemeClr val="tx1"/>
            </a:solidFill>
            <a:prstDash val="solid"/>
            <a:round/>
            <a:headEnd type="none" w="med" len="med"/>
            <a:tailEnd type="arrow"/>
          </a:ln>
          <a:effectLst/>
        </p:spPr>
      </p:cxnSp>
      <p:cxnSp>
        <p:nvCxnSpPr>
          <p:cNvPr id="18" name="直接箭头连接符 17"/>
          <p:cNvCxnSpPr>
            <a:stCxn id="4" idx="2"/>
            <a:endCxn id="5" idx="0"/>
          </p:cNvCxnSpPr>
          <p:nvPr/>
        </p:nvCxnSpPr>
        <p:spPr bwMode="auto">
          <a:xfrm>
            <a:off x="6132004" y="2185840"/>
            <a:ext cx="0" cy="235049"/>
          </a:xfrm>
          <a:prstGeom prst="straightConnector1">
            <a:avLst/>
          </a:prstGeom>
          <a:noFill/>
          <a:ln w="9525" cap="flat" cmpd="sng" algn="ctr">
            <a:solidFill>
              <a:schemeClr val="tx1"/>
            </a:solidFill>
            <a:prstDash val="solid"/>
            <a:round/>
            <a:headEnd type="none" w="med" len="med"/>
            <a:tailEnd type="arrow"/>
          </a:ln>
          <a:effectLst/>
        </p:spPr>
      </p:cxnSp>
      <p:cxnSp>
        <p:nvCxnSpPr>
          <p:cNvPr id="27" name="肘形连接符 26"/>
          <p:cNvCxnSpPr>
            <a:stCxn id="5" idx="1"/>
            <a:endCxn id="6" idx="0"/>
          </p:cNvCxnSpPr>
          <p:nvPr/>
        </p:nvCxnSpPr>
        <p:spPr bwMode="auto">
          <a:xfrm rot="10800000" flipV="1">
            <a:off x="4691844" y="2940566"/>
            <a:ext cx="36004" cy="560442"/>
          </a:xfrm>
          <a:prstGeom prst="bentConnector2">
            <a:avLst/>
          </a:prstGeom>
          <a:noFill/>
          <a:ln w="9525" cap="flat" cmpd="sng" algn="ctr">
            <a:solidFill>
              <a:schemeClr val="tx1"/>
            </a:solidFill>
            <a:prstDash val="solid"/>
            <a:round/>
            <a:headEnd type="none" w="med" len="med"/>
            <a:tailEnd type="arrow"/>
          </a:ln>
          <a:effectLst/>
        </p:spPr>
      </p:cxnSp>
      <p:cxnSp>
        <p:nvCxnSpPr>
          <p:cNvPr id="31" name="肘形连接符 30"/>
          <p:cNvCxnSpPr>
            <a:stCxn id="5" idx="3"/>
            <a:endCxn id="7" idx="0"/>
          </p:cNvCxnSpPr>
          <p:nvPr/>
        </p:nvCxnSpPr>
        <p:spPr bwMode="auto">
          <a:xfrm>
            <a:off x="7536160" y="2940566"/>
            <a:ext cx="108012" cy="560442"/>
          </a:xfrm>
          <a:prstGeom prst="bentConnector2">
            <a:avLst/>
          </a:prstGeom>
          <a:noFill/>
          <a:ln w="9525" cap="flat" cmpd="sng" algn="ctr">
            <a:solidFill>
              <a:schemeClr val="tx1"/>
            </a:solidFill>
            <a:prstDash val="solid"/>
            <a:round/>
            <a:headEnd type="none" w="med" len="med"/>
            <a:tailEnd type="arrow"/>
          </a:ln>
          <a:effectLst/>
        </p:spPr>
      </p:cxnSp>
      <p:cxnSp>
        <p:nvCxnSpPr>
          <p:cNvPr id="44" name="肘形连接符 43"/>
          <p:cNvCxnSpPr>
            <a:stCxn id="7" idx="2"/>
          </p:cNvCxnSpPr>
          <p:nvPr/>
        </p:nvCxnSpPr>
        <p:spPr bwMode="auto">
          <a:xfrm rot="5400000">
            <a:off x="5146540" y="1507432"/>
            <a:ext cx="134724" cy="4860540"/>
          </a:xfrm>
          <a:prstGeom prst="bentConnector2">
            <a:avLst/>
          </a:prstGeom>
          <a:noFill/>
          <a:ln w="9525" cap="flat" cmpd="sng" algn="ctr">
            <a:solidFill>
              <a:schemeClr val="tx1"/>
            </a:solidFill>
            <a:prstDash val="solid"/>
            <a:round/>
            <a:headEnd type="none" w="med" len="med"/>
            <a:tailEnd type="arrow"/>
          </a:ln>
          <a:effectLst/>
        </p:spPr>
      </p:cxnSp>
      <p:cxnSp>
        <p:nvCxnSpPr>
          <p:cNvPr id="47" name="直接箭头连接符 46"/>
          <p:cNvCxnSpPr>
            <a:stCxn id="6" idx="2"/>
          </p:cNvCxnSpPr>
          <p:nvPr/>
        </p:nvCxnSpPr>
        <p:spPr bwMode="auto">
          <a:xfrm flipH="1">
            <a:off x="4655840" y="3901118"/>
            <a:ext cx="36004" cy="103946"/>
          </a:xfrm>
          <a:prstGeom prst="straightConnector1">
            <a:avLst/>
          </a:prstGeom>
          <a:noFill/>
          <a:ln w="9525" cap="flat" cmpd="sng" algn="ctr">
            <a:solidFill>
              <a:schemeClr val="tx1"/>
            </a:solidFill>
            <a:prstDash val="solid"/>
            <a:round/>
            <a:headEnd type="none" w="med" len="med"/>
            <a:tailEnd type="arrow"/>
          </a:ln>
          <a:effectLst/>
        </p:spPr>
      </p:cxnSp>
      <p:cxnSp>
        <p:nvCxnSpPr>
          <p:cNvPr id="52" name="肘形连接符 51"/>
          <p:cNvCxnSpPr/>
          <p:nvPr/>
        </p:nvCxnSpPr>
        <p:spPr bwMode="auto">
          <a:xfrm flipV="1">
            <a:off x="2849290" y="1196752"/>
            <a:ext cx="3246710" cy="2814662"/>
          </a:xfrm>
          <a:prstGeom prst="bentConnector3">
            <a:avLst>
              <a:gd name="adj1" fmla="val -1128"/>
            </a:avLst>
          </a:prstGeom>
          <a:noFill/>
          <a:ln w="9525" cap="flat" cmpd="sng" algn="ctr">
            <a:solidFill>
              <a:schemeClr val="tx1"/>
            </a:solidFill>
            <a:prstDash val="solid"/>
            <a:round/>
            <a:headEnd type="none" w="med" len="med"/>
            <a:tailEnd type="arrow"/>
          </a:ln>
          <a:effectLst/>
        </p:spPr>
      </p:cxnSp>
      <p:cxnSp>
        <p:nvCxnSpPr>
          <p:cNvPr id="56" name="肘形连接符 55"/>
          <p:cNvCxnSpPr>
            <a:stCxn id="4" idx="3"/>
          </p:cNvCxnSpPr>
          <p:nvPr/>
        </p:nvCxnSpPr>
        <p:spPr bwMode="auto">
          <a:xfrm>
            <a:off x="7536160" y="1727300"/>
            <a:ext cx="2448272" cy="2421780"/>
          </a:xfrm>
          <a:prstGeom prst="bentConnector3">
            <a:avLst>
              <a:gd name="adj1" fmla="val 99990"/>
            </a:avLst>
          </a:prstGeom>
          <a:noFill/>
          <a:ln w="9525" cap="flat" cmpd="sng" algn="ctr">
            <a:solidFill>
              <a:schemeClr val="tx1"/>
            </a:solidFill>
            <a:prstDash val="solid"/>
            <a:round/>
            <a:headEnd type="none" w="med" len="med"/>
            <a:tailEnd type="arrow"/>
          </a:ln>
          <a:effectLst/>
        </p:spPr>
      </p:cxnSp>
      <p:cxnSp>
        <p:nvCxnSpPr>
          <p:cNvPr id="60" name="肘形连接符 59"/>
          <p:cNvCxnSpPr>
            <a:endCxn id="8" idx="0"/>
          </p:cNvCxnSpPr>
          <p:nvPr/>
        </p:nvCxnSpPr>
        <p:spPr bwMode="auto">
          <a:xfrm rot="10800000" flipV="1">
            <a:off x="6132004" y="4161780"/>
            <a:ext cx="3852428" cy="131316"/>
          </a:xfrm>
          <a:prstGeom prst="bentConnector2">
            <a:avLst/>
          </a:prstGeom>
          <a:noFill/>
          <a:ln w="9525" cap="flat" cmpd="sng" algn="ctr">
            <a:solidFill>
              <a:schemeClr val="tx1"/>
            </a:solidFill>
            <a:prstDash val="solid"/>
            <a:round/>
            <a:headEnd type="none" w="med" len="med"/>
            <a:tailEnd type="arrow"/>
          </a:ln>
          <a:effectLst/>
        </p:spPr>
      </p:cxnSp>
      <p:cxnSp>
        <p:nvCxnSpPr>
          <p:cNvPr id="63" name="直接箭头连接符 62"/>
          <p:cNvCxnSpPr>
            <a:stCxn id="8" idx="2"/>
            <a:endCxn id="9" idx="0"/>
          </p:cNvCxnSpPr>
          <p:nvPr/>
        </p:nvCxnSpPr>
        <p:spPr bwMode="auto">
          <a:xfrm>
            <a:off x="6132004" y="5332452"/>
            <a:ext cx="0" cy="184780"/>
          </a:xfrm>
          <a:prstGeom prst="straightConnector1">
            <a:avLst/>
          </a:prstGeom>
          <a:noFill/>
          <a:ln w="9525" cap="flat" cmpd="sng" algn="ctr">
            <a:solidFill>
              <a:schemeClr val="tx1"/>
            </a:solidFill>
            <a:prstDash val="solid"/>
            <a:round/>
            <a:headEnd type="none" w="med" len="med"/>
            <a:tailEnd type="arrow"/>
          </a:ln>
          <a:effectLst/>
        </p:spPr>
      </p:cxnSp>
      <p:cxnSp>
        <p:nvCxnSpPr>
          <p:cNvPr id="68" name="肘形连接符 67"/>
          <p:cNvCxnSpPr>
            <a:stCxn id="8" idx="3"/>
          </p:cNvCxnSpPr>
          <p:nvPr/>
        </p:nvCxnSpPr>
        <p:spPr bwMode="auto">
          <a:xfrm>
            <a:off x="7536160" y="4812774"/>
            <a:ext cx="1656184" cy="704458"/>
          </a:xfrm>
          <a:prstGeom prst="bentConnector3">
            <a:avLst>
              <a:gd name="adj1" fmla="val 99265"/>
            </a:avLst>
          </a:prstGeom>
          <a:noFill/>
          <a:ln w="9525" cap="flat" cmpd="sng" algn="ctr">
            <a:solidFill>
              <a:schemeClr val="tx1"/>
            </a:solidFill>
            <a:prstDash val="solid"/>
            <a:round/>
            <a:headEnd type="none" w="med" len="med"/>
            <a:tailEnd type="arrow"/>
          </a:ln>
          <a:effectLst/>
        </p:spPr>
      </p:cxnSp>
      <p:cxnSp>
        <p:nvCxnSpPr>
          <p:cNvPr id="74" name="肘形连接符 73"/>
          <p:cNvCxnSpPr/>
          <p:nvPr/>
        </p:nvCxnSpPr>
        <p:spPr bwMode="auto">
          <a:xfrm rot="5400000">
            <a:off x="4873897" y="5011143"/>
            <a:ext cx="319970" cy="2196244"/>
          </a:xfrm>
          <a:prstGeom prst="bentConnector2">
            <a:avLst/>
          </a:prstGeom>
          <a:noFill/>
          <a:ln w="9525" cap="flat" cmpd="sng" algn="ctr">
            <a:solidFill>
              <a:schemeClr val="tx1"/>
            </a:solidFill>
            <a:prstDash val="solid"/>
            <a:round/>
            <a:headEnd type="none" w="med" len="med"/>
            <a:tailEnd type="arrow"/>
          </a:ln>
          <a:effectLst/>
        </p:spPr>
      </p:cxnSp>
      <p:cxnSp>
        <p:nvCxnSpPr>
          <p:cNvPr id="77" name="肘形连接符 76"/>
          <p:cNvCxnSpPr/>
          <p:nvPr/>
        </p:nvCxnSpPr>
        <p:spPr bwMode="auto">
          <a:xfrm flipV="1">
            <a:off x="3935760" y="4149080"/>
            <a:ext cx="2232248" cy="2160240"/>
          </a:xfrm>
          <a:prstGeom prst="bentConnector3">
            <a:avLst>
              <a:gd name="adj1" fmla="val 214"/>
            </a:avLst>
          </a:prstGeom>
          <a:noFill/>
          <a:ln w="9525" cap="flat" cmpd="sng" algn="ctr">
            <a:solidFill>
              <a:schemeClr val="tx1"/>
            </a:solidFill>
            <a:prstDash val="solid"/>
            <a:round/>
            <a:headEnd type="none" w="med" len="med"/>
            <a:tailEnd type="arrow"/>
          </a:ln>
          <a:effectLst/>
        </p:spPr>
      </p:cxnSp>
      <p:sp>
        <p:nvSpPr>
          <p:cNvPr id="80" name="TextBox 79"/>
          <p:cNvSpPr txBox="1"/>
          <p:nvPr/>
        </p:nvSpPr>
        <p:spPr>
          <a:xfrm>
            <a:off x="6312025" y="2132857"/>
            <a:ext cx="902811" cy="307777"/>
          </a:xfrm>
          <a:prstGeom prst="rect">
            <a:avLst/>
          </a:prstGeom>
          <a:noFill/>
        </p:spPr>
        <p:txBody>
          <a:bodyPr wrap="none" rtlCol="0">
            <a:spAutoFit/>
          </a:bodyPr>
          <a:lstStyle/>
          <a:p>
            <a:r>
              <a:rPr lang="zh-CN" altLang="en-US" sz="1400" dirty="0"/>
              <a:t>不是等号</a:t>
            </a:r>
          </a:p>
        </p:txBody>
      </p:sp>
      <p:sp>
        <p:nvSpPr>
          <p:cNvPr id="81" name="TextBox 80"/>
          <p:cNvSpPr txBox="1"/>
          <p:nvPr/>
        </p:nvSpPr>
        <p:spPr>
          <a:xfrm>
            <a:off x="7608169" y="1268761"/>
            <a:ext cx="723275" cy="307777"/>
          </a:xfrm>
          <a:prstGeom prst="rect">
            <a:avLst/>
          </a:prstGeom>
          <a:noFill/>
        </p:spPr>
        <p:txBody>
          <a:bodyPr wrap="none" rtlCol="0">
            <a:spAutoFit/>
          </a:bodyPr>
          <a:lstStyle/>
          <a:p>
            <a:r>
              <a:rPr lang="zh-CN" altLang="en-US" sz="1400" dirty="0"/>
              <a:t>是等号</a:t>
            </a:r>
          </a:p>
        </p:txBody>
      </p:sp>
      <p:sp>
        <p:nvSpPr>
          <p:cNvPr id="82" name="TextBox 81"/>
          <p:cNvSpPr txBox="1"/>
          <p:nvPr/>
        </p:nvSpPr>
        <p:spPr>
          <a:xfrm>
            <a:off x="6456041" y="5157193"/>
            <a:ext cx="723275" cy="307777"/>
          </a:xfrm>
          <a:prstGeom prst="rect">
            <a:avLst/>
          </a:prstGeom>
          <a:noFill/>
        </p:spPr>
        <p:txBody>
          <a:bodyPr wrap="none" rtlCol="0">
            <a:spAutoFit/>
          </a:bodyPr>
          <a:lstStyle/>
          <a:p>
            <a:r>
              <a:rPr lang="zh-CN" altLang="en-US" sz="1400" dirty="0"/>
              <a:t>不为空</a:t>
            </a:r>
          </a:p>
        </p:txBody>
      </p:sp>
      <p:sp>
        <p:nvSpPr>
          <p:cNvPr id="83" name="TextBox 82"/>
          <p:cNvSpPr txBox="1"/>
          <p:nvPr/>
        </p:nvSpPr>
        <p:spPr>
          <a:xfrm>
            <a:off x="7464152" y="4437113"/>
            <a:ext cx="364202" cy="307777"/>
          </a:xfrm>
          <a:prstGeom prst="rect">
            <a:avLst/>
          </a:prstGeom>
          <a:noFill/>
        </p:spPr>
        <p:txBody>
          <a:bodyPr wrap="none" rtlCol="0">
            <a:spAutoFit/>
          </a:bodyPr>
          <a:lstStyle/>
          <a:p>
            <a:r>
              <a:rPr lang="zh-CN" altLang="en-US" sz="1400" dirty="0"/>
              <a:t>空</a:t>
            </a:r>
          </a:p>
        </p:txBody>
      </p:sp>
      <p:sp>
        <p:nvSpPr>
          <p:cNvPr id="84" name="TextBox 83"/>
          <p:cNvSpPr txBox="1"/>
          <p:nvPr/>
        </p:nvSpPr>
        <p:spPr>
          <a:xfrm>
            <a:off x="4079777" y="3068961"/>
            <a:ext cx="543739" cy="307777"/>
          </a:xfrm>
          <a:prstGeom prst="rect">
            <a:avLst/>
          </a:prstGeom>
          <a:noFill/>
        </p:spPr>
        <p:txBody>
          <a:bodyPr wrap="none" rtlCol="0">
            <a:spAutoFit/>
          </a:bodyPr>
          <a:lstStyle/>
          <a:p>
            <a:r>
              <a:rPr lang="zh-CN" altLang="en-US" sz="1400" dirty="0"/>
              <a:t>数据</a:t>
            </a:r>
          </a:p>
        </p:txBody>
      </p:sp>
      <p:sp>
        <p:nvSpPr>
          <p:cNvPr id="85" name="TextBox 84"/>
          <p:cNvSpPr txBox="1"/>
          <p:nvPr/>
        </p:nvSpPr>
        <p:spPr>
          <a:xfrm>
            <a:off x="7680177" y="3068961"/>
            <a:ext cx="543739" cy="307777"/>
          </a:xfrm>
          <a:prstGeom prst="rect">
            <a:avLst/>
          </a:prstGeom>
          <a:noFill/>
        </p:spPr>
        <p:txBody>
          <a:bodyPr wrap="none" rtlCol="0">
            <a:spAutoFit/>
          </a:bodyPr>
          <a:lstStyle/>
          <a:p>
            <a:r>
              <a:rPr lang="zh-CN" altLang="en-US" sz="1400" dirty="0"/>
              <a:t>符号</a:t>
            </a: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Rectangle 2"/>
          <p:cNvSpPr>
            <a:spLocks noGrp="1" noChangeArrowheads="1"/>
          </p:cNvSpPr>
          <p:nvPr>
            <p:ph type="title"/>
          </p:nvPr>
        </p:nvSpPr>
        <p:spPr/>
        <p:txBody>
          <a:bodyPr/>
          <a:lstStyle/>
          <a:p>
            <a:r>
              <a:rPr lang="zh-CN" altLang="en-US">
                <a:ea typeface="宋体" pitchFamily="2" charset="-122"/>
              </a:rPr>
              <a:t>枚举类型（</a:t>
            </a:r>
            <a:r>
              <a:rPr lang="en-US" altLang="zh-CN">
                <a:ea typeface="宋体" pitchFamily="2" charset="-122"/>
              </a:rPr>
              <a:t>enum</a:t>
            </a:r>
            <a:r>
              <a:rPr lang="zh-CN" altLang="en-US">
                <a:ea typeface="宋体" pitchFamily="2" charset="-122"/>
              </a:rPr>
              <a:t>）</a:t>
            </a:r>
          </a:p>
        </p:txBody>
      </p:sp>
      <p:sp>
        <p:nvSpPr>
          <p:cNvPr id="63493" name="Rectangle 3"/>
          <p:cNvSpPr>
            <a:spLocks noGrp="1" noChangeArrowheads="1"/>
          </p:cNvSpPr>
          <p:nvPr>
            <p:ph idx="1"/>
          </p:nvPr>
        </p:nvSpPr>
        <p:spPr/>
        <p:txBody>
          <a:bodyPr/>
          <a:lstStyle/>
          <a:p>
            <a:pPr>
              <a:buFont typeface="Wingdings" pitchFamily="2" charset="2"/>
              <a:buNone/>
            </a:pPr>
            <a:r>
              <a:rPr lang="zh-CN" altLang="en-US" sz="2000" b="0" dirty="0">
                <a:ea typeface="宋体" pitchFamily="2" charset="-122"/>
              </a:rPr>
              <a:t>枚举型变量的取值仅限于规定的一组值之一。</a:t>
            </a:r>
          </a:p>
          <a:p>
            <a:pPr>
              <a:buFont typeface="Wingdings" pitchFamily="2" charset="2"/>
              <a:buNone/>
            </a:pPr>
            <a:r>
              <a:rPr lang="zh-CN" altLang="en-US" sz="2000" b="0" dirty="0">
                <a:ea typeface="宋体" pitchFamily="2" charset="-122"/>
              </a:rPr>
              <a:t> </a:t>
            </a:r>
          </a:p>
          <a:p>
            <a:r>
              <a:rPr lang="zh-CN" altLang="en-US" sz="2000" b="0" dirty="0">
                <a:ea typeface="宋体" pitchFamily="2" charset="-122"/>
              </a:rPr>
              <a:t> 定义形式：</a:t>
            </a:r>
          </a:p>
          <a:p>
            <a:pPr lvl="1">
              <a:buFont typeface="Wingdings" pitchFamily="2" charset="2"/>
              <a:buNone/>
            </a:pPr>
            <a:r>
              <a:rPr lang="en-US" altLang="zh-CN" sz="2000" b="1" i="1" dirty="0" err="1">
                <a:solidFill>
                  <a:srgbClr val="0033CC"/>
                </a:solidFill>
                <a:ea typeface="宋体" pitchFamily="2" charset="-122"/>
              </a:rPr>
              <a:t>enum</a:t>
            </a:r>
            <a:r>
              <a:rPr lang="en-US" altLang="zh-CN" sz="2000" b="1" i="1" dirty="0">
                <a:solidFill>
                  <a:srgbClr val="0033CC"/>
                </a:solidFill>
                <a:ea typeface="宋体" pitchFamily="2" charset="-122"/>
              </a:rPr>
              <a:t>   </a:t>
            </a:r>
            <a:r>
              <a:rPr lang="zh-CN" altLang="en-US" sz="2000" b="1" i="1" dirty="0">
                <a:solidFill>
                  <a:srgbClr val="0033CC"/>
                </a:solidFill>
                <a:ea typeface="宋体" pitchFamily="2" charset="-122"/>
              </a:rPr>
              <a:t>枚举名  </a:t>
            </a:r>
            <a:r>
              <a:rPr lang="en-US" altLang="zh-CN" sz="2000" b="1" i="1" dirty="0">
                <a:solidFill>
                  <a:srgbClr val="0033CC"/>
                </a:solidFill>
                <a:ea typeface="宋体" pitchFamily="2" charset="-122"/>
              </a:rPr>
              <a:t>{ </a:t>
            </a:r>
            <a:r>
              <a:rPr lang="zh-CN" altLang="en-US" sz="2000" b="1" i="1" dirty="0">
                <a:solidFill>
                  <a:srgbClr val="0033CC"/>
                </a:solidFill>
                <a:ea typeface="宋体" pitchFamily="2" charset="-122"/>
              </a:rPr>
              <a:t>值表 </a:t>
            </a:r>
            <a:r>
              <a:rPr lang="en-US" altLang="zh-CN" sz="2000" b="1" i="1" dirty="0">
                <a:solidFill>
                  <a:srgbClr val="0033CC"/>
                </a:solidFill>
                <a:ea typeface="宋体" pitchFamily="2" charset="-122"/>
              </a:rPr>
              <a:t>}</a:t>
            </a:r>
            <a:r>
              <a:rPr lang="zh-CN" altLang="en-US" sz="2000" b="1" i="1" dirty="0">
                <a:solidFill>
                  <a:srgbClr val="0033CC"/>
                </a:solidFill>
                <a:ea typeface="宋体" pitchFamily="2" charset="-122"/>
              </a:rPr>
              <a:t>；</a:t>
            </a:r>
          </a:p>
          <a:p>
            <a:pPr lvl="1">
              <a:buFont typeface="Wingdings" pitchFamily="2" charset="2"/>
              <a:buNone/>
            </a:pPr>
            <a:r>
              <a:rPr lang="zh-CN" altLang="en-US" sz="2000" dirty="0">
                <a:ea typeface="宋体" pitchFamily="2" charset="-122"/>
              </a:rPr>
              <a:t>例：</a:t>
            </a:r>
          </a:p>
          <a:p>
            <a:pPr lvl="1">
              <a:buFont typeface="Wingdings" pitchFamily="2" charset="2"/>
              <a:buNone/>
            </a:pPr>
            <a:r>
              <a:rPr lang="en-US" altLang="zh-CN" sz="2000" dirty="0" err="1">
                <a:ea typeface="宋体" pitchFamily="2" charset="-122"/>
              </a:rPr>
              <a:t>enum</a:t>
            </a:r>
            <a:r>
              <a:rPr lang="en-US" altLang="zh-CN" sz="2000" dirty="0">
                <a:ea typeface="宋体" pitchFamily="2" charset="-122"/>
              </a:rPr>
              <a:t> color { red, green, yellow, white, black }; /* </a:t>
            </a:r>
            <a:r>
              <a:rPr lang="zh-CN" altLang="en-US" sz="2000" dirty="0">
                <a:ea typeface="宋体" pitchFamily="2" charset="-122"/>
              </a:rPr>
              <a:t>枚举值是标识符 *</a:t>
            </a:r>
            <a:r>
              <a:rPr lang="en-US" altLang="zh-CN" sz="2000" dirty="0">
                <a:ea typeface="宋体" pitchFamily="2" charset="-122"/>
              </a:rPr>
              <a:t>/</a:t>
            </a:r>
          </a:p>
          <a:p>
            <a:pPr>
              <a:buFont typeface="Wingdings" pitchFamily="2" charset="2"/>
              <a:buNone/>
            </a:pPr>
            <a:r>
              <a:rPr lang="en-US" altLang="zh-CN" sz="2000" b="0" dirty="0">
                <a:ea typeface="宋体" pitchFamily="2" charset="-122"/>
              </a:rPr>
              <a:t> </a:t>
            </a:r>
          </a:p>
          <a:p>
            <a:r>
              <a:rPr lang="en-US" altLang="zh-CN" sz="2000" b="0" dirty="0">
                <a:ea typeface="宋体" pitchFamily="2" charset="-122"/>
              </a:rPr>
              <a:t> </a:t>
            </a:r>
            <a:r>
              <a:rPr lang="zh-CN" altLang="en-US" sz="2000" b="0" dirty="0">
                <a:ea typeface="宋体" pitchFamily="2" charset="-122"/>
              </a:rPr>
              <a:t>枚举变量说明</a:t>
            </a:r>
          </a:p>
          <a:p>
            <a:pPr lvl="1">
              <a:buFont typeface="Wingdings" pitchFamily="2" charset="2"/>
              <a:buNone/>
            </a:pPr>
            <a:r>
              <a:rPr lang="en-US" altLang="zh-CN" sz="2000" dirty="0" err="1">
                <a:ea typeface="宋体" pitchFamily="2" charset="-122"/>
              </a:rPr>
              <a:t>enum</a:t>
            </a:r>
            <a:r>
              <a:rPr lang="en-US" altLang="zh-CN" sz="2000" dirty="0">
                <a:ea typeface="宋体" pitchFamily="2" charset="-122"/>
              </a:rPr>
              <a:t>  color chair;</a:t>
            </a:r>
          </a:p>
          <a:p>
            <a:pPr lvl="1">
              <a:buFont typeface="Wingdings" pitchFamily="2" charset="2"/>
              <a:buNone/>
            </a:pPr>
            <a:r>
              <a:rPr lang="en-US" altLang="zh-CN" sz="2000" dirty="0" err="1">
                <a:ea typeface="宋体" pitchFamily="2" charset="-122"/>
              </a:rPr>
              <a:t>enum</a:t>
            </a:r>
            <a:r>
              <a:rPr lang="en-US" altLang="zh-CN" sz="2000" dirty="0">
                <a:ea typeface="宋体" pitchFamily="2" charset="-122"/>
              </a:rPr>
              <a:t>  color suite[10];</a:t>
            </a:r>
          </a:p>
        </p:txBody>
      </p:sp>
      <p:sp>
        <p:nvSpPr>
          <p:cNvPr id="63491" name="灯片编号占位符 4"/>
          <p:cNvSpPr>
            <a:spLocks noGrp="1"/>
          </p:cNvSpPr>
          <p:nvPr>
            <p:ph type="sldNum" sz="quarter" idx="12"/>
          </p:nvPr>
        </p:nvSpPr>
        <p:spPr>
          <a:noFill/>
        </p:spPr>
        <p:txBody>
          <a:bodyPr/>
          <a:lstStyle/>
          <a:p>
            <a:fld id="{93093B8F-D891-443E-8E68-0205ECCF8194}" type="slidenum">
              <a:rPr lang="en-US" altLang="zh-CN" smtClean="0"/>
              <a:pPr/>
              <a:t>37</a:t>
            </a:fld>
            <a:endParaRPr lang="en-US" altLang="zh-CN"/>
          </a:p>
        </p:txBody>
      </p:sp>
      <p:sp>
        <p:nvSpPr>
          <p:cNvPr id="2" name="对话气泡: 圆角矩形 1">
            <a:extLst>
              <a:ext uri="{FF2B5EF4-FFF2-40B4-BE49-F238E27FC236}">
                <a16:creationId xmlns:a16="http://schemas.microsoft.com/office/drawing/2014/main" id="{2432A447-19A7-4BC8-9515-4C628FA2D20D}"/>
              </a:ext>
            </a:extLst>
          </p:cNvPr>
          <p:cNvSpPr/>
          <p:nvPr/>
        </p:nvSpPr>
        <p:spPr bwMode="auto">
          <a:xfrm>
            <a:off x="7968208" y="192881"/>
            <a:ext cx="2520280" cy="1021556"/>
          </a:xfrm>
          <a:prstGeom prst="wedgeRoundRectCallout">
            <a:avLst>
              <a:gd name="adj1" fmla="val -66389"/>
              <a:gd name="adj2" fmla="val -5928"/>
              <a:gd name="adj3" fmla="val 16667"/>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eaLnBrk="0" fontAlgn="base" hangingPunct="0">
              <a:spcBef>
                <a:spcPct val="0"/>
              </a:spcBef>
              <a:spcAft>
                <a:spcPct val="0"/>
              </a:spcAft>
            </a:pPr>
            <a:r>
              <a:rPr lang="zh-CN" altLang="en-US" dirty="0">
                <a:latin typeface="楷体" panose="02010609060101010101" pitchFamily="49" charset="-122"/>
                <a:ea typeface="楷体" panose="02010609060101010101" pitchFamily="49" charset="-122"/>
              </a:rPr>
              <a:t>为了使程序具有更好的扩展性，本问题实现中用到了</a:t>
            </a:r>
            <a:r>
              <a:rPr lang="zh-CN" altLang="en-US" b="1" dirty="0">
                <a:latin typeface="楷体" panose="02010609060101010101" pitchFamily="49" charset="-122"/>
                <a:ea typeface="楷体" panose="02010609060101010101" pitchFamily="49" charset="-122"/>
              </a:rPr>
              <a:t>枚举</a:t>
            </a:r>
            <a:r>
              <a:rPr lang="zh-CN" altLang="en-US" dirty="0">
                <a:latin typeface="楷体" panose="02010609060101010101" pitchFamily="49" charset="-122"/>
                <a:ea typeface="楷体" panose="02010609060101010101" pitchFamily="49" charset="-122"/>
              </a:rPr>
              <a:t>类型</a:t>
            </a: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2"/>
          <p:cNvSpPr>
            <a:spLocks noGrp="1" noChangeArrowheads="1"/>
          </p:cNvSpPr>
          <p:nvPr>
            <p:ph type="title"/>
          </p:nvPr>
        </p:nvSpPr>
        <p:spPr/>
        <p:txBody>
          <a:bodyPr/>
          <a:lstStyle/>
          <a:p>
            <a:r>
              <a:rPr lang="zh-CN" altLang="en-US">
                <a:ea typeface="宋体" pitchFamily="2" charset="-122"/>
              </a:rPr>
              <a:t>枚举类型（续）</a:t>
            </a:r>
          </a:p>
        </p:txBody>
      </p:sp>
      <p:sp>
        <p:nvSpPr>
          <p:cNvPr id="64517" name="Rectangle 3"/>
          <p:cNvSpPr>
            <a:spLocks noGrp="1" noChangeArrowheads="1"/>
          </p:cNvSpPr>
          <p:nvPr>
            <p:ph idx="1"/>
          </p:nvPr>
        </p:nvSpPr>
        <p:spPr/>
        <p:txBody>
          <a:bodyPr/>
          <a:lstStyle/>
          <a:p>
            <a:pPr marL="0" indent="0">
              <a:lnSpc>
                <a:spcPct val="70000"/>
              </a:lnSpc>
            </a:pPr>
            <a:r>
              <a:rPr lang="zh-CN" altLang="en-US" sz="1800" b="0">
                <a:ea typeface="宋体" pitchFamily="2" charset="-122"/>
              </a:rPr>
              <a:t>在表达式中使用枚举变量</a:t>
            </a:r>
          </a:p>
          <a:p>
            <a:pPr lvl="1">
              <a:lnSpc>
                <a:spcPct val="70000"/>
              </a:lnSpc>
              <a:buFont typeface="Wingdings" pitchFamily="2" charset="2"/>
              <a:buNone/>
            </a:pPr>
            <a:r>
              <a:rPr lang="en-US" altLang="zh-CN" sz="1800">
                <a:ea typeface="宋体" pitchFamily="2" charset="-122"/>
              </a:rPr>
              <a:t>chair = red;</a:t>
            </a:r>
          </a:p>
          <a:p>
            <a:pPr lvl="1">
              <a:lnSpc>
                <a:spcPct val="70000"/>
              </a:lnSpc>
              <a:buFont typeface="Wingdings" pitchFamily="2" charset="2"/>
              <a:buNone/>
            </a:pPr>
            <a:r>
              <a:rPr lang="en-US" altLang="zh-CN" sz="1800">
                <a:ea typeface="宋体" pitchFamily="2" charset="-122"/>
              </a:rPr>
              <a:t>suite[5] = yellow;</a:t>
            </a:r>
          </a:p>
          <a:p>
            <a:pPr lvl="1">
              <a:lnSpc>
                <a:spcPct val="70000"/>
              </a:lnSpc>
              <a:buFont typeface="Wingdings" pitchFamily="2" charset="2"/>
              <a:buNone/>
            </a:pPr>
            <a:r>
              <a:rPr lang="en-US" altLang="zh-CN" sz="1800">
                <a:ea typeface="宋体" pitchFamily="2" charset="-122"/>
              </a:rPr>
              <a:t>if( chair = = green ) …</a:t>
            </a:r>
          </a:p>
          <a:p>
            <a:pPr marL="0" indent="0">
              <a:lnSpc>
                <a:spcPct val="70000"/>
              </a:lnSpc>
              <a:buNone/>
            </a:pPr>
            <a:r>
              <a:rPr lang="en-US" altLang="zh-CN" sz="1800" b="0">
                <a:ea typeface="宋体" pitchFamily="2" charset="-122"/>
              </a:rPr>
              <a:t> </a:t>
            </a:r>
          </a:p>
          <a:p>
            <a:pPr marL="0" indent="0">
              <a:buNone/>
            </a:pPr>
            <a:r>
              <a:rPr lang="zh-CN" altLang="en-US" sz="1800" b="0">
                <a:ea typeface="宋体" pitchFamily="2" charset="-122"/>
              </a:rPr>
              <a:t>注意</a:t>
            </a:r>
            <a:r>
              <a:rPr lang="zh-CN" altLang="en-US" sz="1800" b="0">
                <a:solidFill>
                  <a:srgbClr val="0033CC"/>
                </a:solidFill>
                <a:ea typeface="宋体" pitchFamily="2" charset="-122"/>
              </a:rPr>
              <a:t>：</a:t>
            </a:r>
            <a:r>
              <a:rPr lang="zh-CN" altLang="en-US" sz="1800" b="0" i="1">
                <a:solidFill>
                  <a:srgbClr val="0033CC"/>
                </a:solidFill>
                <a:ea typeface="宋体" pitchFamily="2" charset="-122"/>
              </a:rPr>
              <a:t>对枚举变量的赋值并不是将标识符字符串传给它，而是把该标识符所对应的各值表中常数值赋与变量</a:t>
            </a:r>
            <a:r>
              <a:rPr lang="zh-CN" altLang="en-US" sz="1800" b="0">
                <a:ea typeface="宋体" pitchFamily="2" charset="-122"/>
              </a:rPr>
              <a:t>。</a:t>
            </a:r>
            <a:r>
              <a:rPr lang="en-US" altLang="zh-CN" sz="1800" b="0">
                <a:ea typeface="宋体" pitchFamily="2" charset="-122"/>
              </a:rPr>
              <a:t>C</a:t>
            </a:r>
            <a:r>
              <a:rPr lang="zh-CN" altLang="en-US" sz="1800" b="0">
                <a:ea typeface="宋体" pitchFamily="2" charset="-122"/>
              </a:rPr>
              <a:t>语言编译程序把值表中的标识符视为从</a:t>
            </a:r>
            <a:r>
              <a:rPr lang="en-US" altLang="zh-CN" sz="1800" b="0">
                <a:ea typeface="宋体" pitchFamily="2" charset="-122"/>
              </a:rPr>
              <a:t>0</a:t>
            </a:r>
            <a:r>
              <a:rPr lang="zh-CN" altLang="en-US" sz="1800" b="0">
                <a:ea typeface="宋体" pitchFamily="2" charset="-122"/>
              </a:rPr>
              <a:t>开始的连续整数。另外，枚举类型变量的作用范围与一般变量的定义相同。</a:t>
            </a:r>
          </a:p>
          <a:p>
            <a:pPr marL="0" indent="0">
              <a:lnSpc>
                <a:spcPct val="70000"/>
              </a:lnSpc>
              <a:buNone/>
            </a:pPr>
            <a:r>
              <a:rPr lang="zh-CN" altLang="en-US" sz="1800" b="0">
                <a:ea typeface="宋体" pitchFamily="2" charset="-122"/>
              </a:rPr>
              <a:t> </a:t>
            </a:r>
          </a:p>
          <a:p>
            <a:pPr lvl="1">
              <a:lnSpc>
                <a:spcPct val="70000"/>
              </a:lnSpc>
              <a:buFont typeface="Wingdings" pitchFamily="2" charset="2"/>
              <a:buNone/>
            </a:pPr>
            <a:r>
              <a:rPr lang="zh-CN" altLang="en-US" sz="1800">
                <a:ea typeface="宋体" pitchFamily="2" charset="-122"/>
              </a:rPr>
              <a:t>如：</a:t>
            </a:r>
          </a:p>
          <a:p>
            <a:pPr marL="838200" lvl="2">
              <a:lnSpc>
                <a:spcPct val="80000"/>
              </a:lnSpc>
              <a:buNone/>
            </a:pPr>
            <a:r>
              <a:rPr lang="en-US" altLang="zh-CN">
                <a:ea typeface="宋体" pitchFamily="2" charset="-122"/>
              </a:rPr>
              <a:t>enum color { red, green, yellow = 5, white, black };</a:t>
            </a:r>
          </a:p>
          <a:p>
            <a:pPr lvl="1">
              <a:lnSpc>
                <a:spcPct val="70000"/>
              </a:lnSpc>
              <a:buFont typeface="Wingdings" pitchFamily="2" charset="2"/>
              <a:buNone/>
            </a:pPr>
            <a:r>
              <a:rPr lang="zh-CN" altLang="en-US" sz="1800">
                <a:ea typeface="宋体" pitchFamily="2" charset="-122"/>
              </a:rPr>
              <a:t>则：</a:t>
            </a:r>
          </a:p>
          <a:p>
            <a:pPr marL="838200" lvl="2">
              <a:lnSpc>
                <a:spcPct val="80000"/>
              </a:lnSpc>
              <a:buNone/>
            </a:pPr>
            <a:r>
              <a:rPr lang="en-US" altLang="zh-CN">
                <a:ea typeface="宋体" pitchFamily="2" charset="-122"/>
              </a:rPr>
              <a:t>red=0, green=1, yellow=5, white=6, black=7</a:t>
            </a:r>
          </a:p>
          <a:p>
            <a:pPr marL="0" indent="0">
              <a:lnSpc>
                <a:spcPct val="70000"/>
              </a:lnSpc>
              <a:buNone/>
            </a:pPr>
            <a:endParaRPr lang="en-US" altLang="zh-CN" sz="1800">
              <a:ea typeface="宋体" pitchFamily="2" charset="-122"/>
            </a:endParaRPr>
          </a:p>
        </p:txBody>
      </p:sp>
      <p:sp>
        <p:nvSpPr>
          <p:cNvPr id="64515" name="灯片编号占位符 4"/>
          <p:cNvSpPr>
            <a:spLocks noGrp="1"/>
          </p:cNvSpPr>
          <p:nvPr>
            <p:ph type="sldNum" sz="quarter" idx="12"/>
          </p:nvPr>
        </p:nvSpPr>
        <p:spPr>
          <a:noFill/>
        </p:spPr>
        <p:txBody>
          <a:bodyPr/>
          <a:lstStyle/>
          <a:p>
            <a:fld id="{CA5A4EF3-F976-4BD2-A153-F1BAD7D8C044}" type="slidenum">
              <a:rPr lang="en-US" altLang="zh-CN" smtClean="0"/>
              <a:pPr/>
              <a:t>38</a:t>
            </a:fld>
            <a:endParaRPr lang="en-US" altLang="zh-CN"/>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0" name="Rectangle 2"/>
          <p:cNvSpPr>
            <a:spLocks noGrp="1" noChangeArrowheads="1"/>
          </p:cNvSpPr>
          <p:nvPr>
            <p:ph type="title"/>
          </p:nvPr>
        </p:nvSpPr>
        <p:spPr/>
        <p:txBody>
          <a:bodyPr/>
          <a:lstStyle/>
          <a:p>
            <a:r>
              <a:rPr lang="zh-CN" altLang="en-US">
                <a:ea typeface="宋体" pitchFamily="2" charset="-122"/>
              </a:rPr>
              <a:t>枚举类型（续）</a:t>
            </a:r>
          </a:p>
        </p:txBody>
      </p:sp>
      <p:sp>
        <p:nvSpPr>
          <p:cNvPr id="65541" name="Rectangle 3"/>
          <p:cNvSpPr>
            <a:spLocks noGrp="1" noChangeArrowheads="1"/>
          </p:cNvSpPr>
          <p:nvPr>
            <p:ph idx="1"/>
          </p:nvPr>
        </p:nvSpPr>
        <p:spPr/>
        <p:txBody>
          <a:bodyPr/>
          <a:lstStyle/>
          <a:p>
            <a:r>
              <a:rPr lang="zh-CN" altLang="en-US" b="0" dirty="0">
                <a:ea typeface="宋体" pitchFamily="2" charset="-122"/>
              </a:rPr>
              <a:t>枚举类型用途：</a:t>
            </a:r>
          </a:p>
          <a:p>
            <a:pPr>
              <a:buFont typeface="Wingdings" pitchFamily="2" charset="2"/>
              <a:buNone/>
            </a:pPr>
            <a:endParaRPr lang="zh-CN" altLang="en-US" b="0" dirty="0">
              <a:ea typeface="宋体" pitchFamily="2" charset="-122"/>
            </a:endParaRPr>
          </a:p>
          <a:p>
            <a:pPr marL="781050" lvl="1" indent="-387350"/>
            <a:r>
              <a:rPr lang="zh-CN" altLang="en-US" dirty="0">
                <a:ea typeface="宋体" pitchFamily="2" charset="-122"/>
              </a:rPr>
              <a:t>枚举类型通常用来说明变量取值为有限的一组值之一，如：</a:t>
            </a:r>
            <a:r>
              <a:rPr lang="en-US" altLang="zh-CN" dirty="0" err="1">
                <a:ea typeface="宋体" pitchFamily="2" charset="-122"/>
              </a:rPr>
              <a:t>enum</a:t>
            </a:r>
            <a:r>
              <a:rPr lang="en-US" altLang="zh-CN" dirty="0">
                <a:ea typeface="宋体" pitchFamily="2" charset="-122"/>
              </a:rPr>
              <a:t> Boolean { FALSE, TRUE };</a:t>
            </a:r>
          </a:p>
          <a:p>
            <a:pPr marL="781050" lvl="1" indent="-387350"/>
            <a:r>
              <a:rPr lang="zh-CN" altLang="en-US">
                <a:ea typeface="宋体" pitchFamily="2" charset="-122"/>
              </a:rPr>
              <a:t>用来定义整型常量</a:t>
            </a:r>
            <a:r>
              <a:rPr lang="zh-CN" altLang="en-US" dirty="0">
                <a:ea typeface="宋体" pitchFamily="2" charset="-122"/>
              </a:rPr>
              <a:t>，如： </a:t>
            </a:r>
            <a:r>
              <a:rPr lang="en-US" altLang="zh-CN" dirty="0" err="1">
                <a:ea typeface="宋体" pitchFamily="2" charset="-122"/>
              </a:rPr>
              <a:t>enum</a:t>
            </a:r>
            <a:r>
              <a:rPr lang="en-US" altLang="zh-CN" dirty="0">
                <a:ea typeface="宋体" pitchFamily="2" charset="-122"/>
              </a:rPr>
              <a:t> { SIZE=1024 };</a:t>
            </a:r>
          </a:p>
          <a:p>
            <a:pPr marL="781050" lvl="1" indent="-387350"/>
            <a:r>
              <a:rPr lang="zh-CN" altLang="en-US" dirty="0">
                <a:ea typeface="宋体" pitchFamily="2" charset="-122"/>
              </a:rPr>
              <a:t>符号类型变量可用于数组下标。</a:t>
            </a:r>
            <a:endParaRPr lang="en-US" altLang="zh-CN" dirty="0">
              <a:ea typeface="宋体" pitchFamily="2" charset="-122"/>
            </a:endParaRPr>
          </a:p>
          <a:p>
            <a:pPr>
              <a:buFont typeface="Wingdings" pitchFamily="2" charset="2"/>
              <a:buNone/>
            </a:pPr>
            <a:endParaRPr lang="en-US" altLang="zh-CN" b="0" dirty="0">
              <a:ea typeface="宋体" pitchFamily="2" charset="-122"/>
            </a:endParaRPr>
          </a:p>
        </p:txBody>
      </p:sp>
      <p:sp>
        <p:nvSpPr>
          <p:cNvPr id="65539" name="灯片编号占位符 4"/>
          <p:cNvSpPr>
            <a:spLocks noGrp="1"/>
          </p:cNvSpPr>
          <p:nvPr>
            <p:ph type="sldNum" sz="quarter" idx="12"/>
          </p:nvPr>
        </p:nvSpPr>
        <p:spPr>
          <a:noFill/>
        </p:spPr>
        <p:txBody>
          <a:bodyPr/>
          <a:lstStyle/>
          <a:p>
            <a:fld id="{DC59828F-045A-4FC7-9429-704B658A638C}" type="slidenum">
              <a:rPr lang="en-US" altLang="zh-CN" smtClean="0"/>
              <a:pPr/>
              <a:t>39</a:t>
            </a:fld>
            <a:endParaRPr lang="en-US" altLang="zh-CN"/>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36525"/>
            <a:ext cx="10515600" cy="759619"/>
          </a:xfrm>
        </p:spPr>
        <p:txBody>
          <a:bodyPr/>
          <a:lstStyle/>
          <a:p>
            <a:r>
              <a:rPr lang="zh-CN" altLang="en-US" dirty="0"/>
              <a:t>问题</a:t>
            </a:r>
            <a:r>
              <a:rPr lang="en-US" altLang="zh-CN" dirty="0"/>
              <a:t>3.1</a:t>
            </a:r>
            <a:r>
              <a:rPr lang="zh-CN" altLang="en-US" dirty="0"/>
              <a:t>：代码实现</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40</a:t>
            </a:fld>
            <a:endParaRPr lang="zh-CN" altLang="en-US" dirty="0"/>
          </a:p>
        </p:txBody>
      </p:sp>
      <p:sp>
        <p:nvSpPr>
          <p:cNvPr id="4" name="TextBox 3"/>
          <p:cNvSpPr txBox="1"/>
          <p:nvPr/>
        </p:nvSpPr>
        <p:spPr>
          <a:xfrm>
            <a:off x="695400" y="1354075"/>
            <a:ext cx="5112568" cy="4893647"/>
          </a:xfrm>
          <a:prstGeom prst="rect">
            <a:avLst/>
          </a:prstGeom>
          <a:solidFill>
            <a:schemeClr val="bg2">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US" altLang="zh-CN" dirty="0"/>
              <a:t>#include&lt;</a:t>
            </a:r>
            <a:r>
              <a:rPr lang="en-US" altLang="zh-CN" dirty="0" err="1"/>
              <a:t>stdio.h</a:t>
            </a:r>
            <a:r>
              <a:rPr lang="en-US" altLang="zh-CN" dirty="0"/>
              <a:t>&gt;</a:t>
            </a:r>
          </a:p>
          <a:p>
            <a:r>
              <a:rPr lang="en-US" altLang="zh-CN" dirty="0"/>
              <a:t>#include&lt;</a:t>
            </a:r>
            <a:r>
              <a:rPr lang="en-US" altLang="zh-CN" dirty="0" err="1"/>
              <a:t>string.h</a:t>
            </a:r>
            <a:r>
              <a:rPr lang="en-US" altLang="zh-CN" dirty="0"/>
              <a:t>&gt;</a:t>
            </a:r>
          </a:p>
          <a:p>
            <a:r>
              <a:rPr lang="en-US" altLang="zh-CN" dirty="0"/>
              <a:t>#include&lt;</a:t>
            </a:r>
            <a:r>
              <a:rPr lang="en-US" altLang="zh-CN" dirty="0" err="1"/>
              <a:t>stdlib.h</a:t>
            </a:r>
            <a:r>
              <a:rPr lang="en-US" altLang="zh-CN" dirty="0"/>
              <a:t>&gt;</a:t>
            </a:r>
          </a:p>
          <a:p>
            <a:r>
              <a:rPr lang="en-US" altLang="zh-CN" dirty="0"/>
              <a:t>#include&lt;</a:t>
            </a:r>
            <a:r>
              <a:rPr lang="en-US" altLang="zh-CN" dirty="0" err="1"/>
              <a:t>ctype.h</a:t>
            </a:r>
            <a:r>
              <a:rPr lang="en-US" altLang="zh-CN" dirty="0"/>
              <a:t>&gt;</a:t>
            </a:r>
          </a:p>
          <a:p>
            <a:r>
              <a:rPr lang="en-US" altLang="zh-CN" dirty="0"/>
              <a:t>#define  MAXSIZE 100</a:t>
            </a:r>
          </a:p>
          <a:p>
            <a:r>
              <a:rPr lang="en-US" altLang="zh-CN" dirty="0" err="1"/>
              <a:t>typedef</a:t>
            </a:r>
            <a:r>
              <a:rPr lang="en-US" altLang="zh-CN" dirty="0"/>
              <a:t>  </a:t>
            </a:r>
            <a:r>
              <a:rPr lang="en-US" altLang="zh-CN" dirty="0" err="1"/>
              <a:t>int</a:t>
            </a:r>
            <a:r>
              <a:rPr lang="en-US" altLang="zh-CN" dirty="0"/>
              <a:t>  </a:t>
            </a:r>
            <a:r>
              <a:rPr lang="en-US" altLang="zh-CN" dirty="0" err="1"/>
              <a:t>DataType</a:t>
            </a:r>
            <a:r>
              <a:rPr lang="en-US" altLang="zh-CN" dirty="0"/>
              <a:t>;  </a:t>
            </a:r>
          </a:p>
          <a:p>
            <a:r>
              <a:rPr lang="en-US" altLang="zh-CN" dirty="0" err="1"/>
              <a:t>enum</a:t>
            </a:r>
            <a:r>
              <a:rPr lang="en-US" altLang="zh-CN" dirty="0"/>
              <a:t>  symbol {NUM, OP, EQ,OTHER};//</a:t>
            </a:r>
            <a:r>
              <a:rPr lang="zh-CN" altLang="en-US" sz="1400" dirty="0"/>
              <a:t>符号类型</a:t>
            </a:r>
            <a:endParaRPr lang="en-US" altLang="zh-CN" dirty="0"/>
          </a:p>
          <a:p>
            <a:r>
              <a:rPr lang="en-US" altLang="zh-CN" dirty="0" err="1"/>
              <a:t>enum</a:t>
            </a:r>
            <a:r>
              <a:rPr lang="en-US" altLang="zh-CN" dirty="0"/>
              <a:t>  </a:t>
            </a:r>
            <a:r>
              <a:rPr lang="en-US" altLang="zh-CN" dirty="0" err="1"/>
              <a:t>oper</a:t>
            </a:r>
            <a:r>
              <a:rPr lang="en-US" altLang="zh-CN" dirty="0"/>
              <a:t> {EPT,ADD, MIN, MUL, DIV,  LEFT, RIGHT};</a:t>
            </a:r>
            <a:r>
              <a:rPr lang="zh-CN" altLang="en-US" dirty="0"/>
              <a:t> </a:t>
            </a:r>
            <a:r>
              <a:rPr lang="en-US" altLang="zh-CN" sz="1600" dirty="0"/>
              <a:t>//</a:t>
            </a:r>
            <a:r>
              <a:rPr lang="zh-CN" altLang="en-US" sz="1600" dirty="0"/>
              <a:t>运算类型及优先级</a:t>
            </a:r>
            <a:endParaRPr lang="en-US" altLang="zh-CN" sz="1600" dirty="0"/>
          </a:p>
          <a:p>
            <a:r>
              <a:rPr lang="en-US" altLang="zh-CN" dirty="0" err="1"/>
              <a:t>int</a:t>
            </a:r>
            <a:r>
              <a:rPr lang="en-US" altLang="zh-CN" dirty="0"/>
              <a:t> </a:t>
            </a:r>
            <a:r>
              <a:rPr lang="en-US" altLang="zh-CN" dirty="0" err="1"/>
              <a:t>Pri</a:t>
            </a:r>
            <a:r>
              <a:rPr lang="en-US" altLang="zh-CN" dirty="0"/>
              <a:t>[]={-1,0,0,1,1,2,2};</a:t>
            </a:r>
            <a:r>
              <a:rPr lang="en-US" altLang="zh-CN" sz="2000" dirty="0"/>
              <a:t> </a:t>
            </a:r>
            <a:r>
              <a:rPr lang="en-US" altLang="zh-CN" dirty="0"/>
              <a:t>//</a:t>
            </a:r>
            <a:r>
              <a:rPr lang="zh-CN" altLang="en-US" dirty="0"/>
              <a:t>运算符优先级</a:t>
            </a:r>
            <a:endParaRPr lang="en-US" altLang="zh-CN" dirty="0"/>
          </a:p>
          <a:p>
            <a:r>
              <a:rPr lang="en-US" altLang="zh-CN" dirty="0"/>
              <a:t>union sym {</a:t>
            </a:r>
          </a:p>
          <a:p>
            <a:r>
              <a:rPr lang="en-US" altLang="zh-CN" dirty="0"/>
              <a:t>    </a:t>
            </a:r>
            <a:r>
              <a:rPr lang="en-US" altLang="zh-CN" dirty="0" err="1"/>
              <a:t>DataType</a:t>
            </a:r>
            <a:r>
              <a:rPr lang="en-US" altLang="zh-CN" dirty="0"/>
              <a:t> num;</a:t>
            </a:r>
          </a:p>
          <a:p>
            <a:r>
              <a:rPr lang="en-US" altLang="zh-CN" dirty="0"/>
              <a:t>    </a:t>
            </a:r>
            <a:r>
              <a:rPr lang="en-US" altLang="zh-CN" dirty="0" err="1"/>
              <a:t>enum</a:t>
            </a:r>
            <a:r>
              <a:rPr lang="en-US" altLang="zh-CN" dirty="0"/>
              <a:t> </a:t>
            </a:r>
            <a:r>
              <a:rPr lang="en-US" altLang="zh-CN" dirty="0" err="1"/>
              <a:t>oper</a:t>
            </a:r>
            <a:r>
              <a:rPr lang="en-US" altLang="zh-CN" dirty="0"/>
              <a:t> op;</a:t>
            </a:r>
          </a:p>
          <a:p>
            <a:r>
              <a:rPr lang="en-US" altLang="zh-CN" dirty="0"/>
              <a:t>} ; //</a:t>
            </a:r>
            <a:r>
              <a:rPr lang="zh-CN" altLang="en-US" dirty="0"/>
              <a:t>符号值 </a:t>
            </a:r>
            <a:endParaRPr lang="en-US" altLang="zh-CN" dirty="0"/>
          </a:p>
          <a:p>
            <a:r>
              <a:rPr lang="en-US" altLang="zh-CN" dirty="0" err="1"/>
              <a:t>enum</a:t>
            </a:r>
            <a:r>
              <a:rPr lang="en-US" altLang="zh-CN" dirty="0"/>
              <a:t> symbol </a:t>
            </a:r>
            <a:r>
              <a:rPr lang="en-US" altLang="zh-CN" dirty="0" err="1"/>
              <a:t>getSym</a:t>
            </a:r>
            <a:r>
              <a:rPr lang="en-US" altLang="zh-CN" dirty="0"/>
              <a:t>( union sym *item);</a:t>
            </a:r>
          </a:p>
          <a:p>
            <a:r>
              <a:rPr lang="en-US" altLang="zh-CN" dirty="0"/>
              <a:t>void operate(</a:t>
            </a:r>
            <a:r>
              <a:rPr lang="en-US" altLang="zh-CN" dirty="0" err="1"/>
              <a:t>enum</a:t>
            </a:r>
            <a:r>
              <a:rPr lang="en-US" altLang="zh-CN" dirty="0"/>
              <a:t> </a:t>
            </a:r>
            <a:r>
              <a:rPr lang="en-US" altLang="zh-CN" dirty="0" err="1"/>
              <a:t>oper</a:t>
            </a:r>
            <a:r>
              <a:rPr lang="en-US" altLang="zh-CN" dirty="0"/>
              <a:t> op );//</a:t>
            </a:r>
            <a:r>
              <a:rPr lang="zh-CN" altLang="en-US" dirty="0"/>
              <a:t>操作运算符</a:t>
            </a:r>
            <a:endParaRPr lang="en-US" altLang="zh-CN" dirty="0"/>
          </a:p>
          <a:p>
            <a:r>
              <a:rPr lang="en-US" altLang="zh-CN" dirty="0"/>
              <a:t>void compute(</a:t>
            </a:r>
            <a:r>
              <a:rPr lang="en-US" altLang="zh-CN" dirty="0" err="1"/>
              <a:t>enum</a:t>
            </a:r>
            <a:r>
              <a:rPr lang="en-US" altLang="zh-CN" dirty="0"/>
              <a:t> </a:t>
            </a:r>
            <a:r>
              <a:rPr lang="en-US" altLang="zh-CN" dirty="0" err="1"/>
              <a:t>oper</a:t>
            </a:r>
            <a:r>
              <a:rPr lang="en-US" altLang="zh-CN" dirty="0"/>
              <a:t> op ); //</a:t>
            </a:r>
            <a:r>
              <a:rPr lang="zh-CN" altLang="en-US" dirty="0"/>
              <a:t>进行运算</a:t>
            </a:r>
            <a:endParaRPr lang="en-US" altLang="zh-CN" dirty="0"/>
          </a:p>
        </p:txBody>
      </p:sp>
      <p:sp>
        <p:nvSpPr>
          <p:cNvPr id="5" name="TextBox 4"/>
          <p:cNvSpPr txBox="1"/>
          <p:nvPr/>
        </p:nvSpPr>
        <p:spPr>
          <a:xfrm>
            <a:off x="5807968" y="1"/>
            <a:ext cx="4968552" cy="545277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nSpc>
                <a:spcPts val="1900"/>
              </a:lnSpc>
            </a:pPr>
            <a:r>
              <a:rPr lang="en-US" altLang="zh-CN" dirty="0" err="1"/>
              <a:t>int</a:t>
            </a:r>
            <a:r>
              <a:rPr lang="en-US" altLang="zh-CN" dirty="0"/>
              <a:t> main()</a:t>
            </a:r>
          </a:p>
          <a:p>
            <a:pPr>
              <a:lnSpc>
                <a:spcPts val="1900"/>
              </a:lnSpc>
            </a:pPr>
            <a:r>
              <a:rPr lang="en-US" altLang="zh-CN" dirty="0"/>
              <a:t>{</a:t>
            </a:r>
          </a:p>
          <a:p>
            <a:pPr>
              <a:lnSpc>
                <a:spcPts val="1900"/>
              </a:lnSpc>
            </a:pPr>
            <a:r>
              <a:rPr lang="en-US" altLang="zh-CN" dirty="0"/>
              <a:t>    union sym item;</a:t>
            </a:r>
          </a:p>
          <a:p>
            <a:pPr>
              <a:lnSpc>
                <a:spcPts val="1900"/>
              </a:lnSpc>
            </a:pPr>
            <a:r>
              <a:rPr lang="en-US" altLang="zh-CN" dirty="0"/>
              <a:t>    </a:t>
            </a:r>
            <a:r>
              <a:rPr lang="en-US" altLang="zh-CN" dirty="0" err="1"/>
              <a:t>enum</a:t>
            </a:r>
            <a:r>
              <a:rPr lang="en-US" altLang="zh-CN" dirty="0"/>
              <a:t> symbol s;</a:t>
            </a:r>
          </a:p>
          <a:p>
            <a:pPr>
              <a:lnSpc>
                <a:spcPts val="1900"/>
              </a:lnSpc>
            </a:pPr>
            <a:r>
              <a:rPr lang="en-US" altLang="zh-CN" dirty="0"/>
              <a:t>    while( (s = </a:t>
            </a:r>
            <a:r>
              <a:rPr lang="en-US" altLang="zh-CN" dirty="0" err="1"/>
              <a:t>getSym</a:t>
            </a:r>
            <a:r>
              <a:rPr lang="en-US" altLang="zh-CN" dirty="0"/>
              <a:t>(&amp;item)) ! = EQ) {</a:t>
            </a:r>
          </a:p>
          <a:p>
            <a:pPr>
              <a:lnSpc>
                <a:spcPts val="1900"/>
              </a:lnSpc>
            </a:pPr>
            <a:r>
              <a:rPr lang="en-US" altLang="zh-CN" dirty="0"/>
              <a:t>        if(s == NUM)  </a:t>
            </a:r>
          </a:p>
          <a:p>
            <a:pPr>
              <a:lnSpc>
                <a:spcPts val="1900"/>
              </a:lnSpc>
            </a:pPr>
            <a:r>
              <a:rPr lang="en-US" altLang="zh-CN" dirty="0"/>
              <a:t>                </a:t>
            </a:r>
            <a:r>
              <a:rPr lang="en-US" altLang="zh-CN" dirty="0" err="1"/>
              <a:t>pushNum</a:t>
            </a:r>
            <a:r>
              <a:rPr lang="en-US" altLang="zh-CN" dirty="0"/>
              <a:t>(item.num);</a:t>
            </a:r>
          </a:p>
          <a:p>
            <a:pPr>
              <a:lnSpc>
                <a:spcPts val="1900"/>
              </a:lnSpc>
            </a:pPr>
            <a:r>
              <a:rPr lang="en-US" altLang="zh-CN" dirty="0"/>
              <a:t>        else if(s == OP)</a:t>
            </a:r>
          </a:p>
          <a:p>
            <a:pPr>
              <a:lnSpc>
                <a:spcPts val="1900"/>
              </a:lnSpc>
            </a:pPr>
            <a:r>
              <a:rPr lang="en-US" altLang="zh-CN" dirty="0"/>
              <a:t>                operate(</a:t>
            </a:r>
            <a:r>
              <a:rPr lang="en-US" altLang="zh-CN" dirty="0" err="1"/>
              <a:t>item.op</a:t>
            </a:r>
            <a:r>
              <a:rPr lang="en-US" altLang="zh-CN" dirty="0"/>
              <a:t>);</a:t>
            </a:r>
          </a:p>
          <a:p>
            <a:pPr>
              <a:lnSpc>
                <a:spcPts val="1900"/>
              </a:lnSpc>
            </a:pPr>
            <a:r>
              <a:rPr lang="en-US" altLang="zh-CN" dirty="0"/>
              <a:t>        else {</a:t>
            </a:r>
          </a:p>
          <a:p>
            <a:pPr>
              <a:lnSpc>
                <a:spcPts val="1900"/>
              </a:lnSpc>
            </a:pPr>
            <a:r>
              <a:rPr lang="en-US" altLang="zh-CN" dirty="0"/>
              <a:t>            </a:t>
            </a:r>
            <a:r>
              <a:rPr lang="en-US" altLang="zh-CN" dirty="0" err="1"/>
              <a:t>printf</a:t>
            </a:r>
            <a:r>
              <a:rPr lang="en-US" altLang="zh-CN" dirty="0"/>
              <a:t>(“Error in the expression!\n”);</a:t>
            </a:r>
          </a:p>
          <a:p>
            <a:pPr>
              <a:lnSpc>
                <a:spcPts val="1900"/>
              </a:lnSpc>
            </a:pPr>
            <a:r>
              <a:rPr lang="en-US" altLang="zh-CN" dirty="0"/>
              <a:t>            return 1;</a:t>
            </a:r>
          </a:p>
          <a:p>
            <a:pPr>
              <a:lnSpc>
                <a:spcPts val="1900"/>
              </a:lnSpc>
            </a:pPr>
            <a:r>
              <a:rPr lang="en-US" altLang="zh-CN" dirty="0"/>
              <a:t>       }</a:t>
            </a:r>
          </a:p>
          <a:p>
            <a:pPr>
              <a:lnSpc>
                <a:spcPts val="1900"/>
              </a:lnSpc>
            </a:pPr>
            <a:r>
              <a:rPr lang="en-US" altLang="zh-CN" dirty="0"/>
              <a:t>    }</a:t>
            </a:r>
          </a:p>
          <a:p>
            <a:pPr>
              <a:lnSpc>
                <a:spcPts val="1900"/>
              </a:lnSpc>
            </a:pPr>
            <a:r>
              <a:rPr lang="en-US" altLang="zh-CN" dirty="0"/>
              <a:t>    while(</a:t>
            </a:r>
            <a:r>
              <a:rPr lang="en-US" altLang="zh-CN" dirty="0" err="1"/>
              <a:t>Otop</a:t>
            </a:r>
            <a:r>
              <a:rPr lang="en-US" altLang="zh-CN" dirty="0"/>
              <a:t> &gt;=0) //</a:t>
            </a:r>
            <a:r>
              <a:rPr lang="zh-CN" altLang="en-US" dirty="0"/>
              <a:t>将栈中所有运算符弹出计算</a:t>
            </a:r>
            <a:endParaRPr lang="en-US" altLang="zh-CN" dirty="0"/>
          </a:p>
          <a:p>
            <a:pPr>
              <a:lnSpc>
                <a:spcPts val="1900"/>
              </a:lnSpc>
            </a:pPr>
            <a:r>
              <a:rPr lang="en-US" altLang="zh-CN" dirty="0"/>
              <a:t>        compute(</a:t>
            </a:r>
            <a:r>
              <a:rPr lang="en-US" altLang="zh-CN" dirty="0" err="1"/>
              <a:t>popOp</a:t>
            </a:r>
            <a:r>
              <a:rPr lang="en-US" altLang="zh-CN" dirty="0"/>
              <a:t>());</a:t>
            </a:r>
          </a:p>
          <a:p>
            <a:pPr>
              <a:lnSpc>
                <a:spcPts val="1900"/>
              </a:lnSpc>
            </a:pPr>
            <a:r>
              <a:rPr lang="en-US" altLang="zh-CN" dirty="0"/>
              <a:t>    if(</a:t>
            </a:r>
            <a:r>
              <a:rPr lang="en-US" altLang="zh-CN" dirty="0" err="1"/>
              <a:t>Ntop</a:t>
            </a:r>
            <a:r>
              <a:rPr lang="en-US" altLang="zh-CN" dirty="0"/>
              <a:t> == 0) //</a:t>
            </a:r>
            <a:r>
              <a:rPr lang="zh-CN" altLang="en-US" dirty="0"/>
              <a:t>输出计算结果</a:t>
            </a:r>
            <a:endParaRPr lang="en-US" altLang="zh-CN" dirty="0"/>
          </a:p>
          <a:p>
            <a:pPr>
              <a:lnSpc>
                <a:spcPts val="1900"/>
              </a:lnSpc>
            </a:pPr>
            <a:r>
              <a:rPr lang="en-US" altLang="zh-CN" dirty="0"/>
              <a:t>        </a:t>
            </a:r>
            <a:r>
              <a:rPr lang="en-US" altLang="zh-CN" dirty="0" err="1"/>
              <a:t>printf</a:t>
            </a:r>
            <a:r>
              <a:rPr lang="en-US" altLang="zh-CN" dirty="0"/>
              <a:t>(“%d\n”, </a:t>
            </a:r>
            <a:r>
              <a:rPr lang="en-US" altLang="zh-CN" dirty="0" err="1"/>
              <a:t>popNum</a:t>
            </a:r>
            <a:r>
              <a:rPr lang="en-US" altLang="zh-CN" dirty="0"/>
              <a:t>());</a:t>
            </a:r>
          </a:p>
          <a:p>
            <a:pPr>
              <a:lnSpc>
                <a:spcPts val="1900"/>
              </a:lnSpc>
            </a:pPr>
            <a:r>
              <a:rPr lang="en-US" altLang="zh-CN" dirty="0"/>
              <a:t>    else</a:t>
            </a:r>
          </a:p>
          <a:p>
            <a:pPr>
              <a:lnSpc>
                <a:spcPts val="1900"/>
              </a:lnSpc>
            </a:pPr>
            <a:r>
              <a:rPr lang="en-US" altLang="zh-CN" dirty="0"/>
              <a:t>        </a:t>
            </a:r>
            <a:r>
              <a:rPr lang="en-US" altLang="zh-CN" dirty="0" err="1"/>
              <a:t>printf</a:t>
            </a:r>
            <a:r>
              <a:rPr lang="en-US" altLang="zh-CN" dirty="0"/>
              <a:t>(“Error in the expression!\n”);</a:t>
            </a:r>
          </a:p>
          <a:p>
            <a:pPr>
              <a:lnSpc>
                <a:spcPts val="1900"/>
              </a:lnSpc>
            </a:pPr>
            <a:r>
              <a:rPr lang="en-US" altLang="zh-CN" dirty="0"/>
              <a:t>    return 0;</a:t>
            </a:r>
          </a:p>
          <a:p>
            <a:pPr>
              <a:lnSpc>
                <a:spcPts val="1900"/>
              </a:lnSpc>
            </a:pPr>
            <a:r>
              <a:rPr lang="en-US" altLang="zh-CN" dirty="0"/>
              <a:t>}</a:t>
            </a:r>
            <a:endParaRPr lang="zh-CN" altLang="en-US" dirty="0"/>
          </a:p>
        </p:txBody>
      </p:sp>
      <p:sp>
        <p:nvSpPr>
          <p:cNvPr id="6" name="矩形 5"/>
          <p:cNvSpPr/>
          <p:nvPr/>
        </p:nvSpPr>
        <p:spPr>
          <a:xfrm>
            <a:off x="5807968" y="5380672"/>
            <a:ext cx="4968552" cy="1477328"/>
          </a:xfrm>
          <a:prstGeom prst="rect">
            <a:avLst/>
          </a:prstGeom>
          <a:solidFill>
            <a:schemeClr val="bg2">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r>
              <a:rPr lang="en-US" altLang="zh-CN" dirty="0"/>
              <a:t>void </a:t>
            </a:r>
            <a:r>
              <a:rPr lang="en-US" altLang="zh-CN" dirty="0" err="1"/>
              <a:t>pushNum</a:t>
            </a:r>
            <a:r>
              <a:rPr lang="en-US" altLang="zh-CN" dirty="0"/>
              <a:t>(</a:t>
            </a:r>
            <a:r>
              <a:rPr lang="en-US" altLang="zh-CN" dirty="0" err="1"/>
              <a:t>DataType</a:t>
            </a:r>
            <a:r>
              <a:rPr lang="en-US" altLang="zh-CN" dirty="0"/>
              <a:t> num);</a:t>
            </a:r>
          </a:p>
          <a:p>
            <a:r>
              <a:rPr lang="en-US" altLang="zh-CN" dirty="0" err="1"/>
              <a:t>DataType</a:t>
            </a:r>
            <a:r>
              <a:rPr lang="en-US" altLang="zh-CN" dirty="0"/>
              <a:t> </a:t>
            </a:r>
            <a:r>
              <a:rPr lang="en-US" altLang="zh-CN" dirty="0" err="1"/>
              <a:t>popNum</a:t>
            </a:r>
            <a:r>
              <a:rPr lang="en-US" altLang="zh-CN" dirty="0"/>
              <a:t>();</a:t>
            </a:r>
          </a:p>
          <a:p>
            <a:r>
              <a:rPr lang="en-US" altLang="zh-CN" dirty="0"/>
              <a:t>void </a:t>
            </a:r>
            <a:r>
              <a:rPr lang="en-US" altLang="zh-CN" dirty="0" err="1"/>
              <a:t>pushOp</a:t>
            </a:r>
            <a:r>
              <a:rPr lang="en-US" altLang="zh-CN" dirty="0"/>
              <a:t>(</a:t>
            </a:r>
            <a:r>
              <a:rPr lang="en-US" altLang="zh-CN" dirty="0" err="1"/>
              <a:t>enum</a:t>
            </a:r>
            <a:r>
              <a:rPr lang="en-US" altLang="zh-CN" dirty="0"/>
              <a:t> </a:t>
            </a:r>
            <a:r>
              <a:rPr lang="en-US" altLang="zh-CN" dirty="0" err="1"/>
              <a:t>oper</a:t>
            </a:r>
            <a:r>
              <a:rPr lang="en-US" altLang="zh-CN" dirty="0"/>
              <a:t> op);</a:t>
            </a:r>
          </a:p>
          <a:p>
            <a:r>
              <a:rPr lang="en-US" altLang="zh-CN" dirty="0" err="1"/>
              <a:t>enum</a:t>
            </a:r>
            <a:r>
              <a:rPr lang="en-US" altLang="zh-CN" dirty="0"/>
              <a:t> </a:t>
            </a:r>
            <a:r>
              <a:rPr lang="en-US" altLang="zh-CN" dirty="0" err="1"/>
              <a:t>oper</a:t>
            </a:r>
            <a:r>
              <a:rPr lang="en-US" altLang="zh-CN" dirty="0"/>
              <a:t>  </a:t>
            </a:r>
            <a:r>
              <a:rPr lang="en-US" altLang="zh-CN" dirty="0" err="1"/>
              <a:t>popOp</a:t>
            </a:r>
            <a:r>
              <a:rPr lang="en-US" altLang="zh-CN" dirty="0"/>
              <a:t>();</a:t>
            </a:r>
          </a:p>
          <a:p>
            <a:r>
              <a:rPr lang="en-US" altLang="zh-CN" dirty="0" err="1"/>
              <a:t>enum</a:t>
            </a:r>
            <a:r>
              <a:rPr lang="en-US" altLang="zh-CN" dirty="0"/>
              <a:t> </a:t>
            </a:r>
            <a:r>
              <a:rPr lang="en-US" altLang="zh-CN" dirty="0" err="1"/>
              <a:t>oper</a:t>
            </a:r>
            <a:r>
              <a:rPr lang="en-US" altLang="zh-CN" dirty="0"/>
              <a:t>  </a:t>
            </a:r>
            <a:r>
              <a:rPr lang="en-US" altLang="zh-CN" dirty="0" err="1"/>
              <a:t>topOp</a:t>
            </a:r>
            <a:r>
              <a:rPr lang="en-US" altLang="zh-CN" dirty="0"/>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linds(horizontal)">
                                      <p:cBhvr>
                                        <p:cTn id="10" dur="500"/>
                                        <p:tgtEl>
                                          <p:spTgt spid="4"/>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linds(horizontal)">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linds(horizontal)">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3392" y="138660"/>
            <a:ext cx="8189913" cy="691247"/>
          </a:xfrm>
        </p:spPr>
        <p:txBody>
          <a:bodyPr>
            <a:normAutofit fontScale="90000"/>
          </a:bodyPr>
          <a:lstStyle/>
          <a:p>
            <a:r>
              <a:rPr lang="zh-CN" altLang="en-US" dirty="0"/>
              <a:t>问题</a:t>
            </a:r>
            <a:r>
              <a:rPr lang="en-US" altLang="zh-CN" dirty="0"/>
              <a:t>3.1</a:t>
            </a:r>
            <a:r>
              <a:rPr lang="zh-CN" altLang="en-US" dirty="0"/>
              <a:t>：代码实现（续）</a:t>
            </a:r>
            <a:r>
              <a:rPr lang="en-US" altLang="zh-CN" dirty="0"/>
              <a:t>*</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41</a:t>
            </a:fld>
            <a:endParaRPr lang="zh-CN" altLang="en-US" dirty="0"/>
          </a:p>
        </p:txBody>
      </p:sp>
      <p:sp>
        <p:nvSpPr>
          <p:cNvPr id="4" name="TextBox 3"/>
          <p:cNvSpPr txBox="1"/>
          <p:nvPr/>
        </p:nvSpPr>
        <p:spPr>
          <a:xfrm>
            <a:off x="695400" y="691248"/>
            <a:ext cx="5112568" cy="6166753"/>
          </a:xfrm>
          <a:prstGeom prst="rect">
            <a:avLst/>
          </a:prstGeom>
          <a:solidFill>
            <a:schemeClr val="bg2">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nSpc>
                <a:spcPts val="1900"/>
              </a:lnSpc>
            </a:pPr>
            <a:r>
              <a:rPr lang="en-US" altLang="zh-CN" dirty="0" err="1"/>
              <a:t>enum</a:t>
            </a:r>
            <a:r>
              <a:rPr lang="en-US" altLang="zh-CN" dirty="0"/>
              <a:t> symbol </a:t>
            </a:r>
            <a:r>
              <a:rPr lang="en-US" altLang="zh-CN" dirty="0" err="1"/>
              <a:t>getSym</a:t>
            </a:r>
            <a:r>
              <a:rPr lang="en-US" altLang="zh-CN" dirty="0"/>
              <a:t>( union sym *item)</a:t>
            </a:r>
          </a:p>
          <a:p>
            <a:pPr>
              <a:lnSpc>
                <a:spcPts val="1900"/>
              </a:lnSpc>
            </a:pPr>
            <a:r>
              <a:rPr lang="en-US" altLang="zh-CN" dirty="0"/>
              <a:t>{</a:t>
            </a:r>
          </a:p>
          <a:p>
            <a:pPr>
              <a:lnSpc>
                <a:spcPts val="1900"/>
              </a:lnSpc>
            </a:pPr>
            <a:r>
              <a:rPr lang="en-US" altLang="zh-CN" dirty="0"/>
              <a:t>    </a:t>
            </a:r>
            <a:r>
              <a:rPr lang="en-US" altLang="zh-CN" dirty="0" err="1"/>
              <a:t>int</a:t>
            </a:r>
            <a:r>
              <a:rPr lang="en-US" altLang="zh-CN" dirty="0"/>
              <a:t>  c, n;</a:t>
            </a:r>
          </a:p>
          <a:p>
            <a:pPr>
              <a:lnSpc>
                <a:spcPts val="1900"/>
              </a:lnSpc>
            </a:pPr>
            <a:r>
              <a:rPr lang="en-US" altLang="zh-CN" dirty="0"/>
              <a:t>    while((c = </a:t>
            </a:r>
            <a:r>
              <a:rPr lang="en-US" altLang="zh-CN" dirty="0" err="1"/>
              <a:t>getchar</a:t>
            </a:r>
            <a:r>
              <a:rPr lang="en-US" altLang="zh-CN" dirty="0"/>
              <a:t>()) != ‘=‘) {</a:t>
            </a:r>
          </a:p>
          <a:p>
            <a:pPr>
              <a:lnSpc>
                <a:spcPts val="1900"/>
              </a:lnSpc>
            </a:pPr>
            <a:r>
              <a:rPr lang="en-US" altLang="zh-CN" dirty="0"/>
              <a:t>        if(c &gt;= ‘0’ &amp;&amp; c &lt;= ‘9’){</a:t>
            </a:r>
          </a:p>
          <a:p>
            <a:pPr>
              <a:lnSpc>
                <a:spcPts val="1900"/>
              </a:lnSpc>
            </a:pPr>
            <a:r>
              <a:rPr lang="en-US" altLang="zh-CN" dirty="0"/>
              <a:t>            for(n=0; c &gt;= ‘0’ &amp;&amp; c &lt;= ‘9’; c= </a:t>
            </a:r>
            <a:r>
              <a:rPr lang="en-US" altLang="zh-CN" dirty="0" err="1"/>
              <a:t>getchar</a:t>
            </a:r>
            <a:r>
              <a:rPr lang="en-US" altLang="zh-CN" dirty="0"/>
              <a:t>())</a:t>
            </a:r>
          </a:p>
          <a:p>
            <a:pPr>
              <a:lnSpc>
                <a:spcPts val="1900"/>
              </a:lnSpc>
            </a:pPr>
            <a:r>
              <a:rPr lang="en-US" altLang="zh-CN" dirty="0"/>
              <a:t>                n = n*10 + c-’0’; </a:t>
            </a:r>
          </a:p>
          <a:p>
            <a:pPr>
              <a:lnSpc>
                <a:spcPts val="1900"/>
              </a:lnSpc>
            </a:pPr>
            <a:r>
              <a:rPr lang="en-US" altLang="zh-CN" b="1" dirty="0">
                <a:solidFill>
                  <a:srgbClr val="FF0000"/>
                </a:solidFill>
              </a:rPr>
              <a:t>            </a:t>
            </a:r>
            <a:r>
              <a:rPr lang="en-US" altLang="zh-CN" b="1" dirty="0" err="1">
                <a:solidFill>
                  <a:srgbClr val="FF0000"/>
                </a:solidFill>
              </a:rPr>
              <a:t>ungetc</a:t>
            </a:r>
            <a:r>
              <a:rPr lang="en-US" altLang="zh-CN" b="1" dirty="0">
                <a:solidFill>
                  <a:srgbClr val="FF0000"/>
                </a:solidFill>
              </a:rPr>
              <a:t>(c, </a:t>
            </a:r>
            <a:r>
              <a:rPr lang="en-US" altLang="zh-CN" b="1" dirty="0" err="1">
                <a:solidFill>
                  <a:srgbClr val="FF0000"/>
                </a:solidFill>
              </a:rPr>
              <a:t>stdin</a:t>
            </a:r>
            <a:r>
              <a:rPr lang="en-US" altLang="zh-CN" b="1" dirty="0">
                <a:solidFill>
                  <a:srgbClr val="FF0000"/>
                </a:solidFill>
              </a:rPr>
              <a:t>);</a:t>
            </a:r>
          </a:p>
          <a:p>
            <a:pPr>
              <a:lnSpc>
                <a:spcPts val="1900"/>
              </a:lnSpc>
            </a:pPr>
            <a:r>
              <a:rPr lang="en-US" altLang="zh-CN" dirty="0"/>
              <a:t>            item-&gt;num = n;</a:t>
            </a:r>
          </a:p>
          <a:p>
            <a:pPr>
              <a:lnSpc>
                <a:spcPts val="1900"/>
              </a:lnSpc>
            </a:pPr>
            <a:r>
              <a:rPr lang="en-US" altLang="zh-CN" dirty="0"/>
              <a:t>            return NUM;</a:t>
            </a:r>
          </a:p>
          <a:p>
            <a:pPr>
              <a:lnSpc>
                <a:spcPts val="1900"/>
              </a:lnSpc>
            </a:pPr>
            <a:r>
              <a:rPr lang="en-US" altLang="zh-CN" dirty="0"/>
              <a:t>        } </a:t>
            </a:r>
          </a:p>
          <a:p>
            <a:pPr>
              <a:lnSpc>
                <a:spcPts val="1900"/>
              </a:lnSpc>
            </a:pPr>
            <a:r>
              <a:rPr lang="en-US" altLang="zh-CN" dirty="0"/>
              <a:t>        else </a:t>
            </a:r>
          </a:p>
          <a:p>
            <a:pPr>
              <a:lnSpc>
                <a:spcPts val="1900"/>
              </a:lnSpc>
            </a:pPr>
            <a:r>
              <a:rPr lang="en-US" altLang="zh-CN" dirty="0"/>
              <a:t>            switch(c)  {</a:t>
            </a:r>
          </a:p>
          <a:p>
            <a:pPr>
              <a:lnSpc>
                <a:spcPts val="1900"/>
              </a:lnSpc>
            </a:pPr>
            <a:r>
              <a:rPr lang="en-US" altLang="zh-CN" dirty="0"/>
              <a:t>                case ‘+’: item-&gt;op = ADD; return OP;</a:t>
            </a:r>
          </a:p>
          <a:p>
            <a:pPr>
              <a:lnSpc>
                <a:spcPts val="1900"/>
              </a:lnSpc>
            </a:pPr>
            <a:r>
              <a:rPr lang="en-US" altLang="zh-CN" dirty="0"/>
              <a:t>                case ‘-’: item-&gt;op = MIN; return OP;</a:t>
            </a:r>
          </a:p>
          <a:p>
            <a:pPr>
              <a:lnSpc>
                <a:spcPts val="1900"/>
              </a:lnSpc>
            </a:pPr>
            <a:r>
              <a:rPr lang="en-US" altLang="zh-CN" dirty="0"/>
              <a:t>                case ‘*’: item-&gt;op = MUL; return OP;</a:t>
            </a:r>
          </a:p>
          <a:p>
            <a:pPr>
              <a:lnSpc>
                <a:spcPts val="1900"/>
              </a:lnSpc>
            </a:pPr>
            <a:r>
              <a:rPr lang="en-US" altLang="zh-CN" dirty="0"/>
              <a:t>                case ‘/’: item-&gt;op = DIV; return OP;</a:t>
            </a:r>
          </a:p>
          <a:p>
            <a:pPr>
              <a:lnSpc>
                <a:spcPts val="1900"/>
              </a:lnSpc>
            </a:pPr>
            <a:r>
              <a:rPr lang="en-US" altLang="zh-CN" dirty="0"/>
              <a:t>                 case ‘(’: item-&gt;op = LEFT; return OP;</a:t>
            </a:r>
          </a:p>
          <a:p>
            <a:pPr>
              <a:lnSpc>
                <a:spcPts val="1900"/>
              </a:lnSpc>
            </a:pPr>
            <a:r>
              <a:rPr lang="en-US" altLang="zh-CN" dirty="0"/>
              <a:t>                 case ‘)’: item-&gt;op = RIGHT; return OP;</a:t>
            </a:r>
          </a:p>
          <a:p>
            <a:pPr>
              <a:lnSpc>
                <a:spcPts val="1900"/>
              </a:lnSpc>
            </a:pPr>
            <a:r>
              <a:rPr lang="en-US" altLang="zh-CN" dirty="0"/>
              <a:t>                case ‘ ‘: case ‘\t’: case ‘\n’: break;</a:t>
            </a:r>
          </a:p>
          <a:p>
            <a:pPr>
              <a:lnSpc>
                <a:spcPts val="1900"/>
              </a:lnSpc>
            </a:pPr>
            <a:r>
              <a:rPr lang="en-US" altLang="zh-CN" dirty="0"/>
              <a:t>                default: return OTHER;</a:t>
            </a:r>
          </a:p>
          <a:p>
            <a:pPr>
              <a:lnSpc>
                <a:spcPts val="1900"/>
              </a:lnSpc>
            </a:pPr>
            <a:r>
              <a:rPr lang="en-US" altLang="zh-CN" dirty="0"/>
              <a:t>            }          </a:t>
            </a:r>
          </a:p>
          <a:p>
            <a:pPr>
              <a:lnSpc>
                <a:spcPts val="1900"/>
              </a:lnSpc>
            </a:pPr>
            <a:r>
              <a:rPr lang="en-US" altLang="zh-CN" dirty="0"/>
              <a:t>    }</a:t>
            </a:r>
          </a:p>
          <a:p>
            <a:pPr>
              <a:lnSpc>
                <a:spcPts val="1900"/>
              </a:lnSpc>
            </a:pPr>
            <a:r>
              <a:rPr lang="en-US" altLang="zh-CN" dirty="0"/>
              <a:t>    return EQ;</a:t>
            </a:r>
          </a:p>
          <a:p>
            <a:pPr>
              <a:lnSpc>
                <a:spcPts val="1900"/>
              </a:lnSpc>
            </a:pPr>
            <a:r>
              <a:rPr lang="en-US" altLang="zh-CN" dirty="0"/>
              <a:t>}</a:t>
            </a:r>
          </a:p>
        </p:txBody>
      </p:sp>
      <p:sp>
        <p:nvSpPr>
          <p:cNvPr id="6" name="TextBox 5"/>
          <p:cNvSpPr txBox="1"/>
          <p:nvPr/>
        </p:nvSpPr>
        <p:spPr>
          <a:xfrm>
            <a:off x="5807968" y="3068960"/>
            <a:ext cx="5472608" cy="3785652"/>
          </a:xfrm>
          <a:prstGeom prst="rect">
            <a:avLst/>
          </a:prstGeom>
          <a:solidFill>
            <a:schemeClr val="bg1">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nSpc>
                <a:spcPts val="1800"/>
              </a:lnSpc>
            </a:pPr>
            <a:r>
              <a:rPr lang="en-US" altLang="zh-CN" dirty="0"/>
              <a:t>void compute(</a:t>
            </a:r>
            <a:r>
              <a:rPr lang="en-US" altLang="zh-CN" dirty="0" err="1"/>
              <a:t>enum</a:t>
            </a:r>
            <a:r>
              <a:rPr lang="en-US" altLang="zh-CN" dirty="0"/>
              <a:t> </a:t>
            </a:r>
            <a:r>
              <a:rPr lang="en-US" altLang="zh-CN" dirty="0" err="1"/>
              <a:t>oper</a:t>
            </a:r>
            <a:r>
              <a:rPr lang="en-US" altLang="zh-CN" dirty="0"/>
              <a:t> op )</a:t>
            </a:r>
          </a:p>
          <a:p>
            <a:pPr>
              <a:lnSpc>
                <a:spcPts val="1800"/>
              </a:lnSpc>
            </a:pPr>
            <a:r>
              <a:rPr lang="en-US" altLang="zh-CN" dirty="0"/>
              <a:t>{</a:t>
            </a:r>
          </a:p>
          <a:p>
            <a:pPr>
              <a:lnSpc>
                <a:spcPts val="1800"/>
              </a:lnSpc>
            </a:pPr>
            <a:r>
              <a:rPr lang="en-US" altLang="zh-CN" dirty="0"/>
              <a:t>    </a:t>
            </a:r>
            <a:r>
              <a:rPr lang="en-US" altLang="zh-CN" dirty="0" err="1"/>
              <a:t>DataType</a:t>
            </a:r>
            <a:r>
              <a:rPr lang="en-US" altLang="zh-CN" dirty="0"/>
              <a:t>  </a:t>
            </a:r>
            <a:r>
              <a:rPr lang="en-US" altLang="zh-CN" dirty="0" err="1"/>
              <a:t>tmp</a:t>
            </a:r>
            <a:r>
              <a:rPr lang="en-US" altLang="zh-CN" dirty="0"/>
              <a:t>;</a:t>
            </a:r>
          </a:p>
          <a:p>
            <a:pPr>
              <a:lnSpc>
                <a:spcPts val="1800"/>
              </a:lnSpc>
            </a:pPr>
            <a:r>
              <a:rPr lang="en-US" altLang="zh-CN" dirty="0"/>
              <a:t>    switch(op) {</a:t>
            </a:r>
          </a:p>
          <a:p>
            <a:pPr>
              <a:lnSpc>
                <a:spcPts val="1800"/>
              </a:lnSpc>
            </a:pPr>
            <a:r>
              <a:rPr lang="en-US" altLang="zh-CN" dirty="0"/>
              <a:t>        case ADD:</a:t>
            </a:r>
          </a:p>
          <a:p>
            <a:pPr>
              <a:lnSpc>
                <a:spcPts val="1800"/>
              </a:lnSpc>
            </a:pPr>
            <a:r>
              <a:rPr lang="en-US" altLang="zh-CN" dirty="0"/>
              <a:t>            </a:t>
            </a:r>
            <a:r>
              <a:rPr lang="en-US" altLang="zh-CN" dirty="0" err="1"/>
              <a:t>pushNum</a:t>
            </a:r>
            <a:r>
              <a:rPr lang="en-US" altLang="zh-CN" dirty="0"/>
              <a:t>(</a:t>
            </a:r>
            <a:r>
              <a:rPr lang="en-US" altLang="zh-CN" dirty="0" err="1"/>
              <a:t>popNum</a:t>
            </a:r>
            <a:r>
              <a:rPr lang="en-US" altLang="zh-CN" dirty="0"/>
              <a:t>() + </a:t>
            </a:r>
            <a:r>
              <a:rPr lang="en-US" altLang="zh-CN" dirty="0" err="1"/>
              <a:t>popNum</a:t>
            </a:r>
            <a:r>
              <a:rPr lang="en-US" altLang="zh-CN" dirty="0"/>
              <a:t>()); break;</a:t>
            </a:r>
          </a:p>
          <a:p>
            <a:pPr>
              <a:lnSpc>
                <a:spcPts val="1800"/>
              </a:lnSpc>
            </a:pPr>
            <a:r>
              <a:rPr lang="en-US" altLang="zh-CN" dirty="0"/>
              <a:t>        case MIN: </a:t>
            </a:r>
          </a:p>
          <a:p>
            <a:pPr>
              <a:lnSpc>
                <a:spcPts val="1800"/>
              </a:lnSpc>
            </a:pPr>
            <a:r>
              <a:rPr lang="en-US" altLang="zh-CN" dirty="0"/>
              <a:t>            </a:t>
            </a:r>
            <a:r>
              <a:rPr lang="en-US" altLang="zh-CN" dirty="0" err="1"/>
              <a:t>tmp</a:t>
            </a:r>
            <a:r>
              <a:rPr lang="en-US" altLang="zh-CN" dirty="0"/>
              <a:t> = </a:t>
            </a:r>
            <a:r>
              <a:rPr lang="en-US" altLang="zh-CN" dirty="0" err="1"/>
              <a:t>popNum</a:t>
            </a:r>
            <a:r>
              <a:rPr lang="en-US" altLang="zh-CN" dirty="0"/>
              <a:t>();</a:t>
            </a:r>
          </a:p>
          <a:p>
            <a:pPr>
              <a:lnSpc>
                <a:spcPts val="1800"/>
              </a:lnSpc>
            </a:pPr>
            <a:r>
              <a:rPr lang="en-US" altLang="zh-CN" dirty="0"/>
              <a:t>            </a:t>
            </a:r>
            <a:r>
              <a:rPr lang="en-US" altLang="zh-CN" dirty="0" err="1"/>
              <a:t>pushNum</a:t>
            </a:r>
            <a:r>
              <a:rPr lang="en-US" altLang="zh-CN" dirty="0"/>
              <a:t>(</a:t>
            </a:r>
            <a:r>
              <a:rPr lang="en-US" altLang="zh-CN" dirty="0" err="1"/>
              <a:t>popNum</a:t>
            </a:r>
            <a:r>
              <a:rPr lang="en-US" altLang="zh-CN" dirty="0"/>
              <a:t>() - </a:t>
            </a:r>
            <a:r>
              <a:rPr lang="en-US" altLang="zh-CN" dirty="0" err="1"/>
              <a:t>tmp</a:t>
            </a:r>
            <a:r>
              <a:rPr lang="en-US" altLang="zh-CN" dirty="0"/>
              <a:t>); break;</a:t>
            </a:r>
          </a:p>
          <a:p>
            <a:pPr>
              <a:lnSpc>
                <a:spcPts val="1800"/>
              </a:lnSpc>
            </a:pPr>
            <a:r>
              <a:rPr lang="en-US" altLang="zh-CN" dirty="0"/>
              <a:t>        case  MUL: </a:t>
            </a:r>
          </a:p>
          <a:p>
            <a:pPr>
              <a:lnSpc>
                <a:spcPts val="1800"/>
              </a:lnSpc>
            </a:pPr>
            <a:r>
              <a:rPr lang="en-US" altLang="zh-CN" dirty="0"/>
              <a:t>            </a:t>
            </a:r>
            <a:r>
              <a:rPr lang="en-US" altLang="zh-CN" dirty="0" err="1"/>
              <a:t>pushNum</a:t>
            </a:r>
            <a:r>
              <a:rPr lang="en-US" altLang="zh-CN" dirty="0"/>
              <a:t>(</a:t>
            </a:r>
            <a:r>
              <a:rPr lang="en-US" altLang="zh-CN" dirty="0" err="1"/>
              <a:t>popNum</a:t>
            </a:r>
            <a:r>
              <a:rPr lang="en-US" altLang="zh-CN" dirty="0"/>
              <a:t>() * </a:t>
            </a:r>
            <a:r>
              <a:rPr lang="en-US" altLang="zh-CN" dirty="0" err="1"/>
              <a:t>popNum</a:t>
            </a:r>
            <a:r>
              <a:rPr lang="en-US" altLang="zh-CN" dirty="0"/>
              <a:t>()); break;</a:t>
            </a:r>
          </a:p>
          <a:p>
            <a:pPr>
              <a:lnSpc>
                <a:spcPts val="1800"/>
              </a:lnSpc>
            </a:pPr>
            <a:r>
              <a:rPr lang="en-US" altLang="zh-CN" dirty="0"/>
              <a:t>        case DIV: </a:t>
            </a:r>
          </a:p>
          <a:p>
            <a:pPr>
              <a:lnSpc>
                <a:spcPts val="1800"/>
              </a:lnSpc>
            </a:pPr>
            <a:r>
              <a:rPr lang="en-US" altLang="zh-CN" dirty="0"/>
              <a:t>            </a:t>
            </a:r>
            <a:r>
              <a:rPr lang="en-US" altLang="zh-CN" dirty="0" err="1"/>
              <a:t>tmp</a:t>
            </a:r>
            <a:r>
              <a:rPr lang="en-US" altLang="zh-CN" dirty="0"/>
              <a:t> = </a:t>
            </a:r>
            <a:r>
              <a:rPr lang="en-US" altLang="zh-CN" dirty="0" err="1"/>
              <a:t>popNum</a:t>
            </a:r>
            <a:r>
              <a:rPr lang="en-US" altLang="zh-CN" dirty="0"/>
              <a:t>();</a:t>
            </a:r>
          </a:p>
          <a:p>
            <a:pPr>
              <a:lnSpc>
                <a:spcPts val="1800"/>
              </a:lnSpc>
            </a:pPr>
            <a:r>
              <a:rPr lang="en-US" altLang="zh-CN" dirty="0"/>
              <a:t>            </a:t>
            </a:r>
            <a:r>
              <a:rPr lang="en-US" altLang="zh-CN" dirty="0" err="1"/>
              <a:t>pushNum</a:t>
            </a:r>
            <a:r>
              <a:rPr lang="en-US" altLang="zh-CN" dirty="0"/>
              <a:t>(</a:t>
            </a:r>
            <a:r>
              <a:rPr lang="en-US" altLang="zh-CN" dirty="0" err="1"/>
              <a:t>popNum</a:t>
            </a:r>
            <a:r>
              <a:rPr lang="en-US" altLang="zh-CN" dirty="0"/>
              <a:t>() / </a:t>
            </a:r>
            <a:r>
              <a:rPr lang="en-US" altLang="zh-CN" dirty="0" err="1"/>
              <a:t>tmp</a:t>
            </a:r>
            <a:r>
              <a:rPr lang="en-US" altLang="zh-CN" dirty="0"/>
              <a:t>); break;</a:t>
            </a:r>
          </a:p>
          <a:p>
            <a:pPr>
              <a:lnSpc>
                <a:spcPts val="1800"/>
              </a:lnSpc>
            </a:pPr>
            <a:r>
              <a:rPr lang="en-US" altLang="zh-CN" dirty="0"/>
              <a:t>    }</a:t>
            </a:r>
          </a:p>
          <a:p>
            <a:pPr>
              <a:lnSpc>
                <a:spcPts val="1800"/>
              </a:lnSpc>
            </a:pPr>
            <a:r>
              <a:rPr lang="en-US" altLang="zh-CN" dirty="0"/>
              <a:t>}</a:t>
            </a:r>
            <a:endParaRPr lang="zh-CN" alt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46990" y="160393"/>
            <a:ext cx="10515600" cy="692933"/>
          </a:xfrm>
        </p:spPr>
        <p:txBody>
          <a:bodyPr>
            <a:normAutofit fontScale="90000"/>
          </a:bodyPr>
          <a:lstStyle/>
          <a:p>
            <a:r>
              <a:rPr lang="zh-CN" altLang="en-US" dirty="0"/>
              <a:t>问题</a:t>
            </a:r>
            <a:r>
              <a:rPr lang="en-US" altLang="zh-CN" dirty="0"/>
              <a:t>3.1</a:t>
            </a:r>
            <a:r>
              <a:rPr lang="zh-CN" altLang="en-US" dirty="0"/>
              <a:t>：代码实现（续）</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42</a:t>
            </a:fld>
            <a:endParaRPr lang="zh-CN" altLang="en-US" dirty="0"/>
          </a:p>
        </p:txBody>
      </p:sp>
      <p:sp>
        <p:nvSpPr>
          <p:cNvPr id="4" name="TextBox 3"/>
          <p:cNvSpPr txBox="1"/>
          <p:nvPr/>
        </p:nvSpPr>
        <p:spPr>
          <a:xfrm>
            <a:off x="1524000" y="1124745"/>
            <a:ext cx="4283968" cy="5032147"/>
          </a:xfrm>
          <a:prstGeom prst="rect">
            <a:avLst/>
          </a:prstGeom>
          <a:solidFill>
            <a:schemeClr val="bg2">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nSpc>
                <a:spcPts val="1900"/>
              </a:lnSpc>
            </a:pPr>
            <a:r>
              <a:rPr lang="en-US" altLang="zh-CN" dirty="0"/>
              <a:t>//</a:t>
            </a:r>
            <a:r>
              <a:rPr lang="zh-CN" altLang="en-US" dirty="0"/>
              <a:t>数据栈操作</a:t>
            </a:r>
            <a:endParaRPr lang="en-US" altLang="zh-CN" dirty="0"/>
          </a:p>
          <a:p>
            <a:r>
              <a:rPr lang="en-US" altLang="zh-CN" dirty="0" err="1"/>
              <a:t>DataType</a:t>
            </a:r>
            <a:r>
              <a:rPr lang="en-US" altLang="zh-CN" dirty="0"/>
              <a:t> </a:t>
            </a:r>
            <a:r>
              <a:rPr lang="en-US" altLang="zh-CN" dirty="0" err="1"/>
              <a:t>Num_stack</a:t>
            </a:r>
            <a:r>
              <a:rPr lang="en-US" altLang="zh-CN" dirty="0"/>
              <a:t>[MAXSIZE]; //</a:t>
            </a:r>
            <a:r>
              <a:rPr lang="zh-CN" altLang="en-US" dirty="0"/>
              <a:t>数据栈</a:t>
            </a:r>
            <a:endParaRPr lang="en-US" altLang="zh-CN" dirty="0"/>
          </a:p>
          <a:p>
            <a:r>
              <a:rPr lang="en-US" altLang="zh-CN" dirty="0" err="1"/>
              <a:t>int</a:t>
            </a:r>
            <a:r>
              <a:rPr lang="en-US" altLang="zh-CN" dirty="0"/>
              <a:t> </a:t>
            </a:r>
            <a:r>
              <a:rPr lang="en-US" altLang="zh-CN" dirty="0" err="1"/>
              <a:t>Ntop</a:t>
            </a:r>
            <a:r>
              <a:rPr lang="en-US" altLang="zh-CN" dirty="0"/>
              <a:t>=-1</a:t>
            </a:r>
            <a:r>
              <a:rPr lang="en-US" altLang="zh-CN" sz="1600" dirty="0"/>
              <a:t>; //</a:t>
            </a:r>
            <a:r>
              <a:rPr lang="zh-CN" altLang="en-US" sz="1600" dirty="0"/>
              <a:t>数据栈顶指示器，初始为空栈</a:t>
            </a:r>
            <a:endParaRPr lang="en-US" altLang="zh-CN" dirty="0"/>
          </a:p>
          <a:p>
            <a:pPr>
              <a:lnSpc>
                <a:spcPts val="1900"/>
              </a:lnSpc>
            </a:pPr>
            <a:r>
              <a:rPr lang="en-US" altLang="zh-CN" dirty="0"/>
              <a:t>void </a:t>
            </a:r>
            <a:r>
              <a:rPr lang="en-US" altLang="zh-CN" dirty="0" err="1"/>
              <a:t>pushNum</a:t>
            </a:r>
            <a:r>
              <a:rPr lang="en-US" altLang="zh-CN" dirty="0"/>
              <a:t>(</a:t>
            </a:r>
            <a:r>
              <a:rPr lang="en-US" altLang="zh-CN" dirty="0" err="1"/>
              <a:t>DataType</a:t>
            </a:r>
            <a:r>
              <a:rPr lang="en-US" altLang="zh-CN" dirty="0"/>
              <a:t> num)</a:t>
            </a:r>
          </a:p>
          <a:p>
            <a:pPr>
              <a:lnSpc>
                <a:spcPts val="1900"/>
              </a:lnSpc>
            </a:pPr>
            <a:r>
              <a:rPr lang="en-US" altLang="zh-CN" dirty="0"/>
              <a:t>{</a:t>
            </a:r>
          </a:p>
          <a:p>
            <a:pPr>
              <a:lnSpc>
                <a:spcPts val="1900"/>
              </a:lnSpc>
            </a:pPr>
            <a:r>
              <a:rPr lang="en-US" altLang="zh-CN" dirty="0"/>
              <a:t>    if(</a:t>
            </a:r>
            <a:r>
              <a:rPr lang="en-US" altLang="zh-CN" dirty="0" err="1"/>
              <a:t>Ntop</a:t>
            </a:r>
            <a:r>
              <a:rPr lang="en-US" altLang="zh-CN" dirty="0"/>
              <a:t> == MAXSIZE -1) </a:t>
            </a:r>
          </a:p>
          <a:p>
            <a:pPr>
              <a:lnSpc>
                <a:spcPts val="1900"/>
              </a:lnSpc>
            </a:pPr>
            <a:r>
              <a:rPr lang="en-US" altLang="zh-CN" dirty="0"/>
              <a:t>        error(“Data stack is full!”);</a:t>
            </a:r>
          </a:p>
          <a:p>
            <a:pPr>
              <a:lnSpc>
                <a:spcPts val="1900"/>
              </a:lnSpc>
            </a:pPr>
            <a:r>
              <a:rPr lang="en-US" altLang="zh-CN" dirty="0"/>
              <a:t>    </a:t>
            </a:r>
            <a:r>
              <a:rPr lang="en-US" altLang="zh-CN" dirty="0" err="1"/>
              <a:t>Num_stack</a:t>
            </a:r>
            <a:r>
              <a:rPr lang="en-US" altLang="zh-CN" dirty="0"/>
              <a:t>[++</a:t>
            </a:r>
            <a:r>
              <a:rPr lang="en-US" altLang="zh-CN" dirty="0" err="1"/>
              <a:t>Ntop</a:t>
            </a:r>
            <a:r>
              <a:rPr lang="en-US" altLang="zh-CN" dirty="0"/>
              <a:t>] = num;</a:t>
            </a:r>
          </a:p>
          <a:p>
            <a:pPr>
              <a:lnSpc>
                <a:spcPts val="1900"/>
              </a:lnSpc>
            </a:pPr>
            <a:r>
              <a:rPr lang="en-US" altLang="zh-CN" dirty="0"/>
              <a:t>}</a:t>
            </a:r>
          </a:p>
          <a:p>
            <a:pPr>
              <a:lnSpc>
                <a:spcPts val="1900"/>
              </a:lnSpc>
            </a:pPr>
            <a:r>
              <a:rPr lang="en-US" altLang="zh-CN" dirty="0" err="1"/>
              <a:t>DataType</a:t>
            </a:r>
            <a:r>
              <a:rPr lang="en-US" altLang="zh-CN" dirty="0"/>
              <a:t> </a:t>
            </a:r>
            <a:r>
              <a:rPr lang="en-US" altLang="zh-CN" dirty="0" err="1"/>
              <a:t>popNum</a:t>
            </a:r>
            <a:r>
              <a:rPr lang="en-US" altLang="zh-CN" dirty="0"/>
              <a:t>()</a:t>
            </a:r>
          </a:p>
          <a:p>
            <a:pPr>
              <a:lnSpc>
                <a:spcPts val="1900"/>
              </a:lnSpc>
            </a:pPr>
            <a:r>
              <a:rPr lang="en-US" altLang="zh-CN" dirty="0"/>
              <a:t>{</a:t>
            </a:r>
          </a:p>
          <a:p>
            <a:pPr>
              <a:lnSpc>
                <a:spcPts val="1900"/>
              </a:lnSpc>
            </a:pPr>
            <a:r>
              <a:rPr lang="en-US" altLang="zh-CN" dirty="0"/>
              <a:t>    if(</a:t>
            </a:r>
            <a:r>
              <a:rPr lang="en-US" altLang="zh-CN" dirty="0" err="1"/>
              <a:t>Ntop</a:t>
            </a:r>
            <a:r>
              <a:rPr lang="en-US" altLang="zh-CN" dirty="0"/>
              <a:t> == -1) </a:t>
            </a:r>
          </a:p>
          <a:p>
            <a:pPr>
              <a:lnSpc>
                <a:spcPts val="1900"/>
              </a:lnSpc>
            </a:pPr>
            <a:r>
              <a:rPr lang="en-US" altLang="zh-CN" dirty="0"/>
              <a:t>        error(“Error in the expression!”);</a:t>
            </a:r>
          </a:p>
          <a:p>
            <a:pPr>
              <a:lnSpc>
                <a:spcPts val="1900"/>
              </a:lnSpc>
            </a:pPr>
            <a:r>
              <a:rPr lang="en-US" altLang="zh-CN" dirty="0"/>
              <a:t>    return </a:t>
            </a:r>
            <a:r>
              <a:rPr lang="en-US" altLang="zh-CN" dirty="0" err="1"/>
              <a:t>Num_stack</a:t>
            </a:r>
            <a:r>
              <a:rPr lang="en-US" altLang="zh-CN" dirty="0"/>
              <a:t>[</a:t>
            </a:r>
            <a:r>
              <a:rPr lang="en-US" altLang="zh-CN" dirty="0" err="1"/>
              <a:t>Ntop</a:t>
            </a:r>
            <a:r>
              <a:rPr lang="en-US" altLang="zh-CN" dirty="0"/>
              <a:t>--] ;</a:t>
            </a:r>
          </a:p>
          <a:p>
            <a:pPr>
              <a:lnSpc>
                <a:spcPts val="1900"/>
              </a:lnSpc>
            </a:pPr>
            <a:r>
              <a:rPr lang="en-US" altLang="zh-CN" dirty="0"/>
              <a:t>}</a:t>
            </a:r>
          </a:p>
          <a:p>
            <a:pPr>
              <a:lnSpc>
                <a:spcPts val="1900"/>
              </a:lnSpc>
            </a:pPr>
            <a:r>
              <a:rPr lang="en-US" altLang="zh-CN" dirty="0"/>
              <a:t>void error(char s[ ])</a:t>
            </a:r>
          </a:p>
          <a:p>
            <a:pPr>
              <a:lnSpc>
                <a:spcPts val="1900"/>
              </a:lnSpc>
            </a:pPr>
            <a:r>
              <a:rPr lang="en-US" altLang="zh-CN" dirty="0"/>
              <a:t>{</a:t>
            </a:r>
          </a:p>
          <a:p>
            <a:pPr>
              <a:lnSpc>
                <a:spcPts val="1900"/>
              </a:lnSpc>
            </a:pPr>
            <a:r>
              <a:rPr lang="en-US" altLang="zh-CN" dirty="0"/>
              <a:t>    </a:t>
            </a:r>
            <a:r>
              <a:rPr lang="en-US" altLang="zh-CN" dirty="0" err="1"/>
              <a:t>fprintf</a:t>
            </a:r>
            <a:r>
              <a:rPr lang="en-US" altLang="zh-CN" dirty="0"/>
              <a:t>(stderr, “%s\</a:t>
            </a:r>
            <a:r>
              <a:rPr lang="en-US" altLang="zh-CN" dirty="0" err="1"/>
              <a:t>n”,s</a:t>
            </a:r>
            <a:r>
              <a:rPr lang="en-US" altLang="zh-CN" dirty="0"/>
              <a:t>);</a:t>
            </a:r>
          </a:p>
          <a:p>
            <a:pPr>
              <a:lnSpc>
                <a:spcPts val="1900"/>
              </a:lnSpc>
            </a:pPr>
            <a:r>
              <a:rPr lang="en-US" altLang="zh-CN" dirty="0"/>
              <a:t>    exit(1);</a:t>
            </a:r>
          </a:p>
          <a:p>
            <a:pPr>
              <a:lnSpc>
                <a:spcPts val="1900"/>
              </a:lnSpc>
            </a:pPr>
            <a:r>
              <a:rPr lang="en-US" altLang="zh-CN" dirty="0"/>
              <a:t>}</a:t>
            </a:r>
          </a:p>
        </p:txBody>
      </p:sp>
      <p:sp>
        <p:nvSpPr>
          <p:cNvPr id="5" name="TextBox 4"/>
          <p:cNvSpPr txBox="1"/>
          <p:nvPr/>
        </p:nvSpPr>
        <p:spPr>
          <a:xfrm>
            <a:off x="5807968" y="1124744"/>
            <a:ext cx="4860032" cy="4965462"/>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nSpc>
                <a:spcPts val="1900"/>
              </a:lnSpc>
            </a:pPr>
            <a:r>
              <a:rPr lang="en-US" altLang="zh-CN" dirty="0"/>
              <a:t>//</a:t>
            </a:r>
            <a:r>
              <a:rPr lang="zh-CN" altLang="en-US" dirty="0"/>
              <a:t>运算符栈操作</a:t>
            </a:r>
            <a:endParaRPr lang="en-US" altLang="zh-CN" dirty="0"/>
          </a:p>
          <a:p>
            <a:pPr>
              <a:lnSpc>
                <a:spcPts val="1900"/>
              </a:lnSpc>
            </a:pPr>
            <a:r>
              <a:rPr lang="en-US" altLang="zh-CN" dirty="0" err="1"/>
              <a:t>enum</a:t>
            </a:r>
            <a:r>
              <a:rPr lang="en-US" altLang="zh-CN" dirty="0"/>
              <a:t> </a:t>
            </a:r>
            <a:r>
              <a:rPr lang="en-US" altLang="zh-CN" dirty="0" err="1"/>
              <a:t>oper</a:t>
            </a:r>
            <a:r>
              <a:rPr lang="en-US" altLang="zh-CN" dirty="0"/>
              <a:t> </a:t>
            </a:r>
            <a:r>
              <a:rPr lang="en-US" altLang="zh-CN" dirty="0" err="1"/>
              <a:t>Op_stack</a:t>
            </a:r>
            <a:r>
              <a:rPr lang="en-US" altLang="zh-CN" dirty="0"/>
              <a:t>[MAXSIZE];</a:t>
            </a:r>
            <a:r>
              <a:rPr lang="en-US" altLang="zh-CN" sz="1600" dirty="0"/>
              <a:t>//</a:t>
            </a:r>
            <a:r>
              <a:rPr lang="zh-CN" altLang="en-US" sz="1600" dirty="0"/>
              <a:t>符号栈</a:t>
            </a:r>
            <a:endParaRPr lang="en-US" altLang="zh-CN" dirty="0"/>
          </a:p>
          <a:p>
            <a:pPr>
              <a:lnSpc>
                <a:spcPts val="1900"/>
              </a:lnSpc>
            </a:pPr>
            <a:r>
              <a:rPr lang="en-US" altLang="zh-CN" dirty="0" err="1"/>
              <a:t>int</a:t>
            </a:r>
            <a:r>
              <a:rPr lang="en-US" altLang="zh-CN" dirty="0"/>
              <a:t>  </a:t>
            </a:r>
            <a:r>
              <a:rPr lang="en-US" altLang="zh-CN" dirty="0" err="1"/>
              <a:t>Otop</a:t>
            </a:r>
            <a:r>
              <a:rPr lang="en-US" altLang="zh-CN" dirty="0"/>
              <a:t>=-1; //</a:t>
            </a:r>
            <a:r>
              <a:rPr lang="zh-CN" altLang="en-US" dirty="0"/>
              <a:t>运算符栈顶指示器，初始为空栈</a:t>
            </a:r>
            <a:endParaRPr lang="en-US" altLang="zh-CN" dirty="0"/>
          </a:p>
          <a:p>
            <a:pPr>
              <a:lnSpc>
                <a:spcPts val="1900"/>
              </a:lnSpc>
            </a:pPr>
            <a:r>
              <a:rPr lang="en-US" altLang="zh-CN" dirty="0"/>
              <a:t>void </a:t>
            </a:r>
            <a:r>
              <a:rPr lang="en-US" altLang="zh-CN" dirty="0" err="1"/>
              <a:t>pushOp</a:t>
            </a:r>
            <a:r>
              <a:rPr lang="en-US" altLang="zh-CN" dirty="0"/>
              <a:t>(</a:t>
            </a:r>
            <a:r>
              <a:rPr lang="en-US" altLang="zh-CN" dirty="0" err="1"/>
              <a:t>enum</a:t>
            </a:r>
            <a:r>
              <a:rPr lang="en-US" altLang="zh-CN" dirty="0"/>
              <a:t> </a:t>
            </a:r>
            <a:r>
              <a:rPr lang="en-US" altLang="zh-CN" dirty="0" err="1"/>
              <a:t>oper</a:t>
            </a:r>
            <a:r>
              <a:rPr lang="en-US" altLang="zh-CN" dirty="0"/>
              <a:t> op)</a:t>
            </a:r>
          </a:p>
          <a:p>
            <a:pPr>
              <a:lnSpc>
                <a:spcPts val="1900"/>
              </a:lnSpc>
            </a:pPr>
            <a:r>
              <a:rPr lang="en-US" altLang="zh-CN" dirty="0"/>
              <a:t>{</a:t>
            </a:r>
          </a:p>
          <a:p>
            <a:pPr>
              <a:lnSpc>
                <a:spcPts val="1900"/>
              </a:lnSpc>
            </a:pPr>
            <a:r>
              <a:rPr lang="en-US" altLang="zh-CN" dirty="0"/>
              <a:t>    if(</a:t>
            </a:r>
            <a:r>
              <a:rPr lang="en-US" altLang="zh-CN" dirty="0" err="1"/>
              <a:t>Ntop</a:t>
            </a:r>
            <a:r>
              <a:rPr lang="en-US" altLang="zh-CN" dirty="0"/>
              <a:t> == MAXSIZE -1) </a:t>
            </a:r>
          </a:p>
          <a:p>
            <a:pPr>
              <a:lnSpc>
                <a:spcPts val="1900"/>
              </a:lnSpc>
            </a:pPr>
            <a:r>
              <a:rPr lang="en-US" altLang="zh-CN" dirty="0"/>
              <a:t>        error(“Operator stack is full!”);</a:t>
            </a:r>
          </a:p>
          <a:p>
            <a:pPr>
              <a:lnSpc>
                <a:spcPts val="1900"/>
              </a:lnSpc>
            </a:pPr>
            <a:r>
              <a:rPr lang="en-US" altLang="zh-CN" dirty="0"/>
              <a:t>    </a:t>
            </a:r>
            <a:r>
              <a:rPr lang="en-US" altLang="zh-CN" dirty="0" err="1"/>
              <a:t>Op_stack</a:t>
            </a:r>
            <a:r>
              <a:rPr lang="en-US" altLang="zh-CN" dirty="0"/>
              <a:t>[++</a:t>
            </a:r>
            <a:r>
              <a:rPr lang="en-US" altLang="zh-CN" dirty="0" err="1"/>
              <a:t>Otop</a:t>
            </a:r>
            <a:r>
              <a:rPr lang="en-US" altLang="zh-CN" dirty="0"/>
              <a:t>] = op;</a:t>
            </a:r>
          </a:p>
          <a:p>
            <a:pPr>
              <a:lnSpc>
                <a:spcPts val="1900"/>
              </a:lnSpc>
            </a:pPr>
            <a:r>
              <a:rPr lang="en-US" altLang="zh-CN" dirty="0"/>
              <a:t>}</a:t>
            </a:r>
          </a:p>
          <a:p>
            <a:pPr>
              <a:lnSpc>
                <a:spcPts val="1900"/>
              </a:lnSpc>
            </a:pPr>
            <a:r>
              <a:rPr lang="en-US" altLang="zh-CN" dirty="0" err="1"/>
              <a:t>enum</a:t>
            </a:r>
            <a:r>
              <a:rPr lang="en-US" altLang="zh-CN" dirty="0"/>
              <a:t> operator  </a:t>
            </a:r>
            <a:r>
              <a:rPr lang="en-US" altLang="zh-CN" dirty="0" err="1"/>
              <a:t>popOp</a:t>
            </a:r>
            <a:r>
              <a:rPr lang="en-US" altLang="zh-CN" dirty="0"/>
              <a:t>()</a:t>
            </a:r>
          </a:p>
          <a:p>
            <a:pPr>
              <a:lnSpc>
                <a:spcPts val="1900"/>
              </a:lnSpc>
            </a:pPr>
            <a:r>
              <a:rPr lang="en-US" altLang="zh-CN" dirty="0"/>
              <a:t>{</a:t>
            </a:r>
          </a:p>
          <a:p>
            <a:pPr>
              <a:lnSpc>
                <a:spcPts val="1900"/>
              </a:lnSpc>
            </a:pPr>
            <a:r>
              <a:rPr lang="en-US" altLang="zh-CN" dirty="0"/>
              <a:t>    if(</a:t>
            </a:r>
            <a:r>
              <a:rPr lang="en-US" altLang="zh-CN" dirty="0" err="1"/>
              <a:t>Otop</a:t>
            </a:r>
            <a:r>
              <a:rPr lang="en-US" altLang="zh-CN" dirty="0"/>
              <a:t> != -1){ </a:t>
            </a:r>
          </a:p>
          <a:p>
            <a:pPr>
              <a:lnSpc>
                <a:spcPts val="1900"/>
              </a:lnSpc>
            </a:pPr>
            <a:r>
              <a:rPr lang="en-US" altLang="zh-CN" dirty="0"/>
              <a:t>        return </a:t>
            </a:r>
            <a:r>
              <a:rPr lang="en-US" altLang="zh-CN" dirty="0" err="1"/>
              <a:t>Op_stack</a:t>
            </a:r>
            <a:r>
              <a:rPr lang="en-US" altLang="zh-CN" dirty="0"/>
              <a:t>[</a:t>
            </a:r>
            <a:r>
              <a:rPr lang="en-US" altLang="zh-CN" dirty="0" err="1"/>
              <a:t>Otop</a:t>
            </a:r>
            <a:r>
              <a:rPr lang="en-US" altLang="zh-CN" dirty="0"/>
              <a:t>--] ; </a:t>
            </a:r>
          </a:p>
          <a:p>
            <a:pPr>
              <a:lnSpc>
                <a:spcPts val="1900"/>
              </a:lnSpc>
            </a:pPr>
            <a:r>
              <a:rPr lang="en-US" altLang="zh-CN" dirty="0"/>
              <a:t>    } </a:t>
            </a:r>
          </a:p>
          <a:p>
            <a:pPr>
              <a:lnSpc>
                <a:spcPts val="1900"/>
              </a:lnSpc>
            </a:pPr>
            <a:r>
              <a:rPr lang="en-US" altLang="zh-CN" dirty="0"/>
              <a:t>    return EPT;</a:t>
            </a:r>
          </a:p>
          <a:p>
            <a:pPr>
              <a:lnSpc>
                <a:spcPts val="1900"/>
              </a:lnSpc>
            </a:pPr>
            <a:r>
              <a:rPr lang="en-US" altLang="zh-CN" dirty="0"/>
              <a:t>}</a:t>
            </a:r>
          </a:p>
          <a:p>
            <a:pPr>
              <a:lnSpc>
                <a:spcPts val="1900"/>
              </a:lnSpc>
            </a:pPr>
            <a:r>
              <a:rPr lang="en-US" altLang="zh-CN" dirty="0" err="1"/>
              <a:t>enum</a:t>
            </a:r>
            <a:r>
              <a:rPr lang="en-US" altLang="zh-CN" dirty="0"/>
              <a:t> operator  </a:t>
            </a:r>
            <a:r>
              <a:rPr lang="en-US" altLang="zh-CN" dirty="0" err="1"/>
              <a:t>topOp</a:t>
            </a:r>
            <a:r>
              <a:rPr lang="en-US" altLang="zh-CN" dirty="0"/>
              <a:t>()</a:t>
            </a:r>
          </a:p>
          <a:p>
            <a:pPr>
              <a:lnSpc>
                <a:spcPts val="1900"/>
              </a:lnSpc>
            </a:pPr>
            <a:r>
              <a:rPr lang="en-US" altLang="zh-CN" dirty="0"/>
              <a:t>{</a:t>
            </a:r>
          </a:p>
          <a:p>
            <a:pPr>
              <a:lnSpc>
                <a:spcPts val="1900"/>
              </a:lnSpc>
            </a:pPr>
            <a:r>
              <a:rPr lang="en-US" altLang="zh-CN" dirty="0"/>
              <a:t>    return </a:t>
            </a:r>
            <a:r>
              <a:rPr lang="en-US" altLang="zh-CN" dirty="0" err="1"/>
              <a:t>Op_stack</a:t>
            </a:r>
            <a:r>
              <a:rPr lang="en-US" altLang="zh-CN" dirty="0"/>
              <a:t>[</a:t>
            </a:r>
            <a:r>
              <a:rPr lang="en-US" altLang="zh-CN" dirty="0" err="1"/>
              <a:t>Otop</a:t>
            </a:r>
            <a:r>
              <a:rPr lang="en-US" altLang="zh-CN" dirty="0"/>
              <a:t>];</a:t>
            </a:r>
          </a:p>
          <a:p>
            <a:pPr>
              <a:lnSpc>
                <a:spcPts val="1900"/>
              </a:lnSpc>
            </a:pPr>
            <a:r>
              <a:rPr lang="en-US" altLang="zh-CN" dirty="0"/>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50100" y="92443"/>
            <a:ext cx="10515600" cy="773335"/>
          </a:xfrm>
        </p:spPr>
        <p:txBody>
          <a:bodyPr/>
          <a:lstStyle/>
          <a:p>
            <a:r>
              <a:rPr lang="zh-CN" altLang="en-US" dirty="0"/>
              <a:t>问题</a:t>
            </a:r>
            <a:r>
              <a:rPr lang="en-US" altLang="zh-CN" dirty="0"/>
              <a:t>3.1</a:t>
            </a:r>
            <a:r>
              <a:rPr lang="zh-CN" altLang="en-US" dirty="0"/>
              <a:t>：</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43</a:t>
            </a:fld>
            <a:endParaRPr lang="zh-CN" altLang="en-US" dirty="0"/>
          </a:p>
        </p:txBody>
      </p:sp>
      <p:grpSp>
        <p:nvGrpSpPr>
          <p:cNvPr id="4" name="Group 38"/>
          <p:cNvGrpSpPr>
            <a:grpSpLocks/>
          </p:cNvGrpSpPr>
          <p:nvPr/>
        </p:nvGrpSpPr>
        <p:grpSpPr bwMode="auto">
          <a:xfrm>
            <a:off x="2567608" y="1556792"/>
            <a:ext cx="6696744" cy="4249108"/>
            <a:chOff x="289" y="1200"/>
            <a:chExt cx="5136" cy="2519"/>
          </a:xfrm>
        </p:grpSpPr>
        <p:sp>
          <p:nvSpPr>
            <p:cNvPr id="5" name="Freeform 9"/>
            <p:cNvSpPr>
              <a:spLocks/>
            </p:cNvSpPr>
            <p:nvPr/>
          </p:nvSpPr>
          <p:spPr bwMode="auto">
            <a:xfrm>
              <a:off x="289" y="1200"/>
              <a:ext cx="5136" cy="2519"/>
            </a:xfrm>
            <a:custGeom>
              <a:avLst/>
              <a:gdLst>
                <a:gd name="T0" fmla="*/ 517 w 4969"/>
                <a:gd name="T1" fmla="*/ 63 h 2578"/>
                <a:gd name="T2" fmla="*/ 1684 w 4969"/>
                <a:gd name="T3" fmla="*/ 68 h 2578"/>
                <a:gd name="T4" fmla="*/ 2638 w 4969"/>
                <a:gd name="T5" fmla="*/ 39 h 2578"/>
                <a:gd name="T6" fmla="*/ 3377 w 4969"/>
                <a:gd name="T7" fmla="*/ 63 h 2578"/>
                <a:gd name="T8" fmla="*/ 4047 w 4969"/>
                <a:gd name="T9" fmla="*/ 99 h 2578"/>
                <a:gd name="T10" fmla="*/ 5455 w 4969"/>
                <a:gd name="T11" fmla="*/ 93 h 2578"/>
                <a:gd name="T12" fmla="*/ 6011 w 4969"/>
                <a:gd name="T13" fmla="*/ 63 h 2578"/>
                <a:gd name="T14" fmla="*/ 6211 w 4969"/>
                <a:gd name="T15" fmla="*/ 111 h 2578"/>
                <a:gd name="T16" fmla="*/ 6181 w 4969"/>
                <a:gd name="T17" fmla="*/ 129 h 2578"/>
                <a:gd name="T18" fmla="*/ 6154 w 4969"/>
                <a:gd name="T19" fmla="*/ 349 h 2578"/>
                <a:gd name="T20" fmla="*/ 6124 w 4969"/>
                <a:gd name="T21" fmla="*/ 539 h 2578"/>
                <a:gd name="T22" fmla="*/ 6099 w 4969"/>
                <a:gd name="T23" fmla="*/ 884 h 2578"/>
                <a:gd name="T24" fmla="*/ 6111 w 4969"/>
                <a:gd name="T25" fmla="*/ 826 h 2578"/>
                <a:gd name="T26" fmla="*/ 6124 w 4969"/>
                <a:gd name="T27" fmla="*/ 794 h 2578"/>
                <a:gd name="T28" fmla="*/ 6140 w 4969"/>
                <a:gd name="T29" fmla="*/ 826 h 2578"/>
                <a:gd name="T30" fmla="*/ 6169 w 4969"/>
                <a:gd name="T31" fmla="*/ 842 h 2578"/>
                <a:gd name="T32" fmla="*/ 6140 w 4969"/>
                <a:gd name="T33" fmla="*/ 1336 h 2578"/>
                <a:gd name="T34" fmla="*/ 4789 w 4969"/>
                <a:gd name="T35" fmla="*/ 1329 h 2578"/>
                <a:gd name="T36" fmla="*/ 4871 w 4969"/>
                <a:gd name="T37" fmla="*/ 1324 h 2578"/>
                <a:gd name="T38" fmla="*/ 3535 w 4969"/>
                <a:gd name="T39" fmla="*/ 1316 h 2578"/>
                <a:gd name="T40" fmla="*/ 2083 w 4969"/>
                <a:gd name="T41" fmla="*/ 1299 h 2578"/>
                <a:gd name="T42" fmla="*/ 1242 w 4969"/>
                <a:gd name="T43" fmla="*/ 1299 h 2578"/>
                <a:gd name="T44" fmla="*/ 161 w 4969"/>
                <a:gd name="T45" fmla="*/ 1353 h 2578"/>
                <a:gd name="T46" fmla="*/ 90 w 4969"/>
                <a:gd name="T47" fmla="*/ 663 h 2578"/>
                <a:gd name="T48" fmla="*/ 133 w 4969"/>
                <a:gd name="T49" fmla="*/ 82 h 2578"/>
                <a:gd name="T50" fmla="*/ 190 w 4969"/>
                <a:gd name="T51" fmla="*/ 88 h 2578"/>
                <a:gd name="T52" fmla="*/ 275 w 4969"/>
                <a:gd name="T53" fmla="*/ 99 h 2578"/>
                <a:gd name="T54" fmla="*/ 389 w 4969"/>
                <a:gd name="T55" fmla="*/ 52 h 2578"/>
                <a:gd name="T56" fmla="*/ 517 w 4969"/>
                <a:gd name="T57" fmla="*/ 63 h 2578"/>
                <a:gd name="T58" fmla="*/ 517 w 4969"/>
                <a:gd name="T59" fmla="*/ 63 h 257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969" h="2578">
                  <a:moveTo>
                    <a:pt x="410" y="121"/>
                  </a:moveTo>
                  <a:cubicBezTo>
                    <a:pt x="749" y="132"/>
                    <a:pt x="984" y="140"/>
                    <a:pt x="1336" y="132"/>
                  </a:cubicBezTo>
                  <a:cubicBezTo>
                    <a:pt x="1588" y="105"/>
                    <a:pt x="1841" y="98"/>
                    <a:pt x="2093" y="76"/>
                  </a:cubicBezTo>
                  <a:cubicBezTo>
                    <a:pt x="1871" y="226"/>
                    <a:pt x="2499" y="91"/>
                    <a:pt x="2680" y="121"/>
                  </a:cubicBezTo>
                  <a:cubicBezTo>
                    <a:pt x="3241" y="111"/>
                    <a:pt x="3496" y="0"/>
                    <a:pt x="3211" y="189"/>
                  </a:cubicBezTo>
                  <a:cubicBezTo>
                    <a:pt x="2900" y="395"/>
                    <a:pt x="3956" y="182"/>
                    <a:pt x="4329" y="178"/>
                  </a:cubicBezTo>
                  <a:cubicBezTo>
                    <a:pt x="4474" y="140"/>
                    <a:pt x="4621" y="130"/>
                    <a:pt x="4770" y="121"/>
                  </a:cubicBezTo>
                  <a:cubicBezTo>
                    <a:pt x="4910" y="140"/>
                    <a:pt x="4969" y="91"/>
                    <a:pt x="4928" y="212"/>
                  </a:cubicBezTo>
                  <a:cubicBezTo>
                    <a:pt x="4924" y="225"/>
                    <a:pt x="4913" y="234"/>
                    <a:pt x="4905" y="245"/>
                  </a:cubicBezTo>
                  <a:cubicBezTo>
                    <a:pt x="4854" y="402"/>
                    <a:pt x="4898" y="255"/>
                    <a:pt x="4883" y="663"/>
                  </a:cubicBezTo>
                  <a:cubicBezTo>
                    <a:pt x="4875" y="867"/>
                    <a:pt x="4874" y="861"/>
                    <a:pt x="4860" y="1025"/>
                  </a:cubicBezTo>
                  <a:cubicBezTo>
                    <a:pt x="4855" y="1243"/>
                    <a:pt x="4838" y="1462"/>
                    <a:pt x="4838" y="1680"/>
                  </a:cubicBezTo>
                  <a:cubicBezTo>
                    <a:pt x="4838" y="1718"/>
                    <a:pt x="4844" y="1605"/>
                    <a:pt x="4849" y="1567"/>
                  </a:cubicBezTo>
                  <a:cubicBezTo>
                    <a:pt x="4851" y="1548"/>
                    <a:pt x="4856" y="1529"/>
                    <a:pt x="4860" y="1510"/>
                  </a:cubicBezTo>
                  <a:cubicBezTo>
                    <a:pt x="4864" y="1529"/>
                    <a:pt x="4864" y="1549"/>
                    <a:pt x="4871" y="1567"/>
                  </a:cubicBezTo>
                  <a:cubicBezTo>
                    <a:pt x="4876" y="1580"/>
                    <a:pt x="4894" y="1587"/>
                    <a:pt x="4894" y="1601"/>
                  </a:cubicBezTo>
                  <a:cubicBezTo>
                    <a:pt x="4894" y="1913"/>
                    <a:pt x="4879" y="2226"/>
                    <a:pt x="4871" y="2538"/>
                  </a:cubicBezTo>
                  <a:cubicBezTo>
                    <a:pt x="4514" y="2534"/>
                    <a:pt x="4156" y="2535"/>
                    <a:pt x="3799" y="2527"/>
                  </a:cubicBezTo>
                  <a:cubicBezTo>
                    <a:pt x="3776" y="2527"/>
                    <a:pt x="3889" y="2517"/>
                    <a:pt x="3866" y="2516"/>
                  </a:cubicBezTo>
                  <a:cubicBezTo>
                    <a:pt x="3512" y="2508"/>
                    <a:pt x="3159" y="2508"/>
                    <a:pt x="2805" y="2504"/>
                  </a:cubicBezTo>
                  <a:cubicBezTo>
                    <a:pt x="2734" y="2506"/>
                    <a:pt x="1040" y="2578"/>
                    <a:pt x="1653" y="2470"/>
                  </a:cubicBezTo>
                  <a:cubicBezTo>
                    <a:pt x="1450" y="2572"/>
                    <a:pt x="1204" y="2516"/>
                    <a:pt x="986" y="2470"/>
                  </a:cubicBezTo>
                  <a:cubicBezTo>
                    <a:pt x="872" y="2472"/>
                    <a:pt x="318" y="2382"/>
                    <a:pt x="128" y="2572"/>
                  </a:cubicBezTo>
                  <a:cubicBezTo>
                    <a:pt x="0" y="2261"/>
                    <a:pt x="85" y="1659"/>
                    <a:pt x="71" y="1262"/>
                  </a:cubicBezTo>
                  <a:cubicBezTo>
                    <a:pt x="81" y="466"/>
                    <a:pt x="28" y="556"/>
                    <a:pt x="105" y="155"/>
                  </a:cubicBezTo>
                  <a:cubicBezTo>
                    <a:pt x="120" y="159"/>
                    <a:pt x="138" y="157"/>
                    <a:pt x="151" y="166"/>
                  </a:cubicBezTo>
                  <a:cubicBezTo>
                    <a:pt x="211" y="206"/>
                    <a:pt x="126" y="211"/>
                    <a:pt x="218" y="189"/>
                  </a:cubicBezTo>
                  <a:cubicBezTo>
                    <a:pt x="244" y="150"/>
                    <a:pt x="269" y="125"/>
                    <a:pt x="309" y="99"/>
                  </a:cubicBezTo>
                  <a:cubicBezTo>
                    <a:pt x="348" y="107"/>
                    <a:pt x="373" y="111"/>
                    <a:pt x="410" y="121"/>
                  </a:cubicBezTo>
                  <a:cubicBezTo>
                    <a:pt x="410" y="121"/>
                    <a:pt x="501" y="150"/>
                    <a:pt x="410" y="121"/>
                  </a:cubicBezTo>
                  <a:close/>
                </a:path>
              </a:pathLst>
            </a:custGeom>
            <a:solidFill>
              <a:srgbClr val="C9E4FF"/>
            </a:solidFill>
            <a:ln w="31750" cap="sq" cmpd="sng">
              <a:noFill/>
              <a:prstDash val="solid"/>
              <a:round/>
              <a:headEnd/>
              <a:tailEnd/>
            </a:ln>
            <a:effectLst>
              <a:outerShdw dist="224686" dir="2837437" algn="ctr" rotWithShape="0">
                <a:srgbClr val="B9B9B9"/>
              </a:outerShdw>
            </a:effectLst>
          </p:spPr>
          <p:txBody>
            <a:bodyPr wrap="none" anchor="ctr"/>
            <a:lstStyle/>
            <a:p>
              <a:endParaRPr lang="zh-CN" altLang="en-US"/>
            </a:p>
          </p:txBody>
        </p:sp>
        <p:sp>
          <p:nvSpPr>
            <p:cNvPr id="6" name="Text Box 10"/>
            <p:cNvSpPr txBox="1">
              <a:spLocks noChangeArrowheads="1"/>
            </p:cNvSpPr>
            <p:nvPr/>
          </p:nvSpPr>
          <p:spPr bwMode="auto">
            <a:xfrm>
              <a:off x="565" y="1446"/>
              <a:ext cx="4584" cy="2025"/>
            </a:xfrm>
            <a:prstGeom prst="rect">
              <a:avLst/>
            </a:prstGeom>
            <a:noFill/>
            <a:ln w="9525">
              <a:noFill/>
              <a:miter lim="800000"/>
              <a:headEnd/>
              <a:tailEnd/>
            </a:ln>
          </p:spPr>
          <p:txBody>
            <a:bodyPr wrap="square">
              <a:spAutoFit/>
            </a:bodyPr>
            <a:lstStyle/>
            <a:p>
              <a:pPr algn="just" fontAlgn="base">
                <a:spcBef>
                  <a:spcPct val="0"/>
                </a:spcBef>
              </a:pPr>
              <a:r>
                <a:rPr lang="zh-CN" altLang="en-US" sz="2400" dirty="0">
                  <a:solidFill>
                    <a:srgbClr val="000080"/>
                  </a:solidFill>
                  <a:latin typeface="幼圆" pitchFamily="49" charset="-122"/>
                  <a:ea typeface="幼圆" pitchFamily="49" charset="-122"/>
                </a:rPr>
                <a:t>从本例中看出由于使用了</a:t>
              </a:r>
              <a:r>
                <a:rPr lang="zh-CN" altLang="en-US" sz="2400" b="1" dirty="0">
                  <a:solidFill>
                    <a:srgbClr val="000080"/>
                  </a:solidFill>
                  <a:latin typeface="幼圆" pitchFamily="49" charset="-122"/>
                  <a:ea typeface="幼圆" pitchFamily="49" charset="-122"/>
                </a:rPr>
                <a:t>栈</a:t>
              </a:r>
              <a:r>
                <a:rPr lang="zh-CN" altLang="en-US" sz="2400" dirty="0">
                  <a:solidFill>
                    <a:srgbClr val="000080"/>
                  </a:solidFill>
                  <a:latin typeface="幼圆" pitchFamily="49" charset="-122"/>
                  <a:ea typeface="幼圆" pitchFamily="49" charset="-122"/>
                </a:rPr>
                <a:t>这种数据结构，一方面简化了算法</a:t>
              </a:r>
              <a:r>
                <a:rPr lang="zh-CN" altLang="en-US" sz="2400" b="1" dirty="0">
                  <a:solidFill>
                    <a:srgbClr val="000080"/>
                  </a:solidFill>
                  <a:latin typeface="幼圆" pitchFamily="49" charset="-122"/>
                  <a:ea typeface="幼圆" pitchFamily="49" charset="-122"/>
                </a:rPr>
                <a:t>复杂性</a:t>
              </a:r>
              <a:r>
                <a:rPr lang="zh-CN" altLang="en-US" sz="2400" dirty="0">
                  <a:solidFill>
                    <a:srgbClr val="000080"/>
                  </a:solidFill>
                  <a:latin typeface="幼圆" pitchFamily="49" charset="-122"/>
                  <a:ea typeface="幼圆" pitchFamily="49" charset="-122"/>
                </a:rPr>
                <a:t>；另一方面程序具有很好的</a:t>
              </a:r>
              <a:r>
                <a:rPr lang="zh-CN" altLang="en-US" sz="2400" b="1" dirty="0">
                  <a:solidFill>
                    <a:srgbClr val="000080"/>
                  </a:solidFill>
                  <a:latin typeface="幼圆" pitchFamily="49" charset="-122"/>
                  <a:ea typeface="幼圆" pitchFamily="49" charset="-122"/>
                </a:rPr>
                <a:t>可扩展性</a:t>
              </a:r>
              <a:r>
                <a:rPr lang="zh-CN" altLang="en-US" sz="2400" dirty="0">
                  <a:solidFill>
                    <a:srgbClr val="000080"/>
                  </a:solidFill>
                  <a:latin typeface="幼圆" pitchFamily="49" charset="-122"/>
                  <a:ea typeface="幼圆" pitchFamily="49" charset="-122"/>
                </a:rPr>
                <a:t>（如增加新的优先级运算符非常方便）。</a:t>
              </a:r>
              <a:endParaRPr lang="en-US" altLang="zh-CN" sz="2400" dirty="0">
                <a:solidFill>
                  <a:srgbClr val="000080"/>
                </a:solidFill>
                <a:latin typeface="幼圆" pitchFamily="49" charset="-122"/>
                <a:ea typeface="幼圆" pitchFamily="49" charset="-122"/>
              </a:endParaRPr>
            </a:p>
            <a:p>
              <a:pPr algn="just" fontAlgn="base">
                <a:spcBef>
                  <a:spcPct val="0"/>
                </a:spcBef>
              </a:pPr>
              <a:endParaRPr lang="en-US" altLang="zh-CN" sz="2400" dirty="0">
                <a:solidFill>
                  <a:srgbClr val="000080"/>
                </a:solidFill>
                <a:latin typeface="幼圆" pitchFamily="49" charset="-122"/>
                <a:ea typeface="幼圆" pitchFamily="49" charset="-122"/>
              </a:endParaRPr>
            </a:p>
            <a:p>
              <a:pPr algn="just" fontAlgn="base">
                <a:spcBef>
                  <a:spcPct val="0"/>
                </a:spcBef>
              </a:pPr>
              <a:r>
                <a:rPr lang="zh-CN" altLang="en-US" sz="2400" b="1" dirty="0">
                  <a:solidFill>
                    <a:srgbClr val="000080"/>
                  </a:solidFill>
                  <a:latin typeface="幼圆" pitchFamily="49" charset="-122"/>
                  <a:ea typeface="幼圆" pitchFamily="49" charset="-122"/>
                </a:rPr>
                <a:t>思考</a:t>
              </a:r>
              <a:r>
                <a:rPr lang="zh-CN" altLang="en-US" sz="2400" dirty="0">
                  <a:solidFill>
                    <a:srgbClr val="000080"/>
                  </a:solidFill>
                  <a:latin typeface="幼圆" pitchFamily="49" charset="-122"/>
                  <a:ea typeface="幼圆" pitchFamily="49" charset="-122"/>
                </a:rPr>
                <a:t>：修改该表达式计算程序，为其增加：</a:t>
              </a:r>
              <a:r>
                <a:rPr lang="en-US" altLang="zh-CN" sz="2400" b="1" dirty="0">
                  <a:solidFill>
                    <a:srgbClr val="000080"/>
                  </a:solidFill>
                  <a:latin typeface="幼圆" pitchFamily="49" charset="-122"/>
                  <a:ea typeface="幼圆" pitchFamily="49" charset="-122"/>
                </a:rPr>
                <a:t>%(</a:t>
              </a:r>
              <a:r>
                <a:rPr lang="zh-CN" altLang="en-US" sz="2400" b="1" dirty="0">
                  <a:solidFill>
                    <a:srgbClr val="000080"/>
                  </a:solidFill>
                  <a:latin typeface="幼圆" pitchFamily="49" charset="-122"/>
                  <a:ea typeface="幼圆" pitchFamily="49" charset="-122"/>
                </a:rPr>
                <a:t>求余</a:t>
              </a:r>
              <a:r>
                <a:rPr lang="en-US" altLang="zh-CN" sz="2400" b="1" dirty="0">
                  <a:solidFill>
                    <a:srgbClr val="000080"/>
                  </a:solidFill>
                  <a:latin typeface="幼圆" pitchFamily="49" charset="-122"/>
                  <a:ea typeface="幼圆" pitchFamily="49" charset="-122"/>
                </a:rPr>
                <a:t>), &gt;(</a:t>
              </a:r>
              <a:r>
                <a:rPr lang="zh-CN" altLang="en-US" sz="2400" b="1" dirty="0">
                  <a:solidFill>
                    <a:srgbClr val="000080"/>
                  </a:solidFill>
                  <a:latin typeface="幼圆" pitchFamily="49" charset="-122"/>
                  <a:ea typeface="幼圆" pitchFamily="49" charset="-122"/>
                </a:rPr>
                <a:t>大于</a:t>
              </a:r>
              <a:r>
                <a:rPr lang="en-US" altLang="zh-CN" sz="2400" b="1" dirty="0">
                  <a:solidFill>
                    <a:srgbClr val="000080"/>
                  </a:solidFill>
                  <a:latin typeface="幼圆" pitchFamily="49" charset="-122"/>
                  <a:ea typeface="幼圆" pitchFamily="49" charset="-122"/>
                </a:rPr>
                <a:t>), &lt;(</a:t>
              </a:r>
              <a:r>
                <a:rPr lang="zh-CN" altLang="en-US" sz="2400" b="1" dirty="0">
                  <a:solidFill>
                    <a:srgbClr val="000080"/>
                  </a:solidFill>
                  <a:latin typeface="幼圆" pitchFamily="49" charset="-122"/>
                  <a:ea typeface="幼圆" pitchFamily="49" charset="-122"/>
                </a:rPr>
                <a:t>小于</a:t>
              </a:r>
              <a:r>
                <a:rPr lang="en-US" altLang="zh-CN" sz="2400" b="1" dirty="0">
                  <a:solidFill>
                    <a:srgbClr val="000080"/>
                  </a:solidFill>
                  <a:latin typeface="幼圆" pitchFamily="49" charset="-122"/>
                  <a:ea typeface="幼圆" pitchFamily="49" charset="-122"/>
                </a:rPr>
                <a:t>)</a:t>
              </a:r>
              <a:r>
                <a:rPr lang="zh-CN" altLang="en-US" sz="2400" dirty="0">
                  <a:solidFill>
                    <a:srgbClr val="000080"/>
                  </a:solidFill>
                  <a:latin typeface="幼圆" pitchFamily="49" charset="-122"/>
                  <a:ea typeface="幼圆" pitchFamily="49" charset="-122"/>
                </a:rPr>
                <a:t>等运算符。运算符优先级照</a:t>
              </a:r>
              <a:r>
                <a:rPr lang="en-US" altLang="zh-CN" sz="2400" dirty="0">
                  <a:solidFill>
                    <a:srgbClr val="000080"/>
                  </a:solidFill>
                  <a:latin typeface="幼圆" pitchFamily="49" charset="-122"/>
                  <a:ea typeface="幼圆" pitchFamily="49" charset="-122"/>
                </a:rPr>
                <a:t>C</a:t>
              </a:r>
              <a:r>
                <a:rPr lang="zh-CN" altLang="en-US" sz="2400" dirty="0">
                  <a:solidFill>
                    <a:srgbClr val="000080"/>
                  </a:solidFill>
                  <a:latin typeface="幼圆" pitchFamily="49" charset="-122"/>
                  <a:ea typeface="幼圆" pitchFamily="49" charset="-122"/>
                </a:rPr>
                <a:t>语言中定义。</a:t>
              </a:r>
              <a:endParaRPr lang="en-US" altLang="zh-CN" sz="2400" dirty="0">
                <a:solidFill>
                  <a:srgbClr val="000080"/>
                </a:solidFill>
                <a:latin typeface="幼圆" pitchFamily="49" charset="-122"/>
                <a:ea typeface="幼圆" pitchFamily="49" charset="-122"/>
              </a:endParaRPr>
            </a:p>
            <a:p>
              <a:pPr algn="just" fontAlgn="base">
                <a:spcBef>
                  <a:spcPct val="0"/>
                </a:spcBef>
              </a:pPr>
              <a:endParaRPr lang="zh-CN" altLang="en-US" sz="2400" dirty="0">
                <a:solidFill>
                  <a:srgbClr val="000080"/>
                </a:solidFill>
                <a:latin typeface="幼圆" pitchFamily="49" charset="-122"/>
                <a:ea typeface="幼圆" pitchFamily="49" charset="-122"/>
              </a:endParaRPr>
            </a:p>
          </p:txBody>
        </p:sp>
      </p:grpSp>
      <p:grpSp>
        <p:nvGrpSpPr>
          <p:cNvPr id="8" name="Group 49"/>
          <p:cNvGrpSpPr>
            <a:grpSpLocks/>
          </p:cNvGrpSpPr>
          <p:nvPr/>
        </p:nvGrpSpPr>
        <p:grpSpPr bwMode="auto">
          <a:xfrm>
            <a:off x="7896200" y="188641"/>
            <a:ext cx="2448272" cy="1033463"/>
            <a:chOff x="404" y="73"/>
            <a:chExt cx="1161" cy="651"/>
          </a:xfrm>
        </p:grpSpPr>
        <p:sp>
          <p:nvSpPr>
            <p:cNvPr id="9" name="AutoShape 50"/>
            <p:cNvSpPr>
              <a:spLocks noChangeArrowheads="1"/>
            </p:cNvSpPr>
            <p:nvPr/>
          </p:nvSpPr>
          <p:spPr bwMode="auto">
            <a:xfrm>
              <a:off x="404" y="132"/>
              <a:ext cx="922" cy="592"/>
            </a:xfrm>
            <a:prstGeom prst="irregularSeal2">
              <a:avLst/>
            </a:prstGeom>
            <a:solidFill>
              <a:srgbClr val="CCFFFF"/>
            </a:solidFill>
            <a:ln w="69850" cap="sq">
              <a:solidFill>
                <a:srgbClr val="FFCC00"/>
              </a:solidFill>
              <a:miter lim="800000"/>
              <a:headEnd/>
              <a:tailEnd/>
            </a:ln>
            <a:effectLst>
              <a:outerShdw dist="137372" dir="2021404" algn="ctr" rotWithShape="0">
                <a:srgbClr val="B9B9B9"/>
              </a:outerShdw>
            </a:effectLst>
          </p:spPr>
          <p:txBody>
            <a:bodyPr wrap="none" anchor="ctr"/>
            <a:lstStyle/>
            <a:p>
              <a:endParaRPr lang="zh-CN" altLang="en-US"/>
            </a:p>
          </p:txBody>
        </p:sp>
        <p:sp>
          <p:nvSpPr>
            <p:cNvPr id="10" name="Rectangle 51"/>
            <p:cNvSpPr>
              <a:spLocks noChangeArrowheads="1"/>
            </p:cNvSpPr>
            <p:nvPr/>
          </p:nvSpPr>
          <p:spPr bwMode="auto">
            <a:xfrm rot="-63299">
              <a:off x="509" y="73"/>
              <a:ext cx="1056" cy="634"/>
            </a:xfrm>
            <a:prstGeom prst="rect">
              <a:avLst/>
            </a:prstGeom>
            <a:noFill/>
            <a:ln w="9525">
              <a:noFill/>
              <a:miter lim="800000"/>
              <a:headEnd/>
              <a:tailEnd/>
            </a:ln>
            <a:effectLst>
              <a:outerShdw dist="35921" dir="2700000" algn="ctr" rotWithShape="0">
                <a:schemeClr val="bg1"/>
              </a:outerShdw>
            </a:effectLst>
          </p:spPr>
          <p:txBody>
            <a:bodyPr>
              <a:spAutoFit/>
            </a:bodyPr>
            <a:lstStyle/>
            <a:p>
              <a:r>
                <a:rPr kumimoji="1" lang="zh-CN" altLang="en-US" sz="6000" dirty="0">
                  <a:solidFill>
                    <a:srgbClr val="FF3300"/>
                  </a:solidFill>
                  <a:latin typeface="方正舒体" pitchFamily="2" charset="-122"/>
                  <a:ea typeface="华文新魏" pitchFamily="2" charset="-122"/>
                </a:rPr>
                <a:t>思考</a:t>
              </a:r>
              <a:endParaRPr kumimoji="1" lang="zh-CN" altLang="en-US" sz="6000" dirty="0">
                <a:solidFill>
                  <a:srgbClr val="FF3300"/>
                </a:solidFill>
                <a:latin typeface="黑体" pitchFamily="2" charset="-122"/>
                <a:ea typeface="华文新魏" pitchFamily="2" charset="-122"/>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5"/>
          <p:cNvGrpSpPr>
            <a:grpSpLocks/>
          </p:cNvGrpSpPr>
          <p:nvPr/>
        </p:nvGrpSpPr>
        <p:grpSpPr bwMode="auto">
          <a:xfrm>
            <a:off x="4632325" y="2393951"/>
            <a:ext cx="3335338" cy="504825"/>
            <a:chOff x="1655" y="1661"/>
            <a:chExt cx="2101" cy="318"/>
          </a:xfrm>
        </p:grpSpPr>
        <p:sp>
          <p:nvSpPr>
            <p:cNvPr id="55339" name="Line 6"/>
            <p:cNvSpPr>
              <a:spLocks noChangeShapeType="1"/>
            </p:cNvSpPr>
            <p:nvPr/>
          </p:nvSpPr>
          <p:spPr bwMode="auto">
            <a:xfrm>
              <a:off x="1655" y="1661"/>
              <a:ext cx="2087" cy="0"/>
            </a:xfrm>
            <a:prstGeom prst="line">
              <a:avLst/>
            </a:prstGeom>
            <a:noFill/>
            <a:ln w="25400">
              <a:solidFill>
                <a:srgbClr val="666400"/>
              </a:solidFill>
              <a:round/>
              <a:headEnd/>
              <a:tailEnd/>
            </a:ln>
            <a:effectLst/>
          </p:spPr>
          <p:txBody>
            <a:bodyPr wrap="none" anchor="ctr"/>
            <a:lstStyle/>
            <a:p>
              <a:endParaRPr lang="zh-CN" altLang="en-US"/>
            </a:p>
          </p:txBody>
        </p:sp>
        <p:sp>
          <p:nvSpPr>
            <p:cNvPr id="55340" name="Line 7"/>
            <p:cNvSpPr>
              <a:spLocks noChangeShapeType="1"/>
            </p:cNvSpPr>
            <p:nvPr/>
          </p:nvSpPr>
          <p:spPr bwMode="auto">
            <a:xfrm>
              <a:off x="1655" y="1972"/>
              <a:ext cx="2087" cy="0"/>
            </a:xfrm>
            <a:prstGeom prst="line">
              <a:avLst/>
            </a:prstGeom>
            <a:noFill/>
            <a:ln w="25400">
              <a:solidFill>
                <a:srgbClr val="666400"/>
              </a:solidFill>
              <a:round/>
              <a:headEnd/>
              <a:tailEnd/>
            </a:ln>
            <a:effectLst/>
          </p:spPr>
          <p:txBody>
            <a:bodyPr wrap="none" anchor="ctr"/>
            <a:lstStyle/>
            <a:p>
              <a:endParaRPr lang="zh-CN" altLang="en-US"/>
            </a:p>
          </p:txBody>
        </p:sp>
        <p:sp>
          <p:nvSpPr>
            <p:cNvPr id="55341" name="Line 8"/>
            <p:cNvSpPr>
              <a:spLocks noChangeShapeType="1"/>
            </p:cNvSpPr>
            <p:nvPr/>
          </p:nvSpPr>
          <p:spPr bwMode="auto">
            <a:xfrm>
              <a:off x="1662" y="1661"/>
              <a:ext cx="0" cy="318"/>
            </a:xfrm>
            <a:prstGeom prst="line">
              <a:avLst/>
            </a:prstGeom>
            <a:noFill/>
            <a:ln w="28575">
              <a:solidFill>
                <a:srgbClr val="666400"/>
              </a:solidFill>
              <a:round/>
              <a:headEnd/>
              <a:tailEnd/>
            </a:ln>
            <a:effectLst/>
          </p:spPr>
          <p:txBody>
            <a:bodyPr wrap="none" anchor="ctr"/>
            <a:lstStyle/>
            <a:p>
              <a:endParaRPr lang="zh-CN" altLang="en-US"/>
            </a:p>
          </p:txBody>
        </p:sp>
        <p:sp>
          <p:nvSpPr>
            <p:cNvPr id="55342" name="Line 9"/>
            <p:cNvSpPr>
              <a:spLocks noChangeShapeType="1"/>
            </p:cNvSpPr>
            <p:nvPr/>
          </p:nvSpPr>
          <p:spPr bwMode="auto">
            <a:xfrm>
              <a:off x="1987" y="1661"/>
              <a:ext cx="0" cy="318"/>
            </a:xfrm>
            <a:prstGeom prst="line">
              <a:avLst/>
            </a:prstGeom>
            <a:noFill/>
            <a:ln w="15875">
              <a:solidFill>
                <a:srgbClr val="666400"/>
              </a:solidFill>
              <a:round/>
              <a:headEnd/>
              <a:tailEnd/>
            </a:ln>
            <a:effectLst/>
          </p:spPr>
          <p:txBody>
            <a:bodyPr wrap="none" anchor="ctr"/>
            <a:lstStyle/>
            <a:p>
              <a:endParaRPr lang="zh-CN" altLang="en-US"/>
            </a:p>
          </p:txBody>
        </p:sp>
        <p:sp>
          <p:nvSpPr>
            <p:cNvPr id="55343" name="Line 10"/>
            <p:cNvSpPr>
              <a:spLocks noChangeShapeType="1"/>
            </p:cNvSpPr>
            <p:nvPr/>
          </p:nvSpPr>
          <p:spPr bwMode="auto">
            <a:xfrm>
              <a:off x="2315" y="1661"/>
              <a:ext cx="0" cy="318"/>
            </a:xfrm>
            <a:prstGeom prst="line">
              <a:avLst/>
            </a:prstGeom>
            <a:noFill/>
            <a:ln w="15875">
              <a:solidFill>
                <a:srgbClr val="666400"/>
              </a:solidFill>
              <a:round/>
              <a:headEnd/>
              <a:tailEnd/>
            </a:ln>
            <a:effectLst/>
          </p:spPr>
          <p:txBody>
            <a:bodyPr wrap="none" anchor="ctr"/>
            <a:lstStyle/>
            <a:p>
              <a:endParaRPr lang="zh-CN" altLang="en-US"/>
            </a:p>
          </p:txBody>
        </p:sp>
        <p:sp>
          <p:nvSpPr>
            <p:cNvPr id="55344" name="Line 11"/>
            <p:cNvSpPr>
              <a:spLocks noChangeShapeType="1"/>
            </p:cNvSpPr>
            <p:nvPr/>
          </p:nvSpPr>
          <p:spPr bwMode="auto">
            <a:xfrm>
              <a:off x="2660" y="1661"/>
              <a:ext cx="0" cy="318"/>
            </a:xfrm>
            <a:prstGeom prst="line">
              <a:avLst/>
            </a:prstGeom>
            <a:noFill/>
            <a:ln w="15875">
              <a:solidFill>
                <a:srgbClr val="666400"/>
              </a:solidFill>
              <a:round/>
              <a:headEnd/>
              <a:tailEnd/>
            </a:ln>
            <a:effectLst/>
          </p:spPr>
          <p:txBody>
            <a:bodyPr wrap="none" anchor="ctr"/>
            <a:lstStyle/>
            <a:p>
              <a:endParaRPr lang="zh-CN" altLang="en-US"/>
            </a:p>
          </p:txBody>
        </p:sp>
        <p:sp>
          <p:nvSpPr>
            <p:cNvPr id="55345" name="Line 12"/>
            <p:cNvSpPr>
              <a:spLocks noChangeShapeType="1"/>
            </p:cNvSpPr>
            <p:nvPr/>
          </p:nvSpPr>
          <p:spPr bwMode="auto">
            <a:xfrm>
              <a:off x="2995" y="1661"/>
              <a:ext cx="0" cy="318"/>
            </a:xfrm>
            <a:prstGeom prst="line">
              <a:avLst/>
            </a:prstGeom>
            <a:noFill/>
            <a:ln w="15875">
              <a:solidFill>
                <a:srgbClr val="666400"/>
              </a:solidFill>
              <a:round/>
              <a:headEnd/>
              <a:tailEnd/>
            </a:ln>
            <a:effectLst/>
          </p:spPr>
          <p:txBody>
            <a:bodyPr wrap="none" anchor="ctr"/>
            <a:lstStyle/>
            <a:p>
              <a:endParaRPr lang="zh-CN" altLang="en-US"/>
            </a:p>
          </p:txBody>
        </p:sp>
        <p:sp>
          <p:nvSpPr>
            <p:cNvPr id="55346" name="Line 13"/>
            <p:cNvSpPr>
              <a:spLocks noChangeShapeType="1"/>
            </p:cNvSpPr>
            <p:nvPr/>
          </p:nvSpPr>
          <p:spPr bwMode="auto">
            <a:xfrm>
              <a:off x="3334" y="1661"/>
              <a:ext cx="0" cy="318"/>
            </a:xfrm>
            <a:prstGeom prst="line">
              <a:avLst/>
            </a:prstGeom>
            <a:noFill/>
            <a:ln w="15875">
              <a:solidFill>
                <a:srgbClr val="666400"/>
              </a:solidFill>
              <a:round/>
              <a:headEnd/>
              <a:tailEnd/>
            </a:ln>
            <a:effectLst/>
          </p:spPr>
          <p:txBody>
            <a:bodyPr wrap="none" anchor="ctr"/>
            <a:lstStyle/>
            <a:p>
              <a:endParaRPr lang="zh-CN" altLang="en-US"/>
            </a:p>
          </p:txBody>
        </p:sp>
        <p:sp>
          <p:nvSpPr>
            <p:cNvPr id="55347" name="Freeform 14"/>
            <p:cNvSpPr>
              <a:spLocks/>
            </p:cNvSpPr>
            <p:nvPr/>
          </p:nvSpPr>
          <p:spPr bwMode="auto">
            <a:xfrm rot="342507">
              <a:off x="3665" y="1668"/>
              <a:ext cx="91" cy="302"/>
            </a:xfrm>
            <a:custGeom>
              <a:avLst/>
              <a:gdLst>
                <a:gd name="T0" fmla="*/ 45 w 91"/>
                <a:gd name="T1" fmla="*/ 0 h 318"/>
                <a:gd name="T2" fmla="*/ 0 w 91"/>
                <a:gd name="T3" fmla="*/ 37 h 318"/>
                <a:gd name="T4" fmla="*/ 45 w 91"/>
                <a:gd name="T5" fmla="*/ 111 h 318"/>
                <a:gd name="T6" fmla="*/ 45 w 91"/>
                <a:gd name="T7" fmla="*/ 185 h 318"/>
                <a:gd name="T8" fmla="*/ 91 w 91"/>
                <a:gd name="T9" fmla="*/ 259 h 3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 h="318">
                  <a:moveTo>
                    <a:pt x="45" y="0"/>
                  </a:moveTo>
                  <a:cubicBezTo>
                    <a:pt x="22" y="11"/>
                    <a:pt x="0" y="22"/>
                    <a:pt x="0" y="45"/>
                  </a:cubicBezTo>
                  <a:cubicBezTo>
                    <a:pt x="0" y="68"/>
                    <a:pt x="38" y="106"/>
                    <a:pt x="45" y="136"/>
                  </a:cubicBezTo>
                  <a:cubicBezTo>
                    <a:pt x="52" y="166"/>
                    <a:pt x="37" y="197"/>
                    <a:pt x="45" y="227"/>
                  </a:cubicBezTo>
                  <a:cubicBezTo>
                    <a:pt x="53" y="257"/>
                    <a:pt x="83" y="303"/>
                    <a:pt x="91" y="318"/>
                  </a:cubicBezTo>
                </a:path>
              </a:pathLst>
            </a:custGeom>
            <a:noFill/>
            <a:ln w="15875" cap="flat" cmpd="sng">
              <a:solidFill>
                <a:srgbClr val="666400"/>
              </a:solidFill>
              <a:prstDash val="solid"/>
              <a:round/>
              <a:headEnd/>
              <a:tailEnd/>
            </a:ln>
            <a:effectLst/>
          </p:spPr>
          <p:txBody>
            <a:bodyPr wrap="none" anchor="ctr"/>
            <a:lstStyle/>
            <a:p>
              <a:endParaRPr lang="zh-CN" altLang="en-US"/>
            </a:p>
          </p:txBody>
        </p:sp>
      </p:grpSp>
      <p:grpSp>
        <p:nvGrpSpPr>
          <p:cNvPr id="4" name="Group 15"/>
          <p:cNvGrpSpPr>
            <a:grpSpLocks/>
          </p:cNvGrpSpPr>
          <p:nvPr/>
        </p:nvGrpSpPr>
        <p:grpSpPr bwMode="auto">
          <a:xfrm>
            <a:off x="4632325" y="5407026"/>
            <a:ext cx="3335338" cy="504825"/>
            <a:chOff x="1655" y="1661"/>
            <a:chExt cx="2101" cy="318"/>
          </a:xfrm>
        </p:grpSpPr>
        <p:sp>
          <p:nvSpPr>
            <p:cNvPr id="55330" name="Line 16"/>
            <p:cNvSpPr>
              <a:spLocks noChangeShapeType="1"/>
            </p:cNvSpPr>
            <p:nvPr/>
          </p:nvSpPr>
          <p:spPr bwMode="auto">
            <a:xfrm>
              <a:off x="1655" y="1661"/>
              <a:ext cx="2087" cy="0"/>
            </a:xfrm>
            <a:prstGeom prst="line">
              <a:avLst/>
            </a:prstGeom>
            <a:noFill/>
            <a:ln w="25400">
              <a:solidFill>
                <a:srgbClr val="666400"/>
              </a:solidFill>
              <a:round/>
              <a:headEnd/>
              <a:tailEnd/>
            </a:ln>
            <a:effectLst/>
          </p:spPr>
          <p:txBody>
            <a:bodyPr wrap="none" anchor="ctr"/>
            <a:lstStyle/>
            <a:p>
              <a:endParaRPr lang="zh-CN" altLang="en-US"/>
            </a:p>
          </p:txBody>
        </p:sp>
        <p:sp>
          <p:nvSpPr>
            <p:cNvPr id="55331" name="Line 17"/>
            <p:cNvSpPr>
              <a:spLocks noChangeShapeType="1"/>
            </p:cNvSpPr>
            <p:nvPr/>
          </p:nvSpPr>
          <p:spPr bwMode="auto">
            <a:xfrm>
              <a:off x="1655" y="1972"/>
              <a:ext cx="2087" cy="0"/>
            </a:xfrm>
            <a:prstGeom prst="line">
              <a:avLst/>
            </a:prstGeom>
            <a:noFill/>
            <a:ln w="25400">
              <a:solidFill>
                <a:srgbClr val="666400"/>
              </a:solidFill>
              <a:round/>
              <a:headEnd/>
              <a:tailEnd/>
            </a:ln>
            <a:effectLst/>
          </p:spPr>
          <p:txBody>
            <a:bodyPr wrap="none" anchor="ctr"/>
            <a:lstStyle/>
            <a:p>
              <a:endParaRPr lang="zh-CN" altLang="en-US"/>
            </a:p>
          </p:txBody>
        </p:sp>
        <p:sp>
          <p:nvSpPr>
            <p:cNvPr id="55332" name="Line 18"/>
            <p:cNvSpPr>
              <a:spLocks noChangeShapeType="1"/>
            </p:cNvSpPr>
            <p:nvPr/>
          </p:nvSpPr>
          <p:spPr bwMode="auto">
            <a:xfrm>
              <a:off x="1662" y="1661"/>
              <a:ext cx="0" cy="318"/>
            </a:xfrm>
            <a:prstGeom prst="line">
              <a:avLst/>
            </a:prstGeom>
            <a:noFill/>
            <a:ln w="28575">
              <a:solidFill>
                <a:srgbClr val="666400"/>
              </a:solidFill>
              <a:round/>
              <a:headEnd/>
              <a:tailEnd/>
            </a:ln>
            <a:effectLst/>
          </p:spPr>
          <p:txBody>
            <a:bodyPr wrap="none" anchor="ctr"/>
            <a:lstStyle/>
            <a:p>
              <a:endParaRPr lang="zh-CN" altLang="en-US"/>
            </a:p>
          </p:txBody>
        </p:sp>
        <p:sp>
          <p:nvSpPr>
            <p:cNvPr id="55333" name="Line 19"/>
            <p:cNvSpPr>
              <a:spLocks noChangeShapeType="1"/>
            </p:cNvSpPr>
            <p:nvPr/>
          </p:nvSpPr>
          <p:spPr bwMode="auto">
            <a:xfrm>
              <a:off x="1987" y="1661"/>
              <a:ext cx="0" cy="318"/>
            </a:xfrm>
            <a:prstGeom prst="line">
              <a:avLst/>
            </a:prstGeom>
            <a:noFill/>
            <a:ln w="15875">
              <a:solidFill>
                <a:srgbClr val="666400"/>
              </a:solidFill>
              <a:round/>
              <a:headEnd/>
              <a:tailEnd/>
            </a:ln>
            <a:effectLst/>
          </p:spPr>
          <p:txBody>
            <a:bodyPr wrap="none" anchor="ctr"/>
            <a:lstStyle/>
            <a:p>
              <a:endParaRPr lang="zh-CN" altLang="en-US"/>
            </a:p>
          </p:txBody>
        </p:sp>
        <p:sp>
          <p:nvSpPr>
            <p:cNvPr id="55334" name="Line 20"/>
            <p:cNvSpPr>
              <a:spLocks noChangeShapeType="1"/>
            </p:cNvSpPr>
            <p:nvPr/>
          </p:nvSpPr>
          <p:spPr bwMode="auto">
            <a:xfrm>
              <a:off x="2315" y="1661"/>
              <a:ext cx="0" cy="318"/>
            </a:xfrm>
            <a:prstGeom prst="line">
              <a:avLst/>
            </a:prstGeom>
            <a:noFill/>
            <a:ln w="15875">
              <a:solidFill>
                <a:srgbClr val="666400"/>
              </a:solidFill>
              <a:round/>
              <a:headEnd/>
              <a:tailEnd/>
            </a:ln>
            <a:effectLst/>
          </p:spPr>
          <p:txBody>
            <a:bodyPr wrap="none" anchor="ctr"/>
            <a:lstStyle/>
            <a:p>
              <a:endParaRPr lang="zh-CN" altLang="en-US"/>
            </a:p>
          </p:txBody>
        </p:sp>
        <p:sp>
          <p:nvSpPr>
            <p:cNvPr id="55335" name="Line 21"/>
            <p:cNvSpPr>
              <a:spLocks noChangeShapeType="1"/>
            </p:cNvSpPr>
            <p:nvPr/>
          </p:nvSpPr>
          <p:spPr bwMode="auto">
            <a:xfrm>
              <a:off x="2660" y="1661"/>
              <a:ext cx="0" cy="318"/>
            </a:xfrm>
            <a:prstGeom prst="line">
              <a:avLst/>
            </a:prstGeom>
            <a:noFill/>
            <a:ln w="15875">
              <a:solidFill>
                <a:srgbClr val="666400"/>
              </a:solidFill>
              <a:round/>
              <a:headEnd/>
              <a:tailEnd/>
            </a:ln>
            <a:effectLst/>
          </p:spPr>
          <p:txBody>
            <a:bodyPr wrap="none" anchor="ctr"/>
            <a:lstStyle/>
            <a:p>
              <a:endParaRPr lang="zh-CN" altLang="en-US"/>
            </a:p>
          </p:txBody>
        </p:sp>
        <p:sp>
          <p:nvSpPr>
            <p:cNvPr id="55336" name="Line 22"/>
            <p:cNvSpPr>
              <a:spLocks noChangeShapeType="1"/>
            </p:cNvSpPr>
            <p:nvPr/>
          </p:nvSpPr>
          <p:spPr bwMode="auto">
            <a:xfrm>
              <a:off x="2995" y="1661"/>
              <a:ext cx="0" cy="318"/>
            </a:xfrm>
            <a:prstGeom prst="line">
              <a:avLst/>
            </a:prstGeom>
            <a:noFill/>
            <a:ln w="15875">
              <a:solidFill>
                <a:srgbClr val="666400"/>
              </a:solidFill>
              <a:round/>
              <a:headEnd/>
              <a:tailEnd/>
            </a:ln>
            <a:effectLst/>
          </p:spPr>
          <p:txBody>
            <a:bodyPr wrap="none" anchor="ctr"/>
            <a:lstStyle/>
            <a:p>
              <a:endParaRPr lang="zh-CN" altLang="en-US"/>
            </a:p>
          </p:txBody>
        </p:sp>
        <p:sp>
          <p:nvSpPr>
            <p:cNvPr id="55337" name="Line 23"/>
            <p:cNvSpPr>
              <a:spLocks noChangeShapeType="1"/>
            </p:cNvSpPr>
            <p:nvPr/>
          </p:nvSpPr>
          <p:spPr bwMode="auto">
            <a:xfrm>
              <a:off x="3334" y="1661"/>
              <a:ext cx="0" cy="318"/>
            </a:xfrm>
            <a:prstGeom prst="line">
              <a:avLst/>
            </a:prstGeom>
            <a:noFill/>
            <a:ln w="15875">
              <a:solidFill>
                <a:srgbClr val="666400"/>
              </a:solidFill>
              <a:round/>
              <a:headEnd/>
              <a:tailEnd/>
            </a:ln>
            <a:effectLst/>
          </p:spPr>
          <p:txBody>
            <a:bodyPr wrap="none" anchor="ctr"/>
            <a:lstStyle/>
            <a:p>
              <a:endParaRPr lang="zh-CN" altLang="en-US"/>
            </a:p>
          </p:txBody>
        </p:sp>
        <p:sp>
          <p:nvSpPr>
            <p:cNvPr id="55338" name="Freeform 24"/>
            <p:cNvSpPr>
              <a:spLocks/>
            </p:cNvSpPr>
            <p:nvPr/>
          </p:nvSpPr>
          <p:spPr bwMode="auto">
            <a:xfrm rot="342507">
              <a:off x="3665" y="1668"/>
              <a:ext cx="91" cy="302"/>
            </a:xfrm>
            <a:custGeom>
              <a:avLst/>
              <a:gdLst>
                <a:gd name="T0" fmla="*/ 45 w 91"/>
                <a:gd name="T1" fmla="*/ 0 h 318"/>
                <a:gd name="T2" fmla="*/ 0 w 91"/>
                <a:gd name="T3" fmla="*/ 37 h 318"/>
                <a:gd name="T4" fmla="*/ 45 w 91"/>
                <a:gd name="T5" fmla="*/ 111 h 318"/>
                <a:gd name="T6" fmla="*/ 45 w 91"/>
                <a:gd name="T7" fmla="*/ 185 h 318"/>
                <a:gd name="T8" fmla="*/ 91 w 91"/>
                <a:gd name="T9" fmla="*/ 259 h 3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 h="318">
                  <a:moveTo>
                    <a:pt x="45" y="0"/>
                  </a:moveTo>
                  <a:cubicBezTo>
                    <a:pt x="22" y="11"/>
                    <a:pt x="0" y="22"/>
                    <a:pt x="0" y="45"/>
                  </a:cubicBezTo>
                  <a:cubicBezTo>
                    <a:pt x="0" y="68"/>
                    <a:pt x="38" y="106"/>
                    <a:pt x="45" y="136"/>
                  </a:cubicBezTo>
                  <a:cubicBezTo>
                    <a:pt x="52" y="166"/>
                    <a:pt x="37" y="197"/>
                    <a:pt x="45" y="227"/>
                  </a:cubicBezTo>
                  <a:cubicBezTo>
                    <a:pt x="53" y="257"/>
                    <a:pt x="83" y="303"/>
                    <a:pt x="91" y="318"/>
                  </a:cubicBezTo>
                </a:path>
              </a:pathLst>
            </a:custGeom>
            <a:noFill/>
            <a:ln w="15875" cap="flat" cmpd="sng">
              <a:solidFill>
                <a:srgbClr val="666400"/>
              </a:solidFill>
              <a:prstDash val="solid"/>
              <a:round/>
              <a:headEnd/>
              <a:tailEnd/>
            </a:ln>
            <a:effectLst/>
          </p:spPr>
          <p:txBody>
            <a:bodyPr wrap="none" anchor="ctr"/>
            <a:lstStyle/>
            <a:p>
              <a:endParaRPr lang="zh-CN" altLang="en-US"/>
            </a:p>
          </p:txBody>
        </p:sp>
      </p:grpSp>
      <p:sp>
        <p:nvSpPr>
          <p:cNvPr id="812057" name="Text Box 25"/>
          <p:cNvSpPr txBox="1">
            <a:spLocks noChangeArrowheads="1"/>
          </p:cNvSpPr>
          <p:nvPr/>
        </p:nvSpPr>
        <p:spPr bwMode="auto">
          <a:xfrm>
            <a:off x="4714876" y="2349501"/>
            <a:ext cx="576263" cy="519113"/>
          </a:xfrm>
          <a:prstGeom prst="rect">
            <a:avLst/>
          </a:prstGeom>
          <a:noFill/>
          <a:ln w="9525">
            <a:noFill/>
            <a:miter lim="800000"/>
            <a:headEnd/>
            <a:tailEnd/>
          </a:ln>
          <a:effectLst/>
        </p:spPr>
        <p:txBody>
          <a:bodyPr>
            <a:spAutoFit/>
          </a:bodyPr>
          <a:lstStyle/>
          <a:p>
            <a:pPr eaLnBrk="1" hangingPunct="1"/>
            <a:r>
              <a:rPr kumimoji="1" lang="en-US" altLang="zh-CN" sz="2800" b="1">
                <a:solidFill>
                  <a:srgbClr val="CC0066"/>
                </a:solidFill>
                <a:ea typeface="宋体" charset="-122"/>
              </a:rPr>
              <a:t>a</a:t>
            </a:r>
          </a:p>
        </p:txBody>
      </p:sp>
      <p:sp>
        <p:nvSpPr>
          <p:cNvPr id="812058" name="Text Box 26"/>
          <p:cNvSpPr txBox="1">
            <a:spLocks noChangeArrowheads="1"/>
          </p:cNvSpPr>
          <p:nvPr/>
        </p:nvSpPr>
        <p:spPr bwMode="auto">
          <a:xfrm>
            <a:off x="5229226" y="2371726"/>
            <a:ext cx="576263" cy="519113"/>
          </a:xfrm>
          <a:prstGeom prst="rect">
            <a:avLst/>
          </a:prstGeom>
          <a:noFill/>
          <a:ln w="9525">
            <a:noFill/>
            <a:miter lim="800000"/>
            <a:headEnd/>
            <a:tailEnd/>
          </a:ln>
          <a:effectLst/>
        </p:spPr>
        <p:txBody>
          <a:bodyPr>
            <a:spAutoFit/>
          </a:bodyPr>
          <a:lstStyle/>
          <a:p>
            <a:pPr eaLnBrk="1" hangingPunct="1"/>
            <a:r>
              <a:rPr kumimoji="1" lang="en-US" altLang="zh-CN" sz="2800" b="1">
                <a:solidFill>
                  <a:srgbClr val="CC0066"/>
                </a:solidFill>
                <a:ea typeface="宋体" charset="-122"/>
              </a:rPr>
              <a:t>b</a:t>
            </a:r>
          </a:p>
        </p:txBody>
      </p:sp>
      <p:sp>
        <p:nvSpPr>
          <p:cNvPr id="812059" name="Text Box 27"/>
          <p:cNvSpPr txBox="1">
            <a:spLocks noChangeArrowheads="1"/>
          </p:cNvSpPr>
          <p:nvPr/>
        </p:nvSpPr>
        <p:spPr bwMode="auto">
          <a:xfrm>
            <a:off x="5745163" y="2365376"/>
            <a:ext cx="576262" cy="519113"/>
          </a:xfrm>
          <a:prstGeom prst="rect">
            <a:avLst/>
          </a:prstGeom>
          <a:noFill/>
          <a:ln w="9525">
            <a:noFill/>
            <a:miter lim="800000"/>
            <a:headEnd/>
            <a:tailEnd/>
          </a:ln>
          <a:effectLst/>
        </p:spPr>
        <p:txBody>
          <a:bodyPr>
            <a:spAutoFit/>
          </a:bodyPr>
          <a:lstStyle/>
          <a:p>
            <a:pPr eaLnBrk="1" hangingPunct="1"/>
            <a:r>
              <a:rPr kumimoji="1" lang="en-US" altLang="zh-CN" sz="2800" b="1">
                <a:solidFill>
                  <a:srgbClr val="CC0066"/>
                </a:solidFill>
                <a:ea typeface="宋体" charset="-122"/>
              </a:rPr>
              <a:t>c</a:t>
            </a:r>
          </a:p>
        </p:txBody>
      </p:sp>
      <p:sp>
        <p:nvSpPr>
          <p:cNvPr id="812060" name="Rectangle 28"/>
          <p:cNvSpPr>
            <a:spLocks noChangeArrowheads="1"/>
          </p:cNvSpPr>
          <p:nvPr/>
        </p:nvSpPr>
        <p:spPr bwMode="auto">
          <a:xfrm>
            <a:off x="5734051" y="2465389"/>
            <a:ext cx="358775" cy="338137"/>
          </a:xfrm>
          <a:prstGeom prst="rect">
            <a:avLst/>
          </a:prstGeom>
          <a:solidFill>
            <a:srgbClr val="FFFFFF"/>
          </a:solidFill>
          <a:ln w="9525">
            <a:noFill/>
            <a:miter lim="800000"/>
            <a:headEnd/>
            <a:tailEnd/>
          </a:ln>
          <a:effectLst/>
        </p:spPr>
        <p:txBody>
          <a:bodyPr wrap="none" anchor="ctr"/>
          <a:lstStyle/>
          <a:p>
            <a:pPr algn="ctr" eaLnBrk="1" hangingPunct="1"/>
            <a:endParaRPr kumimoji="1" lang="zh-CN" altLang="en-US" sz="2400" b="1">
              <a:solidFill>
                <a:srgbClr val="FFFFCC"/>
              </a:solidFill>
              <a:ea typeface="华文行楷" pitchFamily="2" charset="-122"/>
            </a:endParaRPr>
          </a:p>
        </p:txBody>
      </p:sp>
      <p:sp>
        <p:nvSpPr>
          <p:cNvPr id="812061" name="Text Box 29"/>
          <p:cNvSpPr txBox="1">
            <a:spLocks noChangeArrowheads="1"/>
          </p:cNvSpPr>
          <p:nvPr/>
        </p:nvSpPr>
        <p:spPr bwMode="auto">
          <a:xfrm>
            <a:off x="5745163" y="3041650"/>
            <a:ext cx="576262" cy="369332"/>
          </a:xfrm>
          <a:prstGeom prst="rect">
            <a:avLst/>
          </a:prstGeom>
          <a:noFill/>
          <a:ln w="9525">
            <a:noFill/>
            <a:miter lim="800000"/>
            <a:headEnd/>
            <a:tailEnd/>
          </a:ln>
          <a:effectLst/>
        </p:spPr>
        <p:txBody>
          <a:bodyPr>
            <a:spAutoFit/>
          </a:bodyPr>
          <a:lstStyle/>
          <a:p>
            <a:pPr eaLnBrk="1" hangingPunct="1"/>
            <a:r>
              <a:rPr kumimoji="1" lang="en-US" altLang="zh-CN" b="1">
                <a:solidFill>
                  <a:srgbClr val="CC0066"/>
                </a:solidFill>
                <a:ea typeface="宋体" charset="-122"/>
              </a:rPr>
              <a:t>c</a:t>
            </a:r>
          </a:p>
        </p:txBody>
      </p:sp>
      <p:sp>
        <p:nvSpPr>
          <p:cNvPr id="812062" name="Text Box 30"/>
          <p:cNvSpPr txBox="1">
            <a:spLocks noChangeArrowheads="1"/>
          </p:cNvSpPr>
          <p:nvPr/>
        </p:nvSpPr>
        <p:spPr bwMode="auto">
          <a:xfrm>
            <a:off x="5707063" y="2349501"/>
            <a:ext cx="576262" cy="519113"/>
          </a:xfrm>
          <a:prstGeom prst="rect">
            <a:avLst/>
          </a:prstGeom>
          <a:noFill/>
          <a:ln w="9525">
            <a:noFill/>
            <a:miter lim="800000"/>
            <a:headEnd/>
            <a:tailEnd/>
          </a:ln>
          <a:effectLst/>
        </p:spPr>
        <p:txBody>
          <a:bodyPr>
            <a:spAutoFit/>
          </a:bodyPr>
          <a:lstStyle/>
          <a:p>
            <a:pPr eaLnBrk="1" hangingPunct="1"/>
            <a:r>
              <a:rPr kumimoji="1" lang="en-US" altLang="zh-CN" sz="2800" b="1">
                <a:solidFill>
                  <a:srgbClr val="CC0066"/>
                </a:solidFill>
                <a:ea typeface="宋体" charset="-122"/>
              </a:rPr>
              <a:t>d</a:t>
            </a:r>
          </a:p>
        </p:txBody>
      </p:sp>
      <p:sp>
        <p:nvSpPr>
          <p:cNvPr id="812063" name="Rectangle 31"/>
          <p:cNvSpPr>
            <a:spLocks noChangeArrowheads="1"/>
          </p:cNvSpPr>
          <p:nvPr/>
        </p:nvSpPr>
        <p:spPr bwMode="auto">
          <a:xfrm>
            <a:off x="5762626" y="2459039"/>
            <a:ext cx="358775" cy="338137"/>
          </a:xfrm>
          <a:prstGeom prst="rect">
            <a:avLst/>
          </a:prstGeom>
          <a:solidFill>
            <a:srgbClr val="FFFFFF"/>
          </a:solidFill>
          <a:ln w="9525">
            <a:noFill/>
            <a:miter lim="800000"/>
            <a:headEnd/>
            <a:tailEnd/>
          </a:ln>
          <a:effectLst/>
        </p:spPr>
        <p:txBody>
          <a:bodyPr wrap="none" anchor="ctr"/>
          <a:lstStyle/>
          <a:p>
            <a:pPr algn="ctr" eaLnBrk="1" hangingPunct="1"/>
            <a:endParaRPr kumimoji="1" lang="zh-CN" altLang="en-US" sz="2400" b="1">
              <a:solidFill>
                <a:srgbClr val="FFFFCC"/>
              </a:solidFill>
              <a:ea typeface="华文行楷" pitchFamily="2" charset="-122"/>
            </a:endParaRPr>
          </a:p>
        </p:txBody>
      </p:sp>
      <p:sp>
        <p:nvSpPr>
          <p:cNvPr id="812064" name="Text Box 32"/>
          <p:cNvSpPr txBox="1">
            <a:spLocks noChangeArrowheads="1"/>
          </p:cNvSpPr>
          <p:nvPr/>
        </p:nvSpPr>
        <p:spPr bwMode="auto">
          <a:xfrm>
            <a:off x="5961064" y="3030538"/>
            <a:ext cx="935037" cy="369332"/>
          </a:xfrm>
          <a:prstGeom prst="rect">
            <a:avLst/>
          </a:prstGeom>
          <a:noFill/>
          <a:ln w="9525">
            <a:noFill/>
            <a:miter lim="800000"/>
            <a:headEnd/>
            <a:tailEnd/>
          </a:ln>
          <a:effectLst/>
        </p:spPr>
        <p:txBody>
          <a:bodyPr>
            <a:spAutoFit/>
          </a:bodyPr>
          <a:lstStyle/>
          <a:p>
            <a:pPr eaLnBrk="1" hangingPunct="1"/>
            <a:r>
              <a:rPr kumimoji="1" lang="en-US" altLang="zh-CN" b="1">
                <a:solidFill>
                  <a:srgbClr val="CC0066"/>
                </a:solidFill>
                <a:ea typeface="宋体" charset="-122"/>
              </a:rPr>
              <a:t>, d</a:t>
            </a:r>
          </a:p>
        </p:txBody>
      </p:sp>
      <p:sp>
        <p:nvSpPr>
          <p:cNvPr id="812065" name="Rectangle 33"/>
          <p:cNvSpPr>
            <a:spLocks noChangeArrowheads="1"/>
          </p:cNvSpPr>
          <p:nvPr/>
        </p:nvSpPr>
        <p:spPr bwMode="auto">
          <a:xfrm>
            <a:off x="5268914" y="2465389"/>
            <a:ext cx="358775" cy="338137"/>
          </a:xfrm>
          <a:prstGeom prst="rect">
            <a:avLst/>
          </a:prstGeom>
          <a:solidFill>
            <a:srgbClr val="FFFFFF"/>
          </a:solidFill>
          <a:ln w="9525">
            <a:noFill/>
            <a:miter lim="800000"/>
            <a:headEnd/>
            <a:tailEnd/>
          </a:ln>
          <a:effectLst/>
        </p:spPr>
        <p:txBody>
          <a:bodyPr wrap="none" anchor="ctr"/>
          <a:lstStyle/>
          <a:p>
            <a:pPr algn="ctr" eaLnBrk="1" hangingPunct="1"/>
            <a:endParaRPr kumimoji="1" lang="zh-CN" altLang="en-US" sz="2400" b="1">
              <a:solidFill>
                <a:srgbClr val="FFFFCC"/>
              </a:solidFill>
              <a:ea typeface="华文行楷" pitchFamily="2" charset="-122"/>
            </a:endParaRPr>
          </a:p>
        </p:txBody>
      </p:sp>
      <p:sp>
        <p:nvSpPr>
          <p:cNvPr id="812066" name="Text Box 34"/>
          <p:cNvSpPr txBox="1">
            <a:spLocks noChangeArrowheads="1"/>
          </p:cNvSpPr>
          <p:nvPr/>
        </p:nvSpPr>
        <p:spPr bwMode="auto">
          <a:xfrm>
            <a:off x="6430963" y="3048000"/>
            <a:ext cx="1225550" cy="369332"/>
          </a:xfrm>
          <a:prstGeom prst="rect">
            <a:avLst/>
          </a:prstGeom>
          <a:noFill/>
          <a:ln w="9525">
            <a:noFill/>
            <a:miter lim="800000"/>
            <a:headEnd/>
            <a:tailEnd/>
          </a:ln>
          <a:effectLst/>
        </p:spPr>
        <p:txBody>
          <a:bodyPr>
            <a:spAutoFit/>
          </a:bodyPr>
          <a:lstStyle/>
          <a:p>
            <a:pPr eaLnBrk="1" hangingPunct="1"/>
            <a:r>
              <a:rPr kumimoji="1" lang="en-US" altLang="zh-CN" b="1">
                <a:solidFill>
                  <a:srgbClr val="CC0066"/>
                </a:solidFill>
                <a:ea typeface="宋体" charset="-122"/>
              </a:rPr>
              <a:t>, b</a:t>
            </a:r>
          </a:p>
        </p:txBody>
      </p:sp>
      <p:sp>
        <p:nvSpPr>
          <p:cNvPr id="812067" name="Text Box 35"/>
          <p:cNvSpPr txBox="1">
            <a:spLocks noChangeArrowheads="1"/>
          </p:cNvSpPr>
          <p:nvPr/>
        </p:nvSpPr>
        <p:spPr bwMode="auto">
          <a:xfrm>
            <a:off x="5268913" y="2349501"/>
            <a:ext cx="576262" cy="519113"/>
          </a:xfrm>
          <a:prstGeom prst="rect">
            <a:avLst/>
          </a:prstGeom>
          <a:noFill/>
          <a:ln w="9525">
            <a:noFill/>
            <a:miter lim="800000"/>
            <a:headEnd/>
            <a:tailEnd/>
          </a:ln>
          <a:effectLst/>
        </p:spPr>
        <p:txBody>
          <a:bodyPr>
            <a:spAutoFit/>
          </a:bodyPr>
          <a:lstStyle/>
          <a:p>
            <a:pPr eaLnBrk="1" hangingPunct="1"/>
            <a:r>
              <a:rPr kumimoji="1" lang="en-US" altLang="zh-CN" sz="2800" b="1">
                <a:solidFill>
                  <a:srgbClr val="CC0066"/>
                </a:solidFill>
                <a:ea typeface="宋体" charset="-122"/>
              </a:rPr>
              <a:t>e</a:t>
            </a:r>
          </a:p>
        </p:txBody>
      </p:sp>
      <p:sp>
        <p:nvSpPr>
          <p:cNvPr id="812071" name="Text Box 39"/>
          <p:cNvSpPr txBox="1">
            <a:spLocks noChangeArrowheads="1"/>
          </p:cNvSpPr>
          <p:nvPr/>
        </p:nvSpPr>
        <p:spPr bwMode="auto">
          <a:xfrm>
            <a:off x="4721226" y="5422901"/>
            <a:ext cx="576263" cy="473075"/>
          </a:xfrm>
          <a:prstGeom prst="rect">
            <a:avLst/>
          </a:prstGeom>
          <a:noFill/>
          <a:ln w="9525">
            <a:noFill/>
            <a:miter lim="800000"/>
            <a:headEnd/>
            <a:tailEnd/>
          </a:ln>
          <a:effectLst/>
        </p:spPr>
        <p:txBody>
          <a:bodyPr>
            <a:spAutoFit/>
          </a:bodyPr>
          <a:lstStyle/>
          <a:p>
            <a:pPr eaLnBrk="1" hangingPunct="1"/>
            <a:r>
              <a:rPr kumimoji="1" lang="en-US" altLang="zh-CN" sz="2500" b="1">
                <a:solidFill>
                  <a:srgbClr val="CC0066"/>
                </a:solidFill>
                <a:ea typeface="宋体" charset="-122"/>
              </a:rPr>
              <a:t>1</a:t>
            </a:r>
          </a:p>
        </p:txBody>
      </p:sp>
      <p:sp>
        <p:nvSpPr>
          <p:cNvPr id="812072" name="Text Box 40"/>
          <p:cNvSpPr txBox="1">
            <a:spLocks noChangeArrowheads="1"/>
          </p:cNvSpPr>
          <p:nvPr/>
        </p:nvSpPr>
        <p:spPr bwMode="auto">
          <a:xfrm>
            <a:off x="5241926" y="5407026"/>
            <a:ext cx="576263" cy="473075"/>
          </a:xfrm>
          <a:prstGeom prst="rect">
            <a:avLst/>
          </a:prstGeom>
          <a:noFill/>
          <a:ln w="9525">
            <a:noFill/>
            <a:miter lim="800000"/>
            <a:headEnd/>
            <a:tailEnd/>
          </a:ln>
          <a:effectLst/>
        </p:spPr>
        <p:txBody>
          <a:bodyPr>
            <a:spAutoFit/>
          </a:bodyPr>
          <a:lstStyle/>
          <a:p>
            <a:pPr eaLnBrk="1" hangingPunct="1"/>
            <a:r>
              <a:rPr kumimoji="1" lang="en-US" altLang="zh-CN" sz="2500" b="1">
                <a:solidFill>
                  <a:srgbClr val="CC0066"/>
                </a:solidFill>
                <a:ea typeface="宋体" charset="-122"/>
              </a:rPr>
              <a:t>2</a:t>
            </a:r>
          </a:p>
        </p:txBody>
      </p:sp>
      <p:sp>
        <p:nvSpPr>
          <p:cNvPr id="812073" name="Rectangle 41"/>
          <p:cNvSpPr>
            <a:spLocks noChangeArrowheads="1"/>
          </p:cNvSpPr>
          <p:nvPr/>
        </p:nvSpPr>
        <p:spPr bwMode="auto">
          <a:xfrm>
            <a:off x="5275264" y="5489575"/>
            <a:ext cx="358775" cy="338138"/>
          </a:xfrm>
          <a:prstGeom prst="rect">
            <a:avLst/>
          </a:prstGeom>
          <a:solidFill>
            <a:srgbClr val="FFFFFF"/>
          </a:solidFill>
          <a:ln w="9525">
            <a:noFill/>
            <a:miter lim="800000"/>
            <a:headEnd/>
            <a:tailEnd/>
          </a:ln>
          <a:effectLst/>
        </p:spPr>
        <p:txBody>
          <a:bodyPr wrap="none" anchor="ctr"/>
          <a:lstStyle/>
          <a:p>
            <a:pPr algn="ctr" eaLnBrk="1" hangingPunct="1"/>
            <a:endParaRPr kumimoji="1" lang="zh-CN" altLang="en-US" sz="2400" b="1">
              <a:solidFill>
                <a:srgbClr val="FFFFCC"/>
              </a:solidFill>
              <a:ea typeface="华文行楷" pitchFamily="2" charset="-122"/>
            </a:endParaRPr>
          </a:p>
        </p:txBody>
      </p:sp>
      <p:sp>
        <p:nvSpPr>
          <p:cNvPr id="812074" name="Text Box 42"/>
          <p:cNvSpPr txBox="1">
            <a:spLocks noChangeArrowheads="1"/>
          </p:cNvSpPr>
          <p:nvPr/>
        </p:nvSpPr>
        <p:spPr bwMode="auto">
          <a:xfrm>
            <a:off x="5380038" y="6019800"/>
            <a:ext cx="576262" cy="503238"/>
          </a:xfrm>
          <a:prstGeom prst="rect">
            <a:avLst/>
          </a:prstGeom>
          <a:noFill/>
          <a:ln w="9525">
            <a:noFill/>
            <a:miter lim="800000"/>
            <a:headEnd/>
            <a:tailEnd/>
          </a:ln>
          <a:effectLst/>
        </p:spPr>
        <p:txBody>
          <a:bodyPr>
            <a:spAutoFit/>
          </a:bodyPr>
          <a:lstStyle/>
          <a:p>
            <a:pPr eaLnBrk="1" hangingPunct="1"/>
            <a:r>
              <a:rPr kumimoji="1" lang="en-US" altLang="zh-CN" sz="2700" b="1">
                <a:solidFill>
                  <a:srgbClr val="CC0066"/>
                </a:solidFill>
                <a:ea typeface="宋体" charset="-122"/>
              </a:rPr>
              <a:t>2</a:t>
            </a:r>
          </a:p>
        </p:txBody>
      </p:sp>
      <p:sp>
        <p:nvSpPr>
          <p:cNvPr id="812075" name="Text Box 43"/>
          <p:cNvSpPr txBox="1">
            <a:spLocks noChangeArrowheads="1"/>
          </p:cNvSpPr>
          <p:nvPr/>
        </p:nvSpPr>
        <p:spPr bwMode="auto">
          <a:xfrm>
            <a:off x="5257801" y="5422901"/>
            <a:ext cx="576263" cy="473075"/>
          </a:xfrm>
          <a:prstGeom prst="rect">
            <a:avLst/>
          </a:prstGeom>
          <a:noFill/>
          <a:ln w="9525">
            <a:noFill/>
            <a:miter lim="800000"/>
            <a:headEnd/>
            <a:tailEnd/>
          </a:ln>
          <a:effectLst/>
        </p:spPr>
        <p:txBody>
          <a:bodyPr>
            <a:spAutoFit/>
          </a:bodyPr>
          <a:lstStyle/>
          <a:p>
            <a:pPr eaLnBrk="1" hangingPunct="1"/>
            <a:r>
              <a:rPr kumimoji="1" lang="en-US" altLang="zh-CN" sz="2500" b="1">
                <a:solidFill>
                  <a:srgbClr val="CC0066"/>
                </a:solidFill>
                <a:ea typeface="宋体" charset="-122"/>
              </a:rPr>
              <a:t>5</a:t>
            </a:r>
          </a:p>
        </p:txBody>
      </p:sp>
      <p:sp>
        <p:nvSpPr>
          <p:cNvPr id="812076" name="Text Box 44"/>
          <p:cNvSpPr txBox="1">
            <a:spLocks noChangeArrowheads="1"/>
          </p:cNvSpPr>
          <p:nvPr/>
        </p:nvSpPr>
        <p:spPr bwMode="auto">
          <a:xfrm>
            <a:off x="5767388" y="5429251"/>
            <a:ext cx="576262" cy="473075"/>
          </a:xfrm>
          <a:prstGeom prst="rect">
            <a:avLst/>
          </a:prstGeom>
          <a:noFill/>
          <a:ln w="9525">
            <a:noFill/>
            <a:miter lim="800000"/>
            <a:headEnd/>
            <a:tailEnd/>
          </a:ln>
          <a:effectLst/>
        </p:spPr>
        <p:txBody>
          <a:bodyPr>
            <a:spAutoFit/>
          </a:bodyPr>
          <a:lstStyle/>
          <a:p>
            <a:pPr eaLnBrk="1" hangingPunct="1"/>
            <a:r>
              <a:rPr kumimoji="1" lang="en-US" altLang="zh-CN" sz="2500" b="1">
                <a:solidFill>
                  <a:srgbClr val="CC0066"/>
                </a:solidFill>
                <a:ea typeface="宋体" charset="-122"/>
              </a:rPr>
              <a:t>7</a:t>
            </a:r>
          </a:p>
        </p:txBody>
      </p:sp>
      <p:sp>
        <p:nvSpPr>
          <p:cNvPr id="812077" name="Text Box 45"/>
          <p:cNvSpPr txBox="1">
            <a:spLocks noChangeArrowheads="1"/>
          </p:cNvSpPr>
          <p:nvPr/>
        </p:nvSpPr>
        <p:spPr bwMode="auto">
          <a:xfrm>
            <a:off x="5602289" y="6021389"/>
            <a:ext cx="1296987" cy="503237"/>
          </a:xfrm>
          <a:prstGeom prst="rect">
            <a:avLst/>
          </a:prstGeom>
          <a:noFill/>
          <a:ln w="9525">
            <a:noFill/>
            <a:miter lim="800000"/>
            <a:headEnd/>
            <a:tailEnd/>
          </a:ln>
          <a:effectLst/>
        </p:spPr>
        <p:txBody>
          <a:bodyPr>
            <a:spAutoFit/>
          </a:bodyPr>
          <a:lstStyle/>
          <a:p>
            <a:pPr eaLnBrk="1" hangingPunct="1"/>
            <a:r>
              <a:rPr kumimoji="1" lang="en-US" altLang="zh-CN" sz="2700" b="1">
                <a:solidFill>
                  <a:srgbClr val="CC0066"/>
                </a:solidFill>
                <a:ea typeface="宋体" charset="-122"/>
              </a:rPr>
              <a:t>, 7</a:t>
            </a:r>
          </a:p>
        </p:txBody>
      </p:sp>
      <p:sp>
        <p:nvSpPr>
          <p:cNvPr id="812078" name="Rectangle 46"/>
          <p:cNvSpPr>
            <a:spLocks noChangeArrowheads="1"/>
          </p:cNvSpPr>
          <p:nvPr/>
        </p:nvSpPr>
        <p:spPr bwMode="auto">
          <a:xfrm>
            <a:off x="5780089" y="5489575"/>
            <a:ext cx="358775" cy="338138"/>
          </a:xfrm>
          <a:prstGeom prst="rect">
            <a:avLst/>
          </a:prstGeom>
          <a:solidFill>
            <a:srgbClr val="FFFFFF"/>
          </a:solidFill>
          <a:ln w="9525">
            <a:noFill/>
            <a:miter lim="800000"/>
            <a:headEnd/>
            <a:tailEnd/>
          </a:ln>
          <a:effectLst/>
        </p:spPr>
        <p:txBody>
          <a:bodyPr wrap="none" anchor="ctr"/>
          <a:lstStyle/>
          <a:p>
            <a:pPr algn="ctr" eaLnBrk="1" hangingPunct="1"/>
            <a:endParaRPr kumimoji="1" lang="zh-CN" altLang="en-US" sz="2400" b="1">
              <a:solidFill>
                <a:srgbClr val="FFFFCC"/>
              </a:solidFill>
              <a:ea typeface="华文行楷" pitchFamily="2" charset="-122"/>
            </a:endParaRPr>
          </a:p>
        </p:txBody>
      </p:sp>
      <p:sp>
        <p:nvSpPr>
          <p:cNvPr id="812079" name="Text Box 47"/>
          <p:cNvSpPr txBox="1">
            <a:spLocks noChangeArrowheads="1"/>
          </p:cNvSpPr>
          <p:nvPr/>
        </p:nvSpPr>
        <p:spPr bwMode="auto">
          <a:xfrm>
            <a:off x="5778501" y="5440364"/>
            <a:ext cx="576263" cy="473075"/>
          </a:xfrm>
          <a:prstGeom prst="rect">
            <a:avLst/>
          </a:prstGeom>
          <a:noFill/>
          <a:ln w="9525">
            <a:noFill/>
            <a:miter lim="800000"/>
            <a:headEnd/>
            <a:tailEnd/>
          </a:ln>
          <a:effectLst/>
        </p:spPr>
        <p:txBody>
          <a:bodyPr>
            <a:spAutoFit/>
          </a:bodyPr>
          <a:lstStyle/>
          <a:p>
            <a:pPr eaLnBrk="1" hangingPunct="1"/>
            <a:r>
              <a:rPr kumimoji="1" lang="en-US" altLang="zh-CN" sz="2500" b="1">
                <a:solidFill>
                  <a:srgbClr val="CC0066"/>
                </a:solidFill>
                <a:ea typeface="宋体" charset="-122"/>
              </a:rPr>
              <a:t>6</a:t>
            </a:r>
          </a:p>
        </p:txBody>
      </p:sp>
      <p:grpSp>
        <p:nvGrpSpPr>
          <p:cNvPr id="54" name="组合 53"/>
          <p:cNvGrpSpPr/>
          <p:nvPr/>
        </p:nvGrpSpPr>
        <p:grpSpPr>
          <a:xfrm>
            <a:off x="1774825" y="333376"/>
            <a:ext cx="8642350" cy="1776413"/>
            <a:chOff x="250825" y="333375"/>
            <a:chExt cx="8642350" cy="1776413"/>
          </a:xfrm>
        </p:grpSpPr>
        <p:grpSp>
          <p:nvGrpSpPr>
            <p:cNvPr id="2" name="Group 2"/>
            <p:cNvGrpSpPr>
              <a:grpSpLocks/>
            </p:cNvGrpSpPr>
            <p:nvPr/>
          </p:nvGrpSpPr>
          <p:grpSpPr bwMode="auto">
            <a:xfrm>
              <a:off x="1636713" y="454025"/>
              <a:ext cx="7256462" cy="1655763"/>
              <a:chOff x="703" y="286"/>
              <a:chExt cx="4571" cy="1043"/>
            </a:xfrm>
          </p:grpSpPr>
          <p:sp>
            <p:nvSpPr>
              <p:cNvPr id="55348" name="Rectangle 3"/>
              <p:cNvSpPr>
                <a:spLocks noChangeArrowheads="1"/>
              </p:cNvSpPr>
              <p:nvPr/>
            </p:nvSpPr>
            <p:spPr bwMode="auto">
              <a:xfrm>
                <a:off x="703" y="286"/>
                <a:ext cx="4264" cy="1043"/>
              </a:xfrm>
              <a:prstGeom prst="rect">
                <a:avLst/>
              </a:prstGeom>
              <a:gradFill rotWithShape="1">
                <a:gsLst>
                  <a:gs pos="0">
                    <a:srgbClr val="008080"/>
                  </a:gs>
                  <a:gs pos="50000">
                    <a:srgbClr val="003B3B"/>
                  </a:gs>
                  <a:gs pos="100000">
                    <a:srgbClr val="008080"/>
                  </a:gs>
                </a:gsLst>
                <a:lin ang="5400000" scaled="1"/>
              </a:gradFill>
              <a:ln w="9525">
                <a:noFill/>
                <a:miter lim="800000"/>
                <a:headEnd/>
                <a:tailEnd/>
              </a:ln>
              <a:effectLst>
                <a:outerShdw dist="99190" dir="3011666" algn="ctr" rotWithShape="0">
                  <a:srgbClr val="B2B2B2">
                    <a:alpha val="50000"/>
                  </a:srgbClr>
                </a:outerShdw>
              </a:effectLst>
            </p:spPr>
            <p:txBody>
              <a:bodyPr wrap="none" anchor="ctr"/>
              <a:lstStyle/>
              <a:p>
                <a:pPr algn="ctr" eaLnBrk="1" hangingPunct="1"/>
                <a:endParaRPr kumimoji="1" lang="zh-CN" altLang="en-US" sz="2400" b="1">
                  <a:solidFill>
                    <a:srgbClr val="FFFFCC"/>
                  </a:solidFill>
                  <a:ea typeface="华文行楷" pitchFamily="2" charset="-122"/>
                </a:endParaRPr>
              </a:p>
            </p:txBody>
          </p:sp>
          <p:sp>
            <p:nvSpPr>
              <p:cNvPr id="55349" name="Rectangle 4"/>
              <p:cNvSpPr>
                <a:spLocks noChangeArrowheads="1"/>
              </p:cNvSpPr>
              <p:nvPr/>
            </p:nvSpPr>
            <p:spPr bwMode="auto">
              <a:xfrm>
                <a:off x="828" y="384"/>
                <a:ext cx="4446" cy="826"/>
              </a:xfrm>
              <a:prstGeom prst="rect">
                <a:avLst/>
              </a:prstGeom>
              <a:noFill/>
              <a:ln w="9525">
                <a:noFill/>
                <a:miter lim="800000"/>
                <a:headEnd/>
                <a:tailEnd/>
              </a:ln>
              <a:effectLst>
                <a:outerShdw dist="12700" algn="ctr" rotWithShape="0">
                  <a:srgbClr val="000000"/>
                </a:outerShdw>
              </a:effectLst>
            </p:spPr>
            <p:txBody>
              <a:bodyPr anchor="ctr">
                <a:spAutoFit/>
              </a:bodyPr>
              <a:lstStyle/>
              <a:p>
                <a:pPr eaLnBrk="1" hangingPunct="1"/>
                <a:r>
                  <a:rPr kumimoji="1" lang="en-US" altLang="zh-CN" sz="2000" b="1">
                    <a:solidFill>
                      <a:srgbClr val="FFFFFF"/>
                    </a:solidFill>
                    <a:ea typeface="幼圆" pitchFamily="49" charset="-122"/>
                  </a:rPr>
                  <a:t>         </a:t>
                </a:r>
                <a:r>
                  <a:rPr kumimoji="1" lang="zh-CN" altLang="en-US" sz="2000" b="1">
                    <a:solidFill>
                      <a:srgbClr val="FFFFFF"/>
                    </a:solidFill>
                    <a:ea typeface="幼圆" pitchFamily="49" charset="-122"/>
                  </a:rPr>
                  <a:t>若以符号</a:t>
                </a:r>
                <a:r>
                  <a:rPr kumimoji="1" lang="en-US" altLang="zh-CN" sz="2000" b="1">
                    <a:solidFill>
                      <a:srgbClr val="FFFFFF"/>
                    </a:solidFill>
                    <a:ea typeface="幼圆" pitchFamily="49" charset="-122"/>
                  </a:rPr>
                  <a:t>PUSH</a:t>
                </a:r>
                <a:r>
                  <a:rPr kumimoji="1" lang="zh-CN" altLang="en-US" sz="2000" b="1">
                    <a:solidFill>
                      <a:srgbClr val="FFFFFF"/>
                    </a:solidFill>
                    <a:ea typeface="幼圆" pitchFamily="49" charset="-122"/>
                  </a:rPr>
                  <a:t>和</a:t>
                </a:r>
                <a:r>
                  <a:rPr kumimoji="1" lang="en-US" altLang="zh-CN" sz="2000" b="1">
                    <a:solidFill>
                      <a:srgbClr val="FFFFFF"/>
                    </a:solidFill>
                    <a:ea typeface="幼圆" pitchFamily="49" charset="-122"/>
                  </a:rPr>
                  <a:t>POP</a:t>
                </a:r>
                <a:r>
                  <a:rPr kumimoji="1" lang="zh-CN" altLang="en-US" sz="2000" b="1">
                    <a:solidFill>
                      <a:srgbClr val="FFFFFF"/>
                    </a:solidFill>
                    <a:ea typeface="幼圆" pitchFamily="49" charset="-122"/>
                  </a:rPr>
                  <a:t>分别表示对堆栈进行</a:t>
                </a:r>
                <a:r>
                  <a:rPr kumimoji="1" lang="en-US" altLang="zh-CN" sz="2000" b="1">
                    <a:solidFill>
                      <a:srgbClr val="FFFFFF"/>
                    </a:solidFill>
                    <a:ea typeface="幼圆" pitchFamily="49" charset="-122"/>
                  </a:rPr>
                  <a:t>1</a:t>
                </a:r>
                <a:r>
                  <a:rPr kumimoji="1" lang="zh-CN" altLang="en-US" sz="2000" b="1">
                    <a:solidFill>
                      <a:srgbClr val="FFFFFF"/>
                    </a:solidFill>
                    <a:ea typeface="幼圆" pitchFamily="49" charset="-122"/>
                  </a:rPr>
                  <a:t>次进</a:t>
                </a:r>
              </a:p>
              <a:p>
                <a:pPr eaLnBrk="1" hangingPunct="1"/>
                <a:r>
                  <a:rPr kumimoji="1" lang="zh-CN" altLang="en-US" sz="2000" b="1">
                    <a:solidFill>
                      <a:srgbClr val="FFFFFF"/>
                    </a:solidFill>
                    <a:ea typeface="幼圆" pitchFamily="49" charset="-122"/>
                  </a:rPr>
                  <a:t>栈操作与</a:t>
                </a:r>
                <a:r>
                  <a:rPr kumimoji="1" lang="en-US" altLang="zh-CN" sz="2000" b="1">
                    <a:solidFill>
                      <a:srgbClr val="FFFFFF"/>
                    </a:solidFill>
                    <a:ea typeface="幼圆" pitchFamily="49" charset="-122"/>
                  </a:rPr>
                  <a:t>1</a:t>
                </a:r>
                <a:r>
                  <a:rPr kumimoji="1" lang="zh-CN" altLang="en-US" sz="2000" b="1">
                    <a:solidFill>
                      <a:srgbClr val="FFFFFF"/>
                    </a:solidFill>
                    <a:ea typeface="幼圆" pitchFamily="49" charset="-122"/>
                  </a:rPr>
                  <a:t>次出栈操作，则对进栈序列 </a:t>
                </a:r>
                <a:r>
                  <a:rPr kumimoji="1" lang="en-US" altLang="zh-CN" sz="2000" b="1">
                    <a:solidFill>
                      <a:srgbClr val="FFFFFF"/>
                    </a:solidFill>
                    <a:ea typeface="幼圆" pitchFamily="49" charset="-122"/>
                  </a:rPr>
                  <a:t>a, b, c, d, e</a:t>
                </a:r>
                <a:r>
                  <a:rPr kumimoji="1" lang="zh-CN" altLang="en-US" sz="2000" b="1">
                    <a:solidFill>
                      <a:srgbClr val="FFFFFF"/>
                    </a:solidFill>
                    <a:ea typeface="幼圆" pitchFamily="49" charset="-122"/>
                  </a:rPr>
                  <a:t>，经</a:t>
                </a:r>
              </a:p>
              <a:p>
                <a:pPr eaLnBrk="1" hangingPunct="1"/>
                <a:r>
                  <a:rPr kumimoji="1" lang="zh-CN" altLang="en-US" sz="2000" b="1">
                    <a:solidFill>
                      <a:srgbClr val="FFFFFF"/>
                    </a:solidFill>
                    <a:ea typeface="幼圆" pitchFamily="49" charset="-122"/>
                  </a:rPr>
                  <a:t>过</a:t>
                </a:r>
                <a:r>
                  <a:rPr kumimoji="1" lang="en-US" altLang="zh-CN" sz="2000" b="1">
                    <a:solidFill>
                      <a:srgbClr val="FFFFFF"/>
                    </a:solidFill>
                    <a:ea typeface="幼圆" pitchFamily="49" charset="-122"/>
                  </a:rPr>
                  <a:t>PUSH, PUSH, PUSH, POP, PUSH, POP, POP, PUSH</a:t>
                </a:r>
              </a:p>
              <a:p>
                <a:pPr eaLnBrk="1" hangingPunct="1"/>
                <a:r>
                  <a:rPr kumimoji="1" lang="zh-CN" altLang="en-US" sz="2000" b="1">
                    <a:solidFill>
                      <a:srgbClr val="FFFFFF"/>
                    </a:solidFill>
                    <a:ea typeface="幼圆" pitchFamily="49" charset="-122"/>
                  </a:rPr>
                  <a:t>以后</a:t>
                </a:r>
                <a:r>
                  <a:rPr kumimoji="1" lang="en-US" altLang="zh-CN" sz="2000" b="1">
                    <a:solidFill>
                      <a:srgbClr val="FFFFFF"/>
                    </a:solidFill>
                    <a:ea typeface="幼圆" pitchFamily="49" charset="-122"/>
                  </a:rPr>
                  <a:t>,</a:t>
                </a:r>
                <a:r>
                  <a:rPr kumimoji="1" lang="zh-CN" altLang="en-US" sz="2000" b="1">
                    <a:solidFill>
                      <a:srgbClr val="FFFFFF"/>
                    </a:solidFill>
                    <a:ea typeface="幼圆" pitchFamily="49" charset="-122"/>
                  </a:rPr>
                  <a:t> 栈中状态如何？得到的出栈序列是什么？ </a:t>
                </a:r>
              </a:p>
            </p:txBody>
          </p:sp>
        </p:grpSp>
        <p:grpSp>
          <p:nvGrpSpPr>
            <p:cNvPr id="6" name="Group 48"/>
            <p:cNvGrpSpPr>
              <a:grpSpLocks/>
            </p:cNvGrpSpPr>
            <p:nvPr/>
          </p:nvGrpSpPr>
          <p:grpSpPr bwMode="auto">
            <a:xfrm>
              <a:off x="250825" y="333375"/>
              <a:ext cx="2105025" cy="935038"/>
              <a:chOff x="204" y="255"/>
              <a:chExt cx="1326" cy="589"/>
            </a:xfrm>
          </p:grpSpPr>
          <p:sp>
            <p:nvSpPr>
              <p:cNvPr id="55326" name="AutoShape 49"/>
              <p:cNvSpPr>
                <a:spLocks noChangeArrowheads="1"/>
              </p:cNvSpPr>
              <p:nvPr/>
            </p:nvSpPr>
            <p:spPr bwMode="auto">
              <a:xfrm rot="-345710">
                <a:off x="204" y="255"/>
                <a:ext cx="952" cy="589"/>
              </a:xfrm>
              <a:prstGeom prst="irregularSeal2">
                <a:avLst/>
              </a:prstGeom>
              <a:solidFill>
                <a:srgbClr val="FF0000"/>
              </a:solidFill>
              <a:ln w="44450">
                <a:solidFill>
                  <a:srgbClr val="FFFF00"/>
                </a:solidFill>
                <a:miter lim="800000"/>
                <a:headEnd type="none" w="sm" len="sm"/>
                <a:tailEnd type="none" w="sm" len="sm"/>
              </a:ln>
              <a:effectLst>
                <a:outerShdw dist="139700" algn="ctr" rotWithShape="0">
                  <a:srgbClr val="AEAEAE"/>
                </a:outerShdw>
              </a:effectLst>
            </p:spPr>
            <p:txBody>
              <a:bodyPr wrap="none" anchor="ctr"/>
              <a:lstStyle/>
              <a:p>
                <a:pPr algn="ctr" eaLnBrk="1" hangingPunct="1"/>
                <a:endParaRPr kumimoji="1" lang="zh-CN" altLang="en-US" sz="2400" b="1">
                  <a:solidFill>
                    <a:srgbClr val="FFFFCC"/>
                  </a:solidFill>
                  <a:ea typeface="华文行楷" pitchFamily="2" charset="-122"/>
                </a:endParaRPr>
              </a:p>
            </p:txBody>
          </p:sp>
          <p:sp>
            <p:nvSpPr>
              <p:cNvPr id="55327" name="Text Box 50"/>
              <p:cNvSpPr txBox="1">
                <a:spLocks noChangeArrowheads="1"/>
              </p:cNvSpPr>
              <p:nvPr/>
            </p:nvSpPr>
            <p:spPr bwMode="auto">
              <a:xfrm rot="-1060623">
                <a:off x="279" y="323"/>
                <a:ext cx="1251" cy="327"/>
              </a:xfrm>
              <a:prstGeom prst="rect">
                <a:avLst/>
              </a:prstGeom>
              <a:noFill/>
              <a:ln w="12700" cap="sq">
                <a:noFill/>
                <a:miter lim="800000"/>
                <a:headEnd type="none" w="sm" len="sm"/>
                <a:tailEnd type="none" w="sm" len="sm"/>
              </a:ln>
              <a:effectLst>
                <a:outerShdw dist="12700" algn="ctr" rotWithShape="0">
                  <a:schemeClr val="bg1"/>
                </a:outerShdw>
              </a:effectLst>
            </p:spPr>
            <p:txBody>
              <a:bodyPr>
                <a:spAutoFit/>
              </a:bodyPr>
              <a:lstStyle/>
              <a:p>
                <a:r>
                  <a:rPr lang="zh-CN" altLang="en-US" sz="2800" b="1" i="1">
                    <a:solidFill>
                      <a:srgbClr val="FFFFFF"/>
                    </a:solidFill>
                    <a:ea typeface="黑体" pitchFamily="2" charset="-122"/>
                  </a:rPr>
                  <a:t>练习</a:t>
                </a:r>
                <a:r>
                  <a:rPr lang="en-US" altLang="zh-CN" sz="2800" b="1" i="1">
                    <a:solidFill>
                      <a:srgbClr val="FFFFFF"/>
                    </a:solidFill>
                    <a:ea typeface="黑体" pitchFamily="2" charset="-122"/>
                  </a:rPr>
                  <a:t>1</a:t>
                </a:r>
              </a:p>
            </p:txBody>
          </p:sp>
        </p:grpSp>
      </p:grpSp>
      <p:grpSp>
        <p:nvGrpSpPr>
          <p:cNvPr id="55" name="组合 54"/>
          <p:cNvGrpSpPr/>
          <p:nvPr/>
        </p:nvGrpSpPr>
        <p:grpSpPr>
          <a:xfrm>
            <a:off x="1847850" y="3646489"/>
            <a:ext cx="8135938" cy="1411287"/>
            <a:chOff x="323850" y="3646488"/>
            <a:chExt cx="8135938" cy="1411287"/>
          </a:xfrm>
        </p:grpSpPr>
        <p:grpSp>
          <p:nvGrpSpPr>
            <p:cNvPr id="5" name="Group 36"/>
            <p:cNvGrpSpPr>
              <a:grpSpLocks/>
            </p:cNvGrpSpPr>
            <p:nvPr/>
          </p:nvGrpSpPr>
          <p:grpSpPr bwMode="auto">
            <a:xfrm>
              <a:off x="1690688" y="3762375"/>
              <a:ext cx="6769100" cy="1295400"/>
              <a:chOff x="1156" y="2659"/>
              <a:chExt cx="4264" cy="816"/>
            </a:xfrm>
          </p:grpSpPr>
          <p:sp>
            <p:nvSpPr>
              <p:cNvPr id="55328" name="Rectangle 37"/>
              <p:cNvSpPr>
                <a:spLocks noChangeArrowheads="1"/>
              </p:cNvSpPr>
              <p:nvPr/>
            </p:nvSpPr>
            <p:spPr bwMode="auto">
              <a:xfrm>
                <a:off x="1156" y="2659"/>
                <a:ext cx="4264" cy="816"/>
              </a:xfrm>
              <a:prstGeom prst="rect">
                <a:avLst/>
              </a:prstGeom>
              <a:gradFill rotWithShape="1">
                <a:gsLst>
                  <a:gs pos="0">
                    <a:srgbClr val="002BB4"/>
                  </a:gs>
                  <a:gs pos="50000">
                    <a:srgbClr val="001453"/>
                  </a:gs>
                  <a:gs pos="100000">
                    <a:srgbClr val="002BB4"/>
                  </a:gs>
                </a:gsLst>
                <a:lin ang="5400000" scaled="1"/>
              </a:gradFill>
              <a:ln w="9525">
                <a:noFill/>
                <a:miter lim="800000"/>
                <a:headEnd/>
                <a:tailEnd/>
              </a:ln>
              <a:effectLst>
                <a:outerShdw dist="107763" dir="2700000" algn="ctr" rotWithShape="0">
                  <a:srgbClr val="B2B2B2">
                    <a:alpha val="50000"/>
                  </a:srgbClr>
                </a:outerShdw>
              </a:effectLst>
            </p:spPr>
            <p:txBody>
              <a:bodyPr wrap="none" anchor="ctr"/>
              <a:lstStyle/>
              <a:p>
                <a:pPr algn="ctr" eaLnBrk="1" hangingPunct="1"/>
                <a:endParaRPr kumimoji="1" lang="zh-CN" altLang="en-US" sz="2400" b="1">
                  <a:solidFill>
                    <a:srgbClr val="FFFFCC"/>
                  </a:solidFill>
                  <a:ea typeface="华文行楷" pitchFamily="2" charset="-122"/>
                </a:endParaRPr>
              </a:p>
            </p:txBody>
          </p:sp>
          <p:sp>
            <p:nvSpPr>
              <p:cNvPr id="55329" name="Rectangle 38"/>
              <p:cNvSpPr>
                <a:spLocks noChangeArrowheads="1"/>
              </p:cNvSpPr>
              <p:nvPr/>
            </p:nvSpPr>
            <p:spPr bwMode="auto">
              <a:xfrm>
                <a:off x="1313" y="2748"/>
                <a:ext cx="3732" cy="640"/>
              </a:xfrm>
              <a:prstGeom prst="rect">
                <a:avLst/>
              </a:prstGeom>
              <a:noFill/>
              <a:ln w="9525">
                <a:noFill/>
                <a:miter lim="800000"/>
                <a:headEnd/>
                <a:tailEnd/>
              </a:ln>
              <a:effectLst/>
            </p:spPr>
            <p:txBody>
              <a:bodyPr wrap="none" anchor="ctr">
                <a:spAutoFit/>
              </a:bodyPr>
              <a:lstStyle/>
              <a:p>
                <a:pPr eaLnBrk="1" hangingPunct="1"/>
                <a:r>
                  <a:rPr kumimoji="1" lang="en-US" altLang="zh-CN" sz="2000" b="1">
                    <a:solidFill>
                      <a:srgbClr val="FFFFFF"/>
                    </a:solidFill>
                    <a:ea typeface="幼圆" pitchFamily="49" charset="-122"/>
                  </a:rPr>
                  <a:t>        </a:t>
                </a:r>
                <a:r>
                  <a:rPr kumimoji="1" lang="zh-CN" altLang="en-US" sz="2000" b="1">
                    <a:solidFill>
                      <a:srgbClr val="FFFFFF"/>
                    </a:solidFill>
                    <a:ea typeface="幼圆" pitchFamily="49" charset="-122"/>
                  </a:rPr>
                  <a:t>若符号</a:t>
                </a:r>
                <a:r>
                  <a:rPr kumimoji="1" lang="en-US" altLang="zh-CN" sz="2000" b="1">
                    <a:solidFill>
                      <a:srgbClr val="FFFFFF"/>
                    </a:solidFill>
                    <a:ea typeface="幼圆" pitchFamily="49" charset="-122"/>
                  </a:rPr>
                  <a:t>PUSH(k)</a:t>
                </a:r>
                <a:r>
                  <a:rPr kumimoji="1" lang="zh-CN" altLang="en-US" sz="2000" b="1">
                    <a:solidFill>
                      <a:srgbClr val="FFFFFF"/>
                    </a:solidFill>
                    <a:ea typeface="幼圆" pitchFamily="49" charset="-122"/>
                  </a:rPr>
                  <a:t>表示整数</a:t>
                </a:r>
                <a:r>
                  <a:rPr kumimoji="1" lang="en-US" altLang="zh-CN" sz="2000" b="1">
                    <a:solidFill>
                      <a:srgbClr val="FFFFFF"/>
                    </a:solidFill>
                    <a:ea typeface="幼圆" pitchFamily="49" charset="-122"/>
                  </a:rPr>
                  <a:t>k</a:t>
                </a:r>
                <a:r>
                  <a:rPr kumimoji="1" lang="zh-CN" altLang="en-US" sz="2000" b="1">
                    <a:solidFill>
                      <a:srgbClr val="FFFFFF"/>
                    </a:solidFill>
                    <a:ea typeface="幼圆" pitchFamily="49" charset="-122"/>
                  </a:rPr>
                  <a:t>进栈，</a:t>
                </a:r>
                <a:r>
                  <a:rPr kumimoji="1" lang="en-US" altLang="zh-CN" sz="2000" b="1">
                    <a:solidFill>
                      <a:srgbClr val="FFFFFF"/>
                    </a:solidFill>
                    <a:ea typeface="幼圆" pitchFamily="49" charset="-122"/>
                  </a:rPr>
                  <a:t>POP</a:t>
                </a:r>
                <a:r>
                  <a:rPr kumimoji="1" lang="zh-CN" altLang="en-US" sz="2000" b="1">
                    <a:solidFill>
                      <a:srgbClr val="FFFFFF"/>
                    </a:solidFill>
                    <a:ea typeface="幼圆" pitchFamily="49" charset="-122"/>
                  </a:rPr>
                  <a:t>表示栈顶元</a:t>
                </a:r>
              </a:p>
              <a:p>
                <a:pPr eaLnBrk="1" hangingPunct="1"/>
                <a:r>
                  <a:rPr kumimoji="1" lang="zh-CN" altLang="en-US" sz="2000" b="1">
                    <a:solidFill>
                      <a:srgbClr val="FFFFFF"/>
                    </a:solidFill>
                    <a:ea typeface="幼圆" pitchFamily="49" charset="-122"/>
                  </a:rPr>
                  <a:t>素出栈</a:t>
                </a:r>
                <a:r>
                  <a:rPr kumimoji="1" lang="en-US" altLang="zh-CN" sz="2000" b="1">
                    <a:solidFill>
                      <a:srgbClr val="FFFFFF"/>
                    </a:solidFill>
                    <a:ea typeface="幼圆" pitchFamily="49" charset="-122"/>
                  </a:rPr>
                  <a:t>, </a:t>
                </a:r>
                <a:r>
                  <a:rPr kumimoji="1" lang="zh-CN" altLang="en-US" sz="2000" b="1">
                    <a:solidFill>
                      <a:srgbClr val="FFFFFF"/>
                    </a:solidFill>
                    <a:ea typeface="幼圆" pitchFamily="49" charset="-122"/>
                  </a:rPr>
                  <a:t>那么</a:t>
                </a:r>
                <a:r>
                  <a:rPr kumimoji="1" lang="en-US" altLang="zh-CN" sz="2000" b="1">
                    <a:solidFill>
                      <a:srgbClr val="FFFFFF"/>
                    </a:solidFill>
                    <a:ea typeface="幼圆" pitchFamily="49" charset="-122"/>
                  </a:rPr>
                  <a:t>, </a:t>
                </a:r>
                <a:r>
                  <a:rPr kumimoji="1" lang="zh-CN" altLang="en-US" sz="2000" b="1">
                    <a:solidFill>
                      <a:srgbClr val="FFFFFF"/>
                    </a:solidFill>
                    <a:ea typeface="幼圆" pitchFamily="49" charset="-122"/>
                  </a:rPr>
                  <a:t>请画出依次执行</a:t>
                </a:r>
                <a:r>
                  <a:rPr kumimoji="1" lang="en-US" altLang="zh-CN" sz="2000" b="1">
                    <a:solidFill>
                      <a:srgbClr val="FFFFFF"/>
                    </a:solidFill>
                    <a:ea typeface="幼圆" pitchFamily="49" charset="-122"/>
                  </a:rPr>
                  <a:t>PUSH(1), PUSH(2), POP,</a:t>
                </a:r>
              </a:p>
              <a:p>
                <a:pPr eaLnBrk="1" hangingPunct="1"/>
                <a:r>
                  <a:rPr kumimoji="1" lang="en-US" altLang="zh-CN" sz="2000" b="1">
                    <a:solidFill>
                      <a:srgbClr val="FFFFFF"/>
                    </a:solidFill>
                    <a:ea typeface="幼圆" pitchFamily="49" charset="-122"/>
                  </a:rPr>
                  <a:t> PUSH(5), PUSH(7), POP, PUSH(6)</a:t>
                </a:r>
                <a:r>
                  <a:rPr kumimoji="1" lang="zh-CN" altLang="en-US" sz="2000" b="1">
                    <a:solidFill>
                      <a:srgbClr val="FFFFFF"/>
                    </a:solidFill>
                    <a:ea typeface="幼圆" pitchFamily="49" charset="-122"/>
                  </a:rPr>
                  <a:t>以后堆栈的状态。 </a:t>
                </a:r>
              </a:p>
            </p:txBody>
          </p:sp>
        </p:grpSp>
        <p:grpSp>
          <p:nvGrpSpPr>
            <p:cNvPr id="7" name="Group 51"/>
            <p:cNvGrpSpPr>
              <a:grpSpLocks/>
            </p:cNvGrpSpPr>
            <p:nvPr/>
          </p:nvGrpSpPr>
          <p:grpSpPr bwMode="auto">
            <a:xfrm>
              <a:off x="323850" y="3646488"/>
              <a:ext cx="2071688" cy="935037"/>
              <a:chOff x="204" y="255"/>
              <a:chExt cx="1305" cy="589"/>
            </a:xfrm>
          </p:grpSpPr>
          <p:sp>
            <p:nvSpPr>
              <p:cNvPr id="55324" name="AutoShape 52"/>
              <p:cNvSpPr>
                <a:spLocks noChangeArrowheads="1"/>
              </p:cNvSpPr>
              <p:nvPr/>
            </p:nvSpPr>
            <p:spPr bwMode="auto">
              <a:xfrm rot="-345710">
                <a:off x="204" y="255"/>
                <a:ext cx="952" cy="589"/>
              </a:xfrm>
              <a:prstGeom prst="irregularSeal2">
                <a:avLst/>
              </a:prstGeom>
              <a:solidFill>
                <a:srgbClr val="008000"/>
              </a:solidFill>
              <a:ln w="44450">
                <a:solidFill>
                  <a:srgbClr val="FFFF00"/>
                </a:solidFill>
                <a:miter lim="800000"/>
                <a:headEnd type="none" w="sm" len="sm"/>
                <a:tailEnd type="none" w="sm" len="sm"/>
              </a:ln>
              <a:effectLst>
                <a:outerShdw dist="139700" algn="ctr" rotWithShape="0">
                  <a:srgbClr val="AEAEAE"/>
                </a:outerShdw>
              </a:effectLst>
            </p:spPr>
            <p:txBody>
              <a:bodyPr wrap="none" anchor="ctr"/>
              <a:lstStyle/>
              <a:p>
                <a:pPr algn="ctr" eaLnBrk="1" hangingPunct="1"/>
                <a:endParaRPr kumimoji="1" lang="zh-CN" altLang="en-US" sz="2400" b="1">
                  <a:solidFill>
                    <a:srgbClr val="FFFFCC"/>
                  </a:solidFill>
                  <a:ea typeface="华文行楷" pitchFamily="2" charset="-122"/>
                </a:endParaRPr>
              </a:p>
            </p:txBody>
          </p:sp>
          <p:sp>
            <p:nvSpPr>
              <p:cNvPr id="55325" name="Text Box 53"/>
              <p:cNvSpPr txBox="1">
                <a:spLocks noChangeArrowheads="1"/>
              </p:cNvSpPr>
              <p:nvPr/>
            </p:nvSpPr>
            <p:spPr bwMode="auto">
              <a:xfrm rot="-1060623">
                <a:off x="258" y="323"/>
                <a:ext cx="1251" cy="327"/>
              </a:xfrm>
              <a:prstGeom prst="rect">
                <a:avLst/>
              </a:prstGeom>
              <a:noFill/>
              <a:ln w="12700" cap="sq">
                <a:noFill/>
                <a:miter lim="800000"/>
                <a:headEnd type="none" w="sm" len="sm"/>
                <a:tailEnd type="none" w="sm" len="sm"/>
              </a:ln>
              <a:effectLst>
                <a:outerShdw dist="25400" algn="ctr" rotWithShape="0">
                  <a:schemeClr val="bg1"/>
                </a:outerShdw>
              </a:effectLst>
            </p:spPr>
            <p:txBody>
              <a:bodyPr>
                <a:spAutoFit/>
              </a:bodyPr>
              <a:lstStyle/>
              <a:p>
                <a:r>
                  <a:rPr lang="zh-CN" altLang="en-US" sz="2800" b="1" i="1">
                    <a:solidFill>
                      <a:srgbClr val="FFFFFF"/>
                    </a:solidFill>
                    <a:ea typeface="黑体" pitchFamily="2" charset="-122"/>
                  </a:rPr>
                  <a:t>练习</a:t>
                </a:r>
                <a:r>
                  <a:rPr lang="en-US" altLang="zh-CN" sz="2800" b="1" i="1">
                    <a:solidFill>
                      <a:srgbClr val="FFFFFF"/>
                    </a:solidFill>
                    <a:ea typeface="黑体" pitchFamily="2" charset="-122"/>
                  </a:rPr>
                  <a:t>2</a:t>
                </a:r>
              </a:p>
            </p:txBody>
          </p:sp>
        </p:grpSp>
      </p:grpSp>
    </p:spTree>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blinds(horizontal)">
                                      <p:cBhvr>
                                        <p:cTn id="7" dur="5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2" fill="hold" grpId="0" nodeType="clickEffect">
                                  <p:stCondLst>
                                    <p:cond delay="0"/>
                                  </p:stCondLst>
                                  <p:childTnLst>
                                    <p:set>
                                      <p:cBhvr>
                                        <p:cTn id="11" dur="1" fill="hold">
                                          <p:stCondLst>
                                            <p:cond delay="0"/>
                                          </p:stCondLst>
                                        </p:cTn>
                                        <p:tgtEl>
                                          <p:spTgt spid="812057"/>
                                        </p:tgtEl>
                                        <p:attrNameLst>
                                          <p:attrName>style.visibility</p:attrName>
                                        </p:attrNameLst>
                                      </p:cBhvr>
                                      <p:to>
                                        <p:strVal val="visible"/>
                                      </p:to>
                                    </p:set>
                                    <p:animEffect transition="in" filter="slide(fromRight)">
                                      <p:cBhvr>
                                        <p:cTn id="12" dur="500"/>
                                        <p:tgtEl>
                                          <p:spTgt spid="812057"/>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2" fill="hold" grpId="0" nodeType="clickEffect">
                                  <p:stCondLst>
                                    <p:cond delay="0"/>
                                  </p:stCondLst>
                                  <p:childTnLst>
                                    <p:set>
                                      <p:cBhvr>
                                        <p:cTn id="16" dur="1" fill="hold">
                                          <p:stCondLst>
                                            <p:cond delay="0"/>
                                          </p:stCondLst>
                                        </p:cTn>
                                        <p:tgtEl>
                                          <p:spTgt spid="812058"/>
                                        </p:tgtEl>
                                        <p:attrNameLst>
                                          <p:attrName>style.visibility</p:attrName>
                                        </p:attrNameLst>
                                      </p:cBhvr>
                                      <p:to>
                                        <p:strVal val="visible"/>
                                      </p:to>
                                    </p:set>
                                    <p:animEffect transition="in" filter="slide(fromRight)">
                                      <p:cBhvr>
                                        <p:cTn id="17" dur="500"/>
                                        <p:tgtEl>
                                          <p:spTgt spid="812058"/>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2" fill="hold" grpId="0" nodeType="clickEffect">
                                  <p:stCondLst>
                                    <p:cond delay="0"/>
                                  </p:stCondLst>
                                  <p:childTnLst>
                                    <p:set>
                                      <p:cBhvr>
                                        <p:cTn id="21" dur="1" fill="hold">
                                          <p:stCondLst>
                                            <p:cond delay="0"/>
                                          </p:stCondLst>
                                        </p:cTn>
                                        <p:tgtEl>
                                          <p:spTgt spid="812059"/>
                                        </p:tgtEl>
                                        <p:attrNameLst>
                                          <p:attrName>style.visibility</p:attrName>
                                        </p:attrNameLst>
                                      </p:cBhvr>
                                      <p:to>
                                        <p:strVal val="visible"/>
                                      </p:to>
                                    </p:set>
                                    <p:animEffect transition="in" filter="slide(fromRight)">
                                      <p:cBhvr>
                                        <p:cTn id="22" dur="500"/>
                                        <p:tgtEl>
                                          <p:spTgt spid="81205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812060"/>
                                        </p:tgtEl>
                                        <p:attrNameLst>
                                          <p:attrName>style.visibility</p:attrName>
                                        </p:attrNameLst>
                                      </p:cBhvr>
                                      <p:to>
                                        <p:strVal val="visible"/>
                                      </p:to>
                                    </p:set>
                                    <p:animEffect transition="in" filter="dissolve">
                                      <p:cBhvr>
                                        <p:cTn id="27" dur="500"/>
                                        <p:tgtEl>
                                          <p:spTgt spid="812060"/>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grpId="0" nodeType="clickEffect">
                                  <p:stCondLst>
                                    <p:cond delay="0"/>
                                  </p:stCondLst>
                                  <p:childTnLst>
                                    <p:set>
                                      <p:cBhvr>
                                        <p:cTn id="31" dur="1" fill="hold">
                                          <p:stCondLst>
                                            <p:cond delay="0"/>
                                          </p:stCondLst>
                                        </p:cTn>
                                        <p:tgtEl>
                                          <p:spTgt spid="812061"/>
                                        </p:tgtEl>
                                        <p:attrNameLst>
                                          <p:attrName>style.visibility</p:attrName>
                                        </p:attrNameLst>
                                      </p:cBhvr>
                                      <p:to>
                                        <p:strVal val="visible"/>
                                      </p:to>
                                    </p:set>
                                    <p:anim calcmode="lin" valueType="num">
                                      <p:cBhvr additive="base">
                                        <p:cTn id="32" dur="500" fill="hold"/>
                                        <p:tgtEl>
                                          <p:spTgt spid="812061"/>
                                        </p:tgtEl>
                                        <p:attrNameLst>
                                          <p:attrName>ppt_x</p:attrName>
                                        </p:attrNameLst>
                                      </p:cBhvr>
                                      <p:tavLst>
                                        <p:tav tm="0">
                                          <p:val>
                                            <p:strVal val="1+#ppt_w/2"/>
                                          </p:val>
                                        </p:tav>
                                        <p:tav tm="100000">
                                          <p:val>
                                            <p:strVal val="#ppt_x"/>
                                          </p:val>
                                        </p:tav>
                                      </p:tavLst>
                                    </p:anim>
                                    <p:anim calcmode="lin" valueType="num">
                                      <p:cBhvr additive="base">
                                        <p:cTn id="33" dur="500" fill="hold"/>
                                        <p:tgtEl>
                                          <p:spTgt spid="812061"/>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2" presetClass="entr" presetSubtype="2" fill="hold" grpId="0" nodeType="clickEffect">
                                  <p:stCondLst>
                                    <p:cond delay="0"/>
                                  </p:stCondLst>
                                  <p:childTnLst>
                                    <p:set>
                                      <p:cBhvr>
                                        <p:cTn id="37" dur="1" fill="hold">
                                          <p:stCondLst>
                                            <p:cond delay="0"/>
                                          </p:stCondLst>
                                        </p:cTn>
                                        <p:tgtEl>
                                          <p:spTgt spid="812062"/>
                                        </p:tgtEl>
                                        <p:attrNameLst>
                                          <p:attrName>style.visibility</p:attrName>
                                        </p:attrNameLst>
                                      </p:cBhvr>
                                      <p:to>
                                        <p:strVal val="visible"/>
                                      </p:to>
                                    </p:set>
                                    <p:animEffect transition="in" filter="slide(fromRight)">
                                      <p:cBhvr>
                                        <p:cTn id="38" dur="500"/>
                                        <p:tgtEl>
                                          <p:spTgt spid="812062"/>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812063"/>
                                        </p:tgtEl>
                                        <p:attrNameLst>
                                          <p:attrName>style.visibility</p:attrName>
                                        </p:attrNameLst>
                                      </p:cBhvr>
                                      <p:to>
                                        <p:strVal val="visible"/>
                                      </p:to>
                                    </p:set>
                                    <p:animEffect transition="in" filter="dissolve">
                                      <p:cBhvr>
                                        <p:cTn id="43" dur="500"/>
                                        <p:tgtEl>
                                          <p:spTgt spid="812063"/>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grpId="0" nodeType="clickEffect">
                                  <p:stCondLst>
                                    <p:cond delay="0"/>
                                  </p:stCondLst>
                                  <p:childTnLst>
                                    <p:set>
                                      <p:cBhvr>
                                        <p:cTn id="47" dur="1" fill="hold">
                                          <p:stCondLst>
                                            <p:cond delay="0"/>
                                          </p:stCondLst>
                                        </p:cTn>
                                        <p:tgtEl>
                                          <p:spTgt spid="812064"/>
                                        </p:tgtEl>
                                        <p:attrNameLst>
                                          <p:attrName>style.visibility</p:attrName>
                                        </p:attrNameLst>
                                      </p:cBhvr>
                                      <p:to>
                                        <p:strVal val="visible"/>
                                      </p:to>
                                    </p:set>
                                    <p:anim calcmode="lin" valueType="num">
                                      <p:cBhvr additive="base">
                                        <p:cTn id="48" dur="500" fill="hold"/>
                                        <p:tgtEl>
                                          <p:spTgt spid="812064"/>
                                        </p:tgtEl>
                                        <p:attrNameLst>
                                          <p:attrName>ppt_x</p:attrName>
                                        </p:attrNameLst>
                                      </p:cBhvr>
                                      <p:tavLst>
                                        <p:tav tm="0">
                                          <p:val>
                                            <p:strVal val="1+#ppt_w/2"/>
                                          </p:val>
                                        </p:tav>
                                        <p:tav tm="100000">
                                          <p:val>
                                            <p:strVal val="#ppt_x"/>
                                          </p:val>
                                        </p:tav>
                                      </p:tavLst>
                                    </p:anim>
                                    <p:anim calcmode="lin" valueType="num">
                                      <p:cBhvr additive="base">
                                        <p:cTn id="49" dur="500" fill="hold"/>
                                        <p:tgtEl>
                                          <p:spTgt spid="812064"/>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812065"/>
                                        </p:tgtEl>
                                        <p:attrNameLst>
                                          <p:attrName>style.visibility</p:attrName>
                                        </p:attrNameLst>
                                      </p:cBhvr>
                                      <p:to>
                                        <p:strVal val="visible"/>
                                      </p:to>
                                    </p:set>
                                    <p:animEffect transition="in" filter="dissolve">
                                      <p:cBhvr>
                                        <p:cTn id="54" dur="500"/>
                                        <p:tgtEl>
                                          <p:spTgt spid="812065"/>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2" fill="hold" grpId="0" nodeType="clickEffect">
                                  <p:stCondLst>
                                    <p:cond delay="0"/>
                                  </p:stCondLst>
                                  <p:childTnLst>
                                    <p:set>
                                      <p:cBhvr>
                                        <p:cTn id="58" dur="1" fill="hold">
                                          <p:stCondLst>
                                            <p:cond delay="0"/>
                                          </p:stCondLst>
                                        </p:cTn>
                                        <p:tgtEl>
                                          <p:spTgt spid="812066"/>
                                        </p:tgtEl>
                                        <p:attrNameLst>
                                          <p:attrName>style.visibility</p:attrName>
                                        </p:attrNameLst>
                                      </p:cBhvr>
                                      <p:to>
                                        <p:strVal val="visible"/>
                                      </p:to>
                                    </p:set>
                                    <p:anim calcmode="lin" valueType="num">
                                      <p:cBhvr additive="base">
                                        <p:cTn id="59" dur="500" fill="hold"/>
                                        <p:tgtEl>
                                          <p:spTgt spid="812066"/>
                                        </p:tgtEl>
                                        <p:attrNameLst>
                                          <p:attrName>ppt_x</p:attrName>
                                        </p:attrNameLst>
                                      </p:cBhvr>
                                      <p:tavLst>
                                        <p:tav tm="0">
                                          <p:val>
                                            <p:strVal val="1+#ppt_w/2"/>
                                          </p:val>
                                        </p:tav>
                                        <p:tav tm="100000">
                                          <p:val>
                                            <p:strVal val="#ppt_x"/>
                                          </p:val>
                                        </p:tav>
                                      </p:tavLst>
                                    </p:anim>
                                    <p:anim calcmode="lin" valueType="num">
                                      <p:cBhvr additive="base">
                                        <p:cTn id="60" dur="500" fill="hold"/>
                                        <p:tgtEl>
                                          <p:spTgt spid="812066"/>
                                        </p:tgtEl>
                                        <p:attrNameLst>
                                          <p:attrName>ppt_y</p:attrName>
                                        </p:attrNameLst>
                                      </p:cBhvr>
                                      <p:tavLst>
                                        <p:tav tm="0">
                                          <p:val>
                                            <p:strVal val="#ppt_y"/>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12" presetClass="entr" presetSubtype="2" fill="hold" grpId="0" nodeType="clickEffect">
                                  <p:stCondLst>
                                    <p:cond delay="0"/>
                                  </p:stCondLst>
                                  <p:childTnLst>
                                    <p:set>
                                      <p:cBhvr>
                                        <p:cTn id="64" dur="1" fill="hold">
                                          <p:stCondLst>
                                            <p:cond delay="0"/>
                                          </p:stCondLst>
                                        </p:cTn>
                                        <p:tgtEl>
                                          <p:spTgt spid="812067"/>
                                        </p:tgtEl>
                                        <p:attrNameLst>
                                          <p:attrName>style.visibility</p:attrName>
                                        </p:attrNameLst>
                                      </p:cBhvr>
                                      <p:to>
                                        <p:strVal val="visible"/>
                                      </p:to>
                                    </p:set>
                                    <p:animEffect transition="in" filter="slide(fromRight)">
                                      <p:cBhvr>
                                        <p:cTn id="65" dur="500"/>
                                        <p:tgtEl>
                                          <p:spTgt spid="812067"/>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nodeType="clickEffect">
                                  <p:stCondLst>
                                    <p:cond delay="0"/>
                                  </p:stCondLst>
                                  <p:childTnLst>
                                    <p:set>
                                      <p:cBhvr>
                                        <p:cTn id="69" dur="1" fill="hold">
                                          <p:stCondLst>
                                            <p:cond delay="0"/>
                                          </p:stCondLst>
                                        </p:cTn>
                                        <p:tgtEl>
                                          <p:spTgt spid="55"/>
                                        </p:tgtEl>
                                        <p:attrNameLst>
                                          <p:attrName>style.visibility</p:attrName>
                                        </p:attrNameLst>
                                      </p:cBhvr>
                                      <p:to>
                                        <p:strVal val="visible"/>
                                      </p:to>
                                    </p:set>
                                    <p:animEffect transition="in" filter="blinds(horizontal)">
                                      <p:cBhvr>
                                        <p:cTn id="70" dur="500"/>
                                        <p:tgtEl>
                                          <p:spTgt spid="55"/>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nodeType="clickEffect">
                                  <p:stCondLst>
                                    <p:cond delay="0"/>
                                  </p:stCondLst>
                                  <p:childTnLst>
                                    <p:set>
                                      <p:cBhvr>
                                        <p:cTn id="74" dur="1" fill="hold">
                                          <p:stCondLst>
                                            <p:cond delay="0"/>
                                          </p:stCondLst>
                                        </p:cTn>
                                        <p:tgtEl>
                                          <p:spTgt spid="4"/>
                                        </p:tgtEl>
                                        <p:attrNameLst>
                                          <p:attrName>style.visibility</p:attrName>
                                        </p:attrNameLst>
                                      </p:cBhvr>
                                      <p:to>
                                        <p:strVal val="visible"/>
                                      </p:to>
                                    </p:set>
                                    <p:animEffect transition="in" filter="dissolve">
                                      <p:cBhvr>
                                        <p:cTn id="75" dur="500"/>
                                        <p:tgtEl>
                                          <p:spTgt spid="4"/>
                                        </p:tgtEl>
                                      </p:cBhvr>
                                    </p:animEffect>
                                  </p:childTnLst>
                                </p:cTn>
                              </p:par>
                            </p:childTnLst>
                          </p:cTn>
                        </p:par>
                      </p:childTnLst>
                    </p:cTn>
                  </p:par>
                  <p:par>
                    <p:cTn id="76" fill="hold">
                      <p:stCondLst>
                        <p:cond delay="indefinite"/>
                      </p:stCondLst>
                      <p:childTnLst>
                        <p:par>
                          <p:cTn id="77" fill="hold">
                            <p:stCondLst>
                              <p:cond delay="0"/>
                            </p:stCondLst>
                            <p:childTnLst>
                              <p:par>
                                <p:cTn id="78" presetID="12" presetClass="entr" presetSubtype="2" fill="hold" grpId="0" nodeType="clickEffect">
                                  <p:stCondLst>
                                    <p:cond delay="0"/>
                                  </p:stCondLst>
                                  <p:childTnLst>
                                    <p:set>
                                      <p:cBhvr>
                                        <p:cTn id="79" dur="1" fill="hold">
                                          <p:stCondLst>
                                            <p:cond delay="0"/>
                                          </p:stCondLst>
                                        </p:cTn>
                                        <p:tgtEl>
                                          <p:spTgt spid="812071"/>
                                        </p:tgtEl>
                                        <p:attrNameLst>
                                          <p:attrName>style.visibility</p:attrName>
                                        </p:attrNameLst>
                                      </p:cBhvr>
                                      <p:to>
                                        <p:strVal val="visible"/>
                                      </p:to>
                                    </p:set>
                                    <p:animEffect transition="in" filter="slide(fromRight)">
                                      <p:cBhvr>
                                        <p:cTn id="80" dur="500"/>
                                        <p:tgtEl>
                                          <p:spTgt spid="812071"/>
                                        </p:tgtEl>
                                      </p:cBhvr>
                                    </p:animEffect>
                                  </p:childTnLst>
                                </p:cTn>
                              </p:par>
                            </p:childTnLst>
                          </p:cTn>
                        </p:par>
                      </p:childTnLst>
                    </p:cTn>
                  </p:par>
                  <p:par>
                    <p:cTn id="81" fill="hold">
                      <p:stCondLst>
                        <p:cond delay="indefinite"/>
                      </p:stCondLst>
                      <p:childTnLst>
                        <p:par>
                          <p:cTn id="82" fill="hold">
                            <p:stCondLst>
                              <p:cond delay="0"/>
                            </p:stCondLst>
                            <p:childTnLst>
                              <p:par>
                                <p:cTn id="83" presetID="12" presetClass="entr" presetSubtype="2" fill="hold" grpId="0" nodeType="clickEffect">
                                  <p:stCondLst>
                                    <p:cond delay="0"/>
                                  </p:stCondLst>
                                  <p:childTnLst>
                                    <p:set>
                                      <p:cBhvr>
                                        <p:cTn id="84" dur="1" fill="hold">
                                          <p:stCondLst>
                                            <p:cond delay="0"/>
                                          </p:stCondLst>
                                        </p:cTn>
                                        <p:tgtEl>
                                          <p:spTgt spid="812072"/>
                                        </p:tgtEl>
                                        <p:attrNameLst>
                                          <p:attrName>style.visibility</p:attrName>
                                        </p:attrNameLst>
                                      </p:cBhvr>
                                      <p:to>
                                        <p:strVal val="visible"/>
                                      </p:to>
                                    </p:set>
                                    <p:animEffect transition="in" filter="slide(fromRight)">
                                      <p:cBhvr>
                                        <p:cTn id="85" dur="500"/>
                                        <p:tgtEl>
                                          <p:spTgt spid="812072"/>
                                        </p:tgtEl>
                                      </p:cBhvr>
                                    </p:animEffect>
                                  </p:childTnLst>
                                </p:cTn>
                              </p:par>
                            </p:childTnLst>
                          </p:cTn>
                        </p:par>
                      </p:childTnLst>
                    </p:cTn>
                  </p:par>
                  <p:par>
                    <p:cTn id="86" fill="hold">
                      <p:stCondLst>
                        <p:cond delay="indefinite"/>
                      </p:stCondLst>
                      <p:childTnLst>
                        <p:par>
                          <p:cTn id="87" fill="hold">
                            <p:stCondLst>
                              <p:cond delay="0"/>
                            </p:stCondLst>
                            <p:childTnLst>
                              <p:par>
                                <p:cTn id="88" presetID="9" presetClass="entr" presetSubtype="0" fill="hold" grpId="0" nodeType="clickEffect">
                                  <p:stCondLst>
                                    <p:cond delay="0"/>
                                  </p:stCondLst>
                                  <p:childTnLst>
                                    <p:set>
                                      <p:cBhvr>
                                        <p:cTn id="89" dur="1" fill="hold">
                                          <p:stCondLst>
                                            <p:cond delay="0"/>
                                          </p:stCondLst>
                                        </p:cTn>
                                        <p:tgtEl>
                                          <p:spTgt spid="812073"/>
                                        </p:tgtEl>
                                        <p:attrNameLst>
                                          <p:attrName>style.visibility</p:attrName>
                                        </p:attrNameLst>
                                      </p:cBhvr>
                                      <p:to>
                                        <p:strVal val="visible"/>
                                      </p:to>
                                    </p:set>
                                    <p:animEffect transition="in" filter="dissolve">
                                      <p:cBhvr>
                                        <p:cTn id="90" dur="500"/>
                                        <p:tgtEl>
                                          <p:spTgt spid="812073"/>
                                        </p:tgtEl>
                                      </p:cBhvr>
                                    </p:animEffect>
                                  </p:childTnLst>
                                </p:cTn>
                              </p:par>
                            </p:childTnLst>
                          </p:cTn>
                        </p:par>
                      </p:childTnLst>
                    </p:cTn>
                  </p:par>
                  <p:par>
                    <p:cTn id="91" fill="hold">
                      <p:stCondLst>
                        <p:cond delay="indefinite"/>
                      </p:stCondLst>
                      <p:childTnLst>
                        <p:par>
                          <p:cTn id="92" fill="hold">
                            <p:stCondLst>
                              <p:cond delay="0"/>
                            </p:stCondLst>
                            <p:childTnLst>
                              <p:par>
                                <p:cTn id="93" presetID="12" presetClass="entr" presetSubtype="2" fill="hold" grpId="0" nodeType="clickEffect">
                                  <p:stCondLst>
                                    <p:cond delay="0"/>
                                  </p:stCondLst>
                                  <p:childTnLst>
                                    <p:set>
                                      <p:cBhvr>
                                        <p:cTn id="94" dur="1" fill="hold">
                                          <p:stCondLst>
                                            <p:cond delay="0"/>
                                          </p:stCondLst>
                                        </p:cTn>
                                        <p:tgtEl>
                                          <p:spTgt spid="812074"/>
                                        </p:tgtEl>
                                        <p:attrNameLst>
                                          <p:attrName>style.visibility</p:attrName>
                                        </p:attrNameLst>
                                      </p:cBhvr>
                                      <p:to>
                                        <p:strVal val="visible"/>
                                      </p:to>
                                    </p:set>
                                    <p:animEffect transition="in" filter="slide(fromRight)">
                                      <p:cBhvr>
                                        <p:cTn id="95" dur="500"/>
                                        <p:tgtEl>
                                          <p:spTgt spid="812074"/>
                                        </p:tgtEl>
                                      </p:cBhvr>
                                    </p:animEffect>
                                  </p:childTnLst>
                                </p:cTn>
                              </p:par>
                            </p:childTnLst>
                          </p:cTn>
                        </p:par>
                      </p:childTnLst>
                    </p:cTn>
                  </p:par>
                  <p:par>
                    <p:cTn id="96" fill="hold">
                      <p:stCondLst>
                        <p:cond delay="indefinite"/>
                      </p:stCondLst>
                      <p:childTnLst>
                        <p:par>
                          <p:cTn id="97" fill="hold">
                            <p:stCondLst>
                              <p:cond delay="0"/>
                            </p:stCondLst>
                            <p:childTnLst>
                              <p:par>
                                <p:cTn id="98" presetID="12" presetClass="entr" presetSubtype="2" fill="hold" grpId="0" nodeType="clickEffect">
                                  <p:stCondLst>
                                    <p:cond delay="0"/>
                                  </p:stCondLst>
                                  <p:childTnLst>
                                    <p:set>
                                      <p:cBhvr>
                                        <p:cTn id="99" dur="1" fill="hold">
                                          <p:stCondLst>
                                            <p:cond delay="0"/>
                                          </p:stCondLst>
                                        </p:cTn>
                                        <p:tgtEl>
                                          <p:spTgt spid="812075"/>
                                        </p:tgtEl>
                                        <p:attrNameLst>
                                          <p:attrName>style.visibility</p:attrName>
                                        </p:attrNameLst>
                                      </p:cBhvr>
                                      <p:to>
                                        <p:strVal val="visible"/>
                                      </p:to>
                                    </p:set>
                                    <p:animEffect transition="in" filter="slide(fromRight)">
                                      <p:cBhvr>
                                        <p:cTn id="100" dur="500"/>
                                        <p:tgtEl>
                                          <p:spTgt spid="812075"/>
                                        </p:tgtEl>
                                      </p:cBhvr>
                                    </p:animEffect>
                                  </p:childTnLst>
                                </p:cTn>
                              </p:par>
                            </p:childTnLst>
                          </p:cTn>
                        </p:par>
                      </p:childTnLst>
                    </p:cTn>
                  </p:par>
                  <p:par>
                    <p:cTn id="101" fill="hold">
                      <p:stCondLst>
                        <p:cond delay="indefinite"/>
                      </p:stCondLst>
                      <p:childTnLst>
                        <p:par>
                          <p:cTn id="102" fill="hold">
                            <p:stCondLst>
                              <p:cond delay="0"/>
                            </p:stCondLst>
                            <p:childTnLst>
                              <p:par>
                                <p:cTn id="103" presetID="12" presetClass="entr" presetSubtype="2" fill="hold" grpId="0" nodeType="clickEffect">
                                  <p:stCondLst>
                                    <p:cond delay="0"/>
                                  </p:stCondLst>
                                  <p:childTnLst>
                                    <p:set>
                                      <p:cBhvr>
                                        <p:cTn id="104" dur="1" fill="hold">
                                          <p:stCondLst>
                                            <p:cond delay="0"/>
                                          </p:stCondLst>
                                        </p:cTn>
                                        <p:tgtEl>
                                          <p:spTgt spid="812076"/>
                                        </p:tgtEl>
                                        <p:attrNameLst>
                                          <p:attrName>style.visibility</p:attrName>
                                        </p:attrNameLst>
                                      </p:cBhvr>
                                      <p:to>
                                        <p:strVal val="visible"/>
                                      </p:to>
                                    </p:set>
                                    <p:animEffect transition="in" filter="slide(fromRight)">
                                      <p:cBhvr>
                                        <p:cTn id="105" dur="500"/>
                                        <p:tgtEl>
                                          <p:spTgt spid="812076"/>
                                        </p:tgtEl>
                                      </p:cBhvr>
                                    </p:animEffect>
                                  </p:childTnLst>
                                </p:cTn>
                              </p:par>
                            </p:childTnLst>
                          </p:cTn>
                        </p:par>
                      </p:childTnLst>
                    </p:cTn>
                  </p:par>
                  <p:par>
                    <p:cTn id="106" fill="hold">
                      <p:stCondLst>
                        <p:cond delay="indefinite"/>
                      </p:stCondLst>
                      <p:childTnLst>
                        <p:par>
                          <p:cTn id="107" fill="hold">
                            <p:stCondLst>
                              <p:cond delay="0"/>
                            </p:stCondLst>
                            <p:childTnLst>
                              <p:par>
                                <p:cTn id="108" presetID="9" presetClass="entr" presetSubtype="0" fill="hold" grpId="0" nodeType="clickEffect">
                                  <p:stCondLst>
                                    <p:cond delay="0"/>
                                  </p:stCondLst>
                                  <p:childTnLst>
                                    <p:set>
                                      <p:cBhvr>
                                        <p:cTn id="109" dur="1" fill="hold">
                                          <p:stCondLst>
                                            <p:cond delay="0"/>
                                          </p:stCondLst>
                                        </p:cTn>
                                        <p:tgtEl>
                                          <p:spTgt spid="812078"/>
                                        </p:tgtEl>
                                        <p:attrNameLst>
                                          <p:attrName>style.visibility</p:attrName>
                                        </p:attrNameLst>
                                      </p:cBhvr>
                                      <p:to>
                                        <p:strVal val="visible"/>
                                      </p:to>
                                    </p:set>
                                    <p:animEffect transition="in" filter="dissolve">
                                      <p:cBhvr>
                                        <p:cTn id="110" dur="500"/>
                                        <p:tgtEl>
                                          <p:spTgt spid="812078"/>
                                        </p:tgtEl>
                                      </p:cBhvr>
                                    </p:animEffect>
                                  </p:childTnLst>
                                </p:cTn>
                              </p:par>
                            </p:childTnLst>
                          </p:cTn>
                        </p:par>
                      </p:childTnLst>
                    </p:cTn>
                  </p:par>
                  <p:par>
                    <p:cTn id="111" fill="hold">
                      <p:stCondLst>
                        <p:cond delay="indefinite"/>
                      </p:stCondLst>
                      <p:childTnLst>
                        <p:par>
                          <p:cTn id="112" fill="hold">
                            <p:stCondLst>
                              <p:cond delay="0"/>
                            </p:stCondLst>
                            <p:childTnLst>
                              <p:par>
                                <p:cTn id="113" presetID="12" presetClass="entr" presetSubtype="2" fill="hold" grpId="0" nodeType="clickEffect">
                                  <p:stCondLst>
                                    <p:cond delay="0"/>
                                  </p:stCondLst>
                                  <p:childTnLst>
                                    <p:set>
                                      <p:cBhvr>
                                        <p:cTn id="114" dur="1" fill="hold">
                                          <p:stCondLst>
                                            <p:cond delay="0"/>
                                          </p:stCondLst>
                                        </p:cTn>
                                        <p:tgtEl>
                                          <p:spTgt spid="812077"/>
                                        </p:tgtEl>
                                        <p:attrNameLst>
                                          <p:attrName>style.visibility</p:attrName>
                                        </p:attrNameLst>
                                      </p:cBhvr>
                                      <p:to>
                                        <p:strVal val="visible"/>
                                      </p:to>
                                    </p:set>
                                    <p:animEffect transition="in" filter="slide(fromRight)">
                                      <p:cBhvr>
                                        <p:cTn id="115" dur="500"/>
                                        <p:tgtEl>
                                          <p:spTgt spid="812077"/>
                                        </p:tgtEl>
                                      </p:cBhvr>
                                    </p:animEffect>
                                  </p:childTnLst>
                                </p:cTn>
                              </p:par>
                            </p:childTnLst>
                          </p:cTn>
                        </p:par>
                      </p:childTnLst>
                    </p:cTn>
                  </p:par>
                  <p:par>
                    <p:cTn id="116" fill="hold">
                      <p:stCondLst>
                        <p:cond delay="indefinite"/>
                      </p:stCondLst>
                      <p:childTnLst>
                        <p:par>
                          <p:cTn id="117" fill="hold">
                            <p:stCondLst>
                              <p:cond delay="0"/>
                            </p:stCondLst>
                            <p:childTnLst>
                              <p:par>
                                <p:cTn id="118" presetID="12" presetClass="entr" presetSubtype="2" fill="hold" grpId="0" nodeType="clickEffect">
                                  <p:stCondLst>
                                    <p:cond delay="0"/>
                                  </p:stCondLst>
                                  <p:childTnLst>
                                    <p:set>
                                      <p:cBhvr>
                                        <p:cTn id="119" dur="1" fill="hold">
                                          <p:stCondLst>
                                            <p:cond delay="0"/>
                                          </p:stCondLst>
                                        </p:cTn>
                                        <p:tgtEl>
                                          <p:spTgt spid="812079"/>
                                        </p:tgtEl>
                                        <p:attrNameLst>
                                          <p:attrName>style.visibility</p:attrName>
                                        </p:attrNameLst>
                                      </p:cBhvr>
                                      <p:to>
                                        <p:strVal val="visible"/>
                                      </p:to>
                                    </p:set>
                                    <p:animEffect transition="in" filter="slide(fromRight)">
                                      <p:cBhvr>
                                        <p:cTn id="120" dur="500"/>
                                        <p:tgtEl>
                                          <p:spTgt spid="8120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2057" grpId="0"/>
      <p:bldP spid="812058" grpId="0"/>
      <p:bldP spid="812059" grpId="0"/>
      <p:bldP spid="812060" grpId="0" animBg="1"/>
      <p:bldP spid="812061" grpId="0"/>
      <p:bldP spid="812062" grpId="0"/>
      <p:bldP spid="812063" grpId="0" animBg="1"/>
      <p:bldP spid="812064" grpId="0"/>
      <p:bldP spid="812065" grpId="0" animBg="1"/>
      <p:bldP spid="812066" grpId="0"/>
      <p:bldP spid="812067" grpId="0"/>
      <p:bldP spid="812071" grpId="0"/>
      <p:bldP spid="812072" grpId="0"/>
      <p:bldP spid="812073" grpId="0" animBg="1"/>
      <p:bldP spid="812074" grpId="0"/>
      <p:bldP spid="812075" grpId="0"/>
      <p:bldP spid="812076" grpId="0"/>
      <p:bldP spid="812077" grpId="0"/>
      <p:bldP spid="812078" grpId="0" animBg="1"/>
      <p:bldP spid="81207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2855914" y="415926"/>
            <a:ext cx="7272337" cy="2879725"/>
            <a:chOff x="839" y="262"/>
            <a:chExt cx="4581" cy="1814"/>
          </a:xfrm>
        </p:grpSpPr>
        <p:sp>
          <p:nvSpPr>
            <p:cNvPr id="56417" name="Rectangle 3"/>
            <p:cNvSpPr>
              <a:spLocks noChangeArrowheads="1"/>
            </p:cNvSpPr>
            <p:nvPr/>
          </p:nvSpPr>
          <p:spPr bwMode="auto">
            <a:xfrm>
              <a:off x="839" y="262"/>
              <a:ext cx="4536" cy="1814"/>
            </a:xfrm>
            <a:prstGeom prst="rect">
              <a:avLst/>
            </a:prstGeom>
            <a:gradFill rotWithShape="1">
              <a:gsLst>
                <a:gs pos="0">
                  <a:srgbClr val="0000B4"/>
                </a:gs>
                <a:gs pos="50000">
                  <a:srgbClr val="000053"/>
                </a:gs>
                <a:gs pos="100000">
                  <a:srgbClr val="0000B4"/>
                </a:gs>
              </a:gsLst>
              <a:lin ang="5400000" scaled="1"/>
            </a:gradFill>
            <a:ln w="9525">
              <a:noFill/>
              <a:miter lim="800000"/>
              <a:headEnd/>
              <a:tailEnd/>
            </a:ln>
            <a:effectLst>
              <a:outerShdw dist="135003" dir="2928844" algn="ctr" rotWithShape="0">
                <a:srgbClr val="B2B2B2">
                  <a:alpha val="50000"/>
                </a:srgbClr>
              </a:outerShdw>
            </a:effectLst>
          </p:spPr>
          <p:txBody>
            <a:bodyPr wrap="none" anchor="ctr"/>
            <a:lstStyle/>
            <a:p>
              <a:pPr algn="ctr" eaLnBrk="1" hangingPunct="1"/>
              <a:endParaRPr kumimoji="1" lang="zh-CN" altLang="en-US" sz="2400" b="1">
                <a:solidFill>
                  <a:srgbClr val="FFFFCC"/>
                </a:solidFill>
                <a:ea typeface="华文行楷" pitchFamily="2" charset="-122"/>
              </a:endParaRPr>
            </a:p>
          </p:txBody>
        </p:sp>
        <p:sp>
          <p:nvSpPr>
            <p:cNvPr id="56418" name="Rectangle 4"/>
            <p:cNvSpPr>
              <a:spLocks noChangeArrowheads="1"/>
            </p:cNvSpPr>
            <p:nvPr/>
          </p:nvSpPr>
          <p:spPr bwMode="auto">
            <a:xfrm>
              <a:off x="874" y="376"/>
              <a:ext cx="4546" cy="1559"/>
            </a:xfrm>
            <a:prstGeom prst="rect">
              <a:avLst/>
            </a:prstGeom>
            <a:noFill/>
            <a:ln w="9525">
              <a:noFill/>
              <a:miter lim="800000"/>
              <a:headEnd/>
              <a:tailEnd/>
            </a:ln>
          </p:spPr>
          <p:txBody>
            <a:bodyPr anchor="ctr">
              <a:spAutoFit/>
            </a:bodyPr>
            <a:lstStyle/>
            <a:p>
              <a:pPr indent="266700"/>
              <a:r>
                <a:rPr kumimoji="1" lang="en-US" altLang="zh-CN" sz="1900" b="1">
                  <a:solidFill>
                    <a:srgbClr val="FFFFFF"/>
                  </a:solidFill>
                  <a:ea typeface="幼圆" pitchFamily="49" charset="-122"/>
                </a:rPr>
                <a:t>           </a:t>
              </a:r>
              <a:r>
                <a:rPr kumimoji="1" lang="zh-CN" altLang="en-US" sz="1900" b="1">
                  <a:solidFill>
                    <a:srgbClr val="FFFFFF"/>
                  </a:solidFill>
                  <a:ea typeface="幼圆" pitchFamily="49" charset="-122"/>
                </a:rPr>
                <a:t>若符号</a:t>
              </a:r>
              <a:r>
                <a:rPr kumimoji="1" lang="en-US" altLang="zh-CN" sz="1900" b="1">
                  <a:solidFill>
                    <a:srgbClr val="FFFFFF"/>
                  </a:solidFill>
                  <a:ea typeface="幼圆" pitchFamily="49" charset="-122"/>
                </a:rPr>
                <a:t>PUSH</a:t>
              </a:r>
              <a:r>
                <a:rPr kumimoji="1" lang="zh-CN" altLang="en-US" sz="1900" b="1">
                  <a:solidFill>
                    <a:srgbClr val="FFFFFF"/>
                  </a:solidFill>
                  <a:ea typeface="幼圆" pitchFamily="49" charset="-122"/>
                </a:rPr>
                <a:t>和</a:t>
              </a:r>
              <a:r>
                <a:rPr kumimoji="1" lang="en-US" altLang="zh-CN" sz="1900" b="1">
                  <a:solidFill>
                    <a:srgbClr val="FFFFFF"/>
                  </a:solidFill>
                  <a:ea typeface="幼圆" pitchFamily="49" charset="-122"/>
                </a:rPr>
                <a:t>POP</a:t>
              </a:r>
              <a:r>
                <a:rPr kumimoji="1" lang="zh-CN" altLang="en-US" sz="1900" b="1">
                  <a:solidFill>
                    <a:srgbClr val="FFFFFF"/>
                  </a:solidFill>
                  <a:ea typeface="幼圆" pitchFamily="49" charset="-122"/>
                </a:rPr>
                <a:t>分别表示</a:t>
              </a:r>
              <a:r>
                <a:rPr kumimoji="1" lang="en-US" altLang="zh-CN" sz="1900" b="1">
                  <a:solidFill>
                    <a:srgbClr val="FFFFFF"/>
                  </a:solidFill>
                  <a:ea typeface="幼圆" pitchFamily="49" charset="-122"/>
                </a:rPr>
                <a:t>1</a:t>
              </a:r>
              <a:r>
                <a:rPr kumimoji="1" lang="zh-CN" altLang="en-US" sz="1900" b="1">
                  <a:solidFill>
                    <a:srgbClr val="FFFFFF"/>
                  </a:solidFill>
                  <a:ea typeface="幼圆" pitchFamily="49" charset="-122"/>
                </a:rPr>
                <a:t>次进栈与</a:t>
              </a:r>
              <a:r>
                <a:rPr kumimoji="1" lang="en-US" altLang="zh-CN" sz="1900" b="1">
                  <a:solidFill>
                    <a:srgbClr val="FFFFFF"/>
                  </a:solidFill>
                  <a:ea typeface="幼圆" pitchFamily="49" charset="-122"/>
                </a:rPr>
                <a:t>1</a:t>
              </a:r>
              <a:r>
                <a:rPr kumimoji="1" lang="zh-CN" altLang="en-US" sz="1900" b="1">
                  <a:solidFill>
                    <a:srgbClr val="FFFFFF"/>
                  </a:solidFill>
                  <a:ea typeface="幼圆" pitchFamily="49" charset="-122"/>
                </a:rPr>
                <a:t>次出栈操作，</a:t>
              </a:r>
            </a:p>
            <a:p>
              <a:pPr indent="266700"/>
              <a:r>
                <a:rPr kumimoji="1" lang="zh-CN" altLang="en-US" sz="1900" b="1">
                  <a:solidFill>
                    <a:srgbClr val="FFFFFF"/>
                  </a:solidFill>
                  <a:ea typeface="幼圆" pitchFamily="49" charset="-122"/>
                </a:rPr>
                <a:t>则进栈和出栈的操作序列可以表示为仅由</a:t>
              </a:r>
              <a:r>
                <a:rPr kumimoji="1" lang="en-US" altLang="zh-CN" sz="1900" b="1">
                  <a:solidFill>
                    <a:srgbClr val="FFFFFF"/>
                  </a:solidFill>
                  <a:ea typeface="幼圆" pitchFamily="49" charset="-122"/>
                </a:rPr>
                <a:t>PUSH</a:t>
              </a:r>
              <a:r>
                <a:rPr kumimoji="1" lang="zh-CN" altLang="en-US" sz="1900" b="1">
                  <a:solidFill>
                    <a:srgbClr val="FFFFFF"/>
                  </a:solidFill>
                  <a:ea typeface="幼圆" pitchFamily="49" charset="-122"/>
                </a:rPr>
                <a:t>和</a:t>
              </a:r>
              <a:r>
                <a:rPr kumimoji="1" lang="en-US" altLang="zh-CN" sz="1900" b="1">
                  <a:solidFill>
                    <a:srgbClr val="FFFFFF"/>
                  </a:solidFill>
                  <a:ea typeface="幼圆" pitchFamily="49" charset="-122"/>
                </a:rPr>
                <a:t>POP</a:t>
              </a:r>
              <a:r>
                <a:rPr kumimoji="1" lang="zh-CN" altLang="en-US" sz="1900" b="1">
                  <a:solidFill>
                    <a:srgbClr val="FFFFFF"/>
                  </a:solidFill>
                  <a:ea typeface="幼圆" pitchFamily="49" charset="-122"/>
                </a:rPr>
                <a:t>组成</a:t>
              </a:r>
            </a:p>
            <a:p>
              <a:pPr indent="266700"/>
              <a:r>
                <a:rPr kumimoji="1" lang="zh-CN" altLang="en-US" sz="1900" b="1">
                  <a:solidFill>
                    <a:srgbClr val="FFFFFF"/>
                  </a:solidFill>
                  <a:ea typeface="幼圆" pitchFamily="49" charset="-122"/>
                </a:rPr>
                <a:t>的序列。对于初态和终态均为空的堆栈</a:t>
              </a:r>
              <a:r>
                <a:rPr kumimoji="1" lang="en-US" altLang="zh-CN" sz="1900" b="1">
                  <a:solidFill>
                    <a:srgbClr val="FFFFFF"/>
                  </a:solidFill>
                  <a:ea typeface="幼圆" pitchFamily="49" charset="-122"/>
                </a:rPr>
                <a:t>, </a:t>
              </a:r>
              <a:r>
                <a:rPr kumimoji="1" lang="zh-CN" altLang="en-US" sz="1900" b="1">
                  <a:solidFill>
                    <a:srgbClr val="FFFFFF"/>
                  </a:solidFill>
                  <a:ea typeface="幼圆" pitchFamily="49" charset="-122"/>
                </a:rPr>
                <a:t>请分别指出下面给</a:t>
              </a:r>
            </a:p>
            <a:p>
              <a:pPr indent="266700">
                <a:spcAft>
                  <a:spcPct val="15000"/>
                </a:spcAft>
              </a:pPr>
              <a:r>
                <a:rPr kumimoji="1" lang="zh-CN" altLang="en-US" sz="1900" b="1">
                  <a:solidFill>
                    <a:srgbClr val="FFFFFF"/>
                  </a:solidFill>
                  <a:ea typeface="幼圆" pitchFamily="49" charset="-122"/>
                </a:rPr>
                <a:t>出的操作序列中的合法序列</a:t>
              </a:r>
              <a:r>
                <a:rPr kumimoji="1" lang="en-US" altLang="zh-CN" sz="1900" b="1">
                  <a:solidFill>
                    <a:srgbClr val="FFFFFF"/>
                  </a:solidFill>
                  <a:ea typeface="幼圆" pitchFamily="49" charset="-122"/>
                </a:rPr>
                <a:t>(</a:t>
              </a:r>
              <a:r>
                <a:rPr kumimoji="1" lang="zh-CN" altLang="en-US" sz="1900" b="1">
                  <a:solidFill>
                    <a:srgbClr val="FFFFFF"/>
                  </a:solidFill>
                  <a:ea typeface="幼圆" pitchFamily="49" charset="-122"/>
                </a:rPr>
                <a:t>即可以进行操作的序列</a:t>
              </a:r>
              <a:r>
                <a:rPr kumimoji="1" lang="en-US" altLang="zh-CN" sz="1900" b="1">
                  <a:solidFill>
                    <a:srgbClr val="FFFFFF"/>
                  </a:solidFill>
                  <a:ea typeface="幼圆" pitchFamily="49" charset="-122"/>
                </a:rPr>
                <a:t>)</a:t>
              </a:r>
              <a:r>
                <a:rPr kumimoji="1" lang="zh-CN" altLang="en-US" sz="1900" b="1">
                  <a:solidFill>
                    <a:srgbClr val="FFFFFF"/>
                  </a:solidFill>
                  <a:ea typeface="幼圆" pitchFamily="49" charset="-122"/>
                </a:rPr>
                <a:t>。</a:t>
              </a:r>
            </a:p>
            <a:p>
              <a:pPr indent="266700"/>
              <a:r>
                <a:rPr kumimoji="1" lang="zh-CN" altLang="en-US" sz="1900" b="1">
                  <a:solidFill>
                    <a:srgbClr val="FFFFFF"/>
                  </a:solidFill>
                  <a:ea typeface="幼圆" pitchFamily="49" charset="-122"/>
                </a:rPr>
                <a:t>        ①  </a:t>
              </a:r>
              <a:r>
                <a:rPr kumimoji="1" lang="en-US" altLang="zh-CN" sz="1900" b="1">
                  <a:solidFill>
                    <a:srgbClr val="FFFFFF"/>
                  </a:solidFill>
                  <a:ea typeface="幼圆" pitchFamily="49" charset="-122"/>
                </a:rPr>
                <a:t>PUSH, POP, PUSH, PUSH, POP, PUSH, POP, POP</a:t>
              </a:r>
            </a:p>
            <a:p>
              <a:pPr indent="266700"/>
              <a:r>
                <a:rPr kumimoji="1" lang="en-US" altLang="zh-CN" sz="1900" b="1">
                  <a:solidFill>
                    <a:srgbClr val="FFFFFF"/>
                  </a:solidFill>
                  <a:ea typeface="幼圆" pitchFamily="49" charset="-122"/>
                </a:rPr>
                <a:t>        ②  PUSH, POP, POP, PUSH, POP, PUSH, PUSH, POP</a:t>
              </a:r>
            </a:p>
            <a:p>
              <a:pPr indent="266700"/>
              <a:r>
                <a:rPr kumimoji="1" lang="en-US" altLang="zh-CN" sz="1900" b="1">
                  <a:solidFill>
                    <a:srgbClr val="FFFFFF"/>
                  </a:solidFill>
                  <a:ea typeface="幼圆" pitchFamily="49" charset="-122"/>
                </a:rPr>
                <a:t>        ③  PUSH , PUSH, PUSH, POP, PUSH, POP, PUSH, POP</a:t>
              </a:r>
            </a:p>
            <a:p>
              <a:pPr indent="266700"/>
              <a:r>
                <a:rPr kumimoji="1" lang="en-US" altLang="zh-CN" sz="1900" b="1">
                  <a:solidFill>
                    <a:srgbClr val="FFFFFF"/>
                  </a:solidFill>
                  <a:ea typeface="幼圆" pitchFamily="49" charset="-122"/>
                </a:rPr>
                <a:t>        ④  PUSH, PUSH, PUSH, POP, POP, PUSH, POP, POP</a:t>
              </a:r>
            </a:p>
          </p:txBody>
        </p:sp>
      </p:grpSp>
      <p:grpSp>
        <p:nvGrpSpPr>
          <p:cNvPr id="3" name="Group 5"/>
          <p:cNvGrpSpPr>
            <a:grpSpLocks/>
          </p:cNvGrpSpPr>
          <p:nvPr/>
        </p:nvGrpSpPr>
        <p:grpSpPr bwMode="auto">
          <a:xfrm>
            <a:off x="3206751" y="3716338"/>
            <a:ext cx="3814763" cy="476250"/>
            <a:chOff x="930" y="2411"/>
            <a:chExt cx="2403" cy="300"/>
          </a:xfrm>
        </p:grpSpPr>
        <p:grpSp>
          <p:nvGrpSpPr>
            <p:cNvPr id="4" name="Group 6"/>
            <p:cNvGrpSpPr>
              <a:grpSpLocks/>
            </p:cNvGrpSpPr>
            <p:nvPr/>
          </p:nvGrpSpPr>
          <p:grpSpPr bwMode="auto">
            <a:xfrm>
              <a:off x="1292" y="2432"/>
              <a:ext cx="2041" cy="279"/>
              <a:chOff x="1519" y="2432"/>
              <a:chExt cx="2041" cy="279"/>
            </a:xfrm>
          </p:grpSpPr>
          <p:sp>
            <p:nvSpPr>
              <p:cNvPr id="56409" name="Line 7"/>
              <p:cNvSpPr>
                <a:spLocks noChangeShapeType="1"/>
              </p:cNvSpPr>
              <p:nvPr/>
            </p:nvSpPr>
            <p:spPr bwMode="auto">
              <a:xfrm>
                <a:off x="1519" y="2432"/>
                <a:ext cx="2041" cy="0"/>
              </a:xfrm>
              <a:prstGeom prst="line">
                <a:avLst/>
              </a:prstGeom>
              <a:noFill/>
              <a:ln w="25400">
                <a:solidFill>
                  <a:srgbClr val="000080"/>
                </a:solidFill>
                <a:round/>
                <a:headEnd/>
                <a:tailEnd/>
              </a:ln>
              <a:effectLst/>
            </p:spPr>
            <p:txBody>
              <a:bodyPr wrap="none" anchor="ctr"/>
              <a:lstStyle/>
              <a:p>
                <a:endParaRPr lang="zh-CN" altLang="en-US"/>
              </a:p>
            </p:txBody>
          </p:sp>
          <p:sp>
            <p:nvSpPr>
              <p:cNvPr id="56410" name="Line 8"/>
              <p:cNvSpPr>
                <a:spLocks noChangeShapeType="1"/>
              </p:cNvSpPr>
              <p:nvPr/>
            </p:nvSpPr>
            <p:spPr bwMode="auto">
              <a:xfrm>
                <a:off x="1526" y="2439"/>
                <a:ext cx="0" cy="272"/>
              </a:xfrm>
              <a:prstGeom prst="line">
                <a:avLst/>
              </a:prstGeom>
              <a:noFill/>
              <a:ln w="28575">
                <a:solidFill>
                  <a:srgbClr val="000080"/>
                </a:solidFill>
                <a:round/>
                <a:headEnd/>
                <a:tailEnd/>
              </a:ln>
              <a:effectLst/>
            </p:spPr>
            <p:txBody>
              <a:bodyPr wrap="none" anchor="ctr"/>
              <a:lstStyle/>
              <a:p>
                <a:endParaRPr lang="zh-CN" altLang="en-US"/>
              </a:p>
            </p:txBody>
          </p:sp>
          <p:sp>
            <p:nvSpPr>
              <p:cNvPr id="56411" name="Line 9"/>
              <p:cNvSpPr>
                <a:spLocks noChangeShapeType="1"/>
              </p:cNvSpPr>
              <p:nvPr/>
            </p:nvSpPr>
            <p:spPr bwMode="auto">
              <a:xfrm>
                <a:off x="1830" y="2432"/>
                <a:ext cx="0" cy="272"/>
              </a:xfrm>
              <a:prstGeom prst="line">
                <a:avLst/>
              </a:prstGeom>
              <a:noFill/>
              <a:ln w="12700">
                <a:solidFill>
                  <a:srgbClr val="000080"/>
                </a:solidFill>
                <a:round/>
                <a:headEnd/>
                <a:tailEnd/>
              </a:ln>
              <a:effectLst/>
            </p:spPr>
            <p:txBody>
              <a:bodyPr wrap="none" anchor="ctr"/>
              <a:lstStyle/>
              <a:p>
                <a:endParaRPr lang="zh-CN" altLang="en-US"/>
              </a:p>
            </p:txBody>
          </p:sp>
          <p:sp>
            <p:nvSpPr>
              <p:cNvPr id="56412" name="Line 10"/>
              <p:cNvSpPr>
                <a:spLocks noChangeShapeType="1"/>
              </p:cNvSpPr>
              <p:nvPr/>
            </p:nvSpPr>
            <p:spPr bwMode="auto">
              <a:xfrm>
                <a:off x="2140" y="2432"/>
                <a:ext cx="0" cy="272"/>
              </a:xfrm>
              <a:prstGeom prst="line">
                <a:avLst/>
              </a:prstGeom>
              <a:noFill/>
              <a:ln w="12700">
                <a:solidFill>
                  <a:srgbClr val="000080"/>
                </a:solidFill>
                <a:round/>
                <a:headEnd/>
                <a:tailEnd/>
              </a:ln>
              <a:effectLst/>
            </p:spPr>
            <p:txBody>
              <a:bodyPr wrap="none" anchor="ctr"/>
              <a:lstStyle/>
              <a:p>
                <a:endParaRPr lang="zh-CN" altLang="en-US"/>
              </a:p>
            </p:txBody>
          </p:sp>
          <p:sp>
            <p:nvSpPr>
              <p:cNvPr id="56413" name="Line 11"/>
              <p:cNvSpPr>
                <a:spLocks noChangeShapeType="1"/>
              </p:cNvSpPr>
              <p:nvPr/>
            </p:nvSpPr>
            <p:spPr bwMode="auto">
              <a:xfrm>
                <a:off x="2451" y="2432"/>
                <a:ext cx="0" cy="272"/>
              </a:xfrm>
              <a:prstGeom prst="line">
                <a:avLst/>
              </a:prstGeom>
              <a:noFill/>
              <a:ln w="12700">
                <a:solidFill>
                  <a:srgbClr val="000080"/>
                </a:solidFill>
                <a:round/>
                <a:headEnd/>
                <a:tailEnd/>
              </a:ln>
              <a:effectLst/>
            </p:spPr>
            <p:txBody>
              <a:bodyPr wrap="none" anchor="ctr"/>
              <a:lstStyle/>
              <a:p>
                <a:endParaRPr lang="zh-CN" altLang="en-US"/>
              </a:p>
            </p:txBody>
          </p:sp>
          <p:sp>
            <p:nvSpPr>
              <p:cNvPr id="56414" name="Line 12"/>
              <p:cNvSpPr>
                <a:spLocks noChangeShapeType="1"/>
              </p:cNvSpPr>
              <p:nvPr/>
            </p:nvSpPr>
            <p:spPr bwMode="auto">
              <a:xfrm>
                <a:off x="2758" y="2432"/>
                <a:ext cx="0" cy="272"/>
              </a:xfrm>
              <a:prstGeom prst="line">
                <a:avLst/>
              </a:prstGeom>
              <a:noFill/>
              <a:ln w="12700">
                <a:solidFill>
                  <a:srgbClr val="000080"/>
                </a:solidFill>
                <a:round/>
                <a:headEnd/>
                <a:tailEnd/>
              </a:ln>
              <a:effectLst/>
            </p:spPr>
            <p:txBody>
              <a:bodyPr wrap="none" anchor="ctr"/>
              <a:lstStyle/>
              <a:p>
                <a:endParaRPr lang="zh-CN" altLang="en-US"/>
              </a:p>
            </p:txBody>
          </p:sp>
          <p:sp>
            <p:nvSpPr>
              <p:cNvPr id="56415" name="Line 13"/>
              <p:cNvSpPr>
                <a:spLocks noChangeShapeType="1"/>
              </p:cNvSpPr>
              <p:nvPr/>
            </p:nvSpPr>
            <p:spPr bwMode="auto">
              <a:xfrm>
                <a:off x="3061" y="2439"/>
                <a:ext cx="0" cy="272"/>
              </a:xfrm>
              <a:prstGeom prst="line">
                <a:avLst/>
              </a:prstGeom>
              <a:noFill/>
              <a:ln w="12700">
                <a:solidFill>
                  <a:srgbClr val="000080"/>
                </a:solidFill>
                <a:round/>
                <a:headEnd/>
                <a:tailEnd/>
              </a:ln>
              <a:effectLst/>
            </p:spPr>
            <p:txBody>
              <a:bodyPr wrap="none" anchor="ctr"/>
              <a:lstStyle/>
              <a:p>
                <a:endParaRPr lang="zh-CN" altLang="en-US"/>
              </a:p>
            </p:txBody>
          </p:sp>
          <p:sp>
            <p:nvSpPr>
              <p:cNvPr id="56416" name="Line 14"/>
              <p:cNvSpPr>
                <a:spLocks noChangeShapeType="1"/>
              </p:cNvSpPr>
              <p:nvPr/>
            </p:nvSpPr>
            <p:spPr bwMode="auto">
              <a:xfrm>
                <a:off x="1519" y="2708"/>
                <a:ext cx="2041" cy="0"/>
              </a:xfrm>
              <a:prstGeom prst="line">
                <a:avLst/>
              </a:prstGeom>
              <a:noFill/>
              <a:ln w="25400">
                <a:solidFill>
                  <a:srgbClr val="000080"/>
                </a:solidFill>
                <a:round/>
                <a:headEnd/>
                <a:tailEnd/>
              </a:ln>
              <a:effectLst/>
            </p:spPr>
            <p:txBody>
              <a:bodyPr wrap="none" anchor="ctr"/>
              <a:lstStyle/>
              <a:p>
                <a:endParaRPr lang="zh-CN" altLang="en-US"/>
              </a:p>
            </p:txBody>
          </p:sp>
        </p:grpSp>
        <p:sp>
          <p:nvSpPr>
            <p:cNvPr id="56408" name="Text Box 15"/>
            <p:cNvSpPr txBox="1">
              <a:spLocks noChangeArrowheads="1"/>
            </p:cNvSpPr>
            <p:nvPr/>
          </p:nvSpPr>
          <p:spPr bwMode="auto">
            <a:xfrm>
              <a:off x="930" y="2411"/>
              <a:ext cx="301" cy="279"/>
            </a:xfrm>
            <a:prstGeom prst="rect">
              <a:avLst/>
            </a:prstGeom>
            <a:noFill/>
            <a:ln w="9525">
              <a:noFill/>
              <a:miter lim="800000"/>
              <a:headEnd/>
              <a:tailEnd/>
            </a:ln>
            <a:effectLst/>
          </p:spPr>
          <p:txBody>
            <a:bodyPr wrap="none">
              <a:spAutoFit/>
            </a:bodyPr>
            <a:lstStyle/>
            <a:p>
              <a:pPr algn="ctr" eaLnBrk="1" hangingPunct="1"/>
              <a:r>
                <a:rPr kumimoji="1" lang="en-US" altLang="zh-CN" sz="2300" b="1">
                  <a:solidFill>
                    <a:srgbClr val="CC0066"/>
                  </a:solidFill>
                  <a:latin typeface="宋体" charset="-122"/>
                  <a:ea typeface="宋体" charset="-122"/>
                </a:rPr>
                <a:t>①</a:t>
              </a:r>
            </a:p>
          </p:txBody>
        </p:sp>
      </p:grpSp>
      <p:grpSp>
        <p:nvGrpSpPr>
          <p:cNvPr id="5" name="Group 16"/>
          <p:cNvGrpSpPr>
            <a:grpSpLocks/>
          </p:cNvGrpSpPr>
          <p:nvPr/>
        </p:nvGrpSpPr>
        <p:grpSpPr bwMode="auto">
          <a:xfrm>
            <a:off x="3217863" y="4437064"/>
            <a:ext cx="3803650" cy="465137"/>
            <a:chOff x="937" y="2865"/>
            <a:chExt cx="2396" cy="293"/>
          </a:xfrm>
        </p:grpSpPr>
        <p:grpSp>
          <p:nvGrpSpPr>
            <p:cNvPr id="6" name="Group 17"/>
            <p:cNvGrpSpPr>
              <a:grpSpLocks/>
            </p:cNvGrpSpPr>
            <p:nvPr/>
          </p:nvGrpSpPr>
          <p:grpSpPr bwMode="auto">
            <a:xfrm>
              <a:off x="1292" y="2879"/>
              <a:ext cx="2041" cy="279"/>
              <a:chOff x="1519" y="2432"/>
              <a:chExt cx="2041" cy="279"/>
            </a:xfrm>
          </p:grpSpPr>
          <p:sp>
            <p:nvSpPr>
              <p:cNvPr id="56399" name="Line 18"/>
              <p:cNvSpPr>
                <a:spLocks noChangeShapeType="1"/>
              </p:cNvSpPr>
              <p:nvPr/>
            </p:nvSpPr>
            <p:spPr bwMode="auto">
              <a:xfrm>
                <a:off x="1519" y="2432"/>
                <a:ext cx="2041" cy="0"/>
              </a:xfrm>
              <a:prstGeom prst="line">
                <a:avLst/>
              </a:prstGeom>
              <a:noFill/>
              <a:ln w="25400">
                <a:solidFill>
                  <a:srgbClr val="000080"/>
                </a:solidFill>
                <a:round/>
                <a:headEnd/>
                <a:tailEnd/>
              </a:ln>
              <a:effectLst/>
            </p:spPr>
            <p:txBody>
              <a:bodyPr wrap="none" anchor="ctr"/>
              <a:lstStyle/>
              <a:p>
                <a:endParaRPr lang="zh-CN" altLang="en-US"/>
              </a:p>
            </p:txBody>
          </p:sp>
          <p:sp>
            <p:nvSpPr>
              <p:cNvPr id="56400" name="Line 19"/>
              <p:cNvSpPr>
                <a:spLocks noChangeShapeType="1"/>
              </p:cNvSpPr>
              <p:nvPr/>
            </p:nvSpPr>
            <p:spPr bwMode="auto">
              <a:xfrm>
                <a:off x="1526" y="2439"/>
                <a:ext cx="0" cy="272"/>
              </a:xfrm>
              <a:prstGeom prst="line">
                <a:avLst/>
              </a:prstGeom>
              <a:noFill/>
              <a:ln w="28575">
                <a:solidFill>
                  <a:srgbClr val="000080"/>
                </a:solidFill>
                <a:round/>
                <a:headEnd/>
                <a:tailEnd/>
              </a:ln>
              <a:effectLst/>
            </p:spPr>
            <p:txBody>
              <a:bodyPr wrap="none" anchor="ctr"/>
              <a:lstStyle/>
              <a:p>
                <a:endParaRPr lang="zh-CN" altLang="en-US"/>
              </a:p>
            </p:txBody>
          </p:sp>
          <p:sp>
            <p:nvSpPr>
              <p:cNvPr id="56401" name="Line 20"/>
              <p:cNvSpPr>
                <a:spLocks noChangeShapeType="1"/>
              </p:cNvSpPr>
              <p:nvPr/>
            </p:nvSpPr>
            <p:spPr bwMode="auto">
              <a:xfrm>
                <a:off x="1830" y="2432"/>
                <a:ext cx="0" cy="272"/>
              </a:xfrm>
              <a:prstGeom prst="line">
                <a:avLst/>
              </a:prstGeom>
              <a:noFill/>
              <a:ln w="12700">
                <a:solidFill>
                  <a:srgbClr val="000080"/>
                </a:solidFill>
                <a:round/>
                <a:headEnd/>
                <a:tailEnd/>
              </a:ln>
              <a:effectLst/>
            </p:spPr>
            <p:txBody>
              <a:bodyPr wrap="none" anchor="ctr"/>
              <a:lstStyle/>
              <a:p>
                <a:endParaRPr lang="zh-CN" altLang="en-US"/>
              </a:p>
            </p:txBody>
          </p:sp>
          <p:sp>
            <p:nvSpPr>
              <p:cNvPr id="56402" name="Line 21"/>
              <p:cNvSpPr>
                <a:spLocks noChangeShapeType="1"/>
              </p:cNvSpPr>
              <p:nvPr/>
            </p:nvSpPr>
            <p:spPr bwMode="auto">
              <a:xfrm>
                <a:off x="2140" y="2432"/>
                <a:ext cx="0" cy="272"/>
              </a:xfrm>
              <a:prstGeom prst="line">
                <a:avLst/>
              </a:prstGeom>
              <a:noFill/>
              <a:ln w="12700">
                <a:solidFill>
                  <a:srgbClr val="000080"/>
                </a:solidFill>
                <a:round/>
                <a:headEnd/>
                <a:tailEnd/>
              </a:ln>
              <a:effectLst/>
            </p:spPr>
            <p:txBody>
              <a:bodyPr wrap="none" anchor="ctr"/>
              <a:lstStyle/>
              <a:p>
                <a:endParaRPr lang="zh-CN" altLang="en-US"/>
              </a:p>
            </p:txBody>
          </p:sp>
          <p:sp>
            <p:nvSpPr>
              <p:cNvPr id="56403" name="Line 22"/>
              <p:cNvSpPr>
                <a:spLocks noChangeShapeType="1"/>
              </p:cNvSpPr>
              <p:nvPr/>
            </p:nvSpPr>
            <p:spPr bwMode="auto">
              <a:xfrm>
                <a:off x="2451" y="2432"/>
                <a:ext cx="0" cy="272"/>
              </a:xfrm>
              <a:prstGeom prst="line">
                <a:avLst/>
              </a:prstGeom>
              <a:noFill/>
              <a:ln w="12700">
                <a:solidFill>
                  <a:srgbClr val="000080"/>
                </a:solidFill>
                <a:round/>
                <a:headEnd/>
                <a:tailEnd/>
              </a:ln>
              <a:effectLst/>
            </p:spPr>
            <p:txBody>
              <a:bodyPr wrap="none" anchor="ctr"/>
              <a:lstStyle/>
              <a:p>
                <a:endParaRPr lang="zh-CN" altLang="en-US"/>
              </a:p>
            </p:txBody>
          </p:sp>
          <p:sp>
            <p:nvSpPr>
              <p:cNvPr id="56404" name="Line 23"/>
              <p:cNvSpPr>
                <a:spLocks noChangeShapeType="1"/>
              </p:cNvSpPr>
              <p:nvPr/>
            </p:nvSpPr>
            <p:spPr bwMode="auto">
              <a:xfrm>
                <a:off x="2758" y="2432"/>
                <a:ext cx="0" cy="272"/>
              </a:xfrm>
              <a:prstGeom prst="line">
                <a:avLst/>
              </a:prstGeom>
              <a:noFill/>
              <a:ln w="12700">
                <a:solidFill>
                  <a:srgbClr val="000080"/>
                </a:solidFill>
                <a:round/>
                <a:headEnd/>
                <a:tailEnd/>
              </a:ln>
              <a:effectLst/>
            </p:spPr>
            <p:txBody>
              <a:bodyPr wrap="none" anchor="ctr"/>
              <a:lstStyle/>
              <a:p>
                <a:endParaRPr lang="zh-CN" altLang="en-US"/>
              </a:p>
            </p:txBody>
          </p:sp>
          <p:sp>
            <p:nvSpPr>
              <p:cNvPr id="56405" name="Line 24"/>
              <p:cNvSpPr>
                <a:spLocks noChangeShapeType="1"/>
              </p:cNvSpPr>
              <p:nvPr/>
            </p:nvSpPr>
            <p:spPr bwMode="auto">
              <a:xfrm>
                <a:off x="3061" y="2439"/>
                <a:ext cx="0" cy="272"/>
              </a:xfrm>
              <a:prstGeom prst="line">
                <a:avLst/>
              </a:prstGeom>
              <a:noFill/>
              <a:ln w="12700">
                <a:solidFill>
                  <a:srgbClr val="000080"/>
                </a:solidFill>
                <a:round/>
                <a:headEnd/>
                <a:tailEnd/>
              </a:ln>
              <a:effectLst/>
            </p:spPr>
            <p:txBody>
              <a:bodyPr wrap="none" anchor="ctr"/>
              <a:lstStyle/>
              <a:p>
                <a:endParaRPr lang="zh-CN" altLang="en-US"/>
              </a:p>
            </p:txBody>
          </p:sp>
          <p:sp>
            <p:nvSpPr>
              <p:cNvPr id="56406" name="Line 25"/>
              <p:cNvSpPr>
                <a:spLocks noChangeShapeType="1"/>
              </p:cNvSpPr>
              <p:nvPr/>
            </p:nvSpPr>
            <p:spPr bwMode="auto">
              <a:xfrm>
                <a:off x="1519" y="2708"/>
                <a:ext cx="2041" cy="0"/>
              </a:xfrm>
              <a:prstGeom prst="line">
                <a:avLst/>
              </a:prstGeom>
              <a:noFill/>
              <a:ln w="25400">
                <a:solidFill>
                  <a:srgbClr val="000080"/>
                </a:solidFill>
                <a:round/>
                <a:headEnd/>
                <a:tailEnd/>
              </a:ln>
              <a:effectLst/>
            </p:spPr>
            <p:txBody>
              <a:bodyPr wrap="none" anchor="ctr"/>
              <a:lstStyle/>
              <a:p>
                <a:endParaRPr lang="zh-CN" altLang="en-US"/>
              </a:p>
            </p:txBody>
          </p:sp>
        </p:grpSp>
        <p:sp>
          <p:nvSpPr>
            <p:cNvPr id="56398" name="Text Box 26"/>
            <p:cNvSpPr txBox="1">
              <a:spLocks noChangeArrowheads="1"/>
            </p:cNvSpPr>
            <p:nvPr/>
          </p:nvSpPr>
          <p:spPr bwMode="auto">
            <a:xfrm>
              <a:off x="937" y="2865"/>
              <a:ext cx="301" cy="279"/>
            </a:xfrm>
            <a:prstGeom prst="rect">
              <a:avLst/>
            </a:prstGeom>
            <a:noFill/>
            <a:ln w="9525">
              <a:noFill/>
              <a:miter lim="800000"/>
              <a:headEnd/>
              <a:tailEnd/>
            </a:ln>
            <a:effectLst/>
          </p:spPr>
          <p:txBody>
            <a:bodyPr wrap="none">
              <a:spAutoFit/>
            </a:bodyPr>
            <a:lstStyle/>
            <a:p>
              <a:pPr algn="ctr" eaLnBrk="1" hangingPunct="1"/>
              <a:r>
                <a:rPr kumimoji="1" lang="en-US" altLang="zh-CN" sz="2300" b="1">
                  <a:solidFill>
                    <a:srgbClr val="CC0066"/>
                  </a:solidFill>
                  <a:latin typeface="宋体" charset="-122"/>
                  <a:ea typeface="宋体" charset="-122"/>
                </a:rPr>
                <a:t>②</a:t>
              </a:r>
            </a:p>
          </p:txBody>
        </p:sp>
      </p:grpSp>
      <p:grpSp>
        <p:nvGrpSpPr>
          <p:cNvPr id="7" name="Group 27"/>
          <p:cNvGrpSpPr>
            <a:grpSpLocks/>
          </p:cNvGrpSpPr>
          <p:nvPr/>
        </p:nvGrpSpPr>
        <p:grpSpPr bwMode="auto">
          <a:xfrm>
            <a:off x="3228975" y="5140325"/>
            <a:ext cx="3792538" cy="476250"/>
            <a:chOff x="944" y="3308"/>
            <a:chExt cx="2389" cy="300"/>
          </a:xfrm>
        </p:grpSpPr>
        <p:grpSp>
          <p:nvGrpSpPr>
            <p:cNvPr id="8" name="Group 28"/>
            <p:cNvGrpSpPr>
              <a:grpSpLocks/>
            </p:cNvGrpSpPr>
            <p:nvPr/>
          </p:nvGrpSpPr>
          <p:grpSpPr bwMode="auto">
            <a:xfrm>
              <a:off x="1292" y="3329"/>
              <a:ext cx="2041" cy="279"/>
              <a:chOff x="1519" y="2432"/>
              <a:chExt cx="2041" cy="279"/>
            </a:xfrm>
          </p:grpSpPr>
          <p:sp>
            <p:nvSpPr>
              <p:cNvPr id="56389" name="Line 29"/>
              <p:cNvSpPr>
                <a:spLocks noChangeShapeType="1"/>
              </p:cNvSpPr>
              <p:nvPr/>
            </p:nvSpPr>
            <p:spPr bwMode="auto">
              <a:xfrm>
                <a:off x="1519" y="2432"/>
                <a:ext cx="2041" cy="0"/>
              </a:xfrm>
              <a:prstGeom prst="line">
                <a:avLst/>
              </a:prstGeom>
              <a:noFill/>
              <a:ln w="25400">
                <a:solidFill>
                  <a:srgbClr val="000080"/>
                </a:solidFill>
                <a:round/>
                <a:headEnd/>
                <a:tailEnd/>
              </a:ln>
              <a:effectLst/>
            </p:spPr>
            <p:txBody>
              <a:bodyPr wrap="none" anchor="ctr"/>
              <a:lstStyle/>
              <a:p>
                <a:endParaRPr lang="zh-CN" altLang="en-US"/>
              </a:p>
            </p:txBody>
          </p:sp>
          <p:sp>
            <p:nvSpPr>
              <p:cNvPr id="56390" name="Line 30"/>
              <p:cNvSpPr>
                <a:spLocks noChangeShapeType="1"/>
              </p:cNvSpPr>
              <p:nvPr/>
            </p:nvSpPr>
            <p:spPr bwMode="auto">
              <a:xfrm>
                <a:off x="1526" y="2439"/>
                <a:ext cx="0" cy="272"/>
              </a:xfrm>
              <a:prstGeom prst="line">
                <a:avLst/>
              </a:prstGeom>
              <a:noFill/>
              <a:ln w="28575">
                <a:solidFill>
                  <a:srgbClr val="000080"/>
                </a:solidFill>
                <a:round/>
                <a:headEnd/>
                <a:tailEnd/>
              </a:ln>
              <a:effectLst/>
            </p:spPr>
            <p:txBody>
              <a:bodyPr wrap="none" anchor="ctr"/>
              <a:lstStyle/>
              <a:p>
                <a:endParaRPr lang="zh-CN" altLang="en-US"/>
              </a:p>
            </p:txBody>
          </p:sp>
          <p:sp>
            <p:nvSpPr>
              <p:cNvPr id="56391" name="Line 31"/>
              <p:cNvSpPr>
                <a:spLocks noChangeShapeType="1"/>
              </p:cNvSpPr>
              <p:nvPr/>
            </p:nvSpPr>
            <p:spPr bwMode="auto">
              <a:xfrm>
                <a:off x="1830" y="2432"/>
                <a:ext cx="0" cy="272"/>
              </a:xfrm>
              <a:prstGeom prst="line">
                <a:avLst/>
              </a:prstGeom>
              <a:noFill/>
              <a:ln w="12700">
                <a:solidFill>
                  <a:srgbClr val="000080"/>
                </a:solidFill>
                <a:round/>
                <a:headEnd/>
                <a:tailEnd/>
              </a:ln>
              <a:effectLst/>
            </p:spPr>
            <p:txBody>
              <a:bodyPr wrap="none" anchor="ctr"/>
              <a:lstStyle/>
              <a:p>
                <a:endParaRPr lang="zh-CN" altLang="en-US"/>
              </a:p>
            </p:txBody>
          </p:sp>
          <p:sp>
            <p:nvSpPr>
              <p:cNvPr id="56392" name="Line 32"/>
              <p:cNvSpPr>
                <a:spLocks noChangeShapeType="1"/>
              </p:cNvSpPr>
              <p:nvPr/>
            </p:nvSpPr>
            <p:spPr bwMode="auto">
              <a:xfrm>
                <a:off x="2140" y="2432"/>
                <a:ext cx="0" cy="272"/>
              </a:xfrm>
              <a:prstGeom prst="line">
                <a:avLst/>
              </a:prstGeom>
              <a:noFill/>
              <a:ln w="12700">
                <a:solidFill>
                  <a:srgbClr val="000080"/>
                </a:solidFill>
                <a:round/>
                <a:headEnd/>
                <a:tailEnd/>
              </a:ln>
              <a:effectLst/>
            </p:spPr>
            <p:txBody>
              <a:bodyPr wrap="none" anchor="ctr"/>
              <a:lstStyle/>
              <a:p>
                <a:endParaRPr lang="zh-CN" altLang="en-US"/>
              </a:p>
            </p:txBody>
          </p:sp>
          <p:sp>
            <p:nvSpPr>
              <p:cNvPr id="56393" name="Line 33"/>
              <p:cNvSpPr>
                <a:spLocks noChangeShapeType="1"/>
              </p:cNvSpPr>
              <p:nvPr/>
            </p:nvSpPr>
            <p:spPr bwMode="auto">
              <a:xfrm>
                <a:off x="2451" y="2432"/>
                <a:ext cx="0" cy="272"/>
              </a:xfrm>
              <a:prstGeom prst="line">
                <a:avLst/>
              </a:prstGeom>
              <a:noFill/>
              <a:ln w="12700">
                <a:solidFill>
                  <a:srgbClr val="000080"/>
                </a:solidFill>
                <a:round/>
                <a:headEnd/>
                <a:tailEnd/>
              </a:ln>
              <a:effectLst/>
            </p:spPr>
            <p:txBody>
              <a:bodyPr wrap="none" anchor="ctr"/>
              <a:lstStyle/>
              <a:p>
                <a:endParaRPr lang="zh-CN" altLang="en-US"/>
              </a:p>
            </p:txBody>
          </p:sp>
          <p:sp>
            <p:nvSpPr>
              <p:cNvPr id="56394" name="Line 34"/>
              <p:cNvSpPr>
                <a:spLocks noChangeShapeType="1"/>
              </p:cNvSpPr>
              <p:nvPr/>
            </p:nvSpPr>
            <p:spPr bwMode="auto">
              <a:xfrm>
                <a:off x="2758" y="2432"/>
                <a:ext cx="0" cy="272"/>
              </a:xfrm>
              <a:prstGeom prst="line">
                <a:avLst/>
              </a:prstGeom>
              <a:noFill/>
              <a:ln w="12700">
                <a:solidFill>
                  <a:srgbClr val="000080"/>
                </a:solidFill>
                <a:round/>
                <a:headEnd/>
                <a:tailEnd/>
              </a:ln>
              <a:effectLst/>
            </p:spPr>
            <p:txBody>
              <a:bodyPr wrap="none" anchor="ctr"/>
              <a:lstStyle/>
              <a:p>
                <a:endParaRPr lang="zh-CN" altLang="en-US"/>
              </a:p>
            </p:txBody>
          </p:sp>
          <p:sp>
            <p:nvSpPr>
              <p:cNvPr id="56395" name="Line 35"/>
              <p:cNvSpPr>
                <a:spLocks noChangeShapeType="1"/>
              </p:cNvSpPr>
              <p:nvPr/>
            </p:nvSpPr>
            <p:spPr bwMode="auto">
              <a:xfrm>
                <a:off x="3061" y="2439"/>
                <a:ext cx="0" cy="272"/>
              </a:xfrm>
              <a:prstGeom prst="line">
                <a:avLst/>
              </a:prstGeom>
              <a:noFill/>
              <a:ln w="12700">
                <a:solidFill>
                  <a:srgbClr val="000080"/>
                </a:solidFill>
                <a:round/>
                <a:headEnd/>
                <a:tailEnd/>
              </a:ln>
              <a:effectLst/>
            </p:spPr>
            <p:txBody>
              <a:bodyPr wrap="none" anchor="ctr"/>
              <a:lstStyle/>
              <a:p>
                <a:endParaRPr lang="zh-CN" altLang="en-US"/>
              </a:p>
            </p:txBody>
          </p:sp>
          <p:sp>
            <p:nvSpPr>
              <p:cNvPr id="56396" name="Line 36"/>
              <p:cNvSpPr>
                <a:spLocks noChangeShapeType="1"/>
              </p:cNvSpPr>
              <p:nvPr/>
            </p:nvSpPr>
            <p:spPr bwMode="auto">
              <a:xfrm>
                <a:off x="1519" y="2708"/>
                <a:ext cx="2041" cy="0"/>
              </a:xfrm>
              <a:prstGeom prst="line">
                <a:avLst/>
              </a:prstGeom>
              <a:noFill/>
              <a:ln w="25400">
                <a:solidFill>
                  <a:srgbClr val="000080"/>
                </a:solidFill>
                <a:round/>
                <a:headEnd/>
                <a:tailEnd/>
              </a:ln>
              <a:effectLst/>
            </p:spPr>
            <p:txBody>
              <a:bodyPr wrap="none" anchor="ctr"/>
              <a:lstStyle/>
              <a:p>
                <a:endParaRPr lang="zh-CN" altLang="en-US"/>
              </a:p>
            </p:txBody>
          </p:sp>
        </p:grpSp>
        <p:sp>
          <p:nvSpPr>
            <p:cNvPr id="56388" name="Text Box 37"/>
            <p:cNvSpPr txBox="1">
              <a:spLocks noChangeArrowheads="1"/>
            </p:cNvSpPr>
            <p:nvPr/>
          </p:nvSpPr>
          <p:spPr bwMode="auto">
            <a:xfrm>
              <a:off x="944" y="3308"/>
              <a:ext cx="301" cy="279"/>
            </a:xfrm>
            <a:prstGeom prst="rect">
              <a:avLst/>
            </a:prstGeom>
            <a:noFill/>
            <a:ln w="9525">
              <a:noFill/>
              <a:miter lim="800000"/>
              <a:headEnd/>
              <a:tailEnd/>
            </a:ln>
            <a:effectLst/>
          </p:spPr>
          <p:txBody>
            <a:bodyPr wrap="none">
              <a:spAutoFit/>
            </a:bodyPr>
            <a:lstStyle/>
            <a:p>
              <a:pPr algn="ctr" eaLnBrk="1" hangingPunct="1"/>
              <a:r>
                <a:rPr kumimoji="1" lang="en-US" altLang="zh-CN" sz="2300" b="1">
                  <a:solidFill>
                    <a:srgbClr val="CC0066"/>
                  </a:solidFill>
                  <a:latin typeface="宋体" charset="-122"/>
                  <a:ea typeface="宋体" charset="-122"/>
                </a:rPr>
                <a:t>③</a:t>
              </a:r>
            </a:p>
          </p:txBody>
        </p:sp>
      </p:grpSp>
      <p:grpSp>
        <p:nvGrpSpPr>
          <p:cNvPr id="9" name="Group 38"/>
          <p:cNvGrpSpPr>
            <a:grpSpLocks/>
          </p:cNvGrpSpPr>
          <p:nvPr/>
        </p:nvGrpSpPr>
        <p:grpSpPr bwMode="auto">
          <a:xfrm>
            <a:off x="3221039" y="5827713"/>
            <a:ext cx="3811587" cy="514350"/>
            <a:chOff x="939" y="3741"/>
            <a:chExt cx="2401" cy="324"/>
          </a:xfrm>
        </p:grpSpPr>
        <p:grpSp>
          <p:nvGrpSpPr>
            <p:cNvPr id="10" name="Group 39"/>
            <p:cNvGrpSpPr>
              <a:grpSpLocks/>
            </p:cNvGrpSpPr>
            <p:nvPr/>
          </p:nvGrpSpPr>
          <p:grpSpPr bwMode="auto">
            <a:xfrm>
              <a:off x="1299" y="3786"/>
              <a:ext cx="2041" cy="279"/>
              <a:chOff x="1519" y="2432"/>
              <a:chExt cx="2041" cy="279"/>
            </a:xfrm>
          </p:grpSpPr>
          <p:sp>
            <p:nvSpPr>
              <p:cNvPr id="56379" name="Line 40"/>
              <p:cNvSpPr>
                <a:spLocks noChangeShapeType="1"/>
              </p:cNvSpPr>
              <p:nvPr/>
            </p:nvSpPr>
            <p:spPr bwMode="auto">
              <a:xfrm>
                <a:off x="1519" y="2432"/>
                <a:ext cx="2041" cy="0"/>
              </a:xfrm>
              <a:prstGeom prst="line">
                <a:avLst/>
              </a:prstGeom>
              <a:noFill/>
              <a:ln w="25400">
                <a:solidFill>
                  <a:srgbClr val="000080"/>
                </a:solidFill>
                <a:round/>
                <a:headEnd/>
                <a:tailEnd/>
              </a:ln>
              <a:effectLst/>
            </p:spPr>
            <p:txBody>
              <a:bodyPr wrap="none" anchor="ctr"/>
              <a:lstStyle/>
              <a:p>
                <a:endParaRPr lang="zh-CN" altLang="en-US"/>
              </a:p>
            </p:txBody>
          </p:sp>
          <p:sp>
            <p:nvSpPr>
              <p:cNvPr id="56380" name="Line 41"/>
              <p:cNvSpPr>
                <a:spLocks noChangeShapeType="1"/>
              </p:cNvSpPr>
              <p:nvPr/>
            </p:nvSpPr>
            <p:spPr bwMode="auto">
              <a:xfrm>
                <a:off x="1526" y="2439"/>
                <a:ext cx="0" cy="272"/>
              </a:xfrm>
              <a:prstGeom prst="line">
                <a:avLst/>
              </a:prstGeom>
              <a:noFill/>
              <a:ln w="28575">
                <a:solidFill>
                  <a:srgbClr val="000080"/>
                </a:solidFill>
                <a:round/>
                <a:headEnd/>
                <a:tailEnd/>
              </a:ln>
              <a:effectLst/>
            </p:spPr>
            <p:txBody>
              <a:bodyPr wrap="none" anchor="ctr"/>
              <a:lstStyle/>
              <a:p>
                <a:endParaRPr lang="zh-CN" altLang="en-US"/>
              </a:p>
            </p:txBody>
          </p:sp>
          <p:sp>
            <p:nvSpPr>
              <p:cNvPr id="56381" name="Line 42"/>
              <p:cNvSpPr>
                <a:spLocks noChangeShapeType="1"/>
              </p:cNvSpPr>
              <p:nvPr/>
            </p:nvSpPr>
            <p:spPr bwMode="auto">
              <a:xfrm>
                <a:off x="1830" y="2432"/>
                <a:ext cx="0" cy="272"/>
              </a:xfrm>
              <a:prstGeom prst="line">
                <a:avLst/>
              </a:prstGeom>
              <a:noFill/>
              <a:ln w="12700">
                <a:solidFill>
                  <a:srgbClr val="000080"/>
                </a:solidFill>
                <a:round/>
                <a:headEnd/>
                <a:tailEnd/>
              </a:ln>
              <a:effectLst/>
            </p:spPr>
            <p:txBody>
              <a:bodyPr wrap="none" anchor="ctr"/>
              <a:lstStyle/>
              <a:p>
                <a:endParaRPr lang="zh-CN" altLang="en-US"/>
              </a:p>
            </p:txBody>
          </p:sp>
          <p:sp>
            <p:nvSpPr>
              <p:cNvPr id="56382" name="Line 43"/>
              <p:cNvSpPr>
                <a:spLocks noChangeShapeType="1"/>
              </p:cNvSpPr>
              <p:nvPr/>
            </p:nvSpPr>
            <p:spPr bwMode="auto">
              <a:xfrm>
                <a:off x="2140" y="2432"/>
                <a:ext cx="0" cy="272"/>
              </a:xfrm>
              <a:prstGeom prst="line">
                <a:avLst/>
              </a:prstGeom>
              <a:noFill/>
              <a:ln w="12700">
                <a:solidFill>
                  <a:srgbClr val="000080"/>
                </a:solidFill>
                <a:round/>
                <a:headEnd/>
                <a:tailEnd/>
              </a:ln>
              <a:effectLst/>
            </p:spPr>
            <p:txBody>
              <a:bodyPr wrap="none" anchor="ctr"/>
              <a:lstStyle/>
              <a:p>
                <a:endParaRPr lang="zh-CN" altLang="en-US"/>
              </a:p>
            </p:txBody>
          </p:sp>
          <p:sp>
            <p:nvSpPr>
              <p:cNvPr id="56383" name="Line 44"/>
              <p:cNvSpPr>
                <a:spLocks noChangeShapeType="1"/>
              </p:cNvSpPr>
              <p:nvPr/>
            </p:nvSpPr>
            <p:spPr bwMode="auto">
              <a:xfrm>
                <a:off x="2451" y="2432"/>
                <a:ext cx="0" cy="272"/>
              </a:xfrm>
              <a:prstGeom prst="line">
                <a:avLst/>
              </a:prstGeom>
              <a:noFill/>
              <a:ln w="12700">
                <a:solidFill>
                  <a:srgbClr val="000080"/>
                </a:solidFill>
                <a:round/>
                <a:headEnd/>
                <a:tailEnd/>
              </a:ln>
              <a:effectLst/>
            </p:spPr>
            <p:txBody>
              <a:bodyPr wrap="none" anchor="ctr"/>
              <a:lstStyle/>
              <a:p>
                <a:endParaRPr lang="zh-CN" altLang="en-US"/>
              </a:p>
            </p:txBody>
          </p:sp>
          <p:sp>
            <p:nvSpPr>
              <p:cNvPr id="56384" name="Line 45"/>
              <p:cNvSpPr>
                <a:spLocks noChangeShapeType="1"/>
              </p:cNvSpPr>
              <p:nvPr/>
            </p:nvSpPr>
            <p:spPr bwMode="auto">
              <a:xfrm>
                <a:off x="2758" y="2432"/>
                <a:ext cx="0" cy="272"/>
              </a:xfrm>
              <a:prstGeom prst="line">
                <a:avLst/>
              </a:prstGeom>
              <a:noFill/>
              <a:ln w="12700">
                <a:solidFill>
                  <a:srgbClr val="000080"/>
                </a:solidFill>
                <a:round/>
                <a:headEnd/>
                <a:tailEnd/>
              </a:ln>
              <a:effectLst/>
            </p:spPr>
            <p:txBody>
              <a:bodyPr wrap="none" anchor="ctr"/>
              <a:lstStyle/>
              <a:p>
                <a:endParaRPr lang="zh-CN" altLang="en-US"/>
              </a:p>
            </p:txBody>
          </p:sp>
          <p:sp>
            <p:nvSpPr>
              <p:cNvPr id="56385" name="Line 46"/>
              <p:cNvSpPr>
                <a:spLocks noChangeShapeType="1"/>
              </p:cNvSpPr>
              <p:nvPr/>
            </p:nvSpPr>
            <p:spPr bwMode="auto">
              <a:xfrm>
                <a:off x="3061" y="2439"/>
                <a:ext cx="0" cy="272"/>
              </a:xfrm>
              <a:prstGeom prst="line">
                <a:avLst/>
              </a:prstGeom>
              <a:noFill/>
              <a:ln w="12700">
                <a:solidFill>
                  <a:srgbClr val="000080"/>
                </a:solidFill>
                <a:round/>
                <a:headEnd/>
                <a:tailEnd/>
              </a:ln>
              <a:effectLst/>
            </p:spPr>
            <p:txBody>
              <a:bodyPr wrap="none" anchor="ctr"/>
              <a:lstStyle/>
              <a:p>
                <a:endParaRPr lang="zh-CN" altLang="en-US"/>
              </a:p>
            </p:txBody>
          </p:sp>
          <p:sp>
            <p:nvSpPr>
              <p:cNvPr id="56386" name="Line 47"/>
              <p:cNvSpPr>
                <a:spLocks noChangeShapeType="1"/>
              </p:cNvSpPr>
              <p:nvPr/>
            </p:nvSpPr>
            <p:spPr bwMode="auto">
              <a:xfrm>
                <a:off x="1519" y="2708"/>
                <a:ext cx="2041" cy="0"/>
              </a:xfrm>
              <a:prstGeom prst="line">
                <a:avLst/>
              </a:prstGeom>
              <a:noFill/>
              <a:ln w="25400">
                <a:solidFill>
                  <a:srgbClr val="000080"/>
                </a:solidFill>
                <a:round/>
                <a:headEnd/>
                <a:tailEnd/>
              </a:ln>
              <a:effectLst/>
            </p:spPr>
            <p:txBody>
              <a:bodyPr wrap="none" anchor="ctr"/>
              <a:lstStyle/>
              <a:p>
                <a:endParaRPr lang="zh-CN" altLang="en-US"/>
              </a:p>
            </p:txBody>
          </p:sp>
        </p:grpSp>
        <p:sp>
          <p:nvSpPr>
            <p:cNvPr id="56378" name="Text Box 48"/>
            <p:cNvSpPr txBox="1">
              <a:spLocks noChangeArrowheads="1"/>
            </p:cNvSpPr>
            <p:nvPr/>
          </p:nvSpPr>
          <p:spPr bwMode="auto">
            <a:xfrm>
              <a:off x="939" y="3741"/>
              <a:ext cx="301" cy="279"/>
            </a:xfrm>
            <a:prstGeom prst="rect">
              <a:avLst/>
            </a:prstGeom>
            <a:noFill/>
            <a:ln w="9525">
              <a:noFill/>
              <a:miter lim="800000"/>
              <a:headEnd/>
              <a:tailEnd/>
            </a:ln>
            <a:effectLst/>
          </p:spPr>
          <p:txBody>
            <a:bodyPr wrap="none">
              <a:spAutoFit/>
            </a:bodyPr>
            <a:lstStyle/>
            <a:p>
              <a:pPr algn="ctr" eaLnBrk="1" hangingPunct="1"/>
              <a:r>
                <a:rPr kumimoji="1" lang="en-US" altLang="zh-CN" sz="2300" b="1">
                  <a:solidFill>
                    <a:srgbClr val="CC0066"/>
                  </a:solidFill>
                  <a:latin typeface="宋体" charset="-122"/>
                  <a:ea typeface="宋体" charset="-122"/>
                </a:rPr>
                <a:t>④</a:t>
              </a:r>
            </a:p>
          </p:txBody>
        </p:sp>
      </p:grpSp>
      <p:sp>
        <p:nvSpPr>
          <p:cNvPr id="813105" name="Text Box 49"/>
          <p:cNvSpPr txBox="1">
            <a:spLocks noChangeArrowheads="1"/>
          </p:cNvSpPr>
          <p:nvPr/>
        </p:nvSpPr>
        <p:spPr bwMode="auto">
          <a:xfrm>
            <a:off x="3832377" y="3671888"/>
            <a:ext cx="428322" cy="477054"/>
          </a:xfrm>
          <a:prstGeom prst="rect">
            <a:avLst/>
          </a:prstGeom>
          <a:noFill/>
          <a:ln w="9525">
            <a:noFill/>
            <a:miter lim="800000"/>
            <a:headEnd/>
            <a:tailEnd/>
          </a:ln>
          <a:effectLst/>
        </p:spPr>
        <p:txBody>
          <a:bodyPr wrap="none">
            <a:spAutoFit/>
          </a:bodyPr>
          <a:lstStyle/>
          <a:p>
            <a:pPr algn="ctr" eaLnBrk="1" hangingPunct="1"/>
            <a:r>
              <a:rPr kumimoji="1" lang="en-US" altLang="zh-CN" sz="2500" b="1">
                <a:solidFill>
                  <a:srgbClr val="FF0000"/>
                </a:solidFill>
                <a:ea typeface="宋体" charset="-122"/>
              </a:rPr>
              <a:t>a</a:t>
            </a:r>
            <a:r>
              <a:rPr kumimoji="1" lang="en-US" altLang="zh-CN" sz="2500" b="1" baseline="-22000">
                <a:solidFill>
                  <a:srgbClr val="FF0000"/>
                </a:solidFill>
                <a:ea typeface="宋体" charset="-122"/>
              </a:rPr>
              <a:t>1</a:t>
            </a:r>
          </a:p>
        </p:txBody>
      </p:sp>
      <p:sp>
        <p:nvSpPr>
          <p:cNvPr id="813106" name="Text Box 50"/>
          <p:cNvSpPr txBox="1">
            <a:spLocks noChangeArrowheads="1"/>
          </p:cNvSpPr>
          <p:nvPr/>
        </p:nvSpPr>
        <p:spPr bwMode="auto">
          <a:xfrm>
            <a:off x="7391400" y="3644901"/>
            <a:ext cx="503238" cy="549275"/>
          </a:xfrm>
          <a:prstGeom prst="rect">
            <a:avLst/>
          </a:prstGeom>
          <a:noFill/>
          <a:ln w="9525">
            <a:noFill/>
            <a:miter lim="800000"/>
            <a:headEnd/>
            <a:tailEnd/>
          </a:ln>
          <a:effectLst/>
        </p:spPr>
        <p:txBody>
          <a:bodyPr>
            <a:spAutoFit/>
          </a:bodyPr>
          <a:lstStyle/>
          <a:p>
            <a:pPr algn="ctr" eaLnBrk="1" hangingPunct="1"/>
            <a:r>
              <a:rPr kumimoji="1" lang="en-US" altLang="zh-CN" sz="3000" b="1">
                <a:solidFill>
                  <a:srgbClr val="FF0000"/>
                </a:solidFill>
                <a:ea typeface="宋体" charset="-122"/>
              </a:rPr>
              <a:t>a</a:t>
            </a:r>
            <a:r>
              <a:rPr kumimoji="1" lang="en-US" altLang="zh-CN" sz="3000" b="1" baseline="-22000">
                <a:solidFill>
                  <a:srgbClr val="FF0000"/>
                </a:solidFill>
                <a:ea typeface="宋体" charset="-122"/>
              </a:rPr>
              <a:t>1</a:t>
            </a:r>
          </a:p>
        </p:txBody>
      </p:sp>
      <p:sp>
        <p:nvSpPr>
          <p:cNvPr id="813107" name="Rectangle 51"/>
          <p:cNvSpPr>
            <a:spLocks noChangeArrowheads="1"/>
          </p:cNvSpPr>
          <p:nvPr/>
        </p:nvSpPr>
        <p:spPr bwMode="auto">
          <a:xfrm>
            <a:off x="3854451" y="3789364"/>
            <a:ext cx="360363" cy="338137"/>
          </a:xfrm>
          <a:prstGeom prst="rect">
            <a:avLst/>
          </a:prstGeom>
          <a:solidFill>
            <a:srgbClr val="FFFFFF"/>
          </a:solidFill>
          <a:ln w="9525">
            <a:noFill/>
            <a:miter lim="800000"/>
            <a:headEnd/>
            <a:tailEnd/>
          </a:ln>
          <a:effectLst/>
        </p:spPr>
        <p:txBody>
          <a:bodyPr wrap="none" anchor="ctr"/>
          <a:lstStyle/>
          <a:p>
            <a:pPr algn="ctr" eaLnBrk="1" hangingPunct="1"/>
            <a:endParaRPr kumimoji="1" lang="zh-CN" altLang="en-US" sz="2400" b="1">
              <a:solidFill>
                <a:srgbClr val="FFFFCC"/>
              </a:solidFill>
              <a:ea typeface="华文行楷" pitchFamily="2" charset="-122"/>
            </a:endParaRPr>
          </a:p>
        </p:txBody>
      </p:sp>
      <p:sp>
        <p:nvSpPr>
          <p:cNvPr id="813108" name="Text Box 52"/>
          <p:cNvSpPr txBox="1">
            <a:spLocks noChangeArrowheads="1"/>
          </p:cNvSpPr>
          <p:nvPr/>
        </p:nvSpPr>
        <p:spPr bwMode="auto">
          <a:xfrm>
            <a:off x="3787775" y="3671889"/>
            <a:ext cx="503238" cy="473075"/>
          </a:xfrm>
          <a:prstGeom prst="rect">
            <a:avLst/>
          </a:prstGeom>
          <a:noFill/>
          <a:ln w="9525">
            <a:noFill/>
            <a:miter lim="800000"/>
            <a:headEnd/>
            <a:tailEnd/>
          </a:ln>
          <a:effectLst/>
        </p:spPr>
        <p:txBody>
          <a:bodyPr>
            <a:spAutoFit/>
          </a:bodyPr>
          <a:lstStyle/>
          <a:p>
            <a:pPr algn="ctr" eaLnBrk="1" hangingPunct="1"/>
            <a:r>
              <a:rPr kumimoji="1" lang="en-US" altLang="zh-CN" sz="2500" b="1">
                <a:solidFill>
                  <a:srgbClr val="FF0000"/>
                </a:solidFill>
                <a:ea typeface="宋体" charset="-122"/>
              </a:rPr>
              <a:t>a</a:t>
            </a:r>
            <a:r>
              <a:rPr kumimoji="1" lang="en-US" altLang="zh-CN" sz="2500" b="1" baseline="-22000">
                <a:solidFill>
                  <a:srgbClr val="FF0000"/>
                </a:solidFill>
                <a:ea typeface="宋体" charset="-122"/>
              </a:rPr>
              <a:t>2</a:t>
            </a:r>
          </a:p>
        </p:txBody>
      </p:sp>
      <p:sp>
        <p:nvSpPr>
          <p:cNvPr id="813109" name="Text Box 53"/>
          <p:cNvSpPr txBox="1">
            <a:spLocks noChangeArrowheads="1"/>
          </p:cNvSpPr>
          <p:nvPr/>
        </p:nvSpPr>
        <p:spPr bwMode="auto">
          <a:xfrm>
            <a:off x="4241800" y="3683001"/>
            <a:ext cx="503238" cy="473075"/>
          </a:xfrm>
          <a:prstGeom prst="rect">
            <a:avLst/>
          </a:prstGeom>
          <a:noFill/>
          <a:ln w="9525">
            <a:noFill/>
            <a:miter lim="800000"/>
            <a:headEnd/>
            <a:tailEnd/>
          </a:ln>
          <a:effectLst/>
        </p:spPr>
        <p:txBody>
          <a:bodyPr>
            <a:spAutoFit/>
          </a:bodyPr>
          <a:lstStyle/>
          <a:p>
            <a:pPr algn="ctr" eaLnBrk="1" hangingPunct="1"/>
            <a:r>
              <a:rPr kumimoji="1" lang="en-US" altLang="zh-CN" sz="2500" b="1">
                <a:solidFill>
                  <a:srgbClr val="FF0000"/>
                </a:solidFill>
                <a:ea typeface="宋体" charset="-122"/>
              </a:rPr>
              <a:t>a</a:t>
            </a:r>
            <a:r>
              <a:rPr kumimoji="1" lang="en-US" altLang="zh-CN" sz="2500" b="1" baseline="-22000">
                <a:solidFill>
                  <a:srgbClr val="FF0000"/>
                </a:solidFill>
                <a:ea typeface="宋体" charset="-122"/>
              </a:rPr>
              <a:t>3</a:t>
            </a:r>
          </a:p>
        </p:txBody>
      </p:sp>
      <p:sp>
        <p:nvSpPr>
          <p:cNvPr id="813110" name="Rectangle 54"/>
          <p:cNvSpPr>
            <a:spLocks noChangeArrowheads="1"/>
          </p:cNvSpPr>
          <p:nvPr/>
        </p:nvSpPr>
        <p:spPr bwMode="auto">
          <a:xfrm>
            <a:off x="4324351" y="3800475"/>
            <a:ext cx="360363" cy="338138"/>
          </a:xfrm>
          <a:prstGeom prst="rect">
            <a:avLst/>
          </a:prstGeom>
          <a:solidFill>
            <a:srgbClr val="FFFFFF"/>
          </a:solidFill>
          <a:ln w="9525">
            <a:noFill/>
            <a:miter lim="800000"/>
            <a:headEnd/>
            <a:tailEnd/>
          </a:ln>
          <a:effectLst/>
        </p:spPr>
        <p:txBody>
          <a:bodyPr wrap="none" anchor="ctr"/>
          <a:lstStyle/>
          <a:p>
            <a:pPr algn="ctr" eaLnBrk="1" hangingPunct="1"/>
            <a:endParaRPr kumimoji="1" lang="zh-CN" altLang="en-US" sz="2400" b="1">
              <a:solidFill>
                <a:srgbClr val="FFFFCC"/>
              </a:solidFill>
              <a:ea typeface="华文行楷" pitchFamily="2" charset="-122"/>
            </a:endParaRPr>
          </a:p>
        </p:txBody>
      </p:sp>
      <p:sp>
        <p:nvSpPr>
          <p:cNvPr id="813111" name="Text Box 55"/>
          <p:cNvSpPr txBox="1">
            <a:spLocks noChangeArrowheads="1"/>
          </p:cNvSpPr>
          <p:nvPr/>
        </p:nvSpPr>
        <p:spPr bwMode="auto">
          <a:xfrm>
            <a:off x="7729538" y="3633789"/>
            <a:ext cx="863600" cy="549275"/>
          </a:xfrm>
          <a:prstGeom prst="rect">
            <a:avLst/>
          </a:prstGeom>
          <a:noFill/>
          <a:ln w="9525">
            <a:noFill/>
            <a:miter lim="800000"/>
            <a:headEnd/>
            <a:tailEnd/>
          </a:ln>
          <a:effectLst/>
        </p:spPr>
        <p:txBody>
          <a:bodyPr>
            <a:spAutoFit/>
          </a:bodyPr>
          <a:lstStyle/>
          <a:p>
            <a:pPr eaLnBrk="1" hangingPunct="1"/>
            <a:r>
              <a:rPr kumimoji="1" lang="en-US" altLang="zh-CN" sz="3000" b="1">
                <a:solidFill>
                  <a:srgbClr val="FF0000"/>
                </a:solidFill>
                <a:ea typeface="宋体" charset="-122"/>
              </a:rPr>
              <a:t>, a</a:t>
            </a:r>
            <a:r>
              <a:rPr kumimoji="1" lang="en-US" altLang="zh-CN" sz="3000" b="1" baseline="-22000">
                <a:solidFill>
                  <a:srgbClr val="FF0000"/>
                </a:solidFill>
                <a:ea typeface="宋体" charset="-122"/>
              </a:rPr>
              <a:t>3</a:t>
            </a:r>
          </a:p>
        </p:txBody>
      </p:sp>
      <p:sp>
        <p:nvSpPr>
          <p:cNvPr id="813112" name="Text Box 56"/>
          <p:cNvSpPr txBox="1">
            <a:spLocks noChangeArrowheads="1"/>
          </p:cNvSpPr>
          <p:nvPr/>
        </p:nvSpPr>
        <p:spPr bwMode="auto">
          <a:xfrm>
            <a:off x="4264025" y="3689351"/>
            <a:ext cx="503238" cy="473075"/>
          </a:xfrm>
          <a:prstGeom prst="rect">
            <a:avLst/>
          </a:prstGeom>
          <a:noFill/>
          <a:ln w="9525">
            <a:noFill/>
            <a:miter lim="800000"/>
            <a:headEnd/>
            <a:tailEnd/>
          </a:ln>
          <a:effectLst/>
        </p:spPr>
        <p:txBody>
          <a:bodyPr>
            <a:spAutoFit/>
          </a:bodyPr>
          <a:lstStyle/>
          <a:p>
            <a:pPr algn="ctr" eaLnBrk="1" hangingPunct="1"/>
            <a:r>
              <a:rPr kumimoji="1" lang="en-US" altLang="zh-CN" sz="2500" b="1">
                <a:solidFill>
                  <a:srgbClr val="FF0000"/>
                </a:solidFill>
                <a:ea typeface="宋体" charset="-122"/>
              </a:rPr>
              <a:t>a</a:t>
            </a:r>
            <a:r>
              <a:rPr kumimoji="1" lang="en-US" altLang="zh-CN" sz="2500" b="1" baseline="-22000">
                <a:solidFill>
                  <a:srgbClr val="FF0000"/>
                </a:solidFill>
                <a:ea typeface="宋体" charset="-122"/>
              </a:rPr>
              <a:t>4</a:t>
            </a:r>
          </a:p>
        </p:txBody>
      </p:sp>
      <p:sp>
        <p:nvSpPr>
          <p:cNvPr id="813113" name="Rectangle 57"/>
          <p:cNvSpPr>
            <a:spLocks noChangeArrowheads="1"/>
          </p:cNvSpPr>
          <p:nvPr/>
        </p:nvSpPr>
        <p:spPr bwMode="auto">
          <a:xfrm>
            <a:off x="4286251" y="3816350"/>
            <a:ext cx="360363" cy="338138"/>
          </a:xfrm>
          <a:prstGeom prst="rect">
            <a:avLst/>
          </a:prstGeom>
          <a:solidFill>
            <a:srgbClr val="FFFFFF"/>
          </a:solidFill>
          <a:ln w="9525">
            <a:noFill/>
            <a:miter lim="800000"/>
            <a:headEnd/>
            <a:tailEnd/>
          </a:ln>
          <a:effectLst/>
        </p:spPr>
        <p:txBody>
          <a:bodyPr wrap="none" anchor="ctr"/>
          <a:lstStyle/>
          <a:p>
            <a:pPr algn="ctr" eaLnBrk="1" hangingPunct="1"/>
            <a:endParaRPr kumimoji="1" lang="zh-CN" altLang="en-US" sz="2400" b="1">
              <a:solidFill>
                <a:srgbClr val="FFFFCC"/>
              </a:solidFill>
              <a:ea typeface="华文行楷" pitchFamily="2" charset="-122"/>
            </a:endParaRPr>
          </a:p>
        </p:txBody>
      </p:sp>
      <p:sp>
        <p:nvSpPr>
          <p:cNvPr id="813114" name="Text Box 58"/>
          <p:cNvSpPr txBox="1">
            <a:spLocks noChangeArrowheads="1"/>
          </p:cNvSpPr>
          <p:nvPr/>
        </p:nvSpPr>
        <p:spPr bwMode="auto">
          <a:xfrm>
            <a:off x="8267700" y="3616326"/>
            <a:ext cx="863600" cy="549275"/>
          </a:xfrm>
          <a:prstGeom prst="rect">
            <a:avLst/>
          </a:prstGeom>
          <a:noFill/>
          <a:ln w="9525">
            <a:noFill/>
            <a:miter lim="800000"/>
            <a:headEnd/>
            <a:tailEnd/>
          </a:ln>
          <a:effectLst/>
        </p:spPr>
        <p:txBody>
          <a:bodyPr>
            <a:spAutoFit/>
          </a:bodyPr>
          <a:lstStyle/>
          <a:p>
            <a:pPr eaLnBrk="1" hangingPunct="1"/>
            <a:r>
              <a:rPr kumimoji="1" lang="en-US" altLang="zh-CN" sz="3000" b="1">
                <a:solidFill>
                  <a:srgbClr val="FF0000"/>
                </a:solidFill>
                <a:ea typeface="宋体" charset="-122"/>
              </a:rPr>
              <a:t>, a</a:t>
            </a:r>
            <a:r>
              <a:rPr kumimoji="1" lang="en-US" altLang="zh-CN" sz="3000" b="1" baseline="-22000">
                <a:solidFill>
                  <a:srgbClr val="FF0000"/>
                </a:solidFill>
                <a:ea typeface="宋体" charset="-122"/>
              </a:rPr>
              <a:t>4</a:t>
            </a:r>
          </a:p>
        </p:txBody>
      </p:sp>
      <p:sp>
        <p:nvSpPr>
          <p:cNvPr id="813115" name="Rectangle 59"/>
          <p:cNvSpPr>
            <a:spLocks noChangeArrowheads="1"/>
          </p:cNvSpPr>
          <p:nvPr/>
        </p:nvSpPr>
        <p:spPr bwMode="auto">
          <a:xfrm>
            <a:off x="3854451" y="3800475"/>
            <a:ext cx="360363" cy="338138"/>
          </a:xfrm>
          <a:prstGeom prst="rect">
            <a:avLst/>
          </a:prstGeom>
          <a:solidFill>
            <a:srgbClr val="FFFFFF"/>
          </a:solidFill>
          <a:ln w="9525">
            <a:noFill/>
            <a:miter lim="800000"/>
            <a:headEnd/>
            <a:tailEnd/>
          </a:ln>
          <a:effectLst/>
        </p:spPr>
        <p:txBody>
          <a:bodyPr wrap="none" anchor="ctr"/>
          <a:lstStyle/>
          <a:p>
            <a:pPr algn="ctr" eaLnBrk="1" hangingPunct="1"/>
            <a:endParaRPr kumimoji="1" lang="zh-CN" altLang="en-US" sz="2400" b="1">
              <a:solidFill>
                <a:srgbClr val="FFFFCC"/>
              </a:solidFill>
              <a:ea typeface="华文行楷" pitchFamily="2" charset="-122"/>
            </a:endParaRPr>
          </a:p>
        </p:txBody>
      </p:sp>
      <p:sp>
        <p:nvSpPr>
          <p:cNvPr id="813116" name="Text Box 60"/>
          <p:cNvSpPr txBox="1">
            <a:spLocks noChangeArrowheads="1"/>
          </p:cNvSpPr>
          <p:nvPr/>
        </p:nvSpPr>
        <p:spPr bwMode="auto">
          <a:xfrm>
            <a:off x="8782050" y="3644901"/>
            <a:ext cx="863600" cy="549275"/>
          </a:xfrm>
          <a:prstGeom prst="rect">
            <a:avLst/>
          </a:prstGeom>
          <a:noFill/>
          <a:ln w="9525">
            <a:noFill/>
            <a:miter lim="800000"/>
            <a:headEnd/>
            <a:tailEnd/>
          </a:ln>
          <a:effectLst/>
        </p:spPr>
        <p:txBody>
          <a:bodyPr>
            <a:spAutoFit/>
          </a:bodyPr>
          <a:lstStyle/>
          <a:p>
            <a:pPr eaLnBrk="1" hangingPunct="1"/>
            <a:r>
              <a:rPr kumimoji="1" lang="en-US" altLang="zh-CN" sz="3000" b="1">
                <a:solidFill>
                  <a:srgbClr val="FF0000"/>
                </a:solidFill>
                <a:ea typeface="宋体" charset="-122"/>
              </a:rPr>
              <a:t>, a</a:t>
            </a:r>
            <a:r>
              <a:rPr kumimoji="1" lang="en-US" altLang="zh-CN" sz="3000" b="1" baseline="-22000">
                <a:solidFill>
                  <a:srgbClr val="FF0000"/>
                </a:solidFill>
                <a:ea typeface="宋体" charset="-122"/>
              </a:rPr>
              <a:t>2</a:t>
            </a:r>
          </a:p>
        </p:txBody>
      </p:sp>
      <p:sp>
        <p:nvSpPr>
          <p:cNvPr id="813117" name="Freeform 61"/>
          <p:cNvSpPr>
            <a:spLocks/>
          </p:cNvSpPr>
          <p:nvPr/>
        </p:nvSpPr>
        <p:spPr bwMode="auto">
          <a:xfrm>
            <a:off x="9536114" y="1779072"/>
            <a:ext cx="287337" cy="369332"/>
          </a:xfrm>
          <a:custGeom>
            <a:avLst/>
            <a:gdLst>
              <a:gd name="T0" fmla="*/ 2147483647 w 779"/>
              <a:gd name="T1" fmla="*/ 2147483647 h 611"/>
              <a:gd name="T2" fmla="*/ 2147483647 w 779"/>
              <a:gd name="T3" fmla="*/ 2147483647 h 611"/>
              <a:gd name="T4" fmla="*/ 2147483647 w 779"/>
              <a:gd name="T5" fmla="*/ 2147483647 h 611"/>
              <a:gd name="T6" fmla="*/ 2147483647 w 779"/>
              <a:gd name="T7" fmla="*/ 2147483647 h 611"/>
              <a:gd name="T8" fmla="*/ 2147483647 w 779"/>
              <a:gd name="T9" fmla="*/ 2147483647 h 611"/>
              <a:gd name="T10" fmla="*/ 2147483647 w 779"/>
              <a:gd name="T11" fmla="*/ 2147483647 h 611"/>
              <a:gd name="T12" fmla="*/ 2147483647 w 779"/>
              <a:gd name="T13" fmla="*/ 2147483647 h 611"/>
              <a:gd name="T14" fmla="*/ 2147483647 w 779"/>
              <a:gd name="T15" fmla="*/ 2147483647 h 611"/>
              <a:gd name="T16" fmla="*/ 2147483647 w 779"/>
              <a:gd name="T17" fmla="*/ 2147483647 h 611"/>
              <a:gd name="T18" fmla="*/ 2147483647 w 779"/>
              <a:gd name="T19" fmla="*/ 2147483647 h 611"/>
              <a:gd name="T20" fmla="*/ 2147483647 w 779"/>
              <a:gd name="T21" fmla="*/ 2147483647 h 611"/>
              <a:gd name="T22" fmla="*/ 2147483647 w 779"/>
              <a:gd name="T23" fmla="*/ 2147483647 h 611"/>
              <a:gd name="T24" fmla="*/ 2147483647 w 779"/>
              <a:gd name="T25" fmla="*/ 2147483647 h 611"/>
              <a:gd name="T26" fmla="*/ 2147483647 w 779"/>
              <a:gd name="T27" fmla="*/ 2147483647 h 611"/>
              <a:gd name="T28" fmla="*/ 2147483647 w 779"/>
              <a:gd name="T29" fmla="*/ 2147483647 h 611"/>
              <a:gd name="T30" fmla="*/ 0 w 779"/>
              <a:gd name="T31" fmla="*/ 2147483647 h 611"/>
              <a:gd name="T32" fmla="*/ 2147483647 w 779"/>
              <a:gd name="T33" fmla="*/ 2147483647 h 611"/>
              <a:gd name="T34" fmla="*/ 2147483647 w 779"/>
              <a:gd name="T35" fmla="*/ 2147483647 h 611"/>
              <a:gd name="T36" fmla="*/ 2147483647 w 779"/>
              <a:gd name="T37" fmla="*/ 2147483647 h 611"/>
              <a:gd name="T38" fmla="*/ 2147483647 w 779"/>
              <a:gd name="T39" fmla="*/ 2147483647 h 611"/>
              <a:gd name="T40" fmla="*/ 2147483647 w 779"/>
              <a:gd name="T41" fmla="*/ 2147483647 h 611"/>
              <a:gd name="T42" fmla="*/ 2147483647 w 779"/>
              <a:gd name="T43" fmla="*/ 2147483647 h 611"/>
              <a:gd name="T44" fmla="*/ 2147483647 w 779"/>
              <a:gd name="T45" fmla="*/ 2147483647 h 611"/>
              <a:gd name="T46" fmla="*/ 2147483647 w 779"/>
              <a:gd name="T47" fmla="*/ 2147483647 h 611"/>
              <a:gd name="T48" fmla="*/ 2147483647 w 779"/>
              <a:gd name="T49" fmla="*/ 2147483647 h 611"/>
              <a:gd name="T50" fmla="*/ 2147483647 w 779"/>
              <a:gd name="T51" fmla="*/ 2147483647 h 611"/>
              <a:gd name="T52" fmla="*/ 2147483647 w 779"/>
              <a:gd name="T53" fmla="*/ 2147483647 h 611"/>
              <a:gd name="T54" fmla="*/ 2147483647 w 779"/>
              <a:gd name="T55" fmla="*/ 2147483647 h 611"/>
              <a:gd name="T56" fmla="*/ 2147483647 w 779"/>
              <a:gd name="T57" fmla="*/ 2147483647 h 611"/>
              <a:gd name="T58" fmla="*/ 2147483647 w 779"/>
              <a:gd name="T59" fmla="*/ 0 h 611"/>
              <a:gd name="T60" fmla="*/ 2147483647 w 779"/>
              <a:gd name="T61" fmla="*/ 2147483647 h 611"/>
              <a:gd name="T62" fmla="*/ 2147483647 w 779"/>
              <a:gd name="T63" fmla="*/ 2147483647 h 611"/>
              <a:gd name="T64" fmla="*/ 2147483647 w 779"/>
              <a:gd name="T65" fmla="*/ 2147483647 h 611"/>
              <a:gd name="T66" fmla="*/ 2147483647 w 779"/>
              <a:gd name="T67" fmla="*/ 2147483647 h 6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779" h="611">
                <a:moveTo>
                  <a:pt x="686" y="145"/>
                </a:moveTo>
                <a:lnTo>
                  <a:pt x="616" y="199"/>
                </a:lnTo>
                <a:lnTo>
                  <a:pt x="548" y="249"/>
                </a:lnTo>
                <a:lnTo>
                  <a:pt x="481" y="305"/>
                </a:lnTo>
                <a:lnTo>
                  <a:pt x="416" y="361"/>
                </a:lnTo>
                <a:lnTo>
                  <a:pt x="355" y="421"/>
                </a:lnTo>
                <a:lnTo>
                  <a:pt x="294" y="483"/>
                </a:lnTo>
                <a:lnTo>
                  <a:pt x="236" y="548"/>
                </a:lnTo>
                <a:lnTo>
                  <a:pt x="187" y="610"/>
                </a:lnTo>
                <a:lnTo>
                  <a:pt x="138" y="521"/>
                </a:lnTo>
                <a:lnTo>
                  <a:pt x="104" y="465"/>
                </a:lnTo>
                <a:lnTo>
                  <a:pt x="58" y="409"/>
                </a:lnTo>
                <a:lnTo>
                  <a:pt x="15" y="367"/>
                </a:lnTo>
                <a:lnTo>
                  <a:pt x="40" y="347"/>
                </a:lnTo>
                <a:lnTo>
                  <a:pt x="18" y="329"/>
                </a:lnTo>
                <a:lnTo>
                  <a:pt x="0" y="311"/>
                </a:lnTo>
                <a:lnTo>
                  <a:pt x="37" y="284"/>
                </a:lnTo>
                <a:lnTo>
                  <a:pt x="67" y="314"/>
                </a:lnTo>
                <a:lnTo>
                  <a:pt x="95" y="344"/>
                </a:lnTo>
                <a:lnTo>
                  <a:pt x="122" y="382"/>
                </a:lnTo>
                <a:lnTo>
                  <a:pt x="156" y="433"/>
                </a:lnTo>
                <a:lnTo>
                  <a:pt x="196" y="507"/>
                </a:lnTo>
                <a:lnTo>
                  <a:pt x="266" y="430"/>
                </a:lnTo>
                <a:lnTo>
                  <a:pt x="331" y="364"/>
                </a:lnTo>
                <a:lnTo>
                  <a:pt x="398" y="299"/>
                </a:lnTo>
                <a:lnTo>
                  <a:pt x="469" y="234"/>
                </a:lnTo>
                <a:lnTo>
                  <a:pt x="539" y="172"/>
                </a:lnTo>
                <a:lnTo>
                  <a:pt x="613" y="113"/>
                </a:lnTo>
                <a:lnTo>
                  <a:pt x="686" y="53"/>
                </a:lnTo>
                <a:lnTo>
                  <a:pt x="763" y="0"/>
                </a:lnTo>
                <a:lnTo>
                  <a:pt x="778" y="33"/>
                </a:lnTo>
                <a:lnTo>
                  <a:pt x="726" y="74"/>
                </a:lnTo>
                <a:lnTo>
                  <a:pt x="741" y="110"/>
                </a:lnTo>
                <a:lnTo>
                  <a:pt x="686" y="145"/>
                </a:lnTo>
                <a:close/>
              </a:path>
            </a:pathLst>
          </a:custGeom>
          <a:solidFill>
            <a:srgbClr val="FFFF00"/>
          </a:solidFill>
          <a:ln w="3175" cap="flat">
            <a:noFill/>
            <a:prstDash val="solid"/>
            <a:round/>
            <a:headEnd/>
            <a:tailEnd/>
          </a:ln>
          <a:effectLst/>
        </p:spPr>
        <p:txBody>
          <a:bodyPr anchor="ctr">
            <a:spAutoFit/>
          </a:bodyPr>
          <a:lstStyle/>
          <a:p>
            <a:endParaRPr lang="zh-CN" altLang="en-US"/>
          </a:p>
        </p:txBody>
      </p:sp>
      <p:grpSp>
        <p:nvGrpSpPr>
          <p:cNvPr id="11" name="Group 62"/>
          <p:cNvGrpSpPr>
            <a:grpSpLocks/>
          </p:cNvGrpSpPr>
          <p:nvPr/>
        </p:nvGrpSpPr>
        <p:grpSpPr bwMode="auto">
          <a:xfrm>
            <a:off x="9574213" y="2198688"/>
            <a:ext cx="176212" cy="220662"/>
            <a:chOff x="5012" y="1434"/>
            <a:chExt cx="111" cy="139"/>
          </a:xfrm>
        </p:grpSpPr>
        <p:sp>
          <p:nvSpPr>
            <p:cNvPr id="56375" name="Freeform 63"/>
            <p:cNvSpPr>
              <a:spLocks/>
            </p:cNvSpPr>
            <p:nvPr/>
          </p:nvSpPr>
          <p:spPr bwMode="auto">
            <a:xfrm>
              <a:off x="5033" y="1434"/>
              <a:ext cx="90" cy="136"/>
            </a:xfrm>
            <a:custGeom>
              <a:avLst/>
              <a:gdLst>
                <a:gd name="T0" fmla="*/ 90 w 90"/>
                <a:gd name="T1" fmla="*/ 0 h 136"/>
                <a:gd name="T2" fmla="*/ 45 w 90"/>
                <a:gd name="T3" fmla="*/ 45 h 136"/>
                <a:gd name="T4" fmla="*/ 0 w 90"/>
                <a:gd name="T5" fmla="*/ 136 h 136"/>
                <a:gd name="T6" fmla="*/ 0 60000 65536"/>
                <a:gd name="T7" fmla="*/ 0 60000 65536"/>
                <a:gd name="T8" fmla="*/ 0 60000 65536"/>
              </a:gdLst>
              <a:ahLst/>
              <a:cxnLst>
                <a:cxn ang="T6">
                  <a:pos x="T0" y="T1"/>
                </a:cxn>
                <a:cxn ang="T7">
                  <a:pos x="T2" y="T3"/>
                </a:cxn>
                <a:cxn ang="T8">
                  <a:pos x="T4" y="T5"/>
                </a:cxn>
              </a:cxnLst>
              <a:rect l="0" t="0" r="r" b="b"/>
              <a:pathLst>
                <a:path w="90" h="136">
                  <a:moveTo>
                    <a:pt x="90" y="0"/>
                  </a:moveTo>
                  <a:cubicBezTo>
                    <a:pt x="75" y="11"/>
                    <a:pt x="60" y="22"/>
                    <a:pt x="45" y="45"/>
                  </a:cubicBezTo>
                  <a:cubicBezTo>
                    <a:pt x="30" y="68"/>
                    <a:pt x="7" y="121"/>
                    <a:pt x="0" y="136"/>
                  </a:cubicBezTo>
                </a:path>
              </a:pathLst>
            </a:custGeom>
            <a:noFill/>
            <a:ln w="25400" cap="flat" cmpd="sng">
              <a:solidFill>
                <a:srgbClr val="FFFF00"/>
              </a:solidFill>
              <a:prstDash val="solid"/>
              <a:round/>
              <a:headEnd/>
              <a:tailEnd/>
            </a:ln>
            <a:effectLst/>
          </p:spPr>
          <p:txBody>
            <a:bodyPr wrap="none" anchor="ctr"/>
            <a:lstStyle/>
            <a:p>
              <a:endParaRPr lang="zh-CN" altLang="en-US"/>
            </a:p>
          </p:txBody>
        </p:sp>
        <p:sp>
          <p:nvSpPr>
            <p:cNvPr id="56376" name="Freeform 64"/>
            <p:cNvSpPr>
              <a:spLocks/>
            </p:cNvSpPr>
            <p:nvPr/>
          </p:nvSpPr>
          <p:spPr bwMode="auto">
            <a:xfrm flipH="1">
              <a:off x="5012" y="1437"/>
              <a:ext cx="90" cy="136"/>
            </a:xfrm>
            <a:custGeom>
              <a:avLst/>
              <a:gdLst>
                <a:gd name="T0" fmla="*/ 90 w 90"/>
                <a:gd name="T1" fmla="*/ 0 h 136"/>
                <a:gd name="T2" fmla="*/ 45 w 90"/>
                <a:gd name="T3" fmla="*/ 45 h 136"/>
                <a:gd name="T4" fmla="*/ 0 w 90"/>
                <a:gd name="T5" fmla="*/ 136 h 136"/>
                <a:gd name="T6" fmla="*/ 0 60000 65536"/>
                <a:gd name="T7" fmla="*/ 0 60000 65536"/>
                <a:gd name="T8" fmla="*/ 0 60000 65536"/>
              </a:gdLst>
              <a:ahLst/>
              <a:cxnLst>
                <a:cxn ang="T6">
                  <a:pos x="T0" y="T1"/>
                </a:cxn>
                <a:cxn ang="T7">
                  <a:pos x="T2" y="T3"/>
                </a:cxn>
                <a:cxn ang="T8">
                  <a:pos x="T4" y="T5"/>
                </a:cxn>
              </a:cxnLst>
              <a:rect l="0" t="0" r="r" b="b"/>
              <a:pathLst>
                <a:path w="90" h="136">
                  <a:moveTo>
                    <a:pt x="90" y="0"/>
                  </a:moveTo>
                  <a:cubicBezTo>
                    <a:pt x="75" y="11"/>
                    <a:pt x="60" y="22"/>
                    <a:pt x="45" y="45"/>
                  </a:cubicBezTo>
                  <a:cubicBezTo>
                    <a:pt x="30" y="68"/>
                    <a:pt x="7" y="121"/>
                    <a:pt x="0" y="136"/>
                  </a:cubicBezTo>
                </a:path>
              </a:pathLst>
            </a:custGeom>
            <a:noFill/>
            <a:ln w="19050" cap="flat" cmpd="sng">
              <a:solidFill>
                <a:srgbClr val="FFFF00"/>
              </a:solidFill>
              <a:prstDash val="solid"/>
              <a:round/>
              <a:headEnd/>
              <a:tailEnd/>
            </a:ln>
            <a:effectLst/>
          </p:spPr>
          <p:txBody>
            <a:bodyPr wrap="none" anchor="ctr"/>
            <a:lstStyle/>
            <a:p>
              <a:endParaRPr lang="zh-CN" altLang="en-US"/>
            </a:p>
          </p:txBody>
        </p:sp>
      </p:grpSp>
      <p:sp>
        <p:nvSpPr>
          <p:cNvPr id="813121" name="Text Box 65"/>
          <p:cNvSpPr txBox="1">
            <a:spLocks noChangeArrowheads="1"/>
          </p:cNvSpPr>
          <p:nvPr/>
        </p:nvSpPr>
        <p:spPr bwMode="auto">
          <a:xfrm rot="10800000" flipV="1">
            <a:off x="3798889" y="4392614"/>
            <a:ext cx="503237" cy="473075"/>
          </a:xfrm>
          <a:prstGeom prst="rect">
            <a:avLst/>
          </a:prstGeom>
          <a:noFill/>
          <a:ln w="9525">
            <a:noFill/>
            <a:miter lim="800000"/>
            <a:headEnd/>
            <a:tailEnd/>
          </a:ln>
          <a:effectLst/>
        </p:spPr>
        <p:txBody>
          <a:bodyPr>
            <a:spAutoFit/>
          </a:bodyPr>
          <a:lstStyle/>
          <a:p>
            <a:pPr algn="ctr" eaLnBrk="1" hangingPunct="1"/>
            <a:r>
              <a:rPr kumimoji="1" lang="en-US" altLang="zh-CN" sz="2500" b="1">
                <a:solidFill>
                  <a:srgbClr val="FF0000"/>
                </a:solidFill>
                <a:ea typeface="宋体" charset="-122"/>
              </a:rPr>
              <a:t>a</a:t>
            </a:r>
            <a:r>
              <a:rPr kumimoji="1" lang="en-US" altLang="zh-CN" sz="2500" b="1" baseline="-22000">
                <a:solidFill>
                  <a:srgbClr val="FF0000"/>
                </a:solidFill>
                <a:ea typeface="宋体" charset="-122"/>
              </a:rPr>
              <a:t>1</a:t>
            </a:r>
          </a:p>
        </p:txBody>
      </p:sp>
      <p:sp>
        <p:nvSpPr>
          <p:cNvPr id="813122" name="Rectangle 66"/>
          <p:cNvSpPr>
            <a:spLocks noChangeArrowheads="1"/>
          </p:cNvSpPr>
          <p:nvPr/>
        </p:nvSpPr>
        <p:spPr bwMode="auto">
          <a:xfrm>
            <a:off x="3854451" y="4508500"/>
            <a:ext cx="360363" cy="338138"/>
          </a:xfrm>
          <a:prstGeom prst="rect">
            <a:avLst/>
          </a:prstGeom>
          <a:solidFill>
            <a:srgbClr val="FFFFFF"/>
          </a:solidFill>
          <a:ln w="9525">
            <a:noFill/>
            <a:miter lim="800000"/>
            <a:headEnd/>
            <a:tailEnd/>
          </a:ln>
          <a:effectLst/>
        </p:spPr>
        <p:txBody>
          <a:bodyPr wrap="none" anchor="ctr"/>
          <a:lstStyle/>
          <a:p>
            <a:pPr algn="ctr" eaLnBrk="1" hangingPunct="1"/>
            <a:endParaRPr kumimoji="1" lang="zh-CN" altLang="en-US" sz="2400" b="1">
              <a:solidFill>
                <a:srgbClr val="FFFFCC"/>
              </a:solidFill>
              <a:ea typeface="华文行楷" pitchFamily="2" charset="-122"/>
            </a:endParaRPr>
          </a:p>
        </p:txBody>
      </p:sp>
      <p:sp>
        <p:nvSpPr>
          <p:cNvPr id="813123" name="Text Box 67"/>
          <p:cNvSpPr txBox="1">
            <a:spLocks noChangeArrowheads="1"/>
          </p:cNvSpPr>
          <p:nvPr/>
        </p:nvSpPr>
        <p:spPr bwMode="auto">
          <a:xfrm>
            <a:off x="7397750" y="4330701"/>
            <a:ext cx="503238" cy="549275"/>
          </a:xfrm>
          <a:prstGeom prst="rect">
            <a:avLst/>
          </a:prstGeom>
          <a:noFill/>
          <a:ln w="9525">
            <a:noFill/>
            <a:miter lim="800000"/>
            <a:headEnd/>
            <a:tailEnd/>
          </a:ln>
          <a:effectLst/>
        </p:spPr>
        <p:txBody>
          <a:bodyPr>
            <a:spAutoFit/>
          </a:bodyPr>
          <a:lstStyle/>
          <a:p>
            <a:pPr algn="ctr" eaLnBrk="1" hangingPunct="1"/>
            <a:r>
              <a:rPr kumimoji="1" lang="en-US" altLang="zh-CN" sz="3000" b="1">
                <a:solidFill>
                  <a:srgbClr val="FF0000"/>
                </a:solidFill>
                <a:ea typeface="宋体" charset="-122"/>
              </a:rPr>
              <a:t>a</a:t>
            </a:r>
            <a:r>
              <a:rPr kumimoji="1" lang="en-US" altLang="zh-CN" sz="3000" b="1" baseline="-22000">
                <a:solidFill>
                  <a:srgbClr val="FF0000"/>
                </a:solidFill>
                <a:ea typeface="宋体" charset="-122"/>
              </a:rPr>
              <a:t>1</a:t>
            </a:r>
          </a:p>
        </p:txBody>
      </p:sp>
      <p:sp>
        <p:nvSpPr>
          <p:cNvPr id="813124" name="Text Box 68"/>
          <p:cNvSpPr txBox="1">
            <a:spLocks noChangeArrowheads="1"/>
          </p:cNvSpPr>
          <p:nvPr/>
        </p:nvSpPr>
        <p:spPr bwMode="auto">
          <a:xfrm rot="10800000" flipV="1">
            <a:off x="3781425" y="5102226"/>
            <a:ext cx="503238" cy="473075"/>
          </a:xfrm>
          <a:prstGeom prst="rect">
            <a:avLst/>
          </a:prstGeom>
          <a:noFill/>
          <a:ln w="9525">
            <a:noFill/>
            <a:miter lim="800000"/>
            <a:headEnd/>
            <a:tailEnd/>
          </a:ln>
          <a:effectLst/>
        </p:spPr>
        <p:txBody>
          <a:bodyPr>
            <a:spAutoFit/>
          </a:bodyPr>
          <a:lstStyle/>
          <a:p>
            <a:pPr algn="ctr" eaLnBrk="1" hangingPunct="1"/>
            <a:r>
              <a:rPr kumimoji="1" lang="en-US" altLang="zh-CN" sz="2500" b="1">
                <a:solidFill>
                  <a:srgbClr val="FF0000"/>
                </a:solidFill>
                <a:ea typeface="宋体" charset="-122"/>
              </a:rPr>
              <a:t>a</a:t>
            </a:r>
            <a:r>
              <a:rPr kumimoji="1" lang="en-US" altLang="zh-CN" sz="2500" b="1" baseline="-22000">
                <a:solidFill>
                  <a:srgbClr val="FF0000"/>
                </a:solidFill>
                <a:ea typeface="宋体" charset="-122"/>
              </a:rPr>
              <a:t>1</a:t>
            </a:r>
          </a:p>
        </p:txBody>
      </p:sp>
      <p:sp>
        <p:nvSpPr>
          <p:cNvPr id="813125" name="Text Box 69"/>
          <p:cNvSpPr txBox="1">
            <a:spLocks noChangeArrowheads="1"/>
          </p:cNvSpPr>
          <p:nvPr/>
        </p:nvSpPr>
        <p:spPr bwMode="auto">
          <a:xfrm rot="10800000" flipV="1">
            <a:off x="4264025" y="5102226"/>
            <a:ext cx="503238" cy="473075"/>
          </a:xfrm>
          <a:prstGeom prst="rect">
            <a:avLst/>
          </a:prstGeom>
          <a:noFill/>
          <a:ln w="9525">
            <a:noFill/>
            <a:miter lim="800000"/>
            <a:headEnd/>
            <a:tailEnd/>
          </a:ln>
          <a:effectLst/>
        </p:spPr>
        <p:txBody>
          <a:bodyPr>
            <a:spAutoFit/>
          </a:bodyPr>
          <a:lstStyle/>
          <a:p>
            <a:pPr algn="ctr" eaLnBrk="1" hangingPunct="1"/>
            <a:r>
              <a:rPr kumimoji="1" lang="en-US" altLang="zh-CN" sz="2500" b="1">
                <a:solidFill>
                  <a:srgbClr val="FF0000"/>
                </a:solidFill>
                <a:ea typeface="宋体" charset="-122"/>
              </a:rPr>
              <a:t>a</a:t>
            </a:r>
            <a:r>
              <a:rPr kumimoji="1" lang="en-US" altLang="zh-CN" sz="2500" b="1" baseline="-22000">
                <a:solidFill>
                  <a:srgbClr val="FF0000"/>
                </a:solidFill>
                <a:ea typeface="宋体" charset="-122"/>
              </a:rPr>
              <a:t>2</a:t>
            </a:r>
          </a:p>
        </p:txBody>
      </p:sp>
      <p:sp>
        <p:nvSpPr>
          <p:cNvPr id="813126" name="Text Box 70"/>
          <p:cNvSpPr txBox="1">
            <a:spLocks noChangeArrowheads="1"/>
          </p:cNvSpPr>
          <p:nvPr/>
        </p:nvSpPr>
        <p:spPr bwMode="auto">
          <a:xfrm rot="10800000" flipV="1">
            <a:off x="4751389" y="5084764"/>
            <a:ext cx="503237" cy="473075"/>
          </a:xfrm>
          <a:prstGeom prst="rect">
            <a:avLst/>
          </a:prstGeom>
          <a:noFill/>
          <a:ln w="9525">
            <a:noFill/>
            <a:miter lim="800000"/>
            <a:headEnd/>
            <a:tailEnd/>
          </a:ln>
          <a:effectLst/>
        </p:spPr>
        <p:txBody>
          <a:bodyPr>
            <a:spAutoFit/>
          </a:bodyPr>
          <a:lstStyle/>
          <a:p>
            <a:pPr algn="ctr" eaLnBrk="1" hangingPunct="1"/>
            <a:r>
              <a:rPr kumimoji="1" lang="en-US" altLang="zh-CN" sz="2500" b="1">
                <a:solidFill>
                  <a:srgbClr val="FF0000"/>
                </a:solidFill>
                <a:ea typeface="宋体" charset="-122"/>
              </a:rPr>
              <a:t>a</a:t>
            </a:r>
            <a:r>
              <a:rPr kumimoji="1" lang="en-US" altLang="zh-CN" sz="2500" b="1" baseline="-22000">
                <a:solidFill>
                  <a:srgbClr val="FF0000"/>
                </a:solidFill>
                <a:ea typeface="宋体" charset="-122"/>
              </a:rPr>
              <a:t>3</a:t>
            </a:r>
          </a:p>
        </p:txBody>
      </p:sp>
      <p:sp>
        <p:nvSpPr>
          <p:cNvPr id="813127" name="Rectangle 71"/>
          <p:cNvSpPr>
            <a:spLocks noChangeArrowheads="1"/>
          </p:cNvSpPr>
          <p:nvPr/>
        </p:nvSpPr>
        <p:spPr bwMode="auto">
          <a:xfrm>
            <a:off x="4811713" y="5229225"/>
            <a:ext cx="360362" cy="338138"/>
          </a:xfrm>
          <a:prstGeom prst="rect">
            <a:avLst/>
          </a:prstGeom>
          <a:solidFill>
            <a:srgbClr val="FFFFFF"/>
          </a:solidFill>
          <a:ln w="9525">
            <a:noFill/>
            <a:miter lim="800000"/>
            <a:headEnd/>
            <a:tailEnd/>
          </a:ln>
          <a:effectLst/>
        </p:spPr>
        <p:txBody>
          <a:bodyPr wrap="none" anchor="ctr"/>
          <a:lstStyle/>
          <a:p>
            <a:pPr algn="ctr" eaLnBrk="1" hangingPunct="1"/>
            <a:endParaRPr kumimoji="1" lang="zh-CN" altLang="en-US" sz="2400" b="1">
              <a:solidFill>
                <a:srgbClr val="FFFFCC"/>
              </a:solidFill>
              <a:ea typeface="华文行楷" pitchFamily="2" charset="-122"/>
            </a:endParaRPr>
          </a:p>
        </p:txBody>
      </p:sp>
      <p:sp>
        <p:nvSpPr>
          <p:cNvPr id="813128" name="Text Box 72"/>
          <p:cNvSpPr txBox="1">
            <a:spLocks noChangeArrowheads="1"/>
          </p:cNvSpPr>
          <p:nvPr/>
        </p:nvSpPr>
        <p:spPr bwMode="auto">
          <a:xfrm>
            <a:off x="7391400" y="5089526"/>
            <a:ext cx="503238" cy="549275"/>
          </a:xfrm>
          <a:prstGeom prst="rect">
            <a:avLst/>
          </a:prstGeom>
          <a:noFill/>
          <a:ln w="9525">
            <a:noFill/>
            <a:miter lim="800000"/>
            <a:headEnd/>
            <a:tailEnd/>
          </a:ln>
          <a:effectLst/>
        </p:spPr>
        <p:txBody>
          <a:bodyPr>
            <a:spAutoFit/>
          </a:bodyPr>
          <a:lstStyle/>
          <a:p>
            <a:pPr algn="ctr" eaLnBrk="1" hangingPunct="1"/>
            <a:r>
              <a:rPr kumimoji="1" lang="en-US" altLang="zh-CN" sz="3000" b="1">
                <a:solidFill>
                  <a:srgbClr val="FF0000"/>
                </a:solidFill>
                <a:ea typeface="宋体" charset="-122"/>
              </a:rPr>
              <a:t>a</a:t>
            </a:r>
            <a:r>
              <a:rPr kumimoji="1" lang="en-US" altLang="zh-CN" sz="3000" b="1" baseline="-22000">
                <a:solidFill>
                  <a:srgbClr val="FF0000"/>
                </a:solidFill>
                <a:ea typeface="宋体" charset="-122"/>
              </a:rPr>
              <a:t>3</a:t>
            </a:r>
          </a:p>
        </p:txBody>
      </p:sp>
      <p:sp>
        <p:nvSpPr>
          <p:cNvPr id="813129" name="Text Box 73"/>
          <p:cNvSpPr txBox="1">
            <a:spLocks noChangeArrowheads="1"/>
          </p:cNvSpPr>
          <p:nvPr/>
        </p:nvSpPr>
        <p:spPr bwMode="auto">
          <a:xfrm rot="10800000" flipV="1">
            <a:off x="4789489" y="5113339"/>
            <a:ext cx="503237" cy="473075"/>
          </a:xfrm>
          <a:prstGeom prst="rect">
            <a:avLst/>
          </a:prstGeom>
          <a:noFill/>
          <a:ln w="9525">
            <a:noFill/>
            <a:miter lim="800000"/>
            <a:headEnd/>
            <a:tailEnd/>
          </a:ln>
          <a:effectLst/>
        </p:spPr>
        <p:txBody>
          <a:bodyPr>
            <a:spAutoFit/>
          </a:bodyPr>
          <a:lstStyle/>
          <a:p>
            <a:pPr algn="ctr" eaLnBrk="1" hangingPunct="1"/>
            <a:r>
              <a:rPr kumimoji="1" lang="en-US" altLang="zh-CN" sz="2500" b="1">
                <a:solidFill>
                  <a:srgbClr val="FF0000"/>
                </a:solidFill>
                <a:ea typeface="宋体" charset="-122"/>
              </a:rPr>
              <a:t>a</a:t>
            </a:r>
            <a:r>
              <a:rPr kumimoji="1" lang="en-US" altLang="zh-CN" sz="2500" b="1" baseline="-22000">
                <a:solidFill>
                  <a:srgbClr val="FF0000"/>
                </a:solidFill>
                <a:ea typeface="宋体" charset="-122"/>
              </a:rPr>
              <a:t>4</a:t>
            </a:r>
          </a:p>
        </p:txBody>
      </p:sp>
      <p:sp>
        <p:nvSpPr>
          <p:cNvPr id="813130" name="Text Box 74"/>
          <p:cNvSpPr txBox="1">
            <a:spLocks noChangeArrowheads="1"/>
          </p:cNvSpPr>
          <p:nvPr/>
        </p:nvSpPr>
        <p:spPr bwMode="auto">
          <a:xfrm>
            <a:off x="7740650" y="5084764"/>
            <a:ext cx="863600" cy="549275"/>
          </a:xfrm>
          <a:prstGeom prst="rect">
            <a:avLst/>
          </a:prstGeom>
          <a:noFill/>
          <a:ln w="9525">
            <a:noFill/>
            <a:miter lim="800000"/>
            <a:headEnd/>
            <a:tailEnd/>
          </a:ln>
          <a:effectLst/>
        </p:spPr>
        <p:txBody>
          <a:bodyPr>
            <a:spAutoFit/>
          </a:bodyPr>
          <a:lstStyle/>
          <a:p>
            <a:pPr eaLnBrk="1" hangingPunct="1"/>
            <a:r>
              <a:rPr kumimoji="1" lang="en-US" altLang="zh-CN" sz="3000" b="1">
                <a:solidFill>
                  <a:srgbClr val="FF0000"/>
                </a:solidFill>
                <a:ea typeface="宋体" charset="-122"/>
              </a:rPr>
              <a:t>, a</a:t>
            </a:r>
            <a:r>
              <a:rPr kumimoji="1" lang="en-US" altLang="zh-CN" sz="3000" b="1" baseline="-22000">
                <a:solidFill>
                  <a:srgbClr val="FF0000"/>
                </a:solidFill>
                <a:ea typeface="宋体" charset="-122"/>
              </a:rPr>
              <a:t>4</a:t>
            </a:r>
          </a:p>
        </p:txBody>
      </p:sp>
      <p:sp>
        <p:nvSpPr>
          <p:cNvPr id="813131" name="Rectangle 75"/>
          <p:cNvSpPr>
            <a:spLocks noChangeArrowheads="1"/>
          </p:cNvSpPr>
          <p:nvPr/>
        </p:nvSpPr>
        <p:spPr bwMode="auto">
          <a:xfrm>
            <a:off x="4851401" y="5233989"/>
            <a:ext cx="360363" cy="338137"/>
          </a:xfrm>
          <a:prstGeom prst="rect">
            <a:avLst/>
          </a:prstGeom>
          <a:solidFill>
            <a:srgbClr val="FFFFFF"/>
          </a:solidFill>
          <a:ln w="9525">
            <a:noFill/>
            <a:miter lim="800000"/>
            <a:headEnd/>
            <a:tailEnd/>
          </a:ln>
          <a:effectLst/>
        </p:spPr>
        <p:txBody>
          <a:bodyPr wrap="none" anchor="ctr"/>
          <a:lstStyle/>
          <a:p>
            <a:pPr algn="ctr" eaLnBrk="1" hangingPunct="1"/>
            <a:endParaRPr kumimoji="1" lang="zh-CN" altLang="en-US" sz="2400" b="1">
              <a:solidFill>
                <a:srgbClr val="FFFFCC"/>
              </a:solidFill>
              <a:ea typeface="华文行楷" pitchFamily="2" charset="-122"/>
            </a:endParaRPr>
          </a:p>
        </p:txBody>
      </p:sp>
      <p:sp>
        <p:nvSpPr>
          <p:cNvPr id="813132" name="Text Box 76"/>
          <p:cNvSpPr txBox="1">
            <a:spLocks noChangeArrowheads="1"/>
          </p:cNvSpPr>
          <p:nvPr/>
        </p:nvSpPr>
        <p:spPr bwMode="auto">
          <a:xfrm rot="10800000" flipV="1">
            <a:off x="4784725" y="5124451"/>
            <a:ext cx="503238" cy="473075"/>
          </a:xfrm>
          <a:prstGeom prst="rect">
            <a:avLst/>
          </a:prstGeom>
          <a:noFill/>
          <a:ln w="9525">
            <a:noFill/>
            <a:miter lim="800000"/>
            <a:headEnd/>
            <a:tailEnd/>
          </a:ln>
          <a:effectLst/>
        </p:spPr>
        <p:txBody>
          <a:bodyPr>
            <a:spAutoFit/>
          </a:bodyPr>
          <a:lstStyle/>
          <a:p>
            <a:pPr algn="ctr" eaLnBrk="1" hangingPunct="1"/>
            <a:r>
              <a:rPr kumimoji="1" lang="en-US" altLang="zh-CN" sz="2500" b="1">
                <a:solidFill>
                  <a:srgbClr val="FF0000"/>
                </a:solidFill>
                <a:ea typeface="宋体" charset="-122"/>
              </a:rPr>
              <a:t>a</a:t>
            </a:r>
            <a:r>
              <a:rPr kumimoji="1" lang="en-US" altLang="zh-CN" sz="2500" b="1" baseline="-22000">
                <a:solidFill>
                  <a:srgbClr val="FF0000"/>
                </a:solidFill>
                <a:ea typeface="宋体" charset="-122"/>
              </a:rPr>
              <a:t>5</a:t>
            </a:r>
          </a:p>
        </p:txBody>
      </p:sp>
      <p:sp>
        <p:nvSpPr>
          <p:cNvPr id="813133" name="Rectangle 77"/>
          <p:cNvSpPr>
            <a:spLocks noChangeArrowheads="1"/>
          </p:cNvSpPr>
          <p:nvPr/>
        </p:nvSpPr>
        <p:spPr bwMode="auto">
          <a:xfrm>
            <a:off x="4851401" y="5218114"/>
            <a:ext cx="360363" cy="338137"/>
          </a:xfrm>
          <a:prstGeom prst="rect">
            <a:avLst/>
          </a:prstGeom>
          <a:solidFill>
            <a:srgbClr val="FFFFFF"/>
          </a:solidFill>
          <a:ln w="9525">
            <a:noFill/>
            <a:miter lim="800000"/>
            <a:headEnd/>
            <a:tailEnd/>
          </a:ln>
          <a:effectLst/>
        </p:spPr>
        <p:txBody>
          <a:bodyPr wrap="none" anchor="ctr"/>
          <a:lstStyle/>
          <a:p>
            <a:pPr algn="ctr" eaLnBrk="1" hangingPunct="1"/>
            <a:endParaRPr kumimoji="1" lang="zh-CN" altLang="en-US" sz="2400" b="1">
              <a:solidFill>
                <a:srgbClr val="FFFFCC"/>
              </a:solidFill>
              <a:ea typeface="华文行楷" pitchFamily="2" charset="-122"/>
            </a:endParaRPr>
          </a:p>
        </p:txBody>
      </p:sp>
      <p:sp>
        <p:nvSpPr>
          <p:cNvPr id="813134" name="Text Box 78"/>
          <p:cNvSpPr txBox="1">
            <a:spLocks noChangeArrowheads="1"/>
          </p:cNvSpPr>
          <p:nvPr/>
        </p:nvSpPr>
        <p:spPr bwMode="auto">
          <a:xfrm>
            <a:off x="8294688" y="5080001"/>
            <a:ext cx="863600" cy="549275"/>
          </a:xfrm>
          <a:prstGeom prst="rect">
            <a:avLst/>
          </a:prstGeom>
          <a:noFill/>
          <a:ln w="9525">
            <a:noFill/>
            <a:miter lim="800000"/>
            <a:headEnd/>
            <a:tailEnd/>
          </a:ln>
          <a:effectLst/>
        </p:spPr>
        <p:txBody>
          <a:bodyPr>
            <a:spAutoFit/>
          </a:bodyPr>
          <a:lstStyle/>
          <a:p>
            <a:pPr eaLnBrk="1" hangingPunct="1"/>
            <a:r>
              <a:rPr kumimoji="1" lang="en-US" altLang="zh-CN" sz="3000" b="1">
                <a:solidFill>
                  <a:srgbClr val="FF0000"/>
                </a:solidFill>
                <a:ea typeface="宋体" charset="-122"/>
              </a:rPr>
              <a:t>, a</a:t>
            </a:r>
            <a:r>
              <a:rPr kumimoji="1" lang="en-US" altLang="zh-CN" sz="3000" b="1" baseline="-22000">
                <a:solidFill>
                  <a:srgbClr val="FF0000"/>
                </a:solidFill>
                <a:ea typeface="宋体" charset="-122"/>
              </a:rPr>
              <a:t>5</a:t>
            </a:r>
          </a:p>
        </p:txBody>
      </p:sp>
      <p:grpSp>
        <p:nvGrpSpPr>
          <p:cNvPr id="12" name="Group 79"/>
          <p:cNvGrpSpPr>
            <a:grpSpLocks/>
          </p:cNvGrpSpPr>
          <p:nvPr/>
        </p:nvGrpSpPr>
        <p:grpSpPr bwMode="auto">
          <a:xfrm>
            <a:off x="9758363" y="2447926"/>
            <a:ext cx="176212" cy="220663"/>
            <a:chOff x="5012" y="1434"/>
            <a:chExt cx="111" cy="139"/>
          </a:xfrm>
        </p:grpSpPr>
        <p:sp>
          <p:nvSpPr>
            <p:cNvPr id="56373" name="Freeform 80"/>
            <p:cNvSpPr>
              <a:spLocks/>
            </p:cNvSpPr>
            <p:nvPr/>
          </p:nvSpPr>
          <p:spPr bwMode="auto">
            <a:xfrm>
              <a:off x="5033" y="1434"/>
              <a:ext cx="90" cy="136"/>
            </a:xfrm>
            <a:custGeom>
              <a:avLst/>
              <a:gdLst>
                <a:gd name="T0" fmla="*/ 90 w 90"/>
                <a:gd name="T1" fmla="*/ 0 h 136"/>
                <a:gd name="T2" fmla="*/ 45 w 90"/>
                <a:gd name="T3" fmla="*/ 45 h 136"/>
                <a:gd name="T4" fmla="*/ 0 w 90"/>
                <a:gd name="T5" fmla="*/ 136 h 136"/>
                <a:gd name="T6" fmla="*/ 0 60000 65536"/>
                <a:gd name="T7" fmla="*/ 0 60000 65536"/>
                <a:gd name="T8" fmla="*/ 0 60000 65536"/>
              </a:gdLst>
              <a:ahLst/>
              <a:cxnLst>
                <a:cxn ang="T6">
                  <a:pos x="T0" y="T1"/>
                </a:cxn>
                <a:cxn ang="T7">
                  <a:pos x="T2" y="T3"/>
                </a:cxn>
                <a:cxn ang="T8">
                  <a:pos x="T4" y="T5"/>
                </a:cxn>
              </a:cxnLst>
              <a:rect l="0" t="0" r="r" b="b"/>
              <a:pathLst>
                <a:path w="90" h="136">
                  <a:moveTo>
                    <a:pt x="90" y="0"/>
                  </a:moveTo>
                  <a:cubicBezTo>
                    <a:pt x="75" y="11"/>
                    <a:pt x="60" y="22"/>
                    <a:pt x="45" y="45"/>
                  </a:cubicBezTo>
                  <a:cubicBezTo>
                    <a:pt x="30" y="68"/>
                    <a:pt x="7" y="121"/>
                    <a:pt x="0" y="136"/>
                  </a:cubicBezTo>
                </a:path>
              </a:pathLst>
            </a:custGeom>
            <a:noFill/>
            <a:ln w="25400" cap="flat" cmpd="sng">
              <a:solidFill>
                <a:srgbClr val="FFFF00"/>
              </a:solidFill>
              <a:prstDash val="solid"/>
              <a:round/>
              <a:headEnd/>
              <a:tailEnd/>
            </a:ln>
            <a:effectLst/>
          </p:spPr>
          <p:txBody>
            <a:bodyPr wrap="none" anchor="ctr"/>
            <a:lstStyle/>
            <a:p>
              <a:endParaRPr lang="zh-CN" altLang="en-US"/>
            </a:p>
          </p:txBody>
        </p:sp>
        <p:sp>
          <p:nvSpPr>
            <p:cNvPr id="56374" name="Freeform 81"/>
            <p:cNvSpPr>
              <a:spLocks/>
            </p:cNvSpPr>
            <p:nvPr/>
          </p:nvSpPr>
          <p:spPr bwMode="auto">
            <a:xfrm flipH="1">
              <a:off x="5012" y="1437"/>
              <a:ext cx="90" cy="136"/>
            </a:xfrm>
            <a:custGeom>
              <a:avLst/>
              <a:gdLst>
                <a:gd name="T0" fmla="*/ 90 w 90"/>
                <a:gd name="T1" fmla="*/ 0 h 136"/>
                <a:gd name="T2" fmla="*/ 45 w 90"/>
                <a:gd name="T3" fmla="*/ 45 h 136"/>
                <a:gd name="T4" fmla="*/ 0 w 90"/>
                <a:gd name="T5" fmla="*/ 136 h 136"/>
                <a:gd name="T6" fmla="*/ 0 60000 65536"/>
                <a:gd name="T7" fmla="*/ 0 60000 65536"/>
                <a:gd name="T8" fmla="*/ 0 60000 65536"/>
              </a:gdLst>
              <a:ahLst/>
              <a:cxnLst>
                <a:cxn ang="T6">
                  <a:pos x="T0" y="T1"/>
                </a:cxn>
                <a:cxn ang="T7">
                  <a:pos x="T2" y="T3"/>
                </a:cxn>
                <a:cxn ang="T8">
                  <a:pos x="T4" y="T5"/>
                </a:cxn>
              </a:cxnLst>
              <a:rect l="0" t="0" r="r" b="b"/>
              <a:pathLst>
                <a:path w="90" h="136">
                  <a:moveTo>
                    <a:pt x="90" y="0"/>
                  </a:moveTo>
                  <a:cubicBezTo>
                    <a:pt x="75" y="11"/>
                    <a:pt x="60" y="22"/>
                    <a:pt x="45" y="45"/>
                  </a:cubicBezTo>
                  <a:cubicBezTo>
                    <a:pt x="30" y="68"/>
                    <a:pt x="7" y="121"/>
                    <a:pt x="0" y="136"/>
                  </a:cubicBezTo>
                </a:path>
              </a:pathLst>
            </a:custGeom>
            <a:noFill/>
            <a:ln w="19050" cap="flat" cmpd="sng">
              <a:solidFill>
                <a:srgbClr val="FFFF00"/>
              </a:solidFill>
              <a:prstDash val="solid"/>
              <a:round/>
              <a:headEnd/>
              <a:tailEnd/>
            </a:ln>
            <a:effectLst/>
          </p:spPr>
          <p:txBody>
            <a:bodyPr wrap="none" anchor="ctr"/>
            <a:lstStyle/>
            <a:p>
              <a:endParaRPr lang="zh-CN" altLang="en-US"/>
            </a:p>
          </p:txBody>
        </p:sp>
      </p:grpSp>
      <p:sp>
        <p:nvSpPr>
          <p:cNvPr id="813138" name="Text Box 82"/>
          <p:cNvSpPr txBox="1">
            <a:spLocks noChangeArrowheads="1"/>
          </p:cNvSpPr>
          <p:nvPr/>
        </p:nvSpPr>
        <p:spPr bwMode="auto">
          <a:xfrm rot="10800000" flipV="1">
            <a:off x="3810000" y="5816601"/>
            <a:ext cx="503238" cy="473075"/>
          </a:xfrm>
          <a:prstGeom prst="rect">
            <a:avLst/>
          </a:prstGeom>
          <a:noFill/>
          <a:ln w="9525">
            <a:noFill/>
            <a:miter lim="800000"/>
            <a:headEnd/>
            <a:tailEnd/>
          </a:ln>
          <a:effectLst/>
        </p:spPr>
        <p:txBody>
          <a:bodyPr>
            <a:spAutoFit/>
          </a:bodyPr>
          <a:lstStyle/>
          <a:p>
            <a:pPr algn="ctr" eaLnBrk="1" hangingPunct="1"/>
            <a:r>
              <a:rPr kumimoji="1" lang="en-US" altLang="zh-CN" sz="2500" b="1">
                <a:solidFill>
                  <a:srgbClr val="FF0000"/>
                </a:solidFill>
                <a:ea typeface="宋体" charset="-122"/>
              </a:rPr>
              <a:t>a</a:t>
            </a:r>
            <a:r>
              <a:rPr kumimoji="1" lang="en-US" altLang="zh-CN" sz="2500" b="1" baseline="-22000">
                <a:solidFill>
                  <a:srgbClr val="FF0000"/>
                </a:solidFill>
                <a:ea typeface="宋体" charset="-122"/>
              </a:rPr>
              <a:t>1</a:t>
            </a:r>
          </a:p>
        </p:txBody>
      </p:sp>
      <p:sp>
        <p:nvSpPr>
          <p:cNvPr id="813139" name="Text Box 83"/>
          <p:cNvSpPr txBox="1">
            <a:spLocks noChangeArrowheads="1"/>
          </p:cNvSpPr>
          <p:nvPr/>
        </p:nvSpPr>
        <p:spPr bwMode="auto">
          <a:xfrm rot="10800000" flipV="1">
            <a:off x="4275139" y="5821364"/>
            <a:ext cx="503237" cy="473075"/>
          </a:xfrm>
          <a:prstGeom prst="rect">
            <a:avLst/>
          </a:prstGeom>
          <a:noFill/>
          <a:ln w="9525">
            <a:noFill/>
            <a:miter lim="800000"/>
            <a:headEnd/>
            <a:tailEnd/>
          </a:ln>
          <a:effectLst/>
        </p:spPr>
        <p:txBody>
          <a:bodyPr>
            <a:spAutoFit/>
          </a:bodyPr>
          <a:lstStyle/>
          <a:p>
            <a:pPr algn="ctr" eaLnBrk="1" hangingPunct="1"/>
            <a:r>
              <a:rPr kumimoji="1" lang="en-US" altLang="zh-CN" sz="2500" b="1">
                <a:solidFill>
                  <a:srgbClr val="FF0000"/>
                </a:solidFill>
                <a:ea typeface="宋体" charset="-122"/>
              </a:rPr>
              <a:t>a</a:t>
            </a:r>
            <a:r>
              <a:rPr kumimoji="1" lang="en-US" altLang="zh-CN" sz="2500" b="1" baseline="-22000">
                <a:solidFill>
                  <a:srgbClr val="FF0000"/>
                </a:solidFill>
                <a:ea typeface="宋体" charset="-122"/>
              </a:rPr>
              <a:t>2</a:t>
            </a:r>
          </a:p>
        </p:txBody>
      </p:sp>
      <p:sp>
        <p:nvSpPr>
          <p:cNvPr id="813140" name="Text Box 84"/>
          <p:cNvSpPr txBox="1">
            <a:spLocks noChangeArrowheads="1"/>
          </p:cNvSpPr>
          <p:nvPr/>
        </p:nvSpPr>
        <p:spPr bwMode="auto">
          <a:xfrm rot="10800000" flipV="1">
            <a:off x="4791075" y="5832476"/>
            <a:ext cx="503238" cy="473075"/>
          </a:xfrm>
          <a:prstGeom prst="rect">
            <a:avLst/>
          </a:prstGeom>
          <a:noFill/>
          <a:ln w="9525">
            <a:noFill/>
            <a:miter lim="800000"/>
            <a:headEnd/>
            <a:tailEnd/>
          </a:ln>
          <a:effectLst/>
        </p:spPr>
        <p:txBody>
          <a:bodyPr>
            <a:spAutoFit/>
          </a:bodyPr>
          <a:lstStyle/>
          <a:p>
            <a:pPr algn="ctr" eaLnBrk="1" hangingPunct="1"/>
            <a:r>
              <a:rPr kumimoji="1" lang="en-US" altLang="zh-CN" sz="2500" b="1">
                <a:solidFill>
                  <a:srgbClr val="FF0000"/>
                </a:solidFill>
                <a:ea typeface="宋体" charset="-122"/>
              </a:rPr>
              <a:t>a</a:t>
            </a:r>
            <a:r>
              <a:rPr kumimoji="1" lang="en-US" altLang="zh-CN" sz="2500" b="1" baseline="-22000">
                <a:solidFill>
                  <a:srgbClr val="FF0000"/>
                </a:solidFill>
                <a:ea typeface="宋体" charset="-122"/>
              </a:rPr>
              <a:t>3</a:t>
            </a:r>
          </a:p>
        </p:txBody>
      </p:sp>
      <p:sp>
        <p:nvSpPr>
          <p:cNvPr id="813141" name="Rectangle 85"/>
          <p:cNvSpPr>
            <a:spLocks noChangeArrowheads="1"/>
          </p:cNvSpPr>
          <p:nvPr/>
        </p:nvSpPr>
        <p:spPr bwMode="auto">
          <a:xfrm>
            <a:off x="4851401" y="5938839"/>
            <a:ext cx="360363" cy="338137"/>
          </a:xfrm>
          <a:prstGeom prst="rect">
            <a:avLst/>
          </a:prstGeom>
          <a:solidFill>
            <a:srgbClr val="FFFFFF"/>
          </a:solidFill>
          <a:ln w="9525">
            <a:noFill/>
            <a:miter lim="800000"/>
            <a:headEnd/>
            <a:tailEnd/>
          </a:ln>
          <a:effectLst/>
        </p:spPr>
        <p:txBody>
          <a:bodyPr wrap="none" anchor="ctr"/>
          <a:lstStyle/>
          <a:p>
            <a:pPr algn="ctr" eaLnBrk="1" hangingPunct="1"/>
            <a:endParaRPr kumimoji="1" lang="zh-CN" altLang="en-US" sz="2400" b="1">
              <a:solidFill>
                <a:srgbClr val="FFFFCC"/>
              </a:solidFill>
              <a:ea typeface="华文行楷" pitchFamily="2" charset="-122"/>
            </a:endParaRPr>
          </a:p>
        </p:txBody>
      </p:sp>
      <p:sp>
        <p:nvSpPr>
          <p:cNvPr id="813142" name="Text Box 86"/>
          <p:cNvSpPr txBox="1">
            <a:spLocks noChangeArrowheads="1"/>
          </p:cNvSpPr>
          <p:nvPr/>
        </p:nvSpPr>
        <p:spPr bwMode="auto">
          <a:xfrm>
            <a:off x="7397750" y="5759451"/>
            <a:ext cx="503238" cy="549275"/>
          </a:xfrm>
          <a:prstGeom prst="rect">
            <a:avLst/>
          </a:prstGeom>
          <a:noFill/>
          <a:ln w="9525">
            <a:noFill/>
            <a:miter lim="800000"/>
            <a:headEnd/>
            <a:tailEnd/>
          </a:ln>
          <a:effectLst/>
        </p:spPr>
        <p:txBody>
          <a:bodyPr>
            <a:spAutoFit/>
          </a:bodyPr>
          <a:lstStyle/>
          <a:p>
            <a:pPr algn="ctr" eaLnBrk="1" hangingPunct="1"/>
            <a:r>
              <a:rPr kumimoji="1" lang="en-US" altLang="zh-CN" sz="3000" b="1">
                <a:solidFill>
                  <a:srgbClr val="FF0000"/>
                </a:solidFill>
                <a:ea typeface="宋体" charset="-122"/>
              </a:rPr>
              <a:t>a</a:t>
            </a:r>
            <a:r>
              <a:rPr kumimoji="1" lang="en-US" altLang="zh-CN" sz="3000" b="1" baseline="-22000">
                <a:solidFill>
                  <a:srgbClr val="FF0000"/>
                </a:solidFill>
                <a:ea typeface="宋体" charset="-122"/>
              </a:rPr>
              <a:t>3</a:t>
            </a:r>
          </a:p>
        </p:txBody>
      </p:sp>
      <p:sp>
        <p:nvSpPr>
          <p:cNvPr id="813143" name="Rectangle 87"/>
          <p:cNvSpPr>
            <a:spLocks noChangeArrowheads="1"/>
          </p:cNvSpPr>
          <p:nvPr/>
        </p:nvSpPr>
        <p:spPr bwMode="auto">
          <a:xfrm>
            <a:off x="4330701" y="5959475"/>
            <a:ext cx="360363" cy="338138"/>
          </a:xfrm>
          <a:prstGeom prst="rect">
            <a:avLst/>
          </a:prstGeom>
          <a:solidFill>
            <a:srgbClr val="FFFFFF"/>
          </a:solidFill>
          <a:ln w="9525">
            <a:noFill/>
            <a:miter lim="800000"/>
            <a:headEnd/>
            <a:tailEnd/>
          </a:ln>
          <a:effectLst/>
        </p:spPr>
        <p:txBody>
          <a:bodyPr wrap="none" anchor="ctr"/>
          <a:lstStyle/>
          <a:p>
            <a:pPr algn="ctr" eaLnBrk="1" hangingPunct="1"/>
            <a:endParaRPr kumimoji="1" lang="zh-CN" altLang="en-US" sz="2400" b="1">
              <a:solidFill>
                <a:srgbClr val="FFFFCC"/>
              </a:solidFill>
              <a:ea typeface="华文行楷" pitchFamily="2" charset="-122"/>
            </a:endParaRPr>
          </a:p>
        </p:txBody>
      </p:sp>
      <p:sp>
        <p:nvSpPr>
          <p:cNvPr id="813144" name="Text Box 88"/>
          <p:cNvSpPr txBox="1">
            <a:spLocks noChangeArrowheads="1"/>
          </p:cNvSpPr>
          <p:nvPr/>
        </p:nvSpPr>
        <p:spPr bwMode="auto">
          <a:xfrm>
            <a:off x="7740650" y="5770564"/>
            <a:ext cx="863600" cy="549275"/>
          </a:xfrm>
          <a:prstGeom prst="rect">
            <a:avLst/>
          </a:prstGeom>
          <a:noFill/>
          <a:ln w="9525">
            <a:noFill/>
            <a:miter lim="800000"/>
            <a:headEnd/>
            <a:tailEnd/>
          </a:ln>
          <a:effectLst/>
        </p:spPr>
        <p:txBody>
          <a:bodyPr>
            <a:spAutoFit/>
          </a:bodyPr>
          <a:lstStyle/>
          <a:p>
            <a:pPr eaLnBrk="1" hangingPunct="1"/>
            <a:r>
              <a:rPr kumimoji="1" lang="en-US" altLang="zh-CN" sz="3000" b="1">
                <a:solidFill>
                  <a:srgbClr val="FF0000"/>
                </a:solidFill>
                <a:ea typeface="宋体" charset="-122"/>
              </a:rPr>
              <a:t>, a</a:t>
            </a:r>
            <a:r>
              <a:rPr kumimoji="1" lang="en-US" altLang="zh-CN" sz="3000" b="1" baseline="-22000">
                <a:solidFill>
                  <a:srgbClr val="FF0000"/>
                </a:solidFill>
                <a:ea typeface="宋体" charset="-122"/>
              </a:rPr>
              <a:t>2</a:t>
            </a:r>
          </a:p>
        </p:txBody>
      </p:sp>
      <p:sp>
        <p:nvSpPr>
          <p:cNvPr id="813145" name="Text Box 89"/>
          <p:cNvSpPr txBox="1">
            <a:spLocks noChangeArrowheads="1"/>
          </p:cNvSpPr>
          <p:nvPr/>
        </p:nvSpPr>
        <p:spPr bwMode="auto">
          <a:xfrm rot="10800000" flipV="1">
            <a:off x="4286250" y="5821364"/>
            <a:ext cx="503238" cy="473075"/>
          </a:xfrm>
          <a:prstGeom prst="rect">
            <a:avLst/>
          </a:prstGeom>
          <a:noFill/>
          <a:ln w="9525">
            <a:noFill/>
            <a:miter lim="800000"/>
            <a:headEnd/>
            <a:tailEnd/>
          </a:ln>
          <a:effectLst/>
        </p:spPr>
        <p:txBody>
          <a:bodyPr>
            <a:spAutoFit/>
          </a:bodyPr>
          <a:lstStyle/>
          <a:p>
            <a:pPr algn="ctr" eaLnBrk="1" hangingPunct="1"/>
            <a:r>
              <a:rPr kumimoji="1" lang="en-US" altLang="zh-CN" sz="2500" b="1">
                <a:solidFill>
                  <a:srgbClr val="FF0000"/>
                </a:solidFill>
                <a:ea typeface="宋体" charset="-122"/>
              </a:rPr>
              <a:t>a</a:t>
            </a:r>
            <a:r>
              <a:rPr kumimoji="1" lang="en-US" altLang="zh-CN" sz="2500" b="1" baseline="-22000">
                <a:solidFill>
                  <a:srgbClr val="FF0000"/>
                </a:solidFill>
                <a:ea typeface="宋体" charset="-122"/>
              </a:rPr>
              <a:t>4</a:t>
            </a:r>
          </a:p>
        </p:txBody>
      </p:sp>
      <p:sp>
        <p:nvSpPr>
          <p:cNvPr id="813146" name="Rectangle 90"/>
          <p:cNvSpPr>
            <a:spLocks noChangeArrowheads="1"/>
          </p:cNvSpPr>
          <p:nvPr/>
        </p:nvSpPr>
        <p:spPr bwMode="auto">
          <a:xfrm>
            <a:off x="4346576" y="5954714"/>
            <a:ext cx="360363" cy="338137"/>
          </a:xfrm>
          <a:prstGeom prst="rect">
            <a:avLst/>
          </a:prstGeom>
          <a:solidFill>
            <a:srgbClr val="FFFFFF"/>
          </a:solidFill>
          <a:ln w="9525">
            <a:noFill/>
            <a:miter lim="800000"/>
            <a:headEnd/>
            <a:tailEnd/>
          </a:ln>
          <a:effectLst/>
        </p:spPr>
        <p:txBody>
          <a:bodyPr wrap="none" anchor="ctr"/>
          <a:lstStyle/>
          <a:p>
            <a:pPr algn="ctr" eaLnBrk="1" hangingPunct="1"/>
            <a:endParaRPr kumimoji="1" lang="zh-CN" altLang="en-US" sz="2400" b="1">
              <a:solidFill>
                <a:srgbClr val="FFFFCC"/>
              </a:solidFill>
              <a:ea typeface="华文行楷" pitchFamily="2" charset="-122"/>
            </a:endParaRPr>
          </a:p>
        </p:txBody>
      </p:sp>
      <p:sp>
        <p:nvSpPr>
          <p:cNvPr id="813147" name="Text Box 91"/>
          <p:cNvSpPr txBox="1">
            <a:spLocks noChangeArrowheads="1"/>
          </p:cNvSpPr>
          <p:nvPr/>
        </p:nvSpPr>
        <p:spPr bwMode="auto">
          <a:xfrm>
            <a:off x="8256588" y="5765801"/>
            <a:ext cx="863600" cy="549275"/>
          </a:xfrm>
          <a:prstGeom prst="rect">
            <a:avLst/>
          </a:prstGeom>
          <a:noFill/>
          <a:ln w="9525">
            <a:noFill/>
            <a:miter lim="800000"/>
            <a:headEnd/>
            <a:tailEnd/>
          </a:ln>
          <a:effectLst/>
        </p:spPr>
        <p:txBody>
          <a:bodyPr>
            <a:spAutoFit/>
          </a:bodyPr>
          <a:lstStyle/>
          <a:p>
            <a:pPr eaLnBrk="1" hangingPunct="1"/>
            <a:r>
              <a:rPr kumimoji="1" lang="en-US" altLang="zh-CN" sz="3000" b="1">
                <a:solidFill>
                  <a:srgbClr val="FF0000"/>
                </a:solidFill>
                <a:ea typeface="宋体" charset="-122"/>
              </a:rPr>
              <a:t>, a</a:t>
            </a:r>
            <a:r>
              <a:rPr kumimoji="1" lang="en-US" altLang="zh-CN" sz="3000" b="1" baseline="-22000">
                <a:solidFill>
                  <a:srgbClr val="FF0000"/>
                </a:solidFill>
                <a:ea typeface="宋体" charset="-122"/>
              </a:rPr>
              <a:t>4</a:t>
            </a:r>
          </a:p>
        </p:txBody>
      </p:sp>
      <p:sp>
        <p:nvSpPr>
          <p:cNvPr id="813148" name="Rectangle 92"/>
          <p:cNvSpPr>
            <a:spLocks noChangeArrowheads="1"/>
          </p:cNvSpPr>
          <p:nvPr/>
        </p:nvSpPr>
        <p:spPr bwMode="auto">
          <a:xfrm>
            <a:off x="3865563" y="5949950"/>
            <a:ext cx="360362" cy="338138"/>
          </a:xfrm>
          <a:prstGeom prst="rect">
            <a:avLst/>
          </a:prstGeom>
          <a:solidFill>
            <a:srgbClr val="FFFFFF"/>
          </a:solidFill>
          <a:ln w="9525">
            <a:noFill/>
            <a:miter lim="800000"/>
            <a:headEnd/>
            <a:tailEnd/>
          </a:ln>
          <a:effectLst/>
        </p:spPr>
        <p:txBody>
          <a:bodyPr wrap="none" anchor="ctr"/>
          <a:lstStyle/>
          <a:p>
            <a:pPr algn="ctr" eaLnBrk="1" hangingPunct="1"/>
            <a:endParaRPr kumimoji="1" lang="zh-CN" altLang="en-US" sz="2400" b="1">
              <a:solidFill>
                <a:srgbClr val="FFFFCC"/>
              </a:solidFill>
              <a:ea typeface="华文行楷" pitchFamily="2" charset="-122"/>
            </a:endParaRPr>
          </a:p>
        </p:txBody>
      </p:sp>
      <p:sp>
        <p:nvSpPr>
          <p:cNvPr id="813149" name="Text Box 93"/>
          <p:cNvSpPr txBox="1">
            <a:spLocks noChangeArrowheads="1"/>
          </p:cNvSpPr>
          <p:nvPr/>
        </p:nvSpPr>
        <p:spPr bwMode="auto">
          <a:xfrm>
            <a:off x="8793163" y="5761039"/>
            <a:ext cx="863600" cy="549275"/>
          </a:xfrm>
          <a:prstGeom prst="rect">
            <a:avLst/>
          </a:prstGeom>
          <a:noFill/>
          <a:ln w="9525">
            <a:noFill/>
            <a:miter lim="800000"/>
            <a:headEnd/>
            <a:tailEnd/>
          </a:ln>
          <a:effectLst/>
        </p:spPr>
        <p:txBody>
          <a:bodyPr>
            <a:spAutoFit/>
          </a:bodyPr>
          <a:lstStyle/>
          <a:p>
            <a:pPr eaLnBrk="1" hangingPunct="1"/>
            <a:r>
              <a:rPr kumimoji="1" lang="en-US" altLang="zh-CN" sz="3000" b="1">
                <a:solidFill>
                  <a:srgbClr val="FF0000"/>
                </a:solidFill>
                <a:ea typeface="宋体" charset="-122"/>
              </a:rPr>
              <a:t>, a</a:t>
            </a:r>
            <a:r>
              <a:rPr kumimoji="1" lang="en-US" altLang="zh-CN" sz="3000" b="1" baseline="-22000">
                <a:solidFill>
                  <a:srgbClr val="FF0000"/>
                </a:solidFill>
                <a:ea typeface="宋体" charset="-122"/>
              </a:rPr>
              <a:t>1</a:t>
            </a:r>
          </a:p>
        </p:txBody>
      </p:sp>
      <p:sp>
        <p:nvSpPr>
          <p:cNvPr id="813150" name="Freeform 94"/>
          <p:cNvSpPr>
            <a:spLocks/>
          </p:cNvSpPr>
          <p:nvPr/>
        </p:nvSpPr>
        <p:spPr bwMode="auto">
          <a:xfrm>
            <a:off x="9536114" y="2698235"/>
            <a:ext cx="287337" cy="369332"/>
          </a:xfrm>
          <a:custGeom>
            <a:avLst/>
            <a:gdLst>
              <a:gd name="T0" fmla="*/ 2147483647 w 779"/>
              <a:gd name="T1" fmla="*/ 2147483647 h 611"/>
              <a:gd name="T2" fmla="*/ 2147483647 w 779"/>
              <a:gd name="T3" fmla="*/ 2147483647 h 611"/>
              <a:gd name="T4" fmla="*/ 2147483647 w 779"/>
              <a:gd name="T5" fmla="*/ 2147483647 h 611"/>
              <a:gd name="T6" fmla="*/ 2147483647 w 779"/>
              <a:gd name="T7" fmla="*/ 2147483647 h 611"/>
              <a:gd name="T8" fmla="*/ 2147483647 w 779"/>
              <a:gd name="T9" fmla="*/ 2147483647 h 611"/>
              <a:gd name="T10" fmla="*/ 2147483647 w 779"/>
              <a:gd name="T11" fmla="*/ 2147483647 h 611"/>
              <a:gd name="T12" fmla="*/ 2147483647 w 779"/>
              <a:gd name="T13" fmla="*/ 2147483647 h 611"/>
              <a:gd name="T14" fmla="*/ 2147483647 w 779"/>
              <a:gd name="T15" fmla="*/ 2147483647 h 611"/>
              <a:gd name="T16" fmla="*/ 2147483647 w 779"/>
              <a:gd name="T17" fmla="*/ 2147483647 h 611"/>
              <a:gd name="T18" fmla="*/ 2147483647 w 779"/>
              <a:gd name="T19" fmla="*/ 2147483647 h 611"/>
              <a:gd name="T20" fmla="*/ 2147483647 w 779"/>
              <a:gd name="T21" fmla="*/ 2147483647 h 611"/>
              <a:gd name="T22" fmla="*/ 2147483647 w 779"/>
              <a:gd name="T23" fmla="*/ 2147483647 h 611"/>
              <a:gd name="T24" fmla="*/ 2147483647 w 779"/>
              <a:gd name="T25" fmla="*/ 2147483647 h 611"/>
              <a:gd name="T26" fmla="*/ 2147483647 w 779"/>
              <a:gd name="T27" fmla="*/ 2147483647 h 611"/>
              <a:gd name="T28" fmla="*/ 2147483647 w 779"/>
              <a:gd name="T29" fmla="*/ 2147483647 h 611"/>
              <a:gd name="T30" fmla="*/ 0 w 779"/>
              <a:gd name="T31" fmla="*/ 2147483647 h 611"/>
              <a:gd name="T32" fmla="*/ 2147483647 w 779"/>
              <a:gd name="T33" fmla="*/ 2147483647 h 611"/>
              <a:gd name="T34" fmla="*/ 2147483647 w 779"/>
              <a:gd name="T35" fmla="*/ 2147483647 h 611"/>
              <a:gd name="T36" fmla="*/ 2147483647 w 779"/>
              <a:gd name="T37" fmla="*/ 2147483647 h 611"/>
              <a:gd name="T38" fmla="*/ 2147483647 w 779"/>
              <a:gd name="T39" fmla="*/ 2147483647 h 611"/>
              <a:gd name="T40" fmla="*/ 2147483647 w 779"/>
              <a:gd name="T41" fmla="*/ 2147483647 h 611"/>
              <a:gd name="T42" fmla="*/ 2147483647 w 779"/>
              <a:gd name="T43" fmla="*/ 2147483647 h 611"/>
              <a:gd name="T44" fmla="*/ 2147483647 w 779"/>
              <a:gd name="T45" fmla="*/ 2147483647 h 611"/>
              <a:gd name="T46" fmla="*/ 2147483647 w 779"/>
              <a:gd name="T47" fmla="*/ 2147483647 h 611"/>
              <a:gd name="T48" fmla="*/ 2147483647 w 779"/>
              <a:gd name="T49" fmla="*/ 2147483647 h 611"/>
              <a:gd name="T50" fmla="*/ 2147483647 w 779"/>
              <a:gd name="T51" fmla="*/ 2147483647 h 611"/>
              <a:gd name="T52" fmla="*/ 2147483647 w 779"/>
              <a:gd name="T53" fmla="*/ 2147483647 h 611"/>
              <a:gd name="T54" fmla="*/ 2147483647 w 779"/>
              <a:gd name="T55" fmla="*/ 2147483647 h 611"/>
              <a:gd name="T56" fmla="*/ 2147483647 w 779"/>
              <a:gd name="T57" fmla="*/ 2147483647 h 611"/>
              <a:gd name="T58" fmla="*/ 2147483647 w 779"/>
              <a:gd name="T59" fmla="*/ 0 h 611"/>
              <a:gd name="T60" fmla="*/ 2147483647 w 779"/>
              <a:gd name="T61" fmla="*/ 2147483647 h 611"/>
              <a:gd name="T62" fmla="*/ 2147483647 w 779"/>
              <a:gd name="T63" fmla="*/ 2147483647 h 611"/>
              <a:gd name="T64" fmla="*/ 2147483647 w 779"/>
              <a:gd name="T65" fmla="*/ 2147483647 h 611"/>
              <a:gd name="T66" fmla="*/ 2147483647 w 779"/>
              <a:gd name="T67" fmla="*/ 2147483647 h 6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779" h="611">
                <a:moveTo>
                  <a:pt x="686" y="145"/>
                </a:moveTo>
                <a:lnTo>
                  <a:pt x="616" y="199"/>
                </a:lnTo>
                <a:lnTo>
                  <a:pt x="548" y="249"/>
                </a:lnTo>
                <a:lnTo>
                  <a:pt x="481" y="305"/>
                </a:lnTo>
                <a:lnTo>
                  <a:pt x="416" y="361"/>
                </a:lnTo>
                <a:lnTo>
                  <a:pt x="355" y="421"/>
                </a:lnTo>
                <a:lnTo>
                  <a:pt x="294" y="483"/>
                </a:lnTo>
                <a:lnTo>
                  <a:pt x="236" y="548"/>
                </a:lnTo>
                <a:lnTo>
                  <a:pt x="187" y="610"/>
                </a:lnTo>
                <a:lnTo>
                  <a:pt x="138" y="521"/>
                </a:lnTo>
                <a:lnTo>
                  <a:pt x="104" y="465"/>
                </a:lnTo>
                <a:lnTo>
                  <a:pt x="58" y="409"/>
                </a:lnTo>
                <a:lnTo>
                  <a:pt x="15" y="367"/>
                </a:lnTo>
                <a:lnTo>
                  <a:pt x="40" y="347"/>
                </a:lnTo>
                <a:lnTo>
                  <a:pt x="18" y="329"/>
                </a:lnTo>
                <a:lnTo>
                  <a:pt x="0" y="311"/>
                </a:lnTo>
                <a:lnTo>
                  <a:pt x="37" y="284"/>
                </a:lnTo>
                <a:lnTo>
                  <a:pt x="67" y="314"/>
                </a:lnTo>
                <a:lnTo>
                  <a:pt x="95" y="344"/>
                </a:lnTo>
                <a:lnTo>
                  <a:pt x="122" y="382"/>
                </a:lnTo>
                <a:lnTo>
                  <a:pt x="156" y="433"/>
                </a:lnTo>
                <a:lnTo>
                  <a:pt x="196" y="507"/>
                </a:lnTo>
                <a:lnTo>
                  <a:pt x="266" y="430"/>
                </a:lnTo>
                <a:lnTo>
                  <a:pt x="331" y="364"/>
                </a:lnTo>
                <a:lnTo>
                  <a:pt x="398" y="299"/>
                </a:lnTo>
                <a:lnTo>
                  <a:pt x="469" y="234"/>
                </a:lnTo>
                <a:lnTo>
                  <a:pt x="539" y="172"/>
                </a:lnTo>
                <a:lnTo>
                  <a:pt x="613" y="113"/>
                </a:lnTo>
                <a:lnTo>
                  <a:pt x="686" y="53"/>
                </a:lnTo>
                <a:lnTo>
                  <a:pt x="763" y="0"/>
                </a:lnTo>
                <a:lnTo>
                  <a:pt x="778" y="33"/>
                </a:lnTo>
                <a:lnTo>
                  <a:pt x="726" y="74"/>
                </a:lnTo>
                <a:lnTo>
                  <a:pt x="741" y="110"/>
                </a:lnTo>
                <a:lnTo>
                  <a:pt x="686" y="145"/>
                </a:lnTo>
                <a:close/>
              </a:path>
            </a:pathLst>
          </a:custGeom>
          <a:solidFill>
            <a:srgbClr val="FFFF00"/>
          </a:solidFill>
          <a:ln w="3175" cap="flat">
            <a:noFill/>
            <a:prstDash val="solid"/>
            <a:round/>
            <a:headEnd/>
            <a:tailEnd/>
          </a:ln>
          <a:effectLst/>
        </p:spPr>
        <p:txBody>
          <a:bodyPr anchor="ctr">
            <a:spAutoFit/>
          </a:bodyPr>
          <a:lstStyle/>
          <a:p>
            <a:endParaRPr lang="zh-CN" altLang="en-US"/>
          </a:p>
        </p:txBody>
      </p:sp>
      <p:grpSp>
        <p:nvGrpSpPr>
          <p:cNvPr id="13" name="Group 95"/>
          <p:cNvGrpSpPr>
            <a:grpSpLocks/>
          </p:cNvGrpSpPr>
          <p:nvPr/>
        </p:nvGrpSpPr>
        <p:grpSpPr bwMode="auto">
          <a:xfrm>
            <a:off x="1703389" y="260350"/>
            <a:ext cx="2071687" cy="935038"/>
            <a:chOff x="204" y="1979"/>
            <a:chExt cx="1305" cy="589"/>
          </a:xfrm>
        </p:grpSpPr>
        <p:sp>
          <p:nvSpPr>
            <p:cNvPr id="56371" name="AutoShape 96"/>
            <p:cNvSpPr>
              <a:spLocks noChangeArrowheads="1"/>
            </p:cNvSpPr>
            <p:nvPr/>
          </p:nvSpPr>
          <p:spPr bwMode="auto">
            <a:xfrm rot="-345710">
              <a:off x="204" y="1979"/>
              <a:ext cx="952" cy="589"/>
            </a:xfrm>
            <a:prstGeom prst="irregularSeal2">
              <a:avLst/>
            </a:prstGeom>
            <a:solidFill>
              <a:srgbClr val="D07C00"/>
            </a:solidFill>
            <a:ln w="44450">
              <a:solidFill>
                <a:srgbClr val="FFFF00"/>
              </a:solidFill>
              <a:miter lim="800000"/>
              <a:headEnd type="none" w="sm" len="sm"/>
              <a:tailEnd type="none" w="sm" len="sm"/>
            </a:ln>
            <a:effectLst>
              <a:outerShdw dist="139700" algn="ctr" rotWithShape="0">
                <a:srgbClr val="AEAEAE"/>
              </a:outerShdw>
            </a:effectLst>
          </p:spPr>
          <p:txBody>
            <a:bodyPr wrap="none" anchor="ctr"/>
            <a:lstStyle/>
            <a:p>
              <a:pPr algn="ctr" eaLnBrk="1" hangingPunct="1"/>
              <a:endParaRPr kumimoji="1" lang="zh-CN" altLang="en-US" sz="2400" b="1">
                <a:solidFill>
                  <a:srgbClr val="FFFFCC"/>
                </a:solidFill>
                <a:ea typeface="华文行楷" pitchFamily="2" charset="-122"/>
              </a:endParaRPr>
            </a:p>
          </p:txBody>
        </p:sp>
        <p:sp>
          <p:nvSpPr>
            <p:cNvPr id="56372" name="Text Box 97"/>
            <p:cNvSpPr txBox="1">
              <a:spLocks noChangeArrowheads="1"/>
            </p:cNvSpPr>
            <p:nvPr/>
          </p:nvSpPr>
          <p:spPr bwMode="auto">
            <a:xfrm rot="-1060623">
              <a:off x="258" y="2047"/>
              <a:ext cx="1251" cy="327"/>
            </a:xfrm>
            <a:prstGeom prst="rect">
              <a:avLst/>
            </a:prstGeom>
            <a:noFill/>
            <a:ln w="12700" cap="sq">
              <a:noFill/>
              <a:miter lim="800000"/>
              <a:headEnd type="none" w="sm" len="sm"/>
              <a:tailEnd type="none" w="sm" len="sm"/>
            </a:ln>
            <a:effectLst>
              <a:outerShdw dist="12700" algn="ctr" rotWithShape="0">
                <a:schemeClr val="bg1"/>
              </a:outerShdw>
            </a:effectLst>
          </p:spPr>
          <p:txBody>
            <a:bodyPr>
              <a:spAutoFit/>
            </a:bodyPr>
            <a:lstStyle/>
            <a:p>
              <a:r>
                <a:rPr lang="zh-CN" altLang="en-US" sz="2800" b="1" i="1">
                  <a:solidFill>
                    <a:srgbClr val="FFFFFF"/>
                  </a:solidFill>
                  <a:ea typeface="黑体" pitchFamily="2" charset="-122"/>
                </a:rPr>
                <a:t>练习</a:t>
              </a:r>
              <a:r>
                <a:rPr lang="en-US" altLang="zh-CN" sz="2800" b="1" i="1">
                  <a:solidFill>
                    <a:srgbClr val="FFFFFF"/>
                  </a:solidFill>
                  <a:ea typeface="黑体" pitchFamily="2" charset="-122"/>
                </a:rPr>
                <a:t>3</a:t>
              </a:r>
            </a:p>
          </p:txBody>
        </p:sp>
      </p:grpSp>
      <p:sp>
        <p:nvSpPr>
          <p:cNvPr id="813154" name="Line 98"/>
          <p:cNvSpPr>
            <a:spLocks noChangeShapeType="1"/>
          </p:cNvSpPr>
          <p:nvPr/>
        </p:nvSpPr>
        <p:spPr bwMode="auto">
          <a:xfrm>
            <a:off x="4789488" y="1528763"/>
            <a:ext cx="2519362" cy="0"/>
          </a:xfrm>
          <a:prstGeom prst="line">
            <a:avLst/>
          </a:prstGeom>
          <a:noFill/>
          <a:ln w="38100">
            <a:solidFill>
              <a:srgbClr val="FFFF00"/>
            </a:solidFill>
            <a:round/>
            <a:headEnd/>
            <a:tailEnd/>
          </a:ln>
          <a:effectLst/>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13117"/>
                                        </p:tgtEl>
                                        <p:attrNameLst>
                                          <p:attrName>style.visibility</p:attrName>
                                        </p:attrNameLst>
                                      </p:cBhvr>
                                      <p:to>
                                        <p:strVal val="visible"/>
                                      </p:to>
                                    </p:set>
                                    <p:animEffect transition="in" filter="wipe(down)">
                                      <p:cBhvr>
                                        <p:cTn id="12" dur="500"/>
                                        <p:tgtEl>
                                          <p:spTgt spid="8131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272"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strVal val="2/3*#ppt_w"/>
                                          </p:val>
                                        </p:tav>
                                        <p:tav tm="100000">
                                          <p:val>
                                            <p:strVal val="#ppt_w"/>
                                          </p:val>
                                        </p:tav>
                                      </p:tavLst>
                                    </p:anim>
                                    <p:anim calcmode="lin" valueType="num">
                                      <p:cBhvr>
                                        <p:cTn id="18" dur="500" fill="hold"/>
                                        <p:tgtEl>
                                          <p:spTgt spid="11"/>
                                        </p:tgtEl>
                                        <p:attrNameLst>
                                          <p:attrName>ppt_h</p:attrName>
                                        </p:attrNameLst>
                                      </p:cBhvr>
                                      <p:tavLst>
                                        <p:tav tm="0">
                                          <p:val>
                                            <p:strVal val="2/3*#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272"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p:cTn id="23" dur="500" fill="hold"/>
                                        <p:tgtEl>
                                          <p:spTgt spid="12"/>
                                        </p:tgtEl>
                                        <p:attrNameLst>
                                          <p:attrName>ppt_w</p:attrName>
                                        </p:attrNameLst>
                                      </p:cBhvr>
                                      <p:tavLst>
                                        <p:tav tm="0">
                                          <p:val>
                                            <p:strVal val="2/3*#ppt_w"/>
                                          </p:val>
                                        </p:tav>
                                        <p:tav tm="100000">
                                          <p:val>
                                            <p:strVal val="#ppt_w"/>
                                          </p:val>
                                        </p:tav>
                                      </p:tavLst>
                                    </p:anim>
                                    <p:anim calcmode="lin" valueType="num">
                                      <p:cBhvr>
                                        <p:cTn id="24" dur="500" fill="hold"/>
                                        <p:tgtEl>
                                          <p:spTgt spid="12"/>
                                        </p:tgtEl>
                                        <p:attrNameLst>
                                          <p:attrName>ppt_h</p:attrName>
                                        </p:attrNameLst>
                                      </p:cBhvr>
                                      <p:tavLst>
                                        <p:tav tm="0">
                                          <p:val>
                                            <p:strVal val="2/3*#ppt_h"/>
                                          </p:val>
                                        </p:tav>
                                        <p:tav tm="100000">
                                          <p:val>
                                            <p:strVal val="#ppt_h"/>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813150"/>
                                        </p:tgtEl>
                                        <p:attrNameLst>
                                          <p:attrName>style.visibility</p:attrName>
                                        </p:attrNameLst>
                                      </p:cBhvr>
                                      <p:to>
                                        <p:strVal val="visible"/>
                                      </p:to>
                                    </p:set>
                                    <p:animEffect transition="in" filter="wipe(down)">
                                      <p:cBhvr>
                                        <p:cTn id="29" dur="500"/>
                                        <p:tgtEl>
                                          <p:spTgt spid="813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3117" grpId="0" animBg="1"/>
      <p:bldP spid="81315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p:cNvSpPr>
            <a:spLocks noChangeArrowheads="1"/>
          </p:cNvSpPr>
          <p:nvPr/>
        </p:nvSpPr>
        <p:spPr bwMode="auto">
          <a:xfrm>
            <a:off x="2855913" y="415926"/>
            <a:ext cx="7200900" cy="3084513"/>
          </a:xfrm>
          <a:prstGeom prst="rect">
            <a:avLst/>
          </a:prstGeom>
          <a:gradFill rotWithShape="1">
            <a:gsLst>
              <a:gs pos="0">
                <a:srgbClr val="0000B4"/>
              </a:gs>
              <a:gs pos="50000">
                <a:srgbClr val="000053"/>
              </a:gs>
              <a:gs pos="100000">
                <a:srgbClr val="0000B4"/>
              </a:gs>
            </a:gsLst>
            <a:lin ang="5400000" scaled="1"/>
          </a:gradFill>
          <a:ln w="9525">
            <a:noFill/>
            <a:miter lim="800000"/>
            <a:headEnd/>
            <a:tailEnd/>
          </a:ln>
          <a:effectLst>
            <a:outerShdw dist="135003" dir="2928844" algn="ctr" rotWithShape="0">
              <a:srgbClr val="B2B2B2">
                <a:alpha val="50000"/>
              </a:srgbClr>
            </a:outerShdw>
          </a:effectLst>
        </p:spPr>
        <p:txBody>
          <a:bodyPr wrap="none" anchor="ctr"/>
          <a:lstStyle/>
          <a:p>
            <a:pPr algn="ctr" eaLnBrk="1" hangingPunct="1"/>
            <a:endParaRPr kumimoji="1" lang="zh-CN" altLang="en-US" sz="2400" b="1">
              <a:solidFill>
                <a:srgbClr val="FFFFCC"/>
              </a:solidFill>
              <a:ea typeface="华文行楷" pitchFamily="2" charset="-122"/>
            </a:endParaRPr>
          </a:p>
        </p:txBody>
      </p:sp>
      <p:grpSp>
        <p:nvGrpSpPr>
          <p:cNvPr id="2" name="Group 95"/>
          <p:cNvGrpSpPr>
            <a:grpSpLocks/>
          </p:cNvGrpSpPr>
          <p:nvPr/>
        </p:nvGrpSpPr>
        <p:grpSpPr bwMode="auto">
          <a:xfrm>
            <a:off x="1703389" y="260350"/>
            <a:ext cx="2071687" cy="935038"/>
            <a:chOff x="204" y="1979"/>
            <a:chExt cx="1305" cy="589"/>
          </a:xfrm>
        </p:grpSpPr>
        <p:sp>
          <p:nvSpPr>
            <p:cNvPr id="57355" name="AutoShape 96"/>
            <p:cNvSpPr>
              <a:spLocks noChangeArrowheads="1"/>
            </p:cNvSpPr>
            <p:nvPr/>
          </p:nvSpPr>
          <p:spPr bwMode="auto">
            <a:xfrm rot="-345710">
              <a:off x="204" y="1979"/>
              <a:ext cx="952" cy="589"/>
            </a:xfrm>
            <a:prstGeom prst="irregularSeal2">
              <a:avLst/>
            </a:prstGeom>
            <a:solidFill>
              <a:srgbClr val="D07C00"/>
            </a:solidFill>
            <a:ln w="44450">
              <a:solidFill>
                <a:srgbClr val="FFFF00"/>
              </a:solidFill>
              <a:miter lim="800000"/>
              <a:headEnd type="none" w="sm" len="sm"/>
              <a:tailEnd type="none" w="sm" len="sm"/>
            </a:ln>
            <a:effectLst>
              <a:outerShdw dist="139700" algn="ctr" rotWithShape="0">
                <a:srgbClr val="AEAEAE"/>
              </a:outerShdw>
            </a:effectLst>
          </p:spPr>
          <p:txBody>
            <a:bodyPr wrap="none" anchor="ctr"/>
            <a:lstStyle/>
            <a:p>
              <a:pPr algn="ctr" eaLnBrk="1" hangingPunct="1"/>
              <a:endParaRPr kumimoji="1" lang="zh-CN" altLang="en-US" sz="2400" b="1">
                <a:solidFill>
                  <a:srgbClr val="FFFFCC"/>
                </a:solidFill>
                <a:ea typeface="华文行楷" pitchFamily="2" charset="-122"/>
              </a:endParaRPr>
            </a:p>
          </p:txBody>
        </p:sp>
        <p:sp>
          <p:nvSpPr>
            <p:cNvPr id="57356" name="Text Box 97"/>
            <p:cNvSpPr txBox="1">
              <a:spLocks noChangeArrowheads="1"/>
            </p:cNvSpPr>
            <p:nvPr/>
          </p:nvSpPr>
          <p:spPr bwMode="auto">
            <a:xfrm rot="-1060623">
              <a:off x="258" y="2047"/>
              <a:ext cx="1251" cy="327"/>
            </a:xfrm>
            <a:prstGeom prst="rect">
              <a:avLst/>
            </a:prstGeom>
            <a:noFill/>
            <a:ln w="12700" cap="sq">
              <a:noFill/>
              <a:miter lim="800000"/>
              <a:headEnd type="none" w="sm" len="sm"/>
              <a:tailEnd type="none" w="sm" len="sm"/>
            </a:ln>
            <a:effectLst>
              <a:outerShdw dist="12700" algn="ctr" rotWithShape="0">
                <a:schemeClr val="bg1"/>
              </a:outerShdw>
            </a:effectLst>
          </p:spPr>
          <p:txBody>
            <a:bodyPr>
              <a:spAutoFit/>
            </a:bodyPr>
            <a:lstStyle/>
            <a:p>
              <a:r>
                <a:rPr lang="zh-CN" altLang="en-US" sz="2800" b="1" i="1">
                  <a:solidFill>
                    <a:srgbClr val="FFFFFF"/>
                  </a:solidFill>
                  <a:ea typeface="黑体" pitchFamily="2" charset="-122"/>
                </a:rPr>
                <a:t>练习</a:t>
              </a:r>
              <a:r>
                <a:rPr lang="en-US" altLang="zh-CN" sz="2800" b="1" i="1">
                  <a:solidFill>
                    <a:srgbClr val="FFFFFF"/>
                  </a:solidFill>
                  <a:ea typeface="黑体" pitchFamily="2" charset="-122"/>
                </a:rPr>
                <a:t>4</a:t>
              </a:r>
            </a:p>
          </p:txBody>
        </p:sp>
      </p:grpSp>
      <p:sp>
        <p:nvSpPr>
          <p:cNvPr id="57348" name="TextBox 1"/>
          <p:cNvSpPr txBox="1">
            <a:spLocks noChangeArrowheads="1"/>
          </p:cNvSpPr>
          <p:nvPr/>
        </p:nvSpPr>
        <p:spPr bwMode="auto">
          <a:xfrm>
            <a:off x="3451226" y="627063"/>
            <a:ext cx="6316663" cy="2862262"/>
          </a:xfrm>
          <a:prstGeom prst="rect">
            <a:avLst/>
          </a:prstGeom>
          <a:noFill/>
          <a:ln w="9525">
            <a:noFill/>
            <a:miter lim="800000"/>
            <a:headEnd/>
            <a:tailEnd/>
          </a:ln>
        </p:spPr>
        <p:txBody>
          <a:bodyPr>
            <a:spAutoFit/>
          </a:bodyPr>
          <a:lstStyle/>
          <a:p>
            <a:pPr>
              <a:lnSpc>
                <a:spcPct val="150000"/>
              </a:lnSpc>
            </a:pPr>
            <a:r>
              <a:rPr lang="zh-CN" altLang="en-US" sz="2400">
                <a:solidFill>
                  <a:schemeClr val="bg1"/>
                </a:solidFill>
                <a:latin typeface="黑体" pitchFamily="2" charset="-122"/>
                <a:ea typeface="黑体" pitchFamily="2" charset="-122"/>
              </a:rPr>
              <a:t>设有一顺序栈</a:t>
            </a:r>
            <a:r>
              <a:rPr lang="en-US" altLang="zh-CN" sz="2400">
                <a:solidFill>
                  <a:schemeClr val="bg1"/>
                </a:solidFill>
                <a:latin typeface="黑体" pitchFamily="2" charset="-122"/>
                <a:ea typeface="黑体" pitchFamily="2" charset="-122"/>
              </a:rPr>
              <a:t>S</a:t>
            </a:r>
            <a:r>
              <a:rPr lang="zh-CN" altLang="en-US" sz="2400">
                <a:solidFill>
                  <a:schemeClr val="bg1"/>
                </a:solidFill>
                <a:latin typeface="黑体" pitchFamily="2" charset="-122"/>
                <a:ea typeface="黑体" pitchFamily="2" charset="-122"/>
              </a:rPr>
              <a:t>，元素</a:t>
            </a:r>
            <a:r>
              <a:rPr lang="en-US" altLang="zh-CN" sz="2400">
                <a:solidFill>
                  <a:schemeClr val="bg1"/>
                </a:solidFill>
                <a:latin typeface="黑体" pitchFamily="2" charset="-122"/>
                <a:ea typeface="黑体" pitchFamily="2" charset="-122"/>
              </a:rPr>
              <a:t>a,b,c,d,e,f</a:t>
            </a:r>
            <a:r>
              <a:rPr lang="zh-CN" altLang="en-US" sz="2400">
                <a:solidFill>
                  <a:schemeClr val="bg1"/>
                </a:solidFill>
                <a:latin typeface="黑体" pitchFamily="2" charset="-122"/>
                <a:ea typeface="黑体" pitchFamily="2" charset="-122"/>
              </a:rPr>
              <a:t>依次进栈，如果</a:t>
            </a:r>
            <a:r>
              <a:rPr lang="en-US" altLang="zh-CN" sz="2400">
                <a:solidFill>
                  <a:schemeClr val="bg1"/>
                </a:solidFill>
                <a:latin typeface="黑体" pitchFamily="2" charset="-122"/>
                <a:ea typeface="黑体" pitchFamily="2" charset="-122"/>
              </a:rPr>
              <a:t>6</a:t>
            </a:r>
            <a:r>
              <a:rPr lang="zh-CN" altLang="en-US" sz="2400">
                <a:solidFill>
                  <a:schemeClr val="bg1"/>
                </a:solidFill>
                <a:latin typeface="黑体" pitchFamily="2" charset="-122"/>
                <a:ea typeface="黑体" pitchFamily="2" charset="-122"/>
              </a:rPr>
              <a:t>个元素出栈的顺序是</a:t>
            </a:r>
            <a:r>
              <a:rPr lang="en-US" altLang="zh-CN" sz="2400">
                <a:solidFill>
                  <a:schemeClr val="bg1"/>
                </a:solidFill>
                <a:latin typeface="黑体" pitchFamily="2" charset="-122"/>
                <a:ea typeface="黑体" pitchFamily="2" charset="-122"/>
              </a:rPr>
              <a:t>b,d,c,f,e,a,</a:t>
            </a:r>
            <a:r>
              <a:rPr lang="zh-CN" altLang="en-US" sz="2400">
                <a:solidFill>
                  <a:schemeClr val="bg1"/>
                </a:solidFill>
                <a:latin typeface="黑体" pitchFamily="2" charset="-122"/>
                <a:ea typeface="黑体" pitchFamily="2" charset="-122"/>
              </a:rPr>
              <a:t>则栈的容量至少应该是（    ）</a:t>
            </a:r>
            <a:endParaRPr lang="en-US" altLang="zh-CN" sz="2400">
              <a:solidFill>
                <a:srgbClr val="FF0000"/>
              </a:solidFill>
              <a:latin typeface="黑体" pitchFamily="2" charset="-122"/>
              <a:ea typeface="黑体" pitchFamily="2" charset="-122"/>
            </a:endParaRPr>
          </a:p>
          <a:p>
            <a:pPr>
              <a:lnSpc>
                <a:spcPct val="150000"/>
              </a:lnSpc>
            </a:pPr>
            <a:endParaRPr lang="en-US" altLang="zh-CN" sz="2400">
              <a:solidFill>
                <a:schemeClr val="bg1"/>
              </a:solidFill>
              <a:latin typeface="黑体" pitchFamily="2" charset="-122"/>
              <a:ea typeface="黑体" pitchFamily="2" charset="-122"/>
            </a:endParaRPr>
          </a:p>
          <a:p>
            <a:pPr>
              <a:lnSpc>
                <a:spcPct val="150000"/>
              </a:lnSpc>
            </a:pPr>
            <a:r>
              <a:rPr lang="en-US" altLang="zh-CN" sz="2400">
                <a:solidFill>
                  <a:schemeClr val="bg1"/>
                </a:solidFill>
                <a:latin typeface="黑体" pitchFamily="2" charset="-122"/>
                <a:ea typeface="黑体" pitchFamily="2" charset="-122"/>
              </a:rPr>
              <a:t>A</a:t>
            </a:r>
            <a:r>
              <a:rPr lang="zh-CN" altLang="en-US" sz="2400">
                <a:solidFill>
                  <a:schemeClr val="bg1"/>
                </a:solidFill>
                <a:latin typeface="黑体" pitchFamily="2" charset="-122"/>
                <a:ea typeface="黑体" pitchFamily="2" charset="-122"/>
              </a:rPr>
              <a:t>、</a:t>
            </a:r>
            <a:r>
              <a:rPr lang="en-US" altLang="zh-CN" sz="2400">
                <a:solidFill>
                  <a:schemeClr val="bg1"/>
                </a:solidFill>
                <a:latin typeface="黑体" pitchFamily="2" charset="-122"/>
                <a:ea typeface="黑体" pitchFamily="2" charset="-122"/>
              </a:rPr>
              <a:t>2    B</a:t>
            </a:r>
            <a:r>
              <a:rPr lang="zh-CN" altLang="en-US" sz="2400">
                <a:solidFill>
                  <a:schemeClr val="bg1"/>
                </a:solidFill>
                <a:latin typeface="黑体" pitchFamily="2" charset="-122"/>
                <a:ea typeface="黑体" pitchFamily="2" charset="-122"/>
              </a:rPr>
              <a:t>、</a:t>
            </a:r>
            <a:r>
              <a:rPr lang="en-US" altLang="zh-CN" sz="2400">
                <a:solidFill>
                  <a:schemeClr val="bg1"/>
                </a:solidFill>
                <a:latin typeface="黑体" pitchFamily="2" charset="-122"/>
                <a:ea typeface="黑体" pitchFamily="2" charset="-122"/>
              </a:rPr>
              <a:t>3     C</a:t>
            </a:r>
            <a:r>
              <a:rPr lang="zh-CN" altLang="en-US" sz="2400">
                <a:solidFill>
                  <a:schemeClr val="bg1"/>
                </a:solidFill>
                <a:latin typeface="黑体" pitchFamily="2" charset="-122"/>
                <a:ea typeface="黑体" pitchFamily="2" charset="-122"/>
              </a:rPr>
              <a:t>、</a:t>
            </a:r>
            <a:r>
              <a:rPr lang="en-US" altLang="zh-CN" sz="2400">
                <a:solidFill>
                  <a:schemeClr val="bg1"/>
                </a:solidFill>
                <a:latin typeface="黑体" pitchFamily="2" charset="-122"/>
                <a:ea typeface="黑体" pitchFamily="2" charset="-122"/>
              </a:rPr>
              <a:t>5     D</a:t>
            </a:r>
            <a:r>
              <a:rPr lang="zh-CN" altLang="en-US" sz="2400">
                <a:solidFill>
                  <a:schemeClr val="bg1"/>
                </a:solidFill>
                <a:latin typeface="黑体" pitchFamily="2" charset="-122"/>
                <a:ea typeface="黑体" pitchFamily="2" charset="-122"/>
              </a:rPr>
              <a:t>、</a:t>
            </a:r>
            <a:r>
              <a:rPr lang="en-US" altLang="zh-CN" sz="2400">
                <a:solidFill>
                  <a:schemeClr val="bg1"/>
                </a:solidFill>
                <a:latin typeface="黑体" pitchFamily="2" charset="-122"/>
                <a:ea typeface="黑体" pitchFamily="2" charset="-122"/>
              </a:rPr>
              <a:t>6</a:t>
            </a:r>
            <a:r>
              <a:rPr lang="zh-CN" altLang="en-US" sz="2400">
                <a:solidFill>
                  <a:schemeClr val="bg1"/>
                </a:solidFill>
                <a:latin typeface="黑体" pitchFamily="2" charset="-122"/>
                <a:ea typeface="黑体" pitchFamily="2" charset="-122"/>
              </a:rPr>
              <a:t> </a:t>
            </a:r>
          </a:p>
        </p:txBody>
      </p:sp>
      <p:sp>
        <p:nvSpPr>
          <p:cNvPr id="24" name="Rectangle 3"/>
          <p:cNvSpPr>
            <a:spLocks noChangeArrowheads="1"/>
          </p:cNvSpPr>
          <p:nvPr/>
        </p:nvSpPr>
        <p:spPr bwMode="auto">
          <a:xfrm>
            <a:off x="3089400" y="3909691"/>
            <a:ext cx="6769100" cy="611188"/>
          </a:xfrm>
          <a:prstGeom prst="rect">
            <a:avLst/>
          </a:prstGeom>
          <a:gradFill rotWithShape="1">
            <a:gsLst>
              <a:gs pos="0">
                <a:srgbClr val="008080"/>
              </a:gs>
              <a:gs pos="50000">
                <a:srgbClr val="008080">
                  <a:gamma/>
                  <a:shade val="46275"/>
                  <a:invGamma/>
                </a:srgbClr>
              </a:gs>
              <a:gs pos="100000">
                <a:srgbClr val="008080"/>
              </a:gs>
            </a:gsLst>
            <a:lin ang="5400000" scaled="1"/>
          </a:gradFill>
          <a:ln>
            <a:noFill/>
          </a:ln>
          <a:effectLst>
            <a:outerShdw dist="99190" dir="3011666" algn="ctr" rotWithShape="0">
              <a:srgbClr val="B2B2B2">
                <a:alpha val="50000"/>
              </a:srgbClr>
            </a:outerShdw>
          </a:effectLst>
          <a:extLst>
            <a:ext uri="{91240B29-F687-4F45-9708-019B960494DF}">
              <a14:hiddenLine xmlns:a14="http://schemas.microsoft.com/office/drawing/2010/main" w="9525">
                <a:solidFill>
                  <a:srgbClr val="FFFF99"/>
                </a:solidFill>
                <a:miter lim="800000"/>
                <a:headEnd/>
                <a:tailEnd/>
              </a14:hiddenLine>
            </a:ext>
          </a:extLst>
        </p:spPr>
        <p:txBody>
          <a:bodyPr wrap="none" anchor="ctr"/>
          <a:lstStyle/>
          <a:p>
            <a:pPr algn="ctr" eaLnBrk="1" hangingPunct="1">
              <a:defRPr/>
            </a:pPr>
            <a:r>
              <a:rPr kumimoji="1" lang="zh-CN" altLang="en-US" sz="2400" b="1" dirty="0">
                <a:ln>
                  <a:solidFill>
                    <a:schemeClr val="tx1"/>
                  </a:solidFill>
                </a:ln>
                <a:solidFill>
                  <a:srgbClr val="FFFFCC"/>
                </a:solidFill>
                <a:latin typeface="黑体" pitchFamily="49" charset="-122"/>
                <a:ea typeface="黑体" pitchFamily="49" charset="-122"/>
              </a:rPr>
              <a:t>试将下列递归过程改造为非递归过程</a:t>
            </a:r>
          </a:p>
        </p:txBody>
      </p:sp>
      <p:grpSp>
        <p:nvGrpSpPr>
          <p:cNvPr id="4" name="Group 48"/>
          <p:cNvGrpSpPr>
            <a:grpSpLocks/>
          </p:cNvGrpSpPr>
          <p:nvPr/>
        </p:nvGrpSpPr>
        <p:grpSpPr bwMode="auto">
          <a:xfrm>
            <a:off x="1703389" y="3789364"/>
            <a:ext cx="2105025" cy="935037"/>
            <a:chOff x="204" y="255"/>
            <a:chExt cx="1326" cy="589"/>
          </a:xfrm>
        </p:grpSpPr>
        <p:sp>
          <p:nvSpPr>
            <p:cNvPr id="57353" name="AutoShape 49"/>
            <p:cNvSpPr>
              <a:spLocks noChangeArrowheads="1"/>
            </p:cNvSpPr>
            <p:nvPr/>
          </p:nvSpPr>
          <p:spPr bwMode="auto">
            <a:xfrm rot="-345710">
              <a:off x="204" y="255"/>
              <a:ext cx="952" cy="589"/>
            </a:xfrm>
            <a:prstGeom prst="irregularSeal2">
              <a:avLst/>
            </a:prstGeom>
            <a:solidFill>
              <a:srgbClr val="FF0000"/>
            </a:solidFill>
            <a:ln w="44450">
              <a:solidFill>
                <a:srgbClr val="FFFF00"/>
              </a:solidFill>
              <a:miter lim="800000"/>
              <a:headEnd type="none" w="sm" len="sm"/>
              <a:tailEnd type="none" w="sm" len="sm"/>
            </a:ln>
            <a:effectLst>
              <a:outerShdw dist="139700" algn="ctr" rotWithShape="0">
                <a:srgbClr val="AEAEAE"/>
              </a:outerShdw>
            </a:effectLst>
          </p:spPr>
          <p:txBody>
            <a:bodyPr wrap="none" anchor="ctr"/>
            <a:lstStyle/>
            <a:p>
              <a:pPr algn="ctr" eaLnBrk="1" hangingPunct="1"/>
              <a:endParaRPr kumimoji="1" lang="zh-CN" altLang="en-US" sz="2400" b="1">
                <a:solidFill>
                  <a:srgbClr val="FFFFCC"/>
                </a:solidFill>
                <a:ea typeface="华文行楷" pitchFamily="2" charset="-122"/>
              </a:endParaRPr>
            </a:p>
          </p:txBody>
        </p:sp>
        <p:sp>
          <p:nvSpPr>
            <p:cNvPr id="57354" name="Text Box 50"/>
            <p:cNvSpPr txBox="1">
              <a:spLocks noChangeArrowheads="1"/>
            </p:cNvSpPr>
            <p:nvPr/>
          </p:nvSpPr>
          <p:spPr bwMode="auto">
            <a:xfrm rot="-1060623">
              <a:off x="279" y="323"/>
              <a:ext cx="1251" cy="327"/>
            </a:xfrm>
            <a:prstGeom prst="rect">
              <a:avLst/>
            </a:prstGeom>
            <a:noFill/>
            <a:ln w="12700" cap="sq">
              <a:noFill/>
              <a:miter lim="800000"/>
              <a:headEnd type="none" w="sm" len="sm"/>
              <a:tailEnd type="none" w="sm" len="sm"/>
            </a:ln>
            <a:effectLst>
              <a:outerShdw dist="12700" algn="ctr" rotWithShape="0">
                <a:schemeClr val="bg1"/>
              </a:outerShdw>
            </a:effectLst>
          </p:spPr>
          <p:txBody>
            <a:bodyPr>
              <a:spAutoFit/>
            </a:bodyPr>
            <a:lstStyle/>
            <a:p>
              <a:r>
                <a:rPr lang="zh-CN" altLang="en-US" sz="2800" b="1" i="1">
                  <a:solidFill>
                    <a:srgbClr val="FFFFFF"/>
                  </a:solidFill>
                  <a:ea typeface="黑体" pitchFamily="2" charset="-122"/>
                </a:rPr>
                <a:t>练习</a:t>
              </a:r>
              <a:r>
                <a:rPr lang="en-US" altLang="zh-CN" sz="2800" b="1" i="1">
                  <a:solidFill>
                    <a:srgbClr val="FFFFFF"/>
                  </a:solidFill>
                  <a:ea typeface="黑体" pitchFamily="2" charset="-122"/>
                </a:rPr>
                <a:t>5</a:t>
              </a:r>
            </a:p>
          </p:txBody>
        </p:sp>
      </p:grpSp>
      <p:sp>
        <p:nvSpPr>
          <p:cNvPr id="3" name="TextBox 2"/>
          <p:cNvSpPr txBox="1"/>
          <p:nvPr/>
        </p:nvSpPr>
        <p:spPr>
          <a:xfrm>
            <a:off x="3208338" y="4705351"/>
            <a:ext cx="2455862" cy="2062163"/>
          </a:xfrm>
          <a:prstGeom prst="rect">
            <a:avLst/>
          </a:prstGeom>
          <a:noFill/>
        </p:spPr>
        <p:txBody>
          <a:bodyPr>
            <a:spAutoFit/>
          </a:bodyPr>
          <a:lstStyle/>
          <a:p>
            <a:pPr>
              <a:defRPr/>
            </a:pPr>
            <a:r>
              <a:rPr lang="en-US" altLang="zh-CN" sz="1600" b="1" dirty="0"/>
              <a:t>void process(</a:t>
            </a:r>
            <a:r>
              <a:rPr lang="en-US" altLang="zh-CN" sz="1600" b="1" dirty="0" err="1"/>
              <a:t>int</a:t>
            </a:r>
            <a:r>
              <a:rPr lang="en-US" altLang="zh-CN" sz="1600" b="1" dirty="0"/>
              <a:t> n)</a:t>
            </a:r>
          </a:p>
          <a:p>
            <a:pPr>
              <a:defRPr/>
            </a:pPr>
            <a:r>
              <a:rPr lang="en-US" altLang="zh-CN" sz="1600" b="1" dirty="0"/>
              <a:t>{</a:t>
            </a:r>
          </a:p>
          <a:p>
            <a:pPr>
              <a:defRPr/>
            </a:pPr>
            <a:r>
              <a:rPr lang="en-US" altLang="zh-CN" sz="1600" b="1" dirty="0"/>
              <a:t>     if (n&gt;1)</a:t>
            </a:r>
          </a:p>
          <a:p>
            <a:pPr>
              <a:defRPr/>
            </a:pPr>
            <a:r>
              <a:rPr lang="en-US" altLang="zh-CN" sz="1600" b="1" dirty="0"/>
              <a:t>     {</a:t>
            </a:r>
          </a:p>
          <a:p>
            <a:pPr>
              <a:defRPr/>
            </a:pPr>
            <a:r>
              <a:rPr lang="en-US" altLang="zh-CN" sz="1600" b="1" dirty="0"/>
              <a:t>         </a:t>
            </a:r>
            <a:r>
              <a:rPr lang="en-US" altLang="zh-CN" sz="1600" b="1" dirty="0" err="1"/>
              <a:t>printf</a:t>
            </a:r>
            <a:r>
              <a:rPr lang="en-US" altLang="zh-CN" sz="1600" b="1" dirty="0"/>
              <a:t>(“%d “, n);</a:t>
            </a:r>
          </a:p>
          <a:p>
            <a:pPr>
              <a:defRPr/>
            </a:pPr>
            <a:r>
              <a:rPr lang="en-US" altLang="zh-CN" sz="1600" b="1" dirty="0"/>
              <a:t>         process(n-1);</a:t>
            </a:r>
          </a:p>
          <a:p>
            <a:pPr>
              <a:defRPr/>
            </a:pPr>
            <a:r>
              <a:rPr lang="en-US" altLang="zh-CN" sz="1600" b="1" dirty="0"/>
              <a:t>     }</a:t>
            </a:r>
          </a:p>
          <a:p>
            <a:pPr>
              <a:defRPr/>
            </a:pPr>
            <a:r>
              <a:rPr lang="en-US" altLang="zh-CN" sz="1600" b="1" dirty="0"/>
              <a:t>}</a:t>
            </a:r>
            <a:endParaRPr lang="zh-CN" altLang="en-US" sz="1600" b="1" dirty="0"/>
          </a:p>
        </p:txBody>
      </p:sp>
      <p:sp>
        <p:nvSpPr>
          <p:cNvPr id="30" name="TextBox 29"/>
          <p:cNvSpPr txBox="1"/>
          <p:nvPr/>
        </p:nvSpPr>
        <p:spPr>
          <a:xfrm>
            <a:off x="7391401" y="4710113"/>
            <a:ext cx="2233613" cy="1814512"/>
          </a:xfrm>
          <a:prstGeom prst="rect">
            <a:avLst/>
          </a:prstGeom>
        </p:spPr>
        <p:style>
          <a:lnRef idx="1">
            <a:schemeClr val="dk1"/>
          </a:lnRef>
          <a:fillRef idx="3">
            <a:schemeClr val="dk1"/>
          </a:fillRef>
          <a:effectRef idx="2">
            <a:schemeClr val="dk1"/>
          </a:effectRef>
          <a:fontRef idx="minor">
            <a:schemeClr val="lt1"/>
          </a:fontRef>
        </p:style>
        <p:txBody>
          <a:bodyPr>
            <a:spAutoFit/>
          </a:bodyPr>
          <a:lstStyle/>
          <a:p>
            <a:pPr>
              <a:defRPr/>
            </a:pPr>
            <a:r>
              <a:rPr lang="en-US" altLang="zh-CN" sz="1600" b="1" dirty="0"/>
              <a:t>void process(</a:t>
            </a:r>
            <a:r>
              <a:rPr lang="en-US" altLang="zh-CN" sz="1600" b="1" dirty="0" err="1"/>
              <a:t>int</a:t>
            </a:r>
            <a:r>
              <a:rPr lang="en-US" altLang="zh-CN" sz="1600" b="1" dirty="0"/>
              <a:t> n)</a:t>
            </a:r>
          </a:p>
          <a:p>
            <a:pPr>
              <a:defRPr/>
            </a:pPr>
            <a:r>
              <a:rPr lang="en-US" altLang="zh-CN" sz="1600" b="1" dirty="0"/>
              <a:t>{</a:t>
            </a:r>
          </a:p>
          <a:p>
            <a:pPr>
              <a:defRPr/>
            </a:pPr>
            <a:r>
              <a:rPr lang="en-US" altLang="zh-CN" sz="1600" b="1" dirty="0"/>
              <a:t>     </a:t>
            </a:r>
            <a:r>
              <a:rPr lang="en-US" altLang="zh-CN" sz="1600" b="1" dirty="0" err="1"/>
              <a:t>int</a:t>
            </a:r>
            <a:r>
              <a:rPr lang="en-US" altLang="zh-CN" sz="1600" b="1" dirty="0"/>
              <a:t> </a:t>
            </a:r>
            <a:r>
              <a:rPr lang="en-US" altLang="zh-CN" sz="1600" b="1" dirty="0" err="1"/>
              <a:t>i</a:t>
            </a:r>
            <a:r>
              <a:rPr lang="en-US" altLang="zh-CN" sz="1600" b="1" dirty="0"/>
              <a:t>;</a:t>
            </a:r>
          </a:p>
          <a:p>
            <a:pPr>
              <a:defRPr/>
            </a:pPr>
            <a:r>
              <a:rPr lang="en-US" altLang="zh-CN" sz="1600" b="1" dirty="0"/>
              <a:t>     </a:t>
            </a:r>
            <a:r>
              <a:rPr lang="en-US" altLang="zh-CN" sz="1600" b="1" dirty="0" err="1"/>
              <a:t>i</a:t>
            </a:r>
            <a:r>
              <a:rPr lang="en-US" altLang="zh-CN" sz="1600" b="1" dirty="0"/>
              <a:t> = n;</a:t>
            </a:r>
          </a:p>
          <a:p>
            <a:pPr>
              <a:defRPr/>
            </a:pPr>
            <a:r>
              <a:rPr lang="en-US" altLang="zh-CN" sz="1600" b="1" dirty="0"/>
              <a:t>     while ( </a:t>
            </a:r>
            <a:r>
              <a:rPr lang="en-US" altLang="zh-CN" sz="1600" b="1" dirty="0" err="1"/>
              <a:t>i</a:t>
            </a:r>
            <a:r>
              <a:rPr lang="en-US" altLang="zh-CN" sz="1600" b="1" dirty="0"/>
              <a:t> &gt; 1)</a:t>
            </a:r>
          </a:p>
          <a:p>
            <a:pPr>
              <a:defRPr/>
            </a:pPr>
            <a:r>
              <a:rPr lang="en-US" altLang="zh-CN" sz="1600" b="1" dirty="0"/>
              <a:t>         </a:t>
            </a:r>
            <a:r>
              <a:rPr lang="en-US" altLang="zh-CN" sz="1600" b="1" dirty="0" err="1"/>
              <a:t>printf</a:t>
            </a:r>
            <a:r>
              <a:rPr lang="en-US" altLang="zh-CN" sz="1600" b="1" dirty="0"/>
              <a:t>(“%d “,</a:t>
            </a:r>
            <a:r>
              <a:rPr lang="en-US" altLang="zh-CN" sz="1600" b="1" dirty="0" err="1"/>
              <a:t>i</a:t>
            </a:r>
            <a:r>
              <a:rPr lang="en-US" altLang="zh-CN" sz="1600" b="1" dirty="0"/>
              <a:t>--);</a:t>
            </a:r>
          </a:p>
          <a:p>
            <a:pPr>
              <a:defRPr/>
            </a:pPr>
            <a:r>
              <a:rPr lang="en-US" altLang="zh-CN" sz="1600" b="1" dirty="0"/>
              <a:t>}</a:t>
            </a:r>
            <a:endParaRPr lang="zh-CN" altLang="en-US" sz="1600" b="1" dirty="0"/>
          </a:p>
        </p:txBody>
      </p:sp>
    </p:spTree>
  </p:cSld>
  <p:clrMapOvr>
    <a:masterClrMapping/>
  </p:clrMapOvr>
  <p:transition>
    <p:cover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9"/>
          <p:cNvGrpSpPr>
            <a:grpSpLocks/>
          </p:cNvGrpSpPr>
          <p:nvPr/>
        </p:nvGrpSpPr>
        <p:grpSpPr bwMode="auto">
          <a:xfrm>
            <a:off x="1681164" y="93663"/>
            <a:ext cx="8878887" cy="609600"/>
            <a:chOff x="336" y="192"/>
            <a:chExt cx="1776" cy="384"/>
          </a:xfrm>
        </p:grpSpPr>
        <p:sp>
          <p:nvSpPr>
            <p:cNvPr id="58372" name="Rectangle 25"/>
            <p:cNvSpPr>
              <a:spLocks noChangeArrowheads="1"/>
            </p:cNvSpPr>
            <p:nvPr/>
          </p:nvSpPr>
          <p:spPr bwMode="auto">
            <a:xfrm>
              <a:off x="336" y="192"/>
              <a:ext cx="1776" cy="384"/>
            </a:xfrm>
            <a:prstGeom prst="rect">
              <a:avLst/>
            </a:prstGeom>
            <a:solidFill>
              <a:srgbClr val="CCFFCC"/>
            </a:solidFill>
            <a:ln w="12700" cap="sq">
              <a:noFill/>
              <a:miter lim="800000"/>
              <a:headEnd type="none" w="sm" len="sm"/>
              <a:tailEnd type="none" w="sm" len="sm"/>
            </a:ln>
            <a:effectLst>
              <a:outerShdw dist="117088" dir="2436078" algn="ctr" rotWithShape="0">
                <a:srgbClr val="C0C0C0"/>
              </a:outerShdw>
            </a:effectLst>
          </p:spPr>
          <p:txBody>
            <a:bodyPr wrap="none" anchor="ctr"/>
            <a:lstStyle/>
            <a:p>
              <a:pPr algn="ctr"/>
              <a:endParaRPr lang="zh-CN" altLang="en-US"/>
            </a:p>
          </p:txBody>
        </p:sp>
        <p:sp>
          <p:nvSpPr>
            <p:cNvPr id="58373" name="Rectangle 26"/>
            <p:cNvSpPr>
              <a:spLocks noChangeArrowheads="1"/>
            </p:cNvSpPr>
            <p:nvPr/>
          </p:nvSpPr>
          <p:spPr bwMode="auto">
            <a:xfrm>
              <a:off x="436" y="225"/>
              <a:ext cx="1628" cy="349"/>
            </a:xfrm>
            <a:prstGeom prst="rect">
              <a:avLst/>
            </a:prstGeom>
            <a:noFill/>
            <a:ln w="12700" cap="sq">
              <a:noFill/>
              <a:miter lim="800000"/>
              <a:headEnd type="none" w="sm" len="sm"/>
              <a:tailEnd type="none" w="sm" len="sm"/>
            </a:ln>
          </p:spPr>
          <p:txBody>
            <a:bodyPr>
              <a:spAutoFit/>
            </a:bodyPr>
            <a:lstStyle/>
            <a:p>
              <a:pPr algn="ctr"/>
              <a:r>
                <a:rPr kumimoji="1" lang="zh-CN" altLang="en-US" sz="3000" b="1">
                  <a:solidFill>
                    <a:srgbClr val="003399"/>
                  </a:solidFill>
                  <a:latin typeface="黑体" pitchFamily="2" charset="-122"/>
                  <a:ea typeface="黑体" pitchFamily="2" charset="-122"/>
                </a:rPr>
                <a:t>栈与嵌套的过程调用</a:t>
              </a:r>
            </a:p>
          </p:txBody>
        </p:sp>
      </p:grpSp>
      <p:pic>
        <p:nvPicPr>
          <p:cNvPr id="58371" name="Picture 2"/>
          <p:cNvPicPr>
            <a:picLocks noChangeAspect="1" noChangeArrowheads="1"/>
          </p:cNvPicPr>
          <p:nvPr/>
        </p:nvPicPr>
        <p:blipFill>
          <a:blip r:embed="rId2" cstate="print"/>
          <a:srcRect/>
          <a:stretch>
            <a:fillRect/>
          </a:stretch>
        </p:blipFill>
        <p:spPr bwMode="auto">
          <a:xfrm>
            <a:off x="1695450" y="836614"/>
            <a:ext cx="8864600" cy="5888037"/>
          </a:xfrm>
          <a:prstGeom prst="rect">
            <a:avLst/>
          </a:prstGeom>
          <a:noFill/>
          <a:ln w="12700" cap="sq">
            <a:noFill/>
            <a:miter lim="800000"/>
            <a:headEnd type="none" w="sm" len="sm"/>
            <a:tailEnd type="none" w="sm" len="sm"/>
          </a:ln>
          <a:effectLst/>
        </p:spPr>
      </p:pic>
    </p:spTree>
  </p:cSld>
  <p:clrMapOvr>
    <a:masterClrMapping/>
  </p:clrMapOvr>
  <p:transition>
    <p:cover dir="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2"/>
          <p:cNvPicPr>
            <a:picLocks noChangeAspect="1" noChangeArrowheads="1"/>
          </p:cNvPicPr>
          <p:nvPr/>
        </p:nvPicPr>
        <p:blipFill>
          <a:blip r:embed="rId2" cstate="print"/>
          <a:srcRect/>
          <a:stretch>
            <a:fillRect/>
          </a:stretch>
        </p:blipFill>
        <p:spPr bwMode="auto">
          <a:xfrm>
            <a:off x="1525588" y="836614"/>
            <a:ext cx="9131300" cy="6021387"/>
          </a:xfrm>
          <a:prstGeom prst="rect">
            <a:avLst/>
          </a:prstGeom>
          <a:noFill/>
          <a:ln w="12700" cap="sq">
            <a:noFill/>
            <a:miter lim="800000"/>
            <a:headEnd type="none" w="sm" len="sm"/>
            <a:tailEnd type="none" w="sm" len="sm"/>
          </a:ln>
          <a:effectLst/>
        </p:spPr>
      </p:pic>
      <p:grpSp>
        <p:nvGrpSpPr>
          <p:cNvPr id="2" name="Group 29"/>
          <p:cNvGrpSpPr>
            <a:grpSpLocks/>
          </p:cNvGrpSpPr>
          <p:nvPr/>
        </p:nvGrpSpPr>
        <p:grpSpPr bwMode="auto">
          <a:xfrm>
            <a:off x="1681164" y="93663"/>
            <a:ext cx="8878887" cy="609600"/>
            <a:chOff x="336" y="192"/>
            <a:chExt cx="1776" cy="384"/>
          </a:xfrm>
        </p:grpSpPr>
        <p:sp>
          <p:nvSpPr>
            <p:cNvPr id="59396" name="Rectangle 25"/>
            <p:cNvSpPr>
              <a:spLocks noChangeArrowheads="1"/>
            </p:cNvSpPr>
            <p:nvPr/>
          </p:nvSpPr>
          <p:spPr bwMode="auto">
            <a:xfrm>
              <a:off x="336" y="192"/>
              <a:ext cx="1776" cy="384"/>
            </a:xfrm>
            <a:prstGeom prst="rect">
              <a:avLst/>
            </a:prstGeom>
            <a:solidFill>
              <a:srgbClr val="CCFFCC"/>
            </a:solidFill>
            <a:ln w="12700" cap="sq">
              <a:noFill/>
              <a:miter lim="800000"/>
              <a:headEnd type="none" w="sm" len="sm"/>
              <a:tailEnd type="none" w="sm" len="sm"/>
            </a:ln>
            <a:effectLst>
              <a:outerShdw dist="117088" dir="2436078" algn="ctr" rotWithShape="0">
                <a:srgbClr val="C0C0C0"/>
              </a:outerShdw>
            </a:effectLst>
          </p:spPr>
          <p:txBody>
            <a:bodyPr wrap="none" anchor="ctr"/>
            <a:lstStyle/>
            <a:p>
              <a:pPr algn="ctr"/>
              <a:endParaRPr lang="zh-CN" altLang="en-US"/>
            </a:p>
          </p:txBody>
        </p:sp>
        <p:sp>
          <p:nvSpPr>
            <p:cNvPr id="59397" name="Rectangle 26"/>
            <p:cNvSpPr>
              <a:spLocks noChangeArrowheads="1"/>
            </p:cNvSpPr>
            <p:nvPr/>
          </p:nvSpPr>
          <p:spPr bwMode="auto">
            <a:xfrm>
              <a:off x="436" y="225"/>
              <a:ext cx="1628" cy="349"/>
            </a:xfrm>
            <a:prstGeom prst="rect">
              <a:avLst/>
            </a:prstGeom>
            <a:noFill/>
            <a:ln w="12700" cap="sq">
              <a:noFill/>
              <a:miter lim="800000"/>
              <a:headEnd type="none" w="sm" len="sm"/>
              <a:tailEnd type="none" w="sm" len="sm"/>
            </a:ln>
          </p:spPr>
          <p:txBody>
            <a:bodyPr>
              <a:spAutoFit/>
            </a:bodyPr>
            <a:lstStyle/>
            <a:p>
              <a:pPr algn="ctr"/>
              <a:r>
                <a:rPr kumimoji="1" lang="zh-CN" altLang="en-US" sz="3000" b="1">
                  <a:solidFill>
                    <a:srgbClr val="003399"/>
                  </a:solidFill>
                  <a:latin typeface="黑体" pitchFamily="2" charset="-122"/>
                  <a:ea typeface="黑体" pitchFamily="2" charset="-122"/>
                </a:rPr>
                <a:t>栈与递归</a:t>
              </a:r>
            </a:p>
          </p:txBody>
        </p:sp>
      </p:grpSp>
    </p:spTree>
  </p:cSld>
  <p:clrMapOvr>
    <a:masterClrMapping/>
  </p:clrMapOvr>
  <p:transition>
    <p:cover dir="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9"/>
          <p:cNvGrpSpPr>
            <a:grpSpLocks/>
          </p:cNvGrpSpPr>
          <p:nvPr/>
        </p:nvGrpSpPr>
        <p:grpSpPr bwMode="auto">
          <a:xfrm>
            <a:off x="861374" y="108397"/>
            <a:ext cx="8878887" cy="609600"/>
            <a:chOff x="336" y="192"/>
            <a:chExt cx="1776" cy="384"/>
          </a:xfrm>
        </p:grpSpPr>
        <p:sp>
          <p:nvSpPr>
            <p:cNvPr id="59396" name="Rectangle 25"/>
            <p:cNvSpPr>
              <a:spLocks noChangeArrowheads="1"/>
            </p:cNvSpPr>
            <p:nvPr/>
          </p:nvSpPr>
          <p:spPr bwMode="auto">
            <a:xfrm>
              <a:off x="336" y="192"/>
              <a:ext cx="1776" cy="384"/>
            </a:xfrm>
            <a:prstGeom prst="rect">
              <a:avLst/>
            </a:prstGeom>
            <a:solidFill>
              <a:srgbClr val="CCFFCC"/>
            </a:solidFill>
            <a:ln w="12700" cap="sq">
              <a:noFill/>
              <a:miter lim="800000"/>
              <a:headEnd type="none" w="sm" len="sm"/>
              <a:tailEnd type="none" w="sm" len="sm"/>
            </a:ln>
            <a:effectLst>
              <a:outerShdw dist="117088" dir="2436078" algn="ctr" rotWithShape="0">
                <a:srgbClr val="C0C0C0"/>
              </a:outerShdw>
            </a:effectLst>
          </p:spPr>
          <p:txBody>
            <a:bodyPr wrap="none" anchor="ctr"/>
            <a:lstStyle/>
            <a:p>
              <a:pPr algn="ctr"/>
              <a:endParaRPr lang="zh-CN" altLang="en-US"/>
            </a:p>
          </p:txBody>
        </p:sp>
        <p:sp>
          <p:nvSpPr>
            <p:cNvPr id="59397" name="Rectangle 26"/>
            <p:cNvSpPr>
              <a:spLocks noChangeArrowheads="1"/>
            </p:cNvSpPr>
            <p:nvPr/>
          </p:nvSpPr>
          <p:spPr bwMode="auto">
            <a:xfrm>
              <a:off x="436" y="225"/>
              <a:ext cx="1628" cy="349"/>
            </a:xfrm>
            <a:prstGeom prst="rect">
              <a:avLst/>
            </a:prstGeom>
            <a:noFill/>
            <a:ln w="12700" cap="sq">
              <a:noFill/>
              <a:miter lim="800000"/>
              <a:headEnd type="none" w="sm" len="sm"/>
              <a:tailEnd type="none" w="sm" len="sm"/>
            </a:ln>
          </p:spPr>
          <p:txBody>
            <a:bodyPr>
              <a:spAutoFit/>
            </a:bodyPr>
            <a:lstStyle/>
            <a:p>
              <a:r>
                <a:rPr kumimoji="1" lang="zh-CN" altLang="en-US" sz="3000" b="1" dirty="0">
                  <a:solidFill>
                    <a:srgbClr val="003399"/>
                  </a:solidFill>
                  <a:latin typeface="黑体" pitchFamily="2" charset="-122"/>
                  <a:ea typeface="黑体" pitchFamily="2" charset="-122"/>
                </a:rPr>
                <a:t>栈与递归</a:t>
              </a:r>
            </a:p>
          </p:txBody>
        </p:sp>
      </p:grpSp>
      <p:sp>
        <p:nvSpPr>
          <p:cNvPr id="7" name="矩形 6"/>
          <p:cNvSpPr/>
          <p:nvPr/>
        </p:nvSpPr>
        <p:spPr>
          <a:xfrm>
            <a:off x="2999656" y="764704"/>
            <a:ext cx="1872116" cy="523220"/>
          </a:xfrm>
          <a:prstGeom prst="rect">
            <a:avLst/>
          </a:prstGeom>
          <a:solidFill>
            <a:schemeClr val="bg1">
              <a:lumMod val="95000"/>
            </a:schemeClr>
          </a:solidFill>
        </p:spPr>
        <p:txBody>
          <a:bodyPr wrap="none">
            <a:spAutoFit/>
          </a:bodyPr>
          <a:lstStyle/>
          <a:p>
            <a:pPr algn="ctr"/>
            <a:r>
              <a:rPr lang="zh-CN" altLang="en-US" sz="1400" b="1" dirty="0">
                <a:solidFill>
                  <a:srgbClr val="7030A0"/>
                </a:solidFill>
                <a:latin typeface="楷体" pitchFamily="49" charset="-122"/>
                <a:ea typeface="楷体" pitchFamily="49" charset="-122"/>
              </a:rPr>
              <a:t>主函数调用</a:t>
            </a:r>
            <a:r>
              <a:rPr lang="zh-CN" altLang="en-US" sz="1400" dirty="0">
                <a:solidFill>
                  <a:srgbClr val="7030A0"/>
                </a:solidFill>
                <a:latin typeface="楷体" pitchFamily="49" charset="-122"/>
                <a:ea typeface="楷体" pitchFamily="49" charset="-122"/>
              </a:rPr>
              <a:t>：</a:t>
            </a:r>
            <a:r>
              <a:rPr lang="en-US" altLang="zh-CN" sz="1400" dirty="0">
                <a:solidFill>
                  <a:srgbClr val="7030A0"/>
                </a:solidFill>
                <a:latin typeface="楷体" pitchFamily="49" charset="-122"/>
                <a:ea typeface="楷体" pitchFamily="49" charset="-122"/>
              </a:rPr>
              <a:t> </a:t>
            </a:r>
          </a:p>
          <a:p>
            <a:r>
              <a:rPr lang="en-US" altLang="zh-CN" sz="1400" b="1" dirty="0" err="1">
                <a:solidFill>
                  <a:srgbClr val="7030A0"/>
                </a:solidFill>
                <a:latin typeface="Times New Roman" pitchFamily="18" charset="0"/>
              </a:rPr>
              <a:t>hanoi</a:t>
            </a:r>
            <a:r>
              <a:rPr lang="en-US" altLang="zh-CN" sz="1400" b="1" dirty="0">
                <a:solidFill>
                  <a:srgbClr val="7030A0"/>
                </a:solidFill>
                <a:latin typeface="Times New Roman" pitchFamily="18" charset="0"/>
              </a:rPr>
              <a:t>(3, ‘A’, ‘B’, ‘C’)</a:t>
            </a:r>
            <a:endParaRPr lang="zh-CN" altLang="en-US" sz="1400" b="1" dirty="0">
              <a:solidFill>
                <a:srgbClr val="7030A0"/>
              </a:solidFill>
            </a:endParaRPr>
          </a:p>
        </p:txBody>
      </p:sp>
      <p:sp>
        <p:nvSpPr>
          <p:cNvPr id="30" name="矩形 29"/>
          <p:cNvSpPr/>
          <p:nvPr/>
        </p:nvSpPr>
        <p:spPr>
          <a:xfrm>
            <a:off x="2567609" y="2420889"/>
            <a:ext cx="1086901" cy="307777"/>
          </a:xfrm>
          <a:prstGeom prst="rect">
            <a:avLst/>
          </a:prstGeom>
          <a:solidFill>
            <a:schemeClr val="bg1">
              <a:lumMod val="95000"/>
            </a:schemeClr>
          </a:solidFill>
        </p:spPr>
        <p:txBody>
          <a:bodyPr wrap="none">
            <a:spAutoFit/>
          </a:bodyPr>
          <a:lstStyle/>
          <a:p>
            <a:r>
              <a:rPr lang="en-US" altLang="zh-CN" sz="1400" b="1" dirty="0">
                <a:solidFill>
                  <a:srgbClr val="7030A0"/>
                </a:solidFill>
                <a:latin typeface="Times New Roman" pitchFamily="18" charset="0"/>
              </a:rPr>
              <a:t>h(2, A, C B)</a:t>
            </a:r>
            <a:endParaRPr lang="zh-CN" altLang="en-US" sz="1400" b="1" dirty="0">
              <a:solidFill>
                <a:srgbClr val="7030A0"/>
              </a:solidFill>
            </a:endParaRPr>
          </a:p>
        </p:txBody>
      </p:sp>
      <p:sp>
        <p:nvSpPr>
          <p:cNvPr id="32" name="矩形 31"/>
          <p:cNvSpPr/>
          <p:nvPr/>
        </p:nvSpPr>
        <p:spPr>
          <a:xfrm>
            <a:off x="1919537" y="3933057"/>
            <a:ext cx="1042017" cy="307777"/>
          </a:xfrm>
          <a:prstGeom prst="rect">
            <a:avLst/>
          </a:prstGeom>
          <a:solidFill>
            <a:schemeClr val="bg1">
              <a:lumMod val="95000"/>
            </a:schemeClr>
          </a:solidFill>
        </p:spPr>
        <p:txBody>
          <a:bodyPr wrap="none">
            <a:spAutoFit/>
          </a:bodyPr>
          <a:lstStyle/>
          <a:p>
            <a:r>
              <a:rPr lang="en-US" altLang="zh-CN" sz="1400" b="1" dirty="0">
                <a:solidFill>
                  <a:srgbClr val="7030A0"/>
                </a:solidFill>
                <a:latin typeface="Times New Roman" pitchFamily="18" charset="0"/>
              </a:rPr>
              <a:t>h(1 A, B C)</a:t>
            </a:r>
            <a:endParaRPr lang="zh-CN" altLang="en-US" sz="1400" b="1" dirty="0">
              <a:solidFill>
                <a:srgbClr val="7030A0"/>
              </a:solidFill>
            </a:endParaRPr>
          </a:p>
        </p:txBody>
      </p:sp>
      <p:sp>
        <p:nvSpPr>
          <p:cNvPr id="33" name="矩形 32"/>
          <p:cNvSpPr/>
          <p:nvPr/>
        </p:nvSpPr>
        <p:spPr>
          <a:xfrm>
            <a:off x="1524001" y="4869161"/>
            <a:ext cx="761747" cy="307777"/>
          </a:xfrm>
          <a:prstGeom prst="rect">
            <a:avLst/>
          </a:prstGeom>
          <a:solidFill>
            <a:schemeClr val="bg1">
              <a:lumMod val="95000"/>
            </a:schemeClr>
          </a:solidFill>
        </p:spPr>
        <p:txBody>
          <a:bodyPr wrap="none">
            <a:spAutoFit/>
          </a:bodyPr>
          <a:lstStyle/>
          <a:p>
            <a:r>
              <a:rPr lang="en-US" altLang="zh-CN" sz="1400" b="1" dirty="0">
                <a:solidFill>
                  <a:srgbClr val="7030A0"/>
                </a:solidFill>
                <a:latin typeface="Times New Roman" pitchFamily="18" charset="0"/>
              </a:rPr>
              <a:t>h(0, …)</a:t>
            </a:r>
            <a:endParaRPr lang="zh-CN" altLang="en-US" sz="1400" b="1" dirty="0">
              <a:solidFill>
                <a:srgbClr val="7030A0"/>
              </a:solidFill>
            </a:endParaRPr>
          </a:p>
        </p:txBody>
      </p:sp>
      <p:sp>
        <p:nvSpPr>
          <p:cNvPr id="34" name="矩形 33"/>
          <p:cNvSpPr/>
          <p:nvPr/>
        </p:nvSpPr>
        <p:spPr>
          <a:xfrm>
            <a:off x="2567609" y="4869161"/>
            <a:ext cx="761747" cy="307777"/>
          </a:xfrm>
          <a:prstGeom prst="rect">
            <a:avLst/>
          </a:prstGeom>
          <a:solidFill>
            <a:schemeClr val="bg1">
              <a:lumMod val="95000"/>
            </a:schemeClr>
          </a:solidFill>
        </p:spPr>
        <p:txBody>
          <a:bodyPr wrap="none">
            <a:spAutoFit/>
          </a:bodyPr>
          <a:lstStyle/>
          <a:p>
            <a:r>
              <a:rPr lang="en-US" altLang="zh-CN" sz="1400" b="1" dirty="0">
                <a:solidFill>
                  <a:srgbClr val="7030A0"/>
                </a:solidFill>
                <a:latin typeface="Times New Roman" pitchFamily="18" charset="0"/>
              </a:rPr>
              <a:t>h(0, …)</a:t>
            </a:r>
            <a:endParaRPr lang="zh-CN" altLang="en-US" sz="1400" b="1" dirty="0">
              <a:solidFill>
                <a:srgbClr val="7030A0"/>
              </a:solidFill>
            </a:endParaRPr>
          </a:p>
        </p:txBody>
      </p:sp>
      <p:sp>
        <p:nvSpPr>
          <p:cNvPr id="35" name="矩形 34"/>
          <p:cNvSpPr/>
          <p:nvPr/>
        </p:nvSpPr>
        <p:spPr>
          <a:xfrm>
            <a:off x="4223792" y="3933057"/>
            <a:ext cx="1077026" cy="307777"/>
          </a:xfrm>
          <a:prstGeom prst="rect">
            <a:avLst/>
          </a:prstGeom>
          <a:solidFill>
            <a:schemeClr val="bg1">
              <a:lumMod val="95000"/>
            </a:schemeClr>
          </a:solidFill>
        </p:spPr>
        <p:txBody>
          <a:bodyPr wrap="none">
            <a:spAutoFit/>
          </a:bodyPr>
          <a:lstStyle/>
          <a:p>
            <a:r>
              <a:rPr lang="en-US" altLang="zh-CN" sz="1400" b="1" dirty="0">
                <a:solidFill>
                  <a:srgbClr val="7030A0"/>
                </a:solidFill>
                <a:latin typeface="Times New Roman" pitchFamily="18" charset="0"/>
              </a:rPr>
              <a:t>h(1, C, A B)</a:t>
            </a:r>
            <a:endParaRPr lang="zh-CN" altLang="en-US" sz="1400" b="1" dirty="0">
              <a:solidFill>
                <a:srgbClr val="7030A0"/>
              </a:solidFill>
            </a:endParaRPr>
          </a:p>
        </p:txBody>
      </p:sp>
      <p:sp>
        <p:nvSpPr>
          <p:cNvPr id="36" name="矩形 35"/>
          <p:cNvSpPr/>
          <p:nvPr/>
        </p:nvSpPr>
        <p:spPr>
          <a:xfrm>
            <a:off x="3791745" y="4869161"/>
            <a:ext cx="761747" cy="307777"/>
          </a:xfrm>
          <a:prstGeom prst="rect">
            <a:avLst/>
          </a:prstGeom>
          <a:solidFill>
            <a:schemeClr val="bg1">
              <a:lumMod val="95000"/>
            </a:schemeClr>
          </a:solidFill>
        </p:spPr>
        <p:txBody>
          <a:bodyPr wrap="none">
            <a:spAutoFit/>
          </a:bodyPr>
          <a:lstStyle/>
          <a:p>
            <a:r>
              <a:rPr lang="en-US" altLang="zh-CN" sz="1400" b="1" dirty="0">
                <a:solidFill>
                  <a:srgbClr val="7030A0"/>
                </a:solidFill>
                <a:latin typeface="Times New Roman" pitchFamily="18" charset="0"/>
              </a:rPr>
              <a:t>h(0, …)</a:t>
            </a:r>
            <a:endParaRPr lang="zh-CN" altLang="en-US" sz="1400" b="1" dirty="0">
              <a:solidFill>
                <a:srgbClr val="7030A0"/>
              </a:solidFill>
            </a:endParaRPr>
          </a:p>
        </p:txBody>
      </p:sp>
      <p:sp>
        <p:nvSpPr>
          <p:cNvPr id="37" name="矩形 36"/>
          <p:cNvSpPr/>
          <p:nvPr/>
        </p:nvSpPr>
        <p:spPr>
          <a:xfrm>
            <a:off x="5015881" y="4869161"/>
            <a:ext cx="821059" cy="307777"/>
          </a:xfrm>
          <a:prstGeom prst="rect">
            <a:avLst/>
          </a:prstGeom>
          <a:solidFill>
            <a:schemeClr val="bg1">
              <a:lumMod val="95000"/>
            </a:schemeClr>
          </a:solidFill>
        </p:spPr>
        <p:txBody>
          <a:bodyPr wrap="square">
            <a:spAutoFit/>
          </a:bodyPr>
          <a:lstStyle/>
          <a:p>
            <a:r>
              <a:rPr lang="en-US" altLang="zh-CN" sz="1400" b="1" dirty="0">
                <a:solidFill>
                  <a:srgbClr val="7030A0"/>
                </a:solidFill>
                <a:latin typeface="Times New Roman" pitchFamily="18" charset="0"/>
              </a:rPr>
              <a:t>h(0, …)</a:t>
            </a:r>
            <a:endParaRPr lang="zh-CN" altLang="en-US" sz="1400" b="1" dirty="0">
              <a:solidFill>
                <a:srgbClr val="7030A0"/>
              </a:solidFill>
            </a:endParaRPr>
          </a:p>
        </p:txBody>
      </p:sp>
      <p:sp>
        <p:nvSpPr>
          <p:cNvPr id="52" name="矩形 51"/>
          <p:cNvSpPr/>
          <p:nvPr/>
        </p:nvSpPr>
        <p:spPr>
          <a:xfrm>
            <a:off x="4223792" y="2420889"/>
            <a:ext cx="1077026" cy="307777"/>
          </a:xfrm>
          <a:prstGeom prst="rect">
            <a:avLst/>
          </a:prstGeom>
          <a:solidFill>
            <a:schemeClr val="bg1">
              <a:lumMod val="95000"/>
            </a:schemeClr>
          </a:solidFill>
        </p:spPr>
        <p:txBody>
          <a:bodyPr wrap="none">
            <a:spAutoFit/>
          </a:bodyPr>
          <a:lstStyle/>
          <a:p>
            <a:r>
              <a:rPr lang="en-US" altLang="zh-CN" sz="1400" b="1" dirty="0">
                <a:solidFill>
                  <a:srgbClr val="7030A0"/>
                </a:solidFill>
                <a:latin typeface="Times New Roman" pitchFamily="18" charset="0"/>
              </a:rPr>
              <a:t>h(2, B, A C)</a:t>
            </a:r>
            <a:endParaRPr lang="zh-CN" altLang="en-US" sz="1400" b="1" dirty="0">
              <a:solidFill>
                <a:srgbClr val="7030A0"/>
              </a:solidFill>
            </a:endParaRPr>
          </a:p>
        </p:txBody>
      </p:sp>
      <p:sp>
        <p:nvSpPr>
          <p:cNvPr id="53" name="矩形 52"/>
          <p:cNvSpPr/>
          <p:nvPr/>
        </p:nvSpPr>
        <p:spPr>
          <a:xfrm>
            <a:off x="6672065" y="3933057"/>
            <a:ext cx="1122167" cy="307777"/>
          </a:xfrm>
          <a:prstGeom prst="rect">
            <a:avLst/>
          </a:prstGeom>
          <a:solidFill>
            <a:schemeClr val="bg1">
              <a:lumMod val="95000"/>
            </a:schemeClr>
          </a:solidFill>
        </p:spPr>
        <p:txBody>
          <a:bodyPr wrap="none">
            <a:spAutoFit/>
          </a:bodyPr>
          <a:lstStyle/>
          <a:p>
            <a:r>
              <a:rPr lang="en-US" altLang="zh-CN" sz="1400" b="1" dirty="0">
                <a:solidFill>
                  <a:srgbClr val="7030A0"/>
                </a:solidFill>
                <a:latin typeface="Times New Roman" pitchFamily="18" charset="0"/>
              </a:rPr>
              <a:t>h(1, B, Z,A )</a:t>
            </a:r>
            <a:endParaRPr lang="zh-CN" altLang="en-US" sz="1400" b="1" dirty="0">
              <a:solidFill>
                <a:srgbClr val="7030A0"/>
              </a:solidFill>
            </a:endParaRPr>
          </a:p>
        </p:txBody>
      </p:sp>
      <p:sp>
        <p:nvSpPr>
          <p:cNvPr id="54" name="矩形 53"/>
          <p:cNvSpPr/>
          <p:nvPr/>
        </p:nvSpPr>
        <p:spPr>
          <a:xfrm>
            <a:off x="6240017" y="4869161"/>
            <a:ext cx="761747" cy="307777"/>
          </a:xfrm>
          <a:prstGeom prst="rect">
            <a:avLst/>
          </a:prstGeom>
          <a:solidFill>
            <a:schemeClr val="bg1">
              <a:lumMod val="95000"/>
            </a:schemeClr>
          </a:solidFill>
        </p:spPr>
        <p:txBody>
          <a:bodyPr wrap="none">
            <a:spAutoFit/>
          </a:bodyPr>
          <a:lstStyle/>
          <a:p>
            <a:r>
              <a:rPr lang="en-US" altLang="zh-CN" sz="1400" b="1" dirty="0">
                <a:solidFill>
                  <a:srgbClr val="7030A0"/>
                </a:solidFill>
                <a:latin typeface="Times New Roman" pitchFamily="18" charset="0"/>
              </a:rPr>
              <a:t>h(0, …)</a:t>
            </a:r>
            <a:endParaRPr lang="zh-CN" altLang="en-US" sz="1400" b="1" dirty="0">
              <a:solidFill>
                <a:srgbClr val="7030A0"/>
              </a:solidFill>
            </a:endParaRPr>
          </a:p>
        </p:txBody>
      </p:sp>
      <p:sp>
        <p:nvSpPr>
          <p:cNvPr id="55" name="矩形 54"/>
          <p:cNvSpPr/>
          <p:nvPr/>
        </p:nvSpPr>
        <p:spPr>
          <a:xfrm>
            <a:off x="7464153" y="4869161"/>
            <a:ext cx="761747" cy="307777"/>
          </a:xfrm>
          <a:prstGeom prst="rect">
            <a:avLst/>
          </a:prstGeom>
          <a:solidFill>
            <a:schemeClr val="bg1">
              <a:lumMod val="95000"/>
            </a:schemeClr>
          </a:solidFill>
        </p:spPr>
        <p:txBody>
          <a:bodyPr wrap="none">
            <a:spAutoFit/>
          </a:bodyPr>
          <a:lstStyle/>
          <a:p>
            <a:r>
              <a:rPr lang="en-US" altLang="zh-CN" sz="1400" b="1" dirty="0">
                <a:solidFill>
                  <a:srgbClr val="7030A0"/>
                </a:solidFill>
                <a:latin typeface="Times New Roman" pitchFamily="18" charset="0"/>
              </a:rPr>
              <a:t>h(0, …)</a:t>
            </a:r>
            <a:endParaRPr lang="zh-CN" altLang="en-US" sz="1400" b="1" dirty="0">
              <a:solidFill>
                <a:srgbClr val="7030A0"/>
              </a:solidFill>
            </a:endParaRPr>
          </a:p>
        </p:txBody>
      </p:sp>
      <p:sp>
        <p:nvSpPr>
          <p:cNvPr id="56" name="矩形 55"/>
          <p:cNvSpPr/>
          <p:nvPr/>
        </p:nvSpPr>
        <p:spPr>
          <a:xfrm>
            <a:off x="9048329" y="3933057"/>
            <a:ext cx="1131785" cy="307777"/>
          </a:xfrm>
          <a:prstGeom prst="rect">
            <a:avLst/>
          </a:prstGeom>
          <a:solidFill>
            <a:schemeClr val="bg1">
              <a:lumMod val="95000"/>
            </a:schemeClr>
          </a:solidFill>
        </p:spPr>
        <p:txBody>
          <a:bodyPr wrap="none">
            <a:spAutoFit/>
          </a:bodyPr>
          <a:lstStyle/>
          <a:p>
            <a:r>
              <a:rPr lang="en-US" altLang="zh-CN" sz="1400" b="1" dirty="0">
                <a:solidFill>
                  <a:srgbClr val="7030A0"/>
                </a:solidFill>
                <a:latin typeface="Times New Roman" pitchFamily="18" charset="0"/>
              </a:rPr>
              <a:t>h(1, A, B,C )</a:t>
            </a:r>
            <a:endParaRPr lang="zh-CN" altLang="en-US" sz="1400" b="1" dirty="0">
              <a:solidFill>
                <a:srgbClr val="7030A0"/>
              </a:solidFill>
            </a:endParaRPr>
          </a:p>
        </p:txBody>
      </p:sp>
      <p:sp>
        <p:nvSpPr>
          <p:cNvPr id="57" name="矩形 56"/>
          <p:cNvSpPr/>
          <p:nvPr/>
        </p:nvSpPr>
        <p:spPr>
          <a:xfrm>
            <a:off x="8688289" y="4869161"/>
            <a:ext cx="761747" cy="307777"/>
          </a:xfrm>
          <a:prstGeom prst="rect">
            <a:avLst/>
          </a:prstGeom>
          <a:solidFill>
            <a:schemeClr val="bg1">
              <a:lumMod val="95000"/>
            </a:schemeClr>
          </a:solidFill>
        </p:spPr>
        <p:txBody>
          <a:bodyPr wrap="none">
            <a:spAutoFit/>
          </a:bodyPr>
          <a:lstStyle/>
          <a:p>
            <a:r>
              <a:rPr lang="en-US" altLang="zh-CN" sz="1400" b="1" dirty="0">
                <a:solidFill>
                  <a:srgbClr val="7030A0"/>
                </a:solidFill>
                <a:latin typeface="Times New Roman" pitchFamily="18" charset="0"/>
              </a:rPr>
              <a:t>h(0, …)</a:t>
            </a:r>
            <a:endParaRPr lang="zh-CN" altLang="en-US" sz="1400" b="1" dirty="0">
              <a:solidFill>
                <a:srgbClr val="7030A0"/>
              </a:solidFill>
            </a:endParaRPr>
          </a:p>
        </p:txBody>
      </p:sp>
      <p:sp>
        <p:nvSpPr>
          <p:cNvPr id="58" name="矩形 57"/>
          <p:cNvSpPr/>
          <p:nvPr/>
        </p:nvSpPr>
        <p:spPr>
          <a:xfrm>
            <a:off x="9846942" y="4869161"/>
            <a:ext cx="761747" cy="307777"/>
          </a:xfrm>
          <a:prstGeom prst="rect">
            <a:avLst/>
          </a:prstGeom>
          <a:solidFill>
            <a:schemeClr val="bg1">
              <a:lumMod val="95000"/>
            </a:schemeClr>
          </a:solidFill>
        </p:spPr>
        <p:txBody>
          <a:bodyPr wrap="none">
            <a:spAutoFit/>
          </a:bodyPr>
          <a:lstStyle/>
          <a:p>
            <a:r>
              <a:rPr lang="en-US" altLang="zh-CN" sz="1400" b="1" dirty="0">
                <a:solidFill>
                  <a:srgbClr val="7030A0"/>
                </a:solidFill>
                <a:latin typeface="Times New Roman" pitchFamily="18" charset="0"/>
              </a:rPr>
              <a:t>h(0, …)</a:t>
            </a:r>
            <a:endParaRPr lang="zh-CN" altLang="en-US" sz="1400" b="1" dirty="0">
              <a:solidFill>
                <a:srgbClr val="7030A0"/>
              </a:solidFill>
            </a:endParaRPr>
          </a:p>
        </p:txBody>
      </p:sp>
      <p:cxnSp>
        <p:nvCxnSpPr>
          <p:cNvPr id="60" name="直接连接符 59"/>
          <p:cNvCxnSpPr>
            <a:stCxn id="7" idx="2"/>
            <a:endCxn id="30" idx="0"/>
          </p:cNvCxnSpPr>
          <p:nvPr/>
        </p:nvCxnSpPr>
        <p:spPr bwMode="auto">
          <a:xfrm flipH="1">
            <a:off x="3111060" y="1287924"/>
            <a:ext cx="824655" cy="1132964"/>
          </a:xfrm>
          <a:prstGeom prst="line">
            <a:avLst/>
          </a:prstGeom>
          <a:noFill/>
          <a:ln w="9525" cap="flat" cmpd="sng" algn="ctr">
            <a:solidFill>
              <a:schemeClr val="tx1"/>
            </a:solidFill>
            <a:prstDash val="solid"/>
            <a:round/>
            <a:headEnd type="none" w="med" len="med"/>
            <a:tailEnd type="none" w="med" len="med"/>
          </a:ln>
          <a:effectLst/>
        </p:spPr>
      </p:cxnSp>
      <p:cxnSp>
        <p:nvCxnSpPr>
          <p:cNvPr id="62" name="直接连接符 61"/>
          <p:cNvCxnSpPr>
            <a:stCxn id="7" idx="2"/>
            <a:endCxn id="52" idx="0"/>
          </p:cNvCxnSpPr>
          <p:nvPr/>
        </p:nvCxnSpPr>
        <p:spPr bwMode="auto">
          <a:xfrm>
            <a:off x="3935715" y="1287924"/>
            <a:ext cx="826591" cy="1132964"/>
          </a:xfrm>
          <a:prstGeom prst="line">
            <a:avLst/>
          </a:prstGeom>
          <a:noFill/>
          <a:ln w="9525" cap="flat" cmpd="sng" algn="ctr">
            <a:solidFill>
              <a:schemeClr val="tx1"/>
            </a:solidFill>
            <a:prstDash val="solid"/>
            <a:round/>
            <a:headEnd type="none" w="med" len="med"/>
            <a:tailEnd type="none" w="med" len="med"/>
          </a:ln>
          <a:effectLst/>
        </p:spPr>
      </p:cxnSp>
      <p:cxnSp>
        <p:nvCxnSpPr>
          <p:cNvPr id="64" name="直接连接符 63"/>
          <p:cNvCxnSpPr>
            <a:stCxn id="30" idx="2"/>
            <a:endCxn id="32" idx="0"/>
          </p:cNvCxnSpPr>
          <p:nvPr/>
        </p:nvCxnSpPr>
        <p:spPr bwMode="auto">
          <a:xfrm flipH="1">
            <a:off x="2440545" y="2728666"/>
            <a:ext cx="670514" cy="1204391"/>
          </a:xfrm>
          <a:prstGeom prst="line">
            <a:avLst/>
          </a:prstGeom>
          <a:noFill/>
          <a:ln w="9525" cap="flat" cmpd="sng" algn="ctr">
            <a:solidFill>
              <a:schemeClr val="tx1"/>
            </a:solidFill>
            <a:prstDash val="solid"/>
            <a:round/>
            <a:headEnd type="none" w="med" len="med"/>
            <a:tailEnd type="none" w="med" len="med"/>
          </a:ln>
          <a:effectLst/>
        </p:spPr>
      </p:cxnSp>
      <p:cxnSp>
        <p:nvCxnSpPr>
          <p:cNvPr id="66" name="直接连接符 65"/>
          <p:cNvCxnSpPr>
            <a:stCxn id="30" idx="2"/>
            <a:endCxn id="35" idx="0"/>
          </p:cNvCxnSpPr>
          <p:nvPr/>
        </p:nvCxnSpPr>
        <p:spPr bwMode="auto">
          <a:xfrm>
            <a:off x="3111059" y="2728666"/>
            <a:ext cx="1651246" cy="1204391"/>
          </a:xfrm>
          <a:prstGeom prst="line">
            <a:avLst/>
          </a:prstGeom>
          <a:noFill/>
          <a:ln w="9525" cap="flat" cmpd="sng" algn="ctr">
            <a:solidFill>
              <a:schemeClr val="tx1"/>
            </a:solidFill>
            <a:prstDash val="solid"/>
            <a:round/>
            <a:headEnd type="none" w="med" len="med"/>
            <a:tailEnd type="none" w="med" len="med"/>
          </a:ln>
          <a:effectLst/>
        </p:spPr>
      </p:cxnSp>
      <p:cxnSp>
        <p:nvCxnSpPr>
          <p:cNvPr id="68" name="直接连接符 67"/>
          <p:cNvCxnSpPr>
            <a:stCxn id="52" idx="2"/>
            <a:endCxn id="53" idx="0"/>
          </p:cNvCxnSpPr>
          <p:nvPr/>
        </p:nvCxnSpPr>
        <p:spPr bwMode="auto">
          <a:xfrm>
            <a:off x="4762306" y="2728666"/>
            <a:ext cx="2470843" cy="1204391"/>
          </a:xfrm>
          <a:prstGeom prst="line">
            <a:avLst/>
          </a:prstGeom>
          <a:noFill/>
          <a:ln w="9525" cap="flat" cmpd="sng" algn="ctr">
            <a:solidFill>
              <a:schemeClr val="tx1"/>
            </a:solidFill>
            <a:prstDash val="solid"/>
            <a:round/>
            <a:headEnd type="none" w="med" len="med"/>
            <a:tailEnd type="none" w="med" len="med"/>
          </a:ln>
          <a:effectLst/>
        </p:spPr>
      </p:cxnSp>
      <p:cxnSp>
        <p:nvCxnSpPr>
          <p:cNvPr id="70" name="直接连接符 69"/>
          <p:cNvCxnSpPr>
            <a:stCxn id="52" idx="2"/>
            <a:endCxn id="56" idx="0"/>
          </p:cNvCxnSpPr>
          <p:nvPr/>
        </p:nvCxnSpPr>
        <p:spPr bwMode="auto">
          <a:xfrm>
            <a:off x="4762305" y="2728666"/>
            <a:ext cx="4851916" cy="1204391"/>
          </a:xfrm>
          <a:prstGeom prst="line">
            <a:avLst/>
          </a:prstGeom>
          <a:noFill/>
          <a:ln w="9525" cap="flat" cmpd="sng" algn="ctr">
            <a:solidFill>
              <a:schemeClr val="tx1"/>
            </a:solidFill>
            <a:prstDash val="solid"/>
            <a:round/>
            <a:headEnd type="none" w="med" len="med"/>
            <a:tailEnd type="none" w="med" len="med"/>
          </a:ln>
          <a:effectLst/>
        </p:spPr>
      </p:cxnSp>
      <p:cxnSp>
        <p:nvCxnSpPr>
          <p:cNvPr id="72" name="直接连接符 71"/>
          <p:cNvCxnSpPr>
            <a:stCxn id="32" idx="2"/>
            <a:endCxn id="33" idx="0"/>
          </p:cNvCxnSpPr>
          <p:nvPr/>
        </p:nvCxnSpPr>
        <p:spPr bwMode="auto">
          <a:xfrm flipH="1">
            <a:off x="1904875" y="4240834"/>
            <a:ext cx="535671" cy="628327"/>
          </a:xfrm>
          <a:prstGeom prst="line">
            <a:avLst/>
          </a:prstGeom>
          <a:noFill/>
          <a:ln w="9525" cap="flat" cmpd="sng" algn="ctr">
            <a:solidFill>
              <a:schemeClr val="tx1"/>
            </a:solidFill>
            <a:prstDash val="solid"/>
            <a:round/>
            <a:headEnd type="none" w="med" len="med"/>
            <a:tailEnd type="none" w="med" len="med"/>
          </a:ln>
          <a:effectLst/>
        </p:spPr>
      </p:cxnSp>
      <p:cxnSp>
        <p:nvCxnSpPr>
          <p:cNvPr id="74" name="直接连接符 73"/>
          <p:cNvCxnSpPr>
            <a:stCxn id="32" idx="2"/>
            <a:endCxn id="34" idx="0"/>
          </p:cNvCxnSpPr>
          <p:nvPr/>
        </p:nvCxnSpPr>
        <p:spPr bwMode="auto">
          <a:xfrm>
            <a:off x="2440546" y="4240834"/>
            <a:ext cx="507937" cy="628327"/>
          </a:xfrm>
          <a:prstGeom prst="line">
            <a:avLst/>
          </a:prstGeom>
          <a:noFill/>
          <a:ln w="9525" cap="flat" cmpd="sng" algn="ctr">
            <a:solidFill>
              <a:schemeClr val="tx1"/>
            </a:solidFill>
            <a:prstDash val="solid"/>
            <a:round/>
            <a:headEnd type="none" w="med" len="med"/>
            <a:tailEnd type="none" w="med" len="med"/>
          </a:ln>
          <a:effectLst/>
        </p:spPr>
      </p:cxnSp>
      <p:cxnSp>
        <p:nvCxnSpPr>
          <p:cNvPr id="76" name="直接连接符 75"/>
          <p:cNvCxnSpPr>
            <a:stCxn id="35" idx="2"/>
            <a:endCxn id="36" idx="0"/>
          </p:cNvCxnSpPr>
          <p:nvPr/>
        </p:nvCxnSpPr>
        <p:spPr bwMode="auto">
          <a:xfrm flipH="1">
            <a:off x="4172619" y="4240834"/>
            <a:ext cx="589687" cy="628327"/>
          </a:xfrm>
          <a:prstGeom prst="line">
            <a:avLst/>
          </a:prstGeom>
          <a:noFill/>
          <a:ln w="9525" cap="flat" cmpd="sng" algn="ctr">
            <a:solidFill>
              <a:schemeClr val="tx1"/>
            </a:solidFill>
            <a:prstDash val="solid"/>
            <a:round/>
            <a:headEnd type="none" w="med" len="med"/>
            <a:tailEnd type="none" w="med" len="med"/>
          </a:ln>
          <a:effectLst/>
        </p:spPr>
      </p:cxnSp>
      <p:cxnSp>
        <p:nvCxnSpPr>
          <p:cNvPr id="78" name="直接连接符 77"/>
          <p:cNvCxnSpPr>
            <a:stCxn id="35" idx="2"/>
            <a:endCxn id="37" idx="0"/>
          </p:cNvCxnSpPr>
          <p:nvPr/>
        </p:nvCxnSpPr>
        <p:spPr bwMode="auto">
          <a:xfrm>
            <a:off x="4762306" y="4240834"/>
            <a:ext cx="664105" cy="628327"/>
          </a:xfrm>
          <a:prstGeom prst="line">
            <a:avLst/>
          </a:prstGeom>
          <a:noFill/>
          <a:ln w="9525" cap="flat" cmpd="sng" algn="ctr">
            <a:solidFill>
              <a:schemeClr val="tx1"/>
            </a:solidFill>
            <a:prstDash val="solid"/>
            <a:round/>
            <a:headEnd type="none" w="med" len="med"/>
            <a:tailEnd type="none" w="med" len="med"/>
          </a:ln>
          <a:effectLst/>
        </p:spPr>
      </p:cxnSp>
      <p:cxnSp>
        <p:nvCxnSpPr>
          <p:cNvPr id="80" name="直接连接符 79"/>
          <p:cNvCxnSpPr>
            <a:stCxn id="53" idx="2"/>
            <a:endCxn id="54" idx="0"/>
          </p:cNvCxnSpPr>
          <p:nvPr/>
        </p:nvCxnSpPr>
        <p:spPr bwMode="auto">
          <a:xfrm flipH="1">
            <a:off x="6620890" y="4240834"/>
            <a:ext cx="612258" cy="628327"/>
          </a:xfrm>
          <a:prstGeom prst="line">
            <a:avLst/>
          </a:prstGeom>
          <a:noFill/>
          <a:ln w="9525" cap="flat" cmpd="sng" algn="ctr">
            <a:solidFill>
              <a:schemeClr val="tx1"/>
            </a:solidFill>
            <a:prstDash val="solid"/>
            <a:round/>
            <a:headEnd type="none" w="med" len="med"/>
            <a:tailEnd type="none" w="med" len="med"/>
          </a:ln>
          <a:effectLst/>
        </p:spPr>
      </p:cxnSp>
      <p:cxnSp>
        <p:nvCxnSpPr>
          <p:cNvPr id="82" name="直接连接符 81"/>
          <p:cNvCxnSpPr>
            <a:stCxn id="53" idx="2"/>
            <a:endCxn id="55" idx="0"/>
          </p:cNvCxnSpPr>
          <p:nvPr/>
        </p:nvCxnSpPr>
        <p:spPr bwMode="auto">
          <a:xfrm>
            <a:off x="7233148" y="4240834"/>
            <a:ext cx="611878" cy="628327"/>
          </a:xfrm>
          <a:prstGeom prst="line">
            <a:avLst/>
          </a:prstGeom>
          <a:noFill/>
          <a:ln w="9525" cap="flat" cmpd="sng" algn="ctr">
            <a:solidFill>
              <a:schemeClr val="tx1"/>
            </a:solidFill>
            <a:prstDash val="solid"/>
            <a:round/>
            <a:headEnd type="none" w="med" len="med"/>
            <a:tailEnd type="none" w="med" len="med"/>
          </a:ln>
          <a:effectLst/>
        </p:spPr>
      </p:cxnSp>
      <p:cxnSp>
        <p:nvCxnSpPr>
          <p:cNvPr id="84" name="直接连接符 83"/>
          <p:cNvCxnSpPr>
            <a:stCxn id="56" idx="2"/>
            <a:endCxn id="57" idx="0"/>
          </p:cNvCxnSpPr>
          <p:nvPr/>
        </p:nvCxnSpPr>
        <p:spPr bwMode="auto">
          <a:xfrm flipH="1">
            <a:off x="9069163" y="4240834"/>
            <a:ext cx="545059" cy="628327"/>
          </a:xfrm>
          <a:prstGeom prst="line">
            <a:avLst/>
          </a:prstGeom>
          <a:noFill/>
          <a:ln w="9525" cap="flat" cmpd="sng" algn="ctr">
            <a:solidFill>
              <a:schemeClr val="tx1"/>
            </a:solidFill>
            <a:prstDash val="solid"/>
            <a:round/>
            <a:headEnd type="none" w="med" len="med"/>
            <a:tailEnd type="none" w="med" len="med"/>
          </a:ln>
          <a:effectLst/>
        </p:spPr>
      </p:cxnSp>
      <p:cxnSp>
        <p:nvCxnSpPr>
          <p:cNvPr id="86" name="直接连接符 85"/>
          <p:cNvCxnSpPr>
            <a:stCxn id="56" idx="2"/>
            <a:endCxn id="58" idx="0"/>
          </p:cNvCxnSpPr>
          <p:nvPr/>
        </p:nvCxnSpPr>
        <p:spPr bwMode="auto">
          <a:xfrm>
            <a:off x="9614221" y="4240834"/>
            <a:ext cx="613594" cy="628327"/>
          </a:xfrm>
          <a:prstGeom prst="line">
            <a:avLst/>
          </a:prstGeom>
          <a:noFill/>
          <a:ln w="9525" cap="flat" cmpd="sng" algn="ctr">
            <a:solidFill>
              <a:schemeClr val="tx1"/>
            </a:solidFill>
            <a:prstDash val="solid"/>
            <a:round/>
            <a:headEnd type="none" w="med" len="med"/>
            <a:tailEnd type="none" w="med" len="med"/>
          </a:ln>
          <a:effectLst/>
        </p:spPr>
      </p:cxnSp>
      <p:graphicFrame>
        <p:nvGraphicFramePr>
          <p:cNvPr id="59" name="表格 58"/>
          <p:cNvGraphicFramePr>
            <a:graphicFrameLocks noGrp="1"/>
          </p:cNvGraphicFramePr>
          <p:nvPr>
            <p:extLst>
              <p:ext uri="{D42A27DB-BD31-4B8C-83A1-F6EECF244321}">
                <p14:modId xmlns:p14="http://schemas.microsoft.com/office/powerpoint/2010/main" val="1089363195"/>
              </p:ext>
            </p:extLst>
          </p:nvPr>
        </p:nvGraphicFramePr>
        <p:xfrm>
          <a:off x="1949558" y="5354651"/>
          <a:ext cx="755576" cy="1341032"/>
        </p:xfrm>
        <a:graphic>
          <a:graphicData uri="http://schemas.openxmlformats.org/drawingml/2006/table">
            <a:tbl>
              <a:tblPr bandRow="1">
                <a:tableStyleId>{93296810-A885-4BE3-A3E7-6D5BEEA58F35}</a:tableStyleId>
              </a:tblPr>
              <a:tblGrid>
                <a:gridCol w="755576">
                  <a:extLst>
                    <a:ext uri="{9D8B030D-6E8A-4147-A177-3AD203B41FA5}">
                      <a16:colId xmlns:a16="http://schemas.microsoft.com/office/drawing/2014/main" val="20000"/>
                    </a:ext>
                  </a:extLst>
                </a:gridCol>
              </a:tblGrid>
              <a:tr h="335192">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35192">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35192">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35192">
                <a:tc>
                  <a:txBody>
                    <a:bodyPr/>
                    <a:lstStyle/>
                    <a:p>
                      <a:r>
                        <a:rPr lang="en-US" altLang="zh-CN" sz="1200" dirty="0"/>
                        <a:t>h(3,A,B,C)</a:t>
                      </a:r>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63" name="直接箭头连接符 62"/>
          <p:cNvCxnSpPr/>
          <p:nvPr/>
        </p:nvCxnSpPr>
        <p:spPr bwMode="auto">
          <a:xfrm>
            <a:off x="1589518" y="6507043"/>
            <a:ext cx="288032" cy="0"/>
          </a:xfrm>
          <a:prstGeom prst="straightConnector1">
            <a:avLst/>
          </a:prstGeom>
          <a:noFill/>
          <a:ln w="19050" cap="flat" cmpd="sng" algn="ctr">
            <a:solidFill>
              <a:schemeClr val="tx1"/>
            </a:solidFill>
            <a:prstDash val="solid"/>
            <a:round/>
            <a:headEnd type="none" w="med" len="med"/>
            <a:tailEnd type="arrow"/>
          </a:ln>
          <a:effectLst/>
        </p:spPr>
      </p:cxnSp>
      <p:sp>
        <p:nvSpPr>
          <p:cNvPr id="65" name="TextBox 64"/>
          <p:cNvSpPr txBox="1"/>
          <p:nvPr/>
        </p:nvSpPr>
        <p:spPr>
          <a:xfrm>
            <a:off x="1517510" y="6219012"/>
            <a:ext cx="413896" cy="307777"/>
          </a:xfrm>
          <a:prstGeom prst="rect">
            <a:avLst/>
          </a:prstGeom>
          <a:noFill/>
        </p:spPr>
        <p:txBody>
          <a:bodyPr wrap="none" rtlCol="0">
            <a:spAutoFit/>
          </a:bodyPr>
          <a:lstStyle/>
          <a:p>
            <a:r>
              <a:rPr lang="en-US" altLang="zh-CN" sz="1400" b="1" dirty="0"/>
              <a:t>top</a:t>
            </a:r>
            <a:endParaRPr lang="zh-CN" altLang="en-US" sz="1400" b="1" dirty="0"/>
          </a:p>
        </p:txBody>
      </p:sp>
      <p:graphicFrame>
        <p:nvGraphicFramePr>
          <p:cNvPr id="67" name="表格 66"/>
          <p:cNvGraphicFramePr>
            <a:graphicFrameLocks noGrp="1"/>
          </p:cNvGraphicFramePr>
          <p:nvPr>
            <p:extLst>
              <p:ext uri="{D42A27DB-BD31-4B8C-83A1-F6EECF244321}">
                <p14:modId xmlns:p14="http://schemas.microsoft.com/office/powerpoint/2010/main" val="3453277874"/>
              </p:ext>
            </p:extLst>
          </p:nvPr>
        </p:nvGraphicFramePr>
        <p:xfrm>
          <a:off x="3137182" y="5354651"/>
          <a:ext cx="755576" cy="1462776"/>
        </p:xfrm>
        <a:graphic>
          <a:graphicData uri="http://schemas.openxmlformats.org/drawingml/2006/table">
            <a:tbl>
              <a:tblPr bandRow="1">
                <a:tableStyleId>{93296810-A885-4BE3-A3E7-6D5BEEA58F35}</a:tableStyleId>
              </a:tblPr>
              <a:tblGrid>
                <a:gridCol w="755576">
                  <a:extLst>
                    <a:ext uri="{9D8B030D-6E8A-4147-A177-3AD203B41FA5}">
                      <a16:colId xmlns:a16="http://schemas.microsoft.com/office/drawing/2014/main" val="20000"/>
                    </a:ext>
                  </a:extLst>
                </a:gridCol>
              </a:tblGrid>
              <a:tr h="335192">
                <a:tc>
                  <a:txBody>
                    <a:bodyPr/>
                    <a:lstStyle/>
                    <a:p>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35192">
                <a:tc>
                  <a:txBody>
                    <a:bodyPr/>
                    <a:lstStyle/>
                    <a:p>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35192">
                <a:tc>
                  <a:txBody>
                    <a:bodyPr/>
                    <a:lstStyle/>
                    <a:p>
                      <a:r>
                        <a:rPr lang="en-US" altLang="zh-CN" sz="1200" dirty="0"/>
                        <a:t>h(2,A,C,B)</a:t>
                      </a:r>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35192">
                <a:tc>
                  <a:txBody>
                    <a:bodyPr/>
                    <a:lstStyle/>
                    <a:p>
                      <a:r>
                        <a:rPr lang="en-US" altLang="zh-CN" sz="1200" dirty="0"/>
                        <a:t>h(3,A,B,C)</a:t>
                      </a:r>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69" name="直接箭头连接符 68"/>
          <p:cNvCxnSpPr/>
          <p:nvPr/>
        </p:nvCxnSpPr>
        <p:spPr bwMode="auto">
          <a:xfrm>
            <a:off x="2777142" y="6219011"/>
            <a:ext cx="288032" cy="0"/>
          </a:xfrm>
          <a:prstGeom prst="straightConnector1">
            <a:avLst/>
          </a:prstGeom>
          <a:noFill/>
          <a:ln w="19050" cap="flat" cmpd="sng" algn="ctr">
            <a:solidFill>
              <a:schemeClr val="tx1"/>
            </a:solidFill>
            <a:prstDash val="solid"/>
            <a:round/>
            <a:headEnd type="none" w="med" len="med"/>
            <a:tailEnd type="arrow"/>
          </a:ln>
          <a:effectLst/>
        </p:spPr>
      </p:cxnSp>
      <p:sp>
        <p:nvSpPr>
          <p:cNvPr id="71" name="TextBox 70"/>
          <p:cNvSpPr txBox="1"/>
          <p:nvPr/>
        </p:nvSpPr>
        <p:spPr>
          <a:xfrm>
            <a:off x="2705134" y="5858972"/>
            <a:ext cx="413896" cy="307777"/>
          </a:xfrm>
          <a:prstGeom prst="rect">
            <a:avLst/>
          </a:prstGeom>
          <a:noFill/>
        </p:spPr>
        <p:txBody>
          <a:bodyPr wrap="none" rtlCol="0">
            <a:spAutoFit/>
          </a:bodyPr>
          <a:lstStyle/>
          <a:p>
            <a:r>
              <a:rPr lang="en-US" altLang="zh-CN" sz="1400" b="1" dirty="0"/>
              <a:t>top</a:t>
            </a:r>
            <a:endParaRPr lang="zh-CN" altLang="en-US" sz="1400" b="1" dirty="0"/>
          </a:p>
        </p:txBody>
      </p:sp>
      <p:graphicFrame>
        <p:nvGraphicFramePr>
          <p:cNvPr id="73" name="表格 72"/>
          <p:cNvGraphicFramePr>
            <a:graphicFrameLocks noGrp="1"/>
          </p:cNvGraphicFramePr>
          <p:nvPr>
            <p:extLst>
              <p:ext uri="{D42A27DB-BD31-4B8C-83A1-F6EECF244321}">
                <p14:modId xmlns:p14="http://schemas.microsoft.com/office/powerpoint/2010/main" val="1183919602"/>
              </p:ext>
            </p:extLst>
          </p:nvPr>
        </p:nvGraphicFramePr>
        <p:xfrm>
          <a:off x="4361318" y="5354651"/>
          <a:ext cx="755576" cy="1462776"/>
        </p:xfrm>
        <a:graphic>
          <a:graphicData uri="http://schemas.openxmlformats.org/drawingml/2006/table">
            <a:tbl>
              <a:tblPr bandRow="1">
                <a:tableStyleId>{93296810-A885-4BE3-A3E7-6D5BEEA58F35}</a:tableStyleId>
              </a:tblPr>
              <a:tblGrid>
                <a:gridCol w="755576">
                  <a:extLst>
                    <a:ext uri="{9D8B030D-6E8A-4147-A177-3AD203B41FA5}">
                      <a16:colId xmlns:a16="http://schemas.microsoft.com/office/drawing/2014/main" val="20000"/>
                    </a:ext>
                  </a:extLst>
                </a:gridCol>
              </a:tblGrid>
              <a:tr h="335192">
                <a:tc>
                  <a:txBody>
                    <a:bodyPr/>
                    <a:lstStyle/>
                    <a:p>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3519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t>h(1,A,B,C)</a:t>
                      </a:r>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3519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t>h(2,A,C,B)</a:t>
                      </a:r>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35192">
                <a:tc>
                  <a:txBody>
                    <a:bodyPr/>
                    <a:lstStyle/>
                    <a:p>
                      <a:r>
                        <a:rPr lang="en-US" altLang="zh-CN" sz="1200" dirty="0"/>
                        <a:t>h(3,A,B,C)</a:t>
                      </a:r>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75" name="直接箭头连接符 74"/>
          <p:cNvCxnSpPr/>
          <p:nvPr/>
        </p:nvCxnSpPr>
        <p:spPr bwMode="auto">
          <a:xfrm>
            <a:off x="4001278" y="5858971"/>
            <a:ext cx="288032" cy="0"/>
          </a:xfrm>
          <a:prstGeom prst="straightConnector1">
            <a:avLst/>
          </a:prstGeom>
          <a:noFill/>
          <a:ln w="19050" cap="flat" cmpd="sng" algn="ctr">
            <a:solidFill>
              <a:schemeClr val="tx1"/>
            </a:solidFill>
            <a:prstDash val="solid"/>
            <a:round/>
            <a:headEnd type="none" w="med" len="med"/>
            <a:tailEnd type="arrow"/>
          </a:ln>
          <a:effectLst/>
        </p:spPr>
      </p:cxnSp>
      <p:sp>
        <p:nvSpPr>
          <p:cNvPr id="77" name="TextBox 76"/>
          <p:cNvSpPr txBox="1"/>
          <p:nvPr/>
        </p:nvSpPr>
        <p:spPr>
          <a:xfrm>
            <a:off x="3929270" y="5498932"/>
            <a:ext cx="413896" cy="307777"/>
          </a:xfrm>
          <a:prstGeom prst="rect">
            <a:avLst/>
          </a:prstGeom>
          <a:noFill/>
        </p:spPr>
        <p:txBody>
          <a:bodyPr wrap="square" rtlCol="0">
            <a:spAutoFit/>
          </a:bodyPr>
          <a:lstStyle/>
          <a:p>
            <a:r>
              <a:rPr lang="en-US" altLang="zh-CN" sz="1400" b="1" dirty="0"/>
              <a:t>top</a:t>
            </a:r>
            <a:endParaRPr lang="zh-CN" altLang="en-US" sz="1400" b="1" dirty="0"/>
          </a:p>
        </p:txBody>
      </p:sp>
      <p:graphicFrame>
        <p:nvGraphicFramePr>
          <p:cNvPr id="79" name="表格 78"/>
          <p:cNvGraphicFramePr>
            <a:graphicFrameLocks noGrp="1"/>
          </p:cNvGraphicFramePr>
          <p:nvPr>
            <p:extLst>
              <p:ext uri="{D42A27DB-BD31-4B8C-83A1-F6EECF244321}">
                <p14:modId xmlns:p14="http://schemas.microsoft.com/office/powerpoint/2010/main" val="732941948"/>
              </p:ext>
            </p:extLst>
          </p:nvPr>
        </p:nvGraphicFramePr>
        <p:xfrm>
          <a:off x="5657462" y="5354651"/>
          <a:ext cx="755576" cy="1462776"/>
        </p:xfrm>
        <a:graphic>
          <a:graphicData uri="http://schemas.openxmlformats.org/drawingml/2006/table">
            <a:tbl>
              <a:tblPr bandRow="1">
                <a:tableStyleId>{93296810-A885-4BE3-A3E7-6D5BEEA58F35}</a:tableStyleId>
              </a:tblPr>
              <a:tblGrid>
                <a:gridCol w="755576">
                  <a:extLst>
                    <a:ext uri="{9D8B030D-6E8A-4147-A177-3AD203B41FA5}">
                      <a16:colId xmlns:a16="http://schemas.microsoft.com/office/drawing/2014/main" val="20000"/>
                    </a:ext>
                  </a:extLst>
                </a:gridCol>
              </a:tblGrid>
              <a:tr h="33519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t>h(0,…)</a:t>
                      </a:r>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3519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t>h(1,A,B,C)</a:t>
                      </a:r>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3519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t>h(2,A,C,B)</a:t>
                      </a:r>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35192">
                <a:tc>
                  <a:txBody>
                    <a:bodyPr/>
                    <a:lstStyle/>
                    <a:p>
                      <a:r>
                        <a:rPr lang="en-US" altLang="zh-CN" sz="1200" dirty="0"/>
                        <a:t>h(3,A,B,C)</a:t>
                      </a:r>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81" name="直接箭头连接符 80"/>
          <p:cNvCxnSpPr/>
          <p:nvPr/>
        </p:nvCxnSpPr>
        <p:spPr bwMode="auto">
          <a:xfrm>
            <a:off x="5369430" y="5570939"/>
            <a:ext cx="288032" cy="0"/>
          </a:xfrm>
          <a:prstGeom prst="straightConnector1">
            <a:avLst/>
          </a:prstGeom>
          <a:noFill/>
          <a:ln w="19050" cap="flat" cmpd="sng" algn="ctr">
            <a:solidFill>
              <a:schemeClr val="tx1"/>
            </a:solidFill>
            <a:prstDash val="solid"/>
            <a:round/>
            <a:headEnd type="none" w="med" len="med"/>
            <a:tailEnd type="arrow"/>
          </a:ln>
          <a:effectLst/>
        </p:spPr>
      </p:cxnSp>
      <p:sp>
        <p:nvSpPr>
          <p:cNvPr id="83" name="TextBox 82"/>
          <p:cNvSpPr txBox="1"/>
          <p:nvPr/>
        </p:nvSpPr>
        <p:spPr>
          <a:xfrm>
            <a:off x="5225414" y="5282908"/>
            <a:ext cx="413896" cy="307777"/>
          </a:xfrm>
          <a:prstGeom prst="rect">
            <a:avLst/>
          </a:prstGeom>
          <a:noFill/>
        </p:spPr>
        <p:txBody>
          <a:bodyPr wrap="none" rtlCol="0">
            <a:spAutoFit/>
          </a:bodyPr>
          <a:lstStyle/>
          <a:p>
            <a:r>
              <a:rPr lang="en-US" altLang="zh-CN" sz="1400" b="1" dirty="0"/>
              <a:t>top</a:t>
            </a:r>
            <a:endParaRPr lang="zh-CN" altLang="en-US" sz="1400" b="1" dirty="0"/>
          </a:p>
        </p:txBody>
      </p:sp>
      <p:graphicFrame>
        <p:nvGraphicFramePr>
          <p:cNvPr id="85" name="表格 84"/>
          <p:cNvGraphicFramePr>
            <a:graphicFrameLocks noGrp="1"/>
          </p:cNvGraphicFramePr>
          <p:nvPr>
            <p:extLst>
              <p:ext uri="{D42A27DB-BD31-4B8C-83A1-F6EECF244321}">
                <p14:modId xmlns:p14="http://schemas.microsoft.com/office/powerpoint/2010/main" val="2239002273"/>
              </p:ext>
            </p:extLst>
          </p:nvPr>
        </p:nvGraphicFramePr>
        <p:xfrm>
          <a:off x="6881598" y="5354651"/>
          <a:ext cx="755576" cy="1462776"/>
        </p:xfrm>
        <a:graphic>
          <a:graphicData uri="http://schemas.openxmlformats.org/drawingml/2006/table">
            <a:tbl>
              <a:tblPr bandRow="1">
                <a:tableStyleId>{93296810-A885-4BE3-A3E7-6D5BEEA58F35}</a:tableStyleId>
              </a:tblPr>
              <a:tblGrid>
                <a:gridCol w="755576">
                  <a:extLst>
                    <a:ext uri="{9D8B030D-6E8A-4147-A177-3AD203B41FA5}">
                      <a16:colId xmlns:a16="http://schemas.microsoft.com/office/drawing/2014/main" val="20000"/>
                    </a:ext>
                  </a:extLst>
                </a:gridCol>
              </a:tblGrid>
              <a:tr h="335192">
                <a:tc>
                  <a:txBody>
                    <a:bodyPr/>
                    <a:lstStyle/>
                    <a:p>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3519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t>h(1,A,B,C)</a:t>
                      </a:r>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3519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t>h(2,A,C,B)</a:t>
                      </a:r>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35192">
                <a:tc>
                  <a:txBody>
                    <a:bodyPr/>
                    <a:lstStyle/>
                    <a:p>
                      <a:r>
                        <a:rPr lang="en-US" altLang="zh-CN" sz="1200" dirty="0"/>
                        <a:t>h(3,A,B,C)</a:t>
                      </a:r>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87" name="直接箭头连接符 86"/>
          <p:cNvCxnSpPr/>
          <p:nvPr/>
        </p:nvCxnSpPr>
        <p:spPr bwMode="auto">
          <a:xfrm>
            <a:off x="6593566" y="5858971"/>
            <a:ext cx="288032" cy="0"/>
          </a:xfrm>
          <a:prstGeom prst="straightConnector1">
            <a:avLst/>
          </a:prstGeom>
          <a:noFill/>
          <a:ln w="19050" cap="flat" cmpd="sng" algn="ctr">
            <a:solidFill>
              <a:schemeClr val="tx1"/>
            </a:solidFill>
            <a:prstDash val="solid"/>
            <a:round/>
            <a:headEnd type="none" w="med" len="med"/>
            <a:tailEnd type="arrow"/>
          </a:ln>
          <a:effectLst/>
        </p:spPr>
      </p:cxnSp>
      <p:sp>
        <p:nvSpPr>
          <p:cNvPr id="88" name="TextBox 87"/>
          <p:cNvSpPr txBox="1"/>
          <p:nvPr/>
        </p:nvSpPr>
        <p:spPr>
          <a:xfrm>
            <a:off x="6449550" y="5570940"/>
            <a:ext cx="413896" cy="307777"/>
          </a:xfrm>
          <a:prstGeom prst="rect">
            <a:avLst/>
          </a:prstGeom>
          <a:noFill/>
        </p:spPr>
        <p:txBody>
          <a:bodyPr wrap="none" rtlCol="0">
            <a:spAutoFit/>
          </a:bodyPr>
          <a:lstStyle/>
          <a:p>
            <a:r>
              <a:rPr lang="en-US" altLang="zh-CN" sz="1400" b="1" dirty="0"/>
              <a:t>top</a:t>
            </a:r>
            <a:endParaRPr lang="zh-CN" altLang="en-US" sz="1400" b="1" dirty="0"/>
          </a:p>
        </p:txBody>
      </p:sp>
      <p:graphicFrame>
        <p:nvGraphicFramePr>
          <p:cNvPr id="89" name="表格 88"/>
          <p:cNvGraphicFramePr>
            <a:graphicFrameLocks noGrp="1"/>
          </p:cNvGraphicFramePr>
          <p:nvPr>
            <p:extLst>
              <p:ext uri="{D42A27DB-BD31-4B8C-83A1-F6EECF244321}">
                <p14:modId xmlns:p14="http://schemas.microsoft.com/office/powerpoint/2010/main" val="1668258357"/>
              </p:ext>
            </p:extLst>
          </p:nvPr>
        </p:nvGraphicFramePr>
        <p:xfrm>
          <a:off x="8105734" y="5354651"/>
          <a:ext cx="755576" cy="1462776"/>
        </p:xfrm>
        <a:graphic>
          <a:graphicData uri="http://schemas.openxmlformats.org/drawingml/2006/table">
            <a:tbl>
              <a:tblPr bandRow="1">
                <a:tableStyleId>{93296810-A885-4BE3-A3E7-6D5BEEA58F35}</a:tableStyleId>
              </a:tblPr>
              <a:tblGrid>
                <a:gridCol w="755576">
                  <a:extLst>
                    <a:ext uri="{9D8B030D-6E8A-4147-A177-3AD203B41FA5}">
                      <a16:colId xmlns:a16="http://schemas.microsoft.com/office/drawing/2014/main" val="20000"/>
                    </a:ext>
                  </a:extLst>
                </a:gridCol>
              </a:tblGrid>
              <a:tr h="33519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t>h(0,…)</a:t>
                      </a:r>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3519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t>h(1,A,B,C)</a:t>
                      </a:r>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3519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t>h(2,A,C,B)</a:t>
                      </a:r>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35192">
                <a:tc>
                  <a:txBody>
                    <a:bodyPr/>
                    <a:lstStyle/>
                    <a:p>
                      <a:r>
                        <a:rPr lang="en-US" altLang="zh-CN" sz="1200" dirty="0"/>
                        <a:t>h(3,A,B,C)</a:t>
                      </a:r>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90" name="直接箭头连接符 89"/>
          <p:cNvCxnSpPr/>
          <p:nvPr/>
        </p:nvCxnSpPr>
        <p:spPr bwMode="auto">
          <a:xfrm>
            <a:off x="7817702" y="5570939"/>
            <a:ext cx="288032" cy="0"/>
          </a:xfrm>
          <a:prstGeom prst="straightConnector1">
            <a:avLst/>
          </a:prstGeom>
          <a:noFill/>
          <a:ln w="19050" cap="flat" cmpd="sng" algn="ctr">
            <a:solidFill>
              <a:schemeClr val="tx1"/>
            </a:solidFill>
            <a:prstDash val="solid"/>
            <a:round/>
            <a:headEnd type="none" w="med" len="med"/>
            <a:tailEnd type="arrow"/>
          </a:ln>
          <a:effectLst/>
        </p:spPr>
      </p:cxnSp>
      <p:sp>
        <p:nvSpPr>
          <p:cNvPr id="91" name="TextBox 90"/>
          <p:cNvSpPr txBox="1"/>
          <p:nvPr/>
        </p:nvSpPr>
        <p:spPr>
          <a:xfrm>
            <a:off x="7673686" y="5282908"/>
            <a:ext cx="413896" cy="307777"/>
          </a:xfrm>
          <a:prstGeom prst="rect">
            <a:avLst/>
          </a:prstGeom>
          <a:noFill/>
        </p:spPr>
        <p:txBody>
          <a:bodyPr wrap="none" rtlCol="0">
            <a:spAutoFit/>
          </a:bodyPr>
          <a:lstStyle/>
          <a:p>
            <a:r>
              <a:rPr lang="en-US" altLang="zh-CN" sz="1400" b="1" dirty="0"/>
              <a:t>top</a:t>
            </a:r>
            <a:endParaRPr lang="zh-CN" altLang="en-US" sz="1400" b="1" dirty="0"/>
          </a:p>
        </p:txBody>
      </p:sp>
      <p:graphicFrame>
        <p:nvGraphicFramePr>
          <p:cNvPr id="92" name="表格 91"/>
          <p:cNvGraphicFramePr>
            <a:graphicFrameLocks noGrp="1"/>
          </p:cNvGraphicFramePr>
          <p:nvPr>
            <p:extLst>
              <p:ext uri="{D42A27DB-BD31-4B8C-83A1-F6EECF244321}">
                <p14:modId xmlns:p14="http://schemas.microsoft.com/office/powerpoint/2010/main" val="3507231517"/>
              </p:ext>
            </p:extLst>
          </p:nvPr>
        </p:nvGraphicFramePr>
        <p:xfrm>
          <a:off x="9401878" y="5284331"/>
          <a:ext cx="755576" cy="1515714"/>
        </p:xfrm>
        <a:graphic>
          <a:graphicData uri="http://schemas.openxmlformats.org/drawingml/2006/table">
            <a:tbl>
              <a:tblPr bandRow="1">
                <a:tableStyleId>{93296810-A885-4BE3-A3E7-6D5BEEA58F35}</a:tableStyleId>
              </a:tblPr>
              <a:tblGrid>
                <a:gridCol w="755576">
                  <a:extLst>
                    <a:ext uri="{9D8B030D-6E8A-4147-A177-3AD203B41FA5}">
                      <a16:colId xmlns:a16="http://schemas.microsoft.com/office/drawing/2014/main" val="20000"/>
                    </a:ext>
                  </a:extLst>
                </a:gridCol>
              </a:tblGrid>
              <a:tr h="352838">
                <a:tc>
                  <a:txBody>
                    <a:bodyPr/>
                    <a:lstStyle/>
                    <a:p>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5283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t>h(1,A,B,C)</a:t>
                      </a:r>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5283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t>h(2,A,C,B)</a:t>
                      </a:r>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52838">
                <a:tc>
                  <a:txBody>
                    <a:bodyPr/>
                    <a:lstStyle/>
                    <a:p>
                      <a:r>
                        <a:rPr lang="en-US" altLang="zh-CN" sz="1200" dirty="0"/>
                        <a:t>h(3,A,B,C)</a:t>
                      </a:r>
                      <a:endParaRPr lang="zh-CN"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93" name="直接箭头连接符 92"/>
          <p:cNvCxnSpPr/>
          <p:nvPr/>
        </p:nvCxnSpPr>
        <p:spPr bwMode="auto">
          <a:xfrm>
            <a:off x="9113846" y="5570939"/>
            <a:ext cx="288032" cy="0"/>
          </a:xfrm>
          <a:prstGeom prst="straightConnector1">
            <a:avLst/>
          </a:prstGeom>
          <a:noFill/>
          <a:ln w="19050" cap="flat" cmpd="sng" algn="ctr">
            <a:solidFill>
              <a:schemeClr val="tx1"/>
            </a:solidFill>
            <a:prstDash val="solid"/>
            <a:round/>
            <a:headEnd type="none" w="med" len="med"/>
            <a:tailEnd type="arrow"/>
          </a:ln>
          <a:effectLst/>
        </p:spPr>
      </p:cxnSp>
      <p:sp>
        <p:nvSpPr>
          <p:cNvPr id="94" name="TextBox 93"/>
          <p:cNvSpPr txBox="1"/>
          <p:nvPr/>
        </p:nvSpPr>
        <p:spPr>
          <a:xfrm>
            <a:off x="8969830" y="5282908"/>
            <a:ext cx="413896" cy="307777"/>
          </a:xfrm>
          <a:prstGeom prst="rect">
            <a:avLst/>
          </a:prstGeom>
          <a:noFill/>
        </p:spPr>
        <p:txBody>
          <a:bodyPr wrap="square" rtlCol="0">
            <a:spAutoFit/>
          </a:bodyPr>
          <a:lstStyle/>
          <a:p>
            <a:r>
              <a:rPr lang="en-US" altLang="zh-CN" sz="1400" b="1" dirty="0"/>
              <a:t>top</a:t>
            </a:r>
            <a:endParaRPr lang="zh-CN" altLang="en-US" sz="1400" b="1" dirty="0"/>
          </a:p>
        </p:txBody>
      </p:sp>
      <p:sp>
        <p:nvSpPr>
          <p:cNvPr id="96" name="矩形 95"/>
          <p:cNvSpPr/>
          <p:nvPr/>
        </p:nvSpPr>
        <p:spPr>
          <a:xfrm>
            <a:off x="10246012" y="5858971"/>
            <a:ext cx="415498" cy="369332"/>
          </a:xfrm>
          <a:prstGeom prst="rect">
            <a:avLst/>
          </a:prstGeom>
        </p:spPr>
        <p:txBody>
          <a:bodyPr wrap="none">
            <a:spAutoFit/>
          </a:bodyPr>
          <a:lstStyle/>
          <a:p>
            <a:r>
              <a:rPr lang="en-US" altLang="zh-CN" b="1" dirty="0">
                <a:solidFill>
                  <a:srgbClr val="7030A0"/>
                </a:solidFill>
                <a:latin typeface="Times New Roman" pitchFamily="18" charset="0"/>
              </a:rPr>
              <a:t>…</a:t>
            </a:r>
            <a:endParaRPr lang="zh-CN" altLang="en-US" dirty="0"/>
          </a:p>
        </p:txBody>
      </p:sp>
      <p:cxnSp>
        <p:nvCxnSpPr>
          <p:cNvPr id="98" name="直接箭头连接符 97"/>
          <p:cNvCxnSpPr/>
          <p:nvPr/>
        </p:nvCxnSpPr>
        <p:spPr bwMode="auto">
          <a:xfrm flipH="1">
            <a:off x="2999656" y="1484784"/>
            <a:ext cx="576064" cy="792088"/>
          </a:xfrm>
          <a:prstGeom prst="straightConnector1">
            <a:avLst/>
          </a:prstGeom>
          <a:noFill/>
          <a:ln w="28575" cap="flat" cmpd="sng" algn="ctr">
            <a:solidFill>
              <a:srgbClr val="FF0000"/>
            </a:solidFill>
            <a:prstDash val="solid"/>
            <a:round/>
            <a:headEnd type="none" w="med" len="med"/>
            <a:tailEnd type="arrow"/>
          </a:ln>
          <a:effectLst/>
        </p:spPr>
      </p:cxnSp>
      <p:cxnSp>
        <p:nvCxnSpPr>
          <p:cNvPr id="99" name="直接箭头连接符 98"/>
          <p:cNvCxnSpPr/>
          <p:nvPr/>
        </p:nvCxnSpPr>
        <p:spPr bwMode="auto">
          <a:xfrm flipH="1">
            <a:off x="2423592" y="2996952"/>
            <a:ext cx="432048" cy="720080"/>
          </a:xfrm>
          <a:prstGeom prst="straightConnector1">
            <a:avLst/>
          </a:prstGeom>
          <a:noFill/>
          <a:ln w="28575" cap="flat" cmpd="sng" algn="ctr">
            <a:solidFill>
              <a:srgbClr val="FF0000"/>
            </a:solidFill>
            <a:prstDash val="solid"/>
            <a:round/>
            <a:headEnd type="none" w="med" len="med"/>
            <a:tailEnd type="arrow"/>
          </a:ln>
          <a:effectLst/>
        </p:spPr>
      </p:cxnSp>
      <p:sp>
        <p:nvSpPr>
          <p:cNvPr id="102" name="矩形 101"/>
          <p:cNvSpPr/>
          <p:nvPr/>
        </p:nvSpPr>
        <p:spPr>
          <a:xfrm>
            <a:off x="7176120" y="0"/>
            <a:ext cx="3491880" cy="2429896"/>
          </a:xfrm>
          <a:prstGeom prst="rect">
            <a:avLst/>
          </a:prstGeom>
          <a:solidFill>
            <a:schemeClr val="accent1"/>
          </a:solidFill>
        </p:spPr>
        <p:txBody>
          <a:bodyPr wrap="square">
            <a:spAutoFit/>
          </a:bodyPr>
          <a:lstStyle/>
          <a:p>
            <a:pPr algn="just">
              <a:lnSpc>
                <a:spcPct val="85000"/>
              </a:lnSpc>
              <a:spcBef>
                <a:spcPct val="40000"/>
              </a:spcBef>
            </a:pPr>
            <a:r>
              <a:rPr lang="zh-CN" altLang="en-US" sz="1400" dirty="0">
                <a:latin typeface="Times New Roman" pitchFamily="18" charset="0"/>
              </a:rPr>
              <a:t>汉诺塔</a:t>
            </a:r>
            <a:r>
              <a:rPr lang="en-US" altLang="zh-CN" sz="1400" dirty="0">
                <a:latin typeface="Times New Roman" pitchFamily="18" charset="0"/>
              </a:rPr>
              <a:t>(</a:t>
            </a:r>
            <a:r>
              <a:rPr lang="en-US" altLang="zh-CN" sz="1400" dirty="0" err="1">
                <a:latin typeface="Times New Roman" pitchFamily="18" charset="0"/>
              </a:rPr>
              <a:t>hanoi</a:t>
            </a:r>
            <a:r>
              <a:rPr lang="en-US" altLang="zh-CN" sz="1400" dirty="0">
                <a:latin typeface="Times New Roman" pitchFamily="18" charset="0"/>
              </a:rPr>
              <a:t> tower)</a:t>
            </a:r>
            <a:r>
              <a:rPr lang="zh-CN" altLang="en-US" sz="1400" dirty="0">
                <a:latin typeface="Times New Roman" pitchFamily="18" charset="0"/>
              </a:rPr>
              <a:t>游戏</a:t>
            </a:r>
          </a:p>
          <a:p>
            <a:pPr algn="just">
              <a:lnSpc>
                <a:spcPct val="85000"/>
              </a:lnSpc>
              <a:spcBef>
                <a:spcPct val="40000"/>
              </a:spcBef>
            </a:pPr>
            <a:r>
              <a:rPr lang="en-US" altLang="zh-CN" sz="1400" dirty="0">
                <a:latin typeface="Times New Roman" pitchFamily="18" charset="0"/>
              </a:rPr>
              <a:t>void </a:t>
            </a:r>
            <a:r>
              <a:rPr lang="en-US" altLang="zh-CN" sz="1400" dirty="0" err="1">
                <a:latin typeface="Times New Roman" pitchFamily="18" charset="0"/>
              </a:rPr>
              <a:t>hanoi</a:t>
            </a:r>
            <a:r>
              <a:rPr lang="en-US" altLang="zh-CN" sz="1400" dirty="0">
                <a:latin typeface="Times New Roman" pitchFamily="18" charset="0"/>
              </a:rPr>
              <a:t>( </a:t>
            </a:r>
            <a:r>
              <a:rPr lang="en-US" altLang="zh-CN" sz="1400" dirty="0" err="1">
                <a:latin typeface="Times New Roman" pitchFamily="18" charset="0"/>
              </a:rPr>
              <a:t>int</a:t>
            </a:r>
            <a:r>
              <a:rPr lang="en-US" altLang="zh-CN" sz="1400" dirty="0">
                <a:latin typeface="Times New Roman" pitchFamily="18" charset="0"/>
              </a:rPr>
              <a:t> n, char x, char y, char z)</a:t>
            </a:r>
          </a:p>
          <a:p>
            <a:pPr algn="just">
              <a:lnSpc>
                <a:spcPct val="85000"/>
              </a:lnSpc>
              <a:spcBef>
                <a:spcPct val="40000"/>
              </a:spcBef>
            </a:pPr>
            <a:r>
              <a:rPr lang="en-US" altLang="zh-CN" sz="1400" dirty="0">
                <a:latin typeface="Times New Roman" pitchFamily="18" charset="0"/>
              </a:rPr>
              <a:t>{</a:t>
            </a:r>
          </a:p>
          <a:p>
            <a:pPr algn="just">
              <a:lnSpc>
                <a:spcPct val="85000"/>
              </a:lnSpc>
              <a:spcBef>
                <a:spcPct val="40000"/>
              </a:spcBef>
            </a:pPr>
            <a:r>
              <a:rPr lang="en-US" altLang="zh-CN" sz="1400" dirty="0">
                <a:latin typeface="Times New Roman" pitchFamily="18" charset="0"/>
              </a:rPr>
              <a:t>    if( n &gt; 0 ) {</a:t>
            </a:r>
          </a:p>
          <a:p>
            <a:pPr algn="just">
              <a:lnSpc>
                <a:spcPct val="85000"/>
              </a:lnSpc>
              <a:spcBef>
                <a:spcPct val="40000"/>
              </a:spcBef>
            </a:pPr>
            <a:r>
              <a:rPr lang="en-US" altLang="zh-CN" sz="1400" dirty="0">
                <a:latin typeface="Times New Roman" pitchFamily="18" charset="0"/>
              </a:rPr>
              <a:t>        </a:t>
            </a:r>
            <a:r>
              <a:rPr lang="en-US" altLang="zh-CN" sz="1400" dirty="0" err="1">
                <a:latin typeface="Times New Roman" pitchFamily="18" charset="0"/>
              </a:rPr>
              <a:t>hanoi</a:t>
            </a:r>
            <a:r>
              <a:rPr lang="en-US" altLang="zh-CN" sz="1400" dirty="0">
                <a:latin typeface="Times New Roman" pitchFamily="18" charset="0"/>
              </a:rPr>
              <a:t>(n-1, x, z, y);</a:t>
            </a:r>
          </a:p>
          <a:p>
            <a:pPr algn="just">
              <a:lnSpc>
                <a:spcPct val="85000"/>
              </a:lnSpc>
              <a:spcBef>
                <a:spcPct val="40000"/>
              </a:spcBef>
            </a:pPr>
            <a:r>
              <a:rPr lang="en-US" altLang="zh-CN" sz="1400" dirty="0">
                <a:latin typeface="Times New Roman" pitchFamily="18" charset="0"/>
              </a:rPr>
              <a:t>        </a:t>
            </a:r>
            <a:r>
              <a:rPr lang="en-US" altLang="zh-CN" sz="1400" dirty="0" err="1">
                <a:latin typeface="Times New Roman" pitchFamily="18" charset="0"/>
              </a:rPr>
              <a:t>printf</a:t>
            </a:r>
            <a:r>
              <a:rPr lang="en-US" altLang="zh-CN" sz="1400" dirty="0">
                <a:latin typeface="Times New Roman" pitchFamily="18" charset="0"/>
              </a:rPr>
              <a:t>(“MOVE %d: %c </a:t>
            </a:r>
            <a:r>
              <a:rPr lang="en-US" altLang="zh-CN" sz="1400" dirty="0">
                <a:latin typeface="Times New Roman" pitchFamily="18" charset="0"/>
                <a:sym typeface="Wingdings" pitchFamily="2" charset="2"/>
              </a:rPr>
              <a:t></a:t>
            </a:r>
            <a:r>
              <a:rPr lang="en-US" altLang="zh-CN" sz="1400" dirty="0">
                <a:latin typeface="Times New Roman" pitchFamily="18" charset="0"/>
              </a:rPr>
              <a:t> %c\n”, n, x, z);</a:t>
            </a:r>
          </a:p>
          <a:p>
            <a:pPr algn="just">
              <a:lnSpc>
                <a:spcPct val="85000"/>
              </a:lnSpc>
              <a:spcBef>
                <a:spcPct val="40000"/>
              </a:spcBef>
            </a:pPr>
            <a:r>
              <a:rPr lang="en-US" altLang="zh-CN" sz="1400" dirty="0">
                <a:latin typeface="Times New Roman" pitchFamily="18" charset="0"/>
              </a:rPr>
              <a:t>        </a:t>
            </a:r>
            <a:r>
              <a:rPr lang="en-US" altLang="zh-CN" sz="1400" dirty="0" err="1">
                <a:latin typeface="Times New Roman" pitchFamily="18" charset="0"/>
              </a:rPr>
              <a:t>hanoi</a:t>
            </a:r>
            <a:r>
              <a:rPr lang="en-US" altLang="zh-CN" sz="1400" dirty="0">
                <a:latin typeface="Times New Roman" pitchFamily="18" charset="0"/>
              </a:rPr>
              <a:t>(n-1, y, x, z);</a:t>
            </a:r>
          </a:p>
          <a:p>
            <a:pPr algn="just">
              <a:lnSpc>
                <a:spcPct val="85000"/>
              </a:lnSpc>
              <a:spcBef>
                <a:spcPct val="40000"/>
              </a:spcBef>
            </a:pPr>
            <a:r>
              <a:rPr lang="en-US" altLang="zh-CN" sz="1400" dirty="0">
                <a:latin typeface="Times New Roman" pitchFamily="18" charset="0"/>
              </a:rPr>
              <a:t>    }</a:t>
            </a:r>
          </a:p>
          <a:p>
            <a:pPr algn="just">
              <a:lnSpc>
                <a:spcPct val="85000"/>
              </a:lnSpc>
              <a:spcBef>
                <a:spcPct val="40000"/>
              </a:spcBef>
            </a:pPr>
            <a:r>
              <a:rPr lang="en-US" altLang="zh-CN" sz="1400" dirty="0">
                <a:latin typeface="Times New Roman" pitchFamily="18" charset="0"/>
              </a:rPr>
              <a:t>}</a:t>
            </a:r>
            <a:endParaRPr lang="zh-CN" altLang="en-US" sz="1600" dirty="0"/>
          </a:p>
        </p:txBody>
      </p:sp>
      <p:grpSp>
        <p:nvGrpSpPr>
          <p:cNvPr id="103" name="Group 3"/>
          <p:cNvGrpSpPr>
            <a:grpSpLocks/>
          </p:cNvGrpSpPr>
          <p:nvPr/>
        </p:nvGrpSpPr>
        <p:grpSpPr bwMode="auto">
          <a:xfrm>
            <a:off x="8256240" y="2420889"/>
            <a:ext cx="944488" cy="1141987"/>
            <a:chOff x="1776" y="2160"/>
            <a:chExt cx="1104" cy="1209"/>
          </a:xfrm>
        </p:grpSpPr>
        <p:sp>
          <p:nvSpPr>
            <p:cNvPr id="104" name="Rectangle 4"/>
            <p:cNvSpPr>
              <a:spLocks noChangeArrowheads="1"/>
            </p:cNvSpPr>
            <p:nvPr/>
          </p:nvSpPr>
          <p:spPr bwMode="auto">
            <a:xfrm>
              <a:off x="1776" y="2832"/>
              <a:ext cx="1104" cy="48"/>
            </a:xfrm>
            <a:prstGeom prst="rect">
              <a:avLst/>
            </a:prstGeom>
            <a:solidFill>
              <a:schemeClr val="tx1"/>
            </a:solidFill>
            <a:ln w="12700" cap="sq">
              <a:solidFill>
                <a:schemeClr val="tx1"/>
              </a:solidFill>
              <a:miter lim="800000"/>
              <a:headEnd type="none" w="sm" len="sm"/>
              <a:tailEnd type="none" w="sm" len="sm"/>
            </a:ln>
          </p:spPr>
          <p:txBody>
            <a:bodyPr wrap="none" anchor="ctr"/>
            <a:lstStyle/>
            <a:p>
              <a:endParaRPr lang="zh-CN" altLang="en-US"/>
            </a:p>
          </p:txBody>
        </p:sp>
        <p:sp>
          <p:nvSpPr>
            <p:cNvPr id="105" name="Rectangle 5"/>
            <p:cNvSpPr>
              <a:spLocks noChangeArrowheads="1"/>
            </p:cNvSpPr>
            <p:nvPr/>
          </p:nvSpPr>
          <p:spPr bwMode="auto">
            <a:xfrm>
              <a:off x="2304" y="2160"/>
              <a:ext cx="48" cy="672"/>
            </a:xfrm>
            <a:prstGeom prst="rect">
              <a:avLst/>
            </a:prstGeom>
            <a:solidFill>
              <a:schemeClr val="tx1"/>
            </a:solidFill>
            <a:ln w="12700" cap="sq">
              <a:solidFill>
                <a:schemeClr val="tx1"/>
              </a:solidFill>
              <a:miter lim="800000"/>
              <a:headEnd type="none" w="sm" len="sm"/>
              <a:tailEnd type="none" w="sm" len="sm"/>
            </a:ln>
          </p:spPr>
          <p:txBody>
            <a:bodyPr wrap="none" anchor="ctr"/>
            <a:lstStyle/>
            <a:p>
              <a:endParaRPr lang="zh-CN" altLang="en-US"/>
            </a:p>
          </p:txBody>
        </p:sp>
        <p:sp>
          <p:nvSpPr>
            <p:cNvPr id="106" name="Text Box 6"/>
            <p:cNvSpPr txBox="1">
              <a:spLocks noChangeArrowheads="1"/>
            </p:cNvSpPr>
            <p:nvPr/>
          </p:nvSpPr>
          <p:spPr bwMode="auto">
            <a:xfrm>
              <a:off x="2208" y="2880"/>
              <a:ext cx="336" cy="489"/>
            </a:xfrm>
            <a:prstGeom prst="rect">
              <a:avLst/>
            </a:prstGeom>
            <a:noFill/>
            <a:ln w="12700" cap="sq">
              <a:noFill/>
              <a:miter lim="800000"/>
              <a:headEnd type="none" w="sm" len="sm"/>
              <a:tailEnd type="none" w="sm" len="sm"/>
            </a:ln>
          </p:spPr>
          <p:txBody>
            <a:bodyPr>
              <a:spAutoFit/>
            </a:bodyPr>
            <a:lstStyle/>
            <a:p>
              <a:pPr>
                <a:spcBef>
                  <a:spcPct val="50000"/>
                </a:spcBef>
              </a:pPr>
              <a:r>
                <a:rPr lang="en-US" altLang="zh-CN" sz="2400" dirty="0">
                  <a:latin typeface="Times New Roman" pitchFamily="18" charset="0"/>
                </a:rPr>
                <a:t>B</a:t>
              </a:r>
            </a:p>
          </p:txBody>
        </p:sp>
      </p:grpSp>
      <p:grpSp>
        <p:nvGrpSpPr>
          <p:cNvPr id="107" name="Group 7"/>
          <p:cNvGrpSpPr>
            <a:grpSpLocks/>
          </p:cNvGrpSpPr>
          <p:nvPr/>
        </p:nvGrpSpPr>
        <p:grpSpPr bwMode="auto">
          <a:xfrm>
            <a:off x="7104112" y="2420889"/>
            <a:ext cx="944488" cy="1141987"/>
            <a:chOff x="1776" y="2160"/>
            <a:chExt cx="1104" cy="1209"/>
          </a:xfrm>
        </p:grpSpPr>
        <p:sp>
          <p:nvSpPr>
            <p:cNvPr id="108" name="Rectangle 8"/>
            <p:cNvSpPr>
              <a:spLocks noChangeArrowheads="1"/>
            </p:cNvSpPr>
            <p:nvPr/>
          </p:nvSpPr>
          <p:spPr bwMode="auto">
            <a:xfrm>
              <a:off x="1776" y="2832"/>
              <a:ext cx="1104" cy="48"/>
            </a:xfrm>
            <a:prstGeom prst="rect">
              <a:avLst/>
            </a:prstGeom>
            <a:solidFill>
              <a:schemeClr val="tx1"/>
            </a:solidFill>
            <a:ln w="12700" cap="sq">
              <a:solidFill>
                <a:schemeClr val="tx1"/>
              </a:solidFill>
              <a:miter lim="800000"/>
              <a:headEnd type="none" w="sm" len="sm"/>
              <a:tailEnd type="none" w="sm" len="sm"/>
            </a:ln>
          </p:spPr>
          <p:txBody>
            <a:bodyPr wrap="none" anchor="ctr"/>
            <a:lstStyle/>
            <a:p>
              <a:endParaRPr lang="zh-CN" altLang="en-US"/>
            </a:p>
          </p:txBody>
        </p:sp>
        <p:sp>
          <p:nvSpPr>
            <p:cNvPr id="109" name="Rectangle 9"/>
            <p:cNvSpPr>
              <a:spLocks noChangeArrowheads="1"/>
            </p:cNvSpPr>
            <p:nvPr/>
          </p:nvSpPr>
          <p:spPr bwMode="auto">
            <a:xfrm>
              <a:off x="2304" y="2160"/>
              <a:ext cx="48" cy="672"/>
            </a:xfrm>
            <a:prstGeom prst="rect">
              <a:avLst/>
            </a:prstGeom>
            <a:solidFill>
              <a:schemeClr val="tx1"/>
            </a:solidFill>
            <a:ln w="12700" cap="sq">
              <a:solidFill>
                <a:schemeClr val="tx1"/>
              </a:solidFill>
              <a:miter lim="800000"/>
              <a:headEnd type="none" w="sm" len="sm"/>
              <a:tailEnd type="none" w="sm" len="sm"/>
            </a:ln>
          </p:spPr>
          <p:txBody>
            <a:bodyPr wrap="none" anchor="ctr"/>
            <a:lstStyle/>
            <a:p>
              <a:endParaRPr lang="zh-CN" altLang="en-US"/>
            </a:p>
          </p:txBody>
        </p:sp>
        <p:sp>
          <p:nvSpPr>
            <p:cNvPr id="110" name="Text Box 10"/>
            <p:cNvSpPr txBox="1">
              <a:spLocks noChangeArrowheads="1"/>
            </p:cNvSpPr>
            <p:nvPr/>
          </p:nvSpPr>
          <p:spPr bwMode="auto">
            <a:xfrm>
              <a:off x="2208" y="2880"/>
              <a:ext cx="336" cy="489"/>
            </a:xfrm>
            <a:prstGeom prst="rect">
              <a:avLst/>
            </a:prstGeom>
            <a:noFill/>
            <a:ln w="12700" cap="sq">
              <a:noFill/>
              <a:miter lim="800000"/>
              <a:headEnd type="none" w="sm" len="sm"/>
              <a:tailEnd type="none" w="sm" len="sm"/>
            </a:ln>
          </p:spPr>
          <p:txBody>
            <a:bodyPr>
              <a:spAutoFit/>
            </a:bodyPr>
            <a:lstStyle/>
            <a:p>
              <a:pPr>
                <a:spcBef>
                  <a:spcPct val="50000"/>
                </a:spcBef>
              </a:pPr>
              <a:r>
                <a:rPr lang="en-US" altLang="zh-CN" sz="2400" dirty="0">
                  <a:latin typeface="Times New Roman" pitchFamily="18" charset="0"/>
                </a:rPr>
                <a:t>A</a:t>
              </a:r>
            </a:p>
          </p:txBody>
        </p:sp>
      </p:grpSp>
      <p:grpSp>
        <p:nvGrpSpPr>
          <p:cNvPr id="111" name="Group 11"/>
          <p:cNvGrpSpPr>
            <a:grpSpLocks/>
          </p:cNvGrpSpPr>
          <p:nvPr/>
        </p:nvGrpSpPr>
        <p:grpSpPr bwMode="auto">
          <a:xfrm>
            <a:off x="9480376" y="2420889"/>
            <a:ext cx="944488" cy="1141987"/>
            <a:chOff x="1776" y="2160"/>
            <a:chExt cx="1104" cy="1209"/>
          </a:xfrm>
        </p:grpSpPr>
        <p:sp>
          <p:nvSpPr>
            <p:cNvPr id="112" name="Rectangle 12"/>
            <p:cNvSpPr>
              <a:spLocks noChangeArrowheads="1"/>
            </p:cNvSpPr>
            <p:nvPr/>
          </p:nvSpPr>
          <p:spPr bwMode="auto">
            <a:xfrm>
              <a:off x="1776" y="2832"/>
              <a:ext cx="1104" cy="48"/>
            </a:xfrm>
            <a:prstGeom prst="rect">
              <a:avLst/>
            </a:prstGeom>
            <a:solidFill>
              <a:schemeClr val="tx1"/>
            </a:solidFill>
            <a:ln w="12700" cap="sq">
              <a:solidFill>
                <a:schemeClr val="tx1"/>
              </a:solidFill>
              <a:miter lim="800000"/>
              <a:headEnd type="none" w="sm" len="sm"/>
              <a:tailEnd type="none" w="sm" len="sm"/>
            </a:ln>
          </p:spPr>
          <p:txBody>
            <a:bodyPr wrap="none" anchor="ctr"/>
            <a:lstStyle/>
            <a:p>
              <a:endParaRPr lang="zh-CN" altLang="en-US"/>
            </a:p>
          </p:txBody>
        </p:sp>
        <p:sp>
          <p:nvSpPr>
            <p:cNvPr id="113" name="Rectangle 13"/>
            <p:cNvSpPr>
              <a:spLocks noChangeArrowheads="1"/>
            </p:cNvSpPr>
            <p:nvPr/>
          </p:nvSpPr>
          <p:spPr bwMode="auto">
            <a:xfrm>
              <a:off x="2304" y="2160"/>
              <a:ext cx="48" cy="672"/>
            </a:xfrm>
            <a:prstGeom prst="rect">
              <a:avLst/>
            </a:prstGeom>
            <a:solidFill>
              <a:schemeClr val="tx1"/>
            </a:solidFill>
            <a:ln w="12700" cap="sq">
              <a:solidFill>
                <a:schemeClr val="tx1"/>
              </a:solidFill>
              <a:miter lim="800000"/>
              <a:headEnd type="none" w="sm" len="sm"/>
              <a:tailEnd type="none" w="sm" len="sm"/>
            </a:ln>
          </p:spPr>
          <p:txBody>
            <a:bodyPr wrap="none" anchor="ctr"/>
            <a:lstStyle/>
            <a:p>
              <a:endParaRPr lang="zh-CN" altLang="en-US"/>
            </a:p>
          </p:txBody>
        </p:sp>
        <p:sp>
          <p:nvSpPr>
            <p:cNvPr id="114" name="Text Box 14"/>
            <p:cNvSpPr txBox="1">
              <a:spLocks noChangeArrowheads="1"/>
            </p:cNvSpPr>
            <p:nvPr/>
          </p:nvSpPr>
          <p:spPr bwMode="auto">
            <a:xfrm>
              <a:off x="2208" y="2880"/>
              <a:ext cx="336" cy="489"/>
            </a:xfrm>
            <a:prstGeom prst="rect">
              <a:avLst/>
            </a:prstGeom>
            <a:noFill/>
            <a:ln w="12700" cap="sq">
              <a:noFill/>
              <a:miter lim="800000"/>
              <a:headEnd type="none" w="sm" len="sm"/>
              <a:tailEnd type="none" w="sm" len="sm"/>
            </a:ln>
          </p:spPr>
          <p:txBody>
            <a:bodyPr>
              <a:spAutoFit/>
            </a:bodyPr>
            <a:lstStyle/>
            <a:p>
              <a:pPr>
                <a:spcBef>
                  <a:spcPct val="50000"/>
                </a:spcBef>
              </a:pPr>
              <a:r>
                <a:rPr lang="en-US" altLang="zh-CN" sz="2400">
                  <a:latin typeface="Times New Roman" pitchFamily="18" charset="0"/>
                </a:rPr>
                <a:t>C</a:t>
              </a:r>
            </a:p>
          </p:txBody>
        </p:sp>
      </p:grpSp>
      <p:sp>
        <p:nvSpPr>
          <p:cNvPr id="115" name="Rectangle 25"/>
          <p:cNvSpPr>
            <a:spLocks noChangeArrowheads="1"/>
          </p:cNvSpPr>
          <p:nvPr/>
        </p:nvSpPr>
        <p:spPr bwMode="auto">
          <a:xfrm>
            <a:off x="7176121" y="2924944"/>
            <a:ext cx="780229" cy="136018"/>
          </a:xfrm>
          <a:prstGeom prst="rect">
            <a:avLst/>
          </a:prstGeom>
          <a:solidFill>
            <a:schemeClr val="accent1"/>
          </a:solidFill>
          <a:ln w="12700" cap="sq">
            <a:noFill/>
            <a:miter lim="800000"/>
            <a:headEnd type="none" w="sm" len="sm"/>
            <a:tailEnd type="none" w="sm" len="sm"/>
          </a:ln>
        </p:spPr>
        <p:txBody>
          <a:bodyPr wrap="none" anchor="ctr"/>
          <a:lstStyle/>
          <a:p>
            <a:endParaRPr lang="zh-CN" altLang="en-US"/>
          </a:p>
        </p:txBody>
      </p:sp>
      <p:sp>
        <p:nvSpPr>
          <p:cNvPr id="116" name="Rectangle 27"/>
          <p:cNvSpPr>
            <a:spLocks noChangeArrowheads="1"/>
          </p:cNvSpPr>
          <p:nvPr/>
        </p:nvSpPr>
        <p:spPr bwMode="auto">
          <a:xfrm>
            <a:off x="7320136" y="2780928"/>
            <a:ext cx="615970" cy="136018"/>
          </a:xfrm>
          <a:prstGeom prst="rect">
            <a:avLst/>
          </a:prstGeom>
          <a:solidFill>
            <a:srgbClr val="0000FF"/>
          </a:solidFill>
          <a:ln w="12700" cap="sq">
            <a:noFill/>
            <a:miter lim="800000"/>
            <a:headEnd type="none" w="sm" len="sm"/>
            <a:tailEnd type="none" w="sm" len="sm"/>
          </a:ln>
        </p:spPr>
        <p:txBody>
          <a:bodyPr wrap="none" anchor="ctr"/>
          <a:lstStyle/>
          <a:p>
            <a:endParaRPr lang="zh-CN" altLang="en-US"/>
          </a:p>
        </p:txBody>
      </p:sp>
      <p:sp>
        <p:nvSpPr>
          <p:cNvPr id="117" name="Rectangle 28"/>
          <p:cNvSpPr>
            <a:spLocks noChangeArrowheads="1"/>
          </p:cNvSpPr>
          <p:nvPr/>
        </p:nvSpPr>
        <p:spPr bwMode="auto">
          <a:xfrm>
            <a:off x="7392144" y="2636912"/>
            <a:ext cx="451712" cy="178524"/>
          </a:xfrm>
          <a:prstGeom prst="rect">
            <a:avLst/>
          </a:prstGeom>
          <a:solidFill>
            <a:srgbClr val="008000"/>
          </a:solidFill>
          <a:ln w="12700" cap="sq">
            <a:noFill/>
            <a:miter lim="800000"/>
            <a:headEnd type="none" w="sm" len="sm"/>
            <a:tailEnd type="none" w="sm" len="sm"/>
          </a:ln>
        </p:spPr>
        <p:txBody>
          <a:bodyPr wrap="none" anchor="ctr"/>
          <a:lstStyle/>
          <a:p>
            <a:endParaRPr lang="zh-CN" altLang="en-US"/>
          </a:p>
        </p:txBody>
      </p:sp>
      <p:cxnSp>
        <p:nvCxnSpPr>
          <p:cNvPr id="118" name="直接箭头连接符 117"/>
          <p:cNvCxnSpPr/>
          <p:nvPr/>
        </p:nvCxnSpPr>
        <p:spPr bwMode="auto">
          <a:xfrm flipH="1">
            <a:off x="1775520" y="4293096"/>
            <a:ext cx="432048" cy="504056"/>
          </a:xfrm>
          <a:prstGeom prst="straightConnector1">
            <a:avLst/>
          </a:prstGeom>
          <a:noFill/>
          <a:ln w="28575" cap="flat" cmpd="sng" algn="ctr">
            <a:solidFill>
              <a:srgbClr val="FF0000"/>
            </a:solidFill>
            <a:prstDash val="solid"/>
            <a:round/>
            <a:headEnd type="none" w="med" len="med"/>
            <a:tailEnd type="arrow"/>
          </a:ln>
          <a:effectLst/>
        </p:spPr>
      </p:cxnSp>
      <p:sp>
        <p:nvSpPr>
          <p:cNvPr id="120" name="弧形 119"/>
          <p:cNvSpPr/>
          <p:nvPr/>
        </p:nvSpPr>
        <p:spPr bwMode="auto">
          <a:xfrm>
            <a:off x="2063552" y="4581128"/>
            <a:ext cx="648072" cy="794802"/>
          </a:xfrm>
          <a:prstGeom prst="arc">
            <a:avLst>
              <a:gd name="adj1" fmla="val 10968263"/>
              <a:gd name="adj2" fmla="val 0"/>
            </a:avLst>
          </a:prstGeom>
          <a:noFill/>
          <a:ln w="28575" cap="flat" cmpd="sng" algn="ctr">
            <a:solidFill>
              <a:srgbClr val="FF000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spAutoFit/>
          </a:bodyPr>
          <a:lstStyle/>
          <a:p>
            <a:pPr eaLnBrk="0" fontAlgn="base" hangingPunct="0">
              <a:spcBef>
                <a:spcPct val="0"/>
              </a:spcBef>
              <a:spcAft>
                <a:spcPct val="0"/>
              </a:spcAft>
            </a:pPr>
            <a:endParaRPr lang="zh-CN" altLang="en-US" sz="2000" b="1">
              <a:latin typeface="Arial" charset="0"/>
              <a:ea typeface="宋体" charset="-122"/>
            </a:endParaRPr>
          </a:p>
        </p:txBody>
      </p:sp>
      <p:sp>
        <p:nvSpPr>
          <p:cNvPr id="121" name="TextBox 120"/>
          <p:cNvSpPr txBox="1"/>
          <p:nvPr/>
        </p:nvSpPr>
        <p:spPr>
          <a:xfrm>
            <a:off x="2135561" y="4725144"/>
            <a:ext cx="553357" cy="261610"/>
          </a:xfrm>
          <a:prstGeom prst="rect">
            <a:avLst/>
          </a:prstGeom>
          <a:noFill/>
        </p:spPr>
        <p:txBody>
          <a:bodyPr wrap="none" rtlCol="0">
            <a:spAutoFit/>
          </a:bodyPr>
          <a:lstStyle/>
          <a:p>
            <a:r>
              <a:rPr lang="en-US" altLang="zh-CN" sz="1100" b="1" dirty="0"/>
              <a:t>1,A-&gt;C</a:t>
            </a:r>
            <a:endParaRPr lang="zh-CN" altLang="en-US" sz="1100" b="1" dirty="0"/>
          </a:p>
        </p:txBody>
      </p:sp>
      <p:sp>
        <p:nvSpPr>
          <p:cNvPr id="123" name="弧形 122"/>
          <p:cNvSpPr/>
          <p:nvPr/>
        </p:nvSpPr>
        <p:spPr bwMode="auto">
          <a:xfrm>
            <a:off x="2999656" y="3284984"/>
            <a:ext cx="648072" cy="794802"/>
          </a:xfrm>
          <a:prstGeom prst="arc">
            <a:avLst>
              <a:gd name="adj1" fmla="val 10968263"/>
              <a:gd name="adj2" fmla="val 0"/>
            </a:avLst>
          </a:prstGeom>
          <a:noFill/>
          <a:ln w="28575" cap="flat" cmpd="sng" algn="ctr">
            <a:solidFill>
              <a:srgbClr val="FF000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spAutoFit/>
          </a:bodyPr>
          <a:lstStyle/>
          <a:p>
            <a:pPr eaLnBrk="0" fontAlgn="base" hangingPunct="0">
              <a:spcBef>
                <a:spcPct val="0"/>
              </a:spcBef>
              <a:spcAft>
                <a:spcPct val="0"/>
              </a:spcAft>
            </a:pPr>
            <a:endParaRPr lang="zh-CN" altLang="en-US" sz="2000" b="1">
              <a:latin typeface="Arial" charset="0"/>
              <a:ea typeface="宋体" charset="-122"/>
            </a:endParaRPr>
          </a:p>
        </p:txBody>
      </p:sp>
      <p:sp>
        <p:nvSpPr>
          <p:cNvPr id="124" name="TextBox 123"/>
          <p:cNvSpPr txBox="1"/>
          <p:nvPr/>
        </p:nvSpPr>
        <p:spPr>
          <a:xfrm>
            <a:off x="3071665" y="3429000"/>
            <a:ext cx="553357" cy="261610"/>
          </a:xfrm>
          <a:prstGeom prst="rect">
            <a:avLst/>
          </a:prstGeom>
          <a:noFill/>
        </p:spPr>
        <p:txBody>
          <a:bodyPr wrap="none" rtlCol="0">
            <a:spAutoFit/>
          </a:bodyPr>
          <a:lstStyle/>
          <a:p>
            <a:r>
              <a:rPr lang="en-US" altLang="zh-CN" sz="1100" b="1" dirty="0"/>
              <a:t>2,A-&gt;B</a:t>
            </a:r>
            <a:endParaRPr lang="zh-CN" altLang="en-US" sz="1100" b="1" dirty="0"/>
          </a:p>
        </p:txBody>
      </p:sp>
      <p:sp>
        <p:nvSpPr>
          <p:cNvPr id="127" name="弧形 126"/>
          <p:cNvSpPr/>
          <p:nvPr/>
        </p:nvSpPr>
        <p:spPr bwMode="auto">
          <a:xfrm>
            <a:off x="4439816" y="4509120"/>
            <a:ext cx="648072" cy="794802"/>
          </a:xfrm>
          <a:prstGeom prst="arc">
            <a:avLst>
              <a:gd name="adj1" fmla="val 10968263"/>
              <a:gd name="adj2" fmla="val 0"/>
            </a:avLst>
          </a:prstGeom>
          <a:noFill/>
          <a:ln w="28575" cap="flat" cmpd="sng" algn="ctr">
            <a:solidFill>
              <a:srgbClr val="FF000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spAutoFit/>
          </a:bodyPr>
          <a:lstStyle/>
          <a:p>
            <a:pPr eaLnBrk="0" fontAlgn="base" hangingPunct="0">
              <a:spcBef>
                <a:spcPct val="0"/>
              </a:spcBef>
              <a:spcAft>
                <a:spcPct val="0"/>
              </a:spcAft>
            </a:pPr>
            <a:endParaRPr lang="zh-CN" altLang="en-US" sz="2000" b="1">
              <a:latin typeface="Arial" charset="0"/>
              <a:ea typeface="宋体" charset="-122"/>
            </a:endParaRPr>
          </a:p>
        </p:txBody>
      </p:sp>
      <p:sp>
        <p:nvSpPr>
          <p:cNvPr id="128" name="TextBox 127"/>
          <p:cNvSpPr txBox="1"/>
          <p:nvPr/>
        </p:nvSpPr>
        <p:spPr>
          <a:xfrm>
            <a:off x="4511825" y="4653136"/>
            <a:ext cx="553357" cy="261610"/>
          </a:xfrm>
          <a:prstGeom prst="rect">
            <a:avLst/>
          </a:prstGeom>
          <a:noFill/>
        </p:spPr>
        <p:txBody>
          <a:bodyPr wrap="none" rtlCol="0">
            <a:spAutoFit/>
          </a:bodyPr>
          <a:lstStyle/>
          <a:p>
            <a:r>
              <a:rPr lang="en-US" altLang="zh-CN" sz="1100" b="1" dirty="0"/>
              <a:t>1,C-&gt;B</a:t>
            </a:r>
            <a:endParaRPr lang="zh-CN" altLang="en-US" sz="1100" b="1" dirty="0"/>
          </a:p>
        </p:txBody>
      </p:sp>
      <p:sp>
        <p:nvSpPr>
          <p:cNvPr id="129" name="弧形 128"/>
          <p:cNvSpPr/>
          <p:nvPr/>
        </p:nvSpPr>
        <p:spPr bwMode="auto">
          <a:xfrm>
            <a:off x="3575720" y="1844824"/>
            <a:ext cx="648072" cy="794802"/>
          </a:xfrm>
          <a:prstGeom prst="arc">
            <a:avLst>
              <a:gd name="adj1" fmla="val 10968263"/>
              <a:gd name="adj2" fmla="val 0"/>
            </a:avLst>
          </a:prstGeom>
          <a:noFill/>
          <a:ln w="28575" cap="flat" cmpd="sng" algn="ctr">
            <a:solidFill>
              <a:srgbClr val="FF000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spAutoFit/>
          </a:bodyPr>
          <a:lstStyle/>
          <a:p>
            <a:pPr eaLnBrk="0" fontAlgn="base" hangingPunct="0">
              <a:spcBef>
                <a:spcPct val="0"/>
              </a:spcBef>
              <a:spcAft>
                <a:spcPct val="0"/>
              </a:spcAft>
            </a:pPr>
            <a:endParaRPr lang="zh-CN" altLang="en-US" sz="2000" b="1">
              <a:latin typeface="Arial" charset="0"/>
              <a:ea typeface="宋体" charset="-122"/>
            </a:endParaRPr>
          </a:p>
        </p:txBody>
      </p:sp>
      <p:sp>
        <p:nvSpPr>
          <p:cNvPr id="130" name="TextBox 129"/>
          <p:cNvSpPr txBox="1"/>
          <p:nvPr/>
        </p:nvSpPr>
        <p:spPr>
          <a:xfrm>
            <a:off x="3647729" y="1988840"/>
            <a:ext cx="553357" cy="261610"/>
          </a:xfrm>
          <a:prstGeom prst="rect">
            <a:avLst/>
          </a:prstGeom>
          <a:noFill/>
        </p:spPr>
        <p:txBody>
          <a:bodyPr wrap="none" rtlCol="0">
            <a:spAutoFit/>
          </a:bodyPr>
          <a:lstStyle/>
          <a:p>
            <a:r>
              <a:rPr lang="en-US" altLang="zh-CN" sz="1100" b="1" dirty="0"/>
              <a:t>3,A-&gt;C</a:t>
            </a:r>
            <a:endParaRPr lang="zh-CN" altLang="en-US" sz="1100" b="1" dirty="0"/>
          </a:p>
        </p:txBody>
      </p:sp>
      <p:sp>
        <p:nvSpPr>
          <p:cNvPr id="131" name="弧形 130"/>
          <p:cNvSpPr/>
          <p:nvPr/>
        </p:nvSpPr>
        <p:spPr bwMode="auto">
          <a:xfrm>
            <a:off x="6888088" y="4581128"/>
            <a:ext cx="648072" cy="794802"/>
          </a:xfrm>
          <a:prstGeom prst="arc">
            <a:avLst>
              <a:gd name="adj1" fmla="val 10968263"/>
              <a:gd name="adj2" fmla="val 0"/>
            </a:avLst>
          </a:prstGeom>
          <a:noFill/>
          <a:ln w="28575" cap="flat" cmpd="sng" algn="ctr">
            <a:solidFill>
              <a:srgbClr val="FF000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spAutoFit/>
          </a:bodyPr>
          <a:lstStyle/>
          <a:p>
            <a:pPr eaLnBrk="0" fontAlgn="base" hangingPunct="0">
              <a:spcBef>
                <a:spcPct val="0"/>
              </a:spcBef>
              <a:spcAft>
                <a:spcPct val="0"/>
              </a:spcAft>
            </a:pPr>
            <a:endParaRPr lang="zh-CN" altLang="en-US" sz="2000" b="1">
              <a:latin typeface="Arial" charset="0"/>
              <a:ea typeface="宋体" charset="-122"/>
            </a:endParaRPr>
          </a:p>
        </p:txBody>
      </p:sp>
      <p:sp>
        <p:nvSpPr>
          <p:cNvPr id="132" name="TextBox 131"/>
          <p:cNvSpPr txBox="1"/>
          <p:nvPr/>
        </p:nvSpPr>
        <p:spPr>
          <a:xfrm>
            <a:off x="6960097" y="4725144"/>
            <a:ext cx="553357" cy="261610"/>
          </a:xfrm>
          <a:prstGeom prst="rect">
            <a:avLst/>
          </a:prstGeom>
          <a:noFill/>
        </p:spPr>
        <p:txBody>
          <a:bodyPr wrap="none" rtlCol="0">
            <a:spAutoFit/>
          </a:bodyPr>
          <a:lstStyle/>
          <a:p>
            <a:r>
              <a:rPr lang="en-US" altLang="zh-CN" sz="1100" b="1" dirty="0"/>
              <a:t>1,B-&gt;A</a:t>
            </a:r>
            <a:endParaRPr lang="zh-CN" altLang="en-US" sz="1100" b="1" dirty="0"/>
          </a:p>
        </p:txBody>
      </p:sp>
      <p:sp>
        <p:nvSpPr>
          <p:cNvPr id="133" name="弧形 132"/>
          <p:cNvSpPr/>
          <p:nvPr/>
        </p:nvSpPr>
        <p:spPr bwMode="auto">
          <a:xfrm>
            <a:off x="7536160" y="3573016"/>
            <a:ext cx="648072" cy="794802"/>
          </a:xfrm>
          <a:prstGeom prst="arc">
            <a:avLst>
              <a:gd name="adj1" fmla="val 10968263"/>
              <a:gd name="adj2" fmla="val 0"/>
            </a:avLst>
          </a:prstGeom>
          <a:noFill/>
          <a:ln w="28575" cap="flat" cmpd="sng" algn="ctr">
            <a:solidFill>
              <a:srgbClr val="FF000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spAutoFit/>
          </a:bodyPr>
          <a:lstStyle/>
          <a:p>
            <a:pPr eaLnBrk="0" fontAlgn="base" hangingPunct="0">
              <a:spcBef>
                <a:spcPct val="0"/>
              </a:spcBef>
              <a:spcAft>
                <a:spcPct val="0"/>
              </a:spcAft>
            </a:pPr>
            <a:endParaRPr lang="zh-CN" altLang="en-US" sz="2000" b="1">
              <a:latin typeface="Arial" charset="0"/>
              <a:ea typeface="宋体" charset="-122"/>
            </a:endParaRPr>
          </a:p>
        </p:txBody>
      </p:sp>
      <p:sp>
        <p:nvSpPr>
          <p:cNvPr id="134" name="TextBox 133"/>
          <p:cNvSpPr txBox="1"/>
          <p:nvPr/>
        </p:nvSpPr>
        <p:spPr>
          <a:xfrm>
            <a:off x="7608169" y="3717032"/>
            <a:ext cx="553357" cy="261610"/>
          </a:xfrm>
          <a:prstGeom prst="rect">
            <a:avLst/>
          </a:prstGeom>
          <a:noFill/>
        </p:spPr>
        <p:txBody>
          <a:bodyPr wrap="none" rtlCol="0">
            <a:spAutoFit/>
          </a:bodyPr>
          <a:lstStyle/>
          <a:p>
            <a:r>
              <a:rPr lang="en-US" altLang="zh-CN" sz="1100" b="1" dirty="0"/>
              <a:t>2,B-&gt;C</a:t>
            </a:r>
            <a:endParaRPr lang="zh-CN" altLang="en-US" sz="1100" b="1" dirty="0"/>
          </a:p>
        </p:txBody>
      </p:sp>
      <p:sp>
        <p:nvSpPr>
          <p:cNvPr id="135" name="弧形 134"/>
          <p:cNvSpPr/>
          <p:nvPr/>
        </p:nvSpPr>
        <p:spPr bwMode="auto">
          <a:xfrm>
            <a:off x="9336360" y="4509120"/>
            <a:ext cx="648072" cy="794802"/>
          </a:xfrm>
          <a:prstGeom prst="arc">
            <a:avLst>
              <a:gd name="adj1" fmla="val 10968263"/>
              <a:gd name="adj2" fmla="val 0"/>
            </a:avLst>
          </a:prstGeom>
          <a:noFill/>
          <a:ln w="28575" cap="flat" cmpd="sng" algn="ctr">
            <a:solidFill>
              <a:srgbClr val="FF000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spAutoFit/>
          </a:bodyPr>
          <a:lstStyle/>
          <a:p>
            <a:pPr eaLnBrk="0" fontAlgn="base" hangingPunct="0">
              <a:spcBef>
                <a:spcPct val="0"/>
              </a:spcBef>
              <a:spcAft>
                <a:spcPct val="0"/>
              </a:spcAft>
            </a:pPr>
            <a:endParaRPr lang="zh-CN" altLang="en-US" sz="2000" b="1">
              <a:latin typeface="Arial" charset="0"/>
              <a:ea typeface="宋体" charset="-122"/>
            </a:endParaRPr>
          </a:p>
        </p:txBody>
      </p:sp>
      <p:sp>
        <p:nvSpPr>
          <p:cNvPr id="136" name="TextBox 135"/>
          <p:cNvSpPr txBox="1"/>
          <p:nvPr/>
        </p:nvSpPr>
        <p:spPr>
          <a:xfrm>
            <a:off x="9408369" y="4653136"/>
            <a:ext cx="553357" cy="261610"/>
          </a:xfrm>
          <a:prstGeom prst="rect">
            <a:avLst/>
          </a:prstGeom>
          <a:noFill/>
        </p:spPr>
        <p:txBody>
          <a:bodyPr wrap="none" rtlCol="0">
            <a:spAutoFit/>
          </a:bodyPr>
          <a:lstStyle/>
          <a:p>
            <a:r>
              <a:rPr lang="en-US" altLang="zh-CN" sz="1100" b="1" dirty="0"/>
              <a:t>1,A-&gt;C</a:t>
            </a:r>
            <a:endParaRPr lang="zh-CN" altLang="en-US" sz="1100" b="1" dirty="0"/>
          </a:p>
        </p:txBody>
      </p:sp>
      <p:cxnSp>
        <p:nvCxnSpPr>
          <p:cNvPr id="137" name="直接箭头连接符 136"/>
          <p:cNvCxnSpPr/>
          <p:nvPr/>
        </p:nvCxnSpPr>
        <p:spPr bwMode="auto">
          <a:xfrm flipH="1">
            <a:off x="4007768" y="4221088"/>
            <a:ext cx="504056" cy="576064"/>
          </a:xfrm>
          <a:prstGeom prst="straightConnector1">
            <a:avLst/>
          </a:prstGeom>
          <a:noFill/>
          <a:ln w="28575" cap="flat" cmpd="sng" algn="ctr">
            <a:solidFill>
              <a:srgbClr val="FF0000"/>
            </a:solidFill>
            <a:prstDash val="solid"/>
            <a:round/>
            <a:headEnd type="none" w="med" len="med"/>
            <a:tailEnd type="arrow"/>
          </a:ln>
          <a:effectLst/>
        </p:spPr>
      </p:cxnSp>
      <p:cxnSp>
        <p:nvCxnSpPr>
          <p:cNvPr id="140" name="直接箭头连接符 139"/>
          <p:cNvCxnSpPr/>
          <p:nvPr/>
        </p:nvCxnSpPr>
        <p:spPr bwMode="auto">
          <a:xfrm flipH="1">
            <a:off x="6528048" y="4221088"/>
            <a:ext cx="504056" cy="576064"/>
          </a:xfrm>
          <a:prstGeom prst="straightConnector1">
            <a:avLst/>
          </a:prstGeom>
          <a:noFill/>
          <a:ln w="28575" cap="flat" cmpd="sng" algn="ctr">
            <a:solidFill>
              <a:srgbClr val="FF0000"/>
            </a:solidFill>
            <a:prstDash val="solid"/>
            <a:round/>
            <a:headEnd type="none" w="med" len="med"/>
            <a:tailEnd type="arrow"/>
          </a:ln>
          <a:effectLst/>
        </p:spPr>
      </p:cxnSp>
      <p:cxnSp>
        <p:nvCxnSpPr>
          <p:cNvPr id="141" name="直接箭头连接符 140"/>
          <p:cNvCxnSpPr/>
          <p:nvPr/>
        </p:nvCxnSpPr>
        <p:spPr bwMode="auto">
          <a:xfrm flipH="1">
            <a:off x="8832304" y="4293096"/>
            <a:ext cx="504056" cy="576064"/>
          </a:xfrm>
          <a:prstGeom prst="straightConnector1">
            <a:avLst/>
          </a:prstGeom>
          <a:noFill/>
          <a:ln w="28575" cap="flat" cmpd="sng" algn="ctr">
            <a:solidFill>
              <a:srgbClr val="FF0000"/>
            </a:solidFill>
            <a:prstDash val="solid"/>
            <a:round/>
            <a:headEnd type="none" w="med" len="med"/>
            <a:tailEnd type="arrow"/>
          </a:ln>
          <a:effectLst/>
        </p:spPr>
      </p:cxnSp>
    </p:spTree>
  </p:cSld>
  <p:clrMapOvr>
    <a:masterClrMapping/>
  </p:clrMapOvr>
  <p:transition>
    <p:cover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blinds(horizontal)">
                                      <p:cBhvr>
                                        <p:cTn id="7" dur="500"/>
                                        <p:tgtEl>
                                          <p:spTgt spid="102"/>
                                        </p:tgtEl>
                                      </p:cBhvr>
                                    </p:animEffect>
                                  </p:childTnLst>
                                </p:cTn>
                              </p:par>
                              <p:par>
                                <p:cTn id="8" presetID="3" presetClass="entr" presetSubtype="10" fill="hold" nodeType="withEffect">
                                  <p:stCondLst>
                                    <p:cond delay="0"/>
                                  </p:stCondLst>
                                  <p:childTnLst>
                                    <p:set>
                                      <p:cBhvr>
                                        <p:cTn id="9" dur="1" fill="hold">
                                          <p:stCondLst>
                                            <p:cond delay="0"/>
                                          </p:stCondLst>
                                        </p:cTn>
                                        <p:tgtEl>
                                          <p:spTgt spid="103"/>
                                        </p:tgtEl>
                                        <p:attrNameLst>
                                          <p:attrName>style.visibility</p:attrName>
                                        </p:attrNameLst>
                                      </p:cBhvr>
                                      <p:to>
                                        <p:strVal val="visible"/>
                                      </p:to>
                                    </p:set>
                                    <p:animEffect transition="in" filter="blinds(horizontal)">
                                      <p:cBhvr>
                                        <p:cTn id="10" dur="500"/>
                                        <p:tgtEl>
                                          <p:spTgt spid="103"/>
                                        </p:tgtEl>
                                      </p:cBhvr>
                                    </p:animEffect>
                                  </p:childTnLst>
                                </p:cTn>
                              </p:par>
                              <p:par>
                                <p:cTn id="11" presetID="3" presetClass="entr" presetSubtype="10" fill="hold" nodeType="withEffect">
                                  <p:stCondLst>
                                    <p:cond delay="0"/>
                                  </p:stCondLst>
                                  <p:childTnLst>
                                    <p:set>
                                      <p:cBhvr>
                                        <p:cTn id="12" dur="1" fill="hold">
                                          <p:stCondLst>
                                            <p:cond delay="0"/>
                                          </p:stCondLst>
                                        </p:cTn>
                                        <p:tgtEl>
                                          <p:spTgt spid="107"/>
                                        </p:tgtEl>
                                        <p:attrNameLst>
                                          <p:attrName>style.visibility</p:attrName>
                                        </p:attrNameLst>
                                      </p:cBhvr>
                                      <p:to>
                                        <p:strVal val="visible"/>
                                      </p:to>
                                    </p:set>
                                    <p:animEffect transition="in" filter="blinds(horizontal)">
                                      <p:cBhvr>
                                        <p:cTn id="13" dur="500"/>
                                        <p:tgtEl>
                                          <p:spTgt spid="107"/>
                                        </p:tgtEl>
                                      </p:cBhvr>
                                    </p:animEffect>
                                  </p:childTnLst>
                                </p:cTn>
                              </p:par>
                              <p:par>
                                <p:cTn id="14" presetID="3" presetClass="entr" presetSubtype="10" fill="hold" nodeType="withEffect">
                                  <p:stCondLst>
                                    <p:cond delay="0"/>
                                  </p:stCondLst>
                                  <p:childTnLst>
                                    <p:set>
                                      <p:cBhvr>
                                        <p:cTn id="15" dur="1" fill="hold">
                                          <p:stCondLst>
                                            <p:cond delay="0"/>
                                          </p:stCondLst>
                                        </p:cTn>
                                        <p:tgtEl>
                                          <p:spTgt spid="111"/>
                                        </p:tgtEl>
                                        <p:attrNameLst>
                                          <p:attrName>style.visibility</p:attrName>
                                        </p:attrNameLst>
                                      </p:cBhvr>
                                      <p:to>
                                        <p:strVal val="visible"/>
                                      </p:to>
                                    </p:set>
                                    <p:animEffect transition="in" filter="blinds(horizontal)">
                                      <p:cBhvr>
                                        <p:cTn id="16" dur="500"/>
                                        <p:tgtEl>
                                          <p:spTgt spid="111"/>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15"/>
                                        </p:tgtEl>
                                        <p:attrNameLst>
                                          <p:attrName>style.visibility</p:attrName>
                                        </p:attrNameLst>
                                      </p:cBhvr>
                                      <p:to>
                                        <p:strVal val="visible"/>
                                      </p:to>
                                    </p:set>
                                    <p:animEffect transition="in" filter="blinds(horizontal)">
                                      <p:cBhvr>
                                        <p:cTn id="19" dur="500"/>
                                        <p:tgtEl>
                                          <p:spTgt spid="115"/>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16"/>
                                        </p:tgtEl>
                                        <p:attrNameLst>
                                          <p:attrName>style.visibility</p:attrName>
                                        </p:attrNameLst>
                                      </p:cBhvr>
                                      <p:to>
                                        <p:strVal val="visible"/>
                                      </p:to>
                                    </p:set>
                                    <p:animEffect transition="in" filter="blinds(horizontal)">
                                      <p:cBhvr>
                                        <p:cTn id="22" dur="500"/>
                                        <p:tgtEl>
                                          <p:spTgt spid="116"/>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17"/>
                                        </p:tgtEl>
                                        <p:attrNameLst>
                                          <p:attrName>style.visibility</p:attrName>
                                        </p:attrNameLst>
                                      </p:cBhvr>
                                      <p:to>
                                        <p:strVal val="visible"/>
                                      </p:to>
                                    </p:set>
                                    <p:animEffect transition="in" filter="blinds(horizontal)">
                                      <p:cBhvr>
                                        <p:cTn id="25" dur="500"/>
                                        <p:tgtEl>
                                          <p:spTgt spid="117"/>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0" dur="500" fill="hold"/>
                                        <p:tgtEl>
                                          <p:spTgt spid="7"/>
                                        </p:tgtEl>
                                        <p:attrNameLst>
                                          <p:attrName>ppt_x</p:attrName>
                                        </p:attrNameLst>
                                      </p:cBhvr>
                                      <p:tavLst>
                                        <p:tav tm="0">
                                          <p:val>
                                            <p:strVal val="#ppt_x"/>
                                          </p:val>
                                        </p:tav>
                                        <p:tav tm="100000">
                                          <p:val>
                                            <p:strVal val="#ppt_x"/>
                                          </p:val>
                                        </p:tav>
                                      </p:tavLst>
                                    </p:anim>
                                    <p:anim calcmode="lin" valueType="num">
                                      <p:cBhvr additive="base">
                                        <p:cTn id="31" dur="500" fill="hold"/>
                                        <p:tgtEl>
                                          <p:spTgt spid="7"/>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30"/>
                                        </p:tgtEl>
                                        <p:attrNameLst>
                                          <p:attrName>style.visibility</p:attrName>
                                        </p:attrNameLst>
                                      </p:cBhvr>
                                      <p:to>
                                        <p:strVal val="visible"/>
                                      </p:to>
                                    </p:set>
                                    <p:anim calcmode="lin" valueType="num">
                                      <p:cBhvr additive="base">
                                        <p:cTn id="34" dur="500" fill="hold"/>
                                        <p:tgtEl>
                                          <p:spTgt spid="30"/>
                                        </p:tgtEl>
                                        <p:attrNameLst>
                                          <p:attrName>ppt_x</p:attrName>
                                        </p:attrNameLst>
                                      </p:cBhvr>
                                      <p:tavLst>
                                        <p:tav tm="0">
                                          <p:val>
                                            <p:strVal val="#ppt_x"/>
                                          </p:val>
                                        </p:tav>
                                        <p:tav tm="100000">
                                          <p:val>
                                            <p:strVal val="#ppt_x"/>
                                          </p:val>
                                        </p:tav>
                                      </p:tavLst>
                                    </p:anim>
                                    <p:anim calcmode="lin" valueType="num">
                                      <p:cBhvr additive="base">
                                        <p:cTn id="35" dur="500" fill="hold"/>
                                        <p:tgtEl>
                                          <p:spTgt spid="30"/>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fill="hold"/>
                                        <p:tgtEl>
                                          <p:spTgt spid="32"/>
                                        </p:tgtEl>
                                        <p:attrNameLst>
                                          <p:attrName>ppt_x</p:attrName>
                                        </p:attrNameLst>
                                      </p:cBhvr>
                                      <p:tavLst>
                                        <p:tav tm="0">
                                          <p:val>
                                            <p:strVal val="#ppt_x"/>
                                          </p:val>
                                        </p:tav>
                                        <p:tav tm="100000">
                                          <p:val>
                                            <p:strVal val="#ppt_x"/>
                                          </p:val>
                                        </p:tav>
                                      </p:tavLst>
                                    </p:anim>
                                    <p:anim calcmode="lin" valueType="num">
                                      <p:cBhvr additive="base">
                                        <p:cTn id="39" dur="500" fill="hold"/>
                                        <p:tgtEl>
                                          <p:spTgt spid="32"/>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33"/>
                                        </p:tgtEl>
                                        <p:attrNameLst>
                                          <p:attrName>style.visibility</p:attrName>
                                        </p:attrNameLst>
                                      </p:cBhvr>
                                      <p:to>
                                        <p:strVal val="visible"/>
                                      </p:to>
                                    </p:set>
                                    <p:anim calcmode="lin" valueType="num">
                                      <p:cBhvr additive="base">
                                        <p:cTn id="42" dur="500" fill="hold"/>
                                        <p:tgtEl>
                                          <p:spTgt spid="33"/>
                                        </p:tgtEl>
                                        <p:attrNameLst>
                                          <p:attrName>ppt_x</p:attrName>
                                        </p:attrNameLst>
                                      </p:cBhvr>
                                      <p:tavLst>
                                        <p:tav tm="0">
                                          <p:val>
                                            <p:strVal val="#ppt_x"/>
                                          </p:val>
                                        </p:tav>
                                        <p:tav tm="100000">
                                          <p:val>
                                            <p:strVal val="#ppt_x"/>
                                          </p:val>
                                        </p:tav>
                                      </p:tavLst>
                                    </p:anim>
                                    <p:anim calcmode="lin" valueType="num">
                                      <p:cBhvr additive="base">
                                        <p:cTn id="43" dur="500" fill="hold"/>
                                        <p:tgtEl>
                                          <p:spTgt spid="33"/>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34"/>
                                        </p:tgtEl>
                                        <p:attrNameLst>
                                          <p:attrName>style.visibility</p:attrName>
                                        </p:attrNameLst>
                                      </p:cBhvr>
                                      <p:to>
                                        <p:strVal val="visible"/>
                                      </p:to>
                                    </p:set>
                                    <p:anim calcmode="lin" valueType="num">
                                      <p:cBhvr additive="base">
                                        <p:cTn id="46" dur="500" fill="hold"/>
                                        <p:tgtEl>
                                          <p:spTgt spid="34"/>
                                        </p:tgtEl>
                                        <p:attrNameLst>
                                          <p:attrName>ppt_x</p:attrName>
                                        </p:attrNameLst>
                                      </p:cBhvr>
                                      <p:tavLst>
                                        <p:tav tm="0">
                                          <p:val>
                                            <p:strVal val="#ppt_x"/>
                                          </p:val>
                                        </p:tav>
                                        <p:tav tm="100000">
                                          <p:val>
                                            <p:strVal val="#ppt_x"/>
                                          </p:val>
                                        </p:tav>
                                      </p:tavLst>
                                    </p:anim>
                                    <p:anim calcmode="lin" valueType="num">
                                      <p:cBhvr additive="base">
                                        <p:cTn id="47" dur="500" fill="hold"/>
                                        <p:tgtEl>
                                          <p:spTgt spid="34"/>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35"/>
                                        </p:tgtEl>
                                        <p:attrNameLst>
                                          <p:attrName>style.visibility</p:attrName>
                                        </p:attrNameLst>
                                      </p:cBhvr>
                                      <p:to>
                                        <p:strVal val="visible"/>
                                      </p:to>
                                    </p:set>
                                    <p:anim calcmode="lin" valueType="num">
                                      <p:cBhvr additive="base">
                                        <p:cTn id="50" dur="500" fill="hold"/>
                                        <p:tgtEl>
                                          <p:spTgt spid="35"/>
                                        </p:tgtEl>
                                        <p:attrNameLst>
                                          <p:attrName>ppt_x</p:attrName>
                                        </p:attrNameLst>
                                      </p:cBhvr>
                                      <p:tavLst>
                                        <p:tav tm="0">
                                          <p:val>
                                            <p:strVal val="#ppt_x"/>
                                          </p:val>
                                        </p:tav>
                                        <p:tav tm="100000">
                                          <p:val>
                                            <p:strVal val="#ppt_x"/>
                                          </p:val>
                                        </p:tav>
                                      </p:tavLst>
                                    </p:anim>
                                    <p:anim calcmode="lin" valueType="num">
                                      <p:cBhvr additive="base">
                                        <p:cTn id="51" dur="500" fill="hold"/>
                                        <p:tgtEl>
                                          <p:spTgt spid="35"/>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36"/>
                                        </p:tgtEl>
                                        <p:attrNameLst>
                                          <p:attrName>style.visibility</p:attrName>
                                        </p:attrNameLst>
                                      </p:cBhvr>
                                      <p:to>
                                        <p:strVal val="visible"/>
                                      </p:to>
                                    </p:set>
                                    <p:anim calcmode="lin" valueType="num">
                                      <p:cBhvr additive="base">
                                        <p:cTn id="54" dur="500" fill="hold"/>
                                        <p:tgtEl>
                                          <p:spTgt spid="36"/>
                                        </p:tgtEl>
                                        <p:attrNameLst>
                                          <p:attrName>ppt_x</p:attrName>
                                        </p:attrNameLst>
                                      </p:cBhvr>
                                      <p:tavLst>
                                        <p:tav tm="0">
                                          <p:val>
                                            <p:strVal val="#ppt_x"/>
                                          </p:val>
                                        </p:tav>
                                        <p:tav tm="100000">
                                          <p:val>
                                            <p:strVal val="#ppt_x"/>
                                          </p:val>
                                        </p:tav>
                                      </p:tavLst>
                                    </p:anim>
                                    <p:anim calcmode="lin" valueType="num">
                                      <p:cBhvr additive="base">
                                        <p:cTn id="55" dur="500" fill="hold"/>
                                        <p:tgtEl>
                                          <p:spTgt spid="36"/>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37"/>
                                        </p:tgtEl>
                                        <p:attrNameLst>
                                          <p:attrName>style.visibility</p:attrName>
                                        </p:attrNameLst>
                                      </p:cBhvr>
                                      <p:to>
                                        <p:strVal val="visible"/>
                                      </p:to>
                                    </p:set>
                                    <p:anim calcmode="lin" valueType="num">
                                      <p:cBhvr additive="base">
                                        <p:cTn id="58" dur="500" fill="hold"/>
                                        <p:tgtEl>
                                          <p:spTgt spid="37"/>
                                        </p:tgtEl>
                                        <p:attrNameLst>
                                          <p:attrName>ppt_x</p:attrName>
                                        </p:attrNameLst>
                                      </p:cBhvr>
                                      <p:tavLst>
                                        <p:tav tm="0">
                                          <p:val>
                                            <p:strVal val="#ppt_x"/>
                                          </p:val>
                                        </p:tav>
                                        <p:tav tm="100000">
                                          <p:val>
                                            <p:strVal val="#ppt_x"/>
                                          </p:val>
                                        </p:tav>
                                      </p:tavLst>
                                    </p:anim>
                                    <p:anim calcmode="lin" valueType="num">
                                      <p:cBhvr additive="base">
                                        <p:cTn id="59" dur="500" fill="hold"/>
                                        <p:tgtEl>
                                          <p:spTgt spid="37"/>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52"/>
                                        </p:tgtEl>
                                        <p:attrNameLst>
                                          <p:attrName>style.visibility</p:attrName>
                                        </p:attrNameLst>
                                      </p:cBhvr>
                                      <p:to>
                                        <p:strVal val="visible"/>
                                      </p:to>
                                    </p:set>
                                    <p:anim calcmode="lin" valueType="num">
                                      <p:cBhvr additive="base">
                                        <p:cTn id="62" dur="500" fill="hold"/>
                                        <p:tgtEl>
                                          <p:spTgt spid="52"/>
                                        </p:tgtEl>
                                        <p:attrNameLst>
                                          <p:attrName>ppt_x</p:attrName>
                                        </p:attrNameLst>
                                      </p:cBhvr>
                                      <p:tavLst>
                                        <p:tav tm="0">
                                          <p:val>
                                            <p:strVal val="#ppt_x"/>
                                          </p:val>
                                        </p:tav>
                                        <p:tav tm="100000">
                                          <p:val>
                                            <p:strVal val="#ppt_x"/>
                                          </p:val>
                                        </p:tav>
                                      </p:tavLst>
                                    </p:anim>
                                    <p:anim calcmode="lin" valueType="num">
                                      <p:cBhvr additive="base">
                                        <p:cTn id="63" dur="500" fill="hold"/>
                                        <p:tgtEl>
                                          <p:spTgt spid="52"/>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53"/>
                                        </p:tgtEl>
                                        <p:attrNameLst>
                                          <p:attrName>style.visibility</p:attrName>
                                        </p:attrNameLst>
                                      </p:cBhvr>
                                      <p:to>
                                        <p:strVal val="visible"/>
                                      </p:to>
                                    </p:set>
                                    <p:anim calcmode="lin" valueType="num">
                                      <p:cBhvr additive="base">
                                        <p:cTn id="66" dur="500" fill="hold"/>
                                        <p:tgtEl>
                                          <p:spTgt spid="53"/>
                                        </p:tgtEl>
                                        <p:attrNameLst>
                                          <p:attrName>ppt_x</p:attrName>
                                        </p:attrNameLst>
                                      </p:cBhvr>
                                      <p:tavLst>
                                        <p:tav tm="0">
                                          <p:val>
                                            <p:strVal val="#ppt_x"/>
                                          </p:val>
                                        </p:tav>
                                        <p:tav tm="100000">
                                          <p:val>
                                            <p:strVal val="#ppt_x"/>
                                          </p:val>
                                        </p:tav>
                                      </p:tavLst>
                                    </p:anim>
                                    <p:anim calcmode="lin" valueType="num">
                                      <p:cBhvr additive="base">
                                        <p:cTn id="67" dur="500" fill="hold"/>
                                        <p:tgtEl>
                                          <p:spTgt spid="53"/>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54"/>
                                        </p:tgtEl>
                                        <p:attrNameLst>
                                          <p:attrName>style.visibility</p:attrName>
                                        </p:attrNameLst>
                                      </p:cBhvr>
                                      <p:to>
                                        <p:strVal val="visible"/>
                                      </p:to>
                                    </p:set>
                                    <p:anim calcmode="lin" valueType="num">
                                      <p:cBhvr additive="base">
                                        <p:cTn id="70" dur="500" fill="hold"/>
                                        <p:tgtEl>
                                          <p:spTgt spid="54"/>
                                        </p:tgtEl>
                                        <p:attrNameLst>
                                          <p:attrName>ppt_x</p:attrName>
                                        </p:attrNameLst>
                                      </p:cBhvr>
                                      <p:tavLst>
                                        <p:tav tm="0">
                                          <p:val>
                                            <p:strVal val="#ppt_x"/>
                                          </p:val>
                                        </p:tav>
                                        <p:tav tm="100000">
                                          <p:val>
                                            <p:strVal val="#ppt_x"/>
                                          </p:val>
                                        </p:tav>
                                      </p:tavLst>
                                    </p:anim>
                                    <p:anim calcmode="lin" valueType="num">
                                      <p:cBhvr additive="base">
                                        <p:cTn id="71" dur="500" fill="hold"/>
                                        <p:tgtEl>
                                          <p:spTgt spid="54"/>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55"/>
                                        </p:tgtEl>
                                        <p:attrNameLst>
                                          <p:attrName>style.visibility</p:attrName>
                                        </p:attrNameLst>
                                      </p:cBhvr>
                                      <p:to>
                                        <p:strVal val="visible"/>
                                      </p:to>
                                    </p:set>
                                    <p:anim calcmode="lin" valueType="num">
                                      <p:cBhvr additive="base">
                                        <p:cTn id="74" dur="500" fill="hold"/>
                                        <p:tgtEl>
                                          <p:spTgt spid="55"/>
                                        </p:tgtEl>
                                        <p:attrNameLst>
                                          <p:attrName>ppt_x</p:attrName>
                                        </p:attrNameLst>
                                      </p:cBhvr>
                                      <p:tavLst>
                                        <p:tav tm="0">
                                          <p:val>
                                            <p:strVal val="#ppt_x"/>
                                          </p:val>
                                        </p:tav>
                                        <p:tav tm="100000">
                                          <p:val>
                                            <p:strVal val="#ppt_x"/>
                                          </p:val>
                                        </p:tav>
                                      </p:tavLst>
                                    </p:anim>
                                    <p:anim calcmode="lin" valueType="num">
                                      <p:cBhvr additive="base">
                                        <p:cTn id="75" dur="500" fill="hold"/>
                                        <p:tgtEl>
                                          <p:spTgt spid="55"/>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56"/>
                                        </p:tgtEl>
                                        <p:attrNameLst>
                                          <p:attrName>style.visibility</p:attrName>
                                        </p:attrNameLst>
                                      </p:cBhvr>
                                      <p:to>
                                        <p:strVal val="visible"/>
                                      </p:to>
                                    </p:set>
                                    <p:anim calcmode="lin" valueType="num">
                                      <p:cBhvr additive="base">
                                        <p:cTn id="78" dur="500" fill="hold"/>
                                        <p:tgtEl>
                                          <p:spTgt spid="56"/>
                                        </p:tgtEl>
                                        <p:attrNameLst>
                                          <p:attrName>ppt_x</p:attrName>
                                        </p:attrNameLst>
                                      </p:cBhvr>
                                      <p:tavLst>
                                        <p:tav tm="0">
                                          <p:val>
                                            <p:strVal val="#ppt_x"/>
                                          </p:val>
                                        </p:tav>
                                        <p:tav tm="100000">
                                          <p:val>
                                            <p:strVal val="#ppt_x"/>
                                          </p:val>
                                        </p:tav>
                                      </p:tavLst>
                                    </p:anim>
                                    <p:anim calcmode="lin" valueType="num">
                                      <p:cBhvr additive="base">
                                        <p:cTn id="79" dur="500" fill="hold"/>
                                        <p:tgtEl>
                                          <p:spTgt spid="56"/>
                                        </p:tgtEl>
                                        <p:attrNameLst>
                                          <p:attrName>ppt_y</p:attrName>
                                        </p:attrNameLst>
                                      </p:cBhvr>
                                      <p:tavLst>
                                        <p:tav tm="0">
                                          <p:val>
                                            <p:strVal val="1+#ppt_h/2"/>
                                          </p:val>
                                        </p:tav>
                                        <p:tav tm="100000">
                                          <p:val>
                                            <p:strVal val="#ppt_y"/>
                                          </p:val>
                                        </p:tav>
                                      </p:tavLst>
                                    </p:anim>
                                  </p:childTnLst>
                                </p:cTn>
                              </p:par>
                              <p:par>
                                <p:cTn id="80" presetID="2" presetClass="entr" presetSubtype="4" fill="hold" grpId="0" nodeType="withEffect">
                                  <p:stCondLst>
                                    <p:cond delay="0"/>
                                  </p:stCondLst>
                                  <p:childTnLst>
                                    <p:set>
                                      <p:cBhvr>
                                        <p:cTn id="81" dur="1" fill="hold">
                                          <p:stCondLst>
                                            <p:cond delay="0"/>
                                          </p:stCondLst>
                                        </p:cTn>
                                        <p:tgtEl>
                                          <p:spTgt spid="57"/>
                                        </p:tgtEl>
                                        <p:attrNameLst>
                                          <p:attrName>style.visibility</p:attrName>
                                        </p:attrNameLst>
                                      </p:cBhvr>
                                      <p:to>
                                        <p:strVal val="visible"/>
                                      </p:to>
                                    </p:set>
                                    <p:anim calcmode="lin" valueType="num">
                                      <p:cBhvr additive="base">
                                        <p:cTn id="82" dur="500" fill="hold"/>
                                        <p:tgtEl>
                                          <p:spTgt spid="57"/>
                                        </p:tgtEl>
                                        <p:attrNameLst>
                                          <p:attrName>ppt_x</p:attrName>
                                        </p:attrNameLst>
                                      </p:cBhvr>
                                      <p:tavLst>
                                        <p:tav tm="0">
                                          <p:val>
                                            <p:strVal val="#ppt_x"/>
                                          </p:val>
                                        </p:tav>
                                        <p:tav tm="100000">
                                          <p:val>
                                            <p:strVal val="#ppt_x"/>
                                          </p:val>
                                        </p:tav>
                                      </p:tavLst>
                                    </p:anim>
                                    <p:anim calcmode="lin" valueType="num">
                                      <p:cBhvr additive="base">
                                        <p:cTn id="83" dur="500" fill="hold"/>
                                        <p:tgtEl>
                                          <p:spTgt spid="57"/>
                                        </p:tgtEl>
                                        <p:attrNameLst>
                                          <p:attrName>ppt_y</p:attrName>
                                        </p:attrNameLst>
                                      </p:cBhvr>
                                      <p:tavLst>
                                        <p:tav tm="0">
                                          <p:val>
                                            <p:strVal val="1+#ppt_h/2"/>
                                          </p:val>
                                        </p:tav>
                                        <p:tav tm="100000">
                                          <p:val>
                                            <p:strVal val="#ppt_y"/>
                                          </p:val>
                                        </p:tav>
                                      </p:tavLst>
                                    </p:anim>
                                  </p:childTnLst>
                                </p:cTn>
                              </p:par>
                              <p:par>
                                <p:cTn id="84" presetID="2" presetClass="entr" presetSubtype="4" fill="hold" grpId="0" nodeType="withEffect">
                                  <p:stCondLst>
                                    <p:cond delay="0"/>
                                  </p:stCondLst>
                                  <p:childTnLst>
                                    <p:set>
                                      <p:cBhvr>
                                        <p:cTn id="85" dur="1" fill="hold">
                                          <p:stCondLst>
                                            <p:cond delay="0"/>
                                          </p:stCondLst>
                                        </p:cTn>
                                        <p:tgtEl>
                                          <p:spTgt spid="58"/>
                                        </p:tgtEl>
                                        <p:attrNameLst>
                                          <p:attrName>style.visibility</p:attrName>
                                        </p:attrNameLst>
                                      </p:cBhvr>
                                      <p:to>
                                        <p:strVal val="visible"/>
                                      </p:to>
                                    </p:set>
                                    <p:anim calcmode="lin" valueType="num">
                                      <p:cBhvr additive="base">
                                        <p:cTn id="86" dur="500" fill="hold"/>
                                        <p:tgtEl>
                                          <p:spTgt spid="58"/>
                                        </p:tgtEl>
                                        <p:attrNameLst>
                                          <p:attrName>ppt_x</p:attrName>
                                        </p:attrNameLst>
                                      </p:cBhvr>
                                      <p:tavLst>
                                        <p:tav tm="0">
                                          <p:val>
                                            <p:strVal val="#ppt_x"/>
                                          </p:val>
                                        </p:tav>
                                        <p:tav tm="100000">
                                          <p:val>
                                            <p:strVal val="#ppt_x"/>
                                          </p:val>
                                        </p:tav>
                                      </p:tavLst>
                                    </p:anim>
                                    <p:anim calcmode="lin" valueType="num">
                                      <p:cBhvr additive="base">
                                        <p:cTn id="87" dur="500" fill="hold"/>
                                        <p:tgtEl>
                                          <p:spTgt spid="58"/>
                                        </p:tgtEl>
                                        <p:attrNameLst>
                                          <p:attrName>ppt_y</p:attrName>
                                        </p:attrNameLst>
                                      </p:cBhvr>
                                      <p:tavLst>
                                        <p:tav tm="0">
                                          <p:val>
                                            <p:strVal val="1+#ppt_h/2"/>
                                          </p:val>
                                        </p:tav>
                                        <p:tav tm="100000">
                                          <p:val>
                                            <p:strVal val="#ppt_y"/>
                                          </p:val>
                                        </p:tav>
                                      </p:tavLst>
                                    </p:anim>
                                  </p:childTnLst>
                                </p:cTn>
                              </p:par>
                              <p:par>
                                <p:cTn id="88" presetID="2" presetClass="entr" presetSubtype="4" fill="hold" nodeType="withEffect">
                                  <p:stCondLst>
                                    <p:cond delay="0"/>
                                  </p:stCondLst>
                                  <p:childTnLst>
                                    <p:set>
                                      <p:cBhvr>
                                        <p:cTn id="89" dur="1" fill="hold">
                                          <p:stCondLst>
                                            <p:cond delay="0"/>
                                          </p:stCondLst>
                                        </p:cTn>
                                        <p:tgtEl>
                                          <p:spTgt spid="60"/>
                                        </p:tgtEl>
                                        <p:attrNameLst>
                                          <p:attrName>style.visibility</p:attrName>
                                        </p:attrNameLst>
                                      </p:cBhvr>
                                      <p:to>
                                        <p:strVal val="visible"/>
                                      </p:to>
                                    </p:set>
                                    <p:anim calcmode="lin" valueType="num">
                                      <p:cBhvr additive="base">
                                        <p:cTn id="90" dur="500" fill="hold"/>
                                        <p:tgtEl>
                                          <p:spTgt spid="60"/>
                                        </p:tgtEl>
                                        <p:attrNameLst>
                                          <p:attrName>ppt_x</p:attrName>
                                        </p:attrNameLst>
                                      </p:cBhvr>
                                      <p:tavLst>
                                        <p:tav tm="0">
                                          <p:val>
                                            <p:strVal val="#ppt_x"/>
                                          </p:val>
                                        </p:tav>
                                        <p:tav tm="100000">
                                          <p:val>
                                            <p:strVal val="#ppt_x"/>
                                          </p:val>
                                        </p:tav>
                                      </p:tavLst>
                                    </p:anim>
                                    <p:anim calcmode="lin" valueType="num">
                                      <p:cBhvr additive="base">
                                        <p:cTn id="91" dur="500" fill="hold"/>
                                        <p:tgtEl>
                                          <p:spTgt spid="60"/>
                                        </p:tgtEl>
                                        <p:attrNameLst>
                                          <p:attrName>ppt_y</p:attrName>
                                        </p:attrNameLst>
                                      </p:cBhvr>
                                      <p:tavLst>
                                        <p:tav tm="0">
                                          <p:val>
                                            <p:strVal val="1+#ppt_h/2"/>
                                          </p:val>
                                        </p:tav>
                                        <p:tav tm="100000">
                                          <p:val>
                                            <p:strVal val="#ppt_y"/>
                                          </p:val>
                                        </p:tav>
                                      </p:tavLst>
                                    </p:anim>
                                  </p:childTnLst>
                                </p:cTn>
                              </p:par>
                              <p:par>
                                <p:cTn id="92" presetID="2" presetClass="entr" presetSubtype="4" fill="hold" nodeType="withEffect">
                                  <p:stCondLst>
                                    <p:cond delay="0"/>
                                  </p:stCondLst>
                                  <p:childTnLst>
                                    <p:set>
                                      <p:cBhvr>
                                        <p:cTn id="93" dur="1" fill="hold">
                                          <p:stCondLst>
                                            <p:cond delay="0"/>
                                          </p:stCondLst>
                                        </p:cTn>
                                        <p:tgtEl>
                                          <p:spTgt spid="62"/>
                                        </p:tgtEl>
                                        <p:attrNameLst>
                                          <p:attrName>style.visibility</p:attrName>
                                        </p:attrNameLst>
                                      </p:cBhvr>
                                      <p:to>
                                        <p:strVal val="visible"/>
                                      </p:to>
                                    </p:set>
                                    <p:anim calcmode="lin" valueType="num">
                                      <p:cBhvr additive="base">
                                        <p:cTn id="94" dur="500" fill="hold"/>
                                        <p:tgtEl>
                                          <p:spTgt spid="62"/>
                                        </p:tgtEl>
                                        <p:attrNameLst>
                                          <p:attrName>ppt_x</p:attrName>
                                        </p:attrNameLst>
                                      </p:cBhvr>
                                      <p:tavLst>
                                        <p:tav tm="0">
                                          <p:val>
                                            <p:strVal val="#ppt_x"/>
                                          </p:val>
                                        </p:tav>
                                        <p:tav tm="100000">
                                          <p:val>
                                            <p:strVal val="#ppt_x"/>
                                          </p:val>
                                        </p:tav>
                                      </p:tavLst>
                                    </p:anim>
                                    <p:anim calcmode="lin" valueType="num">
                                      <p:cBhvr additive="base">
                                        <p:cTn id="95" dur="500" fill="hold"/>
                                        <p:tgtEl>
                                          <p:spTgt spid="62"/>
                                        </p:tgtEl>
                                        <p:attrNameLst>
                                          <p:attrName>ppt_y</p:attrName>
                                        </p:attrNameLst>
                                      </p:cBhvr>
                                      <p:tavLst>
                                        <p:tav tm="0">
                                          <p:val>
                                            <p:strVal val="1+#ppt_h/2"/>
                                          </p:val>
                                        </p:tav>
                                        <p:tav tm="100000">
                                          <p:val>
                                            <p:strVal val="#ppt_y"/>
                                          </p:val>
                                        </p:tav>
                                      </p:tavLst>
                                    </p:anim>
                                  </p:childTnLst>
                                </p:cTn>
                              </p:par>
                              <p:par>
                                <p:cTn id="96" presetID="2" presetClass="entr" presetSubtype="4" fill="hold" nodeType="withEffect">
                                  <p:stCondLst>
                                    <p:cond delay="0"/>
                                  </p:stCondLst>
                                  <p:childTnLst>
                                    <p:set>
                                      <p:cBhvr>
                                        <p:cTn id="97" dur="1" fill="hold">
                                          <p:stCondLst>
                                            <p:cond delay="0"/>
                                          </p:stCondLst>
                                        </p:cTn>
                                        <p:tgtEl>
                                          <p:spTgt spid="64"/>
                                        </p:tgtEl>
                                        <p:attrNameLst>
                                          <p:attrName>style.visibility</p:attrName>
                                        </p:attrNameLst>
                                      </p:cBhvr>
                                      <p:to>
                                        <p:strVal val="visible"/>
                                      </p:to>
                                    </p:set>
                                    <p:anim calcmode="lin" valueType="num">
                                      <p:cBhvr additive="base">
                                        <p:cTn id="98" dur="500" fill="hold"/>
                                        <p:tgtEl>
                                          <p:spTgt spid="64"/>
                                        </p:tgtEl>
                                        <p:attrNameLst>
                                          <p:attrName>ppt_x</p:attrName>
                                        </p:attrNameLst>
                                      </p:cBhvr>
                                      <p:tavLst>
                                        <p:tav tm="0">
                                          <p:val>
                                            <p:strVal val="#ppt_x"/>
                                          </p:val>
                                        </p:tav>
                                        <p:tav tm="100000">
                                          <p:val>
                                            <p:strVal val="#ppt_x"/>
                                          </p:val>
                                        </p:tav>
                                      </p:tavLst>
                                    </p:anim>
                                    <p:anim calcmode="lin" valueType="num">
                                      <p:cBhvr additive="base">
                                        <p:cTn id="99" dur="500" fill="hold"/>
                                        <p:tgtEl>
                                          <p:spTgt spid="64"/>
                                        </p:tgtEl>
                                        <p:attrNameLst>
                                          <p:attrName>ppt_y</p:attrName>
                                        </p:attrNameLst>
                                      </p:cBhvr>
                                      <p:tavLst>
                                        <p:tav tm="0">
                                          <p:val>
                                            <p:strVal val="1+#ppt_h/2"/>
                                          </p:val>
                                        </p:tav>
                                        <p:tav tm="100000">
                                          <p:val>
                                            <p:strVal val="#ppt_y"/>
                                          </p:val>
                                        </p:tav>
                                      </p:tavLst>
                                    </p:anim>
                                  </p:childTnLst>
                                </p:cTn>
                              </p:par>
                              <p:par>
                                <p:cTn id="100" presetID="2" presetClass="entr" presetSubtype="4" fill="hold" nodeType="withEffect">
                                  <p:stCondLst>
                                    <p:cond delay="0"/>
                                  </p:stCondLst>
                                  <p:childTnLst>
                                    <p:set>
                                      <p:cBhvr>
                                        <p:cTn id="101" dur="1" fill="hold">
                                          <p:stCondLst>
                                            <p:cond delay="0"/>
                                          </p:stCondLst>
                                        </p:cTn>
                                        <p:tgtEl>
                                          <p:spTgt spid="66"/>
                                        </p:tgtEl>
                                        <p:attrNameLst>
                                          <p:attrName>style.visibility</p:attrName>
                                        </p:attrNameLst>
                                      </p:cBhvr>
                                      <p:to>
                                        <p:strVal val="visible"/>
                                      </p:to>
                                    </p:set>
                                    <p:anim calcmode="lin" valueType="num">
                                      <p:cBhvr additive="base">
                                        <p:cTn id="102" dur="500" fill="hold"/>
                                        <p:tgtEl>
                                          <p:spTgt spid="66"/>
                                        </p:tgtEl>
                                        <p:attrNameLst>
                                          <p:attrName>ppt_x</p:attrName>
                                        </p:attrNameLst>
                                      </p:cBhvr>
                                      <p:tavLst>
                                        <p:tav tm="0">
                                          <p:val>
                                            <p:strVal val="#ppt_x"/>
                                          </p:val>
                                        </p:tav>
                                        <p:tav tm="100000">
                                          <p:val>
                                            <p:strVal val="#ppt_x"/>
                                          </p:val>
                                        </p:tav>
                                      </p:tavLst>
                                    </p:anim>
                                    <p:anim calcmode="lin" valueType="num">
                                      <p:cBhvr additive="base">
                                        <p:cTn id="103" dur="500" fill="hold"/>
                                        <p:tgtEl>
                                          <p:spTgt spid="66"/>
                                        </p:tgtEl>
                                        <p:attrNameLst>
                                          <p:attrName>ppt_y</p:attrName>
                                        </p:attrNameLst>
                                      </p:cBhvr>
                                      <p:tavLst>
                                        <p:tav tm="0">
                                          <p:val>
                                            <p:strVal val="1+#ppt_h/2"/>
                                          </p:val>
                                        </p:tav>
                                        <p:tav tm="100000">
                                          <p:val>
                                            <p:strVal val="#ppt_y"/>
                                          </p:val>
                                        </p:tav>
                                      </p:tavLst>
                                    </p:anim>
                                  </p:childTnLst>
                                </p:cTn>
                              </p:par>
                              <p:par>
                                <p:cTn id="104" presetID="2" presetClass="entr" presetSubtype="4" fill="hold" nodeType="withEffect">
                                  <p:stCondLst>
                                    <p:cond delay="0"/>
                                  </p:stCondLst>
                                  <p:childTnLst>
                                    <p:set>
                                      <p:cBhvr>
                                        <p:cTn id="105" dur="1" fill="hold">
                                          <p:stCondLst>
                                            <p:cond delay="0"/>
                                          </p:stCondLst>
                                        </p:cTn>
                                        <p:tgtEl>
                                          <p:spTgt spid="68"/>
                                        </p:tgtEl>
                                        <p:attrNameLst>
                                          <p:attrName>style.visibility</p:attrName>
                                        </p:attrNameLst>
                                      </p:cBhvr>
                                      <p:to>
                                        <p:strVal val="visible"/>
                                      </p:to>
                                    </p:set>
                                    <p:anim calcmode="lin" valueType="num">
                                      <p:cBhvr additive="base">
                                        <p:cTn id="106" dur="500" fill="hold"/>
                                        <p:tgtEl>
                                          <p:spTgt spid="68"/>
                                        </p:tgtEl>
                                        <p:attrNameLst>
                                          <p:attrName>ppt_x</p:attrName>
                                        </p:attrNameLst>
                                      </p:cBhvr>
                                      <p:tavLst>
                                        <p:tav tm="0">
                                          <p:val>
                                            <p:strVal val="#ppt_x"/>
                                          </p:val>
                                        </p:tav>
                                        <p:tav tm="100000">
                                          <p:val>
                                            <p:strVal val="#ppt_x"/>
                                          </p:val>
                                        </p:tav>
                                      </p:tavLst>
                                    </p:anim>
                                    <p:anim calcmode="lin" valueType="num">
                                      <p:cBhvr additive="base">
                                        <p:cTn id="107" dur="500" fill="hold"/>
                                        <p:tgtEl>
                                          <p:spTgt spid="68"/>
                                        </p:tgtEl>
                                        <p:attrNameLst>
                                          <p:attrName>ppt_y</p:attrName>
                                        </p:attrNameLst>
                                      </p:cBhvr>
                                      <p:tavLst>
                                        <p:tav tm="0">
                                          <p:val>
                                            <p:strVal val="1+#ppt_h/2"/>
                                          </p:val>
                                        </p:tav>
                                        <p:tav tm="100000">
                                          <p:val>
                                            <p:strVal val="#ppt_y"/>
                                          </p:val>
                                        </p:tav>
                                      </p:tavLst>
                                    </p:anim>
                                  </p:childTnLst>
                                </p:cTn>
                              </p:par>
                              <p:par>
                                <p:cTn id="108" presetID="2" presetClass="entr" presetSubtype="4" fill="hold" nodeType="withEffect">
                                  <p:stCondLst>
                                    <p:cond delay="0"/>
                                  </p:stCondLst>
                                  <p:childTnLst>
                                    <p:set>
                                      <p:cBhvr>
                                        <p:cTn id="109" dur="1" fill="hold">
                                          <p:stCondLst>
                                            <p:cond delay="0"/>
                                          </p:stCondLst>
                                        </p:cTn>
                                        <p:tgtEl>
                                          <p:spTgt spid="70"/>
                                        </p:tgtEl>
                                        <p:attrNameLst>
                                          <p:attrName>style.visibility</p:attrName>
                                        </p:attrNameLst>
                                      </p:cBhvr>
                                      <p:to>
                                        <p:strVal val="visible"/>
                                      </p:to>
                                    </p:set>
                                    <p:anim calcmode="lin" valueType="num">
                                      <p:cBhvr additive="base">
                                        <p:cTn id="110" dur="500" fill="hold"/>
                                        <p:tgtEl>
                                          <p:spTgt spid="70"/>
                                        </p:tgtEl>
                                        <p:attrNameLst>
                                          <p:attrName>ppt_x</p:attrName>
                                        </p:attrNameLst>
                                      </p:cBhvr>
                                      <p:tavLst>
                                        <p:tav tm="0">
                                          <p:val>
                                            <p:strVal val="#ppt_x"/>
                                          </p:val>
                                        </p:tav>
                                        <p:tav tm="100000">
                                          <p:val>
                                            <p:strVal val="#ppt_x"/>
                                          </p:val>
                                        </p:tav>
                                      </p:tavLst>
                                    </p:anim>
                                    <p:anim calcmode="lin" valueType="num">
                                      <p:cBhvr additive="base">
                                        <p:cTn id="111" dur="500" fill="hold"/>
                                        <p:tgtEl>
                                          <p:spTgt spid="70"/>
                                        </p:tgtEl>
                                        <p:attrNameLst>
                                          <p:attrName>ppt_y</p:attrName>
                                        </p:attrNameLst>
                                      </p:cBhvr>
                                      <p:tavLst>
                                        <p:tav tm="0">
                                          <p:val>
                                            <p:strVal val="1+#ppt_h/2"/>
                                          </p:val>
                                        </p:tav>
                                        <p:tav tm="100000">
                                          <p:val>
                                            <p:strVal val="#ppt_y"/>
                                          </p:val>
                                        </p:tav>
                                      </p:tavLst>
                                    </p:anim>
                                  </p:childTnLst>
                                </p:cTn>
                              </p:par>
                              <p:par>
                                <p:cTn id="112" presetID="2" presetClass="entr" presetSubtype="4" fill="hold" nodeType="withEffect">
                                  <p:stCondLst>
                                    <p:cond delay="0"/>
                                  </p:stCondLst>
                                  <p:childTnLst>
                                    <p:set>
                                      <p:cBhvr>
                                        <p:cTn id="113" dur="1" fill="hold">
                                          <p:stCondLst>
                                            <p:cond delay="0"/>
                                          </p:stCondLst>
                                        </p:cTn>
                                        <p:tgtEl>
                                          <p:spTgt spid="72"/>
                                        </p:tgtEl>
                                        <p:attrNameLst>
                                          <p:attrName>style.visibility</p:attrName>
                                        </p:attrNameLst>
                                      </p:cBhvr>
                                      <p:to>
                                        <p:strVal val="visible"/>
                                      </p:to>
                                    </p:set>
                                    <p:anim calcmode="lin" valueType="num">
                                      <p:cBhvr additive="base">
                                        <p:cTn id="114" dur="500" fill="hold"/>
                                        <p:tgtEl>
                                          <p:spTgt spid="72"/>
                                        </p:tgtEl>
                                        <p:attrNameLst>
                                          <p:attrName>ppt_x</p:attrName>
                                        </p:attrNameLst>
                                      </p:cBhvr>
                                      <p:tavLst>
                                        <p:tav tm="0">
                                          <p:val>
                                            <p:strVal val="#ppt_x"/>
                                          </p:val>
                                        </p:tav>
                                        <p:tav tm="100000">
                                          <p:val>
                                            <p:strVal val="#ppt_x"/>
                                          </p:val>
                                        </p:tav>
                                      </p:tavLst>
                                    </p:anim>
                                    <p:anim calcmode="lin" valueType="num">
                                      <p:cBhvr additive="base">
                                        <p:cTn id="115" dur="500" fill="hold"/>
                                        <p:tgtEl>
                                          <p:spTgt spid="72"/>
                                        </p:tgtEl>
                                        <p:attrNameLst>
                                          <p:attrName>ppt_y</p:attrName>
                                        </p:attrNameLst>
                                      </p:cBhvr>
                                      <p:tavLst>
                                        <p:tav tm="0">
                                          <p:val>
                                            <p:strVal val="1+#ppt_h/2"/>
                                          </p:val>
                                        </p:tav>
                                        <p:tav tm="100000">
                                          <p:val>
                                            <p:strVal val="#ppt_y"/>
                                          </p:val>
                                        </p:tav>
                                      </p:tavLst>
                                    </p:anim>
                                  </p:childTnLst>
                                </p:cTn>
                              </p:par>
                              <p:par>
                                <p:cTn id="116" presetID="2" presetClass="entr" presetSubtype="4" fill="hold" nodeType="withEffect">
                                  <p:stCondLst>
                                    <p:cond delay="0"/>
                                  </p:stCondLst>
                                  <p:childTnLst>
                                    <p:set>
                                      <p:cBhvr>
                                        <p:cTn id="117" dur="1" fill="hold">
                                          <p:stCondLst>
                                            <p:cond delay="0"/>
                                          </p:stCondLst>
                                        </p:cTn>
                                        <p:tgtEl>
                                          <p:spTgt spid="74"/>
                                        </p:tgtEl>
                                        <p:attrNameLst>
                                          <p:attrName>style.visibility</p:attrName>
                                        </p:attrNameLst>
                                      </p:cBhvr>
                                      <p:to>
                                        <p:strVal val="visible"/>
                                      </p:to>
                                    </p:set>
                                    <p:anim calcmode="lin" valueType="num">
                                      <p:cBhvr additive="base">
                                        <p:cTn id="118" dur="500" fill="hold"/>
                                        <p:tgtEl>
                                          <p:spTgt spid="74"/>
                                        </p:tgtEl>
                                        <p:attrNameLst>
                                          <p:attrName>ppt_x</p:attrName>
                                        </p:attrNameLst>
                                      </p:cBhvr>
                                      <p:tavLst>
                                        <p:tav tm="0">
                                          <p:val>
                                            <p:strVal val="#ppt_x"/>
                                          </p:val>
                                        </p:tav>
                                        <p:tav tm="100000">
                                          <p:val>
                                            <p:strVal val="#ppt_x"/>
                                          </p:val>
                                        </p:tav>
                                      </p:tavLst>
                                    </p:anim>
                                    <p:anim calcmode="lin" valueType="num">
                                      <p:cBhvr additive="base">
                                        <p:cTn id="119" dur="500" fill="hold"/>
                                        <p:tgtEl>
                                          <p:spTgt spid="74"/>
                                        </p:tgtEl>
                                        <p:attrNameLst>
                                          <p:attrName>ppt_y</p:attrName>
                                        </p:attrNameLst>
                                      </p:cBhvr>
                                      <p:tavLst>
                                        <p:tav tm="0">
                                          <p:val>
                                            <p:strVal val="1+#ppt_h/2"/>
                                          </p:val>
                                        </p:tav>
                                        <p:tav tm="100000">
                                          <p:val>
                                            <p:strVal val="#ppt_y"/>
                                          </p:val>
                                        </p:tav>
                                      </p:tavLst>
                                    </p:anim>
                                  </p:childTnLst>
                                </p:cTn>
                              </p:par>
                              <p:par>
                                <p:cTn id="120" presetID="2" presetClass="entr" presetSubtype="4" fill="hold" nodeType="withEffect">
                                  <p:stCondLst>
                                    <p:cond delay="0"/>
                                  </p:stCondLst>
                                  <p:childTnLst>
                                    <p:set>
                                      <p:cBhvr>
                                        <p:cTn id="121" dur="1" fill="hold">
                                          <p:stCondLst>
                                            <p:cond delay="0"/>
                                          </p:stCondLst>
                                        </p:cTn>
                                        <p:tgtEl>
                                          <p:spTgt spid="76"/>
                                        </p:tgtEl>
                                        <p:attrNameLst>
                                          <p:attrName>style.visibility</p:attrName>
                                        </p:attrNameLst>
                                      </p:cBhvr>
                                      <p:to>
                                        <p:strVal val="visible"/>
                                      </p:to>
                                    </p:set>
                                    <p:anim calcmode="lin" valueType="num">
                                      <p:cBhvr additive="base">
                                        <p:cTn id="122" dur="500" fill="hold"/>
                                        <p:tgtEl>
                                          <p:spTgt spid="76"/>
                                        </p:tgtEl>
                                        <p:attrNameLst>
                                          <p:attrName>ppt_x</p:attrName>
                                        </p:attrNameLst>
                                      </p:cBhvr>
                                      <p:tavLst>
                                        <p:tav tm="0">
                                          <p:val>
                                            <p:strVal val="#ppt_x"/>
                                          </p:val>
                                        </p:tav>
                                        <p:tav tm="100000">
                                          <p:val>
                                            <p:strVal val="#ppt_x"/>
                                          </p:val>
                                        </p:tav>
                                      </p:tavLst>
                                    </p:anim>
                                    <p:anim calcmode="lin" valueType="num">
                                      <p:cBhvr additive="base">
                                        <p:cTn id="123" dur="500" fill="hold"/>
                                        <p:tgtEl>
                                          <p:spTgt spid="76"/>
                                        </p:tgtEl>
                                        <p:attrNameLst>
                                          <p:attrName>ppt_y</p:attrName>
                                        </p:attrNameLst>
                                      </p:cBhvr>
                                      <p:tavLst>
                                        <p:tav tm="0">
                                          <p:val>
                                            <p:strVal val="1+#ppt_h/2"/>
                                          </p:val>
                                        </p:tav>
                                        <p:tav tm="100000">
                                          <p:val>
                                            <p:strVal val="#ppt_y"/>
                                          </p:val>
                                        </p:tav>
                                      </p:tavLst>
                                    </p:anim>
                                  </p:childTnLst>
                                </p:cTn>
                              </p:par>
                              <p:par>
                                <p:cTn id="124" presetID="2" presetClass="entr" presetSubtype="4" fill="hold" nodeType="withEffect">
                                  <p:stCondLst>
                                    <p:cond delay="0"/>
                                  </p:stCondLst>
                                  <p:childTnLst>
                                    <p:set>
                                      <p:cBhvr>
                                        <p:cTn id="125" dur="1" fill="hold">
                                          <p:stCondLst>
                                            <p:cond delay="0"/>
                                          </p:stCondLst>
                                        </p:cTn>
                                        <p:tgtEl>
                                          <p:spTgt spid="78"/>
                                        </p:tgtEl>
                                        <p:attrNameLst>
                                          <p:attrName>style.visibility</p:attrName>
                                        </p:attrNameLst>
                                      </p:cBhvr>
                                      <p:to>
                                        <p:strVal val="visible"/>
                                      </p:to>
                                    </p:set>
                                    <p:anim calcmode="lin" valueType="num">
                                      <p:cBhvr additive="base">
                                        <p:cTn id="126" dur="500" fill="hold"/>
                                        <p:tgtEl>
                                          <p:spTgt spid="78"/>
                                        </p:tgtEl>
                                        <p:attrNameLst>
                                          <p:attrName>ppt_x</p:attrName>
                                        </p:attrNameLst>
                                      </p:cBhvr>
                                      <p:tavLst>
                                        <p:tav tm="0">
                                          <p:val>
                                            <p:strVal val="#ppt_x"/>
                                          </p:val>
                                        </p:tav>
                                        <p:tav tm="100000">
                                          <p:val>
                                            <p:strVal val="#ppt_x"/>
                                          </p:val>
                                        </p:tav>
                                      </p:tavLst>
                                    </p:anim>
                                    <p:anim calcmode="lin" valueType="num">
                                      <p:cBhvr additive="base">
                                        <p:cTn id="127" dur="500" fill="hold"/>
                                        <p:tgtEl>
                                          <p:spTgt spid="78"/>
                                        </p:tgtEl>
                                        <p:attrNameLst>
                                          <p:attrName>ppt_y</p:attrName>
                                        </p:attrNameLst>
                                      </p:cBhvr>
                                      <p:tavLst>
                                        <p:tav tm="0">
                                          <p:val>
                                            <p:strVal val="1+#ppt_h/2"/>
                                          </p:val>
                                        </p:tav>
                                        <p:tav tm="100000">
                                          <p:val>
                                            <p:strVal val="#ppt_y"/>
                                          </p:val>
                                        </p:tav>
                                      </p:tavLst>
                                    </p:anim>
                                  </p:childTnLst>
                                </p:cTn>
                              </p:par>
                              <p:par>
                                <p:cTn id="128" presetID="2" presetClass="entr" presetSubtype="4" fill="hold" nodeType="withEffect">
                                  <p:stCondLst>
                                    <p:cond delay="0"/>
                                  </p:stCondLst>
                                  <p:childTnLst>
                                    <p:set>
                                      <p:cBhvr>
                                        <p:cTn id="129" dur="1" fill="hold">
                                          <p:stCondLst>
                                            <p:cond delay="0"/>
                                          </p:stCondLst>
                                        </p:cTn>
                                        <p:tgtEl>
                                          <p:spTgt spid="80"/>
                                        </p:tgtEl>
                                        <p:attrNameLst>
                                          <p:attrName>style.visibility</p:attrName>
                                        </p:attrNameLst>
                                      </p:cBhvr>
                                      <p:to>
                                        <p:strVal val="visible"/>
                                      </p:to>
                                    </p:set>
                                    <p:anim calcmode="lin" valueType="num">
                                      <p:cBhvr additive="base">
                                        <p:cTn id="130" dur="500" fill="hold"/>
                                        <p:tgtEl>
                                          <p:spTgt spid="80"/>
                                        </p:tgtEl>
                                        <p:attrNameLst>
                                          <p:attrName>ppt_x</p:attrName>
                                        </p:attrNameLst>
                                      </p:cBhvr>
                                      <p:tavLst>
                                        <p:tav tm="0">
                                          <p:val>
                                            <p:strVal val="#ppt_x"/>
                                          </p:val>
                                        </p:tav>
                                        <p:tav tm="100000">
                                          <p:val>
                                            <p:strVal val="#ppt_x"/>
                                          </p:val>
                                        </p:tav>
                                      </p:tavLst>
                                    </p:anim>
                                    <p:anim calcmode="lin" valueType="num">
                                      <p:cBhvr additive="base">
                                        <p:cTn id="131" dur="500" fill="hold"/>
                                        <p:tgtEl>
                                          <p:spTgt spid="80"/>
                                        </p:tgtEl>
                                        <p:attrNameLst>
                                          <p:attrName>ppt_y</p:attrName>
                                        </p:attrNameLst>
                                      </p:cBhvr>
                                      <p:tavLst>
                                        <p:tav tm="0">
                                          <p:val>
                                            <p:strVal val="1+#ppt_h/2"/>
                                          </p:val>
                                        </p:tav>
                                        <p:tav tm="100000">
                                          <p:val>
                                            <p:strVal val="#ppt_y"/>
                                          </p:val>
                                        </p:tav>
                                      </p:tavLst>
                                    </p:anim>
                                  </p:childTnLst>
                                </p:cTn>
                              </p:par>
                              <p:par>
                                <p:cTn id="132" presetID="2" presetClass="entr" presetSubtype="4" fill="hold" nodeType="withEffect">
                                  <p:stCondLst>
                                    <p:cond delay="0"/>
                                  </p:stCondLst>
                                  <p:childTnLst>
                                    <p:set>
                                      <p:cBhvr>
                                        <p:cTn id="133" dur="1" fill="hold">
                                          <p:stCondLst>
                                            <p:cond delay="0"/>
                                          </p:stCondLst>
                                        </p:cTn>
                                        <p:tgtEl>
                                          <p:spTgt spid="82"/>
                                        </p:tgtEl>
                                        <p:attrNameLst>
                                          <p:attrName>style.visibility</p:attrName>
                                        </p:attrNameLst>
                                      </p:cBhvr>
                                      <p:to>
                                        <p:strVal val="visible"/>
                                      </p:to>
                                    </p:set>
                                    <p:anim calcmode="lin" valueType="num">
                                      <p:cBhvr additive="base">
                                        <p:cTn id="134" dur="500" fill="hold"/>
                                        <p:tgtEl>
                                          <p:spTgt spid="82"/>
                                        </p:tgtEl>
                                        <p:attrNameLst>
                                          <p:attrName>ppt_x</p:attrName>
                                        </p:attrNameLst>
                                      </p:cBhvr>
                                      <p:tavLst>
                                        <p:tav tm="0">
                                          <p:val>
                                            <p:strVal val="#ppt_x"/>
                                          </p:val>
                                        </p:tav>
                                        <p:tav tm="100000">
                                          <p:val>
                                            <p:strVal val="#ppt_x"/>
                                          </p:val>
                                        </p:tav>
                                      </p:tavLst>
                                    </p:anim>
                                    <p:anim calcmode="lin" valueType="num">
                                      <p:cBhvr additive="base">
                                        <p:cTn id="135" dur="500" fill="hold"/>
                                        <p:tgtEl>
                                          <p:spTgt spid="82"/>
                                        </p:tgtEl>
                                        <p:attrNameLst>
                                          <p:attrName>ppt_y</p:attrName>
                                        </p:attrNameLst>
                                      </p:cBhvr>
                                      <p:tavLst>
                                        <p:tav tm="0">
                                          <p:val>
                                            <p:strVal val="1+#ppt_h/2"/>
                                          </p:val>
                                        </p:tav>
                                        <p:tav tm="100000">
                                          <p:val>
                                            <p:strVal val="#ppt_y"/>
                                          </p:val>
                                        </p:tav>
                                      </p:tavLst>
                                    </p:anim>
                                  </p:childTnLst>
                                </p:cTn>
                              </p:par>
                              <p:par>
                                <p:cTn id="136" presetID="2" presetClass="entr" presetSubtype="4" fill="hold" nodeType="withEffect">
                                  <p:stCondLst>
                                    <p:cond delay="0"/>
                                  </p:stCondLst>
                                  <p:childTnLst>
                                    <p:set>
                                      <p:cBhvr>
                                        <p:cTn id="137" dur="1" fill="hold">
                                          <p:stCondLst>
                                            <p:cond delay="0"/>
                                          </p:stCondLst>
                                        </p:cTn>
                                        <p:tgtEl>
                                          <p:spTgt spid="84"/>
                                        </p:tgtEl>
                                        <p:attrNameLst>
                                          <p:attrName>style.visibility</p:attrName>
                                        </p:attrNameLst>
                                      </p:cBhvr>
                                      <p:to>
                                        <p:strVal val="visible"/>
                                      </p:to>
                                    </p:set>
                                    <p:anim calcmode="lin" valueType="num">
                                      <p:cBhvr additive="base">
                                        <p:cTn id="138" dur="500" fill="hold"/>
                                        <p:tgtEl>
                                          <p:spTgt spid="84"/>
                                        </p:tgtEl>
                                        <p:attrNameLst>
                                          <p:attrName>ppt_x</p:attrName>
                                        </p:attrNameLst>
                                      </p:cBhvr>
                                      <p:tavLst>
                                        <p:tav tm="0">
                                          <p:val>
                                            <p:strVal val="#ppt_x"/>
                                          </p:val>
                                        </p:tav>
                                        <p:tav tm="100000">
                                          <p:val>
                                            <p:strVal val="#ppt_x"/>
                                          </p:val>
                                        </p:tav>
                                      </p:tavLst>
                                    </p:anim>
                                    <p:anim calcmode="lin" valueType="num">
                                      <p:cBhvr additive="base">
                                        <p:cTn id="139" dur="500" fill="hold"/>
                                        <p:tgtEl>
                                          <p:spTgt spid="84"/>
                                        </p:tgtEl>
                                        <p:attrNameLst>
                                          <p:attrName>ppt_y</p:attrName>
                                        </p:attrNameLst>
                                      </p:cBhvr>
                                      <p:tavLst>
                                        <p:tav tm="0">
                                          <p:val>
                                            <p:strVal val="1+#ppt_h/2"/>
                                          </p:val>
                                        </p:tav>
                                        <p:tav tm="100000">
                                          <p:val>
                                            <p:strVal val="#ppt_y"/>
                                          </p:val>
                                        </p:tav>
                                      </p:tavLst>
                                    </p:anim>
                                  </p:childTnLst>
                                </p:cTn>
                              </p:par>
                              <p:par>
                                <p:cTn id="140" presetID="2" presetClass="entr" presetSubtype="4" fill="hold" nodeType="withEffect">
                                  <p:stCondLst>
                                    <p:cond delay="0"/>
                                  </p:stCondLst>
                                  <p:childTnLst>
                                    <p:set>
                                      <p:cBhvr>
                                        <p:cTn id="141" dur="1" fill="hold">
                                          <p:stCondLst>
                                            <p:cond delay="0"/>
                                          </p:stCondLst>
                                        </p:cTn>
                                        <p:tgtEl>
                                          <p:spTgt spid="86"/>
                                        </p:tgtEl>
                                        <p:attrNameLst>
                                          <p:attrName>style.visibility</p:attrName>
                                        </p:attrNameLst>
                                      </p:cBhvr>
                                      <p:to>
                                        <p:strVal val="visible"/>
                                      </p:to>
                                    </p:set>
                                    <p:anim calcmode="lin" valueType="num">
                                      <p:cBhvr additive="base">
                                        <p:cTn id="142" dur="500" fill="hold"/>
                                        <p:tgtEl>
                                          <p:spTgt spid="86"/>
                                        </p:tgtEl>
                                        <p:attrNameLst>
                                          <p:attrName>ppt_x</p:attrName>
                                        </p:attrNameLst>
                                      </p:cBhvr>
                                      <p:tavLst>
                                        <p:tav tm="0">
                                          <p:val>
                                            <p:strVal val="#ppt_x"/>
                                          </p:val>
                                        </p:tav>
                                        <p:tav tm="100000">
                                          <p:val>
                                            <p:strVal val="#ppt_x"/>
                                          </p:val>
                                        </p:tav>
                                      </p:tavLst>
                                    </p:anim>
                                    <p:anim calcmode="lin" valueType="num">
                                      <p:cBhvr additive="base">
                                        <p:cTn id="143" dur="500" fill="hold"/>
                                        <p:tgtEl>
                                          <p:spTgt spid="86"/>
                                        </p:tgtEl>
                                        <p:attrNameLst>
                                          <p:attrName>ppt_y</p:attrName>
                                        </p:attrNameLst>
                                      </p:cBhvr>
                                      <p:tavLst>
                                        <p:tav tm="0">
                                          <p:val>
                                            <p:strVal val="1+#ppt_h/2"/>
                                          </p:val>
                                        </p:tav>
                                        <p:tav tm="100000">
                                          <p:val>
                                            <p:strVal val="#ppt_y"/>
                                          </p:val>
                                        </p:tav>
                                      </p:tavLst>
                                    </p:anim>
                                  </p:childTnLst>
                                </p:cTn>
                              </p:par>
                            </p:childTnLst>
                          </p:cTn>
                        </p:par>
                      </p:childTnLst>
                    </p:cTn>
                  </p:par>
                  <p:par>
                    <p:cTn id="144" fill="hold">
                      <p:stCondLst>
                        <p:cond delay="indefinite"/>
                      </p:stCondLst>
                      <p:childTnLst>
                        <p:par>
                          <p:cTn id="145" fill="hold">
                            <p:stCondLst>
                              <p:cond delay="0"/>
                            </p:stCondLst>
                            <p:childTnLst>
                              <p:par>
                                <p:cTn id="146" presetID="3" presetClass="entr" presetSubtype="10" fill="hold" nodeType="clickEffect">
                                  <p:stCondLst>
                                    <p:cond delay="0"/>
                                  </p:stCondLst>
                                  <p:childTnLst>
                                    <p:set>
                                      <p:cBhvr>
                                        <p:cTn id="147" dur="1" fill="hold">
                                          <p:stCondLst>
                                            <p:cond delay="0"/>
                                          </p:stCondLst>
                                        </p:cTn>
                                        <p:tgtEl>
                                          <p:spTgt spid="98"/>
                                        </p:tgtEl>
                                        <p:attrNameLst>
                                          <p:attrName>style.visibility</p:attrName>
                                        </p:attrNameLst>
                                      </p:cBhvr>
                                      <p:to>
                                        <p:strVal val="visible"/>
                                      </p:to>
                                    </p:set>
                                    <p:animEffect transition="in" filter="blinds(horizontal)">
                                      <p:cBhvr>
                                        <p:cTn id="148" dur="500"/>
                                        <p:tgtEl>
                                          <p:spTgt spid="98"/>
                                        </p:tgtEl>
                                      </p:cBhvr>
                                    </p:animEffect>
                                  </p:childTnLst>
                                </p:cTn>
                              </p:par>
                            </p:childTnLst>
                          </p:cTn>
                        </p:par>
                      </p:childTnLst>
                    </p:cTn>
                  </p:par>
                  <p:par>
                    <p:cTn id="149" fill="hold">
                      <p:stCondLst>
                        <p:cond delay="indefinite"/>
                      </p:stCondLst>
                      <p:childTnLst>
                        <p:par>
                          <p:cTn id="150" fill="hold">
                            <p:stCondLst>
                              <p:cond delay="0"/>
                            </p:stCondLst>
                            <p:childTnLst>
                              <p:par>
                                <p:cTn id="151" presetID="3" presetClass="entr" presetSubtype="10" fill="hold" nodeType="clickEffect">
                                  <p:stCondLst>
                                    <p:cond delay="0"/>
                                  </p:stCondLst>
                                  <p:childTnLst>
                                    <p:set>
                                      <p:cBhvr>
                                        <p:cTn id="152" dur="1" fill="hold">
                                          <p:stCondLst>
                                            <p:cond delay="0"/>
                                          </p:stCondLst>
                                        </p:cTn>
                                        <p:tgtEl>
                                          <p:spTgt spid="99"/>
                                        </p:tgtEl>
                                        <p:attrNameLst>
                                          <p:attrName>style.visibility</p:attrName>
                                        </p:attrNameLst>
                                      </p:cBhvr>
                                      <p:to>
                                        <p:strVal val="visible"/>
                                      </p:to>
                                    </p:set>
                                    <p:animEffect transition="in" filter="blinds(horizontal)">
                                      <p:cBhvr>
                                        <p:cTn id="153" dur="500"/>
                                        <p:tgtEl>
                                          <p:spTgt spid="99"/>
                                        </p:tgtEl>
                                      </p:cBhvr>
                                    </p:animEffect>
                                  </p:childTnLst>
                                </p:cTn>
                              </p:par>
                            </p:childTnLst>
                          </p:cTn>
                        </p:par>
                      </p:childTnLst>
                    </p:cTn>
                  </p:par>
                  <p:par>
                    <p:cTn id="154" fill="hold">
                      <p:stCondLst>
                        <p:cond delay="indefinite"/>
                      </p:stCondLst>
                      <p:childTnLst>
                        <p:par>
                          <p:cTn id="155" fill="hold">
                            <p:stCondLst>
                              <p:cond delay="0"/>
                            </p:stCondLst>
                            <p:childTnLst>
                              <p:par>
                                <p:cTn id="156" presetID="3" presetClass="entr" presetSubtype="10" fill="hold" nodeType="clickEffect">
                                  <p:stCondLst>
                                    <p:cond delay="0"/>
                                  </p:stCondLst>
                                  <p:childTnLst>
                                    <p:set>
                                      <p:cBhvr>
                                        <p:cTn id="157" dur="1" fill="hold">
                                          <p:stCondLst>
                                            <p:cond delay="0"/>
                                          </p:stCondLst>
                                        </p:cTn>
                                        <p:tgtEl>
                                          <p:spTgt spid="118"/>
                                        </p:tgtEl>
                                        <p:attrNameLst>
                                          <p:attrName>style.visibility</p:attrName>
                                        </p:attrNameLst>
                                      </p:cBhvr>
                                      <p:to>
                                        <p:strVal val="visible"/>
                                      </p:to>
                                    </p:set>
                                    <p:animEffect transition="in" filter="blinds(horizontal)">
                                      <p:cBhvr>
                                        <p:cTn id="158" dur="500"/>
                                        <p:tgtEl>
                                          <p:spTgt spid="118"/>
                                        </p:tgtEl>
                                      </p:cBhvr>
                                    </p:animEffect>
                                  </p:childTnLst>
                                </p:cTn>
                              </p:par>
                            </p:childTnLst>
                          </p:cTn>
                        </p:par>
                      </p:childTnLst>
                    </p:cTn>
                  </p:par>
                  <p:par>
                    <p:cTn id="159" fill="hold">
                      <p:stCondLst>
                        <p:cond delay="indefinite"/>
                      </p:stCondLst>
                      <p:childTnLst>
                        <p:par>
                          <p:cTn id="160" fill="hold">
                            <p:stCondLst>
                              <p:cond delay="0"/>
                            </p:stCondLst>
                            <p:childTnLst>
                              <p:par>
                                <p:cTn id="161" presetID="3" presetClass="entr" presetSubtype="10" fill="hold" grpId="0" nodeType="clickEffect">
                                  <p:stCondLst>
                                    <p:cond delay="0"/>
                                  </p:stCondLst>
                                  <p:childTnLst>
                                    <p:set>
                                      <p:cBhvr>
                                        <p:cTn id="162" dur="1" fill="hold">
                                          <p:stCondLst>
                                            <p:cond delay="0"/>
                                          </p:stCondLst>
                                        </p:cTn>
                                        <p:tgtEl>
                                          <p:spTgt spid="120"/>
                                        </p:tgtEl>
                                        <p:attrNameLst>
                                          <p:attrName>style.visibility</p:attrName>
                                        </p:attrNameLst>
                                      </p:cBhvr>
                                      <p:to>
                                        <p:strVal val="visible"/>
                                      </p:to>
                                    </p:set>
                                    <p:animEffect transition="in" filter="blinds(horizontal)">
                                      <p:cBhvr>
                                        <p:cTn id="163" dur="500"/>
                                        <p:tgtEl>
                                          <p:spTgt spid="120"/>
                                        </p:tgtEl>
                                      </p:cBhvr>
                                    </p:animEffect>
                                  </p:childTnLst>
                                </p:cTn>
                              </p:par>
                              <p:par>
                                <p:cTn id="164" presetID="3" presetClass="entr" presetSubtype="10" fill="hold" grpId="0" nodeType="withEffect">
                                  <p:stCondLst>
                                    <p:cond delay="0"/>
                                  </p:stCondLst>
                                  <p:childTnLst>
                                    <p:set>
                                      <p:cBhvr>
                                        <p:cTn id="165" dur="1" fill="hold">
                                          <p:stCondLst>
                                            <p:cond delay="0"/>
                                          </p:stCondLst>
                                        </p:cTn>
                                        <p:tgtEl>
                                          <p:spTgt spid="121"/>
                                        </p:tgtEl>
                                        <p:attrNameLst>
                                          <p:attrName>style.visibility</p:attrName>
                                        </p:attrNameLst>
                                      </p:cBhvr>
                                      <p:to>
                                        <p:strVal val="visible"/>
                                      </p:to>
                                    </p:set>
                                    <p:animEffect transition="in" filter="blinds(horizontal)">
                                      <p:cBhvr>
                                        <p:cTn id="166" dur="500"/>
                                        <p:tgtEl>
                                          <p:spTgt spid="121"/>
                                        </p:tgtEl>
                                      </p:cBhvr>
                                    </p:animEffect>
                                  </p:childTnLst>
                                </p:cTn>
                              </p:par>
                            </p:childTnLst>
                          </p:cTn>
                        </p:par>
                      </p:childTnLst>
                    </p:cTn>
                  </p:par>
                  <p:par>
                    <p:cTn id="167" fill="hold">
                      <p:stCondLst>
                        <p:cond delay="indefinite"/>
                      </p:stCondLst>
                      <p:childTnLst>
                        <p:par>
                          <p:cTn id="168" fill="hold">
                            <p:stCondLst>
                              <p:cond delay="0"/>
                            </p:stCondLst>
                            <p:childTnLst>
                              <p:par>
                                <p:cTn id="169" presetID="3" presetClass="entr" presetSubtype="10" fill="hold" grpId="0" nodeType="clickEffect">
                                  <p:stCondLst>
                                    <p:cond delay="0"/>
                                  </p:stCondLst>
                                  <p:childTnLst>
                                    <p:set>
                                      <p:cBhvr>
                                        <p:cTn id="170" dur="1" fill="hold">
                                          <p:stCondLst>
                                            <p:cond delay="0"/>
                                          </p:stCondLst>
                                        </p:cTn>
                                        <p:tgtEl>
                                          <p:spTgt spid="123"/>
                                        </p:tgtEl>
                                        <p:attrNameLst>
                                          <p:attrName>style.visibility</p:attrName>
                                        </p:attrNameLst>
                                      </p:cBhvr>
                                      <p:to>
                                        <p:strVal val="visible"/>
                                      </p:to>
                                    </p:set>
                                    <p:animEffect transition="in" filter="blinds(horizontal)">
                                      <p:cBhvr>
                                        <p:cTn id="171" dur="500"/>
                                        <p:tgtEl>
                                          <p:spTgt spid="123"/>
                                        </p:tgtEl>
                                      </p:cBhvr>
                                    </p:animEffect>
                                  </p:childTnLst>
                                </p:cTn>
                              </p:par>
                              <p:par>
                                <p:cTn id="172" presetID="3" presetClass="entr" presetSubtype="10" fill="hold" nodeType="withEffect">
                                  <p:stCondLst>
                                    <p:cond delay="0"/>
                                  </p:stCondLst>
                                  <p:childTnLst>
                                    <p:set>
                                      <p:cBhvr>
                                        <p:cTn id="173" dur="1" fill="hold">
                                          <p:stCondLst>
                                            <p:cond delay="0"/>
                                          </p:stCondLst>
                                        </p:cTn>
                                        <p:tgtEl>
                                          <p:spTgt spid="124"/>
                                        </p:tgtEl>
                                        <p:attrNameLst>
                                          <p:attrName>style.visibility</p:attrName>
                                        </p:attrNameLst>
                                      </p:cBhvr>
                                      <p:to>
                                        <p:strVal val="visible"/>
                                      </p:to>
                                    </p:set>
                                    <p:animEffect transition="in" filter="blinds(horizontal)">
                                      <p:cBhvr>
                                        <p:cTn id="174" dur="500"/>
                                        <p:tgtEl>
                                          <p:spTgt spid="124"/>
                                        </p:tgtEl>
                                      </p:cBhvr>
                                    </p:animEffect>
                                  </p:childTnLst>
                                </p:cTn>
                              </p:par>
                            </p:childTnLst>
                          </p:cTn>
                        </p:par>
                      </p:childTnLst>
                    </p:cTn>
                  </p:par>
                  <p:par>
                    <p:cTn id="175" fill="hold">
                      <p:stCondLst>
                        <p:cond delay="indefinite"/>
                      </p:stCondLst>
                      <p:childTnLst>
                        <p:par>
                          <p:cTn id="176" fill="hold">
                            <p:stCondLst>
                              <p:cond delay="0"/>
                            </p:stCondLst>
                            <p:childTnLst>
                              <p:par>
                                <p:cTn id="177" presetID="3" presetClass="entr" presetSubtype="10" fill="hold" nodeType="clickEffect">
                                  <p:stCondLst>
                                    <p:cond delay="0"/>
                                  </p:stCondLst>
                                  <p:childTnLst>
                                    <p:set>
                                      <p:cBhvr>
                                        <p:cTn id="178" dur="1" fill="hold">
                                          <p:stCondLst>
                                            <p:cond delay="0"/>
                                          </p:stCondLst>
                                        </p:cTn>
                                        <p:tgtEl>
                                          <p:spTgt spid="137"/>
                                        </p:tgtEl>
                                        <p:attrNameLst>
                                          <p:attrName>style.visibility</p:attrName>
                                        </p:attrNameLst>
                                      </p:cBhvr>
                                      <p:to>
                                        <p:strVal val="visible"/>
                                      </p:to>
                                    </p:set>
                                    <p:animEffect transition="in" filter="blinds(horizontal)">
                                      <p:cBhvr>
                                        <p:cTn id="179" dur="500"/>
                                        <p:tgtEl>
                                          <p:spTgt spid="137"/>
                                        </p:tgtEl>
                                      </p:cBhvr>
                                    </p:animEffect>
                                  </p:childTnLst>
                                </p:cTn>
                              </p:par>
                            </p:childTnLst>
                          </p:cTn>
                        </p:par>
                      </p:childTnLst>
                    </p:cTn>
                  </p:par>
                  <p:par>
                    <p:cTn id="180" fill="hold">
                      <p:stCondLst>
                        <p:cond delay="indefinite"/>
                      </p:stCondLst>
                      <p:childTnLst>
                        <p:par>
                          <p:cTn id="181" fill="hold">
                            <p:stCondLst>
                              <p:cond delay="0"/>
                            </p:stCondLst>
                            <p:childTnLst>
                              <p:par>
                                <p:cTn id="182" presetID="3" presetClass="entr" presetSubtype="10" fill="hold" grpId="0" nodeType="clickEffect">
                                  <p:stCondLst>
                                    <p:cond delay="0"/>
                                  </p:stCondLst>
                                  <p:childTnLst>
                                    <p:set>
                                      <p:cBhvr>
                                        <p:cTn id="183" dur="1" fill="hold">
                                          <p:stCondLst>
                                            <p:cond delay="0"/>
                                          </p:stCondLst>
                                        </p:cTn>
                                        <p:tgtEl>
                                          <p:spTgt spid="127"/>
                                        </p:tgtEl>
                                        <p:attrNameLst>
                                          <p:attrName>style.visibility</p:attrName>
                                        </p:attrNameLst>
                                      </p:cBhvr>
                                      <p:to>
                                        <p:strVal val="visible"/>
                                      </p:to>
                                    </p:set>
                                    <p:animEffect transition="in" filter="blinds(horizontal)">
                                      <p:cBhvr>
                                        <p:cTn id="184" dur="500"/>
                                        <p:tgtEl>
                                          <p:spTgt spid="127"/>
                                        </p:tgtEl>
                                      </p:cBhvr>
                                    </p:animEffect>
                                  </p:childTnLst>
                                </p:cTn>
                              </p:par>
                              <p:par>
                                <p:cTn id="185" presetID="3" presetClass="entr" presetSubtype="10" fill="hold" grpId="0" nodeType="withEffect">
                                  <p:stCondLst>
                                    <p:cond delay="0"/>
                                  </p:stCondLst>
                                  <p:childTnLst>
                                    <p:set>
                                      <p:cBhvr>
                                        <p:cTn id="186" dur="1" fill="hold">
                                          <p:stCondLst>
                                            <p:cond delay="0"/>
                                          </p:stCondLst>
                                        </p:cTn>
                                        <p:tgtEl>
                                          <p:spTgt spid="128"/>
                                        </p:tgtEl>
                                        <p:attrNameLst>
                                          <p:attrName>style.visibility</p:attrName>
                                        </p:attrNameLst>
                                      </p:cBhvr>
                                      <p:to>
                                        <p:strVal val="visible"/>
                                      </p:to>
                                    </p:set>
                                    <p:animEffect transition="in" filter="blinds(horizontal)">
                                      <p:cBhvr>
                                        <p:cTn id="187" dur="500"/>
                                        <p:tgtEl>
                                          <p:spTgt spid="128"/>
                                        </p:tgtEl>
                                      </p:cBhvr>
                                    </p:animEffect>
                                  </p:childTnLst>
                                </p:cTn>
                              </p:par>
                            </p:childTnLst>
                          </p:cTn>
                        </p:par>
                      </p:childTnLst>
                    </p:cTn>
                  </p:par>
                  <p:par>
                    <p:cTn id="188" fill="hold">
                      <p:stCondLst>
                        <p:cond delay="indefinite"/>
                      </p:stCondLst>
                      <p:childTnLst>
                        <p:par>
                          <p:cTn id="189" fill="hold">
                            <p:stCondLst>
                              <p:cond delay="0"/>
                            </p:stCondLst>
                            <p:childTnLst>
                              <p:par>
                                <p:cTn id="190" presetID="3" presetClass="entr" presetSubtype="10" fill="hold" grpId="0" nodeType="clickEffect">
                                  <p:stCondLst>
                                    <p:cond delay="0"/>
                                  </p:stCondLst>
                                  <p:childTnLst>
                                    <p:set>
                                      <p:cBhvr>
                                        <p:cTn id="191" dur="1" fill="hold">
                                          <p:stCondLst>
                                            <p:cond delay="0"/>
                                          </p:stCondLst>
                                        </p:cTn>
                                        <p:tgtEl>
                                          <p:spTgt spid="129"/>
                                        </p:tgtEl>
                                        <p:attrNameLst>
                                          <p:attrName>style.visibility</p:attrName>
                                        </p:attrNameLst>
                                      </p:cBhvr>
                                      <p:to>
                                        <p:strVal val="visible"/>
                                      </p:to>
                                    </p:set>
                                    <p:animEffect transition="in" filter="blinds(horizontal)">
                                      <p:cBhvr>
                                        <p:cTn id="192" dur="500"/>
                                        <p:tgtEl>
                                          <p:spTgt spid="129"/>
                                        </p:tgtEl>
                                      </p:cBhvr>
                                    </p:animEffect>
                                  </p:childTnLst>
                                </p:cTn>
                              </p:par>
                              <p:par>
                                <p:cTn id="193" presetID="3" presetClass="entr" presetSubtype="10" fill="hold" grpId="0" nodeType="withEffect">
                                  <p:stCondLst>
                                    <p:cond delay="0"/>
                                  </p:stCondLst>
                                  <p:childTnLst>
                                    <p:set>
                                      <p:cBhvr>
                                        <p:cTn id="194" dur="1" fill="hold">
                                          <p:stCondLst>
                                            <p:cond delay="0"/>
                                          </p:stCondLst>
                                        </p:cTn>
                                        <p:tgtEl>
                                          <p:spTgt spid="130"/>
                                        </p:tgtEl>
                                        <p:attrNameLst>
                                          <p:attrName>style.visibility</p:attrName>
                                        </p:attrNameLst>
                                      </p:cBhvr>
                                      <p:to>
                                        <p:strVal val="visible"/>
                                      </p:to>
                                    </p:set>
                                    <p:animEffect transition="in" filter="blinds(horizontal)">
                                      <p:cBhvr>
                                        <p:cTn id="195" dur="500"/>
                                        <p:tgtEl>
                                          <p:spTgt spid="130"/>
                                        </p:tgtEl>
                                      </p:cBhvr>
                                    </p:animEffect>
                                  </p:childTnLst>
                                </p:cTn>
                              </p:par>
                            </p:childTnLst>
                          </p:cTn>
                        </p:par>
                      </p:childTnLst>
                    </p:cTn>
                  </p:par>
                  <p:par>
                    <p:cTn id="196" fill="hold">
                      <p:stCondLst>
                        <p:cond delay="indefinite"/>
                      </p:stCondLst>
                      <p:childTnLst>
                        <p:par>
                          <p:cTn id="197" fill="hold">
                            <p:stCondLst>
                              <p:cond delay="0"/>
                            </p:stCondLst>
                            <p:childTnLst>
                              <p:par>
                                <p:cTn id="198" presetID="3" presetClass="entr" presetSubtype="10" fill="hold" nodeType="clickEffect">
                                  <p:stCondLst>
                                    <p:cond delay="0"/>
                                  </p:stCondLst>
                                  <p:childTnLst>
                                    <p:set>
                                      <p:cBhvr>
                                        <p:cTn id="199" dur="1" fill="hold">
                                          <p:stCondLst>
                                            <p:cond delay="0"/>
                                          </p:stCondLst>
                                        </p:cTn>
                                        <p:tgtEl>
                                          <p:spTgt spid="140"/>
                                        </p:tgtEl>
                                        <p:attrNameLst>
                                          <p:attrName>style.visibility</p:attrName>
                                        </p:attrNameLst>
                                      </p:cBhvr>
                                      <p:to>
                                        <p:strVal val="visible"/>
                                      </p:to>
                                    </p:set>
                                    <p:animEffect transition="in" filter="blinds(horizontal)">
                                      <p:cBhvr>
                                        <p:cTn id="200" dur="500"/>
                                        <p:tgtEl>
                                          <p:spTgt spid="140"/>
                                        </p:tgtEl>
                                      </p:cBhvr>
                                    </p:animEffect>
                                  </p:childTnLst>
                                </p:cTn>
                              </p:par>
                            </p:childTnLst>
                          </p:cTn>
                        </p:par>
                      </p:childTnLst>
                    </p:cTn>
                  </p:par>
                  <p:par>
                    <p:cTn id="201" fill="hold">
                      <p:stCondLst>
                        <p:cond delay="indefinite"/>
                      </p:stCondLst>
                      <p:childTnLst>
                        <p:par>
                          <p:cTn id="202" fill="hold">
                            <p:stCondLst>
                              <p:cond delay="0"/>
                            </p:stCondLst>
                            <p:childTnLst>
                              <p:par>
                                <p:cTn id="203" presetID="3" presetClass="entr" presetSubtype="10" fill="hold" grpId="0" nodeType="clickEffect">
                                  <p:stCondLst>
                                    <p:cond delay="0"/>
                                  </p:stCondLst>
                                  <p:childTnLst>
                                    <p:set>
                                      <p:cBhvr>
                                        <p:cTn id="204" dur="1" fill="hold">
                                          <p:stCondLst>
                                            <p:cond delay="0"/>
                                          </p:stCondLst>
                                        </p:cTn>
                                        <p:tgtEl>
                                          <p:spTgt spid="131"/>
                                        </p:tgtEl>
                                        <p:attrNameLst>
                                          <p:attrName>style.visibility</p:attrName>
                                        </p:attrNameLst>
                                      </p:cBhvr>
                                      <p:to>
                                        <p:strVal val="visible"/>
                                      </p:to>
                                    </p:set>
                                    <p:animEffect transition="in" filter="blinds(horizontal)">
                                      <p:cBhvr>
                                        <p:cTn id="205" dur="500"/>
                                        <p:tgtEl>
                                          <p:spTgt spid="131"/>
                                        </p:tgtEl>
                                      </p:cBhvr>
                                    </p:animEffect>
                                  </p:childTnLst>
                                </p:cTn>
                              </p:par>
                              <p:par>
                                <p:cTn id="206" presetID="3" presetClass="entr" presetSubtype="10" fill="hold" grpId="0" nodeType="withEffect">
                                  <p:stCondLst>
                                    <p:cond delay="0"/>
                                  </p:stCondLst>
                                  <p:childTnLst>
                                    <p:set>
                                      <p:cBhvr>
                                        <p:cTn id="207" dur="1" fill="hold">
                                          <p:stCondLst>
                                            <p:cond delay="0"/>
                                          </p:stCondLst>
                                        </p:cTn>
                                        <p:tgtEl>
                                          <p:spTgt spid="132"/>
                                        </p:tgtEl>
                                        <p:attrNameLst>
                                          <p:attrName>style.visibility</p:attrName>
                                        </p:attrNameLst>
                                      </p:cBhvr>
                                      <p:to>
                                        <p:strVal val="visible"/>
                                      </p:to>
                                    </p:set>
                                    <p:animEffect transition="in" filter="blinds(horizontal)">
                                      <p:cBhvr>
                                        <p:cTn id="208" dur="500"/>
                                        <p:tgtEl>
                                          <p:spTgt spid="132"/>
                                        </p:tgtEl>
                                      </p:cBhvr>
                                    </p:animEffect>
                                  </p:childTnLst>
                                </p:cTn>
                              </p:par>
                            </p:childTnLst>
                          </p:cTn>
                        </p:par>
                      </p:childTnLst>
                    </p:cTn>
                  </p:par>
                  <p:par>
                    <p:cTn id="209" fill="hold">
                      <p:stCondLst>
                        <p:cond delay="indefinite"/>
                      </p:stCondLst>
                      <p:childTnLst>
                        <p:par>
                          <p:cTn id="210" fill="hold">
                            <p:stCondLst>
                              <p:cond delay="0"/>
                            </p:stCondLst>
                            <p:childTnLst>
                              <p:par>
                                <p:cTn id="211" presetID="3" presetClass="entr" presetSubtype="10" fill="hold" grpId="0" nodeType="clickEffect">
                                  <p:stCondLst>
                                    <p:cond delay="0"/>
                                  </p:stCondLst>
                                  <p:childTnLst>
                                    <p:set>
                                      <p:cBhvr>
                                        <p:cTn id="212" dur="1" fill="hold">
                                          <p:stCondLst>
                                            <p:cond delay="0"/>
                                          </p:stCondLst>
                                        </p:cTn>
                                        <p:tgtEl>
                                          <p:spTgt spid="133"/>
                                        </p:tgtEl>
                                        <p:attrNameLst>
                                          <p:attrName>style.visibility</p:attrName>
                                        </p:attrNameLst>
                                      </p:cBhvr>
                                      <p:to>
                                        <p:strVal val="visible"/>
                                      </p:to>
                                    </p:set>
                                    <p:animEffect transition="in" filter="blinds(horizontal)">
                                      <p:cBhvr>
                                        <p:cTn id="213" dur="500"/>
                                        <p:tgtEl>
                                          <p:spTgt spid="133"/>
                                        </p:tgtEl>
                                      </p:cBhvr>
                                    </p:animEffect>
                                  </p:childTnLst>
                                </p:cTn>
                              </p:par>
                              <p:par>
                                <p:cTn id="214" presetID="3" presetClass="entr" presetSubtype="10" fill="hold" grpId="0" nodeType="withEffect">
                                  <p:stCondLst>
                                    <p:cond delay="0"/>
                                  </p:stCondLst>
                                  <p:childTnLst>
                                    <p:set>
                                      <p:cBhvr>
                                        <p:cTn id="215" dur="1" fill="hold">
                                          <p:stCondLst>
                                            <p:cond delay="0"/>
                                          </p:stCondLst>
                                        </p:cTn>
                                        <p:tgtEl>
                                          <p:spTgt spid="134"/>
                                        </p:tgtEl>
                                        <p:attrNameLst>
                                          <p:attrName>style.visibility</p:attrName>
                                        </p:attrNameLst>
                                      </p:cBhvr>
                                      <p:to>
                                        <p:strVal val="visible"/>
                                      </p:to>
                                    </p:set>
                                    <p:animEffect transition="in" filter="blinds(horizontal)">
                                      <p:cBhvr>
                                        <p:cTn id="216" dur="500"/>
                                        <p:tgtEl>
                                          <p:spTgt spid="134"/>
                                        </p:tgtEl>
                                      </p:cBhvr>
                                    </p:animEffect>
                                  </p:childTnLst>
                                </p:cTn>
                              </p:par>
                            </p:childTnLst>
                          </p:cTn>
                        </p:par>
                      </p:childTnLst>
                    </p:cTn>
                  </p:par>
                  <p:par>
                    <p:cTn id="217" fill="hold">
                      <p:stCondLst>
                        <p:cond delay="indefinite"/>
                      </p:stCondLst>
                      <p:childTnLst>
                        <p:par>
                          <p:cTn id="218" fill="hold">
                            <p:stCondLst>
                              <p:cond delay="0"/>
                            </p:stCondLst>
                            <p:childTnLst>
                              <p:par>
                                <p:cTn id="219" presetID="3" presetClass="entr" presetSubtype="10" fill="hold" nodeType="clickEffect">
                                  <p:stCondLst>
                                    <p:cond delay="0"/>
                                  </p:stCondLst>
                                  <p:childTnLst>
                                    <p:set>
                                      <p:cBhvr>
                                        <p:cTn id="220" dur="1" fill="hold">
                                          <p:stCondLst>
                                            <p:cond delay="0"/>
                                          </p:stCondLst>
                                        </p:cTn>
                                        <p:tgtEl>
                                          <p:spTgt spid="141"/>
                                        </p:tgtEl>
                                        <p:attrNameLst>
                                          <p:attrName>style.visibility</p:attrName>
                                        </p:attrNameLst>
                                      </p:cBhvr>
                                      <p:to>
                                        <p:strVal val="visible"/>
                                      </p:to>
                                    </p:set>
                                    <p:animEffect transition="in" filter="blinds(horizontal)">
                                      <p:cBhvr>
                                        <p:cTn id="221" dur="500"/>
                                        <p:tgtEl>
                                          <p:spTgt spid="141"/>
                                        </p:tgtEl>
                                      </p:cBhvr>
                                    </p:animEffect>
                                  </p:childTnLst>
                                </p:cTn>
                              </p:par>
                            </p:childTnLst>
                          </p:cTn>
                        </p:par>
                      </p:childTnLst>
                    </p:cTn>
                  </p:par>
                  <p:par>
                    <p:cTn id="222" fill="hold">
                      <p:stCondLst>
                        <p:cond delay="indefinite"/>
                      </p:stCondLst>
                      <p:childTnLst>
                        <p:par>
                          <p:cTn id="223" fill="hold">
                            <p:stCondLst>
                              <p:cond delay="0"/>
                            </p:stCondLst>
                            <p:childTnLst>
                              <p:par>
                                <p:cTn id="224" presetID="3" presetClass="entr" presetSubtype="10" fill="hold" grpId="0" nodeType="clickEffect">
                                  <p:stCondLst>
                                    <p:cond delay="0"/>
                                  </p:stCondLst>
                                  <p:childTnLst>
                                    <p:set>
                                      <p:cBhvr>
                                        <p:cTn id="225" dur="1" fill="hold">
                                          <p:stCondLst>
                                            <p:cond delay="0"/>
                                          </p:stCondLst>
                                        </p:cTn>
                                        <p:tgtEl>
                                          <p:spTgt spid="135"/>
                                        </p:tgtEl>
                                        <p:attrNameLst>
                                          <p:attrName>style.visibility</p:attrName>
                                        </p:attrNameLst>
                                      </p:cBhvr>
                                      <p:to>
                                        <p:strVal val="visible"/>
                                      </p:to>
                                    </p:set>
                                    <p:animEffect transition="in" filter="blinds(horizontal)">
                                      <p:cBhvr>
                                        <p:cTn id="226" dur="500"/>
                                        <p:tgtEl>
                                          <p:spTgt spid="135"/>
                                        </p:tgtEl>
                                      </p:cBhvr>
                                    </p:animEffect>
                                  </p:childTnLst>
                                </p:cTn>
                              </p:par>
                              <p:par>
                                <p:cTn id="227" presetID="3" presetClass="entr" presetSubtype="10" fill="hold" grpId="0" nodeType="withEffect">
                                  <p:stCondLst>
                                    <p:cond delay="0"/>
                                  </p:stCondLst>
                                  <p:childTnLst>
                                    <p:set>
                                      <p:cBhvr>
                                        <p:cTn id="228" dur="1" fill="hold">
                                          <p:stCondLst>
                                            <p:cond delay="0"/>
                                          </p:stCondLst>
                                        </p:cTn>
                                        <p:tgtEl>
                                          <p:spTgt spid="136"/>
                                        </p:tgtEl>
                                        <p:attrNameLst>
                                          <p:attrName>style.visibility</p:attrName>
                                        </p:attrNameLst>
                                      </p:cBhvr>
                                      <p:to>
                                        <p:strVal val="visible"/>
                                      </p:to>
                                    </p:set>
                                    <p:animEffect transition="in" filter="blinds(horizontal)">
                                      <p:cBhvr>
                                        <p:cTn id="229" dur="500"/>
                                        <p:tgtEl>
                                          <p:spTgt spid="136"/>
                                        </p:tgtEl>
                                      </p:cBhvr>
                                    </p:animEffect>
                                  </p:childTnLst>
                                </p:cTn>
                              </p:par>
                            </p:childTnLst>
                          </p:cTn>
                        </p:par>
                      </p:childTnLst>
                    </p:cTn>
                  </p:par>
                  <p:par>
                    <p:cTn id="230" fill="hold">
                      <p:stCondLst>
                        <p:cond delay="indefinite"/>
                      </p:stCondLst>
                      <p:childTnLst>
                        <p:par>
                          <p:cTn id="231" fill="hold">
                            <p:stCondLst>
                              <p:cond delay="0"/>
                            </p:stCondLst>
                            <p:childTnLst>
                              <p:par>
                                <p:cTn id="232" presetID="2" presetClass="entr" presetSubtype="4" fill="hold" nodeType="clickEffect">
                                  <p:stCondLst>
                                    <p:cond delay="0"/>
                                  </p:stCondLst>
                                  <p:childTnLst>
                                    <p:set>
                                      <p:cBhvr>
                                        <p:cTn id="233" dur="1" fill="hold">
                                          <p:stCondLst>
                                            <p:cond delay="0"/>
                                          </p:stCondLst>
                                        </p:cTn>
                                        <p:tgtEl>
                                          <p:spTgt spid="59"/>
                                        </p:tgtEl>
                                        <p:attrNameLst>
                                          <p:attrName>style.visibility</p:attrName>
                                        </p:attrNameLst>
                                      </p:cBhvr>
                                      <p:to>
                                        <p:strVal val="visible"/>
                                      </p:to>
                                    </p:set>
                                    <p:anim calcmode="lin" valueType="num">
                                      <p:cBhvr additive="base">
                                        <p:cTn id="234" dur="500" fill="hold"/>
                                        <p:tgtEl>
                                          <p:spTgt spid="59"/>
                                        </p:tgtEl>
                                        <p:attrNameLst>
                                          <p:attrName>ppt_x</p:attrName>
                                        </p:attrNameLst>
                                      </p:cBhvr>
                                      <p:tavLst>
                                        <p:tav tm="0">
                                          <p:val>
                                            <p:strVal val="#ppt_x"/>
                                          </p:val>
                                        </p:tav>
                                        <p:tav tm="100000">
                                          <p:val>
                                            <p:strVal val="#ppt_x"/>
                                          </p:val>
                                        </p:tav>
                                      </p:tavLst>
                                    </p:anim>
                                    <p:anim calcmode="lin" valueType="num">
                                      <p:cBhvr additive="base">
                                        <p:cTn id="235" dur="500" fill="hold"/>
                                        <p:tgtEl>
                                          <p:spTgt spid="59"/>
                                        </p:tgtEl>
                                        <p:attrNameLst>
                                          <p:attrName>ppt_y</p:attrName>
                                        </p:attrNameLst>
                                      </p:cBhvr>
                                      <p:tavLst>
                                        <p:tav tm="0">
                                          <p:val>
                                            <p:strVal val="1+#ppt_h/2"/>
                                          </p:val>
                                        </p:tav>
                                        <p:tav tm="100000">
                                          <p:val>
                                            <p:strVal val="#ppt_y"/>
                                          </p:val>
                                        </p:tav>
                                      </p:tavLst>
                                    </p:anim>
                                  </p:childTnLst>
                                </p:cTn>
                              </p:par>
                              <p:par>
                                <p:cTn id="236" presetID="2" presetClass="entr" presetSubtype="4" fill="hold" nodeType="withEffect">
                                  <p:stCondLst>
                                    <p:cond delay="0"/>
                                  </p:stCondLst>
                                  <p:childTnLst>
                                    <p:set>
                                      <p:cBhvr>
                                        <p:cTn id="237" dur="1" fill="hold">
                                          <p:stCondLst>
                                            <p:cond delay="0"/>
                                          </p:stCondLst>
                                        </p:cTn>
                                        <p:tgtEl>
                                          <p:spTgt spid="63"/>
                                        </p:tgtEl>
                                        <p:attrNameLst>
                                          <p:attrName>style.visibility</p:attrName>
                                        </p:attrNameLst>
                                      </p:cBhvr>
                                      <p:to>
                                        <p:strVal val="visible"/>
                                      </p:to>
                                    </p:set>
                                    <p:anim calcmode="lin" valueType="num">
                                      <p:cBhvr additive="base">
                                        <p:cTn id="238" dur="500" fill="hold"/>
                                        <p:tgtEl>
                                          <p:spTgt spid="63"/>
                                        </p:tgtEl>
                                        <p:attrNameLst>
                                          <p:attrName>ppt_x</p:attrName>
                                        </p:attrNameLst>
                                      </p:cBhvr>
                                      <p:tavLst>
                                        <p:tav tm="0">
                                          <p:val>
                                            <p:strVal val="#ppt_x"/>
                                          </p:val>
                                        </p:tav>
                                        <p:tav tm="100000">
                                          <p:val>
                                            <p:strVal val="#ppt_x"/>
                                          </p:val>
                                        </p:tav>
                                      </p:tavLst>
                                    </p:anim>
                                    <p:anim calcmode="lin" valueType="num">
                                      <p:cBhvr additive="base">
                                        <p:cTn id="239" dur="500" fill="hold"/>
                                        <p:tgtEl>
                                          <p:spTgt spid="63"/>
                                        </p:tgtEl>
                                        <p:attrNameLst>
                                          <p:attrName>ppt_y</p:attrName>
                                        </p:attrNameLst>
                                      </p:cBhvr>
                                      <p:tavLst>
                                        <p:tav tm="0">
                                          <p:val>
                                            <p:strVal val="1+#ppt_h/2"/>
                                          </p:val>
                                        </p:tav>
                                        <p:tav tm="100000">
                                          <p:val>
                                            <p:strVal val="#ppt_y"/>
                                          </p:val>
                                        </p:tav>
                                      </p:tavLst>
                                    </p:anim>
                                  </p:childTnLst>
                                </p:cTn>
                              </p:par>
                              <p:par>
                                <p:cTn id="240" presetID="2" presetClass="entr" presetSubtype="4" fill="hold" grpId="0" nodeType="withEffect">
                                  <p:stCondLst>
                                    <p:cond delay="0"/>
                                  </p:stCondLst>
                                  <p:childTnLst>
                                    <p:set>
                                      <p:cBhvr>
                                        <p:cTn id="241" dur="1" fill="hold">
                                          <p:stCondLst>
                                            <p:cond delay="0"/>
                                          </p:stCondLst>
                                        </p:cTn>
                                        <p:tgtEl>
                                          <p:spTgt spid="65"/>
                                        </p:tgtEl>
                                        <p:attrNameLst>
                                          <p:attrName>style.visibility</p:attrName>
                                        </p:attrNameLst>
                                      </p:cBhvr>
                                      <p:to>
                                        <p:strVal val="visible"/>
                                      </p:to>
                                    </p:set>
                                    <p:anim calcmode="lin" valueType="num">
                                      <p:cBhvr additive="base">
                                        <p:cTn id="242" dur="500" fill="hold"/>
                                        <p:tgtEl>
                                          <p:spTgt spid="65"/>
                                        </p:tgtEl>
                                        <p:attrNameLst>
                                          <p:attrName>ppt_x</p:attrName>
                                        </p:attrNameLst>
                                      </p:cBhvr>
                                      <p:tavLst>
                                        <p:tav tm="0">
                                          <p:val>
                                            <p:strVal val="#ppt_x"/>
                                          </p:val>
                                        </p:tav>
                                        <p:tav tm="100000">
                                          <p:val>
                                            <p:strVal val="#ppt_x"/>
                                          </p:val>
                                        </p:tav>
                                      </p:tavLst>
                                    </p:anim>
                                    <p:anim calcmode="lin" valueType="num">
                                      <p:cBhvr additive="base">
                                        <p:cTn id="243" dur="500" fill="hold"/>
                                        <p:tgtEl>
                                          <p:spTgt spid="65"/>
                                        </p:tgtEl>
                                        <p:attrNameLst>
                                          <p:attrName>ppt_y</p:attrName>
                                        </p:attrNameLst>
                                      </p:cBhvr>
                                      <p:tavLst>
                                        <p:tav tm="0">
                                          <p:val>
                                            <p:strVal val="1+#ppt_h/2"/>
                                          </p:val>
                                        </p:tav>
                                        <p:tav tm="100000">
                                          <p:val>
                                            <p:strVal val="#ppt_y"/>
                                          </p:val>
                                        </p:tav>
                                      </p:tavLst>
                                    </p:anim>
                                  </p:childTnLst>
                                </p:cTn>
                              </p:par>
                              <p:par>
                                <p:cTn id="244" presetID="2" presetClass="entr" presetSubtype="4" fill="hold" nodeType="withEffect">
                                  <p:stCondLst>
                                    <p:cond delay="0"/>
                                  </p:stCondLst>
                                  <p:childTnLst>
                                    <p:set>
                                      <p:cBhvr>
                                        <p:cTn id="245" dur="1" fill="hold">
                                          <p:stCondLst>
                                            <p:cond delay="0"/>
                                          </p:stCondLst>
                                        </p:cTn>
                                        <p:tgtEl>
                                          <p:spTgt spid="67"/>
                                        </p:tgtEl>
                                        <p:attrNameLst>
                                          <p:attrName>style.visibility</p:attrName>
                                        </p:attrNameLst>
                                      </p:cBhvr>
                                      <p:to>
                                        <p:strVal val="visible"/>
                                      </p:to>
                                    </p:set>
                                    <p:anim calcmode="lin" valueType="num">
                                      <p:cBhvr additive="base">
                                        <p:cTn id="246" dur="500" fill="hold"/>
                                        <p:tgtEl>
                                          <p:spTgt spid="67"/>
                                        </p:tgtEl>
                                        <p:attrNameLst>
                                          <p:attrName>ppt_x</p:attrName>
                                        </p:attrNameLst>
                                      </p:cBhvr>
                                      <p:tavLst>
                                        <p:tav tm="0">
                                          <p:val>
                                            <p:strVal val="#ppt_x"/>
                                          </p:val>
                                        </p:tav>
                                        <p:tav tm="100000">
                                          <p:val>
                                            <p:strVal val="#ppt_x"/>
                                          </p:val>
                                        </p:tav>
                                      </p:tavLst>
                                    </p:anim>
                                    <p:anim calcmode="lin" valueType="num">
                                      <p:cBhvr additive="base">
                                        <p:cTn id="247" dur="500" fill="hold"/>
                                        <p:tgtEl>
                                          <p:spTgt spid="67"/>
                                        </p:tgtEl>
                                        <p:attrNameLst>
                                          <p:attrName>ppt_y</p:attrName>
                                        </p:attrNameLst>
                                      </p:cBhvr>
                                      <p:tavLst>
                                        <p:tav tm="0">
                                          <p:val>
                                            <p:strVal val="1+#ppt_h/2"/>
                                          </p:val>
                                        </p:tav>
                                        <p:tav tm="100000">
                                          <p:val>
                                            <p:strVal val="#ppt_y"/>
                                          </p:val>
                                        </p:tav>
                                      </p:tavLst>
                                    </p:anim>
                                  </p:childTnLst>
                                </p:cTn>
                              </p:par>
                              <p:par>
                                <p:cTn id="248" presetID="2" presetClass="entr" presetSubtype="4" fill="hold" nodeType="withEffect">
                                  <p:stCondLst>
                                    <p:cond delay="0"/>
                                  </p:stCondLst>
                                  <p:childTnLst>
                                    <p:set>
                                      <p:cBhvr>
                                        <p:cTn id="249" dur="1" fill="hold">
                                          <p:stCondLst>
                                            <p:cond delay="0"/>
                                          </p:stCondLst>
                                        </p:cTn>
                                        <p:tgtEl>
                                          <p:spTgt spid="69"/>
                                        </p:tgtEl>
                                        <p:attrNameLst>
                                          <p:attrName>style.visibility</p:attrName>
                                        </p:attrNameLst>
                                      </p:cBhvr>
                                      <p:to>
                                        <p:strVal val="visible"/>
                                      </p:to>
                                    </p:set>
                                    <p:anim calcmode="lin" valueType="num">
                                      <p:cBhvr additive="base">
                                        <p:cTn id="250" dur="500" fill="hold"/>
                                        <p:tgtEl>
                                          <p:spTgt spid="69"/>
                                        </p:tgtEl>
                                        <p:attrNameLst>
                                          <p:attrName>ppt_x</p:attrName>
                                        </p:attrNameLst>
                                      </p:cBhvr>
                                      <p:tavLst>
                                        <p:tav tm="0">
                                          <p:val>
                                            <p:strVal val="#ppt_x"/>
                                          </p:val>
                                        </p:tav>
                                        <p:tav tm="100000">
                                          <p:val>
                                            <p:strVal val="#ppt_x"/>
                                          </p:val>
                                        </p:tav>
                                      </p:tavLst>
                                    </p:anim>
                                    <p:anim calcmode="lin" valueType="num">
                                      <p:cBhvr additive="base">
                                        <p:cTn id="251" dur="500" fill="hold"/>
                                        <p:tgtEl>
                                          <p:spTgt spid="69"/>
                                        </p:tgtEl>
                                        <p:attrNameLst>
                                          <p:attrName>ppt_y</p:attrName>
                                        </p:attrNameLst>
                                      </p:cBhvr>
                                      <p:tavLst>
                                        <p:tav tm="0">
                                          <p:val>
                                            <p:strVal val="1+#ppt_h/2"/>
                                          </p:val>
                                        </p:tav>
                                        <p:tav tm="100000">
                                          <p:val>
                                            <p:strVal val="#ppt_y"/>
                                          </p:val>
                                        </p:tav>
                                      </p:tavLst>
                                    </p:anim>
                                  </p:childTnLst>
                                </p:cTn>
                              </p:par>
                              <p:par>
                                <p:cTn id="252" presetID="2" presetClass="entr" presetSubtype="4" fill="hold" grpId="0" nodeType="withEffect">
                                  <p:stCondLst>
                                    <p:cond delay="0"/>
                                  </p:stCondLst>
                                  <p:childTnLst>
                                    <p:set>
                                      <p:cBhvr>
                                        <p:cTn id="253" dur="1" fill="hold">
                                          <p:stCondLst>
                                            <p:cond delay="0"/>
                                          </p:stCondLst>
                                        </p:cTn>
                                        <p:tgtEl>
                                          <p:spTgt spid="71"/>
                                        </p:tgtEl>
                                        <p:attrNameLst>
                                          <p:attrName>style.visibility</p:attrName>
                                        </p:attrNameLst>
                                      </p:cBhvr>
                                      <p:to>
                                        <p:strVal val="visible"/>
                                      </p:to>
                                    </p:set>
                                    <p:anim calcmode="lin" valueType="num">
                                      <p:cBhvr additive="base">
                                        <p:cTn id="254" dur="500" fill="hold"/>
                                        <p:tgtEl>
                                          <p:spTgt spid="71"/>
                                        </p:tgtEl>
                                        <p:attrNameLst>
                                          <p:attrName>ppt_x</p:attrName>
                                        </p:attrNameLst>
                                      </p:cBhvr>
                                      <p:tavLst>
                                        <p:tav tm="0">
                                          <p:val>
                                            <p:strVal val="#ppt_x"/>
                                          </p:val>
                                        </p:tav>
                                        <p:tav tm="100000">
                                          <p:val>
                                            <p:strVal val="#ppt_x"/>
                                          </p:val>
                                        </p:tav>
                                      </p:tavLst>
                                    </p:anim>
                                    <p:anim calcmode="lin" valueType="num">
                                      <p:cBhvr additive="base">
                                        <p:cTn id="255" dur="500" fill="hold"/>
                                        <p:tgtEl>
                                          <p:spTgt spid="71"/>
                                        </p:tgtEl>
                                        <p:attrNameLst>
                                          <p:attrName>ppt_y</p:attrName>
                                        </p:attrNameLst>
                                      </p:cBhvr>
                                      <p:tavLst>
                                        <p:tav tm="0">
                                          <p:val>
                                            <p:strVal val="1+#ppt_h/2"/>
                                          </p:val>
                                        </p:tav>
                                        <p:tav tm="100000">
                                          <p:val>
                                            <p:strVal val="#ppt_y"/>
                                          </p:val>
                                        </p:tav>
                                      </p:tavLst>
                                    </p:anim>
                                  </p:childTnLst>
                                </p:cTn>
                              </p:par>
                              <p:par>
                                <p:cTn id="256" presetID="2" presetClass="entr" presetSubtype="4" fill="hold" nodeType="withEffect">
                                  <p:stCondLst>
                                    <p:cond delay="0"/>
                                  </p:stCondLst>
                                  <p:childTnLst>
                                    <p:set>
                                      <p:cBhvr>
                                        <p:cTn id="257" dur="1" fill="hold">
                                          <p:stCondLst>
                                            <p:cond delay="0"/>
                                          </p:stCondLst>
                                        </p:cTn>
                                        <p:tgtEl>
                                          <p:spTgt spid="73"/>
                                        </p:tgtEl>
                                        <p:attrNameLst>
                                          <p:attrName>style.visibility</p:attrName>
                                        </p:attrNameLst>
                                      </p:cBhvr>
                                      <p:to>
                                        <p:strVal val="visible"/>
                                      </p:to>
                                    </p:set>
                                    <p:anim calcmode="lin" valueType="num">
                                      <p:cBhvr additive="base">
                                        <p:cTn id="258" dur="500" fill="hold"/>
                                        <p:tgtEl>
                                          <p:spTgt spid="73"/>
                                        </p:tgtEl>
                                        <p:attrNameLst>
                                          <p:attrName>ppt_x</p:attrName>
                                        </p:attrNameLst>
                                      </p:cBhvr>
                                      <p:tavLst>
                                        <p:tav tm="0">
                                          <p:val>
                                            <p:strVal val="#ppt_x"/>
                                          </p:val>
                                        </p:tav>
                                        <p:tav tm="100000">
                                          <p:val>
                                            <p:strVal val="#ppt_x"/>
                                          </p:val>
                                        </p:tav>
                                      </p:tavLst>
                                    </p:anim>
                                    <p:anim calcmode="lin" valueType="num">
                                      <p:cBhvr additive="base">
                                        <p:cTn id="259" dur="500" fill="hold"/>
                                        <p:tgtEl>
                                          <p:spTgt spid="73"/>
                                        </p:tgtEl>
                                        <p:attrNameLst>
                                          <p:attrName>ppt_y</p:attrName>
                                        </p:attrNameLst>
                                      </p:cBhvr>
                                      <p:tavLst>
                                        <p:tav tm="0">
                                          <p:val>
                                            <p:strVal val="1+#ppt_h/2"/>
                                          </p:val>
                                        </p:tav>
                                        <p:tav tm="100000">
                                          <p:val>
                                            <p:strVal val="#ppt_y"/>
                                          </p:val>
                                        </p:tav>
                                      </p:tavLst>
                                    </p:anim>
                                  </p:childTnLst>
                                </p:cTn>
                              </p:par>
                              <p:par>
                                <p:cTn id="260" presetID="2" presetClass="entr" presetSubtype="4" fill="hold" nodeType="withEffect">
                                  <p:stCondLst>
                                    <p:cond delay="0"/>
                                  </p:stCondLst>
                                  <p:childTnLst>
                                    <p:set>
                                      <p:cBhvr>
                                        <p:cTn id="261" dur="1" fill="hold">
                                          <p:stCondLst>
                                            <p:cond delay="0"/>
                                          </p:stCondLst>
                                        </p:cTn>
                                        <p:tgtEl>
                                          <p:spTgt spid="75"/>
                                        </p:tgtEl>
                                        <p:attrNameLst>
                                          <p:attrName>style.visibility</p:attrName>
                                        </p:attrNameLst>
                                      </p:cBhvr>
                                      <p:to>
                                        <p:strVal val="visible"/>
                                      </p:to>
                                    </p:set>
                                    <p:anim calcmode="lin" valueType="num">
                                      <p:cBhvr additive="base">
                                        <p:cTn id="262" dur="500" fill="hold"/>
                                        <p:tgtEl>
                                          <p:spTgt spid="75"/>
                                        </p:tgtEl>
                                        <p:attrNameLst>
                                          <p:attrName>ppt_x</p:attrName>
                                        </p:attrNameLst>
                                      </p:cBhvr>
                                      <p:tavLst>
                                        <p:tav tm="0">
                                          <p:val>
                                            <p:strVal val="#ppt_x"/>
                                          </p:val>
                                        </p:tav>
                                        <p:tav tm="100000">
                                          <p:val>
                                            <p:strVal val="#ppt_x"/>
                                          </p:val>
                                        </p:tav>
                                      </p:tavLst>
                                    </p:anim>
                                    <p:anim calcmode="lin" valueType="num">
                                      <p:cBhvr additive="base">
                                        <p:cTn id="263" dur="500" fill="hold"/>
                                        <p:tgtEl>
                                          <p:spTgt spid="75"/>
                                        </p:tgtEl>
                                        <p:attrNameLst>
                                          <p:attrName>ppt_y</p:attrName>
                                        </p:attrNameLst>
                                      </p:cBhvr>
                                      <p:tavLst>
                                        <p:tav tm="0">
                                          <p:val>
                                            <p:strVal val="1+#ppt_h/2"/>
                                          </p:val>
                                        </p:tav>
                                        <p:tav tm="100000">
                                          <p:val>
                                            <p:strVal val="#ppt_y"/>
                                          </p:val>
                                        </p:tav>
                                      </p:tavLst>
                                    </p:anim>
                                  </p:childTnLst>
                                </p:cTn>
                              </p:par>
                              <p:par>
                                <p:cTn id="264" presetID="2" presetClass="entr" presetSubtype="4" fill="hold" grpId="0" nodeType="withEffect">
                                  <p:stCondLst>
                                    <p:cond delay="0"/>
                                  </p:stCondLst>
                                  <p:childTnLst>
                                    <p:set>
                                      <p:cBhvr>
                                        <p:cTn id="265" dur="1" fill="hold">
                                          <p:stCondLst>
                                            <p:cond delay="0"/>
                                          </p:stCondLst>
                                        </p:cTn>
                                        <p:tgtEl>
                                          <p:spTgt spid="77"/>
                                        </p:tgtEl>
                                        <p:attrNameLst>
                                          <p:attrName>style.visibility</p:attrName>
                                        </p:attrNameLst>
                                      </p:cBhvr>
                                      <p:to>
                                        <p:strVal val="visible"/>
                                      </p:to>
                                    </p:set>
                                    <p:anim calcmode="lin" valueType="num">
                                      <p:cBhvr additive="base">
                                        <p:cTn id="266" dur="500" fill="hold"/>
                                        <p:tgtEl>
                                          <p:spTgt spid="77"/>
                                        </p:tgtEl>
                                        <p:attrNameLst>
                                          <p:attrName>ppt_x</p:attrName>
                                        </p:attrNameLst>
                                      </p:cBhvr>
                                      <p:tavLst>
                                        <p:tav tm="0">
                                          <p:val>
                                            <p:strVal val="#ppt_x"/>
                                          </p:val>
                                        </p:tav>
                                        <p:tav tm="100000">
                                          <p:val>
                                            <p:strVal val="#ppt_x"/>
                                          </p:val>
                                        </p:tav>
                                      </p:tavLst>
                                    </p:anim>
                                    <p:anim calcmode="lin" valueType="num">
                                      <p:cBhvr additive="base">
                                        <p:cTn id="267" dur="500" fill="hold"/>
                                        <p:tgtEl>
                                          <p:spTgt spid="77"/>
                                        </p:tgtEl>
                                        <p:attrNameLst>
                                          <p:attrName>ppt_y</p:attrName>
                                        </p:attrNameLst>
                                      </p:cBhvr>
                                      <p:tavLst>
                                        <p:tav tm="0">
                                          <p:val>
                                            <p:strVal val="1+#ppt_h/2"/>
                                          </p:val>
                                        </p:tav>
                                        <p:tav tm="100000">
                                          <p:val>
                                            <p:strVal val="#ppt_y"/>
                                          </p:val>
                                        </p:tav>
                                      </p:tavLst>
                                    </p:anim>
                                  </p:childTnLst>
                                </p:cTn>
                              </p:par>
                              <p:par>
                                <p:cTn id="268" presetID="2" presetClass="entr" presetSubtype="4" fill="hold" nodeType="withEffect">
                                  <p:stCondLst>
                                    <p:cond delay="0"/>
                                  </p:stCondLst>
                                  <p:childTnLst>
                                    <p:set>
                                      <p:cBhvr>
                                        <p:cTn id="269" dur="1" fill="hold">
                                          <p:stCondLst>
                                            <p:cond delay="0"/>
                                          </p:stCondLst>
                                        </p:cTn>
                                        <p:tgtEl>
                                          <p:spTgt spid="79"/>
                                        </p:tgtEl>
                                        <p:attrNameLst>
                                          <p:attrName>style.visibility</p:attrName>
                                        </p:attrNameLst>
                                      </p:cBhvr>
                                      <p:to>
                                        <p:strVal val="visible"/>
                                      </p:to>
                                    </p:set>
                                    <p:anim calcmode="lin" valueType="num">
                                      <p:cBhvr additive="base">
                                        <p:cTn id="270" dur="500" fill="hold"/>
                                        <p:tgtEl>
                                          <p:spTgt spid="79"/>
                                        </p:tgtEl>
                                        <p:attrNameLst>
                                          <p:attrName>ppt_x</p:attrName>
                                        </p:attrNameLst>
                                      </p:cBhvr>
                                      <p:tavLst>
                                        <p:tav tm="0">
                                          <p:val>
                                            <p:strVal val="#ppt_x"/>
                                          </p:val>
                                        </p:tav>
                                        <p:tav tm="100000">
                                          <p:val>
                                            <p:strVal val="#ppt_x"/>
                                          </p:val>
                                        </p:tav>
                                      </p:tavLst>
                                    </p:anim>
                                    <p:anim calcmode="lin" valueType="num">
                                      <p:cBhvr additive="base">
                                        <p:cTn id="271" dur="500" fill="hold"/>
                                        <p:tgtEl>
                                          <p:spTgt spid="79"/>
                                        </p:tgtEl>
                                        <p:attrNameLst>
                                          <p:attrName>ppt_y</p:attrName>
                                        </p:attrNameLst>
                                      </p:cBhvr>
                                      <p:tavLst>
                                        <p:tav tm="0">
                                          <p:val>
                                            <p:strVal val="1+#ppt_h/2"/>
                                          </p:val>
                                        </p:tav>
                                        <p:tav tm="100000">
                                          <p:val>
                                            <p:strVal val="#ppt_y"/>
                                          </p:val>
                                        </p:tav>
                                      </p:tavLst>
                                    </p:anim>
                                  </p:childTnLst>
                                </p:cTn>
                              </p:par>
                              <p:par>
                                <p:cTn id="272" presetID="2" presetClass="entr" presetSubtype="4" fill="hold" nodeType="withEffect">
                                  <p:stCondLst>
                                    <p:cond delay="0"/>
                                  </p:stCondLst>
                                  <p:childTnLst>
                                    <p:set>
                                      <p:cBhvr>
                                        <p:cTn id="273" dur="1" fill="hold">
                                          <p:stCondLst>
                                            <p:cond delay="0"/>
                                          </p:stCondLst>
                                        </p:cTn>
                                        <p:tgtEl>
                                          <p:spTgt spid="81"/>
                                        </p:tgtEl>
                                        <p:attrNameLst>
                                          <p:attrName>style.visibility</p:attrName>
                                        </p:attrNameLst>
                                      </p:cBhvr>
                                      <p:to>
                                        <p:strVal val="visible"/>
                                      </p:to>
                                    </p:set>
                                    <p:anim calcmode="lin" valueType="num">
                                      <p:cBhvr additive="base">
                                        <p:cTn id="274" dur="500" fill="hold"/>
                                        <p:tgtEl>
                                          <p:spTgt spid="81"/>
                                        </p:tgtEl>
                                        <p:attrNameLst>
                                          <p:attrName>ppt_x</p:attrName>
                                        </p:attrNameLst>
                                      </p:cBhvr>
                                      <p:tavLst>
                                        <p:tav tm="0">
                                          <p:val>
                                            <p:strVal val="#ppt_x"/>
                                          </p:val>
                                        </p:tav>
                                        <p:tav tm="100000">
                                          <p:val>
                                            <p:strVal val="#ppt_x"/>
                                          </p:val>
                                        </p:tav>
                                      </p:tavLst>
                                    </p:anim>
                                    <p:anim calcmode="lin" valueType="num">
                                      <p:cBhvr additive="base">
                                        <p:cTn id="275" dur="500" fill="hold"/>
                                        <p:tgtEl>
                                          <p:spTgt spid="81"/>
                                        </p:tgtEl>
                                        <p:attrNameLst>
                                          <p:attrName>ppt_y</p:attrName>
                                        </p:attrNameLst>
                                      </p:cBhvr>
                                      <p:tavLst>
                                        <p:tav tm="0">
                                          <p:val>
                                            <p:strVal val="1+#ppt_h/2"/>
                                          </p:val>
                                        </p:tav>
                                        <p:tav tm="100000">
                                          <p:val>
                                            <p:strVal val="#ppt_y"/>
                                          </p:val>
                                        </p:tav>
                                      </p:tavLst>
                                    </p:anim>
                                  </p:childTnLst>
                                </p:cTn>
                              </p:par>
                              <p:par>
                                <p:cTn id="276" presetID="2" presetClass="entr" presetSubtype="4" fill="hold" grpId="0" nodeType="withEffect">
                                  <p:stCondLst>
                                    <p:cond delay="0"/>
                                  </p:stCondLst>
                                  <p:childTnLst>
                                    <p:set>
                                      <p:cBhvr>
                                        <p:cTn id="277" dur="1" fill="hold">
                                          <p:stCondLst>
                                            <p:cond delay="0"/>
                                          </p:stCondLst>
                                        </p:cTn>
                                        <p:tgtEl>
                                          <p:spTgt spid="83"/>
                                        </p:tgtEl>
                                        <p:attrNameLst>
                                          <p:attrName>style.visibility</p:attrName>
                                        </p:attrNameLst>
                                      </p:cBhvr>
                                      <p:to>
                                        <p:strVal val="visible"/>
                                      </p:to>
                                    </p:set>
                                    <p:anim calcmode="lin" valueType="num">
                                      <p:cBhvr additive="base">
                                        <p:cTn id="278" dur="500" fill="hold"/>
                                        <p:tgtEl>
                                          <p:spTgt spid="83"/>
                                        </p:tgtEl>
                                        <p:attrNameLst>
                                          <p:attrName>ppt_x</p:attrName>
                                        </p:attrNameLst>
                                      </p:cBhvr>
                                      <p:tavLst>
                                        <p:tav tm="0">
                                          <p:val>
                                            <p:strVal val="#ppt_x"/>
                                          </p:val>
                                        </p:tav>
                                        <p:tav tm="100000">
                                          <p:val>
                                            <p:strVal val="#ppt_x"/>
                                          </p:val>
                                        </p:tav>
                                      </p:tavLst>
                                    </p:anim>
                                    <p:anim calcmode="lin" valueType="num">
                                      <p:cBhvr additive="base">
                                        <p:cTn id="279" dur="500" fill="hold"/>
                                        <p:tgtEl>
                                          <p:spTgt spid="83"/>
                                        </p:tgtEl>
                                        <p:attrNameLst>
                                          <p:attrName>ppt_y</p:attrName>
                                        </p:attrNameLst>
                                      </p:cBhvr>
                                      <p:tavLst>
                                        <p:tav tm="0">
                                          <p:val>
                                            <p:strVal val="1+#ppt_h/2"/>
                                          </p:val>
                                        </p:tav>
                                        <p:tav tm="100000">
                                          <p:val>
                                            <p:strVal val="#ppt_y"/>
                                          </p:val>
                                        </p:tav>
                                      </p:tavLst>
                                    </p:anim>
                                  </p:childTnLst>
                                </p:cTn>
                              </p:par>
                              <p:par>
                                <p:cTn id="280" presetID="2" presetClass="entr" presetSubtype="4" fill="hold" nodeType="withEffect">
                                  <p:stCondLst>
                                    <p:cond delay="0"/>
                                  </p:stCondLst>
                                  <p:childTnLst>
                                    <p:set>
                                      <p:cBhvr>
                                        <p:cTn id="281" dur="1" fill="hold">
                                          <p:stCondLst>
                                            <p:cond delay="0"/>
                                          </p:stCondLst>
                                        </p:cTn>
                                        <p:tgtEl>
                                          <p:spTgt spid="85"/>
                                        </p:tgtEl>
                                        <p:attrNameLst>
                                          <p:attrName>style.visibility</p:attrName>
                                        </p:attrNameLst>
                                      </p:cBhvr>
                                      <p:to>
                                        <p:strVal val="visible"/>
                                      </p:to>
                                    </p:set>
                                    <p:anim calcmode="lin" valueType="num">
                                      <p:cBhvr additive="base">
                                        <p:cTn id="282" dur="500" fill="hold"/>
                                        <p:tgtEl>
                                          <p:spTgt spid="85"/>
                                        </p:tgtEl>
                                        <p:attrNameLst>
                                          <p:attrName>ppt_x</p:attrName>
                                        </p:attrNameLst>
                                      </p:cBhvr>
                                      <p:tavLst>
                                        <p:tav tm="0">
                                          <p:val>
                                            <p:strVal val="#ppt_x"/>
                                          </p:val>
                                        </p:tav>
                                        <p:tav tm="100000">
                                          <p:val>
                                            <p:strVal val="#ppt_x"/>
                                          </p:val>
                                        </p:tav>
                                      </p:tavLst>
                                    </p:anim>
                                    <p:anim calcmode="lin" valueType="num">
                                      <p:cBhvr additive="base">
                                        <p:cTn id="283" dur="500" fill="hold"/>
                                        <p:tgtEl>
                                          <p:spTgt spid="85"/>
                                        </p:tgtEl>
                                        <p:attrNameLst>
                                          <p:attrName>ppt_y</p:attrName>
                                        </p:attrNameLst>
                                      </p:cBhvr>
                                      <p:tavLst>
                                        <p:tav tm="0">
                                          <p:val>
                                            <p:strVal val="1+#ppt_h/2"/>
                                          </p:val>
                                        </p:tav>
                                        <p:tav tm="100000">
                                          <p:val>
                                            <p:strVal val="#ppt_y"/>
                                          </p:val>
                                        </p:tav>
                                      </p:tavLst>
                                    </p:anim>
                                  </p:childTnLst>
                                </p:cTn>
                              </p:par>
                              <p:par>
                                <p:cTn id="284" presetID="2" presetClass="entr" presetSubtype="4" fill="hold" nodeType="withEffect">
                                  <p:stCondLst>
                                    <p:cond delay="0"/>
                                  </p:stCondLst>
                                  <p:childTnLst>
                                    <p:set>
                                      <p:cBhvr>
                                        <p:cTn id="285" dur="1" fill="hold">
                                          <p:stCondLst>
                                            <p:cond delay="0"/>
                                          </p:stCondLst>
                                        </p:cTn>
                                        <p:tgtEl>
                                          <p:spTgt spid="87"/>
                                        </p:tgtEl>
                                        <p:attrNameLst>
                                          <p:attrName>style.visibility</p:attrName>
                                        </p:attrNameLst>
                                      </p:cBhvr>
                                      <p:to>
                                        <p:strVal val="visible"/>
                                      </p:to>
                                    </p:set>
                                    <p:anim calcmode="lin" valueType="num">
                                      <p:cBhvr additive="base">
                                        <p:cTn id="286" dur="500" fill="hold"/>
                                        <p:tgtEl>
                                          <p:spTgt spid="87"/>
                                        </p:tgtEl>
                                        <p:attrNameLst>
                                          <p:attrName>ppt_x</p:attrName>
                                        </p:attrNameLst>
                                      </p:cBhvr>
                                      <p:tavLst>
                                        <p:tav tm="0">
                                          <p:val>
                                            <p:strVal val="#ppt_x"/>
                                          </p:val>
                                        </p:tav>
                                        <p:tav tm="100000">
                                          <p:val>
                                            <p:strVal val="#ppt_x"/>
                                          </p:val>
                                        </p:tav>
                                      </p:tavLst>
                                    </p:anim>
                                    <p:anim calcmode="lin" valueType="num">
                                      <p:cBhvr additive="base">
                                        <p:cTn id="287" dur="500" fill="hold"/>
                                        <p:tgtEl>
                                          <p:spTgt spid="87"/>
                                        </p:tgtEl>
                                        <p:attrNameLst>
                                          <p:attrName>ppt_y</p:attrName>
                                        </p:attrNameLst>
                                      </p:cBhvr>
                                      <p:tavLst>
                                        <p:tav tm="0">
                                          <p:val>
                                            <p:strVal val="1+#ppt_h/2"/>
                                          </p:val>
                                        </p:tav>
                                        <p:tav tm="100000">
                                          <p:val>
                                            <p:strVal val="#ppt_y"/>
                                          </p:val>
                                        </p:tav>
                                      </p:tavLst>
                                    </p:anim>
                                  </p:childTnLst>
                                </p:cTn>
                              </p:par>
                              <p:par>
                                <p:cTn id="288" presetID="2" presetClass="entr" presetSubtype="4" fill="hold" grpId="0" nodeType="withEffect">
                                  <p:stCondLst>
                                    <p:cond delay="0"/>
                                  </p:stCondLst>
                                  <p:childTnLst>
                                    <p:set>
                                      <p:cBhvr>
                                        <p:cTn id="289" dur="1" fill="hold">
                                          <p:stCondLst>
                                            <p:cond delay="0"/>
                                          </p:stCondLst>
                                        </p:cTn>
                                        <p:tgtEl>
                                          <p:spTgt spid="88"/>
                                        </p:tgtEl>
                                        <p:attrNameLst>
                                          <p:attrName>style.visibility</p:attrName>
                                        </p:attrNameLst>
                                      </p:cBhvr>
                                      <p:to>
                                        <p:strVal val="visible"/>
                                      </p:to>
                                    </p:set>
                                    <p:anim calcmode="lin" valueType="num">
                                      <p:cBhvr additive="base">
                                        <p:cTn id="290" dur="500" fill="hold"/>
                                        <p:tgtEl>
                                          <p:spTgt spid="88"/>
                                        </p:tgtEl>
                                        <p:attrNameLst>
                                          <p:attrName>ppt_x</p:attrName>
                                        </p:attrNameLst>
                                      </p:cBhvr>
                                      <p:tavLst>
                                        <p:tav tm="0">
                                          <p:val>
                                            <p:strVal val="#ppt_x"/>
                                          </p:val>
                                        </p:tav>
                                        <p:tav tm="100000">
                                          <p:val>
                                            <p:strVal val="#ppt_x"/>
                                          </p:val>
                                        </p:tav>
                                      </p:tavLst>
                                    </p:anim>
                                    <p:anim calcmode="lin" valueType="num">
                                      <p:cBhvr additive="base">
                                        <p:cTn id="291" dur="500" fill="hold"/>
                                        <p:tgtEl>
                                          <p:spTgt spid="88"/>
                                        </p:tgtEl>
                                        <p:attrNameLst>
                                          <p:attrName>ppt_y</p:attrName>
                                        </p:attrNameLst>
                                      </p:cBhvr>
                                      <p:tavLst>
                                        <p:tav tm="0">
                                          <p:val>
                                            <p:strVal val="1+#ppt_h/2"/>
                                          </p:val>
                                        </p:tav>
                                        <p:tav tm="100000">
                                          <p:val>
                                            <p:strVal val="#ppt_y"/>
                                          </p:val>
                                        </p:tav>
                                      </p:tavLst>
                                    </p:anim>
                                  </p:childTnLst>
                                </p:cTn>
                              </p:par>
                              <p:par>
                                <p:cTn id="292" presetID="2" presetClass="entr" presetSubtype="4" fill="hold" nodeType="withEffect">
                                  <p:stCondLst>
                                    <p:cond delay="0"/>
                                  </p:stCondLst>
                                  <p:childTnLst>
                                    <p:set>
                                      <p:cBhvr>
                                        <p:cTn id="293" dur="1" fill="hold">
                                          <p:stCondLst>
                                            <p:cond delay="0"/>
                                          </p:stCondLst>
                                        </p:cTn>
                                        <p:tgtEl>
                                          <p:spTgt spid="89"/>
                                        </p:tgtEl>
                                        <p:attrNameLst>
                                          <p:attrName>style.visibility</p:attrName>
                                        </p:attrNameLst>
                                      </p:cBhvr>
                                      <p:to>
                                        <p:strVal val="visible"/>
                                      </p:to>
                                    </p:set>
                                    <p:anim calcmode="lin" valueType="num">
                                      <p:cBhvr additive="base">
                                        <p:cTn id="294" dur="500" fill="hold"/>
                                        <p:tgtEl>
                                          <p:spTgt spid="89"/>
                                        </p:tgtEl>
                                        <p:attrNameLst>
                                          <p:attrName>ppt_x</p:attrName>
                                        </p:attrNameLst>
                                      </p:cBhvr>
                                      <p:tavLst>
                                        <p:tav tm="0">
                                          <p:val>
                                            <p:strVal val="#ppt_x"/>
                                          </p:val>
                                        </p:tav>
                                        <p:tav tm="100000">
                                          <p:val>
                                            <p:strVal val="#ppt_x"/>
                                          </p:val>
                                        </p:tav>
                                      </p:tavLst>
                                    </p:anim>
                                    <p:anim calcmode="lin" valueType="num">
                                      <p:cBhvr additive="base">
                                        <p:cTn id="295" dur="500" fill="hold"/>
                                        <p:tgtEl>
                                          <p:spTgt spid="89"/>
                                        </p:tgtEl>
                                        <p:attrNameLst>
                                          <p:attrName>ppt_y</p:attrName>
                                        </p:attrNameLst>
                                      </p:cBhvr>
                                      <p:tavLst>
                                        <p:tav tm="0">
                                          <p:val>
                                            <p:strVal val="1+#ppt_h/2"/>
                                          </p:val>
                                        </p:tav>
                                        <p:tav tm="100000">
                                          <p:val>
                                            <p:strVal val="#ppt_y"/>
                                          </p:val>
                                        </p:tav>
                                      </p:tavLst>
                                    </p:anim>
                                  </p:childTnLst>
                                </p:cTn>
                              </p:par>
                              <p:par>
                                <p:cTn id="296" presetID="2" presetClass="entr" presetSubtype="4" fill="hold" nodeType="withEffect">
                                  <p:stCondLst>
                                    <p:cond delay="0"/>
                                  </p:stCondLst>
                                  <p:childTnLst>
                                    <p:set>
                                      <p:cBhvr>
                                        <p:cTn id="297" dur="1" fill="hold">
                                          <p:stCondLst>
                                            <p:cond delay="0"/>
                                          </p:stCondLst>
                                        </p:cTn>
                                        <p:tgtEl>
                                          <p:spTgt spid="90"/>
                                        </p:tgtEl>
                                        <p:attrNameLst>
                                          <p:attrName>style.visibility</p:attrName>
                                        </p:attrNameLst>
                                      </p:cBhvr>
                                      <p:to>
                                        <p:strVal val="visible"/>
                                      </p:to>
                                    </p:set>
                                    <p:anim calcmode="lin" valueType="num">
                                      <p:cBhvr additive="base">
                                        <p:cTn id="298" dur="500" fill="hold"/>
                                        <p:tgtEl>
                                          <p:spTgt spid="90"/>
                                        </p:tgtEl>
                                        <p:attrNameLst>
                                          <p:attrName>ppt_x</p:attrName>
                                        </p:attrNameLst>
                                      </p:cBhvr>
                                      <p:tavLst>
                                        <p:tav tm="0">
                                          <p:val>
                                            <p:strVal val="#ppt_x"/>
                                          </p:val>
                                        </p:tav>
                                        <p:tav tm="100000">
                                          <p:val>
                                            <p:strVal val="#ppt_x"/>
                                          </p:val>
                                        </p:tav>
                                      </p:tavLst>
                                    </p:anim>
                                    <p:anim calcmode="lin" valueType="num">
                                      <p:cBhvr additive="base">
                                        <p:cTn id="299" dur="500" fill="hold"/>
                                        <p:tgtEl>
                                          <p:spTgt spid="90"/>
                                        </p:tgtEl>
                                        <p:attrNameLst>
                                          <p:attrName>ppt_y</p:attrName>
                                        </p:attrNameLst>
                                      </p:cBhvr>
                                      <p:tavLst>
                                        <p:tav tm="0">
                                          <p:val>
                                            <p:strVal val="1+#ppt_h/2"/>
                                          </p:val>
                                        </p:tav>
                                        <p:tav tm="100000">
                                          <p:val>
                                            <p:strVal val="#ppt_y"/>
                                          </p:val>
                                        </p:tav>
                                      </p:tavLst>
                                    </p:anim>
                                  </p:childTnLst>
                                </p:cTn>
                              </p:par>
                              <p:par>
                                <p:cTn id="300" presetID="2" presetClass="entr" presetSubtype="4" fill="hold" grpId="0" nodeType="withEffect">
                                  <p:stCondLst>
                                    <p:cond delay="0"/>
                                  </p:stCondLst>
                                  <p:childTnLst>
                                    <p:set>
                                      <p:cBhvr>
                                        <p:cTn id="301" dur="1" fill="hold">
                                          <p:stCondLst>
                                            <p:cond delay="0"/>
                                          </p:stCondLst>
                                        </p:cTn>
                                        <p:tgtEl>
                                          <p:spTgt spid="91"/>
                                        </p:tgtEl>
                                        <p:attrNameLst>
                                          <p:attrName>style.visibility</p:attrName>
                                        </p:attrNameLst>
                                      </p:cBhvr>
                                      <p:to>
                                        <p:strVal val="visible"/>
                                      </p:to>
                                    </p:set>
                                    <p:anim calcmode="lin" valueType="num">
                                      <p:cBhvr additive="base">
                                        <p:cTn id="302" dur="500" fill="hold"/>
                                        <p:tgtEl>
                                          <p:spTgt spid="91"/>
                                        </p:tgtEl>
                                        <p:attrNameLst>
                                          <p:attrName>ppt_x</p:attrName>
                                        </p:attrNameLst>
                                      </p:cBhvr>
                                      <p:tavLst>
                                        <p:tav tm="0">
                                          <p:val>
                                            <p:strVal val="#ppt_x"/>
                                          </p:val>
                                        </p:tav>
                                        <p:tav tm="100000">
                                          <p:val>
                                            <p:strVal val="#ppt_x"/>
                                          </p:val>
                                        </p:tav>
                                      </p:tavLst>
                                    </p:anim>
                                    <p:anim calcmode="lin" valueType="num">
                                      <p:cBhvr additive="base">
                                        <p:cTn id="303" dur="500" fill="hold"/>
                                        <p:tgtEl>
                                          <p:spTgt spid="91"/>
                                        </p:tgtEl>
                                        <p:attrNameLst>
                                          <p:attrName>ppt_y</p:attrName>
                                        </p:attrNameLst>
                                      </p:cBhvr>
                                      <p:tavLst>
                                        <p:tav tm="0">
                                          <p:val>
                                            <p:strVal val="1+#ppt_h/2"/>
                                          </p:val>
                                        </p:tav>
                                        <p:tav tm="100000">
                                          <p:val>
                                            <p:strVal val="#ppt_y"/>
                                          </p:val>
                                        </p:tav>
                                      </p:tavLst>
                                    </p:anim>
                                  </p:childTnLst>
                                </p:cTn>
                              </p:par>
                              <p:par>
                                <p:cTn id="304" presetID="2" presetClass="entr" presetSubtype="4" fill="hold" nodeType="withEffect">
                                  <p:stCondLst>
                                    <p:cond delay="0"/>
                                  </p:stCondLst>
                                  <p:childTnLst>
                                    <p:set>
                                      <p:cBhvr>
                                        <p:cTn id="305" dur="1" fill="hold">
                                          <p:stCondLst>
                                            <p:cond delay="0"/>
                                          </p:stCondLst>
                                        </p:cTn>
                                        <p:tgtEl>
                                          <p:spTgt spid="92"/>
                                        </p:tgtEl>
                                        <p:attrNameLst>
                                          <p:attrName>style.visibility</p:attrName>
                                        </p:attrNameLst>
                                      </p:cBhvr>
                                      <p:to>
                                        <p:strVal val="visible"/>
                                      </p:to>
                                    </p:set>
                                    <p:anim calcmode="lin" valueType="num">
                                      <p:cBhvr additive="base">
                                        <p:cTn id="306" dur="500" fill="hold"/>
                                        <p:tgtEl>
                                          <p:spTgt spid="92"/>
                                        </p:tgtEl>
                                        <p:attrNameLst>
                                          <p:attrName>ppt_x</p:attrName>
                                        </p:attrNameLst>
                                      </p:cBhvr>
                                      <p:tavLst>
                                        <p:tav tm="0">
                                          <p:val>
                                            <p:strVal val="#ppt_x"/>
                                          </p:val>
                                        </p:tav>
                                        <p:tav tm="100000">
                                          <p:val>
                                            <p:strVal val="#ppt_x"/>
                                          </p:val>
                                        </p:tav>
                                      </p:tavLst>
                                    </p:anim>
                                    <p:anim calcmode="lin" valueType="num">
                                      <p:cBhvr additive="base">
                                        <p:cTn id="307" dur="500" fill="hold"/>
                                        <p:tgtEl>
                                          <p:spTgt spid="92"/>
                                        </p:tgtEl>
                                        <p:attrNameLst>
                                          <p:attrName>ppt_y</p:attrName>
                                        </p:attrNameLst>
                                      </p:cBhvr>
                                      <p:tavLst>
                                        <p:tav tm="0">
                                          <p:val>
                                            <p:strVal val="1+#ppt_h/2"/>
                                          </p:val>
                                        </p:tav>
                                        <p:tav tm="100000">
                                          <p:val>
                                            <p:strVal val="#ppt_y"/>
                                          </p:val>
                                        </p:tav>
                                      </p:tavLst>
                                    </p:anim>
                                  </p:childTnLst>
                                </p:cTn>
                              </p:par>
                              <p:par>
                                <p:cTn id="308" presetID="2" presetClass="entr" presetSubtype="4" fill="hold" nodeType="withEffect">
                                  <p:stCondLst>
                                    <p:cond delay="0"/>
                                  </p:stCondLst>
                                  <p:childTnLst>
                                    <p:set>
                                      <p:cBhvr>
                                        <p:cTn id="309" dur="1" fill="hold">
                                          <p:stCondLst>
                                            <p:cond delay="0"/>
                                          </p:stCondLst>
                                        </p:cTn>
                                        <p:tgtEl>
                                          <p:spTgt spid="93"/>
                                        </p:tgtEl>
                                        <p:attrNameLst>
                                          <p:attrName>style.visibility</p:attrName>
                                        </p:attrNameLst>
                                      </p:cBhvr>
                                      <p:to>
                                        <p:strVal val="visible"/>
                                      </p:to>
                                    </p:set>
                                    <p:anim calcmode="lin" valueType="num">
                                      <p:cBhvr additive="base">
                                        <p:cTn id="310" dur="500" fill="hold"/>
                                        <p:tgtEl>
                                          <p:spTgt spid="93"/>
                                        </p:tgtEl>
                                        <p:attrNameLst>
                                          <p:attrName>ppt_x</p:attrName>
                                        </p:attrNameLst>
                                      </p:cBhvr>
                                      <p:tavLst>
                                        <p:tav tm="0">
                                          <p:val>
                                            <p:strVal val="#ppt_x"/>
                                          </p:val>
                                        </p:tav>
                                        <p:tav tm="100000">
                                          <p:val>
                                            <p:strVal val="#ppt_x"/>
                                          </p:val>
                                        </p:tav>
                                      </p:tavLst>
                                    </p:anim>
                                    <p:anim calcmode="lin" valueType="num">
                                      <p:cBhvr additive="base">
                                        <p:cTn id="311" dur="500" fill="hold"/>
                                        <p:tgtEl>
                                          <p:spTgt spid="93"/>
                                        </p:tgtEl>
                                        <p:attrNameLst>
                                          <p:attrName>ppt_y</p:attrName>
                                        </p:attrNameLst>
                                      </p:cBhvr>
                                      <p:tavLst>
                                        <p:tav tm="0">
                                          <p:val>
                                            <p:strVal val="1+#ppt_h/2"/>
                                          </p:val>
                                        </p:tav>
                                        <p:tav tm="100000">
                                          <p:val>
                                            <p:strVal val="#ppt_y"/>
                                          </p:val>
                                        </p:tav>
                                      </p:tavLst>
                                    </p:anim>
                                  </p:childTnLst>
                                </p:cTn>
                              </p:par>
                              <p:par>
                                <p:cTn id="312" presetID="2" presetClass="entr" presetSubtype="4" fill="hold" grpId="0" nodeType="withEffect">
                                  <p:stCondLst>
                                    <p:cond delay="0"/>
                                  </p:stCondLst>
                                  <p:childTnLst>
                                    <p:set>
                                      <p:cBhvr>
                                        <p:cTn id="313" dur="1" fill="hold">
                                          <p:stCondLst>
                                            <p:cond delay="0"/>
                                          </p:stCondLst>
                                        </p:cTn>
                                        <p:tgtEl>
                                          <p:spTgt spid="94"/>
                                        </p:tgtEl>
                                        <p:attrNameLst>
                                          <p:attrName>style.visibility</p:attrName>
                                        </p:attrNameLst>
                                      </p:cBhvr>
                                      <p:to>
                                        <p:strVal val="visible"/>
                                      </p:to>
                                    </p:set>
                                    <p:anim calcmode="lin" valueType="num">
                                      <p:cBhvr additive="base">
                                        <p:cTn id="314" dur="500" fill="hold"/>
                                        <p:tgtEl>
                                          <p:spTgt spid="94"/>
                                        </p:tgtEl>
                                        <p:attrNameLst>
                                          <p:attrName>ppt_x</p:attrName>
                                        </p:attrNameLst>
                                      </p:cBhvr>
                                      <p:tavLst>
                                        <p:tav tm="0">
                                          <p:val>
                                            <p:strVal val="#ppt_x"/>
                                          </p:val>
                                        </p:tav>
                                        <p:tav tm="100000">
                                          <p:val>
                                            <p:strVal val="#ppt_x"/>
                                          </p:val>
                                        </p:tav>
                                      </p:tavLst>
                                    </p:anim>
                                    <p:anim calcmode="lin" valueType="num">
                                      <p:cBhvr additive="base">
                                        <p:cTn id="315" dur="500" fill="hold"/>
                                        <p:tgtEl>
                                          <p:spTgt spid="94"/>
                                        </p:tgtEl>
                                        <p:attrNameLst>
                                          <p:attrName>ppt_y</p:attrName>
                                        </p:attrNameLst>
                                      </p:cBhvr>
                                      <p:tavLst>
                                        <p:tav tm="0">
                                          <p:val>
                                            <p:strVal val="1+#ppt_h/2"/>
                                          </p:val>
                                        </p:tav>
                                        <p:tav tm="100000">
                                          <p:val>
                                            <p:strVal val="#ppt_y"/>
                                          </p:val>
                                        </p:tav>
                                      </p:tavLst>
                                    </p:anim>
                                  </p:childTnLst>
                                </p:cTn>
                              </p:par>
                              <p:par>
                                <p:cTn id="316" presetID="2" presetClass="entr" presetSubtype="4" fill="hold" grpId="0" nodeType="withEffect">
                                  <p:stCondLst>
                                    <p:cond delay="0"/>
                                  </p:stCondLst>
                                  <p:childTnLst>
                                    <p:set>
                                      <p:cBhvr>
                                        <p:cTn id="317" dur="1" fill="hold">
                                          <p:stCondLst>
                                            <p:cond delay="0"/>
                                          </p:stCondLst>
                                        </p:cTn>
                                        <p:tgtEl>
                                          <p:spTgt spid="96"/>
                                        </p:tgtEl>
                                        <p:attrNameLst>
                                          <p:attrName>style.visibility</p:attrName>
                                        </p:attrNameLst>
                                      </p:cBhvr>
                                      <p:to>
                                        <p:strVal val="visible"/>
                                      </p:to>
                                    </p:set>
                                    <p:anim calcmode="lin" valueType="num">
                                      <p:cBhvr additive="base">
                                        <p:cTn id="318" dur="500" fill="hold"/>
                                        <p:tgtEl>
                                          <p:spTgt spid="96"/>
                                        </p:tgtEl>
                                        <p:attrNameLst>
                                          <p:attrName>ppt_x</p:attrName>
                                        </p:attrNameLst>
                                      </p:cBhvr>
                                      <p:tavLst>
                                        <p:tav tm="0">
                                          <p:val>
                                            <p:strVal val="#ppt_x"/>
                                          </p:val>
                                        </p:tav>
                                        <p:tav tm="100000">
                                          <p:val>
                                            <p:strVal val="#ppt_x"/>
                                          </p:val>
                                        </p:tav>
                                      </p:tavLst>
                                    </p:anim>
                                    <p:anim calcmode="lin" valueType="num">
                                      <p:cBhvr additive="base">
                                        <p:cTn id="319" dur="500" fill="hold"/>
                                        <p:tgtEl>
                                          <p:spTgt spid="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0" grpId="0" animBg="1"/>
      <p:bldP spid="32" grpId="0" animBg="1"/>
      <p:bldP spid="33" grpId="0" animBg="1"/>
      <p:bldP spid="34" grpId="0" animBg="1"/>
      <p:bldP spid="35" grpId="0" animBg="1"/>
      <p:bldP spid="36" grpId="0" animBg="1"/>
      <p:bldP spid="37" grpId="0" animBg="1"/>
      <p:bldP spid="52" grpId="0" animBg="1"/>
      <p:bldP spid="53" grpId="0" animBg="1"/>
      <p:bldP spid="54" grpId="0" animBg="1"/>
      <p:bldP spid="55" grpId="0" animBg="1"/>
      <p:bldP spid="56" grpId="0" animBg="1"/>
      <p:bldP spid="57" grpId="0" animBg="1"/>
      <p:bldP spid="58" grpId="0" animBg="1"/>
      <p:bldP spid="65" grpId="0"/>
      <p:bldP spid="71" grpId="0"/>
      <p:bldP spid="77" grpId="0"/>
      <p:bldP spid="83" grpId="0"/>
      <p:bldP spid="88" grpId="0"/>
      <p:bldP spid="91" grpId="0"/>
      <p:bldP spid="94" grpId="0"/>
      <p:bldP spid="96" grpId="0"/>
      <p:bldP spid="102" grpId="0" animBg="1"/>
      <p:bldP spid="115" grpId="0" animBg="1"/>
      <p:bldP spid="116" grpId="0" animBg="1"/>
      <p:bldP spid="117" grpId="0" animBg="1"/>
      <p:bldP spid="120" grpId="0" animBg="1"/>
      <p:bldP spid="121" grpId="0"/>
      <p:bldP spid="123" grpId="0" animBg="1"/>
      <p:bldP spid="127" grpId="0" animBg="1"/>
      <p:bldP spid="128" grpId="0"/>
      <p:bldP spid="129" grpId="0" animBg="1"/>
      <p:bldP spid="130" grpId="0"/>
      <p:bldP spid="131" grpId="0" animBg="1"/>
      <p:bldP spid="132" grpId="0"/>
      <p:bldP spid="133" grpId="0" animBg="1"/>
      <p:bldP spid="134" grpId="0"/>
      <p:bldP spid="135" grpId="0" animBg="1"/>
      <p:bldP spid="13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9"/>
          <p:cNvGrpSpPr>
            <a:grpSpLocks/>
          </p:cNvGrpSpPr>
          <p:nvPr/>
        </p:nvGrpSpPr>
        <p:grpSpPr bwMode="auto">
          <a:xfrm>
            <a:off x="863601" y="97062"/>
            <a:ext cx="4038600" cy="609600"/>
            <a:chOff x="336" y="192"/>
            <a:chExt cx="1776" cy="384"/>
          </a:xfrm>
        </p:grpSpPr>
        <p:sp>
          <p:nvSpPr>
            <p:cNvPr id="62536" name="Rectangle 25"/>
            <p:cNvSpPr>
              <a:spLocks noChangeArrowheads="1"/>
            </p:cNvSpPr>
            <p:nvPr/>
          </p:nvSpPr>
          <p:spPr bwMode="auto">
            <a:xfrm>
              <a:off x="336" y="192"/>
              <a:ext cx="1776" cy="384"/>
            </a:xfrm>
            <a:prstGeom prst="rect">
              <a:avLst/>
            </a:prstGeom>
            <a:solidFill>
              <a:srgbClr val="CCFFCC"/>
            </a:solidFill>
            <a:ln w="12700" cap="sq">
              <a:noFill/>
              <a:miter lim="800000"/>
              <a:headEnd type="none" w="sm" len="sm"/>
              <a:tailEnd type="none" w="sm" len="sm"/>
            </a:ln>
            <a:effectLst>
              <a:outerShdw dist="117088" dir="2436078" algn="ctr" rotWithShape="0">
                <a:srgbClr val="C0C0C0"/>
              </a:outerShdw>
            </a:effectLst>
          </p:spPr>
          <p:txBody>
            <a:bodyPr wrap="none" anchor="ctr"/>
            <a:lstStyle/>
            <a:p>
              <a:endParaRPr lang="zh-CN" altLang="en-US"/>
            </a:p>
          </p:txBody>
        </p:sp>
        <p:sp>
          <p:nvSpPr>
            <p:cNvPr id="62537" name="Rectangle 26"/>
            <p:cNvSpPr>
              <a:spLocks noChangeArrowheads="1"/>
            </p:cNvSpPr>
            <p:nvPr/>
          </p:nvSpPr>
          <p:spPr bwMode="auto">
            <a:xfrm>
              <a:off x="436" y="225"/>
              <a:ext cx="1628" cy="349"/>
            </a:xfrm>
            <a:prstGeom prst="rect">
              <a:avLst/>
            </a:prstGeom>
            <a:noFill/>
            <a:ln w="12700" cap="sq">
              <a:noFill/>
              <a:miter lim="800000"/>
              <a:headEnd type="none" w="sm" len="sm"/>
              <a:tailEnd type="none" w="sm" len="sm"/>
            </a:ln>
          </p:spPr>
          <p:txBody>
            <a:bodyPr>
              <a:spAutoFit/>
            </a:bodyPr>
            <a:lstStyle/>
            <a:p>
              <a:r>
                <a:rPr kumimoji="1" lang="zh-CN" altLang="en-US" sz="3000" b="1" dirty="0">
                  <a:solidFill>
                    <a:srgbClr val="003399"/>
                  </a:solidFill>
                  <a:latin typeface="黑体" pitchFamily="2" charset="-122"/>
                  <a:ea typeface="黑体" pitchFamily="2" charset="-122"/>
                </a:rPr>
                <a:t>一个稍感困惑的问题</a:t>
              </a:r>
            </a:p>
          </p:txBody>
        </p:sp>
      </p:grpSp>
      <p:sp>
        <p:nvSpPr>
          <p:cNvPr id="62467" name="TextBox 5"/>
          <p:cNvSpPr txBox="1">
            <a:spLocks noChangeArrowheads="1"/>
          </p:cNvSpPr>
          <p:nvPr/>
        </p:nvSpPr>
        <p:spPr bwMode="auto">
          <a:xfrm>
            <a:off x="2495600" y="1052737"/>
            <a:ext cx="5724644" cy="461665"/>
          </a:xfrm>
          <a:prstGeom prst="rect">
            <a:avLst/>
          </a:prstGeom>
          <a:noFill/>
          <a:ln w="9525">
            <a:noFill/>
            <a:miter lim="800000"/>
            <a:headEnd/>
            <a:tailEnd/>
          </a:ln>
        </p:spPr>
        <p:txBody>
          <a:bodyPr wrap="none">
            <a:spAutoFit/>
          </a:bodyPr>
          <a:lstStyle/>
          <a:p>
            <a:r>
              <a:rPr lang="zh-CN" altLang="en-US" sz="2400" dirty="0">
                <a:latin typeface="黑体" pitchFamily="2" charset="-122"/>
                <a:ea typeface="黑体" pitchFamily="2" charset="-122"/>
              </a:rPr>
              <a:t>栈的顺序实现方式，可以借助数组来实现</a:t>
            </a:r>
          </a:p>
        </p:txBody>
      </p:sp>
      <p:sp>
        <p:nvSpPr>
          <p:cNvPr id="62468" name="Text Box 15"/>
          <p:cNvSpPr txBox="1">
            <a:spLocks noChangeArrowheads="1"/>
          </p:cNvSpPr>
          <p:nvPr/>
        </p:nvSpPr>
        <p:spPr bwMode="auto">
          <a:xfrm>
            <a:off x="4205288" y="2370138"/>
            <a:ext cx="361950" cy="519112"/>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99"/>
                </a:solidFill>
              </a:rPr>
              <a:t>a</a:t>
            </a:r>
          </a:p>
        </p:txBody>
      </p:sp>
      <p:sp>
        <p:nvSpPr>
          <p:cNvPr id="62469" name="Text Box 16"/>
          <p:cNvSpPr txBox="1">
            <a:spLocks noChangeArrowheads="1"/>
          </p:cNvSpPr>
          <p:nvPr/>
        </p:nvSpPr>
        <p:spPr bwMode="auto">
          <a:xfrm>
            <a:off x="4662488" y="2411413"/>
            <a:ext cx="364202" cy="52322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99"/>
                </a:solidFill>
              </a:rPr>
              <a:t>b</a:t>
            </a:r>
          </a:p>
        </p:txBody>
      </p:sp>
      <p:sp>
        <p:nvSpPr>
          <p:cNvPr id="62470" name="Text Box 17"/>
          <p:cNvSpPr txBox="1">
            <a:spLocks noChangeArrowheads="1"/>
          </p:cNvSpPr>
          <p:nvPr/>
        </p:nvSpPr>
        <p:spPr bwMode="auto">
          <a:xfrm>
            <a:off x="5119688" y="2393950"/>
            <a:ext cx="348172" cy="52322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99"/>
                </a:solidFill>
              </a:rPr>
              <a:t>c</a:t>
            </a:r>
          </a:p>
        </p:txBody>
      </p:sp>
      <p:sp>
        <p:nvSpPr>
          <p:cNvPr id="62471" name="Text Box 18"/>
          <p:cNvSpPr txBox="1">
            <a:spLocks noChangeArrowheads="1"/>
          </p:cNvSpPr>
          <p:nvPr/>
        </p:nvSpPr>
        <p:spPr bwMode="auto">
          <a:xfrm>
            <a:off x="5576888" y="2411413"/>
            <a:ext cx="364202" cy="52322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99"/>
                </a:solidFill>
              </a:rPr>
              <a:t>d</a:t>
            </a:r>
          </a:p>
        </p:txBody>
      </p:sp>
      <p:sp>
        <p:nvSpPr>
          <p:cNvPr id="62472" name="Text Box 19"/>
          <p:cNvSpPr txBox="1">
            <a:spLocks noChangeArrowheads="1"/>
          </p:cNvSpPr>
          <p:nvPr/>
        </p:nvSpPr>
        <p:spPr bwMode="auto">
          <a:xfrm>
            <a:off x="6034088" y="2393950"/>
            <a:ext cx="348172" cy="523220"/>
          </a:xfrm>
          <a:prstGeom prst="rect">
            <a:avLst/>
          </a:prstGeom>
          <a:noFill/>
          <a:ln w="12700" cap="sq">
            <a:noFill/>
            <a:miter lim="800000"/>
            <a:headEnd type="none" w="sm" len="sm"/>
            <a:tailEnd type="none" w="sm" len="sm"/>
          </a:ln>
        </p:spPr>
        <p:txBody>
          <a:bodyPr wrap="none">
            <a:spAutoFit/>
          </a:bodyPr>
          <a:lstStyle/>
          <a:p>
            <a:r>
              <a:rPr lang="en-US" altLang="zh-CN" sz="2800" b="1">
                <a:solidFill>
                  <a:srgbClr val="FF3300"/>
                </a:solidFill>
              </a:rPr>
              <a:t>e</a:t>
            </a:r>
          </a:p>
        </p:txBody>
      </p:sp>
      <p:grpSp>
        <p:nvGrpSpPr>
          <p:cNvPr id="3" name="Group 20"/>
          <p:cNvGrpSpPr>
            <a:grpSpLocks/>
          </p:cNvGrpSpPr>
          <p:nvPr/>
        </p:nvGrpSpPr>
        <p:grpSpPr bwMode="auto">
          <a:xfrm>
            <a:off x="5881691" y="2871789"/>
            <a:ext cx="693738" cy="612775"/>
            <a:chOff x="2372" y="3504"/>
            <a:chExt cx="437" cy="386"/>
          </a:xfrm>
        </p:grpSpPr>
        <p:sp>
          <p:nvSpPr>
            <p:cNvPr id="62534" name="Text Box 21"/>
            <p:cNvSpPr txBox="1">
              <a:spLocks noChangeArrowheads="1"/>
            </p:cNvSpPr>
            <p:nvPr/>
          </p:nvSpPr>
          <p:spPr bwMode="auto">
            <a:xfrm>
              <a:off x="2372" y="3657"/>
              <a:ext cx="437" cy="233"/>
            </a:xfrm>
            <a:prstGeom prst="rect">
              <a:avLst/>
            </a:prstGeom>
            <a:noFill/>
            <a:ln w="12700" cap="sq">
              <a:noFill/>
              <a:miter lim="800000"/>
              <a:headEnd type="none" w="sm" len="sm"/>
              <a:tailEnd type="none" w="sm" len="sm"/>
            </a:ln>
          </p:spPr>
          <p:txBody>
            <a:bodyPr wrap="none">
              <a:spAutoFit/>
            </a:bodyPr>
            <a:lstStyle/>
            <a:p>
              <a:r>
                <a:rPr lang="en-US" altLang="zh-CN" b="1">
                  <a:solidFill>
                    <a:srgbClr val="76003B"/>
                  </a:solidFill>
                </a:rPr>
                <a:t>top=4</a:t>
              </a:r>
            </a:p>
          </p:txBody>
        </p:sp>
        <p:sp>
          <p:nvSpPr>
            <p:cNvPr id="62535" name="Line 22"/>
            <p:cNvSpPr>
              <a:spLocks noChangeShapeType="1"/>
            </p:cNvSpPr>
            <p:nvPr/>
          </p:nvSpPr>
          <p:spPr bwMode="auto">
            <a:xfrm flipV="1">
              <a:off x="2544" y="3504"/>
              <a:ext cx="0" cy="192"/>
            </a:xfrm>
            <a:prstGeom prst="line">
              <a:avLst/>
            </a:prstGeom>
            <a:noFill/>
            <a:ln w="12700" cap="sq">
              <a:solidFill>
                <a:srgbClr val="660033"/>
              </a:solidFill>
              <a:round/>
              <a:headEnd type="none" w="sm" len="sm"/>
              <a:tailEnd type="triangle" w="med" len="med"/>
            </a:ln>
          </p:spPr>
          <p:txBody>
            <a:bodyPr/>
            <a:lstStyle/>
            <a:p>
              <a:endParaRPr lang="zh-CN" altLang="en-US"/>
            </a:p>
          </p:txBody>
        </p:sp>
      </p:grpSp>
      <p:sp>
        <p:nvSpPr>
          <p:cNvPr id="62474" name="Oval 43"/>
          <p:cNvSpPr>
            <a:spLocks noChangeArrowheads="1"/>
          </p:cNvSpPr>
          <p:nvPr/>
        </p:nvSpPr>
        <p:spPr bwMode="auto">
          <a:xfrm>
            <a:off x="5846763" y="3141664"/>
            <a:ext cx="762000" cy="363537"/>
          </a:xfrm>
          <a:prstGeom prst="ellipse">
            <a:avLst/>
          </a:prstGeom>
          <a:noFill/>
          <a:ln w="44450">
            <a:solidFill>
              <a:srgbClr val="FF0000"/>
            </a:solidFill>
            <a:prstDash val="dash"/>
            <a:round/>
            <a:headEnd type="none" w="sm" len="sm"/>
            <a:tailEnd type="none" w="sm" len="sm"/>
          </a:ln>
        </p:spPr>
        <p:txBody>
          <a:bodyPr wrap="none" anchor="ctr"/>
          <a:lstStyle/>
          <a:p>
            <a:endParaRPr lang="zh-CN" altLang="en-US"/>
          </a:p>
        </p:txBody>
      </p:sp>
      <p:grpSp>
        <p:nvGrpSpPr>
          <p:cNvPr id="4" name="Group 67"/>
          <p:cNvGrpSpPr>
            <a:grpSpLocks/>
          </p:cNvGrpSpPr>
          <p:nvPr/>
        </p:nvGrpSpPr>
        <p:grpSpPr bwMode="auto">
          <a:xfrm>
            <a:off x="3367088" y="1628775"/>
            <a:ext cx="5638800" cy="1244600"/>
            <a:chOff x="672" y="2387"/>
            <a:chExt cx="3552" cy="784"/>
          </a:xfrm>
        </p:grpSpPr>
        <p:sp>
          <p:nvSpPr>
            <p:cNvPr id="62522" name="Rectangle 55"/>
            <p:cNvSpPr>
              <a:spLocks noChangeArrowheads="1"/>
            </p:cNvSpPr>
            <p:nvPr/>
          </p:nvSpPr>
          <p:spPr bwMode="auto">
            <a:xfrm>
              <a:off x="1152" y="2931"/>
              <a:ext cx="288" cy="240"/>
            </a:xfrm>
            <a:prstGeom prst="rect">
              <a:avLst/>
            </a:prstGeom>
            <a:noFill/>
            <a:ln w="19050" cap="sq">
              <a:solidFill>
                <a:srgbClr val="660033"/>
              </a:solidFill>
              <a:miter lim="800000"/>
              <a:headEnd type="none" w="sm" len="sm"/>
              <a:tailEnd type="none" w="sm" len="sm"/>
            </a:ln>
          </p:spPr>
          <p:txBody>
            <a:bodyPr wrap="none" anchor="ctr"/>
            <a:lstStyle/>
            <a:p>
              <a:endParaRPr lang="zh-CN" altLang="en-US"/>
            </a:p>
          </p:txBody>
        </p:sp>
        <p:sp>
          <p:nvSpPr>
            <p:cNvPr id="62523" name="Rectangle 56"/>
            <p:cNvSpPr>
              <a:spLocks noChangeArrowheads="1"/>
            </p:cNvSpPr>
            <p:nvPr/>
          </p:nvSpPr>
          <p:spPr bwMode="auto">
            <a:xfrm>
              <a:off x="1440" y="2931"/>
              <a:ext cx="288" cy="240"/>
            </a:xfrm>
            <a:prstGeom prst="rect">
              <a:avLst/>
            </a:prstGeom>
            <a:noFill/>
            <a:ln w="19050" cap="sq">
              <a:solidFill>
                <a:srgbClr val="660033"/>
              </a:solidFill>
              <a:miter lim="800000"/>
              <a:headEnd type="none" w="sm" len="sm"/>
              <a:tailEnd type="none" w="sm" len="sm"/>
            </a:ln>
          </p:spPr>
          <p:txBody>
            <a:bodyPr wrap="none" anchor="ctr"/>
            <a:lstStyle/>
            <a:p>
              <a:endParaRPr lang="zh-CN" altLang="en-US"/>
            </a:p>
          </p:txBody>
        </p:sp>
        <p:sp>
          <p:nvSpPr>
            <p:cNvPr id="62524" name="Rectangle 57"/>
            <p:cNvSpPr>
              <a:spLocks noChangeArrowheads="1"/>
            </p:cNvSpPr>
            <p:nvPr/>
          </p:nvSpPr>
          <p:spPr bwMode="auto">
            <a:xfrm>
              <a:off x="1728" y="2931"/>
              <a:ext cx="288" cy="240"/>
            </a:xfrm>
            <a:prstGeom prst="rect">
              <a:avLst/>
            </a:prstGeom>
            <a:noFill/>
            <a:ln w="19050" cap="sq">
              <a:solidFill>
                <a:srgbClr val="660033"/>
              </a:solidFill>
              <a:miter lim="800000"/>
              <a:headEnd type="none" w="sm" len="sm"/>
              <a:tailEnd type="none" w="sm" len="sm"/>
            </a:ln>
          </p:spPr>
          <p:txBody>
            <a:bodyPr wrap="none" anchor="ctr"/>
            <a:lstStyle/>
            <a:p>
              <a:endParaRPr lang="zh-CN" altLang="en-US"/>
            </a:p>
          </p:txBody>
        </p:sp>
        <p:sp>
          <p:nvSpPr>
            <p:cNvPr id="62525" name="Rectangle 58"/>
            <p:cNvSpPr>
              <a:spLocks noChangeArrowheads="1"/>
            </p:cNvSpPr>
            <p:nvPr/>
          </p:nvSpPr>
          <p:spPr bwMode="auto">
            <a:xfrm>
              <a:off x="2304" y="2931"/>
              <a:ext cx="288" cy="240"/>
            </a:xfrm>
            <a:prstGeom prst="rect">
              <a:avLst/>
            </a:prstGeom>
            <a:noFill/>
            <a:ln w="19050" cap="sq">
              <a:solidFill>
                <a:srgbClr val="660033"/>
              </a:solidFill>
              <a:miter lim="800000"/>
              <a:headEnd type="none" w="sm" len="sm"/>
              <a:tailEnd type="none" w="sm" len="sm"/>
            </a:ln>
          </p:spPr>
          <p:txBody>
            <a:bodyPr wrap="none" anchor="ctr"/>
            <a:lstStyle/>
            <a:p>
              <a:endParaRPr lang="zh-CN" altLang="en-US"/>
            </a:p>
          </p:txBody>
        </p:sp>
        <p:sp>
          <p:nvSpPr>
            <p:cNvPr id="62526" name="Rectangle 59"/>
            <p:cNvSpPr>
              <a:spLocks noChangeArrowheads="1"/>
            </p:cNvSpPr>
            <p:nvPr/>
          </p:nvSpPr>
          <p:spPr bwMode="auto">
            <a:xfrm>
              <a:off x="2592" y="2931"/>
              <a:ext cx="288" cy="240"/>
            </a:xfrm>
            <a:prstGeom prst="rect">
              <a:avLst/>
            </a:prstGeom>
            <a:noFill/>
            <a:ln w="19050" cap="sq">
              <a:solidFill>
                <a:srgbClr val="660033"/>
              </a:solidFill>
              <a:miter lim="800000"/>
              <a:headEnd type="none" w="sm" len="sm"/>
              <a:tailEnd type="none" w="sm" len="sm"/>
            </a:ln>
          </p:spPr>
          <p:txBody>
            <a:bodyPr wrap="none" anchor="ctr"/>
            <a:lstStyle/>
            <a:p>
              <a:endParaRPr lang="zh-CN" altLang="en-US"/>
            </a:p>
          </p:txBody>
        </p:sp>
        <p:sp>
          <p:nvSpPr>
            <p:cNvPr id="62527" name="Rectangle 60"/>
            <p:cNvSpPr>
              <a:spLocks noChangeArrowheads="1"/>
            </p:cNvSpPr>
            <p:nvPr/>
          </p:nvSpPr>
          <p:spPr bwMode="auto">
            <a:xfrm>
              <a:off x="2016" y="2931"/>
              <a:ext cx="288" cy="240"/>
            </a:xfrm>
            <a:prstGeom prst="rect">
              <a:avLst/>
            </a:prstGeom>
            <a:noFill/>
            <a:ln w="19050" cap="sq">
              <a:solidFill>
                <a:srgbClr val="660033"/>
              </a:solidFill>
              <a:miter lim="800000"/>
              <a:headEnd type="none" w="sm" len="sm"/>
              <a:tailEnd type="none" w="sm" len="sm"/>
            </a:ln>
          </p:spPr>
          <p:txBody>
            <a:bodyPr wrap="none" anchor="ctr"/>
            <a:lstStyle/>
            <a:p>
              <a:endParaRPr lang="zh-CN" altLang="en-US"/>
            </a:p>
          </p:txBody>
        </p:sp>
        <p:sp>
          <p:nvSpPr>
            <p:cNvPr id="62528" name="Rectangle 61"/>
            <p:cNvSpPr>
              <a:spLocks noChangeArrowheads="1"/>
            </p:cNvSpPr>
            <p:nvPr/>
          </p:nvSpPr>
          <p:spPr bwMode="auto">
            <a:xfrm>
              <a:off x="3648" y="2931"/>
              <a:ext cx="288" cy="240"/>
            </a:xfrm>
            <a:prstGeom prst="rect">
              <a:avLst/>
            </a:prstGeom>
            <a:noFill/>
            <a:ln w="19050" cap="sq">
              <a:solidFill>
                <a:srgbClr val="660033"/>
              </a:solidFill>
              <a:miter lim="800000"/>
              <a:headEnd type="none" w="sm" len="sm"/>
              <a:tailEnd type="none" w="sm" len="sm"/>
            </a:ln>
          </p:spPr>
          <p:txBody>
            <a:bodyPr wrap="none" anchor="ctr"/>
            <a:lstStyle/>
            <a:p>
              <a:endParaRPr lang="zh-CN" altLang="en-US"/>
            </a:p>
          </p:txBody>
        </p:sp>
        <p:sp>
          <p:nvSpPr>
            <p:cNvPr id="62529" name="Rectangle 62"/>
            <p:cNvSpPr>
              <a:spLocks noChangeArrowheads="1"/>
            </p:cNvSpPr>
            <p:nvPr/>
          </p:nvSpPr>
          <p:spPr bwMode="auto">
            <a:xfrm>
              <a:off x="3936" y="2931"/>
              <a:ext cx="288" cy="240"/>
            </a:xfrm>
            <a:prstGeom prst="rect">
              <a:avLst/>
            </a:prstGeom>
            <a:noFill/>
            <a:ln w="19050" cap="sq">
              <a:solidFill>
                <a:srgbClr val="660033"/>
              </a:solidFill>
              <a:miter lim="800000"/>
              <a:headEnd type="none" w="sm" len="sm"/>
              <a:tailEnd type="none" w="sm" len="sm"/>
            </a:ln>
          </p:spPr>
          <p:txBody>
            <a:bodyPr wrap="none" anchor="ctr"/>
            <a:lstStyle/>
            <a:p>
              <a:endParaRPr lang="zh-CN" altLang="en-US"/>
            </a:p>
          </p:txBody>
        </p:sp>
        <p:sp>
          <p:nvSpPr>
            <p:cNvPr id="62530" name="Line 63"/>
            <p:cNvSpPr>
              <a:spLocks noChangeShapeType="1"/>
            </p:cNvSpPr>
            <p:nvPr/>
          </p:nvSpPr>
          <p:spPr bwMode="auto">
            <a:xfrm>
              <a:off x="2880" y="2931"/>
              <a:ext cx="768" cy="0"/>
            </a:xfrm>
            <a:prstGeom prst="line">
              <a:avLst/>
            </a:prstGeom>
            <a:noFill/>
            <a:ln w="19050" cap="sq">
              <a:solidFill>
                <a:srgbClr val="660033"/>
              </a:solidFill>
              <a:round/>
              <a:headEnd type="none" w="sm" len="sm"/>
              <a:tailEnd type="none" w="sm" len="sm"/>
            </a:ln>
          </p:spPr>
          <p:txBody>
            <a:bodyPr/>
            <a:lstStyle/>
            <a:p>
              <a:endParaRPr lang="zh-CN" altLang="en-US"/>
            </a:p>
          </p:txBody>
        </p:sp>
        <p:sp>
          <p:nvSpPr>
            <p:cNvPr id="62531" name="Line 64"/>
            <p:cNvSpPr>
              <a:spLocks noChangeShapeType="1"/>
            </p:cNvSpPr>
            <p:nvPr/>
          </p:nvSpPr>
          <p:spPr bwMode="auto">
            <a:xfrm>
              <a:off x="2880" y="3171"/>
              <a:ext cx="768" cy="0"/>
            </a:xfrm>
            <a:prstGeom prst="line">
              <a:avLst/>
            </a:prstGeom>
            <a:noFill/>
            <a:ln w="19050" cap="sq">
              <a:solidFill>
                <a:srgbClr val="660033"/>
              </a:solidFill>
              <a:round/>
              <a:headEnd type="none" w="sm" len="sm"/>
              <a:tailEnd type="none" w="sm" len="sm"/>
            </a:ln>
          </p:spPr>
          <p:txBody>
            <a:bodyPr/>
            <a:lstStyle/>
            <a:p>
              <a:endParaRPr lang="zh-CN" altLang="en-US"/>
            </a:p>
          </p:txBody>
        </p:sp>
        <p:sp>
          <p:nvSpPr>
            <p:cNvPr id="62532" name="Text Box 65"/>
            <p:cNvSpPr txBox="1">
              <a:spLocks noChangeArrowheads="1"/>
            </p:cNvSpPr>
            <p:nvPr/>
          </p:nvSpPr>
          <p:spPr bwMode="auto">
            <a:xfrm>
              <a:off x="1219" y="2756"/>
              <a:ext cx="2736" cy="213"/>
            </a:xfrm>
            <a:prstGeom prst="rect">
              <a:avLst/>
            </a:prstGeom>
            <a:noFill/>
            <a:ln w="12700" cap="sq">
              <a:noFill/>
              <a:miter lim="800000"/>
              <a:headEnd type="none" w="sm" len="sm"/>
              <a:tailEnd type="none" w="sm" len="sm"/>
            </a:ln>
          </p:spPr>
          <p:txBody>
            <a:bodyPr wrap="none">
              <a:spAutoFit/>
            </a:bodyPr>
            <a:lstStyle/>
            <a:p>
              <a:r>
                <a:rPr lang="zh-CN" altLang="en-US" sz="1600" b="1">
                  <a:solidFill>
                    <a:srgbClr val="660033"/>
                  </a:solidFill>
                </a:rPr>
                <a:t>0       1       2      3       4               </a:t>
              </a:r>
              <a:r>
                <a:rPr lang="zh-CN" altLang="en-US" sz="1600" b="1">
                  <a:solidFill>
                    <a:srgbClr val="660033"/>
                  </a:solidFill>
                  <a:ea typeface="宋体" charset="-122"/>
                  <a:cs typeface="Times New Roman" pitchFamily="18" charset="0"/>
                </a:rPr>
                <a:t>……</a:t>
              </a:r>
              <a:r>
                <a:rPr lang="zh-CN" altLang="en-US" sz="1600" b="1">
                  <a:solidFill>
                    <a:srgbClr val="660033"/>
                  </a:solidFill>
                </a:rPr>
                <a:t>                        </a:t>
              </a:r>
              <a:r>
                <a:rPr lang="en-US" altLang="zh-CN" sz="1600" b="1">
                  <a:solidFill>
                    <a:srgbClr val="660033"/>
                  </a:solidFill>
                </a:rPr>
                <a:t>M-1</a:t>
              </a:r>
            </a:p>
          </p:txBody>
        </p:sp>
        <p:sp>
          <p:nvSpPr>
            <p:cNvPr id="62533" name="Text Box 66"/>
            <p:cNvSpPr txBox="1">
              <a:spLocks noChangeArrowheads="1"/>
            </p:cNvSpPr>
            <p:nvPr/>
          </p:nvSpPr>
          <p:spPr bwMode="auto">
            <a:xfrm>
              <a:off x="672" y="2387"/>
              <a:ext cx="1981" cy="308"/>
            </a:xfrm>
            <a:prstGeom prst="rect">
              <a:avLst/>
            </a:prstGeom>
            <a:noFill/>
            <a:ln w="12700" cap="sq">
              <a:noFill/>
              <a:miter lim="800000"/>
              <a:headEnd type="none" w="sm" len="sm"/>
              <a:tailEnd type="none" w="sm" len="sm"/>
            </a:ln>
          </p:spPr>
          <p:txBody>
            <a:bodyPr>
              <a:spAutoFit/>
            </a:bodyPr>
            <a:lstStyle/>
            <a:p>
              <a:r>
                <a:rPr lang="en-US" altLang="zh-CN" sz="2600" b="1">
                  <a:solidFill>
                    <a:srgbClr val="D80000"/>
                  </a:solidFill>
                </a:rPr>
                <a:t>STACK[0..M</a:t>
              </a:r>
              <a:r>
                <a:rPr lang="en-US" altLang="zh-CN" sz="2600" b="1">
                  <a:solidFill>
                    <a:srgbClr val="D80000"/>
                  </a:solidFill>
                  <a:latin typeface="宋体" charset="-122"/>
                  <a:ea typeface="宋体" charset="-122"/>
                </a:rPr>
                <a:t>-</a:t>
              </a:r>
              <a:r>
                <a:rPr lang="en-US" altLang="zh-CN" sz="2600" b="1">
                  <a:solidFill>
                    <a:srgbClr val="D80000"/>
                  </a:solidFill>
                </a:rPr>
                <a:t>1]</a:t>
              </a:r>
            </a:p>
          </p:txBody>
        </p:sp>
      </p:grpSp>
      <p:grpSp>
        <p:nvGrpSpPr>
          <p:cNvPr id="5" name="Group 2"/>
          <p:cNvGrpSpPr>
            <a:grpSpLocks/>
          </p:cNvGrpSpPr>
          <p:nvPr/>
        </p:nvGrpSpPr>
        <p:grpSpPr bwMode="auto">
          <a:xfrm>
            <a:off x="3387725" y="3517900"/>
            <a:ext cx="5695950" cy="1390650"/>
            <a:chOff x="768" y="1248"/>
            <a:chExt cx="3588" cy="876"/>
          </a:xfrm>
        </p:grpSpPr>
        <p:sp>
          <p:nvSpPr>
            <p:cNvPr id="62506" name="Text Box 3"/>
            <p:cNvSpPr txBox="1">
              <a:spLocks noChangeArrowheads="1"/>
            </p:cNvSpPr>
            <p:nvPr/>
          </p:nvSpPr>
          <p:spPr bwMode="auto">
            <a:xfrm>
              <a:off x="852" y="1248"/>
              <a:ext cx="3504" cy="202"/>
            </a:xfrm>
            <a:prstGeom prst="rect">
              <a:avLst/>
            </a:prstGeom>
            <a:noFill/>
            <a:ln w="12700" cap="sq">
              <a:noFill/>
              <a:miter lim="800000"/>
              <a:headEnd type="none" w="sm" len="sm"/>
              <a:tailEnd type="none" w="sm" len="sm"/>
            </a:ln>
          </p:spPr>
          <p:txBody>
            <a:bodyPr>
              <a:spAutoFit/>
            </a:bodyPr>
            <a:lstStyle/>
            <a:p>
              <a:r>
                <a:rPr lang="zh-CN" altLang="en-US" sz="1500" b="1" dirty="0">
                  <a:solidFill>
                    <a:srgbClr val="000099"/>
                  </a:solidFill>
                </a:rPr>
                <a:t>0          1          2        3         </a:t>
              </a:r>
              <a:r>
                <a:rPr lang="zh-CN" altLang="en-US" sz="1500" b="1" dirty="0"/>
                <a:t>4                                                      </a:t>
              </a:r>
              <a:r>
                <a:rPr lang="en-US" altLang="zh-CN" sz="1500" b="1" dirty="0"/>
                <a:t>M</a:t>
              </a:r>
              <a:r>
                <a:rPr lang="en-US" altLang="zh-CN" sz="1500" b="1" dirty="0">
                  <a:latin typeface="宋体" charset="-122"/>
                  <a:ea typeface="宋体" charset="-122"/>
                </a:rPr>
                <a:t>-</a:t>
              </a:r>
              <a:r>
                <a:rPr lang="en-US" altLang="zh-CN" sz="1500" b="1" dirty="0"/>
                <a:t>1  </a:t>
              </a:r>
            </a:p>
          </p:txBody>
        </p:sp>
        <p:sp>
          <p:nvSpPr>
            <p:cNvPr id="62507" name="Text Box 4"/>
            <p:cNvSpPr txBox="1">
              <a:spLocks noChangeArrowheads="1"/>
            </p:cNvSpPr>
            <p:nvPr/>
          </p:nvSpPr>
          <p:spPr bwMode="auto">
            <a:xfrm>
              <a:off x="816" y="1424"/>
              <a:ext cx="228" cy="327"/>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99"/>
                  </a:solidFill>
                </a:rPr>
                <a:t>a</a:t>
              </a:r>
            </a:p>
          </p:txBody>
        </p:sp>
        <p:sp>
          <p:nvSpPr>
            <p:cNvPr id="62508" name="Text Box 5"/>
            <p:cNvSpPr txBox="1">
              <a:spLocks noChangeArrowheads="1"/>
            </p:cNvSpPr>
            <p:nvPr/>
          </p:nvSpPr>
          <p:spPr bwMode="auto">
            <a:xfrm>
              <a:off x="1824" y="1420"/>
              <a:ext cx="229" cy="33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99"/>
                  </a:solidFill>
                </a:rPr>
                <a:t>d</a:t>
              </a:r>
            </a:p>
          </p:txBody>
        </p:sp>
        <p:sp>
          <p:nvSpPr>
            <p:cNvPr id="62509" name="Text Box 6"/>
            <p:cNvSpPr txBox="1">
              <a:spLocks noChangeArrowheads="1"/>
            </p:cNvSpPr>
            <p:nvPr/>
          </p:nvSpPr>
          <p:spPr bwMode="auto">
            <a:xfrm>
              <a:off x="1536" y="1408"/>
              <a:ext cx="219" cy="33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99"/>
                  </a:solidFill>
                </a:rPr>
                <a:t>c</a:t>
              </a:r>
            </a:p>
          </p:txBody>
        </p:sp>
        <p:sp>
          <p:nvSpPr>
            <p:cNvPr id="62510" name="Text Box 7"/>
            <p:cNvSpPr txBox="1">
              <a:spLocks noChangeArrowheads="1"/>
            </p:cNvSpPr>
            <p:nvPr/>
          </p:nvSpPr>
          <p:spPr bwMode="auto">
            <a:xfrm>
              <a:off x="1164" y="1420"/>
              <a:ext cx="229" cy="33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99"/>
                  </a:solidFill>
                </a:rPr>
                <a:t>b</a:t>
              </a:r>
            </a:p>
          </p:txBody>
        </p:sp>
        <p:sp>
          <p:nvSpPr>
            <p:cNvPr id="62511" name="Text Box 8"/>
            <p:cNvSpPr txBox="1">
              <a:spLocks noChangeArrowheads="1"/>
            </p:cNvSpPr>
            <p:nvPr/>
          </p:nvSpPr>
          <p:spPr bwMode="auto">
            <a:xfrm>
              <a:off x="1968" y="1872"/>
              <a:ext cx="322" cy="252"/>
            </a:xfrm>
            <a:prstGeom prst="rect">
              <a:avLst/>
            </a:prstGeom>
            <a:noFill/>
            <a:ln w="12700" cap="sq">
              <a:noFill/>
              <a:miter lim="800000"/>
              <a:headEnd type="none" w="sm" len="sm"/>
              <a:tailEnd type="none" w="sm" len="sm"/>
            </a:ln>
          </p:spPr>
          <p:txBody>
            <a:bodyPr wrap="none">
              <a:spAutoFit/>
            </a:bodyPr>
            <a:lstStyle/>
            <a:p>
              <a:r>
                <a:rPr lang="en-US" altLang="zh-CN" sz="2000" b="1">
                  <a:solidFill>
                    <a:schemeClr val="accent2"/>
                  </a:solidFill>
                </a:rPr>
                <a:t>top</a:t>
              </a:r>
              <a:endParaRPr lang="en-US" altLang="zh-CN" sz="2000" b="1">
                <a:solidFill>
                  <a:srgbClr val="FFFF00"/>
                </a:solidFill>
              </a:endParaRPr>
            </a:p>
          </p:txBody>
        </p:sp>
        <p:sp>
          <p:nvSpPr>
            <p:cNvPr id="62512" name="Line 9"/>
            <p:cNvSpPr>
              <a:spLocks noChangeShapeType="1"/>
            </p:cNvSpPr>
            <p:nvPr/>
          </p:nvSpPr>
          <p:spPr bwMode="auto">
            <a:xfrm flipH="1" flipV="1">
              <a:off x="1992" y="1764"/>
              <a:ext cx="48" cy="144"/>
            </a:xfrm>
            <a:prstGeom prst="line">
              <a:avLst/>
            </a:prstGeom>
            <a:noFill/>
            <a:ln w="25400" cap="sq">
              <a:solidFill>
                <a:schemeClr val="accent2"/>
              </a:solidFill>
              <a:round/>
              <a:headEnd type="none" w="sm" len="sm"/>
              <a:tailEnd type="triangle" w="sm" len="sm"/>
            </a:ln>
          </p:spPr>
          <p:txBody>
            <a:bodyPr/>
            <a:lstStyle/>
            <a:p>
              <a:endParaRPr lang="zh-CN" altLang="en-US"/>
            </a:p>
          </p:txBody>
        </p:sp>
        <p:sp>
          <p:nvSpPr>
            <p:cNvPr id="62513" name="Rectangle 10"/>
            <p:cNvSpPr>
              <a:spLocks noChangeArrowheads="1"/>
            </p:cNvSpPr>
            <p:nvPr/>
          </p:nvSpPr>
          <p:spPr bwMode="auto">
            <a:xfrm>
              <a:off x="768" y="1440"/>
              <a:ext cx="336" cy="288"/>
            </a:xfrm>
            <a:prstGeom prst="rect">
              <a:avLst/>
            </a:prstGeom>
            <a:noFill/>
            <a:ln w="25400" cap="sq">
              <a:solidFill>
                <a:schemeClr val="bg1"/>
              </a:solidFill>
              <a:miter lim="800000"/>
              <a:headEnd type="none" w="sm" len="sm"/>
              <a:tailEnd type="none" w="sm" len="sm"/>
            </a:ln>
          </p:spPr>
          <p:txBody>
            <a:bodyPr wrap="none" anchor="ctr"/>
            <a:lstStyle/>
            <a:p>
              <a:endParaRPr lang="zh-CN" altLang="en-US"/>
            </a:p>
          </p:txBody>
        </p:sp>
        <p:sp>
          <p:nvSpPr>
            <p:cNvPr id="62514" name="Rectangle 11"/>
            <p:cNvSpPr>
              <a:spLocks noChangeArrowheads="1"/>
            </p:cNvSpPr>
            <p:nvPr/>
          </p:nvSpPr>
          <p:spPr bwMode="auto">
            <a:xfrm>
              <a:off x="1104" y="1440"/>
              <a:ext cx="336" cy="288"/>
            </a:xfrm>
            <a:prstGeom prst="rect">
              <a:avLst/>
            </a:prstGeom>
            <a:noFill/>
            <a:ln w="25400" cap="sq">
              <a:solidFill>
                <a:schemeClr val="bg1"/>
              </a:solidFill>
              <a:miter lim="800000"/>
              <a:headEnd type="none" w="sm" len="sm"/>
              <a:tailEnd type="none" w="sm" len="sm"/>
            </a:ln>
          </p:spPr>
          <p:txBody>
            <a:bodyPr wrap="none" anchor="ctr"/>
            <a:lstStyle/>
            <a:p>
              <a:endParaRPr lang="zh-CN" altLang="en-US"/>
            </a:p>
          </p:txBody>
        </p:sp>
        <p:sp>
          <p:nvSpPr>
            <p:cNvPr id="62515" name="Rectangle 12"/>
            <p:cNvSpPr>
              <a:spLocks noChangeArrowheads="1"/>
            </p:cNvSpPr>
            <p:nvPr/>
          </p:nvSpPr>
          <p:spPr bwMode="auto">
            <a:xfrm>
              <a:off x="1440" y="1440"/>
              <a:ext cx="336" cy="288"/>
            </a:xfrm>
            <a:prstGeom prst="rect">
              <a:avLst/>
            </a:prstGeom>
            <a:noFill/>
            <a:ln w="25400" cap="sq">
              <a:solidFill>
                <a:schemeClr val="bg1"/>
              </a:solidFill>
              <a:miter lim="800000"/>
              <a:headEnd type="none" w="sm" len="sm"/>
              <a:tailEnd type="none" w="sm" len="sm"/>
            </a:ln>
          </p:spPr>
          <p:txBody>
            <a:bodyPr wrap="none" anchor="ctr"/>
            <a:lstStyle/>
            <a:p>
              <a:endParaRPr lang="zh-CN" altLang="en-US"/>
            </a:p>
          </p:txBody>
        </p:sp>
        <p:sp>
          <p:nvSpPr>
            <p:cNvPr id="62516" name="Rectangle 13"/>
            <p:cNvSpPr>
              <a:spLocks noChangeArrowheads="1"/>
            </p:cNvSpPr>
            <p:nvPr/>
          </p:nvSpPr>
          <p:spPr bwMode="auto">
            <a:xfrm>
              <a:off x="1776" y="1440"/>
              <a:ext cx="336" cy="288"/>
            </a:xfrm>
            <a:prstGeom prst="rect">
              <a:avLst/>
            </a:prstGeom>
            <a:noFill/>
            <a:ln w="25400" cap="sq">
              <a:solidFill>
                <a:schemeClr val="bg1"/>
              </a:solidFill>
              <a:miter lim="800000"/>
              <a:headEnd type="none" w="sm" len="sm"/>
              <a:tailEnd type="none" w="sm" len="sm"/>
            </a:ln>
          </p:spPr>
          <p:txBody>
            <a:bodyPr wrap="none" anchor="ctr"/>
            <a:lstStyle/>
            <a:p>
              <a:endParaRPr lang="zh-CN" altLang="en-US"/>
            </a:p>
          </p:txBody>
        </p:sp>
        <p:sp>
          <p:nvSpPr>
            <p:cNvPr id="62517" name="Rectangle 14"/>
            <p:cNvSpPr>
              <a:spLocks noChangeArrowheads="1"/>
            </p:cNvSpPr>
            <p:nvPr/>
          </p:nvSpPr>
          <p:spPr bwMode="auto">
            <a:xfrm>
              <a:off x="2112" y="1440"/>
              <a:ext cx="336" cy="288"/>
            </a:xfrm>
            <a:prstGeom prst="rect">
              <a:avLst/>
            </a:prstGeom>
            <a:noFill/>
            <a:ln w="25400" cap="sq">
              <a:solidFill>
                <a:schemeClr val="bg1"/>
              </a:solidFill>
              <a:miter lim="800000"/>
              <a:headEnd type="none" w="sm" len="sm"/>
              <a:tailEnd type="none" w="sm" len="sm"/>
            </a:ln>
          </p:spPr>
          <p:txBody>
            <a:bodyPr wrap="none" anchor="ctr"/>
            <a:lstStyle/>
            <a:p>
              <a:endParaRPr lang="zh-CN" altLang="en-US"/>
            </a:p>
          </p:txBody>
        </p:sp>
        <p:sp>
          <p:nvSpPr>
            <p:cNvPr id="62518" name="Rectangle 15"/>
            <p:cNvSpPr>
              <a:spLocks noChangeArrowheads="1"/>
            </p:cNvSpPr>
            <p:nvPr/>
          </p:nvSpPr>
          <p:spPr bwMode="auto">
            <a:xfrm>
              <a:off x="2448" y="1440"/>
              <a:ext cx="336" cy="288"/>
            </a:xfrm>
            <a:prstGeom prst="rect">
              <a:avLst/>
            </a:prstGeom>
            <a:noFill/>
            <a:ln w="25400" cap="sq">
              <a:solidFill>
                <a:schemeClr val="bg1"/>
              </a:solidFill>
              <a:miter lim="800000"/>
              <a:headEnd type="none" w="sm" len="sm"/>
              <a:tailEnd type="none" w="sm" len="sm"/>
            </a:ln>
          </p:spPr>
          <p:txBody>
            <a:bodyPr wrap="none" anchor="ctr"/>
            <a:lstStyle/>
            <a:p>
              <a:endParaRPr lang="zh-CN" altLang="en-US"/>
            </a:p>
          </p:txBody>
        </p:sp>
        <p:sp>
          <p:nvSpPr>
            <p:cNvPr id="62519" name="Rectangle 16"/>
            <p:cNvSpPr>
              <a:spLocks noChangeArrowheads="1"/>
            </p:cNvSpPr>
            <p:nvPr/>
          </p:nvSpPr>
          <p:spPr bwMode="auto">
            <a:xfrm>
              <a:off x="3888" y="1440"/>
              <a:ext cx="336" cy="288"/>
            </a:xfrm>
            <a:prstGeom prst="rect">
              <a:avLst/>
            </a:prstGeom>
            <a:noFill/>
            <a:ln w="25400" cap="sq">
              <a:solidFill>
                <a:schemeClr val="bg1"/>
              </a:solidFill>
              <a:miter lim="800000"/>
              <a:headEnd type="none" w="sm" len="sm"/>
              <a:tailEnd type="none" w="sm" len="sm"/>
            </a:ln>
          </p:spPr>
          <p:txBody>
            <a:bodyPr wrap="none" anchor="ctr"/>
            <a:lstStyle/>
            <a:p>
              <a:endParaRPr lang="zh-CN" altLang="en-US"/>
            </a:p>
          </p:txBody>
        </p:sp>
        <p:sp>
          <p:nvSpPr>
            <p:cNvPr id="62520" name="Rectangle 17"/>
            <p:cNvSpPr>
              <a:spLocks noChangeArrowheads="1"/>
            </p:cNvSpPr>
            <p:nvPr/>
          </p:nvSpPr>
          <p:spPr bwMode="auto">
            <a:xfrm>
              <a:off x="2784" y="1440"/>
              <a:ext cx="1104" cy="288"/>
            </a:xfrm>
            <a:prstGeom prst="rect">
              <a:avLst/>
            </a:prstGeom>
            <a:noFill/>
            <a:ln w="25400" cap="sq">
              <a:solidFill>
                <a:schemeClr val="bg1"/>
              </a:solidFill>
              <a:miter lim="800000"/>
              <a:headEnd type="none" w="sm" len="sm"/>
              <a:tailEnd type="none" w="sm" len="sm"/>
            </a:ln>
          </p:spPr>
          <p:txBody>
            <a:bodyPr wrap="none" anchor="ctr"/>
            <a:lstStyle/>
            <a:p>
              <a:endParaRPr lang="zh-CN" altLang="en-US"/>
            </a:p>
          </p:txBody>
        </p:sp>
        <p:sp>
          <p:nvSpPr>
            <p:cNvPr id="62521" name="Rectangle 18"/>
            <p:cNvSpPr>
              <a:spLocks noChangeArrowheads="1"/>
            </p:cNvSpPr>
            <p:nvPr/>
          </p:nvSpPr>
          <p:spPr bwMode="auto">
            <a:xfrm>
              <a:off x="3148" y="1392"/>
              <a:ext cx="275" cy="291"/>
            </a:xfrm>
            <a:prstGeom prst="rect">
              <a:avLst/>
            </a:prstGeom>
            <a:noFill/>
            <a:ln w="12700" cap="sq">
              <a:noFill/>
              <a:miter lim="800000"/>
              <a:headEnd type="none" w="sm" len="sm"/>
              <a:tailEnd type="none" w="sm" len="sm"/>
            </a:ln>
          </p:spPr>
          <p:txBody>
            <a:bodyPr wrap="none">
              <a:spAutoFit/>
            </a:bodyPr>
            <a:lstStyle/>
            <a:p>
              <a:r>
                <a:rPr lang="zh-CN" altLang="en-US" sz="2400" b="1">
                  <a:solidFill>
                    <a:srgbClr val="000099"/>
                  </a:solidFill>
                  <a:ea typeface="宋体" charset="-122"/>
                  <a:cs typeface="Times New Roman" pitchFamily="18" charset="0"/>
                </a:rPr>
                <a:t>…</a:t>
              </a:r>
            </a:p>
          </p:txBody>
        </p:sp>
      </p:grpSp>
      <p:grpSp>
        <p:nvGrpSpPr>
          <p:cNvPr id="6" name="Group 19"/>
          <p:cNvGrpSpPr>
            <a:grpSpLocks/>
          </p:cNvGrpSpPr>
          <p:nvPr/>
        </p:nvGrpSpPr>
        <p:grpSpPr bwMode="auto">
          <a:xfrm>
            <a:off x="5140325" y="4330700"/>
            <a:ext cx="609600" cy="247650"/>
            <a:chOff x="1872" y="1764"/>
            <a:chExt cx="384" cy="156"/>
          </a:xfrm>
        </p:grpSpPr>
        <p:sp>
          <p:nvSpPr>
            <p:cNvPr id="62504" name="Rectangle 20"/>
            <p:cNvSpPr>
              <a:spLocks noChangeArrowheads="1"/>
            </p:cNvSpPr>
            <p:nvPr/>
          </p:nvSpPr>
          <p:spPr bwMode="auto">
            <a:xfrm>
              <a:off x="1872" y="1764"/>
              <a:ext cx="264" cy="156"/>
            </a:xfrm>
            <a:prstGeom prst="rect">
              <a:avLst/>
            </a:prstGeom>
            <a:solidFill>
              <a:srgbClr val="FFFFFF"/>
            </a:solidFill>
            <a:ln w="12700" cap="sq">
              <a:noFill/>
              <a:miter lim="800000"/>
              <a:headEnd type="none" w="sm" len="sm"/>
              <a:tailEnd type="none" w="sm" len="sm"/>
            </a:ln>
          </p:spPr>
          <p:txBody>
            <a:bodyPr wrap="none" anchor="ctr"/>
            <a:lstStyle/>
            <a:p>
              <a:endParaRPr lang="zh-CN" altLang="en-US"/>
            </a:p>
          </p:txBody>
        </p:sp>
        <p:sp>
          <p:nvSpPr>
            <p:cNvPr id="62505" name="Line 21"/>
            <p:cNvSpPr>
              <a:spLocks noChangeShapeType="1"/>
            </p:cNvSpPr>
            <p:nvPr/>
          </p:nvSpPr>
          <p:spPr bwMode="auto">
            <a:xfrm flipV="1">
              <a:off x="2160" y="1776"/>
              <a:ext cx="96" cy="144"/>
            </a:xfrm>
            <a:prstGeom prst="line">
              <a:avLst/>
            </a:prstGeom>
            <a:noFill/>
            <a:ln w="22225" cap="sq">
              <a:solidFill>
                <a:schemeClr val="accent2"/>
              </a:solidFill>
              <a:round/>
              <a:headEnd type="none" w="sm" len="sm"/>
              <a:tailEnd type="triangle" w="sm" len="sm"/>
            </a:ln>
          </p:spPr>
          <p:txBody>
            <a:bodyPr/>
            <a:lstStyle/>
            <a:p>
              <a:endParaRPr lang="zh-CN" altLang="en-US"/>
            </a:p>
          </p:txBody>
        </p:sp>
      </p:grpSp>
      <p:sp>
        <p:nvSpPr>
          <p:cNvPr id="62478" name="Text Box 22"/>
          <p:cNvSpPr txBox="1">
            <a:spLocks noChangeArrowheads="1"/>
          </p:cNvSpPr>
          <p:nvPr/>
        </p:nvSpPr>
        <p:spPr bwMode="auto">
          <a:xfrm>
            <a:off x="5484813" y="3898900"/>
            <a:ext cx="574196" cy="369332"/>
          </a:xfrm>
          <a:prstGeom prst="rect">
            <a:avLst/>
          </a:prstGeom>
          <a:noFill/>
          <a:ln w="12700" cap="sq">
            <a:noFill/>
            <a:miter lim="800000"/>
            <a:headEnd type="none" w="sm" len="sm"/>
            <a:tailEnd type="none" w="sm" len="sm"/>
          </a:ln>
        </p:spPr>
        <p:txBody>
          <a:bodyPr wrap="none">
            <a:spAutoFit/>
          </a:bodyPr>
          <a:lstStyle/>
          <a:p>
            <a:r>
              <a:rPr lang="en-US" altLang="zh-CN" b="1">
                <a:solidFill>
                  <a:schemeClr val="accent2"/>
                </a:solidFill>
              </a:rPr>
              <a:t>item</a:t>
            </a:r>
          </a:p>
        </p:txBody>
      </p:sp>
      <p:grpSp>
        <p:nvGrpSpPr>
          <p:cNvPr id="7" name="Group 2"/>
          <p:cNvGrpSpPr>
            <a:grpSpLocks/>
          </p:cNvGrpSpPr>
          <p:nvPr/>
        </p:nvGrpSpPr>
        <p:grpSpPr bwMode="auto">
          <a:xfrm>
            <a:off x="3335338" y="4794250"/>
            <a:ext cx="5695950" cy="1390650"/>
            <a:chOff x="768" y="960"/>
            <a:chExt cx="3588" cy="876"/>
          </a:xfrm>
        </p:grpSpPr>
        <p:sp>
          <p:nvSpPr>
            <p:cNvPr id="62487" name="Text Box 3"/>
            <p:cNvSpPr txBox="1">
              <a:spLocks noChangeArrowheads="1"/>
            </p:cNvSpPr>
            <p:nvPr/>
          </p:nvSpPr>
          <p:spPr bwMode="auto">
            <a:xfrm>
              <a:off x="852" y="960"/>
              <a:ext cx="3504" cy="202"/>
            </a:xfrm>
            <a:prstGeom prst="rect">
              <a:avLst/>
            </a:prstGeom>
            <a:noFill/>
            <a:ln w="12700" cap="sq">
              <a:noFill/>
              <a:miter lim="800000"/>
              <a:headEnd type="none" w="sm" len="sm"/>
              <a:tailEnd type="none" w="sm" len="sm"/>
            </a:ln>
          </p:spPr>
          <p:txBody>
            <a:bodyPr>
              <a:spAutoFit/>
            </a:bodyPr>
            <a:lstStyle/>
            <a:p>
              <a:r>
                <a:rPr lang="zh-CN" altLang="en-US" sz="1500" b="1">
                  <a:solidFill>
                    <a:srgbClr val="000099"/>
                  </a:solidFill>
                </a:rPr>
                <a:t>0          1          2        3          4                                                     </a:t>
              </a:r>
              <a:r>
                <a:rPr lang="en-US" altLang="zh-CN" sz="1500" b="1">
                  <a:solidFill>
                    <a:srgbClr val="000099"/>
                  </a:solidFill>
                </a:rPr>
                <a:t>M</a:t>
              </a:r>
              <a:r>
                <a:rPr lang="en-US" altLang="zh-CN" sz="1500" b="1">
                  <a:solidFill>
                    <a:srgbClr val="000099"/>
                  </a:solidFill>
                  <a:latin typeface="宋体" charset="-122"/>
                  <a:ea typeface="宋体" charset="-122"/>
                </a:rPr>
                <a:t>-</a:t>
              </a:r>
              <a:r>
                <a:rPr lang="en-US" altLang="zh-CN" sz="1500" b="1">
                  <a:solidFill>
                    <a:srgbClr val="000099"/>
                  </a:solidFill>
                </a:rPr>
                <a:t>1</a:t>
              </a:r>
              <a:r>
                <a:rPr lang="en-US" altLang="zh-CN" sz="1500" b="1">
                  <a:solidFill>
                    <a:schemeClr val="bg1"/>
                  </a:solidFill>
                </a:rPr>
                <a:t> </a:t>
              </a:r>
              <a:r>
                <a:rPr lang="en-US" altLang="zh-CN" sz="1500" b="1">
                  <a:solidFill>
                    <a:srgbClr val="000099"/>
                  </a:solidFill>
                </a:rPr>
                <a:t> </a:t>
              </a:r>
            </a:p>
          </p:txBody>
        </p:sp>
        <p:sp>
          <p:nvSpPr>
            <p:cNvPr id="62488" name="Text Box 4"/>
            <p:cNvSpPr txBox="1">
              <a:spLocks noChangeArrowheads="1"/>
            </p:cNvSpPr>
            <p:nvPr/>
          </p:nvSpPr>
          <p:spPr bwMode="auto">
            <a:xfrm>
              <a:off x="816" y="1136"/>
              <a:ext cx="228" cy="327"/>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99"/>
                  </a:solidFill>
                </a:rPr>
                <a:t>a</a:t>
              </a:r>
            </a:p>
          </p:txBody>
        </p:sp>
        <p:sp>
          <p:nvSpPr>
            <p:cNvPr id="62489" name="Text Box 5"/>
            <p:cNvSpPr txBox="1">
              <a:spLocks noChangeArrowheads="1"/>
            </p:cNvSpPr>
            <p:nvPr/>
          </p:nvSpPr>
          <p:spPr bwMode="auto">
            <a:xfrm>
              <a:off x="1824" y="1132"/>
              <a:ext cx="229" cy="33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99"/>
                  </a:solidFill>
                </a:rPr>
                <a:t>d</a:t>
              </a:r>
            </a:p>
          </p:txBody>
        </p:sp>
        <p:sp>
          <p:nvSpPr>
            <p:cNvPr id="62490" name="Text Box 6"/>
            <p:cNvSpPr txBox="1">
              <a:spLocks noChangeArrowheads="1"/>
            </p:cNvSpPr>
            <p:nvPr/>
          </p:nvSpPr>
          <p:spPr bwMode="auto">
            <a:xfrm>
              <a:off x="1536" y="1120"/>
              <a:ext cx="219" cy="33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99"/>
                  </a:solidFill>
                </a:rPr>
                <a:t>c</a:t>
              </a:r>
            </a:p>
          </p:txBody>
        </p:sp>
        <p:sp>
          <p:nvSpPr>
            <p:cNvPr id="62491" name="Text Box 7"/>
            <p:cNvSpPr txBox="1">
              <a:spLocks noChangeArrowheads="1"/>
            </p:cNvSpPr>
            <p:nvPr/>
          </p:nvSpPr>
          <p:spPr bwMode="auto">
            <a:xfrm>
              <a:off x="1164" y="1132"/>
              <a:ext cx="229" cy="33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99"/>
                  </a:solidFill>
                </a:rPr>
                <a:t>b</a:t>
              </a:r>
            </a:p>
          </p:txBody>
        </p:sp>
        <p:sp>
          <p:nvSpPr>
            <p:cNvPr id="62492" name="Text Box 8"/>
            <p:cNvSpPr txBox="1">
              <a:spLocks noChangeArrowheads="1"/>
            </p:cNvSpPr>
            <p:nvPr/>
          </p:nvSpPr>
          <p:spPr bwMode="auto">
            <a:xfrm>
              <a:off x="1968" y="1584"/>
              <a:ext cx="322" cy="252"/>
            </a:xfrm>
            <a:prstGeom prst="rect">
              <a:avLst/>
            </a:prstGeom>
            <a:noFill/>
            <a:ln w="12700" cap="sq">
              <a:noFill/>
              <a:miter lim="800000"/>
              <a:headEnd type="none" w="sm" len="sm"/>
              <a:tailEnd type="none" w="sm" len="sm"/>
            </a:ln>
          </p:spPr>
          <p:txBody>
            <a:bodyPr wrap="none">
              <a:spAutoFit/>
            </a:bodyPr>
            <a:lstStyle/>
            <a:p>
              <a:r>
                <a:rPr lang="en-US" altLang="zh-CN" sz="2000" b="1">
                  <a:solidFill>
                    <a:schemeClr val="accent2"/>
                  </a:solidFill>
                </a:rPr>
                <a:t>top</a:t>
              </a:r>
              <a:endParaRPr lang="en-US" altLang="zh-CN" sz="2000" b="1">
                <a:solidFill>
                  <a:srgbClr val="FFFF00"/>
                </a:solidFill>
              </a:endParaRPr>
            </a:p>
          </p:txBody>
        </p:sp>
        <p:sp>
          <p:nvSpPr>
            <p:cNvPr id="62493" name="Rectangle 9"/>
            <p:cNvSpPr>
              <a:spLocks noChangeArrowheads="1"/>
            </p:cNvSpPr>
            <p:nvPr/>
          </p:nvSpPr>
          <p:spPr bwMode="auto">
            <a:xfrm>
              <a:off x="768" y="1152"/>
              <a:ext cx="336" cy="288"/>
            </a:xfrm>
            <a:prstGeom prst="rect">
              <a:avLst/>
            </a:prstGeom>
            <a:noFill/>
            <a:ln w="25400" cap="sq">
              <a:solidFill>
                <a:schemeClr val="bg1"/>
              </a:solidFill>
              <a:miter lim="800000"/>
              <a:headEnd type="none" w="sm" len="sm"/>
              <a:tailEnd type="none" w="sm" len="sm"/>
            </a:ln>
          </p:spPr>
          <p:txBody>
            <a:bodyPr wrap="none" anchor="ctr"/>
            <a:lstStyle/>
            <a:p>
              <a:endParaRPr lang="zh-CN" altLang="en-US"/>
            </a:p>
          </p:txBody>
        </p:sp>
        <p:sp>
          <p:nvSpPr>
            <p:cNvPr id="62494" name="Rectangle 10"/>
            <p:cNvSpPr>
              <a:spLocks noChangeArrowheads="1"/>
            </p:cNvSpPr>
            <p:nvPr/>
          </p:nvSpPr>
          <p:spPr bwMode="auto">
            <a:xfrm>
              <a:off x="1104" y="1152"/>
              <a:ext cx="336" cy="288"/>
            </a:xfrm>
            <a:prstGeom prst="rect">
              <a:avLst/>
            </a:prstGeom>
            <a:noFill/>
            <a:ln w="25400" cap="sq">
              <a:solidFill>
                <a:schemeClr val="bg1"/>
              </a:solidFill>
              <a:miter lim="800000"/>
              <a:headEnd type="none" w="sm" len="sm"/>
              <a:tailEnd type="none" w="sm" len="sm"/>
            </a:ln>
          </p:spPr>
          <p:txBody>
            <a:bodyPr wrap="none" anchor="ctr"/>
            <a:lstStyle/>
            <a:p>
              <a:endParaRPr lang="zh-CN" altLang="en-US"/>
            </a:p>
          </p:txBody>
        </p:sp>
        <p:sp>
          <p:nvSpPr>
            <p:cNvPr id="62495" name="Rectangle 11"/>
            <p:cNvSpPr>
              <a:spLocks noChangeArrowheads="1"/>
            </p:cNvSpPr>
            <p:nvPr/>
          </p:nvSpPr>
          <p:spPr bwMode="auto">
            <a:xfrm>
              <a:off x="1440" y="1152"/>
              <a:ext cx="336" cy="288"/>
            </a:xfrm>
            <a:prstGeom prst="rect">
              <a:avLst/>
            </a:prstGeom>
            <a:noFill/>
            <a:ln w="25400" cap="sq">
              <a:solidFill>
                <a:schemeClr val="bg1"/>
              </a:solidFill>
              <a:miter lim="800000"/>
              <a:headEnd type="none" w="sm" len="sm"/>
              <a:tailEnd type="none" w="sm" len="sm"/>
            </a:ln>
          </p:spPr>
          <p:txBody>
            <a:bodyPr wrap="none" anchor="ctr"/>
            <a:lstStyle/>
            <a:p>
              <a:endParaRPr lang="zh-CN" altLang="en-US"/>
            </a:p>
          </p:txBody>
        </p:sp>
        <p:sp>
          <p:nvSpPr>
            <p:cNvPr id="62496" name="Rectangle 12"/>
            <p:cNvSpPr>
              <a:spLocks noChangeArrowheads="1"/>
            </p:cNvSpPr>
            <p:nvPr/>
          </p:nvSpPr>
          <p:spPr bwMode="auto">
            <a:xfrm>
              <a:off x="1776" y="1152"/>
              <a:ext cx="336" cy="288"/>
            </a:xfrm>
            <a:prstGeom prst="rect">
              <a:avLst/>
            </a:prstGeom>
            <a:noFill/>
            <a:ln w="25400" cap="sq">
              <a:solidFill>
                <a:schemeClr val="bg1"/>
              </a:solidFill>
              <a:miter lim="800000"/>
              <a:headEnd type="none" w="sm" len="sm"/>
              <a:tailEnd type="none" w="sm" len="sm"/>
            </a:ln>
          </p:spPr>
          <p:txBody>
            <a:bodyPr wrap="none" anchor="ctr"/>
            <a:lstStyle/>
            <a:p>
              <a:endParaRPr lang="zh-CN" altLang="en-US"/>
            </a:p>
          </p:txBody>
        </p:sp>
        <p:sp>
          <p:nvSpPr>
            <p:cNvPr id="62497" name="Rectangle 13"/>
            <p:cNvSpPr>
              <a:spLocks noChangeArrowheads="1"/>
            </p:cNvSpPr>
            <p:nvPr/>
          </p:nvSpPr>
          <p:spPr bwMode="auto">
            <a:xfrm>
              <a:off x="2112" y="1152"/>
              <a:ext cx="336" cy="288"/>
            </a:xfrm>
            <a:prstGeom prst="rect">
              <a:avLst/>
            </a:prstGeom>
            <a:noFill/>
            <a:ln w="25400" cap="sq">
              <a:solidFill>
                <a:schemeClr val="bg1"/>
              </a:solidFill>
              <a:miter lim="800000"/>
              <a:headEnd type="none" w="sm" len="sm"/>
              <a:tailEnd type="none" w="sm" len="sm"/>
            </a:ln>
          </p:spPr>
          <p:txBody>
            <a:bodyPr wrap="none" anchor="ctr"/>
            <a:lstStyle/>
            <a:p>
              <a:endParaRPr lang="zh-CN" altLang="en-US"/>
            </a:p>
          </p:txBody>
        </p:sp>
        <p:sp>
          <p:nvSpPr>
            <p:cNvPr id="62498" name="Rectangle 14"/>
            <p:cNvSpPr>
              <a:spLocks noChangeArrowheads="1"/>
            </p:cNvSpPr>
            <p:nvPr/>
          </p:nvSpPr>
          <p:spPr bwMode="auto">
            <a:xfrm>
              <a:off x="2448" y="1152"/>
              <a:ext cx="336" cy="288"/>
            </a:xfrm>
            <a:prstGeom prst="rect">
              <a:avLst/>
            </a:prstGeom>
            <a:noFill/>
            <a:ln w="25400" cap="sq">
              <a:solidFill>
                <a:schemeClr val="bg1"/>
              </a:solidFill>
              <a:miter lim="800000"/>
              <a:headEnd type="none" w="sm" len="sm"/>
              <a:tailEnd type="none" w="sm" len="sm"/>
            </a:ln>
          </p:spPr>
          <p:txBody>
            <a:bodyPr wrap="none" anchor="ctr"/>
            <a:lstStyle/>
            <a:p>
              <a:endParaRPr lang="zh-CN" altLang="en-US"/>
            </a:p>
          </p:txBody>
        </p:sp>
        <p:sp>
          <p:nvSpPr>
            <p:cNvPr id="62499" name="Rectangle 15"/>
            <p:cNvSpPr>
              <a:spLocks noChangeArrowheads="1"/>
            </p:cNvSpPr>
            <p:nvPr/>
          </p:nvSpPr>
          <p:spPr bwMode="auto">
            <a:xfrm>
              <a:off x="3888" y="1152"/>
              <a:ext cx="336" cy="288"/>
            </a:xfrm>
            <a:prstGeom prst="rect">
              <a:avLst/>
            </a:prstGeom>
            <a:noFill/>
            <a:ln w="25400" cap="sq">
              <a:solidFill>
                <a:schemeClr val="bg1"/>
              </a:solidFill>
              <a:miter lim="800000"/>
              <a:headEnd type="none" w="sm" len="sm"/>
              <a:tailEnd type="none" w="sm" len="sm"/>
            </a:ln>
          </p:spPr>
          <p:txBody>
            <a:bodyPr wrap="none" anchor="ctr"/>
            <a:lstStyle/>
            <a:p>
              <a:endParaRPr lang="zh-CN" altLang="en-US"/>
            </a:p>
          </p:txBody>
        </p:sp>
        <p:sp>
          <p:nvSpPr>
            <p:cNvPr id="62500" name="Rectangle 16"/>
            <p:cNvSpPr>
              <a:spLocks noChangeArrowheads="1"/>
            </p:cNvSpPr>
            <p:nvPr/>
          </p:nvSpPr>
          <p:spPr bwMode="auto">
            <a:xfrm>
              <a:off x="2784" y="1152"/>
              <a:ext cx="1104" cy="288"/>
            </a:xfrm>
            <a:prstGeom prst="rect">
              <a:avLst/>
            </a:prstGeom>
            <a:noFill/>
            <a:ln w="25400" cap="sq">
              <a:solidFill>
                <a:schemeClr val="bg1"/>
              </a:solidFill>
              <a:miter lim="800000"/>
              <a:headEnd type="none" w="sm" len="sm"/>
              <a:tailEnd type="none" w="sm" len="sm"/>
            </a:ln>
          </p:spPr>
          <p:txBody>
            <a:bodyPr wrap="none" anchor="ctr"/>
            <a:lstStyle/>
            <a:p>
              <a:endParaRPr lang="zh-CN" altLang="en-US"/>
            </a:p>
          </p:txBody>
        </p:sp>
        <p:sp>
          <p:nvSpPr>
            <p:cNvPr id="62501" name="Rectangle 17"/>
            <p:cNvSpPr>
              <a:spLocks noChangeArrowheads="1"/>
            </p:cNvSpPr>
            <p:nvPr/>
          </p:nvSpPr>
          <p:spPr bwMode="auto">
            <a:xfrm>
              <a:off x="3148" y="1104"/>
              <a:ext cx="275" cy="291"/>
            </a:xfrm>
            <a:prstGeom prst="rect">
              <a:avLst/>
            </a:prstGeom>
            <a:noFill/>
            <a:ln w="12700" cap="sq">
              <a:noFill/>
              <a:miter lim="800000"/>
              <a:headEnd type="none" w="sm" len="sm"/>
              <a:tailEnd type="none" w="sm" len="sm"/>
            </a:ln>
          </p:spPr>
          <p:txBody>
            <a:bodyPr wrap="none">
              <a:spAutoFit/>
            </a:bodyPr>
            <a:lstStyle/>
            <a:p>
              <a:r>
                <a:rPr lang="zh-CN" altLang="en-US" sz="2400" b="1">
                  <a:solidFill>
                    <a:srgbClr val="000099"/>
                  </a:solidFill>
                  <a:ea typeface="宋体" charset="-122"/>
                  <a:cs typeface="Times New Roman" pitchFamily="18" charset="0"/>
                </a:rPr>
                <a:t>…</a:t>
              </a:r>
            </a:p>
          </p:txBody>
        </p:sp>
        <p:sp>
          <p:nvSpPr>
            <p:cNvPr id="62502" name="Text Box 18"/>
            <p:cNvSpPr txBox="1">
              <a:spLocks noChangeArrowheads="1"/>
            </p:cNvSpPr>
            <p:nvPr/>
          </p:nvSpPr>
          <p:spPr bwMode="auto">
            <a:xfrm>
              <a:off x="2159" y="1128"/>
              <a:ext cx="219" cy="33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99"/>
                  </a:solidFill>
                </a:rPr>
                <a:t>e</a:t>
              </a:r>
            </a:p>
          </p:txBody>
        </p:sp>
        <p:sp>
          <p:nvSpPr>
            <p:cNvPr id="62503" name="Line 19"/>
            <p:cNvSpPr>
              <a:spLocks noChangeShapeType="1"/>
            </p:cNvSpPr>
            <p:nvPr/>
          </p:nvSpPr>
          <p:spPr bwMode="auto">
            <a:xfrm flipV="1">
              <a:off x="2148" y="1476"/>
              <a:ext cx="108" cy="156"/>
            </a:xfrm>
            <a:prstGeom prst="line">
              <a:avLst/>
            </a:prstGeom>
            <a:noFill/>
            <a:ln w="25400" cap="sq">
              <a:solidFill>
                <a:schemeClr val="accent2"/>
              </a:solidFill>
              <a:round/>
              <a:headEnd type="none" w="sm" len="sm"/>
              <a:tailEnd type="triangle" w="med" len="lg"/>
            </a:ln>
          </p:spPr>
          <p:txBody>
            <a:bodyPr/>
            <a:lstStyle/>
            <a:p>
              <a:endParaRPr lang="zh-CN" altLang="en-US"/>
            </a:p>
          </p:txBody>
        </p:sp>
      </p:grpSp>
      <p:grpSp>
        <p:nvGrpSpPr>
          <p:cNvPr id="8" name="Group 20"/>
          <p:cNvGrpSpPr>
            <a:grpSpLocks/>
          </p:cNvGrpSpPr>
          <p:nvPr/>
        </p:nvGrpSpPr>
        <p:grpSpPr bwMode="auto">
          <a:xfrm>
            <a:off x="5164138" y="5556250"/>
            <a:ext cx="762000" cy="342900"/>
            <a:chOff x="1920" y="1440"/>
            <a:chExt cx="480" cy="216"/>
          </a:xfrm>
        </p:grpSpPr>
        <p:sp>
          <p:nvSpPr>
            <p:cNvPr id="62485" name="Rectangle 21"/>
            <p:cNvSpPr>
              <a:spLocks noChangeArrowheads="1"/>
            </p:cNvSpPr>
            <p:nvPr/>
          </p:nvSpPr>
          <p:spPr bwMode="auto">
            <a:xfrm>
              <a:off x="2112" y="1464"/>
              <a:ext cx="288" cy="192"/>
            </a:xfrm>
            <a:prstGeom prst="rect">
              <a:avLst/>
            </a:prstGeom>
            <a:solidFill>
              <a:srgbClr val="FFFFFF"/>
            </a:solidFill>
            <a:ln w="12700" cap="sq">
              <a:noFill/>
              <a:miter lim="800000"/>
              <a:headEnd type="none" w="sm" len="sm"/>
              <a:tailEnd type="none" w="sm" len="sm"/>
            </a:ln>
          </p:spPr>
          <p:txBody>
            <a:bodyPr wrap="none" anchor="ctr"/>
            <a:lstStyle/>
            <a:p>
              <a:endParaRPr lang="zh-CN" altLang="en-US"/>
            </a:p>
          </p:txBody>
        </p:sp>
        <p:sp>
          <p:nvSpPr>
            <p:cNvPr id="62486" name="Line 22"/>
            <p:cNvSpPr>
              <a:spLocks noChangeShapeType="1"/>
            </p:cNvSpPr>
            <p:nvPr/>
          </p:nvSpPr>
          <p:spPr bwMode="auto">
            <a:xfrm flipH="1" flipV="1">
              <a:off x="1920" y="1440"/>
              <a:ext cx="144" cy="192"/>
            </a:xfrm>
            <a:prstGeom prst="line">
              <a:avLst/>
            </a:prstGeom>
            <a:noFill/>
            <a:ln w="22225" cap="sq">
              <a:solidFill>
                <a:schemeClr val="accent2"/>
              </a:solidFill>
              <a:round/>
              <a:headEnd type="none" w="sm" len="sm"/>
              <a:tailEnd type="triangle" w="sm" len="lg"/>
            </a:ln>
          </p:spPr>
          <p:txBody>
            <a:bodyPr/>
            <a:lstStyle/>
            <a:p>
              <a:endParaRPr lang="zh-CN" altLang="en-US"/>
            </a:p>
          </p:txBody>
        </p:sp>
      </p:grpSp>
      <p:sp>
        <p:nvSpPr>
          <p:cNvPr id="62481" name="Rectangle 23"/>
          <p:cNvSpPr>
            <a:spLocks noChangeArrowheads="1"/>
          </p:cNvSpPr>
          <p:nvPr/>
        </p:nvSpPr>
        <p:spPr bwMode="auto">
          <a:xfrm>
            <a:off x="5545138" y="5233988"/>
            <a:ext cx="304800" cy="304800"/>
          </a:xfrm>
          <a:prstGeom prst="rect">
            <a:avLst/>
          </a:prstGeom>
          <a:solidFill>
            <a:srgbClr val="FFFFFF"/>
          </a:solidFill>
          <a:ln w="12700" cap="sq">
            <a:noFill/>
            <a:miter lim="800000"/>
            <a:headEnd type="none" w="sm" len="sm"/>
            <a:tailEnd type="none" w="sm" len="sm"/>
          </a:ln>
        </p:spPr>
        <p:txBody>
          <a:bodyPr wrap="none" anchor="ctr"/>
          <a:lstStyle/>
          <a:p>
            <a:endParaRPr lang="zh-CN" altLang="en-US"/>
          </a:p>
        </p:txBody>
      </p:sp>
      <p:sp>
        <p:nvSpPr>
          <p:cNvPr id="62482" name="TextBox 71"/>
          <p:cNvSpPr txBox="1">
            <a:spLocks noChangeArrowheads="1"/>
          </p:cNvSpPr>
          <p:nvPr/>
        </p:nvSpPr>
        <p:spPr bwMode="auto">
          <a:xfrm>
            <a:off x="2046288" y="3805238"/>
            <a:ext cx="800100" cy="461962"/>
          </a:xfrm>
          <a:prstGeom prst="rect">
            <a:avLst/>
          </a:prstGeom>
          <a:noFill/>
          <a:ln w="9525">
            <a:noFill/>
            <a:miter lim="800000"/>
            <a:headEnd/>
            <a:tailEnd/>
          </a:ln>
        </p:spPr>
        <p:txBody>
          <a:bodyPr wrap="none">
            <a:spAutoFit/>
          </a:bodyPr>
          <a:lstStyle/>
          <a:p>
            <a:r>
              <a:rPr lang="zh-CN" altLang="en-US" sz="2400" dirty="0">
                <a:latin typeface="黑体" pitchFamily="2" charset="-122"/>
                <a:ea typeface="黑体" pitchFamily="2" charset="-122"/>
              </a:rPr>
              <a:t>入栈</a:t>
            </a:r>
          </a:p>
        </p:txBody>
      </p:sp>
      <p:sp>
        <p:nvSpPr>
          <p:cNvPr id="62483" name="TextBox 72"/>
          <p:cNvSpPr txBox="1">
            <a:spLocks noChangeArrowheads="1"/>
          </p:cNvSpPr>
          <p:nvPr/>
        </p:nvSpPr>
        <p:spPr bwMode="auto">
          <a:xfrm>
            <a:off x="2046288" y="5072063"/>
            <a:ext cx="800100" cy="461962"/>
          </a:xfrm>
          <a:prstGeom prst="rect">
            <a:avLst/>
          </a:prstGeom>
          <a:noFill/>
          <a:ln w="9525">
            <a:noFill/>
            <a:miter lim="800000"/>
            <a:headEnd/>
            <a:tailEnd/>
          </a:ln>
        </p:spPr>
        <p:txBody>
          <a:bodyPr wrap="none">
            <a:spAutoFit/>
          </a:bodyPr>
          <a:lstStyle/>
          <a:p>
            <a:r>
              <a:rPr lang="zh-CN" altLang="en-US" sz="2400" dirty="0">
                <a:latin typeface="黑体" pitchFamily="2" charset="-122"/>
                <a:ea typeface="黑体" pitchFamily="2" charset="-122"/>
              </a:rPr>
              <a:t>出栈</a:t>
            </a:r>
          </a:p>
        </p:txBody>
      </p:sp>
      <p:sp>
        <p:nvSpPr>
          <p:cNvPr id="74" name="TextBox 73"/>
          <p:cNvSpPr txBox="1">
            <a:spLocks noChangeArrowheads="1"/>
          </p:cNvSpPr>
          <p:nvPr/>
        </p:nvSpPr>
        <p:spPr bwMode="auto">
          <a:xfrm>
            <a:off x="2012951" y="6115050"/>
            <a:ext cx="4951997" cy="369332"/>
          </a:xfrm>
          <a:prstGeom prst="rect">
            <a:avLst/>
          </a:prstGeom>
          <a:noFill/>
          <a:ln w="9525">
            <a:noFill/>
            <a:miter lim="800000"/>
            <a:headEnd/>
            <a:tailEnd/>
          </a:ln>
        </p:spPr>
        <p:txBody>
          <a:bodyPr wrap="none">
            <a:spAutoFit/>
          </a:bodyPr>
          <a:lstStyle/>
          <a:p>
            <a:r>
              <a:rPr lang="zh-CN" altLang="en-US" b="1">
                <a:solidFill>
                  <a:srgbClr val="C00000"/>
                </a:solidFill>
                <a:latin typeface="黑体" pitchFamily="2" charset="-122"/>
                <a:ea typeface="黑体" pitchFamily="2" charset="-122"/>
              </a:rPr>
              <a:t>如何避免人为恶意地访问</a:t>
            </a:r>
            <a:r>
              <a:rPr lang="en-US" altLang="zh-CN" b="1">
                <a:solidFill>
                  <a:srgbClr val="C00000"/>
                </a:solidFill>
                <a:latin typeface="黑体" pitchFamily="2" charset="-122"/>
                <a:ea typeface="黑体" pitchFamily="2" charset="-122"/>
              </a:rPr>
              <a:t>top</a:t>
            </a:r>
            <a:r>
              <a:rPr lang="zh-CN" altLang="en-US" b="1">
                <a:solidFill>
                  <a:srgbClr val="C00000"/>
                </a:solidFill>
                <a:latin typeface="黑体" pitchFamily="2" charset="-122"/>
                <a:ea typeface="黑体" pitchFamily="2" charset="-122"/>
              </a:rPr>
              <a:t>所指以外的元素？</a:t>
            </a: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fade">
                                      <p:cBhvr>
                                        <p:cTn id="7" dur="1000"/>
                                        <p:tgtEl>
                                          <p:spTgt spid="74"/>
                                        </p:tgtEl>
                                      </p:cBhvr>
                                    </p:animEffect>
                                    <p:anim calcmode="lin" valueType="num">
                                      <p:cBhvr>
                                        <p:cTn id="8" dur="1000" fill="hold"/>
                                        <p:tgtEl>
                                          <p:spTgt spid="74"/>
                                        </p:tgtEl>
                                        <p:attrNameLst>
                                          <p:attrName>ppt_x</p:attrName>
                                        </p:attrNameLst>
                                      </p:cBhvr>
                                      <p:tavLst>
                                        <p:tav tm="0">
                                          <p:val>
                                            <p:strVal val="#ppt_x"/>
                                          </p:val>
                                        </p:tav>
                                        <p:tav tm="100000">
                                          <p:val>
                                            <p:strVal val="#ppt_x"/>
                                          </p:val>
                                        </p:tav>
                                      </p:tavLst>
                                    </p:anim>
                                    <p:anim calcmode="lin" valueType="num">
                                      <p:cBhvr>
                                        <p:cTn id="9" dur="1000" fill="hold"/>
                                        <p:tgtEl>
                                          <p:spTgt spid="7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9"/>
          <p:cNvGrpSpPr>
            <a:grpSpLocks/>
          </p:cNvGrpSpPr>
          <p:nvPr/>
        </p:nvGrpSpPr>
        <p:grpSpPr bwMode="auto">
          <a:xfrm>
            <a:off x="911076" y="167955"/>
            <a:ext cx="4321175" cy="609600"/>
            <a:chOff x="336" y="192"/>
            <a:chExt cx="1776" cy="384"/>
          </a:xfrm>
        </p:grpSpPr>
        <p:sp>
          <p:nvSpPr>
            <p:cNvPr id="63492" name="Rectangle 25"/>
            <p:cNvSpPr>
              <a:spLocks noChangeArrowheads="1"/>
            </p:cNvSpPr>
            <p:nvPr/>
          </p:nvSpPr>
          <p:spPr bwMode="auto">
            <a:xfrm>
              <a:off x="336" y="192"/>
              <a:ext cx="1776" cy="384"/>
            </a:xfrm>
            <a:prstGeom prst="rect">
              <a:avLst/>
            </a:prstGeom>
            <a:solidFill>
              <a:srgbClr val="CCFFCC"/>
            </a:solidFill>
            <a:ln w="12700" cap="sq">
              <a:noFill/>
              <a:miter lim="800000"/>
              <a:headEnd type="none" w="sm" len="sm"/>
              <a:tailEnd type="none" w="sm" len="sm"/>
            </a:ln>
            <a:effectLst>
              <a:outerShdw dist="117088" dir="2436078" algn="ctr" rotWithShape="0">
                <a:srgbClr val="C0C0C0"/>
              </a:outerShdw>
            </a:effectLst>
          </p:spPr>
          <p:txBody>
            <a:bodyPr wrap="none" anchor="ctr"/>
            <a:lstStyle/>
            <a:p>
              <a:endParaRPr lang="zh-CN" altLang="en-US"/>
            </a:p>
          </p:txBody>
        </p:sp>
        <p:sp>
          <p:nvSpPr>
            <p:cNvPr id="63493" name="Rectangle 26"/>
            <p:cNvSpPr>
              <a:spLocks noChangeArrowheads="1"/>
            </p:cNvSpPr>
            <p:nvPr/>
          </p:nvSpPr>
          <p:spPr bwMode="auto">
            <a:xfrm>
              <a:off x="436" y="225"/>
              <a:ext cx="1628" cy="349"/>
            </a:xfrm>
            <a:prstGeom prst="rect">
              <a:avLst/>
            </a:prstGeom>
            <a:noFill/>
            <a:ln w="12700" cap="sq">
              <a:noFill/>
              <a:miter lim="800000"/>
              <a:headEnd type="none" w="sm" len="sm"/>
              <a:tailEnd type="none" w="sm" len="sm"/>
            </a:ln>
          </p:spPr>
          <p:txBody>
            <a:bodyPr>
              <a:spAutoFit/>
            </a:bodyPr>
            <a:lstStyle/>
            <a:p>
              <a:r>
                <a:rPr kumimoji="1" lang="zh-CN" altLang="en-US" sz="3000" b="1">
                  <a:solidFill>
                    <a:srgbClr val="003399"/>
                  </a:solidFill>
                  <a:latin typeface="黑体" pitchFamily="2" charset="-122"/>
                  <a:ea typeface="黑体" pitchFamily="2" charset="-122"/>
                </a:rPr>
                <a:t>面向对象，</a:t>
              </a:r>
              <a:r>
                <a:rPr kumimoji="1" lang="en-US" altLang="zh-CN" sz="3000" b="1">
                  <a:solidFill>
                    <a:srgbClr val="003399"/>
                  </a:solidFill>
                  <a:latin typeface="黑体" pitchFamily="2" charset="-122"/>
                  <a:ea typeface="黑体" pitchFamily="2" charset="-122"/>
                </a:rPr>
                <a:t>C++</a:t>
              </a:r>
              <a:r>
                <a:rPr kumimoji="1" lang="zh-CN" altLang="en-US" sz="3000" b="1">
                  <a:solidFill>
                    <a:srgbClr val="003399"/>
                  </a:solidFill>
                  <a:latin typeface="黑体" pitchFamily="2" charset="-122"/>
                  <a:ea typeface="黑体" pitchFamily="2" charset="-122"/>
                </a:rPr>
                <a:t>，类</a:t>
              </a:r>
            </a:p>
          </p:txBody>
        </p:sp>
      </p:grpSp>
      <p:sp>
        <p:nvSpPr>
          <p:cNvPr id="6" name="TextBox 5"/>
          <p:cNvSpPr txBox="1"/>
          <p:nvPr/>
        </p:nvSpPr>
        <p:spPr>
          <a:xfrm>
            <a:off x="1847528" y="1222649"/>
            <a:ext cx="5544616" cy="3139321"/>
          </a:xfrm>
          <a:prstGeom prst="rect">
            <a:avLst/>
          </a:prstGeom>
          <a:solidFill>
            <a:schemeClr val="accent1"/>
          </a:solidFill>
        </p:spPr>
        <p:txBody>
          <a:bodyPr wrap="square">
            <a:spAutoFit/>
          </a:bodyPr>
          <a:lstStyle/>
          <a:p>
            <a:pPr>
              <a:defRPr/>
            </a:pPr>
            <a:r>
              <a:rPr lang="en-US" altLang="zh-CN" b="1" dirty="0">
                <a:solidFill>
                  <a:srgbClr val="000099"/>
                </a:solidFill>
                <a:ea typeface="黑体" pitchFamily="49" charset="-122"/>
              </a:rPr>
              <a:t>class</a:t>
            </a:r>
            <a:r>
              <a:rPr lang="en-US" altLang="zh-CN" dirty="0">
                <a:solidFill>
                  <a:schemeClr val="bg1"/>
                </a:solidFill>
                <a:ea typeface="黑体" pitchFamily="49" charset="-122"/>
              </a:rPr>
              <a:t> </a:t>
            </a:r>
            <a:r>
              <a:rPr lang="en-US" altLang="zh-CN" dirty="0">
                <a:ea typeface="黑体" pitchFamily="49" charset="-122"/>
              </a:rPr>
              <a:t>stack {</a:t>
            </a:r>
          </a:p>
          <a:p>
            <a:pPr>
              <a:defRPr/>
            </a:pPr>
            <a:r>
              <a:rPr lang="en-US" altLang="zh-CN" b="1" dirty="0">
                <a:solidFill>
                  <a:srgbClr val="000099"/>
                </a:solidFill>
                <a:ea typeface="黑体" pitchFamily="49" charset="-122"/>
              </a:rPr>
              <a:t>public:</a:t>
            </a:r>
          </a:p>
          <a:p>
            <a:pPr>
              <a:defRPr/>
            </a:pPr>
            <a:r>
              <a:rPr lang="en-US" altLang="zh-CN" dirty="0">
                <a:ea typeface="黑体" pitchFamily="49" charset="-122"/>
              </a:rPr>
              <a:t>    stack();</a:t>
            </a:r>
          </a:p>
          <a:p>
            <a:pPr>
              <a:defRPr/>
            </a:pPr>
            <a:r>
              <a:rPr lang="en-US" altLang="zh-CN" dirty="0">
                <a:ea typeface="黑体" pitchFamily="49" charset="-122"/>
              </a:rPr>
              <a:t>    </a:t>
            </a:r>
            <a:r>
              <a:rPr lang="en-US" altLang="zh-CN" dirty="0" err="1">
                <a:ea typeface="黑体" pitchFamily="49" charset="-122"/>
              </a:rPr>
              <a:t>DataType</a:t>
            </a:r>
            <a:r>
              <a:rPr lang="en-US" altLang="zh-CN" dirty="0">
                <a:ea typeface="黑体" pitchFamily="49" charset="-122"/>
              </a:rPr>
              <a:t> pop();          	// </a:t>
            </a:r>
            <a:r>
              <a:rPr lang="zh-CN" altLang="en-US" dirty="0">
                <a:ea typeface="黑体" pitchFamily="49" charset="-122"/>
              </a:rPr>
              <a:t>出栈</a:t>
            </a:r>
            <a:endParaRPr lang="en-US" altLang="zh-CN" dirty="0">
              <a:ea typeface="黑体" pitchFamily="49" charset="-122"/>
            </a:endParaRPr>
          </a:p>
          <a:p>
            <a:pPr>
              <a:defRPr/>
            </a:pPr>
            <a:r>
              <a:rPr lang="en-US" altLang="zh-CN" dirty="0">
                <a:ea typeface="黑体" pitchFamily="49" charset="-122"/>
              </a:rPr>
              <a:t>    void push(const </a:t>
            </a:r>
            <a:r>
              <a:rPr lang="en-US" altLang="zh-CN" dirty="0" err="1">
                <a:ea typeface="黑体" pitchFamily="49" charset="-122"/>
              </a:rPr>
              <a:t>DataType</a:t>
            </a:r>
            <a:r>
              <a:rPr lang="en-US" altLang="zh-CN" dirty="0">
                <a:ea typeface="黑体" pitchFamily="49" charset="-122"/>
              </a:rPr>
              <a:t> &amp;item); 	//</a:t>
            </a:r>
            <a:r>
              <a:rPr lang="zh-CN" altLang="en-US" dirty="0">
                <a:ea typeface="黑体" pitchFamily="49" charset="-122"/>
              </a:rPr>
              <a:t>入栈</a:t>
            </a:r>
            <a:endParaRPr lang="en-US" altLang="zh-CN" dirty="0">
              <a:ea typeface="黑体" pitchFamily="49" charset="-122"/>
            </a:endParaRPr>
          </a:p>
          <a:p>
            <a:pPr>
              <a:defRPr/>
            </a:pPr>
            <a:r>
              <a:rPr lang="en-US" altLang="zh-CN" dirty="0">
                <a:ea typeface="黑体" pitchFamily="49" charset="-122"/>
              </a:rPr>
              <a:t>    </a:t>
            </a:r>
            <a:r>
              <a:rPr lang="en-US" altLang="zh-CN" dirty="0" err="1">
                <a:ea typeface="黑体" pitchFamily="49" charset="-122"/>
              </a:rPr>
              <a:t>DataType</a:t>
            </a:r>
            <a:r>
              <a:rPr lang="en-US" altLang="zh-CN" dirty="0">
                <a:ea typeface="黑体" pitchFamily="49" charset="-122"/>
              </a:rPr>
              <a:t> </a:t>
            </a:r>
            <a:r>
              <a:rPr lang="en-US" altLang="zh-CN" dirty="0" err="1">
                <a:ea typeface="黑体" pitchFamily="49" charset="-122"/>
              </a:rPr>
              <a:t>topData</a:t>
            </a:r>
            <a:r>
              <a:rPr lang="en-US" altLang="zh-CN" dirty="0">
                <a:ea typeface="黑体" pitchFamily="49" charset="-122"/>
              </a:rPr>
              <a:t>( ) const;   	// </a:t>
            </a:r>
            <a:r>
              <a:rPr lang="zh-CN" altLang="en-US" dirty="0">
                <a:ea typeface="黑体" pitchFamily="49" charset="-122"/>
              </a:rPr>
              <a:t>读栈顶元素</a:t>
            </a:r>
            <a:endParaRPr lang="en-US" altLang="zh-CN" dirty="0">
              <a:ea typeface="黑体" pitchFamily="49" charset="-122"/>
            </a:endParaRPr>
          </a:p>
          <a:p>
            <a:pPr>
              <a:defRPr/>
            </a:pPr>
            <a:r>
              <a:rPr lang="en-US" altLang="zh-CN" dirty="0">
                <a:ea typeface="黑体" pitchFamily="49" charset="-122"/>
              </a:rPr>
              <a:t>    bool empty() </a:t>
            </a:r>
            <a:r>
              <a:rPr lang="en-US" altLang="zh-CN" dirty="0" err="1">
                <a:ea typeface="黑体" pitchFamily="49" charset="-122"/>
              </a:rPr>
              <a:t>const</a:t>
            </a:r>
            <a:r>
              <a:rPr lang="en-US" altLang="zh-CN" dirty="0">
                <a:ea typeface="黑体" pitchFamily="49" charset="-122"/>
              </a:rPr>
              <a:t>;             	//  </a:t>
            </a:r>
            <a:r>
              <a:rPr lang="zh-CN" altLang="en-US" dirty="0">
                <a:ea typeface="黑体" pitchFamily="49" charset="-122"/>
              </a:rPr>
              <a:t>检查栈空</a:t>
            </a:r>
            <a:endParaRPr lang="en-US" altLang="zh-CN" dirty="0">
              <a:ea typeface="黑体" pitchFamily="49" charset="-122"/>
            </a:endParaRPr>
          </a:p>
          <a:p>
            <a:pPr>
              <a:defRPr/>
            </a:pPr>
            <a:r>
              <a:rPr lang="en-US" altLang="zh-CN" b="1" dirty="0">
                <a:solidFill>
                  <a:srgbClr val="000099"/>
                </a:solidFill>
                <a:ea typeface="黑体" pitchFamily="49" charset="-122"/>
              </a:rPr>
              <a:t>private:</a:t>
            </a:r>
          </a:p>
          <a:p>
            <a:pPr>
              <a:defRPr/>
            </a:pPr>
            <a:r>
              <a:rPr lang="en-US" altLang="zh-CN" dirty="0">
                <a:ea typeface="黑体" pitchFamily="49" charset="-122"/>
              </a:rPr>
              <a:t>    int top; 			// </a:t>
            </a:r>
            <a:r>
              <a:rPr lang="zh-CN" altLang="en-US" dirty="0">
                <a:ea typeface="黑体" pitchFamily="49" charset="-122"/>
              </a:rPr>
              <a:t>栈顶元素位置</a:t>
            </a:r>
            <a:endParaRPr lang="en-US" altLang="zh-CN" dirty="0">
              <a:ea typeface="黑体" pitchFamily="49" charset="-122"/>
            </a:endParaRPr>
          </a:p>
          <a:p>
            <a:pPr>
              <a:defRPr/>
            </a:pPr>
            <a:r>
              <a:rPr lang="en-US" altLang="zh-CN" dirty="0">
                <a:ea typeface="黑体" pitchFamily="49" charset="-122"/>
              </a:rPr>
              <a:t>    </a:t>
            </a:r>
            <a:r>
              <a:rPr lang="en-US" altLang="zh-CN" dirty="0" err="1">
                <a:ea typeface="黑体" pitchFamily="49" charset="-122"/>
              </a:rPr>
              <a:t>int</a:t>
            </a:r>
            <a:r>
              <a:rPr lang="en-US" altLang="zh-CN" dirty="0">
                <a:ea typeface="黑体" pitchFamily="49" charset="-122"/>
              </a:rPr>
              <a:t> data[1000];                          //  </a:t>
            </a:r>
            <a:r>
              <a:rPr lang="zh-CN" altLang="en-US" dirty="0">
                <a:ea typeface="黑体" pitchFamily="49" charset="-122"/>
              </a:rPr>
              <a:t>栈的顺序存储</a:t>
            </a:r>
            <a:endParaRPr lang="en-US" altLang="zh-CN" dirty="0">
              <a:ea typeface="黑体" pitchFamily="49" charset="-122"/>
            </a:endParaRPr>
          </a:p>
          <a:p>
            <a:pPr>
              <a:defRPr/>
            </a:pPr>
            <a:r>
              <a:rPr lang="en-US" altLang="zh-CN" dirty="0">
                <a:ea typeface="黑体" pitchFamily="49" charset="-122"/>
              </a:rPr>
              <a:t>};</a:t>
            </a:r>
          </a:p>
        </p:txBody>
      </p:sp>
      <p:grpSp>
        <p:nvGrpSpPr>
          <p:cNvPr id="7" name="Group 29"/>
          <p:cNvGrpSpPr>
            <a:grpSpLocks/>
          </p:cNvGrpSpPr>
          <p:nvPr/>
        </p:nvGrpSpPr>
        <p:grpSpPr bwMode="auto">
          <a:xfrm>
            <a:off x="551384" y="4463008"/>
            <a:ext cx="6634364" cy="616294"/>
            <a:chOff x="336" y="192"/>
            <a:chExt cx="1776" cy="384"/>
          </a:xfrm>
        </p:grpSpPr>
        <p:sp>
          <p:nvSpPr>
            <p:cNvPr id="8" name="Rectangle 25"/>
            <p:cNvSpPr>
              <a:spLocks noChangeArrowheads="1"/>
            </p:cNvSpPr>
            <p:nvPr/>
          </p:nvSpPr>
          <p:spPr bwMode="auto">
            <a:xfrm>
              <a:off x="336" y="192"/>
              <a:ext cx="1776" cy="384"/>
            </a:xfrm>
            <a:prstGeom prst="rect">
              <a:avLst/>
            </a:prstGeom>
            <a:solidFill>
              <a:srgbClr val="CCFFCC"/>
            </a:solidFill>
            <a:ln w="12700" cap="sq">
              <a:noFill/>
              <a:miter lim="800000"/>
              <a:headEnd type="none" w="sm" len="sm"/>
              <a:tailEnd type="none" w="sm" len="sm"/>
            </a:ln>
            <a:effectLst>
              <a:outerShdw dist="117088" dir="2436078" algn="ctr" rotWithShape="0">
                <a:srgbClr val="C0C0C0"/>
              </a:outerShdw>
            </a:effectLst>
          </p:spPr>
          <p:txBody>
            <a:bodyPr wrap="none" anchor="ctr"/>
            <a:lstStyle/>
            <a:p>
              <a:endParaRPr lang="zh-CN" altLang="en-US"/>
            </a:p>
          </p:txBody>
        </p:sp>
        <p:sp>
          <p:nvSpPr>
            <p:cNvPr id="9" name="Rectangle 26"/>
            <p:cNvSpPr>
              <a:spLocks noChangeArrowheads="1"/>
            </p:cNvSpPr>
            <p:nvPr/>
          </p:nvSpPr>
          <p:spPr bwMode="auto">
            <a:xfrm>
              <a:off x="436" y="225"/>
              <a:ext cx="1628" cy="345"/>
            </a:xfrm>
            <a:prstGeom prst="rect">
              <a:avLst/>
            </a:prstGeom>
            <a:noFill/>
            <a:ln w="12700" cap="sq">
              <a:noFill/>
              <a:miter lim="800000"/>
              <a:headEnd type="none" w="sm" len="sm"/>
              <a:tailEnd type="none" w="sm" len="sm"/>
            </a:ln>
          </p:spPr>
          <p:txBody>
            <a:bodyPr>
              <a:spAutoFit/>
            </a:bodyPr>
            <a:lstStyle/>
            <a:p>
              <a:r>
                <a:rPr kumimoji="1" lang="zh-CN" altLang="en-US" sz="3000" b="1" dirty="0">
                  <a:solidFill>
                    <a:srgbClr val="003399"/>
                  </a:solidFill>
                  <a:latin typeface="黑体" pitchFamily="2" charset="-122"/>
                  <a:ea typeface="黑体" pitchFamily="2" charset="-122"/>
                </a:rPr>
                <a:t>在</a:t>
              </a:r>
              <a:r>
                <a:rPr kumimoji="1" lang="en-US" altLang="zh-CN" sz="3000" b="1" dirty="0">
                  <a:solidFill>
                    <a:srgbClr val="003399"/>
                  </a:solidFill>
                  <a:latin typeface="黑体" pitchFamily="2" charset="-122"/>
                  <a:ea typeface="黑体" pitchFamily="2" charset="-122"/>
                </a:rPr>
                <a:t>C</a:t>
              </a:r>
              <a:r>
                <a:rPr kumimoji="1" lang="zh-CN" altLang="en-US" sz="3000" b="1" dirty="0">
                  <a:solidFill>
                    <a:srgbClr val="003399"/>
                  </a:solidFill>
                  <a:latin typeface="黑体" pitchFamily="2" charset="-122"/>
                  <a:ea typeface="黑体" pitchFamily="2" charset="-122"/>
                </a:rPr>
                <a:t>语言中能实现数据隐藏吗？</a:t>
              </a:r>
            </a:p>
          </p:txBody>
        </p:sp>
      </p:grpSp>
      <p:sp>
        <p:nvSpPr>
          <p:cNvPr id="10" name="TextBox 9"/>
          <p:cNvSpPr txBox="1"/>
          <p:nvPr/>
        </p:nvSpPr>
        <p:spPr>
          <a:xfrm>
            <a:off x="4799856" y="5085968"/>
            <a:ext cx="2531534" cy="1797928"/>
          </a:xfrm>
          <a:prstGeom prst="rect">
            <a:avLst/>
          </a:prstGeom>
          <a:solidFill>
            <a:schemeClr val="bg2">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nSpc>
                <a:spcPts val="1900"/>
              </a:lnSpc>
            </a:pPr>
            <a:r>
              <a:rPr lang="en-US" altLang="zh-CN" sz="1200" dirty="0"/>
              <a:t>//</a:t>
            </a:r>
            <a:r>
              <a:rPr lang="en-US" altLang="zh-CN" sz="1200" dirty="0" err="1"/>
              <a:t>main.c</a:t>
            </a:r>
            <a:endParaRPr lang="en-US" altLang="zh-CN" sz="1200" dirty="0"/>
          </a:p>
          <a:p>
            <a:pPr>
              <a:lnSpc>
                <a:spcPts val="1900"/>
              </a:lnSpc>
            </a:pPr>
            <a:r>
              <a:rPr lang="en-US" altLang="zh-CN" sz="1200" dirty="0"/>
              <a:t>…</a:t>
            </a:r>
          </a:p>
          <a:p>
            <a:pPr>
              <a:lnSpc>
                <a:spcPts val="1900"/>
              </a:lnSpc>
            </a:pPr>
            <a:r>
              <a:rPr lang="en-US" altLang="zh-CN" sz="1200" dirty="0" err="1"/>
              <a:t>int</a:t>
            </a:r>
            <a:r>
              <a:rPr lang="en-US" altLang="zh-CN" sz="1200" dirty="0"/>
              <a:t>  main()</a:t>
            </a:r>
          </a:p>
          <a:p>
            <a:pPr>
              <a:lnSpc>
                <a:spcPts val="1900"/>
              </a:lnSpc>
            </a:pPr>
            <a:r>
              <a:rPr lang="en-US" altLang="zh-CN" sz="1200" dirty="0"/>
              <a:t>{…}</a:t>
            </a:r>
          </a:p>
          <a:p>
            <a:pPr>
              <a:lnSpc>
                <a:spcPts val="1900"/>
              </a:lnSpc>
            </a:pPr>
            <a:r>
              <a:rPr lang="en-US" altLang="zh-CN" sz="1200" dirty="0" err="1"/>
              <a:t>getSym</a:t>
            </a:r>
            <a:r>
              <a:rPr lang="en-US" altLang="zh-CN" sz="1200" dirty="0"/>
              <a:t>()   operate()  compute()</a:t>
            </a:r>
          </a:p>
          <a:p>
            <a:pPr>
              <a:lnSpc>
                <a:spcPts val="1900"/>
              </a:lnSpc>
            </a:pPr>
            <a:r>
              <a:rPr lang="en-US" altLang="zh-CN" sz="1200" dirty="0"/>
              <a:t>{…}               {…}          {…}</a:t>
            </a:r>
          </a:p>
          <a:p>
            <a:pPr>
              <a:lnSpc>
                <a:spcPts val="1900"/>
              </a:lnSpc>
            </a:pPr>
            <a:r>
              <a:rPr lang="en-US" altLang="zh-CN" sz="1200" dirty="0"/>
              <a:t>…</a:t>
            </a:r>
            <a:endParaRPr lang="en-US" altLang="zh-CN" sz="1400" dirty="0"/>
          </a:p>
        </p:txBody>
      </p:sp>
      <p:sp>
        <p:nvSpPr>
          <p:cNvPr id="11" name="TextBox 10"/>
          <p:cNvSpPr txBox="1"/>
          <p:nvPr/>
        </p:nvSpPr>
        <p:spPr>
          <a:xfrm>
            <a:off x="6923583" y="3400892"/>
            <a:ext cx="3055299" cy="3452227"/>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nSpc>
                <a:spcPts val="1900"/>
              </a:lnSpc>
            </a:pPr>
            <a:r>
              <a:rPr lang="en-US" altLang="zh-CN" sz="1400" dirty="0"/>
              <a:t>//</a:t>
            </a:r>
            <a:r>
              <a:rPr lang="en-US" altLang="zh-CN" sz="1400" dirty="0" err="1"/>
              <a:t>stack.c</a:t>
            </a:r>
            <a:endParaRPr lang="en-US" altLang="zh-CN" sz="1400" dirty="0"/>
          </a:p>
          <a:p>
            <a:r>
              <a:rPr lang="en-US" altLang="zh-CN" sz="1200" b="1" dirty="0">
                <a:solidFill>
                  <a:srgbClr val="7030A0"/>
                </a:solidFill>
              </a:rPr>
              <a:t>static</a:t>
            </a:r>
            <a:r>
              <a:rPr lang="en-US" altLang="zh-CN" sz="1200" dirty="0"/>
              <a:t> </a:t>
            </a:r>
            <a:r>
              <a:rPr lang="en-US" altLang="zh-CN" sz="1200" dirty="0" err="1"/>
              <a:t>DataType</a:t>
            </a:r>
            <a:r>
              <a:rPr lang="en-US" altLang="zh-CN" sz="1200" dirty="0"/>
              <a:t> </a:t>
            </a:r>
            <a:r>
              <a:rPr lang="en-US" altLang="zh-CN" sz="1200" dirty="0" err="1"/>
              <a:t>Num_stack</a:t>
            </a:r>
            <a:r>
              <a:rPr lang="en-US" altLang="zh-CN" sz="1200" dirty="0"/>
              <a:t>[MAXSIZE</a:t>
            </a:r>
          </a:p>
          <a:p>
            <a:r>
              <a:rPr lang="en-US" altLang="zh-CN" sz="1200" b="1" dirty="0">
                <a:solidFill>
                  <a:srgbClr val="7030A0"/>
                </a:solidFill>
              </a:rPr>
              <a:t>static</a:t>
            </a:r>
            <a:r>
              <a:rPr lang="en-US" altLang="zh-CN" sz="1200" dirty="0"/>
              <a:t> </a:t>
            </a:r>
            <a:r>
              <a:rPr lang="en-US" altLang="zh-CN" sz="1200" dirty="0" err="1"/>
              <a:t>enum</a:t>
            </a:r>
            <a:r>
              <a:rPr lang="en-US" altLang="zh-CN" sz="1200" dirty="0"/>
              <a:t> </a:t>
            </a:r>
            <a:r>
              <a:rPr lang="en-US" altLang="zh-CN" sz="1200" dirty="0" err="1"/>
              <a:t>oper</a:t>
            </a:r>
            <a:r>
              <a:rPr lang="en-US" altLang="zh-CN" sz="1200" dirty="0"/>
              <a:t> </a:t>
            </a:r>
            <a:r>
              <a:rPr lang="en-US" altLang="zh-CN" sz="1200" dirty="0" err="1"/>
              <a:t>Op_stack</a:t>
            </a:r>
            <a:r>
              <a:rPr lang="en-US" altLang="zh-CN" sz="1200" dirty="0"/>
              <a:t>[MAXSIZE];</a:t>
            </a:r>
          </a:p>
          <a:p>
            <a:r>
              <a:rPr lang="en-US" altLang="zh-CN" sz="1200" b="1" dirty="0">
                <a:solidFill>
                  <a:srgbClr val="7030A0"/>
                </a:solidFill>
              </a:rPr>
              <a:t>static</a:t>
            </a:r>
            <a:r>
              <a:rPr lang="en-US" altLang="zh-CN" sz="1200" dirty="0"/>
              <a:t> </a:t>
            </a:r>
            <a:r>
              <a:rPr lang="en-US" altLang="zh-CN" sz="1200" dirty="0" err="1"/>
              <a:t>int</a:t>
            </a:r>
            <a:r>
              <a:rPr lang="en-US" altLang="zh-CN" sz="1200" dirty="0"/>
              <a:t> </a:t>
            </a:r>
            <a:r>
              <a:rPr lang="en-US" altLang="zh-CN" sz="1200" dirty="0" err="1"/>
              <a:t>Nop</a:t>
            </a:r>
            <a:r>
              <a:rPr lang="en-US" altLang="zh-CN" sz="1200" dirty="0"/>
              <a:t>=-1; </a:t>
            </a:r>
          </a:p>
          <a:p>
            <a:r>
              <a:rPr lang="en-US" altLang="zh-CN" sz="1200" b="1" dirty="0">
                <a:solidFill>
                  <a:srgbClr val="7030A0"/>
                </a:solidFill>
              </a:rPr>
              <a:t>static </a:t>
            </a:r>
            <a:r>
              <a:rPr lang="en-US" altLang="zh-CN" sz="1200" dirty="0" err="1"/>
              <a:t>int</a:t>
            </a:r>
            <a:r>
              <a:rPr lang="en-US" altLang="zh-CN" sz="1200" dirty="0"/>
              <a:t>  </a:t>
            </a:r>
            <a:r>
              <a:rPr lang="en-US" altLang="zh-CN" sz="1200" dirty="0" err="1"/>
              <a:t>Otop</a:t>
            </a:r>
            <a:r>
              <a:rPr lang="en-US" altLang="zh-CN" sz="1200" dirty="0"/>
              <a:t>=-1</a:t>
            </a:r>
            <a:r>
              <a:rPr lang="en-US" altLang="zh-CN" sz="1100" dirty="0"/>
              <a:t>; </a:t>
            </a:r>
          </a:p>
          <a:p>
            <a:r>
              <a:rPr lang="en-US" altLang="zh-CN" sz="1200" dirty="0"/>
              <a:t>void </a:t>
            </a:r>
            <a:r>
              <a:rPr lang="en-US" altLang="zh-CN" sz="1200" dirty="0" err="1"/>
              <a:t>pushNum</a:t>
            </a:r>
            <a:r>
              <a:rPr lang="en-US" altLang="zh-CN" sz="1200" dirty="0"/>
              <a:t>(</a:t>
            </a:r>
            <a:r>
              <a:rPr lang="en-US" altLang="zh-CN" sz="1200" dirty="0" err="1"/>
              <a:t>DataType</a:t>
            </a:r>
            <a:r>
              <a:rPr lang="en-US" altLang="zh-CN" sz="1200" dirty="0"/>
              <a:t> num)</a:t>
            </a:r>
          </a:p>
          <a:p>
            <a:pPr>
              <a:lnSpc>
                <a:spcPts val="1900"/>
              </a:lnSpc>
            </a:pPr>
            <a:r>
              <a:rPr lang="en-US" altLang="zh-CN" sz="1200" dirty="0"/>
              <a:t>{…}</a:t>
            </a:r>
          </a:p>
          <a:p>
            <a:pPr>
              <a:lnSpc>
                <a:spcPts val="1900"/>
              </a:lnSpc>
            </a:pPr>
            <a:r>
              <a:rPr lang="en-US" altLang="zh-CN" sz="1200" dirty="0" err="1"/>
              <a:t>DataType</a:t>
            </a:r>
            <a:r>
              <a:rPr lang="en-US" altLang="zh-CN" sz="1200" dirty="0"/>
              <a:t> </a:t>
            </a:r>
            <a:r>
              <a:rPr lang="en-US" altLang="zh-CN" sz="1200" dirty="0" err="1"/>
              <a:t>popNum</a:t>
            </a:r>
            <a:r>
              <a:rPr lang="en-US" altLang="zh-CN" sz="1200" dirty="0"/>
              <a:t>()</a:t>
            </a:r>
          </a:p>
          <a:p>
            <a:pPr>
              <a:lnSpc>
                <a:spcPts val="1900"/>
              </a:lnSpc>
            </a:pPr>
            <a:r>
              <a:rPr lang="en-US" altLang="zh-CN" sz="1200" dirty="0"/>
              <a:t>{…}</a:t>
            </a:r>
          </a:p>
          <a:p>
            <a:pPr>
              <a:lnSpc>
                <a:spcPts val="1900"/>
              </a:lnSpc>
            </a:pPr>
            <a:r>
              <a:rPr lang="en-US" altLang="zh-CN" sz="1200" dirty="0"/>
              <a:t>void </a:t>
            </a:r>
            <a:r>
              <a:rPr lang="en-US" altLang="zh-CN" sz="1200" dirty="0" err="1"/>
              <a:t>pushOp</a:t>
            </a:r>
            <a:r>
              <a:rPr lang="en-US" altLang="zh-CN" sz="1200" dirty="0"/>
              <a:t>(</a:t>
            </a:r>
            <a:r>
              <a:rPr lang="en-US" altLang="zh-CN" sz="1200" dirty="0" err="1"/>
              <a:t>enum</a:t>
            </a:r>
            <a:r>
              <a:rPr lang="en-US" altLang="zh-CN" sz="1200" dirty="0"/>
              <a:t> </a:t>
            </a:r>
            <a:r>
              <a:rPr lang="en-US" altLang="zh-CN" sz="1200" dirty="0" err="1"/>
              <a:t>oper</a:t>
            </a:r>
            <a:r>
              <a:rPr lang="en-US" altLang="zh-CN" sz="1200" dirty="0"/>
              <a:t> op)</a:t>
            </a:r>
          </a:p>
          <a:p>
            <a:pPr>
              <a:lnSpc>
                <a:spcPts val="1900"/>
              </a:lnSpc>
            </a:pPr>
            <a:r>
              <a:rPr lang="en-US" altLang="zh-CN" sz="1200" dirty="0"/>
              <a:t>{…}</a:t>
            </a:r>
          </a:p>
          <a:p>
            <a:pPr>
              <a:lnSpc>
                <a:spcPts val="1900"/>
              </a:lnSpc>
            </a:pPr>
            <a:r>
              <a:rPr lang="en-US" altLang="zh-CN" sz="1200" dirty="0" err="1"/>
              <a:t>enum</a:t>
            </a:r>
            <a:r>
              <a:rPr lang="en-US" altLang="zh-CN" sz="1200" dirty="0"/>
              <a:t> operator  </a:t>
            </a:r>
            <a:r>
              <a:rPr lang="en-US" altLang="zh-CN" sz="1200" dirty="0" err="1"/>
              <a:t>popOp</a:t>
            </a:r>
            <a:r>
              <a:rPr lang="en-US" altLang="zh-CN" sz="1200" dirty="0"/>
              <a:t>()</a:t>
            </a:r>
          </a:p>
          <a:p>
            <a:pPr>
              <a:lnSpc>
                <a:spcPts val="1900"/>
              </a:lnSpc>
            </a:pPr>
            <a:r>
              <a:rPr lang="en-US" altLang="zh-CN" sz="1200" dirty="0"/>
              <a:t>{…}</a:t>
            </a:r>
          </a:p>
          <a:p>
            <a:pPr>
              <a:lnSpc>
                <a:spcPts val="1900"/>
              </a:lnSpc>
            </a:pPr>
            <a:r>
              <a:rPr lang="en-US" altLang="zh-CN" sz="1200" dirty="0" err="1"/>
              <a:t>enum</a:t>
            </a:r>
            <a:r>
              <a:rPr lang="en-US" altLang="zh-CN" sz="1200" dirty="0"/>
              <a:t> operator  </a:t>
            </a:r>
            <a:r>
              <a:rPr lang="en-US" altLang="zh-CN" sz="1200" dirty="0" err="1"/>
              <a:t>topOp</a:t>
            </a:r>
            <a:r>
              <a:rPr lang="en-US" altLang="zh-CN" sz="1200" dirty="0"/>
              <a:t>()</a:t>
            </a:r>
          </a:p>
          <a:p>
            <a:pPr>
              <a:lnSpc>
                <a:spcPts val="1900"/>
              </a:lnSpc>
            </a:pPr>
            <a:r>
              <a:rPr lang="en-US" altLang="zh-CN" sz="1200" dirty="0"/>
              <a:t>{…}</a:t>
            </a:r>
          </a:p>
        </p:txBody>
      </p:sp>
      <p:sp>
        <p:nvSpPr>
          <p:cNvPr id="12" name="对话气泡: 圆角矩形 11">
            <a:extLst>
              <a:ext uri="{FF2B5EF4-FFF2-40B4-BE49-F238E27FC236}">
                <a16:creationId xmlns:a16="http://schemas.microsoft.com/office/drawing/2014/main" id="{E99F7717-5C55-415A-98EE-24D0D1F8A5E1}"/>
              </a:ext>
            </a:extLst>
          </p:cNvPr>
          <p:cNvSpPr/>
          <p:nvPr/>
        </p:nvSpPr>
        <p:spPr bwMode="auto">
          <a:xfrm>
            <a:off x="7392143" y="2009115"/>
            <a:ext cx="2356945" cy="715089"/>
          </a:xfrm>
          <a:prstGeom prst="wedgeRoundRectCallout">
            <a:avLst>
              <a:gd name="adj1" fmla="val -42021"/>
              <a:gd name="adj2" fmla="val 88301"/>
              <a:gd name="adj3" fmla="val 16667"/>
            </a:avLst>
          </a:prstGeom>
          <a:noFill/>
          <a:ln w="9525"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eaLnBrk="0" fontAlgn="base" hangingPunct="0">
              <a:spcBef>
                <a:spcPct val="0"/>
              </a:spcBef>
              <a:spcAft>
                <a:spcPct val="0"/>
              </a:spcAft>
            </a:pPr>
            <a:r>
              <a:rPr lang="zh-CN" altLang="en-US" b="1" dirty="0">
                <a:solidFill>
                  <a:srgbClr val="7030A0"/>
                </a:solidFill>
                <a:latin typeface="Arial" charset="0"/>
                <a:ea typeface="宋体" charset="-122"/>
              </a:rPr>
              <a:t>外部静态变量</a:t>
            </a:r>
            <a:r>
              <a:rPr lang="zh-CN" altLang="en-US" dirty="0">
                <a:latin typeface="Arial" charset="0"/>
                <a:ea typeface="宋体" charset="-122"/>
              </a:rPr>
              <a:t>，其作用域为所在文件。</a:t>
            </a: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blinds(horizontal)">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linds(horizontal)">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2"/>
          <p:cNvSpPr>
            <a:spLocks noGrp="1" noChangeArrowheads="1"/>
          </p:cNvSpPr>
          <p:nvPr>
            <p:ph type="title"/>
          </p:nvPr>
        </p:nvSpPr>
        <p:spPr/>
        <p:txBody>
          <a:bodyPr/>
          <a:lstStyle/>
          <a:p>
            <a:r>
              <a:rPr lang="zh-CN" altLang="en-US">
                <a:ea typeface="宋体" pitchFamily="2" charset="-122"/>
              </a:rPr>
              <a:t>静态变量（</a:t>
            </a:r>
            <a:r>
              <a:rPr lang="en-US" altLang="zh-CN">
                <a:ea typeface="宋体" pitchFamily="2" charset="-122"/>
              </a:rPr>
              <a:t>static</a:t>
            </a:r>
            <a:r>
              <a:rPr lang="zh-CN" altLang="en-US">
                <a:ea typeface="宋体" pitchFamily="2" charset="-122"/>
              </a:rPr>
              <a:t>）*</a:t>
            </a:r>
          </a:p>
        </p:txBody>
      </p:sp>
      <p:sp>
        <p:nvSpPr>
          <p:cNvPr id="55301" name="Rectangle 3"/>
          <p:cNvSpPr>
            <a:spLocks noGrp="1" noChangeArrowheads="1"/>
          </p:cNvSpPr>
          <p:nvPr>
            <p:ph idx="1"/>
          </p:nvPr>
        </p:nvSpPr>
        <p:spPr>
          <a:xfrm>
            <a:off x="1127448" y="1412776"/>
            <a:ext cx="8928992" cy="4789488"/>
          </a:xfrm>
        </p:spPr>
        <p:txBody>
          <a:bodyPr/>
          <a:lstStyle/>
          <a:p>
            <a:pPr>
              <a:lnSpc>
                <a:spcPct val="80000"/>
              </a:lnSpc>
              <a:buFont typeface="Wingdings" pitchFamily="2" charset="2"/>
              <a:buNone/>
            </a:pPr>
            <a:r>
              <a:rPr lang="en-US" altLang="zh-CN" sz="1800">
                <a:ea typeface="宋体" pitchFamily="2" charset="-122"/>
              </a:rPr>
              <a:t>① </a:t>
            </a:r>
            <a:r>
              <a:rPr lang="zh-CN" altLang="en-US" sz="1800">
                <a:ea typeface="宋体" pitchFamily="2" charset="-122"/>
              </a:rPr>
              <a:t>内部静态变量</a:t>
            </a:r>
          </a:p>
          <a:p>
            <a:pPr lvl="1"/>
            <a:r>
              <a:rPr lang="zh-CN" altLang="en-US" sz="1800">
                <a:ea typeface="宋体" pitchFamily="2" charset="-122"/>
              </a:rPr>
              <a:t>在局部变量前加上‘</a:t>
            </a:r>
            <a:r>
              <a:rPr lang="en-US" altLang="zh-CN" sz="1800">
                <a:ea typeface="宋体" pitchFamily="2" charset="-122"/>
              </a:rPr>
              <a:t>static’</a:t>
            </a:r>
            <a:r>
              <a:rPr lang="zh-CN" altLang="en-US" sz="1800">
                <a:ea typeface="宋体" pitchFamily="2" charset="-122"/>
              </a:rPr>
              <a:t>关键字就成为内部静态变量。</a:t>
            </a:r>
          </a:p>
          <a:p>
            <a:pPr lvl="1">
              <a:lnSpc>
                <a:spcPct val="95000"/>
              </a:lnSpc>
            </a:pPr>
            <a:r>
              <a:rPr lang="zh-CN" altLang="en-US" sz="1800">
                <a:ea typeface="宋体" pitchFamily="2" charset="-122"/>
              </a:rPr>
              <a:t>内部静态变量仍是局部变量，其作用域仍在定义它的函数内。但该变量采用静态存贮分配（由编译程序在编译时分配，而一般的自动变量和函数形参均采用动态存贮分配，即在运行时分配空间），当函数执行完，返回调用点时，该变量并不撤消，其值将继续保留，若下次再进入该函数时，其值仍存在。</a:t>
            </a:r>
          </a:p>
          <a:p>
            <a:pPr>
              <a:buFont typeface="Wingdings" pitchFamily="2" charset="2"/>
              <a:buNone/>
            </a:pPr>
            <a:r>
              <a:rPr lang="zh-CN" altLang="en-US" sz="1800">
                <a:ea typeface="宋体" pitchFamily="2" charset="-122"/>
              </a:rPr>
              <a:t>②外部静态变量</a:t>
            </a:r>
          </a:p>
          <a:p>
            <a:pPr lvl="1"/>
            <a:r>
              <a:rPr lang="zh-CN" altLang="en-US" sz="1800">
                <a:ea typeface="宋体" pitchFamily="2" charset="-122"/>
              </a:rPr>
              <a:t>在函数外部定义的变量前加上“</a:t>
            </a:r>
            <a:r>
              <a:rPr lang="en-US" altLang="zh-CN" sz="1800">
                <a:ea typeface="宋体" pitchFamily="2" charset="-122"/>
              </a:rPr>
              <a:t>static”</a:t>
            </a:r>
            <a:r>
              <a:rPr lang="zh-CN" altLang="en-US" sz="1800">
                <a:ea typeface="宋体" pitchFamily="2" charset="-122"/>
              </a:rPr>
              <a:t>关键字便成了外部静态变量。</a:t>
            </a:r>
          </a:p>
          <a:p>
            <a:pPr lvl="1">
              <a:lnSpc>
                <a:spcPct val="95000"/>
              </a:lnSpc>
            </a:pPr>
            <a:r>
              <a:rPr lang="zh-CN" altLang="en-US" sz="1800">
                <a:ea typeface="宋体" pitchFamily="2" charset="-122"/>
              </a:rPr>
              <a:t>外部静态变量的作用域为定义它的文件，即成为该文件的的“私有”（</a:t>
            </a:r>
            <a:r>
              <a:rPr lang="en-US" altLang="zh-CN" sz="1800">
                <a:ea typeface="宋体" pitchFamily="2" charset="-122"/>
              </a:rPr>
              <a:t>private</a:t>
            </a:r>
            <a:r>
              <a:rPr lang="zh-CN" altLang="en-US" sz="1800">
                <a:ea typeface="宋体" pitchFamily="2" charset="-122"/>
              </a:rPr>
              <a:t>）变量，其它文件上的函数一律不得直接进行访问，除非通过它所在文件上的各种函数来对它进行操作，这可实现数据隐藏。</a:t>
            </a:r>
            <a:r>
              <a:rPr lang="en-US" altLang="zh-CN" sz="1800">
                <a:ea typeface="宋体" pitchFamily="2" charset="-122"/>
              </a:rPr>
              <a:t>(</a:t>
            </a:r>
            <a:r>
              <a:rPr lang="zh-CN" altLang="en-US" sz="1800">
                <a:ea typeface="宋体" pitchFamily="2" charset="-122"/>
              </a:rPr>
              <a:t>在</a:t>
            </a:r>
            <a:r>
              <a:rPr lang="en-US" altLang="zh-CN" sz="1800">
                <a:ea typeface="宋体" pitchFamily="2" charset="-122"/>
              </a:rPr>
              <a:t>C++</a:t>
            </a:r>
            <a:r>
              <a:rPr lang="zh-CN" altLang="en-US" sz="1800">
                <a:ea typeface="宋体" pitchFamily="2" charset="-122"/>
              </a:rPr>
              <a:t>中提供进一步的数据隐藏。</a:t>
            </a:r>
            <a:r>
              <a:rPr lang="en-US" altLang="zh-CN" sz="1800">
                <a:ea typeface="宋体" pitchFamily="2" charset="-122"/>
              </a:rPr>
              <a:t>)</a:t>
            </a:r>
          </a:p>
        </p:txBody>
      </p:sp>
      <p:sp>
        <p:nvSpPr>
          <p:cNvPr id="55299" name="灯片编号占位符 4"/>
          <p:cNvSpPr>
            <a:spLocks noGrp="1"/>
          </p:cNvSpPr>
          <p:nvPr>
            <p:ph type="sldNum" sz="quarter" idx="12"/>
          </p:nvPr>
        </p:nvSpPr>
        <p:spPr>
          <a:noFill/>
        </p:spPr>
        <p:txBody>
          <a:bodyPr/>
          <a:lstStyle/>
          <a:p>
            <a:fld id="{041B2718-85AF-4361-9831-78F70D17ECEA}" type="slidenum">
              <a:rPr lang="en-US" altLang="zh-CN" smtClean="0"/>
              <a:pPr/>
              <a:t>52</a:t>
            </a:fld>
            <a:endParaRPr lang="en-US" altLang="zh-CN"/>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2"/>
          <p:cNvSpPr>
            <a:spLocks noGrp="1" noChangeArrowheads="1"/>
          </p:cNvSpPr>
          <p:nvPr>
            <p:ph type="title"/>
          </p:nvPr>
        </p:nvSpPr>
        <p:spPr/>
        <p:txBody>
          <a:bodyPr/>
          <a:lstStyle/>
          <a:p>
            <a:r>
              <a:rPr lang="zh-CN" altLang="en-US">
                <a:ea typeface="宋体" pitchFamily="2" charset="-122"/>
              </a:rPr>
              <a:t>静态变量（</a:t>
            </a:r>
            <a:r>
              <a:rPr lang="en-US" altLang="zh-CN">
                <a:ea typeface="宋体" pitchFamily="2" charset="-122"/>
              </a:rPr>
              <a:t>static</a:t>
            </a:r>
            <a:r>
              <a:rPr lang="zh-CN" altLang="en-US">
                <a:ea typeface="宋体" pitchFamily="2" charset="-122"/>
              </a:rPr>
              <a:t>）（续）*</a:t>
            </a:r>
          </a:p>
        </p:txBody>
      </p:sp>
      <p:sp>
        <p:nvSpPr>
          <p:cNvPr id="56325" name="Rectangle 3"/>
          <p:cNvSpPr>
            <a:spLocks noGrp="1" noChangeArrowheads="1"/>
          </p:cNvSpPr>
          <p:nvPr>
            <p:ph idx="1"/>
          </p:nvPr>
        </p:nvSpPr>
        <p:spPr>
          <a:xfrm>
            <a:off x="2501900" y="1125538"/>
            <a:ext cx="7105650" cy="5040312"/>
          </a:xfrm>
        </p:spPr>
        <p:txBody>
          <a:bodyPr/>
          <a:lstStyle/>
          <a:p>
            <a:pPr>
              <a:lnSpc>
                <a:spcPct val="70000"/>
              </a:lnSpc>
              <a:buFont typeface="Wingdings" pitchFamily="2" charset="2"/>
              <a:buNone/>
            </a:pPr>
            <a:r>
              <a:rPr lang="zh-CN" altLang="en-US" sz="1600" b="0">
                <a:ea typeface="宋体" pitchFamily="2" charset="-122"/>
              </a:rPr>
              <a:t>例：下列程序打印出什么结果。 </a:t>
            </a:r>
          </a:p>
          <a:p>
            <a:pPr>
              <a:lnSpc>
                <a:spcPct val="70000"/>
              </a:lnSpc>
              <a:buFont typeface="Wingdings" pitchFamily="2" charset="2"/>
              <a:buNone/>
            </a:pPr>
            <a:r>
              <a:rPr lang="en-US" altLang="zh-CN" sz="1600" b="0">
                <a:ea typeface="宋体" pitchFamily="2" charset="-122"/>
              </a:rPr>
              <a:t>#include &lt;stdio.h&gt;</a:t>
            </a:r>
          </a:p>
          <a:p>
            <a:pPr>
              <a:lnSpc>
                <a:spcPct val="70000"/>
              </a:lnSpc>
              <a:buFont typeface="Wingdings" pitchFamily="2" charset="2"/>
              <a:buNone/>
            </a:pPr>
            <a:r>
              <a:rPr lang="en-US" altLang="zh-CN" sz="1600" b="0">
                <a:ea typeface="宋体" pitchFamily="2" charset="-122"/>
              </a:rPr>
              <a:t>int f(int i);</a:t>
            </a:r>
          </a:p>
          <a:p>
            <a:pPr>
              <a:lnSpc>
                <a:spcPct val="70000"/>
              </a:lnSpc>
              <a:buFont typeface="Wingdings" pitchFamily="2" charset="2"/>
              <a:buNone/>
            </a:pPr>
            <a:r>
              <a:rPr lang="en-US" altLang="zh-CN" sz="1600" b="0">
                <a:ea typeface="宋体" pitchFamily="2" charset="-122"/>
              </a:rPr>
              <a:t>main() </a:t>
            </a:r>
          </a:p>
          <a:p>
            <a:pPr>
              <a:lnSpc>
                <a:spcPct val="70000"/>
              </a:lnSpc>
              <a:buFont typeface="Wingdings" pitchFamily="2" charset="2"/>
              <a:buNone/>
            </a:pPr>
            <a:r>
              <a:rPr lang="en-US" altLang="zh-CN" sz="1600" b="0">
                <a:ea typeface="宋体" pitchFamily="2" charset="-122"/>
              </a:rPr>
              <a:t>  { </a:t>
            </a:r>
          </a:p>
          <a:p>
            <a:pPr>
              <a:lnSpc>
                <a:spcPct val="70000"/>
              </a:lnSpc>
              <a:buFont typeface="Wingdings" pitchFamily="2" charset="2"/>
              <a:buNone/>
            </a:pPr>
            <a:r>
              <a:rPr lang="en-US" altLang="zh-CN" sz="1600" b="0">
                <a:ea typeface="宋体" pitchFamily="2" charset="-122"/>
              </a:rPr>
              <a:t>    	int i; </a:t>
            </a:r>
          </a:p>
          <a:p>
            <a:pPr>
              <a:lnSpc>
                <a:spcPct val="70000"/>
              </a:lnSpc>
              <a:buFont typeface="Wingdings" pitchFamily="2" charset="2"/>
              <a:buNone/>
            </a:pPr>
            <a:r>
              <a:rPr lang="en-US" altLang="zh-CN" sz="1600" b="0">
                <a:ea typeface="宋体" pitchFamily="2" charset="-122"/>
              </a:rPr>
              <a:t>      for(i=0; i &lt; 5; i++) </a:t>
            </a:r>
          </a:p>
          <a:p>
            <a:pPr>
              <a:lnSpc>
                <a:spcPct val="70000"/>
              </a:lnSpc>
              <a:buFont typeface="Wingdings" pitchFamily="2" charset="2"/>
              <a:buNone/>
            </a:pPr>
            <a:r>
              <a:rPr lang="en-US" altLang="zh-CN" sz="1600" b="0">
                <a:ea typeface="宋体" pitchFamily="2" charset="-122"/>
              </a:rPr>
              <a:t>         printf("%d ",f(i)); </a:t>
            </a:r>
          </a:p>
          <a:p>
            <a:pPr>
              <a:lnSpc>
                <a:spcPct val="70000"/>
              </a:lnSpc>
              <a:buFont typeface="Wingdings" pitchFamily="2" charset="2"/>
              <a:buNone/>
            </a:pPr>
            <a:r>
              <a:rPr lang="en-US" altLang="zh-CN" sz="1600" b="0">
                <a:ea typeface="宋体" pitchFamily="2" charset="-122"/>
              </a:rPr>
              <a:t>}</a:t>
            </a:r>
          </a:p>
          <a:p>
            <a:pPr>
              <a:lnSpc>
                <a:spcPct val="70000"/>
              </a:lnSpc>
              <a:buFont typeface="Wingdings" pitchFamily="2" charset="2"/>
              <a:buNone/>
            </a:pPr>
            <a:r>
              <a:rPr lang="en-US" altLang="zh-CN" sz="1600" b="0">
                <a:ea typeface="宋体" pitchFamily="2" charset="-122"/>
              </a:rPr>
              <a:t>int f(int i) </a:t>
            </a:r>
          </a:p>
          <a:p>
            <a:pPr>
              <a:lnSpc>
                <a:spcPct val="70000"/>
              </a:lnSpc>
              <a:buFont typeface="Wingdings" pitchFamily="2" charset="2"/>
              <a:buNone/>
            </a:pPr>
            <a:r>
              <a:rPr lang="en-US" altLang="zh-CN" sz="1600" b="0">
                <a:ea typeface="宋体" pitchFamily="2" charset="-122"/>
              </a:rPr>
              <a:t> { </a:t>
            </a:r>
          </a:p>
          <a:p>
            <a:pPr>
              <a:lnSpc>
                <a:spcPct val="70000"/>
              </a:lnSpc>
              <a:buFont typeface="Wingdings" pitchFamily="2" charset="2"/>
              <a:buNone/>
            </a:pPr>
            <a:r>
              <a:rPr lang="en-US" altLang="zh-CN" sz="1600" b="0">
                <a:ea typeface="宋体" pitchFamily="2" charset="-122"/>
              </a:rPr>
              <a:t>    	static int k = 1; </a:t>
            </a:r>
          </a:p>
          <a:p>
            <a:pPr>
              <a:lnSpc>
                <a:spcPct val="70000"/>
              </a:lnSpc>
              <a:buFont typeface="Wingdings" pitchFamily="2" charset="2"/>
              <a:buNone/>
            </a:pPr>
            <a:r>
              <a:rPr lang="en-US" altLang="zh-CN" sz="1600" b="0">
                <a:ea typeface="宋体" pitchFamily="2" charset="-122"/>
              </a:rPr>
              <a:t>      </a:t>
            </a:r>
          </a:p>
          <a:p>
            <a:pPr>
              <a:lnSpc>
                <a:spcPct val="70000"/>
              </a:lnSpc>
              <a:buFont typeface="Wingdings" pitchFamily="2" charset="2"/>
              <a:buNone/>
            </a:pPr>
            <a:r>
              <a:rPr lang="en-US" altLang="zh-CN" sz="1600" b="0">
                <a:ea typeface="宋体" pitchFamily="2" charset="-122"/>
              </a:rPr>
              <a:t>      k += i; </a:t>
            </a:r>
          </a:p>
          <a:p>
            <a:pPr>
              <a:lnSpc>
                <a:spcPct val="70000"/>
              </a:lnSpc>
              <a:buFont typeface="Wingdings" pitchFamily="2" charset="2"/>
              <a:buNone/>
            </a:pPr>
            <a:r>
              <a:rPr lang="en-US" altLang="zh-CN" sz="1600" b="0">
                <a:ea typeface="宋体" pitchFamily="2" charset="-122"/>
              </a:rPr>
              <a:t>      return (k); </a:t>
            </a:r>
          </a:p>
          <a:p>
            <a:pPr>
              <a:lnSpc>
                <a:spcPct val="70000"/>
              </a:lnSpc>
              <a:buFont typeface="Wingdings" pitchFamily="2" charset="2"/>
              <a:buNone/>
            </a:pPr>
            <a:r>
              <a:rPr lang="en-US" altLang="zh-CN" sz="1600" b="0">
                <a:ea typeface="宋体" pitchFamily="2" charset="-122"/>
              </a:rPr>
              <a:t>}</a:t>
            </a:r>
            <a:r>
              <a:rPr lang="en-US" altLang="zh-CN" sz="1400" b="0">
                <a:ea typeface="宋体" pitchFamily="2" charset="-122"/>
              </a:rPr>
              <a:t> </a:t>
            </a:r>
            <a:endParaRPr lang="en-US" altLang="zh-CN" sz="1400">
              <a:ea typeface="宋体" pitchFamily="2" charset="-122"/>
            </a:endParaRPr>
          </a:p>
        </p:txBody>
      </p:sp>
      <p:sp>
        <p:nvSpPr>
          <p:cNvPr id="56323" name="灯片编号占位符 4"/>
          <p:cNvSpPr>
            <a:spLocks noGrp="1"/>
          </p:cNvSpPr>
          <p:nvPr>
            <p:ph type="sldNum" sz="quarter" idx="12"/>
          </p:nvPr>
        </p:nvSpPr>
        <p:spPr>
          <a:noFill/>
        </p:spPr>
        <p:txBody>
          <a:bodyPr/>
          <a:lstStyle/>
          <a:p>
            <a:fld id="{B8D5131D-53EF-49AB-B776-CD734897742C}" type="slidenum">
              <a:rPr lang="en-US" altLang="zh-CN" smtClean="0"/>
              <a:pPr/>
              <a:t>53</a:t>
            </a:fld>
            <a:endParaRPr lang="en-US" altLang="zh-CN"/>
          </a:p>
        </p:txBody>
      </p:sp>
      <p:sp>
        <p:nvSpPr>
          <p:cNvPr id="86020" name="Text Box 4"/>
          <p:cNvSpPr txBox="1">
            <a:spLocks noChangeArrowheads="1"/>
          </p:cNvSpPr>
          <p:nvPr/>
        </p:nvSpPr>
        <p:spPr bwMode="auto">
          <a:xfrm>
            <a:off x="6003925" y="3049589"/>
            <a:ext cx="1013932" cy="646331"/>
          </a:xfrm>
          <a:prstGeom prst="rect">
            <a:avLst/>
          </a:prstGeom>
          <a:noFill/>
          <a:ln w="9525">
            <a:noFill/>
            <a:miter lim="800000"/>
            <a:headEnd/>
            <a:tailEnd/>
          </a:ln>
        </p:spPr>
        <p:txBody>
          <a:bodyPr wrap="none">
            <a:spAutoFit/>
          </a:bodyPr>
          <a:lstStyle/>
          <a:p>
            <a:r>
              <a:rPr lang="zh-CN" altLang="en-US"/>
              <a:t>结果：</a:t>
            </a:r>
          </a:p>
          <a:p>
            <a:r>
              <a:rPr lang="en-US" altLang="zh-CN" i="1">
                <a:solidFill>
                  <a:srgbClr val="0000CC"/>
                </a:solidFill>
              </a:rPr>
              <a:t>1 2 4 7 11</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6020">
                                            <p:txEl>
                                              <p:pRg st="0" end="0"/>
                                            </p:txEl>
                                          </p:spTgt>
                                        </p:tgtEl>
                                        <p:attrNameLst>
                                          <p:attrName>style.visibility</p:attrName>
                                        </p:attrNameLst>
                                      </p:cBhvr>
                                      <p:to>
                                        <p:strVal val="visible"/>
                                      </p:to>
                                    </p:set>
                                    <p:anim calcmode="lin" valueType="num">
                                      <p:cBhvr additive="base">
                                        <p:cTn id="7" dur="1000" fill="hold"/>
                                        <p:tgtEl>
                                          <p:spTgt spid="86020">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8602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6020">
                                            <p:txEl>
                                              <p:pRg st="1" end="1"/>
                                            </p:txEl>
                                          </p:spTgt>
                                        </p:tgtEl>
                                        <p:attrNameLst>
                                          <p:attrName>style.visibility</p:attrName>
                                        </p:attrNameLst>
                                      </p:cBhvr>
                                      <p:to>
                                        <p:strVal val="visible"/>
                                      </p:to>
                                    </p:set>
                                    <p:anim calcmode="lin" valueType="num">
                                      <p:cBhvr additive="base">
                                        <p:cTn id="13" dur="500" fill="hold"/>
                                        <p:tgtEl>
                                          <p:spTgt spid="8602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6020">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5"/>
          <p:cNvGrpSpPr>
            <a:grpSpLocks/>
          </p:cNvGrpSpPr>
          <p:nvPr/>
        </p:nvGrpSpPr>
        <p:grpSpPr bwMode="auto">
          <a:xfrm>
            <a:off x="875518" y="53133"/>
            <a:ext cx="6351240" cy="703263"/>
            <a:chOff x="336" y="192"/>
            <a:chExt cx="2832" cy="443"/>
          </a:xfrm>
        </p:grpSpPr>
        <p:sp>
          <p:nvSpPr>
            <p:cNvPr id="64555" name="Rectangle 3"/>
            <p:cNvSpPr>
              <a:spLocks noChangeArrowheads="1"/>
            </p:cNvSpPr>
            <p:nvPr/>
          </p:nvSpPr>
          <p:spPr bwMode="auto">
            <a:xfrm>
              <a:off x="336" y="192"/>
              <a:ext cx="2832" cy="432"/>
            </a:xfrm>
            <a:prstGeom prst="rect">
              <a:avLst/>
            </a:prstGeom>
            <a:solidFill>
              <a:srgbClr val="CCFFFF"/>
            </a:solidFill>
            <a:ln w="12700" cap="sq">
              <a:noFill/>
              <a:miter lim="800000"/>
              <a:headEnd type="none" w="sm" len="sm"/>
              <a:tailEnd type="none" w="sm" len="sm"/>
            </a:ln>
            <a:effectLst>
              <a:outerShdw dist="125724" dir="2700000" algn="ctr" rotWithShape="0">
                <a:srgbClr val="B2B2B2"/>
              </a:outerShdw>
            </a:effectLst>
          </p:spPr>
          <p:txBody>
            <a:bodyPr wrap="none" anchor="ctr"/>
            <a:lstStyle/>
            <a:p>
              <a:endParaRPr lang="zh-CN" altLang="en-US"/>
            </a:p>
          </p:txBody>
        </p:sp>
        <p:sp>
          <p:nvSpPr>
            <p:cNvPr id="64556" name="Rectangle 4"/>
            <p:cNvSpPr>
              <a:spLocks noChangeArrowheads="1"/>
            </p:cNvSpPr>
            <p:nvPr/>
          </p:nvSpPr>
          <p:spPr bwMode="auto">
            <a:xfrm>
              <a:off x="336" y="228"/>
              <a:ext cx="2784" cy="407"/>
            </a:xfrm>
            <a:prstGeom prst="rect">
              <a:avLst/>
            </a:prstGeom>
            <a:noFill/>
            <a:ln w="12700" cap="sq">
              <a:noFill/>
              <a:miter lim="800000"/>
              <a:headEnd type="none" w="sm" len="sm"/>
              <a:tailEnd type="none" w="sm" len="sm"/>
            </a:ln>
            <a:effectLst>
              <a:outerShdw dist="17961" dir="2700000" algn="ctr" rotWithShape="0">
                <a:schemeClr val="bg2"/>
              </a:outerShdw>
            </a:effectLst>
          </p:spPr>
          <p:txBody>
            <a:bodyPr>
              <a:spAutoFit/>
            </a:bodyPr>
            <a:lstStyle/>
            <a:p>
              <a:r>
                <a:rPr kumimoji="1" lang="zh-CN" altLang="en-US" sz="3600" b="1" dirty="0">
                  <a:solidFill>
                    <a:srgbClr val="00FF00"/>
                  </a:solidFill>
                </a:rPr>
                <a:t> </a:t>
              </a:r>
              <a:r>
                <a:rPr kumimoji="1" lang="en-US" altLang="zh-CN" sz="3600" b="1" dirty="0">
                  <a:solidFill>
                    <a:srgbClr val="FF0000"/>
                  </a:solidFill>
                </a:rPr>
                <a:t>3</a:t>
              </a:r>
              <a:r>
                <a:rPr kumimoji="1" lang="zh-CN" altLang="en-US" sz="3600" b="1" dirty="0">
                  <a:solidFill>
                    <a:srgbClr val="FF0000"/>
                  </a:solidFill>
                </a:rPr>
                <a:t>.</a:t>
              </a:r>
              <a:r>
                <a:rPr kumimoji="1" lang="en-US" altLang="zh-CN" sz="3600" b="1" dirty="0">
                  <a:solidFill>
                    <a:srgbClr val="FF0000"/>
                  </a:solidFill>
                </a:rPr>
                <a:t>4  </a:t>
              </a:r>
              <a:r>
                <a:rPr kumimoji="1" lang="zh-CN" altLang="en-US" sz="3600" b="1" dirty="0">
                  <a:solidFill>
                    <a:srgbClr val="FF0000"/>
                  </a:solidFill>
                </a:rPr>
                <a:t>队</a:t>
              </a:r>
              <a:r>
                <a:rPr kumimoji="1" lang="en-US" altLang="zh-CN" sz="3600" b="1" dirty="0">
                  <a:solidFill>
                    <a:srgbClr val="FF0000"/>
                  </a:solidFill>
                </a:rPr>
                <a:t>(Queue)</a:t>
              </a:r>
              <a:r>
                <a:rPr kumimoji="1" lang="zh-CN" altLang="en-US" sz="3600" b="1" dirty="0">
                  <a:solidFill>
                    <a:srgbClr val="FF0000"/>
                  </a:solidFill>
                </a:rPr>
                <a:t>的基本概念</a:t>
              </a:r>
            </a:p>
          </p:txBody>
        </p:sp>
      </p:grpSp>
      <p:grpSp>
        <p:nvGrpSpPr>
          <p:cNvPr id="3" name="Group 60"/>
          <p:cNvGrpSpPr>
            <a:grpSpLocks/>
          </p:cNvGrpSpPr>
          <p:nvPr/>
        </p:nvGrpSpPr>
        <p:grpSpPr bwMode="auto">
          <a:xfrm>
            <a:off x="1127448" y="2060848"/>
            <a:ext cx="8329612" cy="2286000"/>
            <a:chOff x="417" y="1152"/>
            <a:chExt cx="5247" cy="1440"/>
          </a:xfrm>
        </p:grpSpPr>
        <p:sp>
          <p:nvSpPr>
            <p:cNvPr id="64551" name="Rectangle 9"/>
            <p:cNvSpPr>
              <a:spLocks noChangeArrowheads="1"/>
            </p:cNvSpPr>
            <p:nvPr/>
          </p:nvSpPr>
          <p:spPr bwMode="auto">
            <a:xfrm>
              <a:off x="417" y="1152"/>
              <a:ext cx="4944" cy="1440"/>
            </a:xfrm>
            <a:prstGeom prst="rect">
              <a:avLst/>
            </a:prstGeom>
            <a:solidFill>
              <a:srgbClr val="E7FFE7"/>
            </a:solidFill>
            <a:ln w="12700" cap="sq">
              <a:noFill/>
              <a:miter lim="800000"/>
              <a:headEnd type="none" w="sm" len="sm"/>
              <a:tailEnd type="none" w="sm" len="sm"/>
            </a:ln>
            <a:effectLst>
              <a:outerShdw dist="197566" dir="2700000" algn="ctr" rotWithShape="0">
                <a:srgbClr val="B2B2B2"/>
              </a:outerShdw>
            </a:effectLst>
          </p:spPr>
          <p:txBody>
            <a:bodyPr wrap="none" anchor="ctr"/>
            <a:lstStyle/>
            <a:p>
              <a:endParaRPr lang="zh-CN" altLang="en-US"/>
            </a:p>
          </p:txBody>
        </p:sp>
        <p:sp>
          <p:nvSpPr>
            <p:cNvPr id="64552" name="Text Box 10"/>
            <p:cNvSpPr txBox="1">
              <a:spLocks noChangeArrowheads="1"/>
            </p:cNvSpPr>
            <p:nvPr/>
          </p:nvSpPr>
          <p:spPr bwMode="auto">
            <a:xfrm>
              <a:off x="624" y="1248"/>
              <a:ext cx="5040" cy="1236"/>
            </a:xfrm>
            <a:prstGeom prst="rect">
              <a:avLst/>
            </a:prstGeom>
            <a:noFill/>
            <a:ln w="12700" cap="sq">
              <a:noFill/>
              <a:miter lim="800000"/>
              <a:headEnd type="none" w="sm" len="sm"/>
              <a:tailEnd type="none" w="sm" len="sm"/>
            </a:ln>
          </p:spPr>
          <p:txBody>
            <a:bodyPr>
              <a:spAutoFit/>
            </a:bodyPr>
            <a:lstStyle/>
            <a:p>
              <a:pPr eaLnBrk="1" hangingPunct="1">
                <a:lnSpc>
                  <a:spcPct val="90000"/>
                </a:lnSpc>
              </a:pPr>
              <a:r>
                <a:rPr kumimoji="1" lang="zh-CN" altLang="en-US" sz="2700" b="1">
                  <a:solidFill>
                    <a:srgbClr val="002C84"/>
                  </a:solidFill>
                  <a:latin typeface="幼圆" pitchFamily="49" charset="-122"/>
                  <a:ea typeface="幼圆" pitchFamily="49" charset="-122"/>
                </a:rPr>
                <a:t>         简称   。是一种只允许在表的一端</a:t>
              </a:r>
            </a:p>
            <a:p>
              <a:pPr eaLnBrk="1" hangingPunct="1">
                <a:lnSpc>
                  <a:spcPct val="90000"/>
                </a:lnSpc>
              </a:pPr>
              <a:r>
                <a:rPr kumimoji="1" lang="zh-CN" altLang="en-US" sz="2700" b="1">
                  <a:solidFill>
                    <a:srgbClr val="002C84"/>
                  </a:solidFill>
                  <a:latin typeface="幼圆" pitchFamily="49" charset="-122"/>
                  <a:ea typeface="幼圆" pitchFamily="49" charset="-122"/>
                </a:rPr>
                <a:t>进行插入操作，而在表的另一端进行删除操作</a:t>
              </a:r>
            </a:p>
            <a:p>
              <a:pPr eaLnBrk="1" hangingPunct="1">
                <a:lnSpc>
                  <a:spcPct val="90000"/>
                </a:lnSpc>
              </a:pPr>
              <a:r>
                <a:rPr kumimoji="1" lang="zh-CN" altLang="en-US" sz="2700" b="1">
                  <a:solidFill>
                    <a:srgbClr val="002C84"/>
                  </a:solidFill>
                  <a:latin typeface="幼圆" pitchFamily="49" charset="-122"/>
                  <a:ea typeface="幼圆" pitchFamily="49" charset="-122"/>
                </a:rPr>
                <a:t>的线性表。允许插入的一端称为</a:t>
              </a:r>
              <a:r>
                <a:rPr kumimoji="1" lang="zh-CN" altLang="en-US" sz="2700" b="1">
                  <a:solidFill>
                    <a:srgbClr val="FF3300"/>
                  </a:solidFill>
                  <a:latin typeface="黑体" pitchFamily="2" charset="-122"/>
                  <a:ea typeface="黑体" pitchFamily="2" charset="-122"/>
                </a:rPr>
                <a:t>队尾</a:t>
              </a:r>
              <a:r>
                <a:rPr kumimoji="1" lang="zh-CN" altLang="en-US" sz="2700" b="1">
                  <a:solidFill>
                    <a:srgbClr val="002C84"/>
                  </a:solidFill>
                  <a:latin typeface="幼圆" pitchFamily="49" charset="-122"/>
                  <a:ea typeface="幼圆" pitchFamily="49" charset="-122"/>
                </a:rPr>
                <a:t>，队尾元</a:t>
              </a:r>
            </a:p>
            <a:p>
              <a:pPr eaLnBrk="1" hangingPunct="1">
                <a:lnSpc>
                  <a:spcPct val="90000"/>
                </a:lnSpc>
              </a:pPr>
              <a:r>
                <a:rPr kumimoji="1" lang="zh-CN" altLang="en-US" sz="2700" b="1">
                  <a:solidFill>
                    <a:srgbClr val="002C84"/>
                  </a:solidFill>
                  <a:latin typeface="幼圆" pitchFamily="49" charset="-122"/>
                  <a:ea typeface="幼圆" pitchFamily="49" charset="-122"/>
                </a:rPr>
                <a:t>素的位置由</a:t>
              </a:r>
              <a:r>
                <a:rPr kumimoji="1" lang="en-US" altLang="en-US" sz="2700" b="1">
                  <a:solidFill>
                    <a:srgbClr val="002C84"/>
                  </a:solidFill>
                  <a:ea typeface="幼圆" pitchFamily="49" charset="-122"/>
                </a:rPr>
                <a:t>rear</a:t>
              </a:r>
              <a:r>
                <a:rPr kumimoji="1" lang="zh-CN" altLang="en-US" sz="2700" b="1">
                  <a:solidFill>
                    <a:srgbClr val="002C84"/>
                  </a:solidFill>
                  <a:latin typeface="幼圆" pitchFamily="49" charset="-122"/>
                  <a:ea typeface="幼圆" pitchFamily="49" charset="-122"/>
                </a:rPr>
                <a:t>指出； 允许删除的一端称为</a:t>
              </a:r>
              <a:r>
                <a:rPr kumimoji="1" lang="zh-CN" altLang="en-US" sz="2700" b="1">
                  <a:solidFill>
                    <a:srgbClr val="FF3300"/>
                  </a:solidFill>
                  <a:latin typeface="黑体" pitchFamily="2" charset="-122"/>
                  <a:ea typeface="黑体" pitchFamily="2" charset="-122"/>
                </a:rPr>
                <a:t>队</a:t>
              </a:r>
            </a:p>
            <a:p>
              <a:pPr eaLnBrk="1" hangingPunct="1">
                <a:lnSpc>
                  <a:spcPct val="90000"/>
                </a:lnSpc>
              </a:pPr>
              <a:r>
                <a:rPr kumimoji="1" lang="zh-CN" altLang="en-US" sz="2700" b="1">
                  <a:solidFill>
                    <a:srgbClr val="FF3300"/>
                  </a:solidFill>
                  <a:latin typeface="黑体" pitchFamily="2" charset="-122"/>
                  <a:ea typeface="黑体" pitchFamily="2" charset="-122"/>
                </a:rPr>
                <a:t>头</a:t>
              </a:r>
              <a:r>
                <a:rPr kumimoji="1" lang="zh-CN" altLang="en-US" sz="2700" b="1">
                  <a:solidFill>
                    <a:srgbClr val="002C84"/>
                  </a:solidFill>
                  <a:latin typeface="幼圆" pitchFamily="49" charset="-122"/>
                  <a:ea typeface="幼圆" pitchFamily="49" charset="-122"/>
                </a:rPr>
                <a:t>, 队头元素的位置由</a:t>
              </a:r>
              <a:r>
                <a:rPr kumimoji="1" lang="en-US" altLang="en-US" sz="2700" b="1">
                  <a:solidFill>
                    <a:srgbClr val="002C84"/>
                  </a:solidFill>
                  <a:ea typeface="幼圆" pitchFamily="49" charset="-122"/>
                </a:rPr>
                <a:t>front</a:t>
              </a:r>
              <a:r>
                <a:rPr kumimoji="1" lang="zh-CN" altLang="en-US" sz="2700" b="1">
                  <a:solidFill>
                    <a:srgbClr val="002C84"/>
                  </a:solidFill>
                  <a:latin typeface="幼圆" pitchFamily="49" charset="-122"/>
                  <a:ea typeface="幼圆" pitchFamily="49" charset="-122"/>
                </a:rPr>
                <a:t>指出。</a:t>
              </a:r>
            </a:p>
          </p:txBody>
        </p:sp>
        <p:sp>
          <p:nvSpPr>
            <p:cNvPr id="64553" name="Rectangle 11"/>
            <p:cNvSpPr>
              <a:spLocks noChangeArrowheads="1"/>
            </p:cNvSpPr>
            <p:nvPr/>
          </p:nvSpPr>
          <p:spPr bwMode="auto">
            <a:xfrm>
              <a:off x="2064" y="1245"/>
              <a:ext cx="311" cy="291"/>
            </a:xfrm>
            <a:prstGeom prst="rect">
              <a:avLst/>
            </a:prstGeom>
            <a:noFill/>
            <a:ln w="12700" cap="sq">
              <a:noFill/>
              <a:miter lim="800000"/>
              <a:headEnd type="none" w="sm" len="sm"/>
              <a:tailEnd type="none" w="sm" len="sm"/>
            </a:ln>
            <a:effectLst>
              <a:outerShdw dist="17961" dir="2700000" algn="ctr" rotWithShape="0">
                <a:schemeClr val="bg1"/>
              </a:outerShdw>
            </a:effectLst>
          </p:spPr>
          <p:txBody>
            <a:bodyPr wrap="none">
              <a:spAutoFit/>
            </a:bodyPr>
            <a:lstStyle/>
            <a:p>
              <a:r>
                <a:rPr kumimoji="1" lang="zh-CN" altLang="en-US" sz="2400" b="1" dirty="0">
                  <a:solidFill>
                    <a:srgbClr val="FF3300"/>
                  </a:solidFill>
                  <a:ea typeface="黑体" pitchFamily="2" charset="-122"/>
                </a:rPr>
                <a:t>队</a:t>
              </a:r>
            </a:p>
          </p:txBody>
        </p:sp>
        <p:sp>
          <p:nvSpPr>
            <p:cNvPr id="64554" name="Rectangle 12"/>
            <p:cNvSpPr>
              <a:spLocks noChangeArrowheads="1"/>
            </p:cNvSpPr>
            <p:nvPr/>
          </p:nvSpPr>
          <p:spPr bwMode="auto">
            <a:xfrm>
              <a:off x="1066" y="1245"/>
              <a:ext cx="768" cy="291"/>
            </a:xfrm>
            <a:prstGeom prst="rect">
              <a:avLst/>
            </a:prstGeom>
            <a:noFill/>
            <a:ln w="12700" cap="sq">
              <a:noFill/>
              <a:miter lim="800000"/>
              <a:headEnd type="none" w="sm" len="sm"/>
              <a:tailEnd type="none" w="sm" len="sm"/>
            </a:ln>
            <a:effectLst>
              <a:outerShdw dist="17961" dir="2700000" algn="ctr" rotWithShape="0">
                <a:schemeClr val="bg1"/>
              </a:outerShdw>
            </a:effectLst>
          </p:spPr>
          <p:txBody>
            <a:bodyPr>
              <a:spAutoFit/>
            </a:bodyPr>
            <a:lstStyle/>
            <a:p>
              <a:r>
                <a:rPr kumimoji="1" lang="zh-CN" altLang="en-US" sz="2400" b="1" dirty="0">
                  <a:solidFill>
                    <a:srgbClr val="FF3300"/>
                  </a:solidFill>
                  <a:ea typeface="黑体" pitchFamily="2" charset="-122"/>
                </a:rPr>
                <a:t>队列</a:t>
              </a:r>
            </a:p>
          </p:txBody>
        </p:sp>
      </p:grpSp>
      <p:grpSp>
        <p:nvGrpSpPr>
          <p:cNvPr id="4" name="Group 13"/>
          <p:cNvGrpSpPr>
            <a:grpSpLocks/>
          </p:cNvGrpSpPr>
          <p:nvPr/>
        </p:nvGrpSpPr>
        <p:grpSpPr bwMode="auto">
          <a:xfrm>
            <a:off x="1956123" y="5280298"/>
            <a:ext cx="4953000" cy="457200"/>
            <a:chOff x="816" y="3264"/>
            <a:chExt cx="3120" cy="288"/>
          </a:xfrm>
        </p:grpSpPr>
        <p:sp>
          <p:nvSpPr>
            <p:cNvPr id="64542" name="Rectangle 14"/>
            <p:cNvSpPr>
              <a:spLocks noChangeArrowheads="1"/>
            </p:cNvSpPr>
            <p:nvPr/>
          </p:nvSpPr>
          <p:spPr bwMode="auto">
            <a:xfrm>
              <a:off x="816" y="3264"/>
              <a:ext cx="336" cy="288"/>
            </a:xfrm>
            <a:prstGeom prst="rect">
              <a:avLst/>
            </a:prstGeom>
            <a:noFill/>
            <a:ln w="22225" cap="sq">
              <a:solidFill>
                <a:srgbClr val="003300"/>
              </a:solidFill>
              <a:miter lim="800000"/>
              <a:headEnd type="none" w="sm" len="sm"/>
              <a:tailEnd type="none" w="sm" len="sm"/>
            </a:ln>
          </p:spPr>
          <p:txBody>
            <a:bodyPr wrap="none" anchor="ctr"/>
            <a:lstStyle/>
            <a:p>
              <a:endParaRPr lang="zh-CN" altLang="en-US"/>
            </a:p>
          </p:txBody>
        </p:sp>
        <p:sp>
          <p:nvSpPr>
            <p:cNvPr id="64543" name="Rectangle 15"/>
            <p:cNvSpPr>
              <a:spLocks noChangeArrowheads="1"/>
            </p:cNvSpPr>
            <p:nvPr/>
          </p:nvSpPr>
          <p:spPr bwMode="auto">
            <a:xfrm>
              <a:off x="1152" y="3264"/>
              <a:ext cx="336" cy="288"/>
            </a:xfrm>
            <a:prstGeom prst="rect">
              <a:avLst/>
            </a:prstGeom>
            <a:noFill/>
            <a:ln w="22225" cap="sq">
              <a:solidFill>
                <a:srgbClr val="003300"/>
              </a:solidFill>
              <a:miter lim="800000"/>
              <a:headEnd type="none" w="sm" len="sm"/>
              <a:tailEnd type="none" w="sm" len="sm"/>
            </a:ln>
          </p:spPr>
          <p:txBody>
            <a:bodyPr wrap="none" anchor="ctr"/>
            <a:lstStyle/>
            <a:p>
              <a:endParaRPr lang="zh-CN" altLang="en-US"/>
            </a:p>
          </p:txBody>
        </p:sp>
        <p:sp>
          <p:nvSpPr>
            <p:cNvPr id="64544" name="Rectangle 16"/>
            <p:cNvSpPr>
              <a:spLocks noChangeArrowheads="1"/>
            </p:cNvSpPr>
            <p:nvPr/>
          </p:nvSpPr>
          <p:spPr bwMode="auto">
            <a:xfrm>
              <a:off x="1488" y="3264"/>
              <a:ext cx="336" cy="288"/>
            </a:xfrm>
            <a:prstGeom prst="rect">
              <a:avLst/>
            </a:prstGeom>
            <a:noFill/>
            <a:ln w="22225" cap="sq">
              <a:solidFill>
                <a:srgbClr val="003300"/>
              </a:solidFill>
              <a:miter lim="800000"/>
              <a:headEnd type="none" w="sm" len="sm"/>
              <a:tailEnd type="none" w="sm" len="sm"/>
            </a:ln>
          </p:spPr>
          <p:txBody>
            <a:bodyPr wrap="none" anchor="ctr"/>
            <a:lstStyle/>
            <a:p>
              <a:endParaRPr lang="zh-CN" altLang="en-US"/>
            </a:p>
          </p:txBody>
        </p:sp>
        <p:sp>
          <p:nvSpPr>
            <p:cNvPr id="64545" name="Rectangle 17"/>
            <p:cNvSpPr>
              <a:spLocks noChangeArrowheads="1"/>
            </p:cNvSpPr>
            <p:nvPr/>
          </p:nvSpPr>
          <p:spPr bwMode="auto">
            <a:xfrm>
              <a:off x="1824" y="3264"/>
              <a:ext cx="336" cy="288"/>
            </a:xfrm>
            <a:prstGeom prst="rect">
              <a:avLst/>
            </a:prstGeom>
            <a:noFill/>
            <a:ln w="22225" cap="sq">
              <a:solidFill>
                <a:srgbClr val="003300"/>
              </a:solidFill>
              <a:miter lim="800000"/>
              <a:headEnd type="none" w="sm" len="sm"/>
              <a:tailEnd type="none" w="sm" len="sm"/>
            </a:ln>
          </p:spPr>
          <p:txBody>
            <a:bodyPr wrap="none" anchor="ctr"/>
            <a:lstStyle/>
            <a:p>
              <a:endParaRPr lang="zh-CN" altLang="en-US"/>
            </a:p>
          </p:txBody>
        </p:sp>
        <p:sp>
          <p:nvSpPr>
            <p:cNvPr id="64546" name="Rectangle 18"/>
            <p:cNvSpPr>
              <a:spLocks noChangeArrowheads="1"/>
            </p:cNvSpPr>
            <p:nvPr/>
          </p:nvSpPr>
          <p:spPr bwMode="auto">
            <a:xfrm>
              <a:off x="2160" y="3264"/>
              <a:ext cx="336" cy="288"/>
            </a:xfrm>
            <a:prstGeom prst="rect">
              <a:avLst/>
            </a:prstGeom>
            <a:noFill/>
            <a:ln w="22225" cap="sq">
              <a:solidFill>
                <a:srgbClr val="003300"/>
              </a:solidFill>
              <a:miter lim="800000"/>
              <a:headEnd type="none" w="sm" len="sm"/>
              <a:tailEnd type="none" w="sm" len="sm"/>
            </a:ln>
          </p:spPr>
          <p:txBody>
            <a:bodyPr wrap="none" anchor="ctr"/>
            <a:lstStyle/>
            <a:p>
              <a:endParaRPr lang="zh-CN" altLang="en-US"/>
            </a:p>
          </p:txBody>
        </p:sp>
        <p:sp>
          <p:nvSpPr>
            <p:cNvPr id="64547" name="Rectangle 19"/>
            <p:cNvSpPr>
              <a:spLocks noChangeArrowheads="1"/>
            </p:cNvSpPr>
            <p:nvPr/>
          </p:nvSpPr>
          <p:spPr bwMode="auto">
            <a:xfrm>
              <a:off x="2496" y="3264"/>
              <a:ext cx="336" cy="288"/>
            </a:xfrm>
            <a:prstGeom prst="rect">
              <a:avLst/>
            </a:prstGeom>
            <a:noFill/>
            <a:ln w="22225" cap="sq">
              <a:solidFill>
                <a:srgbClr val="003300"/>
              </a:solidFill>
              <a:miter lim="800000"/>
              <a:headEnd type="none" w="sm" len="sm"/>
              <a:tailEnd type="none" w="sm" len="sm"/>
            </a:ln>
          </p:spPr>
          <p:txBody>
            <a:bodyPr wrap="none" anchor="ctr"/>
            <a:lstStyle/>
            <a:p>
              <a:endParaRPr lang="zh-CN" altLang="en-US"/>
            </a:p>
          </p:txBody>
        </p:sp>
        <p:sp>
          <p:nvSpPr>
            <p:cNvPr id="64548" name="Rectangle 20"/>
            <p:cNvSpPr>
              <a:spLocks noChangeArrowheads="1"/>
            </p:cNvSpPr>
            <p:nvPr/>
          </p:nvSpPr>
          <p:spPr bwMode="auto">
            <a:xfrm>
              <a:off x="2832" y="3264"/>
              <a:ext cx="336" cy="288"/>
            </a:xfrm>
            <a:prstGeom prst="rect">
              <a:avLst/>
            </a:prstGeom>
            <a:noFill/>
            <a:ln w="22225" cap="sq">
              <a:solidFill>
                <a:srgbClr val="003300"/>
              </a:solidFill>
              <a:miter lim="800000"/>
              <a:headEnd type="none" w="sm" len="sm"/>
              <a:tailEnd type="none" w="sm" len="sm"/>
            </a:ln>
          </p:spPr>
          <p:txBody>
            <a:bodyPr wrap="none" anchor="ctr"/>
            <a:lstStyle/>
            <a:p>
              <a:endParaRPr lang="zh-CN" altLang="en-US"/>
            </a:p>
          </p:txBody>
        </p:sp>
        <p:sp>
          <p:nvSpPr>
            <p:cNvPr id="64549" name="Line 21"/>
            <p:cNvSpPr>
              <a:spLocks noChangeShapeType="1"/>
            </p:cNvSpPr>
            <p:nvPr/>
          </p:nvSpPr>
          <p:spPr bwMode="auto">
            <a:xfrm>
              <a:off x="3168" y="3264"/>
              <a:ext cx="576" cy="0"/>
            </a:xfrm>
            <a:prstGeom prst="line">
              <a:avLst/>
            </a:prstGeom>
            <a:noFill/>
            <a:ln w="22225" cap="sq">
              <a:solidFill>
                <a:srgbClr val="003300"/>
              </a:solidFill>
              <a:round/>
              <a:headEnd type="none" w="sm" len="sm"/>
              <a:tailEnd type="none" w="sm" len="sm"/>
            </a:ln>
          </p:spPr>
          <p:txBody>
            <a:bodyPr/>
            <a:lstStyle/>
            <a:p>
              <a:endParaRPr lang="zh-CN" altLang="en-US"/>
            </a:p>
          </p:txBody>
        </p:sp>
        <p:sp>
          <p:nvSpPr>
            <p:cNvPr id="64550" name="Line 22"/>
            <p:cNvSpPr>
              <a:spLocks noChangeShapeType="1"/>
            </p:cNvSpPr>
            <p:nvPr/>
          </p:nvSpPr>
          <p:spPr bwMode="auto">
            <a:xfrm>
              <a:off x="3180" y="3552"/>
              <a:ext cx="756" cy="0"/>
            </a:xfrm>
            <a:prstGeom prst="line">
              <a:avLst/>
            </a:prstGeom>
            <a:noFill/>
            <a:ln w="22225" cap="sq">
              <a:solidFill>
                <a:srgbClr val="003300"/>
              </a:solidFill>
              <a:round/>
              <a:headEnd type="none" w="sm" len="sm"/>
              <a:tailEnd type="none" w="sm" len="sm"/>
            </a:ln>
          </p:spPr>
          <p:txBody>
            <a:bodyPr/>
            <a:lstStyle/>
            <a:p>
              <a:endParaRPr lang="zh-CN" altLang="en-US"/>
            </a:p>
          </p:txBody>
        </p:sp>
      </p:grpSp>
      <p:sp>
        <p:nvSpPr>
          <p:cNvPr id="221207" name="Text Box 23"/>
          <p:cNvSpPr txBox="1">
            <a:spLocks noChangeArrowheads="1"/>
          </p:cNvSpPr>
          <p:nvPr/>
        </p:nvSpPr>
        <p:spPr bwMode="auto">
          <a:xfrm>
            <a:off x="2032323" y="5218386"/>
            <a:ext cx="361950" cy="519112"/>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CC"/>
                </a:solidFill>
              </a:rPr>
              <a:t>a</a:t>
            </a:r>
          </a:p>
        </p:txBody>
      </p:sp>
      <p:sp>
        <p:nvSpPr>
          <p:cNvPr id="221208" name="Text Box 24"/>
          <p:cNvSpPr txBox="1">
            <a:spLocks noChangeArrowheads="1"/>
          </p:cNvSpPr>
          <p:nvPr/>
        </p:nvSpPr>
        <p:spPr bwMode="auto">
          <a:xfrm>
            <a:off x="2603823" y="5237436"/>
            <a:ext cx="364202" cy="52322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CC"/>
                </a:solidFill>
              </a:rPr>
              <a:t>b</a:t>
            </a:r>
          </a:p>
        </p:txBody>
      </p:sp>
      <p:sp>
        <p:nvSpPr>
          <p:cNvPr id="221209" name="Text Box 25"/>
          <p:cNvSpPr txBox="1">
            <a:spLocks noChangeArrowheads="1"/>
          </p:cNvSpPr>
          <p:nvPr/>
        </p:nvSpPr>
        <p:spPr bwMode="auto">
          <a:xfrm>
            <a:off x="3099123" y="5218386"/>
            <a:ext cx="348172" cy="52322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CC"/>
                </a:solidFill>
              </a:rPr>
              <a:t>c</a:t>
            </a:r>
          </a:p>
        </p:txBody>
      </p:sp>
      <p:sp>
        <p:nvSpPr>
          <p:cNvPr id="221210" name="Text Box 26"/>
          <p:cNvSpPr txBox="1">
            <a:spLocks noChangeArrowheads="1"/>
          </p:cNvSpPr>
          <p:nvPr/>
        </p:nvSpPr>
        <p:spPr bwMode="auto">
          <a:xfrm>
            <a:off x="3632523" y="5237436"/>
            <a:ext cx="364202" cy="52322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CC"/>
                </a:solidFill>
              </a:rPr>
              <a:t>d</a:t>
            </a:r>
          </a:p>
        </p:txBody>
      </p:sp>
      <p:sp>
        <p:nvSpPr>
          <p:cNvPr id="221211" name="Text Box 27"/>
          <p:cNvSpPr txBox="1">
            <a:spLocks noChangeArrowheads="1"/>
          </p:cNvSpPr>
          <p:nvPr/>
        </p:nvSpPr>
        <p:spPr bwMode="auto">
          <a:xfrm>
            <a:off x="4146873" y="5204098"/>
            <a:ext cx="348172" cy="52322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CC"/>
                </a:solidFill>
              </a:rPr>
              <a:t>e</a:t>
            </a:r>
          </a:p>
        </p:txBody>
      </p:sp>
      <p:sp>
        <p:nvSpPr>
          <p:cNvPr id="221212" name="Text Box 28"/>
          <p:cNvSpPr txBox="1">
            <a:spLocks noChangeArrowheads="1"/>
          </p:cNvSpPr>
          <p:nvPr/>
        </p:nvSpPr>
        <p:spPr bwMode="auto">
          <a:xfrm>
            <a:off x="2032323" y="5218386"/>
            <a:ext cx="361950" cy="519112"/>
          </a:xfrm>
          <a:prstGeom prst="rect">
            <a:avLst/>
          </a:prstGeom>
          <a:noFill/>
          <a:ln w="12700" cap="sq">
            <a:noFill/>
            <a:miter lim="800000"/>
            <a:headEnd type="none" w="sm" len="sm"/>
            <a:tailEnd type="none" w="sm" len="sm"/>
          </a:ln>
        </p:spPr>
        <p:txBody>
          <a:bodyPr wrap="none">
            <a:spAutoFit/>
          </a:bodyPr>
          <a:lstStyle/>
          <a:p>
            <a:r>
              <a:rPr lang="en-US" altLang="zh-CN" sz="2800" b="1">
                <a:solidFill>
                  <a:srgbClr val="FF3300"/>
                </a:solidFill>
              </a:rPr>
              <a:t>a</a:t>
            </a:r>
          </a:p>
        </p:txBody>
      </p:sp>
      <p:sp>
        <p:nvSpPr>
          <p:cNvPr id="221213" name="Text Box 29"/>
          <p:cNvSpPr txBox="1">
            <a:spLocks noChangeArrowheads="1"/>
          </p:cNvSpPr>
          <p:nvPr/>
        </p:nvSpPr>
        <p:spPr bwMode="auto">
          <a:xfrm>
            <a:off x="1651324" y="5694637"/>
            <a:ext cx="1704975" cy="427037"/>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a:spAutoFit/>
          </a:bodyPr>
          <a:lstStyle/>
          <a:p>
            <a:r>
              <a:rPr lang="zh-CN" altLang="en-US" sz="2200" b="1">
                <a:solidFill>
                  <a:srgbClr val="FF3300"/>
                </a:solidFill>
              </a:rPr>
              <a:t>队头元素</a:t>
            </a:r>
          </a:p>
        </p:txBody>
      </p:sp>
      <p:sp>
        <p:nvSpPr>
          <p:cNvPr id="221214" name="Text Box 30"/>
          <p:cNvSpPr txBox="1">
            <a:spLocks noChangeArrowheads="1"/>
          </p:cNvSpPr>
          <p:nvPr/>
        </p:nvSpPr>
        <p:spPr bwMode="auto">
          <a:xfrm>
            <a:off x="4146873" y="5199336"/>
            <a:ext cx="348172" cy="523220"/>
          </a:xfrm>
          <a:prstGeom prst="rect">
            <a:avLst/>
          </a:prstGeom>
          <a:noFill/>
          <a:ln w="12700" cap="sq">
            <a:noFill/>
            <a:miter lim="800000"/>
            <a:headEnd type="none" w="sm" len="sm"/>
            <a:tailEnd type="none" w="sm" len="sm"/>
          </a:ln>
        </p:spPr>
        <p:txBody>
          <a:bodyPr wrap="none">
            <a:spAutoFit/>
          </a:bodyPr>
          <a:lstStyle/>
          <a:p>
            <a:r>
              <a:rPr lang="en-US" altLang="zh-CN" sz="2800" b="1">
                <a:solidFill>
                  <a:srgbClr val="FF3300"/>
                </a:solidFill>
              </a:rPr>
              <a:t>e</a:t>
            </a:r>
          </a:p>
        </p:txBody>
      </p:sp>
      <p:sp>
        <p:nvSpPr>
          <p:cNvPr id="221215" name="Text Box 31"/>
          <p:cNvSpPr txBox="1">
            <a:spLocks noChangeArrowheads="1"/>
          </p:cNvSpPr>
          <p:nvPr/>
        </p:nvSpPr>
        <p:spPr bwMode="auto">
          <a:xfrm>
            <a:off x="3719835" y="5713687"/>
            <a:ext cx="1485900" cy="427037"/>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a:spAutoFit/>
          </a:bodyPr>
          <a:lstStyle/>
          <a:p>
            <a:r>
              <a:rPr lang="zh-CN" altLang="en-US" sz="2200" b="1">
                <a:solidFill>
                  <a:srgbClr val="FF3300"/>
                </a:solidFill>
              </a:rPr>
              <a:t>队尾元素</a:t>
            </a:r>
          </a:p>
        </p:txBody>
      </p:sp>
      <p:sp>
        <p:nvSpPr>
          <p:cNvPr id="221216" name="Text Box 32"/>
          <p:cNvSpPr txBox="1">
            <a:spLocks noChangeArrowheads="1"/>
          </p:cNvSpPr>
          <p:nvPr/>
        </p:nvSpPr>
        <p:spPr bwMode="auto">
          <a:xfrm>
            <a:off x="4146873" y="5204098"/>
            <a:ext cx="348172" cy="52322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CC"/>
                </a:solidFill>
              </a:rPr>
              <a:t>e</a:t>
            </a:r>
          </a:p>
        </p:txBody>
      </p:sp>
      <p:sp>
        <p:nvSpPr>
          <p:cNvPr id="221217" name="Text Box 33"/>
          <p:cNvSpPr txBox="1">
            <a:spLocks noChangeArrowheads="1"/>
          </p:cNvSpPr>
          <p:nvPr/>
        </p:nvSpPr>
        <p:spPr bwMode="auto">
          <a:xfrm>
            <a:off x="2603823" y="5237436"/>
            <a:ext cx="364202" cy="523220"/>
          </a:xfrm>
          <a:prstGeom prst="rect">
            <a:avLst/>
          </a:prstGeom>
          <a:noFill/>
          <a:ln w="12700" cap="sq">
            <a:noFill/>
            <a:miter lim="800000"/>
            <a:headEnd type="none" w="sm" len="sm"/>
            <a:tailEnd type="none" w="sm" len="sm"/>
          </a:ln>
        </p:spPr>
        <p:txBody>
          <a:bodyPr wrap="none">
            <a:spAutoFit/>
          </a:bodyPr>
          <a:lstStyle/>
          <a:p>
            <a:r>
              <a:rPr lang="en-US" altLang="zh-CN" sz="2800" b="1">
                <a:solidFill>
                  <a:srgbClr val="FF3300"/>
                </a:solidFill>
              </a:rPr>
              <a:t>b</a:t>
            </a:r>
          </a:p>
        </p:txBody>
      </p:sp>
      <p:sp>
        <p:nvSpPr>
          <p:cNvPr id="221218" name="Rectangle 34"/>
          <p:cNvSpPr>
            <a:spLocks noChangeArrowheads="1"/>
          </p:cNvSpPr>
          <p:nvPr/>
        </p:nvSpPr>
        <p:spPr bwMode="auto">
          <a:xfrm>
            <a:off x="2070423" y="5337448"/>
            <a:ext cx="304800" cy="381000"/>
          </a:xfrm>
          <a:prstGeom prst="rect">
            <a:avLst/>
          </a:prstGeom>
          <a:solidFill>
            <a:srgbClr val="FFFFFF"/>
          </a:solidFill>
          <a:ln w="12700" cap="sq">
            <a:noFill/>
            <a:miter lim="800000"/>
            <a:headEnd type="none" w="sm" len="sm"/>
            <a:tailEnd type="none" w="sm" len="sm"/>
          </a:ln>
        </p:spPr>
        <p:txBody>
          <a:bodyPr wrap="none" anchor="ctr"/>
          <a:lstStyle/>
          <a:p>
            <a:endParaRPr lang="zh-CN" altLang="en-US"/>
          </a:p>
        </p:txBody>
      </p:sp>
      <p:sp>
        <p:nvSpPr>
          <p:cNvPr id="221219" name="Text Box 35"/>
          <p:cNvSpPr txBox="1">
            <a:spLocks noChangeArrowheads="1"/>
          </p:cNvSpPr>
          <p:nvPr/>
        </p:nvSpPr>
        <p:spPr bwMode="auto">
          <a:xfrm>
            <a:off x="4699323" y="5237436"/>
            <a:ext cx="282450" cy="523220"/>
          </a:xfrm>
          <a:prstGeom prst="rect">
            <a:avLst/>
          </a:prstGeom>
          <a:noFill/>
          <a:ln w="12700" cap="sq">
            <a:noFill/>
            <a:miter lim="800000"/>
            <a:headEnd type="none" w="sm" len="sm"/>
            <a:tailEnd type="none" w="sm" len="sm"/>
          </a:ln>
        </p:spPr>
        <p:txBody>
          <a:bodyPr wrap="none">
            <a:spAutoFit/>
          </a:bodyPr>
          <a:lstStyle/>
          <a:p>
            <a:r>
              <a:rPr lang="en-US" altLang="zh-CN" sz="2800" b="1">
                <a:solidFill>
                  <a:srgbClr val="FF3300"/>
                </a:solidFill>
              </a:rPr>
              <a:t>f</a:t>
            </a:r>
          </a:p>
        </p:txBody>
      </p:sp>
      <p:grpSp>
        <p:nvGrpSpPr>
          <p:cNvPr id="5" name="Group 62"/>
          <p:cNvGrpSpPr>
            <a:grpSpLocks/>
          </p:cNvGrpSpPr>
          <p:nvPr/>
        </p:nvGrpSpPr>
        <p:grpSpPr bwMode="auto">
          <a:xfrm>
            <a:off x="7696200" y="990600"/>
            <a:ext cx="2438400" cy="762000"/>
            <a:chOff x="3888" y="624"/>
            <a:chExt cx="1536" cy="480"/>
          </a:xfrm>
        </p:grpSpPr>
        <p:sp>
          <p:nvSpPr>
            <p:cNvPr id="64540" name="AutoShape 53"/>
            <p:cNvSpPr>
              <a:spLocks noChangeArrowheads="1"/>
            </p:cNvSpPr>
            <p:nvPr/>
          </p:nvSpPr>
          <p:spPr bwMode="auto">
            <a:xfrm>
              <a:off x="3888" y="624"/>
              <a:ext cx="1536" cy="480"/>
            </a:xfrm>
            <a:prstGeom prst="cloudCallout">
              <a:avLst>
                <a:gd name="adj1" fmla="val -44403"/>
                <a:gd name="adj2" fmla="val 93125"/>
              </a:avLst>
            </a:prstGeom>
            <a:noFill/>
            <a:ln w="57150" cap="sq">
              <a:solidFill>
                <a:srgbClr val="33CCCC"/>
              </a:solidFill>
              <a:round/>
              <a:headEnd type="none" w="sm" len="sm"/>
              <a:tailEnd type="none" w="sm" len="sm"/>
            </a:ln>
          </p:spPr>
          <p:txBody>
            <a:bodyPr wrap="none" anchor="ctr"/>
            <a:lstStyle/>
            <a:p>
              <a:pPr algn="ctr"/>
              <a:endParaRPr lang="zh-CN" altLang="en-US" sz="2400" b="1"/>
            </a:p>
          </p:txBody>
        </p:sp>
        <p:sp>
          <p:nvSpPr>
            <p:cNvPr id="64541" name="Text Box 54"/>
            <p:cNvSpPr txBox="1">
              <a:spLocks noChangeArrowheads="1"/>
            </p:cNvSpPr>
            <p:nvPr/>
          </p:nvSpPr>
          <p:spPr bwMode="auto">
            <a:xfrm>
              <a:off x="4080" y="682"/>
              <a:ext cx="1248" cy="346"/>
            </a:xfrm>
            <a:prstGeom prst="rect">
              <a:avLst/>
            </a:prstGeom>
            <a:noFill/>
            <a:ln w="12700" cap="sq">
              <a:noFill/>
              <a:miter lim="800000"/>
              <a:headEnd type="none" w="sm" len="sm"/>
              <a:tailEnd type="none" w="sm" len="sm"/>
            </a:ln>
            <a:effectLst>
              <a:outerShdw dist="12700" algn="ctr" rotWithShape="0">
                <a:srgbClr val="000000"/>
              </a:outerShdw>
            </a:effectLst>
          </p:spPr>
          <p:txBody>
            <a:bodyPr>
              <a:spAutoFit/>
            </a:bodyPr>
            <a:lstStyle/>
            <a:p>
              <a:r>
                <a:rPr lang="zh-CN" altLang="en-US" sz="3000" b="1">
                  <a:solidFill>
                    <a:srgbClr val="FF0000"/>
                  </a:solidFill>
                  <a:ea typeface="黑体" pitchFamily="2" charset="-122"/>
                </a:rPr>
                <a:t>先进先出</a:t>
              </a:r>
            </a:p>
          </p:txBody>
        </p:sp>
      </p:grpSp>
      <p:grpSp>
        <p:nvGrpSpPr>
          <p:cNvPr id="6" name="Group 59"/>
          <p:cNvGrpSpPr>
            <a:grpSpLocks/>
          </p:cNvGrpSpPr>
          <p:nvPr/>
        </p:nvGrpSpPr>
        <p:grpSpPr bwMode="auto">
          <a:xfrm>
            <a:off x="1151260" y="1211536"/>
            <a:ext cx="3352800" cy="609600"/>
            <a:chOff x="432" y="672"/>
            <a:chExt cx="2112" cy="384"/>
          </a:xfrm>
        </p:grpSpPr>
        <p:sp>
          <p:nvSpPr>
            <p:cNvPr id="64538" name="Rectangle 56"/>
            <p:cNvSpPr>
              <a:spLocks noChangeArrowheads="1"/>
            </p:cNvSpPr>
            <p:nvPr/>
          </p:nvSpPr>
          <p:spPr bwMode="auto">
            <a:xfrm>
              <a:off x="432" y="672"/>
              <a:ext cx="2064" cy="384"/>
            </a:xfrm>
            <a:prstGeom prst="rect">
              <a:avLst/>
            </a:prstGeom>
            <a:solidFill>
              <a:srgbClr val="E6E6E6"/>
            </a:solidFill>
            <a:ln w="12700" cap="sq">
              <a:noFill/>
              <a:miter lim="800000"/>
              <a:headEnd type="none" w="sm" len="sm"/>
              <a:tailEnd type="none" w="sm" len="sm"/>
            </a:ln>
            <a:effectLst>
              <a:outerShdw dist="89803" dir="2700000" algn="ctr" rotWithShape="0">
                <a:srgbClr val="969696"/>
              </a:outerShdw>
            </a:effectLst>
          </p:spPr>
          <p:txBody>
            <a:bodyPr wrap="none" anchor="ctr"/>
            <a:lstStyle/>
            <a:p>
              <a:endParaRPr lang="zh-CN" altLang="en-US"/>
            </a:p>
          </p:txBody>
        </p:sp>
        <p:sp>
          <p:nvSpPr>
            <p:cNvPr id="64539" name="Text Box 57"/>
            <p:cNvSpPr txBox="1">
              <a:spLocks noChangeArrowheads="1"/>
            </p:cNvSpPr>
            <p:nvPr/>
          </p:nvSpPr>
          <p:spPr bwMode="auto">
            <a:xfrm>
              <a:off x="528" y="698"/>
              <a:ext cx="2016" cy="291"/>
            </a:xfrm>
            <a:prstGeom prst="rect">
              <a:avLst/>
            </a:prstGeom>
            <a:noFill/>
            <a:ln w="12700" cap="sq">
              <a:noFill/>
              <a:miter lim="800000"/>
              <a:headEnd type="none" w="sm" len="sm"/>
              <a:tailEnd type="none" w="sm" len="sm"/>
            </a:ln>
          </p:spPr>
          <p:txBody>
            <a:bodyPr>
              <a:spAutoFit/>
            </a:bodyPr>
            <a:lstStyle/>
            <a:p>
              <a:pPr eaLnBrk="1" hangingPunct="1"/>
              <a:r>
                <a:rPr kumimoji="1" lang="en-US" altLang="zh-CN" sz="2400" b="1" dirty="0">
                  <a:solidFill>
                    <a:srgbClr val="003399"/>
                  </a:solidFill>
                </a:rPr>
                <a:t>(</a:t>
              </a:r>
              <a:r>
                <a:rPr kumimoji="1" lang="zh-CN" altLang="en-US" sz="2400" b="1" dirty="0">
                  <a:solidFill>
                    <a:srgbClr val="003399"/>
                  </a:solidFill>
                </a:rPr>
                <a:t>一</a:t>
              </a:r>
              <a:r>
                <a:rPr kumimoji="1" lang="en-US" altLang="zh-CN" sz="2400" b="1" dirty="0">
                  <a:solidFill>
                    <a:srgbClr val="003399"/>
                  </a:solidFill>
                </a:rPr>
                <a:t>)</a:t>
              </a:r>
              <a:r>
                <a:rPr kumimoji="1" lang="zh-CN" altLang="en-US" sz="2400" dirty="0">
                  <a:solidFill>
                    <a:srgbClr val="003399"/>
                  </a:solidFill>
                  <a:ea typeface="宋体" charset="-122"/>
                </a:rPr>
                <a:t>  </a:t>
              </a:r>
              <a:r>
                <a:rPr kumimoji="1" lang="zh-CN" altLang="en-US" sz="2400" b="1" dirty="0">
                  <a:solidFill>
                    <a:srgbClr val="003399"/>
                  </a:solidFill>
                </a:rPr>
                <a:t>队的定义</a:t>
              </a:r>
              <a:endParaRPr kumimoji="1" lang="zh-CN" altLang="en-US" sz="2400" dirty="0">
                <a:solidFill>
                  <a:srgbClr val="003399"/>
                </a:solidFill>
              </a:endParaRPr>
            </a:p>
          </p:txBody>
        </p:sp>
      </p:grpSp>
      <p:grpSp>
        <p:nvGrpSpPr>
          <p:cNvPr id="7" name="Group 64"/>
          <p:cNvGrpSpPr>
            <a:grpSpLocks/>
          </p:cNvGrpSpPr>
          <p:nvPr/>
        </p:nvGrpSpPr>
        <p:grpSpPr bwMode="auto">
          <a:xfrm>
            <a:off x="1683074" y="5699399"/>
            <a:ext cx="2154237" cy="461963"/>
            <a:chOff x="644" y="3588"/>
            <a:chExt cx="1357" cy="291"/>
          </a:xfrm>
        </p:grpSpPr>
        <p:sp>
          <p:nvSpPr>
            <p:cNvPr id="64536" name="Rectangle 65"/>
            <p:cNvSpPr>
              <a:spLocks noChangeArrowheads="1"/>
            </p:cNvSpPr>
            <p:nvPr/>
          </p:nvSpPr>
          <p:spPr bwMode="auto">
            <a:xfrm>
              <a:off x="644" y="3628"/>
              <a:ext cx="756" cy="251"/>
            </a:xfrm>
            <a:prstGeom prst="rect">
              <a:avLst/>
            </a:prstGeom>
            <a:solidFill>
              <a:srgbClr val="FFFFFF"/>
            </a:solidFill>
            <a:ln w="12700" cap="sq">
              <a:noFill/>
              <a:miter lim="800000"/>
              <a:headEnd type="none" w="sm" len="sm"/>
              <a:tailEnd type="none" w="sm" len="sm"/>
            </a:ln>
          </p:spPr>
          <p:txBody>
            <a:bodyPr wrap="none" anchor="ctr"/>
            <a:lstStyle/>
            <a:p>
              <a:endParaRPr lang="zh-CN" altLang="en-US"/>
            </a:p>
          </p:txBody>
        </p:sp>
        <p:sp>
          <p:nvSpPr>
            <p:cNvPr id="64537" name="Text Box 66"/>
            <p:cNvSpPr txBox="1">
              <a:spLocks noChangeArrowheads="1"/>
            </p:cNvSpPr>
            <p:nvPr/>
          </p:nvSpPr>
          <p:spPr bwMode="auto">
            <a:xfrm>
              <a:off x="927" y="3588"/>
              <a:ext cx="1074" cy="269"/>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a:spAutoFit/>
            </a:bodyPr>
            <a:lstStyle/>
            <a:p>
              <a:r>
                <a:rPr lang="zh-CN" altLang="en-US" sz="2200" b="1">
                  <a:solidFill>
                    <a:srgbClr val="FF3300"/>
                  </a:solidFill>
                </a:rPr>
                <a:t>队头元素</a:t>
              </a:r>
            </a:p>
          </p:txBody>
        </p:sp>
      </p:grpSp>
      <p:grpSp>
        <p:nvGrpSpPr>
          <p:cNvPr id="8" name="Group 68"/>
          <p:cNvGrpSpPr>
            <a:grpSpLocks/>
          </p:cNvGrpSpPr>
          <p:nvPr/>
        </p:nvGrpSpPr>
        <p:grpSpPr bwMode="auto">
          <a:xfrm>
            <a:off x="3648399" y="5707337"/>
            <a:ext cx="2066925" cy="452437"/>
            <a:chOff x="1882" y="3593"/>
            <a:chExt cx="1302" cy="285"/>
          </a:xfrm>
        </p:grpSpPr>
        <p:sp>
          <p:nvSpPr>
            <p:cNvPr id="64534" name="Rectangle 69"/>
            <p:cNvSpPr>
              <a:spLocks noChangeArrowheads="1"/>
            </p:cNvSpPr>
            <p:nvPr/>
          </p:nvSpPr>
          <p:spPr bwMode="auto">
            <a:xfrm>
              <a:off x="1882" y="3638"/>
              <a:ext cx="907" cy="240"/>
            </a:xfrm>
            <a:prstGeom prst="rect">
              <a:avLst/>
            </a:prstGeom>
            <a:solidFill>
              <a:srgbClr val="FFFFFF"/>
            </a:solidFill>
            <a:ln w="12700" cap="sq">
              <a:noFill/>
              <a:miter lim="800000"/>
              <a:headEnd type="none" w="sm" len="sm"/>
              <a:tailEnd type="none" w="sm" len="sm"/>
            </a:ln>
          </p:spPr>
          <p:txBody>
            <a:bodyPr wrap="none" anchor="ctr"/>
            <a:lstStyle/>
            <a:p>
              <a:endParaRPr lang="zh-CN" altLang="en-US"/>
            </a:p>
          </p:txBody>
        </p:sp>
        <p:sp>
          <p:nvSpPr>
            <p:cNvPr id="64535" name="Text Box 70"/>
            <p:cNvSpPr txBox="1">
              <a:spLocks noChangeArrowheads="1"/>
            </p:cNvSpPr>
            <p:nvPr/>
          </p:nvSpPr>
          <p:spPr bwMode="auto">
            <a:xfrm>
              <a:off x="2248" y="3593"/>
              <a:ext cx="936" cy="269"/>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a:spAutoFit/>
            </a:bodyPr>
            <a:lstStyle/>
            <a:p>
              <a:r>
                <a:rPr lang="zh-CN" altLang="en-US" sz="2200" b="1">
                  <a:solidFill>
                    <a:srgbClr val="FF3300"/>
                  </a:solidFill>
                </a:rPr>
                <a:t>队尾元素</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37"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Vertic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7" presetClass="entr" presetSubtype="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0" fill="hold"/>
                                        <p:tgtEl>
                                          <p:spTgt spid="5"/>
                                        </p:tgtEl>
                                        <p:attrNameLst>
                                          <p:attrName>ppt_x</p:attrName>
                                        </p:attrNameLst>
                                      </p:cBhvr>
                                      <p:tavLst>
                                        <p:tav tm="0">
                                          <p:val>
                                            <p:strVal val="1+#ppt_w/2"/>
                                          </p:val>
                                        </p:tav>
                                        <p:tav tm="100000">
                                          <p:val>
                                            <p:strVal val="#ppt_x"/>
                                          </p:val>
                                        </p:tav>
                                      </p:tavLst>
                                    </p:anim>
                                    <p:anim calcmode="lin" valueType="num">
                                      <p:cBhvr additive="base">
                                        <p:cTn id="13" dur="50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dissolve">
                                      <p:cBhvr>
                                        <p:cTn id="18" dur="500"/>
                                        <p:tgtEl>
                                          <p:spTgt spid="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221207"/>
                                        </p:tgtEl>
                                        <p:attrNameLst>
                                          <p:attrName>style.visibility</p:attrName>
                                        </p:attrNameLst>
                                      </p:cBhvr>
                                      <p:to>
                                        <p:strVal val="visible"/>
                                      </p:to>
                                    </p:set>
                                    <p:anim calcmode="lin" valueType="num">
                                      <p:cBhvr additive="base">
                                        <p:cTn id="23" dur="500" fill="hold"/>
                                        <p:tgtEl>
                                          <p:spTgt spid="221207"/>
                                        </p:tgtEl>
                                        <p:attrNameLst>
                                          <p:attrName>ppt_x</p:attrName>
                                        </p:attrNameLst>
                                      </p:cBhvr>
                                      <p:tavLst>
                                        <p:tav tm="0">
                                          <p:val>
                                            <p:strVal val="1+#ppt_w/2"/>
                                          </p:val>
                                        </p:tav>
                                        <p:tav tm="100000">
                                          <p:val>
                                            <p:strVal val="#ppt_x"/>
                                          </p:val>
                                        </p:tav>
                                      </p:tavLst>
                                    </p:anim>
                                    <p:anim calcmode="lin" valueType="num">
                                      <p:cBhvr additive="base">
                                        <p:cTn id="24" dur="500" fill="hold"/>
                                        <p:tgtEl>
                                          <p:spTgt spid="221207"/>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221208"/>
                                        </p:tgtEl>
                                        <p:attrNameLst>
                                          <p:attrName>style.visibility</p:attrName>
                                        </p:attrNameLst>
                                      </p:cBhvr>
                                      <p:to>
                                        <p:strVal val="visible"/>
                                      </p:to>
                                    </p:set>
                                    <p:anim calcmode="lin" valueType="num">
                                      <p:cBhvr additive="base">
                                        <p:cTn id="29" dur="500" fill="hold"/>
                                        <p:tgtEl>
                                          <p:spTgt spid="221208"/>
                                        </p:tgtEl>
                                        <p:attrNameLst>
                                          <p:attrName>ppt_x</p:attrName>
                                        </p:attrNameLst>
                                      </p:cBhvr>
                                      <p:tavLst>
                                        <p:tav tm="0">
                                          <p:val>
                                            <p:strVal val="1+#ppt_w/2"/>
                                          </p:val>
                                        </p:tav>
                                        <p:tav tm="100000">
                                          <p:val>
                                            <p:strVal val="#ppt_x"/>
                                          </p:val>
                                        </p:tav>
                                      </p:tavLst>
                                    </p:anim>
                                    <p:anim calcmode="lin" valueType="num">
                                      <p:cBhvr additive="base">
                                        <p:cTn id="30" dur="500" fill="hold"/>
                                        <p:tgtEl>
                                          <p:spTgt spid="221208"/>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221209"/>
                                        </p:tgtEl>
                                        <p:attrNameLst>
                                          <p:attrName>style.visibility</p:attrName>
                                        </p:attrNameLst>
                                      </p:cBhvr>
                                      <p:to>
                                        <p:strVal val="visible"/>
                                      </p:to>
                                    </p:set>
                                    <p:anim calcmode="lin" valueType="num">
                                      <p:cBhvr additive="base">
                                        <p:cTn id="35" dur="500" fill="hold"/>
                                        <p:tgtEl>
                                          <p:spTgt spid="221209"/>
                                        </p:tgtEl>
                                        <p:attrNameLst>
                                          <p:attrName>ppt_x</p:attrName>
                                        </p:attrNameLst>
                                      </p:cBhvr>
                                      <p:tavLst>
                                        <p:tav tm="0">
                                          <p:val>
                                            <p:strVal val="1+#ppt_w/2"/>
                                          </p:val>
                                        </p:tav>
                                        <p:tav tm="100000">
                                          <p:val>
                                            <p:strVal val="#ppt_x"/>
                                          </p:val>
                                        </p:tav>
                                      </p:tavLst>
                                    </p:anim>
                                    <p:anim calcmode="lin" valueType="num">
                                      <p:cBhvr additive="base">
                                        <p:cTn id="36" dur="500" fill="hold"/>
                                        <p:tgtEl>
                                          <p:spTgt spid="221209"/>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221210"/>
                                        </p:tgtEl>
                                        <p:attrNameLst>
                                          <p:attrName>style.visibility</p:attrName>
                                        </p:attrNameLst>
                                      </p:cBhvr>
                                      <p:to>
                                        <p:strVal val="visible"/>
                                      </p:to>
                                    </p:set>
                                    <p:anim calcmode="lin" valueType="num">
                                      <p:cBhvr additive="base">
                                        <p:cTn id="41" dur="500" fill="hold"/>
                                        <p:tgtEl>
                                          <p:spTgt spid="221210"/>
                                        </p:tgtEl>
                                        <p:attrNameLst>
                                          <p:attrName>ppt_x</p:attrName>
                                        </p:attrNameLst>
                                      </p:cBhvr>
                                      <p:tavLst>
                                        <p:tav tm="0">
                                          <p:val>
                                            <p:strVal val="1+#ppt_w/2"/>
                                          </p:val>
                                        </p:tav>
                                        <p:tav tm="100000">
                                          <p:val>
                                            <p:strVal val="#ppt_x"/>
                                          </p:val>
                                        </p:tav>
                                      </p:tavLst>
                                    </p:anim>
                                    <p:anim calcmode="lin" valueType="num">
                                      <p:cBhvr additive="base">
                                        <p:cTn id="42" dur="500" fill="hold"/>
                                        <p:tgtEl>
                                          <p:spTgt spid="221210"/>
                                        </p:tgtEl>
                                        <p:attrNameLst>
                                          <p:attrName>ppt_y</p:attrName>
                                        </p:attrNameLst>
                                      </p:cBhvr>
                                      <p:tavLst>
                                        <p:tav tm="0">
                                          <p:val>
                                            <p:strVal val="#ppt_y"/>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21211"/>
                                        </p:tgtEl>
                                        <p:attrNameLst>
                                          <p:attrName>style.visibility</p:attrName>
                                        </p:attrNameLst>
                                      </p:cBhvr>
                                      <p:to>
                                        <p:strVal val="visible"/>
                                      </p:to>
                                    </p:set>
                                    <p:animEffect transition="in" filter="dissolve">
                                      <p:cBhvr>
                                        <p:cTn id="47" dur="500"/>
                                        <p:tgtEl>
                                          <p:spTgt spid="22121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221212"/>
                                        </p:tgtEl>
                                        <p:attrNameLst>
                                          <p:attrName>style.visibility</p:attrName>
                                        </p:attrNameLst>
                                      </p:cBhvr>
                                      <p:to>
                                        <p:strVal val="visible"/>
                                      </p:to>
                                    </p:set>
                                    <p:animEffect transition="in" filter="dissolve">
                                      <p:cBhvr>
                                        <p:cTn id="52" dur="500"/>
                                        <p:tgtEl>
                                          <p:spTgt spid="22121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221213"/>
                                        </p:tgtEl>
                                        <p:attrNameLst>
                                          <p:attrName>style.visibility</p:attrName>
                                        </p:attrNameLst>
                                      </p:cBhvr>
                                      <p:to>
                                        <p:strVal val="visible"/>
                                      </p:to>
                                    </p:set>
                                    <p:animEffect transition="in" filter="dissolve">
                                      <p:cBhvr>
                                        <p:cTn id="57" dur="500"/>
                                        <p:tgtEl>
                                          <p:spTgt spid="22121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221214"/>
                                        </p:tgtEl>
                                        <p:attrNameLst>
                                          <p:attrName>style.visibility</p:attrName>
                                        </p:attrNameLst>
                                      </p:cBhvr>
                                      <p:to>
                                        <p:strVal val="visible"/>
                                      </p:to>
                                    </p:set>
                                    <p:animEffect transition="in" filter="dissolve">
                                      <p:cBhvr>
                                        <p:cTn id="62" dur="500"/>
                                        <p:tgtEl>
                                          <p:spTgt spid="22121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221215"/>
                                        </p:tgtEl>
                                        <p:attrNameLst>
                                          <p:attrName>style.visibility</p:attrName>
                                        </p:attrNameLst>
                                      </p:cBhvr>
                                      <p:to>
                                        <p:strVal val="visible"/>
                                      </p:to>
                                    </p:set>
                                    <p:animEffect transition="in" filter="dissolve">
                                      <p:cBhvr>
                                        <p:cTn id="67" dur="500"/>
                                        <p:tgtEl>
                                          <p:spTgt spid="22121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 presetClass="entr" presetSubtype="2" fill="hold" grpId="0" nodeType="clickEffect">
                                  <p:stCondLst>
                                    <p:cond delay="0"/>
                                  </p:stCondLst>
                                  <p:childTnLst>
                                    <p:set>
                                      <p:cBhvr>
                                        <p:cTn id="71" dur="1" fill="hold">
                                          <p:stCondLst>
                                            <p:cond delay="0"/>
                                          </p:stCondLst>
                                        </p:cTn>
                                        <p:tgtEl>
                                          <p:spTgt spid="221219"/>
                                        </p:tgtEl>
                                        <p:attrNameLst>
                                          <p:attrName>style.visibility</p:attrName>
                                        </p:attrNameLst>
                                      </p:cBhvr>
                                      <p:to>
                                        <p:strVal val="visible"/>
                                      </p:to>
                                    </p:set>
                                    <p:anim calcmode="lin" valueType="num">
                                      <p:cBhvr additive="base">
                                        <p:cTn id="72" dur="500" fill="hold"/>
                                        <p:tgtEl>
                                          <p:spTgt spid="221219"/>
                                        </p:tgtEl>
                                        <p:attrNameLst>
                                          <p:attrName>ppt_x</p:attrName>
                                        </p:attrNameLst>
                                      </p:cBhvr>
                                      <p:tavLst>
                                        <p:tav tm="0">
                                          <p:val>
                                            <p:strVal val="1+#ppt_w/2"/>
                                          </p:val>
                                        </p:tav>
                                        <p:tav tm="100000">
                                          <p:val>
                                            <p:strVal val="#ppt_x"/>
                                          </p:val>
                                        </p:tav>
                                      </p:tavLst>
                                    </p:anim>
                                    <p:anim calcmode="lin" valueType="num">
                                      <p:cBhvr additive="base">
                                        <p:cTn id="73" dur="500" fill="hold"/>
                                        <p:tgtEl>
                                          <p:spTgt spid="221219"/>
                                        </p:tgtEl>
                                        <p:attrNameLst>
                                          <p:attrName>ppt_y</p:attrName>
                                        </p:attrNameLst>
                                      </p:cBhvr>
                                      <p:tavLst>
                                        <p:tav tm="0">
                                          <p:val>
                                            <p:strVal val="#ppt_y"/>
                                          </p:val>
                                        </p:tav>
                                        <p:tav tm="100000">
                                          <p:val>
                                            <p:strVal val="#ppt_y"/>
                                          </p:val>
                                        </p:tav>
                                      </p:tavLst>
                                    </p:anim>
                                  </p:childTnLst>
                                </p:cTn>
                              </p:par>
                            </p:childTnLst>
                          </p:cTn>
                        </p:par>
                      </p:childTnLst>
                    </p:cTn>
                  </p:par>
                  <p:par>
                    <p:cTn id="74" fill="hold" nodeType="clickPar">
                      <p:stCondLst>
                        <p:cond delay="indefinite"/>
                      </p:stCondLst>
                      <p:childTnLst>
                        <p:par>
                          <p:cTn id="75" fill="hold" nodeType="withGroup">
                            <p:stCondLst>
                              <p:cond delay="0"/>
                            </p:stCondLst>
                            <p:childTnLst>
                              <p:par>
                                <p:cTn id="76" presetID="9" presetClass="entr" presetSubtype="0" fill="hold" grpId="0" nodeType="clickEffect">
                                  <p:stCondLst>
                                    <p:cond delay="0"/>
                                  </p:stCondLst>
                                  <p:childTnLst>
                                    <p:set>
                                      <p:cBhvr>
                                        <p:cTn id="77" dur="1" fill="hold">
                                          <p:stCondLst>
                                            <p:cond delay="0"/>
                                          </p:stCondLst>
                                        </p:cTn>
                                        <p:tgtEl>
                                          <p:spTgt spid="221216"/>
                                        </p:tgtEl>
                                        <p:attrNameLst>
                                          <p:attrName>style.visibility</p:attrName>
                                        </p:attrNameLst>
                                      </p:cBhvr>
                                      <p:to>
                                        <p:strVal val="visible"/>
                                      </p:to>
                                    </p:set>
                                    <p:animEffect transition="in" filter="dissolve">
                                      <p:cBhvr>
                                        <p:cTn id="78" dur="500"/>
                                        <p:tgtEl>
                                          <p:spTgt spid="221216"/>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8"/>
                                        </p:tgtEl>
                                        <p:attrNameLst>
                                          <p:attrName>style.visibility</p:attrName>
                                        </p:attrNameLst>
                                      </p:cBhvr>
                                      <p:to>
                                        <p:strVal val="visible"/>
                                      </p:to>
                                    </p:set>
                                    <p:animEffect transition="in" filter="wipe(left)">
                                      <p:cBhvr>
                                        <p:cTn id="83" dur="500"/>
                                        <p:tgtEl>
                                          <p:spTgt spid="8"/>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9" presetClass="entr" presetSubtype="0" fill="hold" grpId="0" nodeType="clickEffect">
                                  <p:stCondLst>
                                    <p:cond delay="0"/>
                                  </p:stCondLst>
                                  <p:childTnLst>
                                    <p:set>
                                      <p:cBhvr>
                                        <p:cTn id="87" dur="1" fill="hold">
                                          <p:stCondLst>
                                            <p:cond delay="0"/>
                                          </p:stCondLst>
                                        </p:cTn>
                                        <p:tgtEl>
                                          <p:spTgt spid="221217"/>
                                        </p:tgtEl>
                                        <p:attrNameLst>
                                          <p:attrName>style.visibility</p:attrName>
                                        </p:attrNameLst>
                                      </p:cBhvr>
                                      <p:to>
                                        <p:strVal val="visible"/>
                                      </p:to>
                                    </p:set>
                                    <p:animEffect transition="in" filter="dissolve">
                                      <p:cBhvr>
                                        <p:cTn id="88" dur="500"/>
                                        <p:tgtEl>
                                          <p:spTgt spid="221217"/>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9" presetClass="entr" presetSubtype="0" fill="hold" grpId="0" nodeType="clickEffect">
                                  <p:stCondLst>
                                    <p:cond delay="0"/>
                                  </p:stCondLst>
                                  <p:childTnLst>
                                    <p:set>
                                      <p:cBhvr>
                                        <p:cTn id="92" dur="1" fill="hold">
                                          <p:stCondLst>
                                            <p:cond delay="0"/>
                                          </p:stCondLst>
                                        </p:cTn>
                                        <p:tgtEl>
                                          <p:spTgt spid="221218"/>
                                        </p:tgtEl>
                                        <p:attrNameLst>
                                          <p:attrName>style.visibility</p:attrName>
                                        </p:attrNameLst>
                                      </p:cBhvr>
                                      <p:to>
                                        <p:strVal val="visible"/>
                                      </p:to>
                                    </p:set>
                                    <p:animEffect transition="in" filter="dissolve">
                                      <p:cBhvr>
                                        <p:cTn id="93" dur="500"/>
                                        <p:tgtEl>
                                          <p:spTgt spid="221218"/>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7"/>
                                        </p:tgtEl>
                                        <p:attrNameLst>
                                          <p:attrName>style.visibility</p:attrName>
                                        </p:attrNameLst>
                                      </p:cBhvr>
                                      <p:to>
                                        <p:strVal val="visible"/>
                                      </p:to>
                                    </p:set>
                                    <p:animEffect transition="in" filter="wipe(left)">
                                      <p:cBhvr>
                                        <p:cTn id="9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207" grpId="0" autoUpdateAnimBg="0"/>
      <p:bldP spid="221208" grpId="0" autoUpdateAnimBg="0"/>
      <p:bldP spid="221209" grpId="0" autoUpdateAnimBg="0"/>
      <p:bldP spid="221210" grpId="0" autoUpdateAnimBg="0"/>
      <p:bldP spid="221211" grpId="0" autoUpdateAnimBg="0"/>
      <p:bldP spid="221212" grpId="0" autoUpdateAnimBg="0"/>
      <p:bldP spid="221213" grpId="0" autoUpdateAnimBg="0"/>
      <p:bldP spid="221214" grpId="0" autoUpdateAnimBg="0"/>
      <p:bldP spid="221215" grpId="0" autoUpdateAnimBg="0"/>
      <p:bldP spid="221216" grpId="0" autoUpdateAnimBg="0"/>
      <p:bldP spid="221217" grpId="0" autoUpdateAnimBg="0"/>
      <p:bldP spid="221218" grpId="0" animBg="1"/>
      <p:bldP spid="221219"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8"/>
          <p:cNvGrpSpPr>
            <a:grpSpLocks/>
          </p:cNvGrpSpPr>
          <p:nvPr/>
        </p:nvGrpSpPr>
        <p:grpSpPr bwMode="auto">
          <a:xfrm>
            <a:off x="2192339" y="1557338"/>
            <a:ext cx="8224837" cy="990600"/>
            <a:chOff x="421" y="1200"/>
            <a:chExt cx="5181" cy="624"/>
          </a:xfrm>
        </p:grpSpPr>
        <p:sp>
          <p:nvSpPr>
            <p:cNvPr id="65551" name="Line 3"/>
            <p:cNvSpPr>
              <a:spLocks noChangeShapeType="1"/>
            </p:cNvSpPr>
            <p:nvPr/>
          </p:nvSpPr>
          <p:spPr bwMode="auto">
            <a:xfrm>
              <a:off x="1348" y="1200"/>
              <a:ext cx="3072" cy="0"/>
            </a:xfrm>
            <a:prstGeom prst="line">
              <a:avLst/>
            </a:prstGeom>
            <a:noFill/>
            <a:ln w="28575" cap="sq">
              <a:solidFill>
                <a:srgbClr val="003300"/>
              </a:solidFill>
              <a:round/>
              <a:headEnd type="none" w="sm" len="sm"/>
              <a:tailEnd type="none" w="sm" len="sm"/>
            </a:ln>
          </p:spPr>
          <p:txBody>
            <a:bodyPr/>
            <a:lstStyle/>
            <a:p>
              <a:endParaRPr lang="zh-CN" altLang="en-US"/>
            </a:p>
          </p:txBody>
        </p:sp>
        <p:sp>
          <p:nvSpPr>
            <p:cNvPr id="65552" name="Line 4"/>
            <p:cNvSpPr>
              <a:spLocks noChangeShapeType="1"/>
            </p:cNvSpPr>
            <p:nvPr/>
          </p:nvSpPr>
          <p:spPr bwMode="auto">
            <a:xfrm>
              <a:off x="1322" y="1824"/>
              <a:ext cx="3146" cy="0"/>
            </a:xfrm>
            <a:prstGeom prst="line">
              <a:avLst/>
            </a:prstGeom>
            <a:noFill/>
            <a:ln w="28575" cap="sq">
              <a:solidFill>
                <a:srgbClr val="003300"/>
              </a:solidFill>
              <a:round/>
              <a:headEnd type="none" w="sm" len="sm"/>
              <a:tailEnd type="none" w="sm" len="sm"/>
            </a:ln>
          </p:spPr>
          <p:txBody>
            <a:bodyPr/>
            <a:lstStyle/>
            <a:p>
              <a:endParaRPr lang="zh-CN" altLang="en-US"/>
            </a:p>
          </p:txBody>
        </p:sp>
        <p:sp>
          <p:nvSpPr>
            <p:cNvPr id="65553" name="Line 5"/>
            <p:cNvSpPr>
              <a:spLocks noChangeShapeType="1"/>
            </p:cNvSpPr>
            <p:nvPr/>
          </p:nvSpPr>
          <p:spPr bwMode="auto">
            <a:xfrm>
              <a:off x="1588" y="1200"/>
              <a:ext cx="0" cy="624"/>
            </a:xfrm>
            <a:prstGeom prst="line">
              <a:avLst/>
            </a:prstGeom>
            <a:noFill/>
            <a:ln w="25400" cap="sq">
              <a:solidFill>
                <a:srgbClr val="003300"/>
              </a:solidFill>
              <a:round/>
              <a:headEnd type="none" w="sm" len="sm"/>
              <a:tailEnd type="none" w="sm" len="sm"/>
            </a:ln>
          </p:spPr>
          <p:txBody>
            <a:bodyPr/>
            <a:lstStyle/>
            <a:p>
              <a:endParaRPr lang="zh-CN" altLang="en-US"/>
            </a:p>
          </p:txBody>
        </p:sp>
        <p:sp>
          <p:nvSpPr>
            <p:cNvPr id="65554" name="Line 6"/>
            <p:cNvSpPr>
              <a:spLocks noChangeShapeType="1"/>
            </p:cNvSpPr>
            <p:nvPr/>
          </p:nvSpPr>
          <p:spPr bwMode="auto">
            <a:xfrm>
              <a:off x="1913" y="1200"/>
              <a:ext cx="0" cy="624"/>
            </a:xfrm>
            <a:prstGeom prst="line">
              <a:avLst/>
            </a:prstGeom>
            <a:noFill/>
            <a:ln w="25400" cap="sq">
              <a:solidFill>
                <a:srgbClr val="003300"/>
              </a:solidFill>
              <a:round/>
              <a:headEnd type="none" w="sm" len="sm"/>
              <a:tailEnd type="none" w="sm" len="sm"/>
            </a:ln>
          </p:spPr>
          <p:txBody>
            <a:bodyPr/>
            <a:lstStyle/>
            <a:p>
              <a:endParaRPr lang="zh-CN" altLang="en-US"/>
            </a:p>
          </p:txBody>
        </p:sp>
        <p:sp>
          <p:nvSpPr>
            <p:cNvPr id="65555" name="Line 7"/>
            <p:cNvSpPr>
              <a:spLocks noChangeShapeType="1"/>
            </p:cNvSpPr>
            <p:nvPr/>
          </p:nvSpPr>
          <p:spPr bwMode="auto">
            <a:xfrm>
              <a:off x="2238" y="1200"/>
              <a:ext cx="0" cy="624"/>
            </a:xfrm>
            <a:prstGeom prst="line">
              <a:avLst/>
            </a:prstGeom>
            <a:noFill/>
            <a:ln w="25400" cap="sq">
              <a:solidFill>
                <a:srgbClr val="003300"/>
              </a:solidFill>
              <a:round/>
              <a:headEnd type="none" w="sm" len="sm"/>
              <a:tailEnd type="none" w="sm" len="sm"/>
            </a:ln>
          </p:spPr>
          <p:txBody>
            <a:bodyPr/>
            <a:lstStyle/>
            <a:p>
              <a:endParaRPr lang="zh-CN" altLang="en-US"/>
            </a:p>
          </p:txBody>
        </p:sp>
        <p:sp>
          <p:nvSpPr>
            <p:cNvPr id="65556" name="Line 8"/>
            <p:cNvSpPr>
              <a:spLocks noChangeShapeType="1"/>
            </p:cNvSpPr>
            <p:nvPr/>
          </p:nvSpPr>
          <p:spPr bwMode="auto">
            <a:xfrm>
              <a:off x="2563" y="1200"/>
              <a:ext cx="0" cy="624"/>
            </a:xfrm>
            <a:prstGeom prst="line">
              <a:avLst/>
            </a:prstGeom>
            <a:noFill/>
            <a:ln w="25400" cap="sq">
              <a:solidFill>
                <a:srgbClr val="003300"/>
              </a:solidFill>
              <a:round/>
              <a:headEnd type="none" w="sm" len="sm"/>
              <a:tailEnd type="none" w="sm" len="sm"/>
            </a:ln>
          </p:spPr>
          <p:txBody>
            <a:bodyPr/>
            <a:lstStyle/>
            <a:p>
              <a:endParaRPr lang="zh-CN" altLang="en-US"/>
            </a:p>
          </p:txBody>
        </p:sp>
        <p:sp>
          <p:nvSpPr>
            <p:cNvPr id="65557" name="Line 9"/>
            <p:cNvSpPr>
              <a:spLocks noChangeShapeType="1"/>
            </p:cNvSpPr>
            <p:nvPr/>
          </p:nvSpPr>
          <p:spPr bwMode="auto">
            <a:xfrm>
              <a:off x="2884" y="1200"/>
              <a:ext cx="0" cy="624"/>
            </a:xfrm>
            <a:prstGeom prst="line">
              <a:avLst/>
            </a:prstGeom>
            <a:noFill/>
            <a:ln w="25400" cap="sq">
              <a:solidFill>
                <a:srgbClr val="333300"/>
              </a:solidFill>
              <a:round/>
              <a:headEnd type="none" w="sm" len="sm"/>
              <a:tailEnd type="none" w="sm" len="sm"/>
            </a:ln>
          </p:spPr>
          <p:txBody>
            <a:bodyPr/>
            <a:lstStyle/>
            <a:p>
              <a:endParaRPr lang="zh-CN" altLang="en-US"/>
            </a:p>
          </p:txBody>
        </p:sp>
        <p:sp>
          <p:nvSpPr>
            <p:cNvPr id="65558" name="Line 10"/>
            <p:cNvSpPr>
              <a:spLocks noChangeShapeType="1"/>
            </p:cNvSpPr>
            <p:nvPr/>
          </p:nvSpPr>
          <p:spPr bwMode="auto">
            <a:xfrm>
              <a:off x="3552" y="1200"/>
              <a:ext cx="0" cy="624"/>
            </a:xfrm>
            <a:prstGeom prst="line">
              <a:avLst/>
            </a:prstGeom>
            <a:noFill/>
            <a:ln w="25400" cap="sq">
              <a:solidFill>
                <a:srgbClr val="003300"/>
              </a:solidFill>
              <a:round/>
              <a:headEnd type="none" w="sm" len="sm"/>
              <a:tailEnd type="none" w="sm" len="sm"/>
            </a:ln>
          </p:spPr>
          <p:txBody>
            <a:bodyPr/>
            <a:lstStyle/>
            <a:p>
              <a:endParaRPr lang="zh-CN" altLang="en-US"/>
            </a:p>
          </p:txBody>
        </p:sp>
        <p:sp>
          <p:nvSpPr>
            <p:cNvPr id="65559" name="Line 11"/>
            <p:cNvSpPr>
              <a:spLocks noChangeShapeType="1"/>
            </p:cNvSpPr>
            <p:nvPr/>
          </p:nvSpPr>
          <p:spPr bwMode="auto">
            <a:xfrm>
              <a:off x="3855" y="1200"/>
              <a:ext cx="0" cy="624"/>
            </a:xfrm>
            <a:prstGeom prst="line">
              <a:avLst/>
            </a:prstGeom>
            <a:noFill/>
            <a:ln w="25400" cap="sq">
              <a:solidFill>
                <a:srgbClr val="333300"/>
              </a:solidFill>
              <a:round/>
              <a:headEnd type="none" w="sm" len="sm"/>
              <a:tailEnd type="none" w="sm" len="sm"/>
            </a:ln>
          </p:spPr>
          <p:txBody>
            <a:bodyPr/>
            <a:lstStyle/>
            <a:p>
              <a:endParaRPr lang="zh-CN" altLang="en-US"/>
            </a:p>
          </p:txBody>
        </p:sp>
        <p:sp>
          <p:nvSpPr>
            <p:cNvPr id="65560" name="Line 12"/>
            <p:cNvSpPr>
              <a:spLocks noChangeShapeType="1"/>
            </p:cNvSpPr>
            <p:nvPr/>
          </p:nvSpPr>
          <p:spPr bwMode="auto">
            <a:xfrm>
              <a:off x="4169" y="1200"/>
              <a:ext cx="0" cy="624"/>
            </a:xfrm>
            <a:prstGeom prst="line">
              <a:avLst/>
            </a:prstGeom>
            <a:noFill/>
            <a:ln w="25400" cap="sq">
              <a:solidFill>
                <a:srgbClr val="003300"/>
              </a:solidFill>
              <a:round/>
              <a:headEnd type="none" w="sm" len="sm"/>
              <a:tailEnd type="none" w="sm" len="sm"/>
            </a:ln>
          </p:spPr>
          <p:txBody>
            <a:bodyPr/>
            <a:lstStyle/>
            <a:p>
              <a:endParaRPr lang="zh-CN" altLang="en-US"/>
            </a:p>
          </p:txBody>
        </p:sp>
        <p:sp>
          <p:nvSpPr>
            <p:cNvPr id="65561" name="Text Box 13"/>
            <p:cNvSpPr txBox="1">
              <a:spLocks noChangeArrowheads="1"/>
            </p:cNvSpPr>
            <p:nvPr/>
          </p:nvSpPr>
          <p:spPr bwMode="auto">
            <a:xfrm>
              <a:off x="3870" y="1337"/>
              <a:ext cx="295" cy="33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CC"/>
                  </a:solidFill>
                </a:rPr>
                <a:t>a</a:t>
              </a:r>
              <a:r>
                <a:rPr lang="en-US" altLang="zh-CN" sz="2800" b="1" baseline="-25000">
                  <a:solidFill>
                    <a:srgbClr val="0000CC"/>
                  </a:solidFill>
                </a:rPr>
                <a:t>n</a:t>
              </a:r>
            </a:p>
          </p:txBody>
        </p:sp>
        <p:sp>
          <p:nvSpPr>
            <p:cNvPr id="65562" name="Text Box 14"/>
            <p:cNvSpPr txBox="1">
              <a:spLocks noChangeArrowheads="1"/>
            </p:cNvSpPr>
            <p:nvPr/>
          </p:nvSpPr>
          <p:spPr bwMode="auto">
            <a:xfrm>
              <a:off x="3503" y="1344"/>
              <a:ext cx="405" cy="33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CC"/>
                  </a:solidFill>
                </a:rPr>
                <a:t>a</a:t>
              </a:r>
              <a:r>
                <a:rPr lang="en-US" altLang="zh-CN" sz="2800" b="1" baseline="-25000">
                  <a:solidFill>
                    <a:srgbClr val="0000CC"/>
                  </a:solidFill>
                </a:rPr>
                <a:t>n-1</a:t>
              </a:r>
            </a:p>
          </p:txBody>
        </p:sp>
        <p:sp>
          <p:nvSpPr>
            <p:cNvPr id="65563" name="Text Box 15"/>
            <p:cNvSpPr txBox="1">
              <a:spLocks noChangeArrowheads="1"/>
            </p:cNvSpPr>
            <p:nvPr/>
          </p:nvSpPr>
          <p:spPr bwMode="auto">
            <a:xfrm>
              <a:off x="2260" y="1344"/>
              <a:ext cx="288" cy="33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CC"/>
                  </a:solidFill>
                </a:rPr>
                <a:t>a</a:t>
              </a:r>
              <a:r>
                <a:rPr lang="en-US" altLang="zh-CN" sz="2800" b="1" baseline="-25000">
                  <a:solidFill>
                    <a:srgbClr val="0000CC"/>
                  </a:solidFill>
                </a:rPr>
                <a:t>3</a:t>
              </a:r>
            </a:p>
          </p:txBody>
        </p:sp>
        <p:sp>
          <p:nvSpPr>
            <p:cNvPr id="65564" name="Text Box 16"/>
            <p:cNvSpPr txBox="1">
              <a:spLocks noChangeArrowheads="1"/>
            </p:cNvSpPr>
            <p:nvPr/>
          </p:nvSpPr>
          <p:spPr bwMode="auto">
            <a:xfrm>
              <a:off x="2548" y="1353"/>
              <a:ext cx="288" cy="33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CC"/>
                  </a:solidFill>
                </a:rPr>
                <a:t>a</a:t>
              </a:r>
              <a:r>
                <a:rPr lang="en-US" altLang="zh-CN" sz="2800" b="1" baseline="-25000">
                  <a:solidFill>
                    <a:srgbClr val="0000CC"/>
                  </a:solidFill>
                </a:rPr>
                <a:t>4</a:t>
              </a:r>
            </a:p>
          </p:txBody>
        </p:sp>
        <p:sp>
          <p:nvSpPr>
            <p:cNvPr id="65565" name="Text Box 17"/>
            <p:cNvSpPr txBox="1">
              <a:spLocks noChangeArrowheads="1"/>
            </p:cNvSpPr>
            <p:nvPr/>
          </p:nvSpPr>
          <p:spPr bwMode="auto">
            <a:xfrm>
              <a:off x="1917" y="1344"/>
              <a:ext cx="288" cy="33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CC"/>
                  </a:solidFill>
                </a:rPr>
                <a:t>a</a:t>
              </a:r>
              <a:r>
                <a:rPr lang="en-US" altLang="zh-CN" sz="2800" b="1" baseline="-25000">
                  <a:solidFill>
                    <a:srgbClr val="0000CC"/>
                  </a:solidFill>
                </a:rPr>
                <a:t>2</a:t>
              </a:r>
            </a:p>
          </p:txBody>
        </p:sp>
        <p:sp>
          <p:nvSpPr>
            <p:cNvPr id="65566" name="Text Box 18"/>
            <p:cNvSpPr txBox="1">
              <a:spLocks noChangeArrowheads="1"/>
            </p:cNvSpPr>
            <p:nvPr/>
          </p:nvSpPr>
          <p:spPr bwMode="auto">
            <a:xfrm>
              <a:off x="1636" y="1344"/>
              <a:ext cx="288" cy="330"/>
            </a:xfrm>
            <a:prstGeom prst="rect">
              <a:avLst/>
            </a:prstGeom>
            <a:noFill/>
            <a:ln w="12700" cap="sq">
              <a:noFill/>
              <a:miter lim="800000"/>
              <a:headEnd type="none" w="sm" len="sm"/>
              <a:tailEnd type="none" w="sm" len="sm"/>
            </a:ln>
          </p:spPr>
          <p:txBody>
            <a:bodyPr wrap="none">
              <a:spAutoFit/>
            </a:bodyPr>
            <a:lstStyle/>
            <a:p>
              <a:r>
                <a:rPr lang="en-US" altLang="zh-CN" sz="2800" b="1">
                  <a:solidFill>
                    <a:srgbClr val="0000CC"/>
                  </a:solidFill>
                </a:rPr>
                <a:t>a</a:t>
              </a:r>
              <a:r>
                <a:rPr lang="en-US" altLang="zh-CN" sz="2800" b="1" baseline="-25000">
                  <a:solidFill>
                    <a:srgbClr val="0000CC"/>
                  </a:solidFill>
                </a:rPr>
                <a:t>1</a:t>
              </a:r>
            </a:p>
          </p:txBody>
        </p:sp>
        <p:sp>
          <p:nvSpPr>
            <p:cNvPr id="65567" name="Text Box 19"/>
            <p:cNvSpPr txBox="1">
              <a:spLocks noChangeArrowheads="1"/>
            </p:cNvSpPr>
            <p:nvPr/>
          </p:nvSpPr>
          <p:spPr bwMode="auto">
            <a:xfrm>
              <a:off x="3040" y="1285"/>
              <a:ext cx="235" cy="233"/>
            </a:xfrm>
            <a:prstGeom prst="rect">
              <a:avLst/>
            </a:prstGeom>
            <a:noFill/>
            <a:ln w="12700" cap="sq">
              <a:noFill/>
              <a:miter lim="800000"/>
              <a:headEnd type="none" w="sm" len="sm"/>
              <a:tailEnd type="none" w="sm" len="sm"/>
            </a:ln>
          </p:spPr>
          <p:txBody>
            <a:bodyPr wrap="none">
              <a:spAutoFit/>
            </a:bodyPr>
            <a:lstStyle/>
            <a:p>
              <a:r>
                <a:rPr lang="zh-CN" altLang="en-US" b="1">
                  <a:solidFill>
                    <a:srgbClr val="0000CC"/>
                  </a:solidFill>
                  <a:ea typeface="宋体" charset="-122"/>
                  <a:cs typeface="Times New Roman" pitchFamily="18" charset="0"/>
                </a:rPr>
                <a:t>…</a:t>
              </a:r>
            </a:p>
          </p:txBody>
        </p:sp>
        <p:sp>
          <p:nvSpPr>
            <p:cNvPr id="222228" name="AutoShape 20"/>
            <p:cNvSpPr>
              <a:spLocks noChangeArrowheads="1"/>
            </p:cNvSpPr>
            <p:nvPr/>
          </p:nvSpPr>
          <p:spPr bwMode="auto">
            <a:xfrm flipH="1">
              <a:off x="916" y="1440"/>
              <a:ext cx="480" cy="192"/>
            </a:xfrm>
            <a:prstGeom prst="rightArrow">
              <a:avLst>
                <a:gd name="adj1" fmla="val 49528"/>
                <a:gd name="adj2" fmla="val 108218"/>
              </a:avLst>
            </a:prstGeom>
            <a:gradFill rotWithShape="0">
              <a:gsLst>
                <a:gs pos="0">
                  <a:schemeClr val="accent1">
                    <a:gamma/>
                    <a:shade val="46275"/>
                    <a:invGamma/>
                  </a:schemeClr>
                </a:gs>
                <a:gs pos="50000">
                  <a:schemeClr val="accent1"/>
                </a:gs>
                <a:gs pos="100000">
                  <a:schemeClr val="accent1">
                    <a:gamma/>
                    <a:shade val="46275"/>
                    <a:invGamma/>
                  </a:schemeClr>
                </a:gs>
              </a:gsLst>
              <a:lin ang="18900000" scaled="1"/>
            </a:gradFill>
            <a:ln w="12700" cap="sq">
              <a:solidFill>
                <a:srgbClr val="FFFF00"/>
              </a:solidFill>
              <a:miter lim="800000"/>
              <a:headEnd type="none" w="sm" len="sm"/>
              <a:tailEnd type="none" w="sm" len="sm"/>
            </a:ln>
            <a:effectLst>
              <a:outerShdw dist="35921" dir="2700000" algn="ctr" rotWithShape="0">
                <a:srgbClr val="808080"/>
              </a:outerShdw>
            </a:effectLst>
          </p:spPr>
          <p:txBody>
            <a:bodyPr wrap="none" anchor="ctr"/>
            <a:lstStyle/>
            <a:p>
              <a:pPr>
                <a:defRPr/>
              </a:pPr>
              <a:endParaRPr lang="zh-CN" altLang="en-US"/>
            </a:p>
          </p:txBody>
        </p:sp>
        <p:sp>
          <p:nvSpPr>
            <p:cNvPr id="65569" name="Text Box 21"/>
            <p:cNvSpPr txBox="1">
              <a:spLocks noChangeArrowheads="1"/>
            </p:cNvSpPr>
            <p:nvPr/>
          </p:nvSpPr>
          <p:spPr bwMode="auto">
            <a:xfrm>
              <a:off x="4863" y="1315"/>
              <a:ext cx="739" cy="327"/>
            </a:xfrm>
            <a:prstGeom prst="rect">
              <a:avLst/>
            </a:prstGeom>
            <a:noFill/>
            <a:ln w="12700" cap="sq">
              <a:noFill/>
              <a:miter lim="800000"/>
              <a:headEnd type="none" w="sm" len="sm"/>
              <a:tailEnd type="none" w="sm" len="sm"/>
            </a:ln>
            <a:effectLst>
              <a:outerShdw dist="17961" dir="2700000" algn="ctr" rotWithShape="0">
                <a:schemeClr val="bg2"/>
              </a:outerShdw>
            </a:effectLst>
          </p:spPr>
          <p:txBody>
            <a:bodyPr>
              <a:spAutoFit/>
            </a:bodyPr>
            <a:lstStyle/>
            <a:p>
              <a:r>
                <a:rPr lang="zh-CN" altLang="en-US" sz="2800" b="1">
                  <a:solidFill>
                    <a:srgbClr val="FF3300"/>
                  </a:solidFill>
                  <a:ea typeface="黑体" pitchFamily="2" charset="-122"/>
                </a:rPr>
                <a:t>进队</a:t>
              </a:r>
            </a:p>
          </p:txBody>
        </p:sp>
        <p:sp>
          <p:nvSpPr>
            <p:cNvPr id="222230" name="AutoShape 22"/>
            <p:cNvSpPr>
              <a:spLocks noChangeArrowheads="1"/>
            </p:cNvSpPr>
            <p:nvPr/>
          </p:nvSpPr>
          <p:spPr bwMode="auto">
            <a:xfrm flipH="1">
              <a:off x="4372" y="1392"/>
              <a:ext cx="480" cy="192"/>
            </a:xfrm>
            <a:prstGeom prst="rightArrow">
              <a:avLst>
                <a:gd name="adj1" fmla="val 49528"/>
                <a:gd name="adj2" fmla="val 108218"/>
              </a:avLst>
            </a:prstGeom>
            <a:gradFill rotWithShape="0">
              <a:gsLst>
                <a:gs pos="0">
                  <a:schemeClr val="accent1">
                    <a:gamma/>
                    <a:shade val="46275"/>
                    <a:invGamma/>
                  </a:schemeClr>
                </a:gs>
                <a:gs pos="50000">
                  <a:schemeClr val="accent1"/>
                </a:gs>
                <a:gs pos="100000">
                  <a:schemeClr val="accent1">
                    <a:gamma/>
                    <a:shade val="46275"/>
                    <a:invGamma/>
                  </a:schemeClr>
                </a:gs>
              </a:gsLst>
              <a:lin ang="18900000" scaled="1"/>
            </a:gradFill>
            <a:ln w="12700" cap="sq">
              <a:solidFill>
                <a:srgbClr val="FFFF00"/>
              </a:solidFill>
              <a:miter lim="800000"/>
              <a:headEnd type="none" w="sm" len="sm"/>
              <a:tailEnd type="none" w="sm" len="sm"/>
            </a:ln>
            <a:effectLst>
              <a:outerShdw dist="35921" dir="2700000" algn="ctr" rotWithShape="0">
                <a:srgbClr val="808080"/>
              </a:outerShdw>
            </a:effectLst>
          </p:spPr>
          <p:txBody>
            <a:bodyPr wrap="none" anchor="ctr"/>
            <a:lstStyle/>
            <a:p>
              <a:pPr>
                <a:defRPr/>
              </a:pPr>
              <a:endParaRPr lang="zh-CN" altLang="en-US"/>
            </a:p>
          </p:txBody>
        </p:sp>
        <p:sp>
          <p:nvSpPr>
            <p:cNvPr id="65571" name="Text Box 23"/>
            <p:cNvSpPr txBox="1">
              <a:spLocks noChangeArrowheads="1"/>
            </p:cNvSpPr>
            <p:nvPr/>
          </p:nvSpPr>
          <p:spPr bwMode="auto">
            <a:xfrm>
              <a:off x="421" y="1359"/>
              <a:ext cx="781" cy="327"/>
            </a:xfrm>
            <a:prstGeom prst="rect">
              <a:avLst/>
            </a:prstGeom>
            <a:noFill/>
            <a:ln w="12700" cap="sq">
              <a:noFill/>
              <a:miter lim="800000"/>
              <a:headEnd type="none" w="sm" len="sm"/>
              <a:tailEnd type="none" w="sm" len="sm"/>
            </a:ln>
            <a:effectLst>
              <a:outerShdw dist="28398" dir="3806097" algn="ctr" rotWithShape="0">
                <a:srgbClr val="000000"/>
              </a:outerShdw>
            </a:effectLst>
          </p:spPr>
          <p:txBody>
            <a:bodyPr>
              <a:spAutoFit/>
            </a:bodyPr>
            <a:lstStyle/>
            <a:p>
              <a:r>
                <a:rPr lang="zh-CN" altLang="en-US" sz="2800" b="1">
                  <a:solidFill>
                    <a:srgbClr val="FF3300"/>
                  </a:solidFill>
                  <a:ea typeface="黑体" pitchFamily="2" charset="-122"/>
                </a:rPr>
                <a:t>出队</a:t>
              </a:r>
            </a:p>
          </p:txBody>
        </p:sp>
      </p:grpSp>
      <p:grpSp>
        <p:nvGrpSpPr>
          <p:cNvPr id="3" name="Group 46"/>
          <p:cNvGrpSpPr>
            <a:grpSpLocks/>
          </p:cNvGrpSpPr>
          <p:nvPr/>
        </p:nvGrpSpPr>
        <p:grpSpPr bwMode="auto">
          <a:xfrm>
            <a:off x="3600450" y="1773238"/>
            <a:ext cx="1676400" cy="1268412"/>
            <a:chOff x="1314" y="1344"/>
            <a:chExt cx="1056" cy="799"/>
          </a:xfrm>
        </p:grpSpPr>
        <p:sp>
          <p:nvSpPr>
            <p:cNvPr id="65549" name="Text Box 25"/>
            <p:cNvSpPr txBox="1">
              <a:spLocks noChangeArrowheads="1"/>
            </p:cNvSpPr>
            <p:nvPr/>
          </p:nvSpPr>
          <p:spPr bwMode="auto">
            <a:xfrm>
              <a:off x="1314" y="1883"/>
              <a:ext cx="1056" cy="260"/>
            </a:xfrm>
            <a:prstGeom prst="rect">
              <a:avLst/>
            </a:prstGeom>
            <a:noFill/>
            <a:ln w="12700" cap="sq">
              <a:noFill/>
              <a:miter lim="800000"/>
              <a:headEnd type="none" w="sm" len="sm"/>
              <a:tailEnd type="none" w="sm" len="sm"/>
            </a:ln>
          </p:spPr>
          <p:txBody>
            <a:bodyPr>
              <a:spAutoFit/>
            </a:bodyPr>
            <a:lstStyle/>
            <a:p>
              <a:r>
                <a:rPr lang="zh-CN" altLang="en-US" sz="2100" b="1" i="1">
                  <a:solidFill>
                    <a:srgbClr val="0000CC"/>
                  </a:solidFill>
                  <a:ea typeface="黑体" pitchFamily="2" charset="-122"/>
                </a:rPr>
                <a:t>队头元素</a:t>
              </a:r>
            </a:p>
          </p:txBody>
        </p:sp>
        <p:sp>
          <p:nvSpPr>
            <p:cNvPr id="65550" name="Oval 26"/>
            <p:cNvSpPr>
              <a:spLocks noChangeArrowheads="1"/>
            </p:cNvSpPr>
            <p:nvPr/>
          </p:nvSpPr>
          <p:spPr bwMode="auto">
            <a:xfrm>
              <a:off x="1617" y="1344"/>
              <a:ext cx="288" cy="432"/>
            </a:xfrm>
            <a:prstGeom prst="ellipse">
              <a:avLst/>
            </a:prstGeom>
            <a:noFill/>
            <a:ln w="25400">
              <a:solidFill>
                <a:srgbClr val="FF0000"/>
              </a:solidFill>
              <a:prstDash val="lgDash"/>
              <a:round/>
              <a:headEnd type="none" w="sm" len="sm"/>
              <a:tailEnd type="none" w="sm" len="sm"/>
            </a:ln>
          </p:spPr>
          <p:txBody>
            <a:bodyPr wrap="none" anchor="ctr"/>
            <a:lstStyle/>
            <a:p>
              <a:endParaRPr lang="zh-CN" altLang="en-US"/>
            </a:p>
          </p:txBody>
        </p:sp>
      </p:grpSp>
      <p:grpSp>
        <p:nvGrpSpPr>
          <p:cNvPr id="4" name="Group 47"/>
          <p:cNvGrpSpPr>
            <a:grpSpLocks/>
          </p:cNvGrpSpPr>
          <p:nvPr/>
        </p:nvGrpSpPr>
        <p:grpSpPr bwMode="auto">
          <a:xfrm>
            <a:off x="7175500" y="1768476"/>
            <a:ext cx="1676400" cy="1268413"/>
            <a:chOff x="3560" y="1314"/>
            <a:chExt cx="1056" cy="799"/>
          </a:xfrm>
        </p:grpSpPr>
        <p:sp>
          <p:nvSpPr>
            <p:cNvPr id="65547" name="Text Box 28"/>
            <p:cNvSpPr txBox="1">
              <a:spLocks noChangeArrowheads="1"/>
            </p:cNvSpPr>
            <p:nvPr/>
          </p:nvSpPr>
          <p:spPr bwMode="auto">
            <a:xfrm>
              <a:off x="3560" y="1853"/>
              <a:ext cx="1056" cy="260"/>
            </a:xfrm>
            <a:prstGeom prst="rect">
              <a:avLst/>
            </a:prstGeom>
            <a:noFill/>
            <a:ln w="12700" cap="sq">
              <a:noFill/>
              <a:miter lim="800000"/>
              <a:headEnd type="none" w="sm" len="sm"/>
              <a:tailEnd type="none" w="sm" len="sm"/>
            </a:ln>
          </p:spPr>
          <p:txBody>
            <a:bodyPr>
              <a:spAutoFit/>
            </a:bodyPr>
            <a:lstStyle/>
            <a:p>
              <a:r>
                <a:rPr lang="zh-CN" altLang="en-US" sz="2100" b="1" i="1">
                  <a:solidFill>
                    <a:srgbClr val="0000CC"/>
                  </a:solidFill>
                  <a:ea typeface="黑体" pitchFamily="2" charset="-122"/>
                </a:rPr>
                <a:t>队尾元素</a:t>
              </a:r>
            </a:p>
          </p:txBody>
        </p:sp>
        <p:sp>
          <p:nvSpPr>
            <p:cNvPr id="65548" name="Oval 29"/>
            <p:cNvSpPr>
              <a:spLocks noChangeArrowheads="1"/>
            </p:cNvSpPr>
            <p:nvPr/>
          </p:nvSpPr>
          <p:spPr bwMode="auto">
            <a:xfrm>
              <a:off x="3863" y="1314"/>
              <a:ext cx="288" cy="432"/>
            </a:xfrm>
            <a:prstGeom prst="ellipse">
              <a:avLst/>
            </a:prstGeom>
            <a:noFill/>
            <a:ln w="25400">
              <a:solidFill>
                <a:srgbClr val="FF0000"/>
              </a:solidFill>
              <a:prstDash val="lgDash"/>
              <a:round/>
              <a:headEnd type="none" w="sm" len="sm"/>
              <a:tailEnd type="none" w="sm" len="sm"/>
            </a:ln>
          </p:spPr>
          <p:txBody>
            <a:bodyPr wrap="none" anchor="ctr"/>
            <a:lstStyle/>
            <a:p>
              <a:endParaRPr lang="zh-CN" altLang="en-US"/>
            </a:p>
          </p:txBody>
        </p:sp>
      </p:grpSp>
      <p:grpSp>
        <p:nvGrpSpPr>
          <p:cNvPr id="5" name="Group 44"/>
          <p:cNvGrpSpPr>
            <a:grpSpLocks/>
          </p:cNvGrpSpPr>
          <p:nvPr/>
        </p:nvGrpSpPr>
        <p:grpSpPr bwMode="auto">
          <a:xfrm>
            <a:off x="2063751" y="3614738"/>
            <a:ext cx="8399463" cy="1447800"/>
            <a:chOff x="1344" y="2496"/>
            <a:chExt cx="2896" cy="912"/>
          </a:xfrm>
        </p:grpSpPr>
        <p:sp>
          <p:nvSpPr>
            <p:cNvPr id="65545" name="AutoShape 31"/>
            <p:cNvSpPr>
              <a:spLocks noChangeArrowheads="1"/>
            </p:cNvSpPr>
            <p:nvPr/>
          </p:nvSpPr>
          <p:spPr bwMode="auto">
            <a:xfrm rot="300143">
              <a:off x="1344" y="2496"/>
              <a:ext cx="2880" cy="912"/>
            </a:xfrm>
            <a:prstGeom prst="irregularSeal2">
              <a:avLst/>
            </a:prstGeom>
            <a:solidFill>
              <a:srgbClr val="CCFFFF"/>
            </a:solidFill>
            <a:ln w="12700" cap="sq">
              <a:noFill/>
              <a:miter lim="800000"/>
              <a:headEnd type="none" w="sm" len="sm"/>
              <a:tailEnd type="none" w="sm" len="sm"/>
            </a:ln>
            <a:effectLst>
              <a:outerShdw dist="179605" dir="2700000" algn="ctr" rotWithShape="0">
                <a:srgbClr val="969696"/>
              </a:outerShdw>
            </a:effectLst>
          </p:spPr>
          <p:txBody>
            <a:bodyPr wrap="none" anchor="ctr"/>
            <a:lstStyle/>
            <a:p>
              <a:endParaRPr lang="zh-CN" altLang="en-US"/>
            </a:p>
          </p:txBody>
        </p:sp>
        <p:sp>
          <p:nvSpPr>
            <p:cNvPr id="35850" name="Text Box 32"/>
            <p:cNvSpPr txBox="1">
              <a:spLocks noChangeArrowheads="1"/>
            </p:cNvSpPr>
            <p:nvPr/>
          </p:nvSpPr>
          <p:spPr bwMode="auto">
            <a:xfrm>
              <a:off x="1602" y="2712"/>
              <a:ext cx="2638" cy="4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3200">
                  <a:solidFill>
                    <a:schemeClr val="tx1"/>
                  </a:solidFill>
                  <a:latin typeface="Times New Roman" pitchFamily="18" charset="0"/>
                  <a:ea typeface="楷体_GB2312" pitchFamily="49" charset="-122"/>
                </a:defRPr>
              </a:lvl1pPr>
              <a:lvl2pPr marL="742950" indent="-285750">
                <a:defRPr sz="3200">
                  <a:solidFill>
                    <a:schemeClr val="tx1"/>
                  </a:solidFill>
                  <a:latin typeface="Times New Roman" pitchFamily="18" charset="0"/>
                  <a:ea typeface="楷体_GB2312" pitchFamily="49" charset="-122"/>
                </a:defRPr>
              </a:lvl2pPr>
              <a:lvl3pPr marL="1143000" indent="-228600">
                <a:defRPr sz="3200">
                  <a:solidFill>
                    <a:schemeClr val="tx1"/>
                  </a:solidFill>
                  <a:latin typeface="Times New Roman" pitchFamily="18" charset="0"/>
                  <a:ea typeface="楷体_GB2312" pitchFamily="49" charset="-122"/>
                </a:defRPr>
              </a:lvl3pPr>
              <a:lvl4pPr marL="1600200" indent="-228600">
                <a:defRPr sz="3200">
                  <a:solidFill>
                    <a:schemeClr val="tx1"/>
                  </a:solidFill>
                  <a:latin typeface="Times New Roman" pitchFamily="18" charset="0"/>
                  <a:ea typeface="楷体_GB2312" pitchFamily="49" charset="-122"/>
                </a:defRPr>
              </a:lvl4pPr>
              <a:lvl5pPr marL="2057400" indent="-228600">
                <a:defRPr sz="32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sz="32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sz="32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sz="32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sz="3200">
                  <a:solidFill>
                    <a:schemeClr val="tx1"/>
                  </a:solidFill>
                  <a:latin typeface="Times New Roman" pitchFamily="18" charset="0"/>
                  <a:ea typeface="楷体_GB2312" pitchFamily="49" charset="-122"/>
                </a:defRPr>
              </a:lvl9pPr>
            </a:lstStyle>
            <a:p>
              <a:pPr algn="ctr">
                <a:defRPr/>
              </a:pPr>
              <a:r>
                <a:rPr lang="en-US" altLang="zh-CN" sz="4200" b="1" dirty="0">
                  <a:solidFill>
                    <a:srgbClr val="FF0000"/>
                  </a:solidFill>
                  <a:effectLst>
                    <a:outerShdw blurRad="38100" dist="38100" dir="2700000" algn="tl">
                      <a:srgbClr val="000000">
                        <a:alpha val="43137"/>
                      </a:srgbClr>
                    </a:outerShdw>
                  </a:effectLst>
                  <a:ea typeface="黑体" pitchFamily="2" charset="-122"/>
                </a:rPr>
                <a:t>FIFO(First-In-First-Out )</a:t>
              </a:r>
              <a:endParaRPr lang="zh-CN" altLang="en-US" sz="4200" b="1" dirty="0">
                <a:solidFill>
                  <a:srgbClr val="FF0000"/>
                </a:solidFill>
                <a:effectLst>
                  <a:outerShdw blurRad="38100" dist="38100" dir="2700000" algn="tl">
                    <a:srgbClr val="000000">
                      <a:alpha val="43137"/>
                    </a:srgbClr>
                  </a:outerShdw>
                </a:effectLst>
                <a:ea typeface="黑体" pitchFamily="2" charset="-122"/>
              </a:endParaRPr>
            </a:p>
          </p:txBody>
        </p:sp>
      </p:grpSp>
      <p:grpSp>
        <p:nvGrpSpPr>
          <p:cNvPr id="6" name="Group 52"/>
          <p:cNvGrpSpPr>
            <a:grpSpLocks/>
          </p:cNvGrpSpPr>
          <p:nvPr/>
        </p:nvGrpSpPr>
        <p:grpSpPr bwMode="auto">
          <a:xfrm>
            <a:off x="4943475" y="5805488"/>
            <a:ext cx="3240088" cy="508000"/>
            <a:chOff x="2064" y="3657"/>
            <a:chExt cx="2041" cy="320"/>
          </a:xfrm>
        </p:grpSpPr>
        <p:sp>
          <p:nvSpPr>
            <p:cNvPr id="65543" name="Rectangle 50"/>
            <p:cNvSpPr>
              <a:spLocks noChangeArrowheads="1"/>
            </p:cNvSpPr>
            <p:nvPr/>
          </p:nvSpPr>
          <p:spPr bwMode="auto">
            <a:xfrm>
              <a:off x="2064" y="3660"/>
              <a:ext cx="1542" cy="317"/>
            </a:xfrm>
            <a:prstGeom prst="rect">
              <a:avLst/>
            </a:prstGeom>
            <a:solidFill>
              <a:srgbClr val="3BDAFF"/>
            </a:solidFill>
            <a:ln w="12700" cap="sq">
              <a:noFill/>
              <a:miter lim="800000"/>
              <a:headEnd type="none" w="sm" len="sm"/>
              <a:tailEnd type="none" w="sm" len="sm"/>
            </a:ln>
            <a:effectLst>
              <a:outerShdw dist="63500" dir="3187806" algn="ctr" rotWithShape="0">
                <a:srgbClr val="C9C9C9"/>
              </a:outerShdw>
            </a:effectLst>
          </p:spPr>
          <p:txBody>
            <a:bodyPr wrap="none" anchor="ctr"/>
            <a:lstStyle/>
            <a:p>
              <a:endParaRPr lang="zh-CN" altLang="en-US"/>
            </a:p>
          </p:txBody>
        </p:sp>
        <p:sp>
          <p:nvSpPr>
            <p:cNvPr id="65544" name="Text Box 51"/>
            <p:cNvSpPr txBox="1">
              <a:spLocks noChangeArrowheads="1"/>
            </p:cNvSpPr>
            <p:nvPr/>
          </p:nvSpPr>
          <p:spPr bwMode="auto">
            <a:xfrm>
              <a:off x="2106" y="3657"/>
              <a:ext cx="1999" cy="308"/>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a:spAutoFit/>
            </a:bodyPr>
            <a:lstStyle/>
            <a:p>
              <a:r>
                <a:rPr lang="zh-CN" altLang="en-US" sz="2600" b="1" dirty="0">
                  <a:solidFill>
                    <a:srgbClr val="FF0000"/>
                  </a:solidFill>
                  <a:ea typeface="黑体" pitchFamily="2" charset="-122"/>
                </a:rPr>
                <a:t>队的示意图</a:t>
              </a:r>
            </a:p>
          </p:txBody>
        </p:sp>
      </p:grpSp>
    </p:spTree>
  </p:cSld>
  <p:clrMapOvr>
    <a:masterClrMapping/>
  </p:clrMapOvr>
  <p:transition>
    <p:zoom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4"/>
          <p:cNvGrpSpPr>
            <a:grpSpLocks/>
          </p:cNvGrpSpPr>
          <p:nvPr/>
        </p:nvGrpSpPr>
        <p:grpSpPr bwMode="auto">
          <a:xfrm>
            <a:off x="2063552" y="54662"/>
            <a:ext cx="6289676" cy="3875723"/>
            <a:chOff x="407" y="337"/>
            <a:chExt cx="3962" cy="1899"/>
          </a:xfrm>
        </p:grpSpPr>
        <p:sp>
          <p:nvSpPr>
            <p:cNvPr id="66580" name="Rectangle 3"/>
            <p:cNvSpPr>
              <a:spLocks noChangeArrowheads="1"/>
            </p:cNvSpPr>
            <p:nvPr/>
          </p:nvSpPr>
          <p:spPr bwMode="auto">
            <a:xfrm>
              <a:off x="493" y="556"/>
              <a:ext cx="3876" cy="1680"/>
            </a:xfrm>
            <a:prstGeom prst="rect">
              <a:avLst/>
            </a:prstGeom>
            <a:solidFill>
              <a:srgbClr val="E7FFE7"/>
            </a:solidFill>
            <a:ln w="12700" cap="sq">
              <a:noFill/>
              <a:miter lim="800000"/>
              <a:headEnd type="none" w="sm" len="sm"/>
              <a:tailEnd type="none" w="sm" len="sm"/>
            </a:ln>
            <a:effectLst>
              <a:outerShdw dist="216273" dir="2414181" algn="ctr" rotWithShape="0">
                <a:srgbClr val="B2B2B2"/>
              </a:outerShdw>
            </a:effectLst>
          </p:spPr>
          <p:txBody>
            <a:bodyPr wrap="none" anchor="ctr"/>
            <a:lstStyle/>
            <a:p>
              <a:endParaRPr lang="zh-CN" altLang="en-US"/>
            </a:p>
          </p:txBody>
        </p:sp>
        <p:sp>
          <p:nvSpPr>
            <p:cNvPr id="66581" name="Oval 32"/>
            <p:cNvSpPr>
              <a:spLocks noChangeArrowheads="1"/>
            </p:cNvSpPr>
            <p:nvPr/>
          </p:nvSpPr>
          <p:spPr bwMode="auto">
            <a:xfrm>
              <a:off x="407" y="337"/>
              <a:ext cx="2448" cy="432"/>
            </a:xfrm>
            <a:prstGeom prst="ellipse">
              <a:avLst/>
            </a:prstGeom>
            <a:solidFill>
              <a:srgbClr val="9CE8E6"/>
            </a:solidFill>
            <a:ln w="12700" cap="sq">
              <a:noFill/>
              <a:round/>
              <a:headEnd type="none" w="sm" len="sm"/>
              <a:tailEnd type="none" w="sm" len="sm"/>
            </a:ln>
            <a:effectLst>
              <a:outerShdw dist="56796" dir="1593903" algn="ctr" rotWithShape="0">
                <a:srgbClr val="B2B2B2"/>
              </a:outerShdw>
            </a:effectLst>
          </p:spPr>
          <p:txBody>
            <a:bodyPr wrap="none" anchor="ctr"/>
            <a:lstStyle/>
            <a:p>
              <a:endParaRPr lang="zh-CN" altLang="en-US"/>
            </a:p>
          </p:txBody>
        </p:sp>
        <p:sp>
          <p:nvSpPr>
            <p:cNvPr id="66582" name="Text Box 33"/>
            <p:cNvSpPr txBox="1">
              <a:spLocks noChangeArrowheads="1"/>
            </p:cNvSpPr>
            <p:nvPr/>
          </p:nvSpPr>
          <p:spPr bwMode="auto">
            <a:xfrm>
              <a:off x="613" y="425"/>
              <a:ext cx="2448" cy="279"/>
            </a:xfrm>
            <a:prstGeom prst="rect">
              <a:avLst/>
            </a:prstGeom>
            <a:noFill/>
            <a:ln w="12700" cap="sq">
              <a:noFill/>
              <a:miter lim="800000"/>
              <a:headEnd type="none" w="sm" len="sm"/>
              <a:tailEnd type="none" w="sm" len="sm"/>
            </a:ln>
          </p:spPr>
          <p:txBody>
            <a:bodyPr>
              <a:spAutoFit/>
            </a:bodyPr>
            <a:lstStyle/>
            <a:p>
              <a:pPr eaLnBrk="1" hangingPunct="1"/>
              <a:r>
                <a:rPr kumimoji="1" lang="en-US" altLang="zh-CN" sz="3100" b="1" dirty="0">
                  <a:solidFill>
                    <a:schemeClr val="accent2"/>
                  </a:solidFill>
                </a:rPr>
                <a:t>(</a:t>
              </a:r>
              <a:r>
                <a:rPr kumimoji="1" lang="zh-CN" altLang="en-US" sz="3100" b="1" dirty="0">
                  <a:solidFill>
                    <a:schemeClr val="accent2"/>
                  </a:solidFill>
                </a:rPr>
                <a:t>二</a:t>
              </a:r>
              <a:r>
                <a:rPr kumimoji="1" lang="en-US" altLang="zh-CN" sz="3100" b="1" dirty="0">
                  <a:solidFill>
                    <a:schemeClr val="accent2"/>
                  </a:solidFill>
                </a:rPr>
                <a:t>)</a:t>
              </a:r>
              <a:r>
                <a:rPr kumimoji="1" lang="zh-CN" altLang="en-US" sz="3100" b="1" dirty="0">
                  <a:solidFill>
                    <a:schemeClr val="accent2"/>
                  </a:solidFill>
                </a:rPr>
                <a:t> 队的基本操作</a:t>
              </a:r>
            </a:p>
          </p:txBody>
        </p:sp>
      </p:grpSp>
      <p:grpSp>
        <p:nvGrpSpPr>
          <p:cNvPr id="25" name="组合 24"/>
          <p:cNvGrpSpPr/>
          <p:nvPr/>
        </p:nvGrpSpPr>
        <p:grpSpPr>
          <a:xfrm>
            <a:off x="2571750" y="973138"/>
            <a:ext cx="4629150" cy="533400"/>
            <a:chOff x="1047750" y="973138"/>
            <a:chExt cx="4629150" cy="533400"/>
          </a:xfrm>
        </p:grpSpPr>
        <p:sp>
          <p:nvSpPr>
            <p:cNvPr id="223267" name="Text Box 35"/>
            <p:cNvSpPr txBox="1">
              <a:spLocks noChangeArrowheads="1"/>
            </p:cNvSpPr>
            <p:nvPr/>
          </p:nvSpPr>
          <p:spPr bwMode="auto">
            <a:xfrm>
              <a:off x="1047750" y="973138"/>
              <a:ext cx="2819400" cy="533400"/>
            </a:xfrm>
            <a:prstGeom prst="rect">
              <a:avLst/>
            </a:prstGeom>
            <a:noFill/>
            <a:ln w="12700" cap="sq">
              <a:noFill/>
              <a:miter lim="800000"/>
              <a:headEnd type="none" w="sm" len="sm"/>
              <a:tailEnd type="none" w="sm" len="sm"/>
            </a:ln>
          </p:spPr>
          <p:txBody>
            <a:bodyPr>
              <a:spAutoFit/>
            </a:bodyPr>
            <a:lstStyle/>
            <a:p>
              <a:pPr eaLnBrk="1" hangingPunct="1"/>
              <a:r>
                <a:rPr kumimoji="1" lang="zh-CN" altLang="zh-CN" sz="2900" b="1" dirty="0">
                  <a:ea typeface="幼圆" pitchFamily="49" charset="-122"/>
                </a:rPr>
                <a:t>1.</a:t>
              </a:r>
              <a:r>
                <a:rPr kumimoji="1" lang="zh-CN" altLang="en-US" sz="2900" b="1" dirty="0">
                  <a:ea typeface="幼圆" pitchFamily="49" charset="-122"/>
                </a:rPr>
                <a:t>  </a:t>
              </a:r>
              <a:r>
                <a:rPr kumimoji="1" lang="zh-CN" altLang="zh-CN" sz="2900" b="1" dirty="0">
                  <a:latin typeface="幼圆" pitchFamily="49" charset="-122"/>
                  <a:ea typeface="幼圆" pitchFamily="49" charset="-122"/>
                </a:rPr>
                <a:t>队的插入</a:t>
              </a:r>
              <a:endParaRPr kumimoji="1" lang="en-US" altLang="zh-CN" sz="2900" b="1" dirty="0">
                <a:ea typeface="幼圆" pitchFamily="49" charset="-122"/>
              </a:endParaRPr>
            </a:p>
          </p:txBody>
        </p:sp>
        <p:sp>
          <p:nvSpPr>
            <p:cNvPr id="223268" name="Text Box 36"/>
            <p:cNvSpPr txBox="1">
              <a:spLocks noChangeArrowheads="1"/>
            </p:cNvSpPr>
            <p:nvPr/>
          </p:nvSpPr>
          <p:spPr bwMode="auto">
            <a:xfrm>
              <a:off x="3238500" y="973138"/>
              <a:ext cx="2438400" cy="473075"/>
            </a:xfrm>
            <a:prstGeom prst="rect">
              <a:avLst/>
            </a:prstGeom>
            <a:noFill/>
            <a:ln w="12700" cap="sq">
              <a:noFill/>
              <a:miter lim="800000"/>
              <a:headEnd type="none" w="sm" len="sm"/>
              <a:tailEnd type="none" w="sm" len="sm"/>
            </a:ln>
          </p:spPr>
          <p:txBody>
            <a:bodyPr>
              <a:spAutoFit/>
            </a:bodyPr>
            <a:lstStyle/>
            <a:p>
              <a:pPr eaLnBrk="1" hangingPunct="1"/>
              <a:r>
                <a:rPr kumimoji="1" lang="zh-CN" altLang="zh-CN" sz="2500" b="1" dirty="0">
                  <a:solidFill>
                    <a:srgbClr val="FF3300"/>
                  </a:solidFill>
                  <a:ea typeface="幼圆" pitchFamily="49" charset="-122"/>
                </a:rPr>
                <a:t>（进队、入队）</a:t>
              </a:r>
              <a:endParaRPr kumimoji="1" lang="en-US" altLang="zh-CN" sz="2500" b="1" dirty="0">
                <a:solidFill>
                  <a:srgbClr val="FF3300"/>
                </a:solidFill>
                <a:ea typeface="幼圆" pitchFamily="49" charset="-122"/>
              </a:endParaRPr>
            </a:p>
          </p:txBody>
        </p:sp>
      </p:grpSp>
      <p:sp>
        <p:nvSpPr>
          <p:cNvPr id="223269" name="Text Box 37"/>
          <p:cNvSpPr txBox="1">
            <a:spLocks noChangeArrowheads="1"/>
          </p:cNvSpPr>
          <p:nvPr/>
        </p:nvSpPr>
        <p:spPr bwMode="auto">
          <a:xfrm>
            <a:off x="2571750" y="1793875"/>
            <a:ext cx="5619750" cy="533400"/>
          </a:xfrm>
          <a:prstGeom prst="rect">
            <a:avLst/>
          </a:prstGeom>
          <a:noFill/>
          <a:ln w="12700" cap="sq">
            <a:noFill/>
            <a:miter lim="800000"/>
            <a:headEnd type="none" w="sm" len="sm"/>
            <a:tailEnd type="none" w="sm" len="sm"/>
          </a:ln>
        </p:spPr>
        <p:txBody>
          <a:bodyPr>
            <a:spAutoFit/>
          </a:bodyPr>
          <a:lstStyle/>
          <a:p>
            <a:pPr eaLnBrk="1" hangingPunct="1"/>
            <a:r>
              <a:rPr kumimoji="1" lang="zh-CN" altLang="en-US" sz="2900" b="1" dirty="0"/>
              <a:t>3.  </a:t>
            </a:r>
            <a:r>
              <a:rPr kumimoji="1" lang="zh-CN" altLang="en-US" sz="2900" b="1" dirty="0">
                <a:ea typeface="幼圆" pitchFamily="49" charset="-122"/>
              </a:rPr>
              <a:t>测试队是否为空</a:t>
            </a:r>
            <a:endParaRPr kumimoji="1" lang="en-US" altLang="zh-CN" sz="2900" b="1" dirty="0"/>
          </a:p>
        </p:txBody>
      </p:sp>
      <p:grpSp>
        <p:nvGrpSpPr>
          <p:cNvPr id="26" name="组合 25"/>
          <p:cNvGrpSpPr/>
          <p:nvPr/>
        </p:nvGrpSpPr>
        <p:grpSpPr>
          <a:xfrm>
            <a:off x="2571750" y="1371600"/>
            <a:ext cx="4648200" cy="533400"/>
            <a:chOff x="1047750" y="1371600"/>
            <a:chExt cx="4648200" cy="533400"/>
          </a:xfrm>
        </p:grpSpPr>
        <p:sp>
          <p:nvSpPr>
            <p:cNvPr id="223270" name="Text Box 38"/>
            <p:cNvSpPr txBox="1">
              <a:spLocks noChangeArrowheads="1"/>
            </p:cNvSpPr>
            <p:nvPr/>
          </p:nvSpPr>
          <p:spPr bwMode="auto">
            <a:xfrm>
              <a:off x="1047750" y="1371600"/>
              <a:ext cx="2971800" cy="533400"/>
            </a:xfrm>
            <a:prstGeom prst="rect">
              <a:avLst/>
            </a:prstGeom>
            <a:noFill/>
            <a:ln w="12700" cap="sq">
              <a:noFill/>
              <a:miter lim="800000"/>
              <a:headEnd type="none" w="sm" len="sm"/>
              <a:tailEnd type="none" w="sm" len="sm"/>
            </a:ln>
          </p:spPr>
          <p:txBody>
            <a:bodyPr>
              <a:spAutoFit/>
            </a:bodyPr>
            <a:lstStyle/>
            <a:p>
              <a:pPr eaLnBrk="1" hangingPunct="1"/>
              <a:r>
                <a:rPr kumimoji="1" lang="zh-CN" altLang="en-US" sz="2900" b="1" dirty="0"/>
                <a:t>2.  </a:t>
              </a:r>
              <a:r>
                <a:rPr kumimoji="1" lang="zh-CN" altLang="en-US" sz="2900" b="1" dirty="0">
                  <a:ea typeface="幼圆" pitchFamily="49" charset="-122"/>
                </a:rPr>
                <a:t>队的删除</a:t>
              </a:r>
              <a:endParaRPr kumimoji="1" lang="en-US" altLang="zh-CN" sz="2900" b="1" dirty="0"/>
            </a:p>
          </p:txBody>
        </p:sp>
        <p:sp>
          <p:nvSpPr>
            <p:cNvPr id="223271" name="Text Box 39"/>
            <p:cNvSpPr txBox="1">
              <a:spLocks noChangeArrowheads="1"/>
            </p:cNvSpPr>
            <p:nvPr/>
          </p:nvSpPr>
          <p:spPr bwMode="auto">
            <a:xfrm>
              <a:off x="3257550" y="1371600"/>
              <a:ext cx="2438400" cy="473075"/>
            </a:xfrm>
            <a:prstGeom prst="rect">
              <a:avLst/>
            </a:prstGeom>
            <a:noFill/>
            <a:ln w="12700" cap="sq">
              <a:noFill/>
              <a:miter lim="800000"/>
              <a:headEnd type="none" w="sm" len="sm"/>
              <a:tailEnd type="none" w="sm" len="sm"/>
            </a:ln>
          </p:spPr>
          <p:txBody>
            <a:bodyPr>
              <a:spAutoFit/>
            </a:bodyPr>
            <a:lstStyle/>
            <a:p>
              <a:pPr eaLnBrk="1" hangingPunct="1"/>
              <a:r>
                <a:rPr kumimoji="1" lang="zh-CN" altLang="zh-CN" sz="2500" b="1">
                  <a:solidFill>
                    <a:srgbClr val="FF3300"/>
                  </a:solidFill>
                  <a:ea typeface="幼圆" pitchFamily="49" charset="-122"/>
                </a:rPr>
                <a:t>（出队、退队）</a:t>
              </a:r>
              <a:endParaRPr kumimoji="1" lang="en-US" altLang="zh-CN" sz="2500" b="1">
                <a:solidFill>
                  <a:srgbClr val="FF3300"/>
                </a:solidFill>
                <a:ea typeface="幼圆" pitchFamily="49" charset="-122"/>
              </a:endParaRPr>
            </a:p>
          </p:txBody>
        </p:sp>
      </p:grpSp>
      <p:grpSp>
        <p:nvGrpSpPr>
          <p:cNvPr id="24" name="组合 23"/>
          <p:cNvGrpSpPr/>
          <p:nvPr/>
        </p:nvGrpSpPr>
        <p:grpSpPr>
          <a:xfrm>
            <a:off x="2600325" y="2724176"/>
            <a:ext cx="5467350" cy="967421"/>
            <a:chOff x="1076325" y="2724175"/>
            <a:chExt cx="5467350" cy="967421"/>
          </a:xfrm>
        </p:grpSpPr>
        <p:sp>
          <p:nvSpPr>
            <p:cNvPr id="223272" name="Text Box 40"/>
            <p:cNvSpPr txBox="1">
              <a:spLocks noChangeArrowheads="1"/>
            </p:cNvSpPr>
            <p:nvPr/>
          </p:nvSpPr>
          <p:spPr bwMode="auto">
            <a:xfrm>
              <a:off x="1076325" y="2724175"/>
              <a:ext cx="4362450" cy="533400"/>
            </a:xfrm>
            <a:prstGeom prst="rect">
              <a:avLst/>
            </a:prstGeom>
            <a:noFill/>
            <a:ln w="12700" cap="sq">
              <a:noFill/>
              <a:miter lim="800000"/>
              <a:headEnd type="none" w="sm" len="sm"/>
              <a:tailEnd type="none" w="sm" len="sm"/>
            </a:ln>
          </p:spPr>
          <p:txBody>
            <a:bodyPr>
              <a:spAutoFit/>
            </a:bodyPr>
            <a:lstStyle/>
            <a:p>
              <a:pPr eaLnBrk="1" hangingPunct="1"/>
              <a:r>
                <a:rPr kumimoji="1" lang="en-US" altLang="zh-CN" sz="2900" b="1" dirty="0">
                  <a:solidFill>
                    <a:srgbClr val="002C84"/>
                  </a:solidFill>
                </a:rPr>
                <a:t>5</a:t>
              </a:r>
              <a:r>
                <a:rPr kumimoji="1" lang="zh-CN" altLang="en-US" sz="2900" b="1" dirty="0">
                  <a:solidFill>
                    <a:srgbClr val="002C84"/>
                  </a:solidFill>
                </a:rPr>
                <a:t>.  </a:t>
              </a:r>
              <a:r>
                <a:rPr kumimoji="1" lang="zh-CN" altLang="en-US" sz="2900" b="1" dirty="0">
                  <a:solidFill>
                    <a:srgbClr val="002C84"/>
                  </a:solidFill>
                  <a:ea typeface="幼圆" pitchFamily="49" charset="-122"/>
                </a:rPr>
                <a:t>检索当前队头元素</a:t>
              </a:r>
              <a:endParaRPr kumimoji="1" lang="en-US" altLang="zh-CN" sz="2900" b="1" dirty="0">
                <a:solidFill>
                  <a:srgbClr val="002C84"/>
                </a:solidFill>
              </a:endParaRPr>
            </a:p>
          </p:txBody>
        </p:sp>
        <p:sp>
          <p:nvSpPr>
            <p:cNvPr id="223273" name="Text Box 41"/>
            <p:cNvSpPr txBox="1">
              <a:spLocks noChangeArrowheads="1"/>
            </p:cNvSpPr>
            <p:nvPr/>
          </p:nvSpPr>
          <p:spPr bwMode="auto">
            <a:xfrm>
              <a:off x="1076325" y="3158196"/>
              <a:ext cx="5467350" cy="533400"/>
            </a:xfrm>
            <a:prstGeom prst="rect">
              <a:avLst/>
            </a:prstGeom>
            <a:noFill/>
            <a:ln w="12700" cap="sq">
              <a:noFill/>
              <a:miter lim="800000"/>
              <a:headEnd type="none" w="sm" len="sm"/>
              <a:tailEnd type="none" w="sm" len="sm"/>
            </a:ln>
          </p:spPr>
          <p:txBody>
            <a:bodyPr>
              <a:spAutoFit/>
            </a:bodyPr>
            <a:lstStyle/>
            <a:p>
              <a:pPr eaLnBrk="1" hangingPunct="1"/>
              <a:r>
                <a:rPr kumimoji="1" lang="en-US" altLang="zh-CN" sz="2900" b="1" dirty="0">
                  <a:solidFill>
                    <a:srgbClr val="002C84"/>
                  </a:solidFill>
                </a:rPr>
                <a:t>6</a:t>
              </a:r>
              <a:r>
                <a:rPr kumimoji="1" lang="zh-CN" altLang="en-US" sz="2900" b="1" dirty="0">
                  <a:solidFill>
                    <a:srgbClr val="002C84"/>
                  </a:solidFill>
                </a:rPr>
                <a:t>.  </a:t>
              </a:r>
              <a:r>
                <a:rPr kumimoji="1" lang="zh-CN" altLang="en-US" sz="2900" b="1" dirty="0">
                  <a:solidFill>
                    <a:srgbClr val="002C84"/>
                  </a:solidFill>
                  <a:ea typeface="幼圆" pitchFamily="49" charset="-122"/>
                </a:rPr>
                <a:t>创建一个空队</a:t>
              </a:r>
              <a:endParaRPr kumimoji="1" lang="en-US" altLang="zh-CN" sz="2900" b="1" dirty="0">
                <a:solidFill>
                  <a:srgbClr val="002C84"/>
                </a:solidFill>
              </a:endParaRPr>
            </a:p>
          </p:txBody>
        </p:sp>
      </p:grpSp>
      <p:grpSp>
        <p:nvGrpSpPr>
          <p:cNvPr id="3" name="Group 46"/>
          <p:cNvGrpSpPr>
            <a:grpSpLocks/>
          </p:cNvGrpSpPr>
          <p:nvPr/>
        </p:nvGrpSpPr>
        <p:grpSpPr bwMode="auto">
          <a:xfrm>
            <a:off x="7143751" y="990600"/>
            <a:ext cx="644525" cy="1238250"/>
            <a:chOff x="3648" y="816"/>
            <a:chExt cx="406" cy="780"/>
          </a:xfrm>
        </p:grpSpPr>
        <p:sp>
          <p:nvSpPr>
            <p:cNvPr id="66577" name="Text Box 43"/>
            <p:cNvSpPr txBox="1">
              <a:spLocks noChangeArrowheads="1"/>
            </p:cNvSpPr>
            <p:nvPr/>
          </p:nvSpPr>
          <p:spPr bwMode="auto">
            <a:xfrm rot="545442">
              <a:off x="3648" y="816"/>
              <a:ext cx="394" cy="233"/>
            </a:xfrm>
            <a:prstGeom prst="rect">
              <a:avLst/>
            </a:prstGeom>
            <a:noFill/>
            <a:ln w="12700" cap="sq">
              <a:noFill/>
              <a:miter lim="800000"/>
              <a:headEnd type="none" w="sm" len="sm"/>
              <a:tailEnd type="none" w="sm" len="sm"/>
            </a:ln>
          </p:spPr>
          <p:txBody>
            <a:bodyPr>
              <a:spAutoFit/>
            </a:bodyPr>
            <a:lstStyle/>
            <a:p>
              <a:r>
                <a:rPr lang="zh-CN" altLang="en-US" b="1">
                  <a:solidFill>
                    <a:srgbClr val="FF3300"/>
                  </a:solidFill>
                  <a:sym typeface="Symbol" pitchFamily="18" charset="2"/>
                </a:rPr>
                <a:t></a:t>
              </a:r>
              <a:endParaRPr lang="zh-CN" altLang="en-US" b="1">
                <a:solidFill>
                  <a:srgbClr val="FF3300"/>
                </a:solidFill>
              </a:endParaRPr>
            </a:p>
          </p:txBody>
        </p:sp>
        <p:sp>
          <p:nvSpPr>
            <p:cNvPr id="66578" name="Text Box 44"/>
            <p:cNvSpPr txBox="1">
              <a:spLocks noChangeArrowheads="1"/>
            </p:cNvSpPr>
            <p:nvPr/>
          </p:nvSpPr>
          <p:spPr bwMode="auto">
            <a:xfrm rot="545442">
              <a:off x="3660" y="1075"/>
              <a:ext cx="394" cy="233"/>
            </a:xfrm>
            <a:prstGeom prst="rect">
              <a:avLst/>
            </a:prstGeom>
            <a:noFill/>
            <a:ln w="12700" cap="sq">
              <a:noFill/>
              <a:miter lim="800000"/>
              <a:headEnd type="none" w="sm" len="sm"/>
              <a:tailEnd type="none" w="sm" len="sm"/>
            </a:ln>
          </p:spPr>
          <p:txBody>
            <a:bodyPr>
              <a:spAutoFit/>
            </a:bodyPr>
            <a:lstStyle/>
            <a:p>
              <a:r>
                <a:rPr lang="zh-CN" altLang="en-US" b="1">
                  <a:solidFill>
                    <a:srgbClr val="FF3300"/>
                  </a:solidFill>
                  <a:sym typeface="Symbol" pitchFamily="18" charset="2"/>
                </a:rPr>
                <a:t></a:t>
              </a:r>
              <a:endParaRPr lang="zh-CN" altLang="en-US" b="1">
                <a:solidFill>
                  <a:srgbClr val="FF3300"/>
                </a:solidFill>
              </a:endParaRPr>
            </a:p>
          </p:txBody>
        </p:sp>
        <p:sp>
          <p:nvSpPr>
            <p:cNvPr id="66579" name="Text Box 45"/>
            <p:cNvSpPr txBox="1">
              <a:spLocks noChangeArrowheads="1"/>
            </p:cNvSpPr>
            <p:nvPr/>
          </p:nvSpPr>
          <p:spPr bwMode="auto">
            <a:xfrm rot="545442">
              <a:off x="3660" y="1363"/>
              <a:ext cx="394" cy="233"/>
            </a:xfrm>
            <a:prstGeom prst="rect">
              <a:avLst/>
            </a:prstGeom>
            <a:noFill/>
            <a:ln w="12700" cap="sq">
              <a:noFill/>
              <a:miter lim="800000"/>
              <a:headEnd type="none" w="sm" len="sm"/>
              <a:tailEnd type="none" w="sm" len="sm"/>
            </a:ln>
          </p:spPr>
          <p:txBody>
            <a:bodyPr>
              <a:spAutoFit/>
            </a:bodyPr>
            <a:lstStyle/>
            <a:p>
              <a:r>
                <a:rPr lang="zh-CN" altLang="en-US" b="1" dirty="0">
                  <a:solidFill>
                    <a:srgbClr val="FF3300"/>
                  </a:solidFill>
                  <a:sym typeface="Symbol" pitchFamily="18" charset="2"/>
                </a:rPr>
                <a:t></a:t>
              </a:r>
              <a:endParaRPr lang="zh-CN" altLang="en-US" b="1" dirty="0">
                <a:solidFill>
                  <a:srgbClr val="FF3300"/>
                </a:solidFill>
              </a:endParaRPr>
            </a:p>
          </p:txBody>
        </p:sp>
      </p:grpSp>
      <p:grpSp>
        <p:nvGrpSpPr>
          <p:cNvPr id="23" name="组合 22"/>
          <p:cNvGrpSpPr/>
          <p:nvPr/>
        </p:nvGrpSpPr>
        <p:grpSpPr>
          <a:xfrm>
            <a:off x="2390577" y="4222775"/>
            <a:ext cx="6246813" cy="2133600"/>
            <a:chOff x="2286000" y="3581400"/>
            <a:chExt cx="6246813" cy="2133600"/>
          </a:xfrm>
        </p:grpSpPr>
        <p:grpSp>
          <p:nvGrpSpPr>
            <p:cNvPr id="4" name="Group 49"/>
            <p:cNvGrpSpPr>
              <a:grpSpLocks/>
            </p:cNvGrpSpPr>
            <p:nvPr/>
          </p:nvGrpSpPr>
          <p:grpSpPr bwMode="auto">
            <a:xfrm>
              <a:off x="2286000" y="3581400"/>
              <a:ext cx="6019800" cy="2133600"/>
              <a:chOff x="1584" y="2352"/>
              <a:chExt cx="3792" cy="1344"/>
            </a:xfrm>
          </p:grpSpPr>
          <p:sp>
            <p:nvSpPr>
              <p:cNvPr id="66574" name="Rectangle 14"/>
              <p:cNvSpPr>
                <a:spLocks noChangeArrowheads="1"/>
              </p:cNvSpPr>
              <p:nvPr/>
            </p:nvSpPr>
            <p:spPr bwMode="auto">
              <a:xfrm>
                <a:off x="1584" y="2352"/>
                <a:ext cx="3792" cy="1344"/>
              </a:xfrm>
              <a:prstGeom prst="rect">
                <a:avLst/>
              </a:prstGeom>
              <a:solidFill>
                <a:srgbClr val="CCFFFF"/>
              </a:solidFill>
              <a:ln w="12700" cap="sq">
                <a:noFill/>
                <a:miter lim="800000"/>
                <a:headEnd type="none" w="sm" len="sm"/>
                <a:tailEnd type="none" w="sm" len="sm"/>
              </a:ln>
              <a:effectLst>
                <a:outerShdw dist="224686" dir="2562563" algn="ctr" rotWithShape="0">
                  <a:srgbClr val="B2B2B2"/>
                </a:outerShdw>
              </a:effectLst>
            </p:spPr>
            <p:txBody>
              <a:bodyPr wrap="none" anchor="ctr"/>
              <a:lstStyle/>
              <a:p>
                <a:endParaRPr lang="zh-CN" altLang="en-US"/>
              </a:p>
            </p:txBody>
          </p:sp>
          <p:sp>
            <p:nvSpPr>
              <p:cNvPr id="66575" name="Oval 47"/>
              <p:cNvSpPr>
                <a:spLocks noChangeArrowheads="1"/>
              </p:cNvSpPr>
              <p:nvPr/>
            </p:nvSpPr>
            <p:spPr bwMode="auto">
              <a:xfrm>
                <a:off x="1776" y="2645"/>
                <a:ext cx="432" cy="816"/>
              </a:xfrm>
              <a:prstGeom prst="ellipse">
                <a:avLst/>
              </a:prstGeom>
              <a:solidFill>
                <a:srgbClr val="CDE6FF"/>
              </a:solidFill>
              <a:ln w="12700" cap="sq">
                <a:noFill/>
                <a:round/>
                <a:headEnd type="none" w="sm" len="sm"/>
                <a:tailEnd type="none" w="sm" len="sm"/>
              </a:ln>
              <a:effectLst>
                <a:outerShdw dist="45791" dir="2021404" algn="ctr" rotWithShape="0">
                  <a:srgbClr val="B2B2B2"/>
                </a:outerShdw>
              </a:effectLst>
            </p:spPr>
            <p:txBody>
              <a:bodyPr wrap="none" anchor="ctr"/>
              <a:lstStyle/>
              <a:p>
                <a:endParaRPr lang="zh-CN" altLang="en-US"/>
              </a:p>
            </p:txBody>
          </p:sp>
          <p:sp>
            <p:nvSpPr>
              <p:cNvPr id="66576" name="Rectangle 48"/>
              <p:cNvSpPr>
                <a:spLocks noChangeArrowheads="1"/>
              </p:cNvSpPr>
              <p:nvPr/>
            </p:nvSpPr>
            <p:spPr bwMode="auto">
              <a:xfrm>
                <a:off x="1805" y="2640"/>
                <a:ext cx="365" cy="817"/>
              </a:xfrm>
              <a:prstGeom prst="rect">
                <a:avLst/>
              </a:prstGeom>
              <a:noFill/>
              <a:ln w="12700" cap="sq">
                <a:noFill/>
                <a:miter lim="800000"/>
                <a:headEnd type="none" w="sm" len="sm"/>
                <a:tailEnd type="none" w="sm" len="sm"/>
              </a:ln>
              <a:effectLst>
                <a:outerShdw dist="17961" dir="2700000" algn="ctr" rotWithShape="0">
                  <a:schemeClr val="bg1"/>
                </a:outerShdw>
              </a:effectLst>
            </p:spPr>
            <p:txBody>
              <a:bodyPr wrap="none">
                <a:spAutoFit/>
              </a:bodyPr>
              <a:lstStyle/>
              <a:p>
                <a:pPr>
                  <a:lnSpc>
                    <a:spcPct val="85000"/>
                  </a:lnSpc>
                </a:pPr>
                <a:r>
                  <a:rPr lang="zh-CN" altLang="en-US" sz="3100" b="1">
                    <a:solidFill>
                      <a:srgbClr val="FF3300"/>
                    </a:solidFill>
                    <a:ea typeface="黑体" pitchFamily="2" charset="-122"/>
                  </a:rPr>
                  <a:t>特</a:t>
                </a:r>
              </a:p>
              <a:p>
                <a:pPr>
                  <a:lnSpc>
                    <a:spcPct val="85000"/>
                  </a:lnSpc>
                </a:pPr>
                <a:r>
                  <a:rPr lang="zh-CN" altLang="en-US" sz="3100" b="1">
                    <a:solidFill>
                      <a:srgbClr val="FF3300"/>
                    </a:solidFill>
                    <a:ea typeface="黑体" pitchFamily="2" charset="-122"/>
                  </a:rPr>
                  <a:t>殊</a:t>
                </a:r>
              </a:p>
              <a:p>
                <a:pPr>
                  <a:lnSpc>
                    <a:spcPct val="85000"/>
                  </a:lnSpc>
                </a:pPr>
                <a:r>
                  <a:rPr lang="zh-CN" altLang="en-US" sz="3100" b="1">
                    <a:solidFill>
                      <a:srgbClr val="FF3300"/>
                    </a:solidFill>
                    <a:ea typeface="黑体" pitchFamily="2" charset="-122"/>
                  </a:rPr>
                  <a:t>性</a:t>
                </a:r>
                <a:endParaRPr lang="zh-CN" altLang="en-US" sz="3100" b="1">
                  <a:solidFill>
                    <a:srgbClr val="FF3300"/>
                  </a:solidFill>
                </a:endParaRPr>
              </a:p>
            </p:txBody>
          </p:sp>
        </p:grpSp>
        <p:sp>
          <p:nvSpPr>
            <p:cNvPr id="223282" name="Text Box 50"/>
            <p:cNvSpPr txBox="1">
              <a:spLocks noChangeArrowheads="1"/>
            </p:cNvSpPr>
            <p:nvPr/>
          </p:nvSpPr>
          <p:spPr bwMode="auto">
            <a:xfrm>
              <a:off x="3581400" y="3886200"/>
              <a:ext cx="4951413" cy="819150"/>
            </a:xfrm>
            <a:prstGeom prst="rect">
              <a:avLst/>
            </a:prstGeom>
            <a:noFill/>
            <a:ln w="12700" cap="sq">
              <a:noFill/>
              <a:miter lim="800000"/>
              <a:headEnd type="none" w="sm" len="sm"/>
              <a:tailEnd type="none" w="sm" len="sm"/>
            </a:ln>
          </p:spPr>
          <p:txBody>
            <a:bodyPr>
              <a:spAutoFit/>
            </a:bodyPr>
            <a:lstStyle/>
            <a:p>
              <a:pPr>
                <a:lnSpc>
                  <a:spcPct val="85000"/>
                </a:lnSpc>
              </a:pPr>
              <a:r>
                <a:rPr lang="zh-CN" altLang="en-US" sz="2800" b="1" dirty="0">
                  <a:solidFill>
                    <a:srgbClr val="002C84"/>
                  </a:solidFill>
                  <a:ea typeface="幼圆" pitchFamily="49" charset="-122"/>
                </a:rPr>
                <a:t>1.</a:t>
              </a:r>
              <a:r>
                <a:rPr lang="zh-CN" altLang="en-US" sz="2800" b="1" dirty="0">
                  <a:solidFill>
                    <a:srgbClr val="002C84"/>
                  </a:solidFill>
                  <a:latin typeface="幼圆" pitchFamily="49" charset="-122"/>
                  <a:ea typeface="幼圆" pitchFamily="49" charset="-122"/>
                </a:rPr>
                <a:t> 其操作仅是一般线性表</a:t>
              </a:r>
            </a:p>
            <a:p>
              <a:pPr>
                <a:lnSpc>
                  <a:spcPct val="85000"/>
                </a:lnSpc>
              </a:pPr>
              <a:r>
                <a:rPr lang="zh-CN" altLang="en-US" sz="2800" b="1" dirty="0">
                  <a:solidFill>
                    <a:srgbClr val="002C84"/>
                  </a:solidFill>
                  <a:latin typeface="幼圆" pitchFamily="49" charset="-122"/>
                  <a:ea typeface="幼圆" pitchFamily="49" charset="-122"/>
                </a:rPr>
                <a:t>   的操作的一个子集。</a:t>
              </a:r>
            </a:p>
          </p:txBody>
        </p:sp>
        <p:sp>
          <p:nvSpPr>
            <p:cNvPr id="223283" name="Text Box 51"/>
            <p:cNvSpPr txBox="1">
              <a:spLocks noChangeArrowheads="1"/>
            </p:cNvSpPr>
            <p:nvPr/>
          </p:nvSpPr>
          <p:spPr bwMode="auto">
            <a:xfrm>
              <a:off x="3579813" y="4689475"/>
              <a:ext cx="4649787" cy="819150"/>
            </a:xfrm>
            <a:prstGeom prst="rect">
              <a:avLst/>
            </a:prstGeom>
            <a:noFill/>
            <a:ln w="12700" cap="sq">
              <a:noFill/>
              <a:miter lim="800000"/>
              <a:headEnd type="none" w="sm" len="sm"/>
              <a:tailEnd type="none" w="sm" len="sm"/>
            </a:ln>
          </p:spPr>
          <p:txBody>
            <a:bodyPr>
              <a:spAutoFit/>
            </a:bodyPr>
            <a:lstStyle/>
            <a:p>
              <a:pPr>
                <a:lnSpc>
                  <a:spcPct val="85000"/>
                </a:lnSpc>
              </a:pPr>
              <a:r>
                <a:rPr lang="zh-CN" altLang="en-US" sz="2800" b="1">
                  <a:solidFill>
                    <a:srgbClr val="002C84"/>
                  </a:solidFill>
                  <a:ea typeface="幼圆" pitchFamily="49" charset="-122"/>
                </a:rPr>
                <a:t>2.</a:t>
              </a:r>
              <a:r>
                <a:rPr lang="zh-CN" altLang="en-US" sz="2800" b="1">
                  <a:solidFill>
                    <a:srgbClr val="002C84"/>
                  </a:solidFill>
                  <a:latin typeface="幼圆" pitchFamily="49" charset="-122"/>
                  <a:ea typeface="幼圆" pitchFamily="49" charset="-122"/>
                </a:rPr>
                <a:t> 插入和删除操作的位置</a:t>
              </a:r>
            </a:p>
            <a:p>
              <a:pPr>
                <a:lnSpc>
                  <a:spcPct val="85000"/>
                </a:lnSpc>
              </a:pPr>
              <a:r>
                <a:rPr lang="zh-CN" altLang="en-US" sz="2800" b="1">
                  <a:solidFill>
                    <a:srgbClr val="002C84"/>
                  </a:solidFill>
                  <a:latin typeface="幼圆" pitchFamily="49" charset="-122"/>
                  <a:ea typeface="幼圆" pitchFamily="49" charset="-122"/>
                </a:rPr>
                <a:t>   受到限制。</a:t>
              </a:r>
            </a:p>
          </p:txBody>
        </p:sp>
      </p:grpSp>
      <p:sp>
        <p:nvSpPr>
          <p:cNvPr id="27" name="Text Box 37">
            <a:extLst>
              <a:ext uri="{FF2B5EF4-FFF2-40B4-BE49-F238E27FC236}">
                <a16:creationId xmlns:a16="http://schemas.microsoft.com/office/drawing/2014/main" id="{704816BB-7B53-4CCB-8D93-672F23937AE1}"/>
              </a:ext>
            </a:extLst>
          </p:cNvPr>
          <p:cNvSpPr txBox="1">
            <a:spLocks noChangeArrowheads="1"/>
          </p:cNvSpPr>
          <p:nvPr/>
        </p:nvSpPr>
        <p:spPr bwMode="auto">
          <a:xfrm>
            <a:off x="2579914" y="2235862"/>
            <a:ext cx="5619750" cy="533400"/>
          </a:xfrm>
          <a:prstGeom prst="rect">
            <a:avLst/>
          </a:prstGeom>
          <a:noFill/>
          <a:ln w="12700" cap="sq">
            <a:noFill/>
            <a:miter lim="800000"/>
            <a:headEnd type="none" w="sm" len="sm"/>
            <a:tailEnd type="none" w="sm" len="sm"/>
          </a:ln>
        </p:spPr>
        <p:txBody>
          <a:bodyPr>
            <a:spAutoFit/>
          </a:bodyPr>
          <a:lstStyle/>
          <a:p>
            <a:pPr eaLnBrk="1" hangingPunct="1"/>
            <a:r>
              <a:rPr kumimoji="1" lang="en-US" altLang="zh-CN" sz="2900" b="1" dirty="0"/>
              <a:t>4</a:t>
            </a:r>
            <a:r>
              <a:rPr kumimoji="1" lang="zh-CN" altLang="en-US" sz="2900" b="1" dirty="0"/>
              <a:t>.  </a:t>
            </a:r>
            <a:r>
              <a:rPr kumimoji="1" lang="zh-CN" altLang="en-US" sz="2900" b="1" dirty="0">
                <a:ea typeface="幼圆" pitchFamily="49" charset="-122"/>
              </a:rPr>
              <a:t>测试队是否为满</a:t>
            </a:r>
            <a:endParaRPr kumimoji="1" lang="en-US" altLang="zh-CN" sz="2900" b="1" dirty="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linds(horizontal)">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blinds(horizontal)">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3269"/>
                                        </p:tgtEl>
                                        <p:attrNameLst>
                                          <p:attrName>style.visibility</p:attrName>
                                        </p:attrNameLst>
                                      </p:cBhvr>
                                      <p:to>
                                        <p:strVal val="visible"/>
                                      </p:to>
                                    </p:set>
                                    <p:animEffect transition="in" filter="wipe(left)">
                                      <p:cBhvr>
                                        <p:cTn id="17" dur="500"/>
                                        <p:tgtEl>
                                          <p:spTgt spid="22326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left)">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up)">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blinds(horizontal)">
                                      <p:cBhvr>
                                        <p:cTn id="32"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blinds(horizontal)">
                                      <p:cBhvr>
                                        <p:cTn id="3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69" grpId="0" autoUpdateAnimBg="0"/>
      <p:bldP spid="27"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4432DE-EDA9-495E-B585-B1BA93D9079B}"/>
              </a:ext>
            </a:extLst>
          </p:cNvPr>
          <p:cNvSpPr>
            <a:spLocks noGrp="1"/>
          </p:cNvSpPr>
          <p:nvPr>
            <p:ph type="title"/>
          </p:nvPr>
        </p:nvSpPr>
        <p:spPr/>
        <p:txBody>
          <a:bodyPr/>
          <a:lstStyle/>
          <a:p>
            <a:r>
              <a:rPr kumimoji="1" lang="zh-CN" altLang="en-US" sz="3600" dirty="0">
                <a:solidFill>
                  <a:schemeClr val="tx1"/>
                </a:solidFill>
              </a:rPr>
              <a:t>队列的基本操作</a:t>
            </a:r>
            <a:endParaRPr lang="zh-CN" altLang="en-US" dirty="0"/>
          </a:p>
        </p:txBody>
      </p:sp>
      <p:sp>
        <p:nvSpPr>
          <p:cNvPr id="3" name="内容占位符 2">
            <a:extLst>
              <a:ext uri="{FF2B5EF4-FFF2-40B4-BE49-F238E27FC236}">
                <a16:creationId xmlns:a16="http://schemas.microsoft.com/office/drawing/2014/main" id="{6B432BCD-D115-4F8B-BD82-3AA71E04E645}"/>
              </a:ext>
            </a:extLst>
          </p:cNvPr>
          <p:cNvSpPr>
            <a:spLocks noGrp="1"/>
          </p:cNvSpPr>
          <p:nvPr>
            <p:ph idx="1"/>
          </p:nvPr>
        </p:nvSpPr>
        <p:spPr/>
        <p:txBody>
          <a:bodyPr/>
          <a:lstStyle/>
          <a:p>
            <a:pPr marL="266700" indent="-266700"/>
            <a:r>
              <a:rPr lang="en-US" altLang="zh-CN" sz="2000" b="0" dirty="0"/>
              <a:t>void </a:t>
            </a:r>
            <a:r>
              <a:rPr lang="en-US" altLang="zh-CN" sz="2000" b="0" dirty="0" err="1"/>
              <a:t>enQueue</a:t>
            </a:r>
            <a:r>
              <a:rPr lang="en-US" altLang="zh-CN" sz="2000" b="0" dirty="0"/>
              <a:t>(Queue q, </a:t>
            </a:r>
            <a:r>
              <a:rPr lang="en-US" altLang="zh-CN" sz="2000" b="0" dirty="0" err="1"/>
              <a:t>ElemType</a:t>
            </a:r>
            <a:r>
              <a:rPr lang="en-US" altLang="zh-CN" sz="2000" b="0" dirty="0"/>
              <a:t> ); 	//</a:t>
            </a:r>
            <a:r>
              <a:rPr lang="zh-CN" altLang="en-US" sz="2000" b="0" dirty="0"/>
              <a:t>元素进队，即在队尾插入一  个元素</a:t>
            </a:r>
            <a:endParaRPr lang="en-US" altLang="zh-CN" sz="2000" b="0" dirty="0"/>
          </a:p>
          <a:p>
            <a:r>
              <a:rPr lang="en-US" altLang="zh-CN" sz="2000" b="0" dirty="0" err="1"/>
              <a:t>ElemType</a:t>
            </a:r>
            <a:r>
              <a:rPr lang="en-US" altLang="zh-CN" sz="2000" b="0" dirty="0"/>
              <a:t> </a:t>
            </a:r>
            <a:r>
              <a:rPr lang="en-US" altLang="zh-CN" sz="2000" b="0" dirty="0" err="1"/>
              <a:t>deQueue</a:t>
            </a:r>
            <a:r>
              <a:rPr lang="en-US" altLang="zh-CN" sz="2000" b="0" dirty="0"/>
              <a:t>(Queue q); 		//</a:t>
            </a:r>
            <a:r>
              <a:rPr lang="zh-CN" altLang="en-US" sz="2000" b="0" dirty="0"/>
              <a:t>元素出队，即队头删除一个元素</a:t>
            </a:r>
            <a:endParaRPr lang="en-US" altLang="zh-CN" sz="2000" b="0" dirty="0"/>
          </a:p>
          <a:p>
            <a:r>
              <a:rPr lang="en-US" altLang="zh-CN" sz="2000" b="0" dirty="0" err="1"/>
              <a:t>isFull</a:t>
            </a:r>
            <a:r>
              <a:rPr lang="en-US" altLang="zh-CN" sz="2000" b="0" dirty="0"/>
              <a:t>(Queue q); 				//</a:t>
            </a:r>
            <a:r>
              <a:rPr lang="zh-CN" altLang="en-US" sz="2000" b="0" dirty="0"/>
              <a:t>测试队列是否已满</a:t>
            </a:r>
            <a:endParaRPr lang="en-US" altLang="zh-CN" sz="2000" b="0" dirty="0"/>
          </a:p>
          <a:p>
            <a:r>
              <a:rPr lang="en-US" altLang="zh-CN" sz="2000" b="0" dirty="0" err="1"/>
              <a:t>isEmpty</a:t>
            </a:r>
            <a:r>
              <a:rPr lang="en-US" altLang="zh-CN" sz="2000" b="0" dirty="0"/>
              <a:t>(Queue q); 				//</a:t>
            </a:r>
            <a:r>
              <a:rPr lang="zh-CN" altLang="en-US" sz="2000" b="0" dirty="0"/>
              <a:t>测试队列是否为空</a:t>
            </a:r>
          </a:p>
          <a:p>
            <a:pPr marL="0" indent="0">
              <a:buNone/>
            </a:pPr>
            <a:endParaRPr lang="zh-CN" altLang="en-US" dirty="0"/>
          </a:p>
        </p:txBody>
      </p:sp>
      <p:sp>
        <p:nvSpPr>
          <p:cNvPr id="4" name="灯片编号占位符 3">
            <a:extLst>
              <a:ext uri="{FF2B5EF4-FFF2-40B4-BE49-F238E27FC236}">
                <a16:creationId xmlns:a16="http://schemas.microsoft.com/office/drawing/2014/main" id="{F4E36767-9077-4735-BBA4-A3AB162B3DEC}"/>
              </a:ext>
            </a:extLst>
          </p:cNvPr>
          <p:cNvSpPr>
            <a:spLocks noGrp="1"/>
          </p:cNvSpPr>
          <p:nvPr>
            <p:ph type="sldNum" sz="quarter" idx="12"/>
          </p:nvPr>
        </p:nvSpPr>
        <p:spPr/>
        <p:txBody>
          <a:bodyPr/>
          <a:lstStyle/>
          <a:p>
            <a:pPr>
              <a:defRPr/>
            </a:pPr>
            <a:fld id="{EE5104C4-9BBA-4869-957B-C459F96FE33D}" type="slidenum">
              <a:rPr lang="zh-CN" altLang="en-US" smtClean="0"/>
              <a:pPr>
                <a:defRPr/>
              </a:pPr>
              <a:t>57</a:t>
            </a:fld>
            <a:endParaRPr lang="en-US" altLang="zh-CN"/>
          </a:p>
        </p:txBody>
      </p:sp>
    </p:spTree>
    <p:extLst>
      <p:ext uri="{BB962C8B-B14F-4D97-AF65-F5344CB8AC3E}">
        <p14:creationId xmlns:p14="http://schemas.microsoft.com/office/powerpoint/2010/main" val="295519669"/>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796330" y="41502"/>
            <a:ext cx="5562600" cy="762000"/>
            <a:chOff x="288" y="192"/>
            <a:chExt cx="3504" cy="480"/>
          </a:xfrm>
        </p:grpSpPr>
        <p:sp>
          <p:nvSpPr>
            <p:cNvPr id="67618" name="Rectangle 3"/>
            <p:cNvSpPr>
              <a:spLocks noChangeArrowheads="1"/>
            </p:cNvSpPr>
            <p:nvPr/>
          </p:nvSpPr>
          <p:spPr bwMode="auto">
            <a:xfrm>
              <a:off x="288" y="192"/>
              <a:ext cx="3504" cy="480"/>
            </a:xfrm>
            <a:prstGeom prst="rect">
              <a:avLst/>
            </a:prstGeom>
            <a:solidFill>
              <a:srgbClr val="EBFFEB"/>
            </a:solidFill>
            <a:ln w="12700" cap="sq">
              <a:noFill/>
              <a:miter lim="800000"/>
              <a:headEnd type="none" w="sm" len="sm"/>
              <a:tailEnd type="none" w="sm" len="sm"/>
            </a:ln>
            <a:effectLst>
              <a:outerShdw dist="162639" dir="2319588" algn="ctr" rotWithShape="0">
                <a:srgbClr val="B2B2B2"/>
              </a:outerShdw>
            </a:effectLst>
          </p:spPr>
          <p:txBody>
            <a:bodyPr wrap="none" anchor="ctr"/>
            <a:lstStyle/>
            <a:p>
              <a:endParaRPr lang="zh-CN" altLang="en-US"/>
            </a:p>
          </p:txBody>
        </p:sp>
        <p:sp>
          <p:nvSpPr>
            <p:cNvPr id="67619" name="Rectangle 4"/>
            <p:cNvSpPr>
              <a:spLocks noChangeArrowheads="1"/>
            </p:cNvSpPr>
            <p:nvPr/>
          </p:nvSpPr>
          <p:spPr bwMode="auto">
            <a:xfrm>
              <a:off x="360" y="240"/>
              <a:ext cx="3336" cy="404"/>
            </a:xfrm>
            <a:prstGeom prst="rect">
              <a:avLst/>
            </a:prstGeom>
            <a:noFill/>
            <a:ln w="12700" cap="sq">
              <a:noFill/>
              <a:miter lim="800000"/>
              <a:headEnd type="none" w="sm" len="sm"/>
              <a:tailEnd type="none" w="sm" len="sm"/>
            </a:ln>
            <a:effectLst>
              <a:outerShdw dist="12700" algn="ctr" rotWithShape="0">
                <a:schemeClr val="bg1"/>
              </a:outerShdw>
            </a:effectLst>
          </p:spPr>
          <p:txBody>
            <a:bodyPr>
              <a:spAutoFit/>
            </a:bodyPr>
            <a:lstStyle/>
            <a:p>
              <a:r>
                <a:rPr kumimoji="1" lang="zh-CN" altLang="en-US" sz="3600" b="1" dirty="0">
                  <a:solidFill>
                    <a:srgbClr val="FF3300"/>
                  </a:solidFill>
                </a:rPr>
                <a:t> </a:t>
              </a:r>
              <a:r>
                <a:rPr kumimoji="1" lang="en-US" altLang="zh-CN" sz="3600" b="1" dirty="0">
                  <a:solidFill>
                    <a:srgbClr val="FF3300"/>
                  </a:solidFill>
                </a:rPr>
                <a:t>3</a:t>
              </a:r>
              <a:r>
                <a:rPr kumimoji="1" lang="zh-CN" altLang="en-US" sz="3600" b="1" dirty="0">
                  <a:solidFill>
                    <a:srgbClr val="FF3300"/>
                  </a:solidFill>
                </a:rPr>
                <a:t>.</a:t>
              </a:r>
              <a:r>
                <a:rPr kumimoji="1" lang="en-US" altLang="zh-CN" sz="3600" b="1" dirty="0">
                  <a:solidFill>
                    <a:srgbClr val="FF3300"/>
                  </a:solidFill>
                </a:rPr>
                <a:t>5  </a:t>
              </a:r>
              <a:r>
                <a:rPr kumimoji="1" lang="zh-CN" altLang="en-US" sz="3600" b="1" dirty="0">
                  <a:solidFill>
                    <a:srgbClr val="FF3300"/>
                  </a:solidFill>
                </a:rPr>
                <a:t>队的顺序存储结构</a:t>
              </a:r>
            </a:p>
          </p:txBody>
        </p:sp>
      </p:grpSp>
      <p:grpSp>
        <p:nvGrpSpPr>
          <p:cNvPr id="3" name="Group 5"/>
          <p:cNvGrpSpPr>
            <a:grpSpLocks/>
          </p:cNvGrpSpPr>
          <p:nvPr/>
        </p:nvGrpSpPr>
        <p:grpSpPr bwMode="auto">
          <a:xfrm>
            <a:off x="1106488" y="1700262"/>
            <a:ext cx="8167688" cy="3124200"/>
            <a:chOff x="419" y="1008"/>
            <a:chExt cx="5145" cy="1968"/>
          </a:xfrm>
        </p:grpSpPr>
        <p:sp>
          <p:nvSpPr>
            <p:cNvPr id="67616" name="Freeform 6"/>
            <p:cNvSpPr>
              <a:spLocks/>
            </p:cNvSpPr>
            <p:nvPr/>
          </p:nvSpPr>
          <p:spPr bwMode="auto">
            <a:xfrm>
              <a:off x="419" y="1008"/>
              <a:ext cx="5145" cy="1968"/>
            </a:xfrm>
            <a:custGeom>
              <a:avLst/>
              <a:gdLst>
                <a:gd name="T0" fmla="*/ 189 w 5150"/>
                <a:gd name="T1" fmla="*/ 285 h 1770"/>
                <a:gd name="T2" fmla="*/ 4205 w 5150"/>
                <a:gd name="T3" fmla="*/ 302 h 1770"/>
                <a:gd name="T4" fmla="*/ 4918 w 5150"/>
                <a:gd name="T5" fmla="*/ 662 h 1770"/>
                <a:gd name="T6" fmla="*/ 4871 w 5150"/>
                <a:gd name="T7" fmla="*/ 1290 h 1770"/>
                <a:gd name="T8" fmla="*/ 4882 w 5150"/>
                <a:gd name="T9" fmla="*/ 1703 h 1770"/>
                <a:gd name="T10" fmla="*/ 4918 w 5150"/>
                <a:gd name="T11" fmla="*/ 1882 h 1770"/>
                <a:gd name="T12" fmla="*/ 3374 w 5150"/>
                <a:gd name="T13" fmla="*/ 2117 h 1770"/>
                <a:gd name="T14" fmla="*/ 2343 w 5150"/>
                <a:gd name="T15" fmla="*/ 2135 h 1770"/>
                <a:gd name="T16" fmla="*/ 1767 w 5150"/>
                <a:gd name="T17" fmla="*/ 2026 h 1770"/>
                <a:gd name="T18" fmla="*/ 47 w 5150"/>
                <a:gd name="T19" fmla="*/ 2008 h 1770"/>
                <a:gd name="T20" fmla="*/ 59 w 5150"/>
                <a:gd name="T21" fmla="*/ 1308 h 1770"/>
                <a:gd name="T22" fmla="*/ 94 w 5150"/>
                <a:gd name="T23" fmla="*/ 1271 h 1770"/>
                <a:gd name="T24" fmla="*/ 130 w 5150"/>
                <a:gd name="T25" fmla="*/ 1129 h 1770"/>
                <a:gd name="T26" fmla="*/ 141 w 5150"/>
                <a:gd name="T27" fmla="*/ 1056 h 1770"/>
                <a:gd name="T28" fmla="*/ 153 w 5150"/>
                <a:gd name="T29" fmla="*/ 1003 h 1770"/>
                <a:gd name="T30" fmla="*/ 106 w 5150"/>
                <a:gd name="T31" fmla="*/ 894 h 1770"/>
                <a:gd name="T32" fmla="*/ 47 w 5150"/>
                <a:gd name="T33" fmla="*/ 678 h 1770"/>
                <a:gd name="T34" fmla="*/ 59 w 5150"/>
                <a:gd name="T35" fmla="*/ 231 h 1770"/>
                <a:gd name="T36" fmla="*/ 259 w 5150"/>
                <a:gd name="T37" fmla="*/ 247 h 1770"/>
                <a:gd name="T38" fmla="*/ 294 w 5150"/>
                <a:gd name="T39" fmla="*/ 285 h 1770"/>
                <a:gd name="T40" fmla="*/ 261 w 5150"/>
                <a:gd name="T41" fmla="*/ 490 h 177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150" h="1770">
                  <a:moveTo>
                    <a:pt x="189" y="186"/>
                  </a:moveTo>
                  <a:cubicBezTo>
                    <a:pt x="1533" y="190"/>
                    <a:pt x="2877" y="188"/>
                    <a:pt x="4221" y="198"/>
                  </a:cubicBezTo>
                  <a:cubicBezTo>
                    <a:pt x="4571" y="201"/>
                    <a:pt x="5150" y="0"/>
                    <a:pt x="4938" y="433"/>
                  </a:cubicBezTo>
                  <a:cubicBezTo>
                    <a:pt x="4910" y="569"/>
                    <a:pt x="4916" y="708"/>
                    <a:pt x="4891" y="844"/>
                  </a:cubicBezTo>
                  <a:cubicBezTo>
                    <a:pt x="4895" y="934"/>
                    <a:pt x="4895" y="1024"/>
                    <a:pt x="4902" y="1114"/>
                  </a:cubicBezTo>
                  <a:cubicBezTo>
                    <a:pt x="4905" y="1155"/>
                    <a:pt x="4938" y="1232"/>
                    <a:pt x="4938" y="1232"/>
                  </a:cubicBezTo>
                  <a:cubicBezTo>
                    <a:pt x="4755" y="1770"/>
                    <a:pt x="3724" y="1382"/>
                    <a:pt x="3386" y="1385"/>
                  </a:cubicBezTo>
                  <a:cubicBezTo>
                    <a:pt x="3019" y="1412"/>
                    <a:pt x="2778" y="1403"/>
                    <a:pt x="2351" y="1397"/>
                  </a:cubicBezTo>
                  <a:cubicBezTo>
                    <a:pt x="2160" y="1382"/>
                    <a:pt x="1966" y="1330"/>
                    <a:pt x="1775" y="1326"/>
                  </a:cubicBezTo>
                  <a:cubicBezTo>
                    <a:pt x="1199" y="1315"/>
                    <a:pt x="623" y="1318"/>
                    <a:pt x="47" y="1314"/>
                  </a:cubicBezTo>
                  <a:cubicBezTo>
                    <a:pt x="51" y="1161"/>
                    <a:pt x="44" y="1008"/>
                    <a:pt x="59" y="856"/>
                  </a:cubicBezTo>
                  <a:cubicBezTo>
                    <a:pt x="60" y="842"/>
                    <a:pt x="86" y="844"/>
                    <a:pt x="94" y="832"/>
                  </a:cubicBezTo>
                  <a:cubicBezTo>
                    <a:pt x="113" y="804"/>
                    <a:pt x="115" y="768"/>
                    <a:pt x="130" y="738"/>
                  </a:cubicBezTo>
                  <a:cubicBezTo>
                    <a:pt x="134" y="722"/>
                    <a:pt x="137" y="706"/>
                    <a:pt x="141" y="691"/>
                  </a:cubicBezTo>
                  <a:cubicBezTo>
                    <a:pt x="144" y="679"/>
                    <a:pt x="157" y="668"/>
                    <a:pt x="153" y="656"/>
                  </a:cubicBezTo>
                  <a:cubicBezTo>
                    <a:pt x="144" y="629"/>
                    <a:pt x="120" y="609"/>
                    <a:pt x="106" y="585"/>
                  </a:cubicBezTo>
                  <a:cubicBezTo>
                    <a:pt x="79" y="540"/>
                    <a:pt x="71" y="491"/>
                    <a:pt x="47" y="444"/>
                  </a:cubicBezTo>
                  <a:cubicBezTo>
                    <a:pt x="51" y="346"/>
                    <a:pt x="0" y="229"/>
                    <a:pt x="59" y="151"/>
                  </a:cubicBezTo>
                  <a:cubicBezTo>
                    <a:pt x="99" y="98"/>
                    <a:pt x="193" y="155"/>
                    <a:pt x="259" y="162"/>
                  </a:cubicBezTo>
                  <a:cubicBezTo>
                    <a:pt x="298" y="166"/>
                    <a:pt x="294" y="165"/>
                    <a:pt x="294" y="186"/>
                  </a:cubicBezTo>
                  <a:lnTo>
                    <a:pt x="261" y="321"/>
                  </a:lnTo>
                </a:path>
              </a:pathLst>
            </a:custGeom>
            <a:solidFill>
              <a:srgbClr val="E1F0FF"/>
            </a:solidFill>
            <a:ln w="12700" cap="sq" cmpd="sng">
              <a:noFill/>
              <a:prstDash val="solid"/>
              <a:round/>
              <a:headEnd type="none" w="sm" len="sm"/>
              <a:tailEnd type="none" w="sm" len="sm"/>
            </a:ln>
            <a:effectLst>
              <a:outerShdw dist="162639" dir="2319588" algn="ctr" rotWithShape="0">
                <a:srgbClr val="D1D1D1"/>
              </a:outerShdw>
            </a:effectLst>
          </p:spPr>
          <p:txBody>
            <a:bodyPr/>
            <a:lstStyle/>
            <a:p>
              <a:endParaRPr lang="zh-CN" altLang="en-US"/>
            </a:p>
          </p:txBody>
        </p:sp>
        <p:sp>
          <p:nvSpPr>
            <p:cNvPr id="67617" name="Text Box 7"/>
            <p:cNvSpPr txBox="1">
              <a:spLocks noChangeArrowheads="1"/>
            </p:cNvSpPr>
            <p:nvPr/>
          </p:nvSpPr>
          <p:spPr bwMode="auto">
            <a:xfrm>
              <a:off x="734" y="1390"/>
              <a:ext cx="4435" cy="1009"/>
            </a:xfrm>
            <a:prstGeom prst="rect">
              <a:avLst/>
            </a:prstGeom>
            <a:noFill/>
            <a:ln w="12700" cap="sq">
              <a:noFill/>
              <a:miter lim="800000"/>
              <a:headEnd type="none" w="sm" len="sm"/>
              <a:tailEnd type="none" w="sm" len="sm"/>
            </a:ln>
          </p:spPr>
          <p:txBody>
            <a:bodyPr>
              <a:spAutoFit/>
            </a:bodyPr>
            <a:lstStyle/>
            <a:p>
              <a:pPr eaLnBrk="1" hangingPunct="1">
                <a:lnSpc>
                  <a:spcPct val="90000"/>
                </a:lnSpc>
              </a:pPr>
              <a:r>
                <a:rPr kumimoji="1" lang="zh-CN" altLang="en-US" sz="2700" b="1" dirty="0">
                  <a:solidFill>
                    <a:srgbClr val="002C84"/>
                  </a:solidFill>
                  <a:latin typeface="幼圆" pitchFamily="49" charset="-122"/>
                  <a:ea typeface="幼圆" pitchFamily="49" charset="-122"/>
                </a:rPr>
                <a:t>    在实际程序设计过程中，通常借助一个</a:t>
              </a:r>
            </a:p>
            <a:p>
              <a:pPr eaLnBrk="1" hangingPunct="1">
                <a:lnSpc>
                  <a:spcPct val="90000"/>
                </a:lnSpc>
              </a:pPr>
              <a:r>
                <a:rPr kumimoji="1" lang="zh-CN" altLang="en-US" sz="2700" b="1" dirty="0">
                  <a:solidFill>
                    <a:srgbClr val="002C84"/>
                  </a:solidFill>
                  <a:latin typeface="幼圆" pitchFamily="49" charset="-122"/>
                  <a:ea typeface="幼圆" pitchFamily="49" charset="-122"/>
                </a:rPr>
                <a:t>一维数组</a:t>
              </a:r>
              <a:r>
                <a:rPr kumimoji="1" lang="en-US" altLang="en-US" sz="2700" b="1" dirty="0">
                  <a:solidFill>
                    <a:srgbClr val="FF3300"/>
                  </a:solidFill>
                  <a:ea typeface="幼圆" pitchFamily="49" charset="-122"/>
                </a:rPr>
                <a:t>QUEUE[0..M</a:t>
              </a:r>
              <a:r>
                <a:rPr lang="en-US" altLang="zh-CN" sz="2400" b="1" dirty="0">
                  <a:solidFill>
                    <a:srgbClr val="FF3300"/>
                  </a:solidFill>
                </a:rPr>
                <a:t>–</a:t>
              </a:r>
              <a:r>
                <a:rPr kumimoji="1" lang="en-US" altLang="en-US" sz="2700" b="1" dirty="0">
                  <a:solidFill>
                    <a:srgbClr val="FF3300"/>
                  </a:solidFill>
                  <a:ea typeface="幼圆" pitchFamily="49" charset="-122"/>
                </a:rPr>
                <a:t>1]</a:t>
              </a:r>
              <a:r>
                <a:rPr kumimoji="1" lang="zh-CN" altLang="en-US" sz="2700" b="1" dirty="0">
                  <a:solidFill>
                    <a:srgbClr val="002C84"/>
                  </a:solidFill>
                  <a:latin typeface="幼圆" pitchFamily="49" charset="-122"/>
                  <a:ea typeface="幼圆" pitchFamily="49" charset="-122"/>
                </a:rPr>
                <a:t>来描述队的顺序</a:t>
              </a:r>
            </a:p>
            <a:p>
              <a:pPr eaLnBrk="1" hangingPunct="1">
                <a:lnSpc>
                  <a:spcPct val="90000"/>
                </a:lnSpc>
              </a:pPr>
              <a:r>
                <a:rPr kumimoji="1" lang="zh-CN" altLang="en-US" sz="2700" b="1" dirty="0">
                  <a:solidFill>
                    <a:srgbClr val="002C84"/>
                  </a:solidFill>
                  <a:latin typeface="幼圆" pitchFamily="49" charset="-122"/>
                  <a:ea typeface="幼圆" pitchFamily="49" charset="-122"/>
                </a:rPr>
                <a:t>存储结构，同时，设置两个变量</a:t>
              </a:r>
              <a:r>
                <a:rPr kumimoji="1" lang="zh-CN" altLang="en-US" sz="2700" b="1" dirty="0">
                  <a:solidFill>
                    <a:srgbClr val="002C84"/>
                  </a:solidFill>
                  <a:ea typeface="幼圆" pitchFamily="49" charset="-122"/>
                </a:rPr>
                <a:t> </a:t>
              </a:r>
              <a:r>
                <a:rPr kumimoji="1" lang="en-US" altLang="en-US" sz="2800" b="1" dirty="0">
                  <a:solidFill>
                    <a:srgbClr val="FF3300"/>
                  </a:solidFill>
                  <a:ea typeface="幼圆" pitchFamily="49" charset="-122"/>
                </a:rPr>
                <a:t>front</a:t>
              </a:r>
              <a:r>
                <a:rPr kumimoji="1" lang="zh-CN" altLang="en-US" sz="2700" b="1" dirty="0">
                  <a:solidFill>
                    <a:srgbClr val="002C84"/>
                  </a:solidFill>
                  <a:latin typeface="幼圆" pitchFamily="49" charset="-122"/>
                  <a:ea typeface="幼圆" pitchFamily="49" charset="-122"/>
                </a:rPr>
                <a:t>与</a:t>
              </a:r>
              <a:r>
                <a:rPr kumimoji="1" lang="en-US" altLang="en-US" sz="2800" b="1" dirty="0">
                  <a:solidFill>
                    <a:srgbClr val="FF3300"/>
                  </a:solidFill>
                  <a:ea typeface="幼圆" pitchFamily="49" charset="-122"/>
                </a:rPr>
                <a:t>rear</a:t>
              </a:r>
            </a:p>
            <a:p>
              <a:pPr eaLnBrk="1" hangingPunct="1">
                <a:lnSpc>
                  <a:spcPct val="90000"/>
                </a:lnSpc>
              </a:pPr>
              <a:r>
                <a:rPr kumimoji="1" lang="zh-CN" altLang="en-US" sz="2700" b="1" dirty="0">
                  <a:solidFill>
                    <a:srgbClr val="002C84"/>
                  </a:solidFill>
                  <a:latin typeface="幼圆" pitchFamily="49" charset="-122"/>
                  <a:ea typeface="幼圆" pitchFamily="49" charset="-122"/>
                </a:rPr>
                <a:t>分别指出当前队头元素与队尾元素的位置。</a:t>
              </a:r>
            </a:p>
          </p:txBody>
        </p:sp>
      </p:grpSp>
      <p:grpSp>
        <p:nvGrpSpPr>
          <p:cNvPr id="4" name="Group 8"/>
          <p:cNvGrpSpPr>
            <a:grpSpLocks/>
          </p:cNvGrpSpPr>
          <p:nvPr/>
        </p:nvGrpSpPr>
        <p:grpSpPr bwMode="auto">
          <a:xfrm>
            <a:off x="1487488" y="4437112"/>
            <a:ext cx="6534150" cy="1079500"/>
            <a:chOff x="624" y="2795"/>
            <a:chExt cx="4116" cy="680"/>
          </a:xfrm>
        </p:grpSpPr>
        <p:sp>
          <p:nvSpPr>
            <p:cNvPr id="67605" name="Rectangle 9"/>
            <p:cNvSpPr>
              <a:spLocks noChangeArrowheads="1"/>
            </p:cNvSpPr>
            <p:nvPr/>
          </p:nvSpPr>
          <p:spPr bwMode="auto">
            <a:xfrm>
              <a:off x="1008" y="3235"/>
              <a:ext cx="288" cy="240"/>
            </a:xfrm>
            <a:prstGeom prst="rect">
              <a:avLst/>
            </a:prstGeom>
            <a:noFill/>
            <a:ln w="19050" cap="sq">
              <a:solidFill>
                <a:srgbClr val="003366"/>
              </a:solidFill>
              <a:miter lim="800000"/>
              <a:headEnd type="none" w="sm" len="sm"/>
              <a:tailEnd type="none" w="sm" len="sm"/>
            </a:ln>
          </p:spPr>
          <p:txBody>
            <a:bodyPr wrap="none" anchor="ctr"/>
            <a:lstStyle/>
            <a:p>
              <a:endParaRPr lang="zh-CN" altLang="en-US"/>
            </a:p>
          </p:txBody>
        </p:sp>
        <p:sp>
          <p:nvSpPr>
            <p:cNvPr id="67606" name="Rectangle 10"/>
            <p:cNvSpPr>
              <a:spLocks noChangeArrowheads="1"/>
            </p:cNvSpPr>
            <p:nvPr/>
          </p:nvSpPr>
          <p:spPr bwMode="auto">
            <a:xfrm>
              <a:off x="1296" y="3235"/>
              <a:ext cx="288"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67607" name="Rectangle 11"/>
            <p:cNvSpPr>
              <a:spLocks noChangeArrowheads="1"/>
            </p:cNvSpPr>
            <p:nvPr/>
          </p:nvSpPr>
          <p:spPr bwMode="auto">
            <a:xfrm>
              <a:off x="1584" y="3235"/>
              <a:ext cx="288" cy="240"/>
            </a:xfrm>
            <a:prstGeom prst="rect">
              <a:avLst/>
            </a:prstGeom>
            <a:noFill/>
            <a:ln w="19050" cap="sq">
              <a:solidFill>
                <a:srgbClr val="003366"/>
              </a:solidFill>
              <a:miter lim="800000"/>
              <a:headEnd type="none" w="sm" len="sm"/>
              <a:tailEnd type="none" w="sm" len="sm"/>
            </a:ln>
          </p:spPr>
          <p:txBody>
            <a:bodyPr wrap="none" anchor="ctr"/>
            <a:lstStyle/>
            <a:p>
              <a:endParaRPr lang="zh-CN" altLang="en-US"/>
            </a:p>
          </p:txBody>
        </p:sp>
        <p:sp>
          <p:nvSpPr>
            <p:cNvPr id="67608" name="Rectangle 12"/>
            <p:cNvSpPr>
              <a:spLocks noChangeArrowheads="1"/>
            </p:cNvSpPr>
            <p:nvPr/>
          </p:nvSpPr>
          <p:spPr bwMode="auto">
            <a:xfrm>
              <a:off x="1872" y="3235"/>
              <a:ext cx="288" cy="240"/>
            </a:xfrm>
            <a:prstGeom prst="rect">
              <a:avLst/>
            </a:prstGeom>
            <a:noFill/>
            <a:ln w="19050" cap="sq">
              <a:solidFill>
                <a:srgbClr val="003366"/>
              </a:solidFill>
              <a:miter lim="800000"/>
              <a:headEnd type="none" w="sm" len="sm"/>
              <a:tailEnd type="none" w="sm" len="sm"/>
            </a:ln>
          </p:spPr>
          <p:txBody>
            <a:bodyPr wrap="none" anchor="ctr"/>
            <a:lstStyle/>
            <a:p>
              <a:endParaRPr lang="zh-CN" altLang="en-US"/>
            </a:p>
          </p:txBody>
        </p:sp>
        <p:sp>
          <p:nvSpPr>
            <p:cNvPr id="67609" name="Rectangle 13"/>
            <p:cNvSpPr>
              <a:spLocks noChangeArrowheads="1"/>
            </p:cNvSpPr>
            <p:nvPr/>
          </p:nvSpPr>
          <p:spPr bwMode="auto">
            <a:xfrm>
              <a:off x="2160" y="3235"/>
              <a:ext cx="288" cy="240"/>
            </a:xfrm>
            <a:prstGeom prst="rect">
              <a:avLst/>
            </a:prstGeom>
            <a:noFill/>
            <a:ln w="19050" cap="sq">
              <a:solidFill>
                <a:srgbClr val="003366"/>
              </a:solidFill>
              <a:miter lim="800000"/>
              <a:headEnd type="none" w="sm" len="sm"/>
              <a:tailEnd type="none" w="sm" len="sm"/>
            </a:ln>
          </p:spPr>
          <p:txBody>
            <a:bodyPr wrap="none" anchor="ctr"/>
            <a:lstStyle/>
            <a:p>
              <a:endParaRPr lang="zh-CN" altLang="en-US"/>
            </a:p>
          </p:txBody>
        </p:sp>
        <p:sp>
          <p:nvSpPr>
            <p:cNvPr id="67610" name="Rectangle 14"/>
            <p:cNvSpPr>
              <a:spLocks noChangeArrowheads="1"/>
            </p:cNvSpPr>
            <p:nvPr/>
          </p:nvSpPr>
          <p:spPr bwMode="auto">
            <a:xfrm>
              <a:off x="4032" y="3235"/>
              <a:ext cx="288" cy="240"/>
            </a:xfrm>
            <a:prstGeom prst="rect">
              <a:avLst/>
            </a:prstGeom>
            <a:noFill/>
            <a:ln w="19050" cap="sq">
              <a:solidFill>
                <a:srgbClr val="003366"/>
              </a:solidFill>
              <a:miter lim="800000"/>
              <a:headEnd type="none" w="sm" len="sm"/>
              <a:tailEnd type="none" w="sm" len="sm"/>
            </a:ln>
          </p:spPr>
          <p:txBody>
            <a:bodyPr wrap="none" anchor="ctr"/>
            <a:lstStyle/>
            <a:p>
              <a:endParaRPr lang="zh-CN" altLang="en-US"/>
            </a:p>
          </p:txBody>
        </p:sp>
        <p:sp>
          <p:nvSpPr>
            <p:cNvPr id="67611" name="Rectangle 15"/>
            <p:cNvSpPr>
              <a:spLocks noChangeArrowheads="1"/>
            </p:cNvSpPr>
            <p:nvPr/>
          </p:nvSpPr>
          <p:spPr bwMode="auto">
            <a:xfrm>
              <a:off x="2736" y="3235"/>
              <a:ext cx="288"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67612" name="Rectangle 16"/>
            <p:cNvSpPr>
              <a:spLocks noChangeArrowheads="1"/>
            </p:cNvSpPr>
            <p:nvPr/>
          </p:nvSpPr>
          <p:spPr bwMode="auto">
            <a:xfrm>
              <a:off x="2448" y="3235"/>
              <a:ext cx="288" cy="240"/>
            </a:xfrm>
            <a:prstGeom prst="rect">
              <a:avLst/>
            </a:prstGeom>
            <a:noFill/>
            <a:ln w="19050" cap="sq">
              <a:solidFill>
                <a:srgbClr val="003366"/>
              </a:solidFill>
              <a:miter lim="800000"/>
              <a:headEnd type="none" w="sm" len="sm"/>
              <a:tailEnd type="none" w="sm" len="sm"/>
            </a:ln>
          </p:spPr>
          <p:txBody>
            <a:bodyPr wrap="none" anchor="ctr"/>
            <a:lstStyle/>
            <a:p>
              <a:endParaRPr lang="zh-CN" altLang="en-US"/>
            </a:p>
          </p:txBody>
        </p:sp>
        <p:sp>
          <p:nvSpPr>
            <p:cNvPr id="67613" name="Line 17"/>
            <p:cNvSpPr>
              <a:spLocks noChangeShapeType="1"/>
            </p:cNvSpPr>
            <p:nvPr/>
          </p:nvSpPr>
          <p:spPr bwMode="auto">
            <a:xfrm>
              <a:off x="2976" y="3235"/>
              <a:ext cx="1104" cy="0"/>
            </a:xfrm>
            <a:prstGeom prst="line">
              <a:avLst/>
            </a:prstGeom>
            <a:noFill/>
            <a:ln w="19050" cap="sq">
              <a:solidFill>
                <a:srgbClr val="003300"/>
              </a:solidFill>
              <a:round/>
              <a:headEnd type="none" w="sm" len="sm"/>
              <a:tailEnd type="none" w="sm" len="sm"/>
            </a:ln>
          </p:spPr>
          <p:txBody>
            <a:bodyPr/>
            <a:lstStyle/>
            <a:p>
              <a:endParaRPr lang="zh-CN" altLang="en-US"/>
            </a:p>
          </p:txBody>
        </p:sp>
        <p:sp>
          <p:nvSpPr>
            <p:cNvPr id="67614" name="Line 18"/>
            <p:cNvSpPr>
              <a:spLocks noChangeShapeType="1"/>
            </p:cNvSpPr>
            <p:nvPr/>
          </p:nvSpPr>
          <p:spPr bwMode="auto">
            <a:xfrm>
              <a:off x="2976" y="3475"/>
              <a:ext cx="1104" cy="0"/>
            </a:xfrm>
            <a:prstGeom prst="line">
              <a:avLst/>
            </a:prstGeom>
            <a:noFill/>
            <a:ln w="19050" cap="sq">
              <a:solidFill>
                <a:srgbClr val="003300"/>
              </a:solidFill>
              <a:round/>
              <a:headEnd type="none" w="sm" len="sm"/>
              <a:tailEnd type="none" w="sm" len="sm"/>
            </a:ln>
          </p:spPr>
          <p:txBody>
            <a:bodyPr/>
            <a:lstStyle/>
            <a:p>
              <a:endParaRPr lang="zh-CN" altLang="en-US"/>
            </a:p>
          </p:txBody>
        </p:sp>
        <p:sp>
          <p:nvSpPr>
            <p:cNvPr id="67615" name="Text Box 19"/>
            <p:cNvSpPr txBox="1">
              <a:spLocks noChangeArrowheads="1"/>
            </p:cNvSpPr>
            <p:nvPr/>
          </p:nvSpPr>
          <p:spPr bwMode="auto">
            <a:xfrm>
              <a:off x="624" y="2795"/>
              <a:ext cx="4116" cy="442"/>
            </a:xfrm>
            <a:prstGeom prst="rect">
              <a:avLst/>
            </a:prstGeom>
            <a:noFill/>
            <a:ln w="12700" cap="sq">
              <a:noFill/>
              <a:miter lim="800000"/>
              <a:headEnd type="none" w="sm" len="sm"/>
              <a:tailEnd type="none" w="sm" len="sm"/>
            </a:ln>
          </p:spPr>
          <p:txBody>
            <a:bodyPr>
              <a:spAutoFit/>
            </a:bodyPr>
            <a:lstStyle/>
            <a:p>
              <a:r>
                <a:rPr lang="en-US" altLang="zh-CN" sz="2400" b="1" dirty="0">
                  <a:solidFill>
                    <a:srgbClr val="FF3300"/>
                  </a:solidFill>
                </a:rPr>
                <a:t>QUEUE[0..MAXSIZE-1]</a:t>
              </a:r>
            </a:p>
            <a:p>
              <a:r>
                <a:rPr lang="en-US" altLang="zh-CN" sz="1600" b="1" dirty="0"/>
                <a:t>             0       1        2       3                                                              M</a:t>
              </a:r>
              <a:r>
                <a:rPr lang="en-US" altLang="zh-CN" sz="1600" b="1" dirty="0">
                  <a:latin typeface="宋体" charset="-122"/>
                  <a:ea typeface="宋体" charset="-122"/>
                </a:rPr>
                <a:t>-</a:t>
              </a:r>
              <a:r>
                <a:rPr lang="en-US" altLang="zh-CN" sz="1600" b="1" dirty="0"/>
                <a:t>1</a:t>
              </a:r>
            </a:p>
          </p:txBody>
        </p:sp>
      </p:grpSp>
      <p:sp>
        <p:nvSpPr>
          <p:cNvPr id="292884" name="Text Box 20"/>
          <p:cNvSpPr txBox="1">
            <a:spLocks noChangeArrowheads="1"/>
          </p:cNvSpPr>
          <p:nvPr/>
        </p:nvSpPr>
        <p:spPr bwMode="auto">
          <a:xfrm>
            <a:off x="2173288" y="5018137"/>
            <a:ext cx="361950" cy="519112"/>
          </a:xfrm>
          <a:prstGeom prst="rect">
            <a:avLst/>
          </a:prstGeom>
          <a:noFill/>
          <a:ln w="12700" cap="sq">
            <a:noFill/>
            <a:miter lim="800000"/>
            <a:headEnd type="none" w="sm" len="sm"/>
            <a:tailEnd type="none" w="sm" len="sm"/>
          </a:ln>
        </p:spPr>
        <p:txBody>
          <a:bodyPr wrap="none">
            <a:spAutoFit/>
          </a:bodyPr>
          <a:lstStyle/>
          <a:p>
            <a:r>
              <a:rPr lang="en-US" altLang="zh-CN" sz="2800" b="1" dirty="0"/>
              <a:t>a</a:t>
            </a:r>
          </a:p>
        </p:txBody>
      </p:sp>
      <p:sp>
        <p:nvSpPr>
          <p:cNvPr id="292885" name="Text Box 21"/>
          <p:cNvSpPr txBox="1">
            <a:spLocks noChangeArrowheads="1"/>
          </p:cNvSpPr>
          <p:nvPr/>
        </p:nvSpPr>
        <p:spPr bwMode="auto">
          <a:xfrm>
            <a:off x="2630488" y="5032424"/>
            <a:ext cx="364202" cy="523220"/>
          </a:xfrm>
          <a:prstGeom prst="rect">
            <a:avLst/>
          </a:prstGeom>
          <a:noFill/>
          <a:ln w="12700" cap="sq">
            <a:noFill/>
            <a:miter lim="800000"/>
            <a:headEnd type="none" w="sm" len="sm"/>
            <a:tailEnd type="none" w="sm" len="sm"/>
          </a:ln>
        </p:spPr>
        <p:txBody>
          <a:bodyPr wrap="none">
            <a:spAutoFit/>
          </a:bodyPr>
          <a:lstStyle/>
          <a:p>
            <a:r>
              <a:rPr lang="en-US" altLang="zh-CN" sz="2800" b="1" dirty="0"/>
              <a:t>b</a:t>
            </a:r>
          </a:p>
        </p:txBody>
      </p:sp>
      <p:sp>
        <p:nvSpPr>
          <p:cNvPr id="292886" name="Text Box 22"/>
          <p:cNvSpPr txBox="1">
            <a:spLocks noChangeArrowheads="1"/>
          </p:cNvSpPr>
          <p:nvPr/>
        </p:nvSpPr>
        <p:spPr bwMode="auto">
          <a:xfrm>
            <a:off x="3087688" y="5018137"/>
            <a:ext cx="348172" cy="523220"/>
          </a:xfrm>
          <a:prstGeom prst="rect">
            <a:avLst/>
          </a:prstGeom>
          <a:noFill/>
          <a:ln w="12700" cap="sq">
            <a:noFill/>
            <a:miter lim="800000"/>
            <a:headEnd type="none" w="sm" len="sm"/>
            <a:tailEnd type="none" w="sm" len="sm"/>
          </a:ln>
        </p:spPr>
        <p:txBody>
          <a:bodyPr wrap="none">
            <a:spAutoFit/>
          </a:bodyPr>
          <a:lstStyle/>
          <a:p>
            <a:r>
              <a:rPr lang="en-US" altLang="zh-CN" sz="2800" b="1" dirty="0"/>
              <a:t>c</a:t>
            </a:r>
          </a:p>
        </p:txBody>
      </p:sp>
      <p:sp>
        <p:nvSpPr>
          <p:cNvPr id="292887" name="Text Box 23"/>
          <p:cNvSpPr txBox="1">
            <a:spLocks noChangeArrowheads="1"/>
          </p:cNvSpPr>
          <p:nvPr/>
        </p:nvSpPr>
        <p:spPr bwMode="auto">
          <a:xfrm>
            <a:off x="3543301" y="5032424"/>
            <a:ext cx="364202" cy="523220"/>
          </a:xfrm>
          <a:prstGeom prst="rect">
            <a:avLst/>
          </a:prstGeom>
          <a:noFill/>
          <a:ln w="12700" cap="sq">
            <a:noFill/>
            <a:miter lim="800000"/>
            <a:headEnd type="none" w="sm" len="sm"/>
            <a:tailEnd type="none" w="sm" len="sm"/>
          </a:ln>
        </p:spPr>
        <p:txBody>
          <a:bodyPr wrap="none">
            <a:spAutoFit/>
          </a:bodyPr>
          <a:lstStyle/>
          <a:p>
            <a:r>
              <a:rPr lang="en-US" altLang="zh-CN" sz="2800" b="1" dirty="0"/>
              <a:t>d</a:t>
            </a:r>
          </a:p>
        </p:txBody>
      </p:sp>
      <p:sp>
        <p:nvSpPr>
          <p:cNvPr id="292888" name="Text Box 24"/>
          <p:cNvSpPr txBox="1">
            <a:spLocks noChangeArrowheads="1"/>
          </p:cNvSpPr>
          <p:nvPr/>
        </p:nvSpPr>
        <p:spPr bwMode="auto">
          <a:xfrm>
            <a:off x="4002088" y="5018137"/>
            <a:ext cx="348172" cy="523220"/>
          </a:xfrm>
          <a:prstGeom prst="rect">
            <a:avLst/>
          </a:prstGeom>
          <a:noFill/>
          <a:ln w="12700" cap="sq">
            <a:noFill/>
            <a:miter lim="800000"/>
            <a:headEnd type="none" w="sm" len="sm"/>
            <a:tailEnd type="none" w="sm" len="sm"/>
          </a:ln>
        </p:spPr>
        <p:txBody>
          <a:bodyPr wrap="none">
            <a:spAutoFit/>
          </a:bodyPr>
          <a:lstStyle/>
          <a:p>
            <a:r>
              <a:rPr lang="en-US" altLang="zh-CN" sz="2800" b="1" dirty="0"/>
              <a:t>e</a:t>
            </a:r>
          </a:p>
        </p:txBody>
      </p:sp>
      <p:sp>
        <p:nvSpPr>
          <p:cNvPr id="292889" name="Text Box 25"/>
          <p:cNvSpPr txBox="1">
            <a:spLocks noChangeArrowheads="1"/>
          </p:cNvSpPr>
          <p:nvPr/>
        </p:nvSpPr>
        <p:spPr bwMode="auto">
          <a:xfrm>
            <a:off x="2188568" y="5013225"/>
            <a:ext cx="361950" cy="519112"/>
          </a:xfrm>
          <a:prstGeom prst="rect">
            <a:avLst/>
          </a:prstGeom>
          <a:noFill/>
          <a:ln w="12700" cap="sq">
            <a:noFill/>
            <a:miter lim="800000"/>
            <a:headEnd type="none" w="sm" len="sm"/>
            <a:tailEnd type="none" w="sm" len="sm"/>
          </a:ln>
        </p:spPr>
        <p:txBody>
          <a:bodyPr wrap="none">
            <a:spAutoFit/>
          </a:bodyPr>
          <a:lstStyle/>
          <a:p>
            <a:r>
              <a:rPr lang="en-US" altLang="zh-CN" sz="2800" b="1" dirty="0">
                <a:solidFill>
                  <a:srgbClr val="00FF00"/>
                </a:solidFill>
              </a:rPr>
              <a:t>a</a:t>
            </a:r>
          </a:p>
        </p:txBody>
      </p:sp>
      <p:sp>
        <p:nvSpPr>
          <p:cNvPr id="292890" name="Text Box 26"/>
          <p:cNvSpPr txBox="1">
            <a:spLocks noChangeArrowheads="1"/>
          </p:cNvSpPr>
          <p:nvPr/>
        </p:nvSpPr>
        <p:spPr bwMode="auto">
          <a:xfrm>
            <a:off x="3988768" y="5013225"/>
            <a:ext cx="348172" cy="523220"/>
          </a:xfrm>
          <a:prstGeom prst="rect">
            <a:avLst/>
          </a:prstGeom>
          <a:noFill/>
          <a:ln w="12700" cap="sq">
            <a:noFill/>
            <a:miter lim="800000"/>
            <a:headEnd type="none" w="sm" len="sm"/>
            <a:tailEnd type="none" w="sm" len="sm"/>
          </a:ln>
        </p:spPr>
        <p:txBody>
          <a:bodyPr wrap="none">
            <a:spAutoFit/>
          </a:bodyPr>
          <a:lstStyle/>
          <a:p>
            <a:r>
              <a:rPr lang="en-US" altLang="zh-CN" sz="2800" b="1" dirty="0">
                <a:solidFill>
                  <a:srgbClr val="FF00FF"/>
                </a:solidFill>
              </a:rPr>
              <a:t>e</a:t>
            </a:r>
          </a:p>
        </p:txBody>
      </p:sp>
      <p:grpSp>
        <p:nvGrpSpPr>
          <p:cNvPr id="5" name="Group 37"/>
          <p:cNvGrpSpPr>
            <a:grpSpLocks/>
          </p:cNvGrpSpPr>
          <p:nvPr/>
        </p:nvGrpSpPr>
        <p:grpSpPr bwMode="auto">
          <a:xfrm>
            <a:off x="1106488" y="1219249"/>
            <a:ext cx="2667000" cy="609600"/>
            <a:chOff x="384" y="720"/>
            <a:chExt cx="1680" cy="384"/>
          </a:xfrm>
        </p:grpSpPr>
        <p:sp>
          <p:nvSpPr>
            <p:cNvPr id="67603" name="Rectangle 38"/>
            <p:cNvSpPr>
              <a:spLocks noChangeArrowheads="1"/>
            </p:cNvSpPr>
            <p:nvPr/>
          </p:nvSpPr>
          <p:spPr bwMode="auto">
            <a:xfrm>
              <a:off x="384" y="720"/>
              <a:ext cx="1680" cy="384"/>
            </a:xfrm>
            <a:prstGeom prst="rect">
              <a:avLst/>
            </a:prstGeom>
            <a:solidFill>
              <a:srgbClr val="D1D1D1"/>
            </a:solidFill>
            <a:ln w="12700" cap="sq">
              <a:noFill/>
              <a:miter lim="800000"/>
              <a:headEnd type="none" w="sm" len="sm"/>
              <a:tailEnd type="none" w="sm" len="sm"/>
            </a:ln>
            <a:effectLst>
              <a:outerShdw dist="117088" dir="2436078" algn="ctr" rotWithShape="0">
                <a:srgbClr val="969696"/>
              </a:outerShdw>
            </a:effectLst>
          </p:spPr>
          <p:txBody>
            <a:bodyPr wrap="none" anchor="ctr"/>
            <a:lstStyle/>
            <a:p>
              <a:endParaRPr lang="zh-CN" altLang="en-US"/>
            </a:p>
          </p:txBody>
        </p:sp>
        <p:sp>
          <p:nvSpPr>
            <p:cNvPr id="67604" name="Rectangle 39"/>
            <p:cNvSpPr>
              <a:spLocks noChangeArrowheads="1"/>
            </p:cNvSpPr>
            <p:nvPr/>
          </p:nvSpPr>
          <p:spPr bwMode="auto">
            <a:xfrm>
              <a:off x="436" y="742"/>
              <a:ext cx="1580" cy="349"/>
            </a:xfrm>
            <a:prstGeom prst="rect">
              <a:avLst/>
            </a:prstGeom>
            <a:noFill/>
            <a:ln w="12700" cap="sq">
              <a:noFill/>
              <a:miter lim="800000"/>
              <a:headEnd type="none" w="sm" len="sm"/>
              <a:tailEnd type="none" w="sm" len="sm"/>
            </a:ln>
          </p:spPr>
          <p:txBody>
            <a:bodyPr>
              <a:spAutoFit/>
            </a:bodyPr>
            <a:lstStyle/>
            <a:p>
              <a:r>
                <a:rPr kumimoji="1" lang="en-US" altLang="zh-CN" sz="3000" b="1">
                  <a:solidFill>
                    <a:srgbClr val="002C84"/>
                  </a:solidFill>
                  <a:latin typeface="黑体" pitchFamily="2" charset="-122"/>
                  <a:ea typeface="黑体" pitchFamily="2" charset="-122"/>
                </a:rPr>
                <a:t>(</a:t>
              </a:r>
              <a:r>
                <a:rPr kumimoji="1" lang="zh-CN" altLang="en-US" sz="3000" b="1">
                  <a:solidFill>
                    <a:srgbClr val="002C84"/>
                  </a:solidFill>
                  <a:latin typeface="黑体" pitchFamily="2" charset="-122"/>
                  <a:ea typeface="黑体" pitchFamily="2" charset="-122"/>
                </a:rPr>
                <a:t>一</a:t>
              </a:r>
              <a:r>
                <a:rPr kumimoji="1" lang="en-US" altLang="zh-CN" sz="3000" b="1">
                  <a:solidFill>
                    <a:srgbClr val="002C84"/>
                  </a:solidFill>
                  <a:latin typeface="黑体" pitchFamily="2" charset="-122"/>
                  <a:ea typeface="黑体" pitchFamily="2" charset="-122"/>
                </a:rPr>
                <a:t>)</a:t>
              </a:r>
              <a:r>
                <a:rPr kumimoji="1" lang="zh-CN" altLang="en-US" sz="3000" b="1">
                  <a:solidFill>
                    <a:srgbClr val="002C84"/>
                  </a:solidFill>
                  <a:latin typeface="黑体" pitchFamily="2" charset="-122"/>
                  <a:ea typeface="黑体" pitchFamily="2" charset="-122"/>
                </a:rPr>
                <a:t>构造原理</a:t>
              </a:r>
            </a:p>
          </p:txBody>
        </p:sp>
      </p:grpSp>
      <p:grpSp>
        <p:nvGrpSpPr>
          <p:cNvPr id="6" name="Group 40"/>
          <p:cNvGrpSpPr>
            <a:grpSpLocks/>
          </p:cNvGrpSpPr>
          <p:nvPr/>
        </p:nvGrpSpPr>
        <p:grpSpPr bwMode="auto">
          <a:xfrm>
            <a:off x="1539877" y="5573763"/>
            <a:ext cx="1514475" cy="852487"/>
            <a:chOff x="657" y="3517"/>
            <a:chExt cx="954" cy="537"/>
          </a:xfrm>
        </p:grpSpPr>
        <p:sp>
          <p:nvSpPr>
            <p:cNvPr id="67601" name="Text Box 41"/>
            <p:cNvSpPr txBox="1">
              <a:spLocks noChangeArrowheads="1"/>
            </p:cNvSpPr>
            <p:nvPr/>
          </p:nvSpPr>
          <p:spPr bwMode="auto">
            <a:xfrm>
              <a:off x="657" y="3672"/>
              <a:ext cx="954" cy="382"/>
            </a:xfrm>
            <a:prstGeom prst="rect">
              <a:avLst/>
            </a:prstGeom>
            <a:noFill/>
            <a:ln w="12700" cap="sq">
              <a:noFill/>
              <a:miter lim="800000"/>
              <a:headEnd type="none" w="sm" len="sm"/>
              <a:tailEnd type="none" w="sm" len="sm"/>
            </a:ln>
          </p:spPr>
          <p:txBody>
            <a:bodyPr>
              <a:spAutoFit/>
            </a:bodyPr>
            <a:lstStyle/>
            <a:p>
              <a:pPr algn="ctr">
                <a:lnSpc>
                  <a:spcPct val="80000"/>
                </a:lnSpc>
              </a:pPr>
              <a:r>
                <a:rPr lang="en-US" altLang="zh-CN" sz="2100" b="1">
                  <a:solidFill>
                    <a:schemeClr val="accent2"/>
                  </a:solidFill>
                  <a:ea typeface="幼圆" pitchFamily="49" charset="-122"/>
                </a:rPr>
                <a:t>front</a:t>
              </a:r>
            </a:p>
            <a:p>
              <a:pPr algn="ctr">
                <a:lnSpc>
                  <a:spcPct val="80000"/>
                </a:lnSpc>
              </a:pPr>
              <a:r>
                <a:rPr lang="zh-CN" altLang="en-US" sz="2100" b="1">
                  <a:solidFill>
                    <a:schemeClr val="accent2"/>
                  </a:solidFill>
                  <a:ea typeface="幼圆" pitchFamily="49" charset="-122"/>
                </a:rPr>
                <a:t>队头位置</a:t>
              </a:r>
            </a:p>
          </p:txBody>
        </p:sp>
        <p:sp>
          <p:nvSpPr>
            <p:cNvPr id="67602" name="AutoShape 42"/>
            <p:cNvSpPr>
              <a:spLocks noChangeArrowheads="1"/>
            </p:cNvSpPr>
            <p:nvPr/>
          </p:nvSpPr>
          <p:spPr bwMode="auto">
            <a:xfrm>
              <a:off x="1065" y="3517"/>
              <a:ext cx="91" cy="148"/>
            </a:xfrm>
            <a:prstGeom prst="upArrow">
              <a:avLst>
                <a:gd name="adj1" fmla="val 50000"/>
                <a:gd name="adj2" fmla="val 40659"/>
              </a:avLst>
            </a:prstGeom>
            <a:solidFill>
              <a:srgbClr val="FF0000"/>
            </a:solidFill>
            <a:ln w="31750" cap="sq">
              <a:solidFill>
                <a:srgbClr val="FFFF00"/>
              </a:solidFill>
              <a:miter lim="800000"/>
              <a:headEnd type="none" w="sm" len="sm"/>
              <a:tailEnd type="none" w="sm" len="sm"/>
            </a:ln>
            <a:effectLst>
              <a:outerShdw dist="17961" dir="2700000" algn="ctr" rotWithShape="0">
                <a:srgbClr val="000000"/>
              </a:outerShdw>
            </a:effectLst>
          </p:spPr>
          <p:txBody>
            <a:bodyPr vert="eaVert" wrap="none" anchor="ctr"/>
            <a:lstStyle/>
            <a:p>
              <a:endParaRPr lang="zh-CN" altLang="en-US"/>
            </a:p>
          </p:txBody>
        </p:sp>
      </p:grpSp>
      <p:grpSp>
        <p:nvGrpSpPr>
          <p:cNvPr id="7" name="Group 43"/>
          <p:cNvGrpSpPr>
            <a:grpSpLocks/>
          </p:cNvGrpSpPr>
          <p:nvPr/>
        </p:nvGrpSpPr>
        <p:grpSpPr bwMode="auto">
          <a:xfrm>
            <a:off x="3413126" y="5567413"/>
            <a:ext cx="1555750" cy="847725"/>
            <a:chOff x="1837" y="3513"/>
            <a:chExt cx="980" cy="534"/>
          </a:xfrm>
        </p:grpSpPr>
        <p:sp>
          <p:nvSpPr>
            <p:cNvPr id="67599" name="Text Box 44"/>
            <p:cNvSpPr txBox="1">
              <a:spLocks noChangeArrowheads="1"/>
            </p:cNvSpPr>
            <p:nvPr/>
          </p:nvSpPr>
          <p:spPr bwMode="auto">
            <a:xfrm>
              <a:off x="1837" y="3665"/>
              <a:ext cx="980" cy="382"/>
            </a:xfrm>
            <a:prstGeom prst="rect">
              <a:avLst/>
            </a:prstGeom>
            <a:noFill/>
            <a:ln w="12700" cap="sq">
              <a:noFill/>
              <a:miter lim="800000"/>
              <a:headEnd type="none" w="sm" len="sm"/>
              <a:tailEnd type="none" w="sm" len="sm"/>
            </a:ln>
          </p:spPr>
          <p:txBody>
            <a:bodyPr>
              <a:spAutoFit/>
            </a:bodyPr>
            <a:lstStyle/>
            <a:p>
              <a:pPr algn="ctr">
                <a:lnSpc>
                  <a:spcPct val="80000"/>
                </a:lnSpc>
              </a:pPr>
              <a:r>
                <a:rPr lang="en-US" altLang="zh-CN" sz="2100" b="1">
                  <a:solidFill>
                    <a:schemeClr val="accent2"/>
                  </a:solidFill>
                  <a:ea typeface="幼圆" pitchFamily="49" charset="-122"/>
                </a:rPr>
                <a:t>rear</a:t>
              </a:r>
            </a:p>
            <a:p>
              <a:pPr algn="ctr">
                <a:lnSpc>
                  <a:spcPct val="80000"/>
                </a:lnSpc>
              </a:pPr>
              <a:r>
                <a:rPr lang="zh-CN" altLang="en-US" sz="2100" b="1">
                  <a:solidFill>
                    <a:schemeClr val="accent2"/>
                  </a:solidFill>
                  <a:ea typeface="幼圆" pitchFamily="49" charset="-122"/>
                </a:rPr>
                <a:t>队尾位置</a:t>
              </a:r>
            </a:p>
          </p:txBody>
        </p:sp>
        <p:sp>
          <p:nvSpPr>
            <p:cNvPr id="67600" name="AutoShape 45"/>
            <p:cNvSpPr>
              <a:spLocks noChangeArrowheads="1"/>
            </p:cNvSpPr>
            <p:nvPr/>
          </p:nvSpPr>
          <p:spPr bwMode="auto">
            <a:xfrm>
              <a:off x="2245" y="3513"/>
              <a:ext cx="91" cy="148"/>
            </a:xfrm>
            <a:prstGeom prst="upArrow">
              <a:avLst>
                <a:gd name="adj1" fmla="val 50000"/>
                <a:gd name="adj2" fmla="val 40659"/>
              </a:avLst>
            </a:prstGeom>
            <a:solidFill>
              <a:srgbClr val="FF0000"/>
            </a:solidFill>
            <a:ln w="31750" cap="sq">
              <a:solidFill>
                <a:srgbClr val="FFFF00"/>
              </a:solidFill>
              <a:miter lim="800000"/>
              <a:headEnd type="none" w="sm" len="sm"/>
              <a:tailEnd type="none" w="sm" len="sm"/>
            </a:ln>
            <a:effectLst>
              <a:outerShdw dist="17961" dir="2700000" algn="ctr" rotWithShape="0">
                <a:srgbClr val="000000"/>
              </a:outerShdw>
            </a:effectLst>
          </p:spPr>
          <p:txBody>
            <a:bodyPr vert="eaVert" wrap="none" anchor="ctr"/>
            <a:lstStyle/>
            <a:p>
              <a:endParaRPr lang="zh-CN" altLang="en-US"/>
            </a:p>
          </p:txBody>
        </p:sp>
      </p:gr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37"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Vertic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292884"/>
                                        </p:tgtEl>
                                        <p:attrNameLst>
                                          <p:attrName>style.visibility</p:attrName>
                                        </p:attrNameLst>
                                      </p:cBhvr>
                                      <p:to>
                                        <p:strVal val="visible"/>
                                      </p:to>
                                    </p:set>
                                    <p:anim calcmode="lin" valueType="num">
                                      <p:cBhvr additive="base">
                                        <p:cTn id="17" dur="500" fill="hold"/>
                                        <p:tgtEl>
                                          <p:spTgt spid="292884"/>
                                        </p:tgtEl>
                                        <p:attrNameLst>
                                          <p:attrName>ppt_x</p:attrName>
                                        </p:attrNameLst>
                                      </p:cBhvr>
                                      <p:tavLst>
                                        <p:tav tm="0">
                                          <p:val>
                                            <p:strVal val="1+#ppt_w/2"/>
                                          </p:val>
                                        </p:tav>
                                        <p:tav tm="100000">
                                          <p:val>
                                            <p:strVal val="#ppt_x"/>
                                          </p:val>
                                        </p:tav>
                                      </p:tavLst>
                                    </p:anim>
                                    <p:anim calcmode="lin" valueType="num">
                                      <p:cBhvr additive="base">
                                        <p:cTn id="18" dur="500" fill="hold"/>
                                        <p:tgtEl>
                                          <p:spTgt spid="292884"/>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292885"/>
                                        </p:tgtEl>
                                        <p:attrNameLst>
                                          <p:attrName>style.visibility</p:attrName>
                                        </p:attrNameLst>
                                      </p:cBhvr>
                                      <p:to>
                                        <p:strVal val="visible"/>
                                      </p:to>
                                    </p:set>
                                    <p:anim calcmode="lin" valueType="num">
                                      <p:cBhvr additive="base">
                                        <p:cTn id="23" dur="500" fill="hold"/>
                                        <p:tgtEl>
                                          <p:spTgt spid="292885"/>
                                        </p:tgtEl>
                                        <p:attrNameLst>
                                          <p:attrName>ppt_x</p:attrName>
                                        </p:attrNameLst>
                                      </p:cBhvr>
                                      <p:tavLst>
                                        <p:tav tm="0">
                                          <p:val>
                                            <p:strVal val="1+#ppt_w/2"/>
                                          </p:val>
                                        </p:tav>
                                        <p:tav tm="100000">
                                          <p:val>
                                            <p:strVal val="#ppt_x"/>
                                          </p:val>
                                        </p:tav>
                                      </p:tavLst>
                                    </p:anim>
                                    <p:anim calcmode="lin" valueType="num">
                                      <p:cBhvr additive="base">
                                        <p:cTn id="24" dur="500" fill="hold"/>
                                        <p:tgtEl>
                                          <p:spTgt spid="292885"/>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292886"/>
                                        </p:tgtEl>
                                        <p:attrNameLst>
                                          <p:attrName>style.visibility</p:attrName>
                                        </p:attrNameLst>
                                      </p:cBhvr>
                                      <p:to>
                                        <p:strVal val="visible"/>
                                      </p:to>
                                    </p:set>
                                    <p:anim calcmode="lin" valueType="num">
                                      <p:cBhvr additive="base">
                                        <p:cTn id="29" dur="500" fill="hold"/>
                                        <p:tgtEl>
                                          <p:spTgt spid="292886"/>
                                        </p:tgtEl>
                                        <p:attrNameLst>
                                          <p:attrName>ppt_x</p:attrName>
                                        </p:attrNameLst>
                                      </p:cBhvr>
                                      <p:tavLst>
                                        <p:tav tm="0">
                                          <p:val>
                                            <p:strVal val="1+#ppt_w/2"/>
                                          </p:val>
                                        </p:tav>
                                        <p:tav tm="100000">
                                          <p:val>
                                            <p:strVal val="#ppt_x"/>
                                          </p:val>
                                        </p:tav>
                                      </p:tavLst>
                                    </p:anim>
                                    <p:anim calcmode="lin" valueType="num">
                                      <p:cBhvr additive="base">
                                        <p:cTn id="30" dur="500" fill="hold"/>
                                        <p:tgtEl>
                                          <p:spTgt spid="292886"/>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292887"/>
                                        </p:tgtEl>
                                        <p:attrNameLst>
                                          <p:attrName>style.visibility</p:attrName>
                                        </p:attrNameLst>
                                      </p:cBhvr>
                                      <p:to>
                                        <p:strVal val="visible"/>
                                      </p:to>
                                    </p:set>
                                    <p:anim calcmode="lin" valueType="num">
                                      <p:cBhvr additive="base">
                                        <p:cTn id="35" dur="500" fill="hold"/>
                                        <p:tgtEl>
                                          <p:spTgt spid="292887"/>
                                        </p:tgtEl>
                                        <p:attrNameLst>
                                          <p:attrName>ppt_x</p:attrName>
                                        </p:attrNameLst>
                                      </p:cBhvr>
                                      <p:tavLst>
                                        <p:tav tm="0">
                                          <p:val>
                                            <p:strVal val="1+#ppt_w/2"/>
                                          </p:val>
                                        </p:tav>
                                        <p:tav tm="100000">
                                          <p:val>
                                            <p:strVal val="#ppt_x"/>
                                          </p:val>
                                        </p:tav>
                                      </p:tavLst>
                                    </p:anim>
                                    <p:anim calcmode="lin" valueType="num">
                                      <p:cBhvr additive="base">
                                        <p:cTn id="36" dur="500" fill="hold"/>
                                        <p:tgtEl>
                                          <p:spTgt spid="292887"/>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292888"/>
                                        </p:tgtEl>
                                        <p:attrNameLst>
                                          <p:attrName>style.visibility</p:attrName>
                                        </p:attrNameLst>
                                      </p:cBhvr>
                                      <p:to>
                                        <p:strVal val="visible"/>
                                      </p:to>
                                    </p:set>
                                    <p:anim calcmode="lin" valueType="num">
                                      <p:cBhvr additive="base">
                                        <p:cTn id="41" dur="500" fill="hold"/>
                                        <p:tgtEl>
                                          <p:spTgt spid="292888"/>
                                        </p:tgtEl>
                                        <p:attrNameLst>
                                          <p:attrName>ppt_x</p:attrName>
                                        </p:attrNameLst>
                                      </p:cBhvr>
                                      <p:tavLst>
                                        <p:tav tm="0">
                                          <p:val>
                                            <p:strVal val="1+#ppt_w/2"/>
                                          </p:val>
                                        </p:tav>
                                        <p:tav tm="100000">
                                          <p:val>
                                            <p:strVal val="#ppt_x"/>
                                          </p:val>
                                        </p:tav>
                                      </p:tavLst>
                                    </p:anim>
                                    <p:anim calcmode="lin" valueType="num">
                                      <p:cBhvr additive="base">
                                        <p:cTn id="42" dur="500" fill="hold"/>
                                        <p:tgtEl>
                                          <p:spTgt spid="292888"/>
                                        </p:tgtEl>
                                        <p:attrNameLst>
                                          <p:attrName>ppt_y</p:attrName>
                                        </p:attrNameLst>
                                      </p:cBhvr>
                                      <p:tavLst>
                                        <p:tav tm="0">
                                          <p:val>
                                            <p:strVal val="#ppt_y"/>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92889"/>
                                        </p:tgtEl>
                                        <p:attrNameLst>
                                          <p:attrName>style.visibility</p:attrName>
                                        </p:attrNameLst>
                                      </p:cBhvr>
                                      <p:to>
                                        <p:strVal val="visible"/>
                                      </p:to>
                                    </p:set>
                                    <p:animEffect transition="in" filter="dissolve">
                                      <p:cBhvr>
                                        <p:cTn id="47" dur="500"/>
                                        <p:tgtEl>
                                          <p:spTgt spid="29288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wipe(down)">
                                      <p:cBhvr>
                                        <p:cTn id="52" dur="500"/>
                                        <p:tgtEl>
                                          <p:spTgt spid="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292890"/>
                                        </p:tgtEl>
                                        <p:attrNameLst>
                                          <p:attrName>style.visibility</p:attrName>
                                        </p:attrNameLst>
                                      </p:cBhvr>
                                      <p:to>
                                        <p:strVal val="visible"/>
                                      </p:to>
                                    </p:set>
                                    <p:animEffect transition="in" filter="dissolve">
                                      <p:cBhvr>
                                        <p:cTn id="57" dur="500"/>
                                        <p:tgtEl>
                                          <p:spTgt spid="29289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4" fill="hold" nodeType="click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wipe(down)">
                                      <p:cBhvr>
                                        <p:cTn id="6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84" grpId="0" autoUpdateAnimBg="0"/>
      <p:bldP spid="292885" grpId="0" autoUpdateAnimBg="0"/>
      <p:bldP spid="292886" grpId="0" autoUpdateAnimBg="0"/>
      <p:bldP spid="292887" grpId="0" autoUpdateAnimBg="0"/>
      <p:bldP spid="292888" grpId="0" autoUpdateAnimBg="0"/>
      <p:bldP spid="292889" grpId="0" autoUpdateAnimBg="0"/>
      <p:bldP spid="292890"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8"/>
          <p:cNvGrpSpPr>
            <a:grpSpLocks/>
          </p:cNvGrpSpPr>
          <p:nvPr/>
        </p:nvGrpSpPr>
        <p:grpSpPr bwMode="auto">
          <a:xfrm>
            <a:off x="2023120" y="2348931"/>
            <a:ext cx="5867400" cy="1106488"/>
            <a:chOff x="768" y="1709"/>
            <a:chExt cx="3696" cy="697"/>
          </a:xfrm>
        </p:grpSpPr>
        <p:sp>
          <p:nvSpPr>
            <p:cNvPr id="68627" name="Rectangle 9"/>
            <p:cNvSpPr>
              <a:spLocks noChangeArrowheads="1"/>
            </p:cNvSpPr>
            <p:nvPr/>
          </p:nvSpPr>
          <p:spPr bwMode="auto">
            <a:xfrm>
              <a:off x="1152" y="2120"/>
              <a:ext cx="288"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68628" name="Rectangle 10"/>
            <p:cNvSpPr>
              <a:spLocks noChangeArrowheads="1"/>
            </p:cNvSpPr>
            <p:nvPr/>
          </p:nvSpPr>
          <p:spPr bwMode="auto">
            <a:xfrm>
              <a:off x="1440" y="2120"/>
              <a:ext cx="288"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68629" name="Rectangle 11"/>
            <p:cNvSpPr>
              <a:spLocks noChangeArrowheads="1"/>
            </p:cNvSpPr>
            <p:nvPr/>
          </p:nvSpPr>
          <p:spPr bwMode="auto">
            <a:xfrm>
              <a:off x="1728" y="2120"/>
              <a:ext cx="288"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68630" name="Rectangle 12"/>
            <p:cNvSpPr>
              <a:spLocks noChangeArrowheads="1"/>
            </p:cNvSpPr>
            <p:nvPr/>
          </p:nvSpPr>
          <p:spPr bwMode="auto">
            <a:xfrm>
              <a:off x="2016" y="2120"/>
              <a:ext cx="288" cy="240"/>
            </a:xfrm>
            <a:prstGeom prst="rect">
              <a:avLst/>
            </a:prstGeom>
            <a:noFill/>
            <a:ln w="19050" cap="sq">
              <a:solidFill>
                <a:srgbClr val="003366"/>
              </a:solidFill>
              <a:miter lim="800000"/>
              <a:headEnd type="none" w="sm" len="sm"/>
              <a:tailEnd type="none" w="sm" len="sm"/>
            </a:ln>
          </p:spPr>
          <p:txBody>
            <a:bodyPr wrap="none" anchor="ctr"/>
            <a:lstStyle/>
            <a:p>
              <a:endParaRPr lang="zh-CN" altLang="en-US"/>
            </a:p>
          </p:txBody>
        </p:sp>
        <p:sp>
          <p:nvSpPr>
            <p:cNvPr id="68631" name="Rectangle 13"/>
            <p:cNvSpPr>
              <a:spLocks noChangeArrowheads="1"/>
            </p:cNvSpPr>
            <p:nvPr/>
          </p:nvSpPr>
          <p:spPr bwMode="auto">
            <a:xfrm>
              <a:off x="4176" y="2120"/>
              <a:ext cx="288"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68632" name="Rectangle 14"/>
            <p:cNvSpPr>
              <a:spLocks noChangeArrowheads="1"/>
            </p:cNvSpPr>
            <p:nvPr/>
          </p:nvSpPr>
          <p:spPr bwMode="auto">
            <a:xfrm>
              <a:off x="2880" y="2120"/>
              <a:ext cx="288" cy="240"/>
            </a:xfrm>
            <a:prstGeom prst="rect">
              <a:avLst/>
            </a:prstGeom>
            <a:noFill/>
            <a:ln w="19050" cap="sq">
              <a:solidFill>
                <a:srgbClr val="003366"/>
              </a:solidFill>
              <a:miter lim="800000"/>
              <a:headEnd type="none" w="sm" len="sm"/>
              <a:tailEnd type="none" w="sm" len="sm"/>
            </a:ln>
          </p:spPr>
          <p:txBody>
            <a:bodyPr wrap="none" anchor="ctr"/>
            <a:lstStyle/>
            <a:p>
              <a:endParaRPr lang="zh-CN" altLang="en-US"/>
            </a:p>
          </p:txBody>
        </p:sp>
        <p:sp>
          <p:nvSpPr>
            <p:cNvPr id="68633" name="Rectangle 15"/>
            <p:cNvSpPr>
              <a:spLocks noChangeArrowheads="1"/>
            </p:cNvSpPr>
            <p:nvPr/>
          </p:nvSpPr>
          <p:spPr bwMode="auto">
            <a:xfrm>
              <a:off x="2592" y="2120"/>
              <a:ext cx="288"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68634" name="Line 16"/>
            <p:cNvSpPr>
              <a:spLocks noChangeShapeType="1"/>
            </p:cNvSpPr>
            <p:nvPr/>
          </p:nvSpPr>
          <p:spPr bwMode="auto">
            <a:xfrm>
              <a:off x="3120" y="2120"/>
              <a:ext cx="1104" cy="0"/>
            </a:xfrm>
            <a:prstGeom prst="line">
              <a:avLst/>
            </a:prstGeom>
            <a:noFill/>
            <a:ln w="19050" cap="sq">
              <a:solidFill>
                <a:srgbClr val="003300"/>
              </a:solidFill>
              <a:round/>
              <a:headEnd type="none" w="sm" len="sm"/>
              <a:tailEnd type="none" w="sm" len="sm"/>
            </a:ln>
          </p:spPr>
          <p:txBody>
            <a:bodyPr/>
            <a:lstStyle/>
            <a:p>
              <a:endParaRPr lang="zh-CN" altLang="en-US"/>
            </a:p>
          </p:txBody>
        </p:sp>
        <p:sp>
          <p:nvSpPr>
            <p:cNvPr id="68635" name="Line 17"/>
            <p:cNvSpPr>
              <a:spLocks noChangeShapeType="1"/>
            </p:cNvSpPr>
            <p:nvPr/>
          </p:nvSpPr>
          <p:spPr bwMode="auto">
            <a:xfrm>
              <a:off x="3120" y="2360"/>
              <a:ext cx="1104" cy="0"/>
            </a:xfrm>
            <a:prstGeom prst="line">
              <a:avLst/>
            </a:prstGeom>
            <a:noFill/>
            <a:ln w="19050" cap="sq">
              <a:solidFill>
                <a:srgbClr val="003300"/>
              </a:solidFill>
              <a:round/>
              <a:headEnd type="none" w="sm" len="sm"/>
              <a:tailEnd type="none" w="sm" len="sm"/>
            </a:ln>
          </p:spPr>
          <p:txBody>
            <a:bodyPr/>
            <a:lstStyle/>
            <a:p>
              <a:endParaRPr lang="zh-CN" altLang="en-US"/>
            </a:p>
          </p:txBody>
        </p:sp>
        <p:sp>
          <p:nvSpPr>
            <p:cNvPr id="68636" name="Text Box 18"/>
            <p:cNvSpPr txBox="1">
              <a:spLocks noChangeArrowheads="1"/>
            </p:cNvSpPr>
            <p:nvPr/>
          </p:nvSpPr>
          <p:spPr bwMode="auto">
            <a:xfrm>
              <a:off x="768" y="1709"/>
              <a:ext cx="3410" cy="446"/>
            </a:xfrm>
            <a:prstGeom prst="rect">
              <a:avLst/>
            </a:prstGeom>
            <a:noFill/>
            <a:ln w="12700" cap="sq">
              <a:noFill/>
              <a:miter lim="800000"/>
              <a:headEnd type="none" w="sm" len="sm"/>
              <a:tailEnd type="none" w="sm" len="sm"/>
            </a:ln>
          </p:spPr>
          <p:txBody>
            <a:bodyPr wrap="none">
              <a:spAutoFit/>
            </a:bodyPr>
            <a:lstStyle/>
            <a:p>
              <a:r>
                <a:rPr lang="en-US" altLang="zh-CN" sz="2400" b="1" dirty="0">
                  <a:solidFill>
                    <a:srgbClr val="FF3300"/>
                  </a:solidFill>
                </a:rPr>
                <a:t>QUEUE[0..MAXSIZE–1]</a:t>
              </a:r>
            </a:p>
            <a:p>
              <a:r>
                <a:rPr lang="en-US" altLang="zh-CN" sz="1600" b="1" dirty="0"/>
                <a:t>             0       1        2      3        4       5                                              </a:t>
              </a:r>
              <a:r>
                <a:rPr lang="en-US" altLang="zh-CN" sz="1400" b="1" dirty="0"/>
                <a:t>M-1</a:t>
              </a:r>
            </a:p>
          </p:txBody>
        </p:sp>
        <p:sp>
          <p:nvSpPr>
            <p:cNvPr id="68637" name="Text Box 19"/>
            <p:cNvSpPr txBox="1">
              <a:spLocks noChangeArrowheads="1"/>
            </p:cNvSpPr>
            <p:nvPr/>
          </p:nvSpPr>
          <p:spPr bwMode="auto">
            <a:xfrm>
              <a:off x="1740" y="2052"/>
              <a:ext cx="228" cy="327"/>
            </a:xfrm>
            <a:prstGeom prst="rect">
              <a:avLst/>
            </a:prstGeom>
            <a:noFill/>
            <a:ln w="12700" cap="sq">
              <a:noFill/>
              <a:miter lim="800000"/>
              <a:headEnd type="none" w="sm" len="sm"/>
              <a:tailEnd type="none" w="sm" len="sm"/>
            </a:ln>
          </p:spPr>
          <p:txBody>
            <a:bodyPr wrap="none">
              <a:spAutoFit/>
            </a:bodyPr>
            <a:lstStyle/>
            <a:p>
              <a:r>
                <a:rPr lang="en-US" altLang="zh-CN" sz="2800" b="1" dirty="0"/>
                <a:t>a</a:t>
              </a:r>
            </a:p>
          </p:txBody>
        </p:sp>
        <p:sp>
          <p:nvSpPr>
            <p:cNvPr id="68638" name="Text Box 20"/>
            <p:cNvSpPr txBox="1">
              <a:spLocks noChangeArrowheads="1"/>
            </p:cNvSpPr>
            <p:nvPr/>
          </p:nvSpPr>
          <p:spPr bwMode="auto">
            <a:xfrm>
              <a:off x="2064" y="2076"/>
              <a:ext cx="229" cy="330"/>
            </a:xfrm>
            <a:prstGeom prst="rect">
              <a:avLst/>
            </a:prstGeom>
            <a:noFill/>
            <a:ln w="12700" cap="sq">
              <a:noFill/>
              <a:miter lim="800000"/>
              <a:headEnd type="none" w="sm" len="sm"/>
              <a:tailEnd type="none" w="sm" len="sm"/>
            </a:ln>
          </p:spPr>
          <p:txBody>
            <a:bodyPr wrap="none">
              <a:spAutoFit/>
            </a:bodyPr>
            <a:lstStyle/>
            <a:p>
              <a:r>
                <a:rPr lang="en-US" altLang="zh-CN" sz="2800" b="1" dirty="0"/>
                <a:t>b</a:t>
              </a:r>
            </a:p>
          </p:txBody>
        </p:sp>
        <p:sp>
          <p:nvSpPr>
            <p:cNvPr id="68639" name="Text Box 21"/>
            <p:cNvSpPr txBox="1">
              <a:spLocks noChangeArrowheads="1"/>
            </p:cNvSpPr>
            <p:nvPr/>
          </p:nvSpPr>
          <p:spPr bwMode="auto">
            <a:xfrm>
              <a:off x="2327" y="2064"/>
              <a:ext cx="219" cy="330"/>
            </a:xfrm>
            <a:prstGeom prst="rect">
              <a:avLst/>
            </a:prstGeom>
            <a:noFill/>
            <a:ln w="12700" cap="sq">
              <a:noFill/>
              <a:miter lim="800000"/>
              <a:headEnd type="none" w="sm" len="sm"/>
              <a:tailEnd type="none" w="sm" len="sm"/>
            </a:ln>
          </p:spPr>
          <p:txBody>
            <a:bodyPr wrap="none">
              <a:spAutoFit/>
            </a:bodyPr>
            <a:lstStyle/>
            <a:p>
              <a:r>
                <a:rPr lang="en-US" altLang="zh-CN" sz="2800" b="1" dirty="0"/>
                <a:t>c</a:t>
              </a:r>
            </a:p>
          </p:txBody>
        </p:sp>
        <p:sp>
          <p:nvSpPr>
            <p:cNvPr id="68640" name="Text Box 22"/>
            <p:cNvSpPr txBox="1">
              <a:spLocks noChangeArrowheads="1"/>
            </p:cNvSpPr>
            <p:nvPr/>
          </p:nvSpPr>
          <p:spPr bwMode="auto">
            <a:xfrm>
              <a:off x="2639" y="2073"/>
              <a:ext cx="229" cy="330"/>
            </a:xfrm>
            <a:prstGeom prst="rect">
              <a:avLst/>
            </a:prstGeom>
            <a:noFill/>
            <a:ln w="12700" cap="sq">
              <a:noFill/>
              <a:miter lim="800000"/>
              <a:headEnd type="none" w="sm" len="sm"/>
              <a:tailEnd type="none" w="sm" len="sm"/>
            </a:ln>
          </p:spPr>
          <p:txBody>
            <a:bodyPr wrap="none">
              <a:spAutoFit/>
            </a:bodyPr>
            <a:lstStyle/>
            <a:p>
              <a:r>
                <a:rPr lang="en-US" altLang="zh-CN" sz="2800" b="1" dirty="0"/>
                <a:t>d</a:t>
              </a:r>
            </a:p>
          </p:txBody>
        </p:sp>
        <p:sp>
          <p:nvSpPr>
            <p:cNvPr id="68641" name="Rectangle 23"/>
            <p:cNvSpPr>
              <a:spLocks noChangeArrowheads="1"/>
            </p:cNvSpPr>
            <p:nvPr/>
          </p:nvSpPr>
          <p:spPr bwMode="auto">
            <a:xfrm>
              <a:off x="2304" y="2120"/>
              <a:ext cx="288" cy="240"/>
            </a:xfrm>
            <a:prstGeom prst="rect">
              <a:avLst/>
            </a:prstGeom>
            <a:noFill/>
            <a:ln w="19050" cap="sq">
              <a:solidFill>
                <a:srgbClr val="003366"/>
              </a:solidFill>
              <a:miter lim="800000"/>
              <a:headEnd type="none" w="sm" len="sm"/>
              <a:tailEnd type="none" w="sm" len="sm"/>
            </a:ln>
          </p:spPr>
          <p:txBody>
            <a:bodyPr wrap="none" anchor="ctr"/>
            <a:lstStyle/>
            <a:p>
              <a:endParaRPr lang="zh-CN" altLang="en-US"/>
            </a:p>
          </p:txBody>
        </p:sp>
      </p:grpSp>
      <p:sp>
        <p:nvSpPr>
          <p:cNvPr id="279576" name="Text Box 24"/>
          <p:cNvSpPr txBox="1">
            <a:spLocks noChangeArrowheads="1"/>
          </p:cNvSpPr>
          <p:nvPr/>
        </p:nvSpPr>
        <p:spPr bwMode="auto">
          <a:xfrm>
            <a:off x="3575720" y="2924945"/>
            <a:ext cx="361950" cy="519113"/>
          </a:xfrm>
          <a:prstGeom prst="rect">
            <a:avLst/>
          </a:prstGeom>
          <a:noFill/>
          <a:ln w="12700" cap="sq">
            <a:noFill/>
            <a:miter lim="800000"/>
            <a:headEnd type="none" w="sm" len="sm"/>
            <a:tailEnd type="none" w="sm" len="sm"/>
          </a:ln>
        </p:spPr>
        <p:txBody>
          <a:bodyPr wrap="none">
            <a:spAutoFit/>
          </a:bodyPr>
          <a:lstStyle/>
          <a:p>
            <a:r>
              <a:rPr lang="en-US" altLang="zh-CN" sz="2800" b="1" dirty="0">
                <a:solidFill>
                  <a:srgbClr val="00FF00"/>
                </a:solidFill>
              </a:rPr>
              <a:t>a</a:t>
            </a:r>
          </a:p>
        </p:txBody>
      </p:sp>
      <p:sp>
        <p:nvSpPr>
          <p:cNvPr id="279577" name="Rectangle 25"/>
          <p:cNvSpPr>
            <a:spLocks noChangeArrowheads="1"/>
          </p:cNvSpPr>
          <p:nvPr/>
        </p:nvSpPr>
        <p:spPr bwMode="auto">
          <a:xfrm>
            <a:off x="5015880" y="2924944"/>
            <a:ext cx="364202" cy="523220"/>
          </a:xfrm>
          <a:prstGeom prst="rect">
            <a:avLst/>
          </a:prstGeom>
          <a:noFill/>
          <a:ln w="12700" cap="sq">
            <a:noFill/>
            <a:miter lim="800000"/>
            <a:headEnd type="none" w="sm" len="sm"/>
            <a:tailEnd type="none" w="sm" len="sm"/>
          </a:ln>
        </p:spPr>
        <p:txBody>
          <a:bodyPr wrap="none">
            <a:spAutoFit/>
          </a:bodyPr>
          <a:lstStyle/>
          <a:p>
            <a:r>
              <a:rPr lang="en-US" altLang="zh-CN" sz="2800" b="1" dirty="0">
                <a:solidFill>
                  <a:srgbClr val="FF00FF"/>
                </a:solidFill>
              </a:rPr>
              <a:t>d</a:t>
            </a:r>
            <a:endParaRPr lang="zh-CN" altLang="en-US" sz="2800" b="1" dirty="0">
              <a:solidFill>
                <a:srgbClr val="FF00FF"/>
              </a:solidFill>
            </a:endParaRPr>
          </a:p>
        </p:txBody>
      </p:sp>
      <p:sp>
        <p:nvSpPr>
          <p:cNvPr id="279578" name="Text Box 26"/>
          <p:cNvSpPr txBox="1">
            <a:spLocks noChangeArrowheads="1"/>
          </p:cNvSpPr>
          <p:nvPr/>
        </p:nvSpPr>
        <p:spPr bwMode="auto">
          <a:xfrm>
            <a:off x="1775520" y="4293096"/>
            <a:ext cx="6705600" cy="846138"/>
          </a:xfrm>
          <a:prstGeom prst="rect">
            <a:avLst/>
          </a:prstGeom>
          <a:noFill/>
          <a:ln w="12700" cap="sq">
            <a:noFill/>
            <a:miter lim="800000"/>
            <a:headEnd type="none" w="sm" len="sm"/>
            <a:tailEnd type="none" w="sm" len="sm"/>
          </a:ln>
        </p:spPr>
        <p:txBody>
          <a:bodyPr>
            <a:spAutoFit/>
          </a:bodyPr>
          <a:lstStyle/>
          <a:p>
            <a:pPr eaLnBrk="1" hangingPunct="1">
              <a:lnSpc>
                <a:spcPct val="90000"/>
              </a:lnSpc>
            </a:pPr>
            <a:r>
              <a:rPr kumimoji="1" lang="zh-CN" altLang="en-US" sz="2700" b="1" dirty="0">
                <a:solidFill>
                  <a:srgbClr val="003399"/>
                </a:solidFill>
                <a:latin typeface="幼圆" pitchFamily="49" charset="-122"/>
                <a:ea typeface="幼圆" pitchFamily="49" charset="-122"/>
              </a:rPr>
              <a:t>初始时, 队为空, 有</a:t>
            </a:r>
            <a:r>
              <a:rPr kumimoji="1" lang="zh-CN" altLang="en-US" sz="2700" b="1" dirty="0">
                <a:solidFill>
                  <a:schemeClr val="bg1"/>
                </a:solidFill>
              </a:rPr>
              <a:t>                </a:t>
            </a:r>
            <a:r>
              <a:rPr kumimoji="1" lang="zh-CN" altLang="zh-CN" sz="2700" b="1" dirty="0">
                <a:solidFill>
                  <a:schemeClr val="bg1"/>
                </a:solidFill>
              </a:rPr>
              <a:t>                               </a:t>
            </a:r>
            <a:r>
              <a:rPr kumimoji="1" lang="zh-CN" altLang="en-US" sz="2700" b="1" dirty="0">
                <a:solidFill>
                  <a:schemeClr val="bg1"/>
                </a:solidFill>
              </a:rPr>
              <a:t>        </a:t>
            </a:r>
          </a:p>
          <a:p>
            <a:pPr eaLnBrk="1" hangingPunct="1">
              <a:lnSpc>
                <a:spcPct val="90000"/>
              </a:lnSpc>
            </a:pPr>
            <a:r>
              <a:rPr kumimoji="1" lang="en-US" altLang="zh-CN" sz="2800" b="1" dirty="0">
                <a:solidFill>
                  <a:srgbClr val="FF3300"/>
                </a:solidFill>
              </a:rPr>
              <a:t>                     </a:t>
            </a:r>
            <a:r>
              <a:rPr kumimoji="1" lang="en-US" altLang="en-US" sz="2800" b="1" dirty="0">
                <a:solidFill>
                  <a:srgbClr val="FF3300"/>
                </a:solidFill>
              </a:rPr>
              <a:t>front= </a:t>
            </a:r>
            <a:r>
              <a:rPr lang="en-US" altLang="en-US" sz="2600" b="1" dirty="0">
                <a:solidFill>
                  <a:srgbClr val="FF3300"/>
                </a:solidFill>
                <a:ea typeface="宋体" charset="-122"/>
                <a:cs typeface="Times New Roman" pitchFamily="18" charset="0"/>
              </a:rPr>
              <a:t>0</a:t>
            </a:r>
            <a:r>
              <a:rPr kumimoji="1" lang="en-US" altLang="en-US" sz="2800" b="1" dirty="0">
                <a:solidFill>
                  <a:srgbClr val="FF3300"/>
                </a:solidFill>
              </a:rPr>
              <a:t>     rear= </a:t>
            </a:r>
            <a:r>
              <a:rPr lang="en-US" altLang="zh-CN" sz="2600" b="1" dirty="0">
                <a:solidFill>
                  <a:srgbClr val="FF3300"/>
                </a:solidFill>
                <a:ea typeface="宋体" charset="-122"/>
              </a:rPr>
              <a:t>–</a:t>
            </a:r>
            <a:r>
              <a:rPr kumimoji="1" lang="en-US" altLang="en-US" sz="2800" b="1" dirty="0">
                <a:solidFill>
                  <a:srgbClr val="FF3300"/>
                </a:solidFill>
              </a:rPr>
              <a:t>1   </a:t>
            </a:r>
            <a:r>
              <a:rPr kumimoji="1" lang="en-US" altLang="zh-CN" sz="2800" b="1" dirty="0">
                <a:solidFill>
                  <a:srgbClr val="FF3300"/>
                </a:solidFill>
              </a:rPr>
              <a:t>count=0</a:t>
            </a:r>
          </a:p>
        </p:txBody>
      </p:sp>
      <p:sp>
        <p:nvSpPr>
          <p:cNvPr id="279579" name="Rectangle 27"/>
          <p:cNvSpPr>
            <a:spLocks noChangeArrowheads="1"/>
          </p:cNvSpPr>
          <p:nvPr/>
        </p:nvSpPr>
        <p:spPr bwMode="auto">
          <a:xfrm>
            <a:off x="1775520" y="5301208"/>
            <a:ext cx="5473700" cy="875624"/>
          </a:xfrm>
          <a:prstGeom prst="rect">
            <a:avLst/>
          </a:prstGeom>
          <a:noFill/>
          <a:ln w="12700" cap="sq">
            <a:noFill/>
            <a:miter lim="800000"/>
            <a:headEnd type="none" w="sm" len="sm"/>
            <a:tailEnd type="none" w="sm" len="sm"/>
          </a:ln>
        </p:spPr>
        <p:txBody>
          <a:bodyPr>
            <a:spAutoFit/>
          </a:bodyPr>
          <a:lstStyle/>
          <a:p>
            <a:pPr eaLnBrk="1" hangingPunct="1">
              <a:lnSpc>
                <a:spcPct val="90000"/>
              </a:lnSpc>
              <a:spcBef>
                <a:spcPct val="5000"/>
              </a:spcBef>
            </a:pPr>
            <a:r>
              <a:rPr kumimoji="1" lang="zh-CN" altLang="en-US" sz="2700" b="1" dirty="0">
                <a:solidFill>
                  <a:srgbClr val="003399"/>
                </a:solidFill>
                <a:ea typeface="幼圆" pitchFamily="49" charset="-122"/>
              </a:rPr>
              <a:t>测试队为空的条件是</a:t>
            </a:r>
            <a:r>
              <a:rPr kumimoji="1" lang="zh-CN" altLang="en-US" sz="2700" b="1" dirty="0"/>
              <a:t>  </a:t>
            </a:r>
          </a:p>
          <a:p>
            <a:pPr eaLnBrk="1" hangingPunct="1">
              <a:lnSpc>
                <a:spcPct val="90000"/>
              </a:lnSpc>
              <a:spcBef>
                <a:spcPct val="5000"/>
              </a:spcBef>
            </a:pPr>
            <a:r>
              <a:rPr kumimoji="1" lang="zh-CN" altLang="en-US" sz="2700" b="1" dirty="0"/>
              <a:t>                               </a:t>
            </a:r>
            <a:r>
              <a:rPr kumimoji="1" lang="en-US" altLang="zh-CN" sz="2800" b="1" dirty="0">
                <a:solidFill>
                  <a:srgbClr val="FF3300"/>
                </a:solidFill>
              </a:rPr>
              <a:t>count</a:t>
            </a:r>
            <a:r>
              <a:rPr kumimoji="1" lang="en-US" altLang="en-US" sz="2800" b="1" dirty="0">
                <a:solidFill>
                  <a:srgbClr val="FF3300"/>
                </a:solidFill>
              </a:rPr>
              <a:t>==0</a:t>
            </a:r>
            <a:endParaRPr kumimoji="1" lang="en-US" altLang="zh-CN" sz="2800" b="1" dirty="0">
              <a:solidFill>
                <a:srgbClr val="FF3300"/>
              </a:solidFill>
            </a:endParaRPr>
          </a:p>
        </p:txBody>
      </p:sp>
      <p:grpSp>
        <p:nvGrpSpPr>
          <p:cNvPr id="3" name="Group 46"/>
          <p:cNvGrpSpPr>
            <a:grpSpLocks/>
          </p:cNvGrpSpPr>
          <p:nvPr/>
        </p:nvGrpSpPr>
        <p:grpSpPr bwMode="auto">
          <a:xfrm>
            <a:off x="1413520" y="332805"/>
            <a:ext cx="7994650" cy="1676400"/>
            <a:chOff x="384" y="288"/>
            <a:chExt cx="5036" cy="1056"/>
          </a:xfrm>
        </p:grpSpPr>
        <p:sp>
          <p:nvSpPr>
            <p:cNvPr id="68624" name="Rectangle 39"/>
            <p:cNvSpPr>
              <a:spLocks noChangeArrowheads="1"/>
            </p:cNvSpPr>
            <p:nvPr/>
          </p:nvSpPr>
          <p:spPr bwMode="auto">
            <a:xfrm>
              <a:off x="384" y="288"/>
              <a:ext cx="5036" cy="1056"/>
            </a:xfrm>
            <a:prstGeom prst="rect">
              <a:avLst/>
            </a:prstGeom>
            <a:solidFill>
              <a:srgbClr val="CCFFFF"/>
            </a:solidFill>
            <a:ln w="12700" cap="sq">
              <a:noFill/>
              <a:miter lim="800000"/>
              <a:headEnd type="none" w="sm" len="sm"/>
              <a:tailEnd type="none" w="sm" len="sm"/>
            </a:ln>
            <a:effectLst>
              <a:outerShdw dist="170861" dir="2519233" algn="ctr" rotWithShape="0">
                <a:srgbClr val="B2B2B2"/>
              </a:outerShdw>
            </a:effectLst>
          </p:spPr>
          <p:txBody>
            <a:bodyPr wrap="none" anchor="ctr"/>
            <a:lstStyle/>
            <a:p>
              <a:endParaRPr lang="zh-CN" altLang="en-US"/>
            </a:p>
          </p:txBody>
        </p:sp>
        <p:sp>
          <p:nvSpPr>
            <p:cNvPr id="68625" name="Oval 41"/>
            <p:cNvSpPr>
              <a:spLocks noChangeArrowheads="1"/>
            </p:cNvSpPr>
            <p:nvPr/>
          </p:nvSpPr>
          <p:spPr bwMode="auto">
            <a:xfrm>
              <a:off x="587" y="321"/>
              <a:ext cx="672" cy="336"/>
            </a:xfrm>
            <a:prstGeom prst="ellipse">
              <a:avLst/>
            </a:prstGeom>
            <a:gradFill rotWithShape="0">
              <a:gsLst>
                <a:gs pos="0">
                  <a:srgbClr val="FF3300"/>
                </a:gs>
                <a:gs pos="50000">
                  <a:srgbClr val="761800"/>
                </a:gs>
                <a:gs pos="100000">
                  <a:srgbClr val="FF3300"/>
                </a:gs>
              </a:gsLst>
              <a:lin ang="5400000" scaled="1"/>
            </a:gradFill>
            <a:ln w="50800" cap="sq">
              <a:noFill/>
              <a:round/>
              <a:headEnd type="none" w="sm" len="sm"/>
              <a:tailEnd type="none" w="sm" len="sm"/>
            </a:ln>
            <a:effectLst>
              <a:outerShdw dist="45791" dir="2021404" algn="ctr" rotWithShape="0">
                <a:srgbClr val="D1D1D1"/>
              </a:outerShdw>
            </a:effectLst>
          </p:spPr>
          <p:txBody>
            <a:bodyPr wrap="none" anchor="ctr"/>
            <a:lstStyle/>
            <a:p>
              <a:endParaRPr lang="zh-CN" altLang="en-US"/>
            </a:p>
          </p:txBody>
        </p:sp>
        <p:sp>
          <p:nvSpPr>
            <p:cNvPr id="68626" name="Rectangle 42"/>
            <p:cNvSpPr>
              <a:spLocks noChangeArrowheads="1"/>
            </p:cNvSpPr>
            <p:nvPr/>
          </p:nvSpPr>
          <p:spPr bwMode="auto">
            <a:xfrm>
              <a:off x="588" y="288"/>
              <a:ext cx="708" cy="233"/>
            </a:xfrm>
            <a:prstGeom prst="rect">
              <a:avLst/>
            </a:prstGeom>
            <a:noFill/>
            <a:ln w="12700" cap="sq">
              <a:noFill/>
              <a:miter lim="800000"/>
              <a:headEnd type="none" w="sm" len="sm"/>
              <a:tailEnd type="none" w="sm" len="sm"/>
            </a:ln>
            <a:effectLst>
              <a:outerShdw dist="28398" dir="3806097" algn="ctr" rotWithShape="0">
                <a:schemeClr val="bg1"/>
              </a:outerShdw>
            </a:effectLst>
          </p:spPr>
          <p:txBody>
            <a:bodyPr>
              <a:spAutoFit/>
            </a:bodyPr>
            <a:lstStyle/>
            <a:p>
              <a:pPr eaLnBrk="1" hangingPunct="1"/>
              <a:r>
                <a:rPr kumimoji="1" lang="zh-CN" altLang="en-US" b="1">
                  <a:solidFill>
                    <a:srgbClr val="FFFF00"/>
                  </a:solidFill>
                  <a:latin typeface="黑体" pitchFamily="2" charset="-122"/>
                  <a:ea typeface="黑体" pitchFamily="2" charset="-122"/>
                </a:rPr>
                <a:t>约定 </a:t>
              </a:r>
            </a:p>
          </p:txBody>
        </p:sp>
      </p:grpSp>
      <p:sp>
        <p:nvSpPr>
          <p:cNvPr id="279595" name="Rectangle 43"/>
          <p:cNvSpPr>
            <a:spLocks noChangeArrowheads="1"/>
          </p:cNvSpPr>
          <p:nvPr/>
        </p:nvSpPr>
        <p:spPr bwMode="auto">
          <a:xfrm>
            <a:off x="1846908" y="1288480"/>
            <a:ext cx="7772400" cy="400110"/>
          </a:xfrm>
          <a:prstGeom prst="rect">
            <a:avLst/>
          </a:prstGeom>
          <a:noFill/>
          <a:ln w="12700" cap="sq">
            <a:noFill/>
            <a:miter lim="800000"/>
            <a:headEnd type="none" w="sm" len="sm"/>
            <a:tailEnd type="none" w="sm" len="sm"/>
          </a:ln>
        </p:spPr>
        <p:txBody>
          <a:bodyPr>
            <a:spAutoFit/>
          </a:bodyPr>
          <a:lstStyle/>
          <a:p>
            <a:r>
              <a:rPr kumimoji="1" lang="en-US" altLang="en-US" sz="2000" b="1" dirty="0">
                <a:solidFill>
                  <a:srgbClr val="003399"/>
                </a:solidFill>
              </a:rPr>
              <a:t>front </a:t>
            </a:r>
            <a:r>
              <a:rPr kumimoji="1" lang="zh-CN" altLang="en-US" sz="2000" b="1" dirty="0">
                <a:solidFill>
                  <a:srgbClr val="003399"/>
                </a:solidFill>
                <a:latin typeface="幼圆" pitchFamily="49" charset="-122"/>
                <a:ea typeface="幼圆" pitchFamily="49" charset="-122"/>
              </a:rPr>
              <a:t>指出实际队头元素所在位置，</a:t>
            </a:r>
          </a:p>
        </p:txBody>
      </p:sp>
      <p:sp>
        <p:nvSpPr>
          <p:cNvPr id="279597" name="Rectangle 45"/>
          <p:cNvSpPr>
            <a:spLocks noChangeArrowheads="1"/>
          </p:cNvSpPr>
          <p:nvPr/>
        </p:nvSpPr>
        <p:spPr bwMode="auto">
          <a:xfrm>
            <a:off x="1846908" y="869380"/>
            <a:ext cx="6172200" cy="400110"/>
          </a:xfrm>
          <a:prstGeom prst="rect">
            <a:avLst/>
          </a:prstGeom>
          <a:noFill/>
          <a:ln w="12700" cap="sq">
            <a:noFill/>
            <a:miter lim="800000"/>
            <a:headEnd type="none" w="sm" len="sm"/>
            <a:tailEnd type="none" w="sm" len="sm"/>
          </a:ln>
        </p:spPr>
        <p:txBody>
          <a:bodyPr>
            <a:spAutoFit/>
          </a:bodyPr>
          <a:lstStyle/>
          <a:p>
            <a:pPr eaLnBrk="1" hangingPunct="1"/>
            <a:r>
              <a:rPr kumimoji="1" lang="en-US" altLang="en-US" sz="2000" b="1" dirty="0">
                <a:solidFill>
                  <a:srgbClr val="003399"/>
                </a:solidFill>
                <a:ea typeface="幼圆" pitchFamily="49" charset="-122"/>
              </a:rPr>
              <a:t>rear</a:t>
            </a:r>
            <a:r>
              <a:rPr kumimoji="1" lang="en-US" altLang="en-US" sz="2000" b="1" dirty="0">
                <a:solidFill>
                  <a:srgbClr val="003399"/>
                </a:solidFill>
                <a:latin typeface="幼圆" pitchFamily="49" charset="-122"/>
                <a:ea typeface="幼圆" pitchFamily="49" charset="-122"/>
              </a:rPr>
              <a:t> </a:t>
            </a:r>
            <a:r>
              <a:rPr kumimoji="1" lang="zh-CN" altLang="en-US" sz="2000" b="1" dirty="0">
                <a:solidFill>
                  <a:srgbClr val="003399"/>
                </a:solidFill>
                <a:latin typeface="幼圆" pitchFamily="49" charset="-122"/>
                <a:ea typeface="幼圆" pitchFamily="49" charset="-122"/>
              </a:rPr>
              <a:t>指出实际队尾元素所在的位置,</a:t>
            </a:r>
          </a:p>
        </p:txBody>
      </p:sp>
      <p:grpSp>
        <p:nvGrpSpPr>
          <p:cNvPr id="4" name="Group 49"/>
          <p:cNvGrpSpPr>
            <a:grpSpLocks/>
          </p:cNvGrpSpPr>
          <p:nvPr/>
        </p:nvGrpSpPr>
        <p:grpSpPr bwMode="auto">
          <a:xfrm>
            <a:off x="4842520" y="3453831"/>
            <a:ext cx="965200" cy="650875"/>
            <a:chOff x="2544" y="2280"/>
            <a:chExt cx="608" cy="410"/>
          </a:xfrm>
        </p:grpSpPr>
        <p:sp>
          <p:nvSpPr>
            <p:cNvPr id="68622" name="Text Box 6"/>
            <p:cNvSpPr txBox="1">
              <a:spLocks noChangeArrowheads="1"/>
            </p:cNvSpPr>
            <p:nvPr/>
          </p:nvSpPr>
          <p:spPr bwMode="auto">
            <a:xfrm>
              <a:off x="2544" y="2421"/>
              <a:ext cx="608" cy="269"/>
            </a:xfrm>
            <a:prstGeom prst="rect">
              <a:avLst/>
            </a:prstGeom>
            <a:noFill/>
            <a:ln w="12700" cap="sq">
              <a:noFill/>
              <a:miter lim="800000"/>
              <a:headEnd type="none" w="sm" len="sm"/>
              <a:tailEnd type="none" w="sm" len="sm"/>
            </a:ln>
          </p:spPr>
          <p:txBody>
            <a:bodyPr>
              <a:spAutoFit/>
            </a:bodyPr>
            <a:lstStyle/>
            <a:p>
              <a:r>
                <a:rPr lang="en-US" altLang="zh-CN" sz="2200" b="1">
                  <a:solidFill>
                    <a:srgbClr val="FF3300"/>
                  </a:solidFill>
                </a:rPr>
                <a:t>rear</a:t>
              </a:r>
            </a:p>
          </p:txBody>
        </p:sp>
        <p:sp>
          <p:nvSpPr>
            <p:cNvPr id="68623" name="AutoShape 47"/>
            <p:cNvSpPr>
              <a:spLocks noChangeArrowheads="1"/>
            </p:cNvSpPr>
            <p:nvPr/>
          </p:nvSpPr>
          <p:spPr bwMode="auto">
            <a:xfrm>
              <a:off x="2693" y="2280"/>
              <a:ext cx="91" cy="181"/>
            </a:xfrm>
            <a:prstGeom prst="upArrow">
              <a:avLst>
                <a:gd name="adj1" fmla="val 50000"/>
                <a:gd name="adj2" fmla="val 49725"/>
              </a:avLst>
            </a:prstGeom>
            <a:solidFill>
              <a:srgbClr val="FF0000"/>
            </a:solidFill>
            <a:ln w="31750" cap="sq">
              <a:solidFill>
                <a:srgbClr val="FFFF00"/>
              </a:solidFill>
              <a:miter lim="800000"/>
              <a:headEnd type="none" w="sm" len="sm"/>
              <a:tailEnd type="none" w="sm" len="sm"/>
            </a:ln>
            <a:effectLst>
              <a:outerShdw dist="12700" dir="5400000" algn="ctr" rotWithShape="0">
                <a:srgbClr val="000000"/>
              </a:outerShdw>
            </a:effectLst>
          </p:spPr>
          <p:txBody>
            <a:bodyPr vert="eaVert" wrap="none" anchor="ctr"/>
            <a:lstStyle/>
            <a:p>
              <a:endParaRPr lang="zh-CN" altLang="en-US"/>
            </a:p>
          </p:txBody>
        </p:sp>
      </p:grpSp>
      <p:grpSp>
        <p:nvGrpSpPr>
          <p:cNvPr id="5" name="Group 50"/>
          <p:cNvGrpSpPr>
            <a:grpSpLocks/>
          </p:cNvGrpSpPr>
          <p:nvPr/>
        </p:nvGrpSpPr>
        <p:grpSpPr bwMode="auto">
          <a:xfrm>
            <a:off x="2991495" y="3445893"/>
            <a:ext cx="965200" cy="658813"/>
            <a:chOff x="1378" y="2275"/>
            <a:chExt cx="608" cy="415"/>
          </a:xfrm>
        </p:grpSpPr>
        <p:sp>
          <p:nvSpPr>
            <p:cNvPr id="68620" name="Text Box 3"/>
            <p:cNvSpPr txBox="1">
              <a:spLocks noChangeArrowheads="1"/>
            </p:cNvSpPr>
            <p:nvPr/>
          </p:nvSpPr>
          <p:spPr bwMode="auto">
            <a:xfrm>
              <a:off x="1378" y="2421"/>
              <a:ext cx="608" cy="269"/>
            </a:xfrm>
            <a:prstGeom prst="rect">
              <a:avLst/>
            </a:prstGeom>
            <a:noFill/>
            <a:ln w="12700" cap="sq">
              <a:noFill/>
              <a:miter lim="800000"/>
              <a:headEnd type="none" w="sm" len="sm"/>
              <a:tailEnd type="none" w="sm" len="sm"/>
            </a:ln>
          </p:spPr>
          <p:txBody>
            <a:bodyPr>
              <a:spAutoFit/>
            </a:bodyPr>
            <a:lstStyle/>
            <a:p>
              <a:r>
                <a:rPr lang="en-US" altLang="zh-CN" sz="2200" b="1">
                  <a:solidFill>
                    <a:srgbClr val="FF3300"/>
                  </a:solidFill>
                </a:rPr>
                <a:t>front</a:t>
              </a:r>
            </a:p>
          </p:txBody>
        </p:sp>
        <p:sp>
          <p:nvSpPr>
            <p:cNvPr id="68621" name="AutoShape 48"/>
            <p:cNvSpPr>
              <a:spLocks noChangeArrowheads="1"/>
            </p:cNvSpPr>
            <p:nvPr/>
          </p:nvSpPr>
          <p:spPr bwMode="auto">
            <a:xfrm>
              <a:off x="1565" y="2275"/>
              <a:ext cx="91" cy="181"/>
            </a:xfrm>
            <a:prstGeom prst="upArrow">
              <a:avLst>
                <a:gd name="adj1" fmla="val 50000"/>
                <a:gd name="adj2" fmla="val 49725"/>
              </a:avLst>
            </a:prstGeom>
            <a:solidFill>
              <a:srgbClr val="FF0000"/>
            </a:solidFill>
            <a:ln w="31750" cap="sq">
              <a:solidFill>
                <a:srgbClr val="FFFF00"/>
              </a:solidFill>
              <a:miter lim="800000"/>
              <a:headEnd type="none" w="sm" len="sm"/>
              <a:tailEnd type="none" w="sm" len="sm"/>
            </a:ln>
            <a:effectLst>
              <a:outerShdw dist="12700" dir="5400000" algn="ctr" rotWithShape="0">
                <a:srgbClr val="000000"/>
              </a:outerShdw>
            </a:effectLst>
          </p:spPr>
          <p:txBody>
            <a:bodyPr vert="eaVert" wrap="none" anchor="ctr"/>
            <a:lstStyle/>
            <a:p>
              <a:endParaRPr lang="zh-CN" altLang="en-US"/>
            </a:p>
          </p:txBody>
        </p:sp>
      </p:grpSp>
      <p:sp>
        <p:nvSpPr>
          <p:cNvPr id="34" name="Rectangle 43"/>
          <p:cNvSpPr>
            <a:spLocks noChangeArrowheads="1"/>
          </p:cNvSpPr>
          <p:nvPr/>
        </p:nvSpPr>
        <p:spPr bwMode="auto">
          <a:xfrm>
            <a:off x="1847528" y="1628800"/>
            <a:ext cx="7772400" cy="400110"/>
          </a:xfrm>
          <a:prstGeom prst="rect">
            <a:avLst/>
          </a:prstGeom>
          <a:noFill/>
          <a:ln w="12700" cap="sq">
            <a:noFill/>
            <a:miter lim="800000"/>
            <a:headEnd type="none" w="sm" len="sm"/>
            <a:tailEnd type="none" w="sm" len="sm"/>
          </a:ln>
        </p:spPr>
        <p:txBody>
          <a:bodyPr>
            <a:spAutoFit/>
          </a:bodyPr>
          <a:lstStyle/>
          <a:p>
            <a:r>
              <a:rPr kumimoji="1" lang="en-US" altLang="zh-CN" sz="2000" b="1" dirty="0">
                <a:solidFill>
                  <a:srgbClr val="003399"/>
                </a:solidFill>
              </a:rPr>
              <a:t>count</a:t>
            </a:r>
            <a:r>
              <a:rPr kumimoji="1" lang="en-US" altLang="en-US" sz="2000" b="1" dirty="0">
                <a:solidFill>
                  <a:srgbClr val="003399"/>
                </a:solidFill>
              </a:rPr>
              <a:t> </a:t>
            </a:r>
            <a:r>
              <a:rPr kumimoji="1" lang="zh-CN" altLang="en-US" sz="2000" b="1" dirty="0">
                <a:solidFill>
                  <a:srgbClr val="003399"/>
                </a:solidFill>
                <a:latin typeface="幼圆" pitchFamily="49" charset="-122"/>
                <a:ea typeface="幼圆" pitchFamily="49" charset="-122"/>
              </a:rPr>
              <a:t>指出实际队中元素个数。</a:t>
            </a:r>
          </a:p>
        </p:txBody>
      </p:sp>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79577"/>
                                        </p:tgtEl>
                                        <p:attrNameLst>
                                          <p:attrName>style.visibility</p:attrName>
                                        </p:attrNameLst>
                                      </p:cBhvr>
                                      <p:to>
                                        <p:strVal val="visible"/>
                                      </p:to>
                                    </p:set>
                                    <p:animEffect transition="in" filter="dissolve">
                                      <p:cBhvr>
                                        <p:cTn id="12" dur="500"/>
                                        <p:tgtEl>
                                          <p:spTgt spid="27957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79576"/>
                                        </p:tgtEl>
                                        <p:attrNameLst>
                                          <p:attrName>style.visibility</p:attrName>
                                        </p:attrNameLst>
                                      </p:cBhvr>
                                      <p:to>
                                        <p:strVal val="visible"/>
                                      </p:to>
                                    </p:set>
                                    <p:animEffect transition="in" filter="dissolve">
                                      <p:cBhvr>
                                        <p:cTn id="22" dur="500"/>
                                        <p:tgtEl>
                                          <p:spTgt spid="27957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79578"/>
                                        </p:tgtEl>
                                        <p:attrNameLst>
                                          <p:attrName>style.visibility</p:attrName>
                                        </p:attrNameLst>
                                      </p:cBhvr>
                                      <p:to>
                                        <p:strVal val="visible"/>
                                      </p:to>
                                    </p:set>
                                    <p:animEffect transition="in" filter="wipe(left)">
                                      <p:cBhvr>
                                        <p:cTn id="32" dur="500"/>
                                        <p:tgtEl>
                                          <p:spTgt spid="27957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grpId="0" nodeType="clickEffect">
                                  <p:stCondLst>
                                    <p:cond delay="0"/>
                                  </p:stCondLst>
                                  <p:childTnLst>
                                    <p:set>
                                      <p:cBhvr>
                                        <p:cTn id="36" dur="1" fill="hold">
                                          <p:stCondLst>
                                            <p:cond delay="0"/>
                                          </p:stCondLst>
                                        </p:cTn>
                                        <p:tgtEl>
                                          <p:spTgt spid="279579"/>
                                        </p:tgtEl>
                                        <p:attrNameLst>
                                          <p:attrName>style.visibility</p:attrName>
                                        </p:attrNameLst>
                                      </p:cBhvr>
                                      <p:to>
                                        <p:strVal val="visible"/>
                                      </p:to>
                                    </p:set>
                                    <p:animEffect transition="in" filter="wipe(right)">
                                      <p:cBhvr>
                                        <p:cTn id="37" dur="500"/>
                                        <p:tgtEl>
                                          <p:spTgt spid="2795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76" grpId="0" autoUpdateAnimBg="0"/>
      <p:bldP spid="279577" grpId="0" autoUpdateAnimBg="0"/>
      <p:bldP spid="279578" grpId="0" autoUpdateAnimBg="0"/>
      <p:bldP spid="279579"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6423622" y="3214687"/>
            <a:ext cx="2590800" cy="2805112"/>
            <a:chOff x="3744" y="2025"/>
            <a:chExt cx="1632" cy="1767"/>
          </a:xfrm>
        </p:grpSpPr>
        <p:sp>
          <p:nvSpPr>
            <p:cNvPr id="74780" name="Oval 3"/>
            <p:cNvSpPr>
              <a:spLocks noChangeArrowheads="1"/>
            </p:cNvSpPr>
            <p:nvPr/>
          </p:nvSpPr>
          <p:spPr bwMode="auto">
            <a:xfrm>
              <a:off x="3744" y="2208"/>
              <a:ext cx="1440" cy="1344"/>
            </a:xfrm>
            <a:prstGeom prst="ellipse">
              <a:avLst/>
            </a:prstGeom>
            <a:noFill/>
            <a:ln w="28575" cap="sq">
              <a:solidFill>
                <a:srgbClr val="333300"/>
              </a:solidFill>
              <a:round/>
              <a:headEnd type="none" w="sm" len="sm"/>
              <a:tailEnd type="none" w="sm" len="sm"/>
            </a:ln>
          </p:spPr>
          <p:txBody>
            <a:bodyPr wrap="none" anchor="ctr"/>
            <a:lstStyle/>
            <a:p>
              <a:endParaRPr lang="zh-CN" altLang="en-US"/>
            </a:p>
          </p:txBody>
        </p:sp>
        <p:sp>
          <p:nvSpPr>
            <p:cNvPr id="74781" name="Oval 4"/>
            <p:cNvSpPr>
              <a:spLocks noChangeArrowheads="1"/>
            </p:cNvSpPr>
            <p:nvPr/>
          </p:nvSpPr>
          <p:spPr bwMode="auto">
            <a:xfrm>
              <a:off x="4032" y="2457"/>
              <a:ext cx="864" cy="864"/>
            </a:xfrm>
            <a:prstGeom prst="ellipse">
              <a:avLst/>
            </a:prstGeom>
            <a:noFill/>
            <a:ln w="28575" cap="sq">
              <a:solidFill>
                <a:schemeClr val="bg2"/>
              </a:solidFill>
              <a:round/>
              <a:headEnd type="none" w="sm" len="sm"/>
              <a:tailEnd type="none" w="sm" len="sm"/>
            </a:ln>
          </p:spPr>
          <p:txBody>
            <a:bodyPr wrap="none" anchor="ctr"/>
            <a:lstStyle/>
            <a:p>
              <a:endParaRPr lang="zh-CN" altLang="en-US"/>
            </a:p>
          </p:txBody>
        </p:sp>
        <p:sp>
          <p:nvSpPr>
            <p:cNvPr id="74782" name="Line 5"/>
            <p:cNvSpPr>
              <a:spLocks noChangeShapeType="1"/>
            </p:cNvSpPr>
            <p:nvPr/>
          </p:nvSpPr>
          <p:spPr bwMode="auto">
            <a:xfrm>
              <a:off x="4464" y="2217"/>
              <a:ext cx="0" cy="240"/>
            </a:xfrm>
            <a:prstGeom prst="line">
              <a:avLst/>
            </a:prstGeom>
            <a:noFill/>
            <a:ln w="25400" cap="sq">
              <a:solidFill>
                <a:srgbClr val="003300"/>
              </a:solidFill>
              <a:round/>
              <a:headEnd type="none" w="sm" len="sm"/>
              <a:tailEnd type="none" w="sm" len="sm"/>
            </a:ln>
          </p:spPr>
          <p:txBody>
            <a:bodyPr/>
            <a:lstStyle/>
            <a:p>
              <a:endParaRPr lang="zh-CN" altLang="en-US"/>
            </a:p>
          </p:txBody>
        </p:sp>
        <p:sp>
          <p:nvSpPr>
            <p:cNvPr id="74783" name="Line 6"/>
            <p:cNvSpPr>
              <a:spLocks noChangeShapeType="1"/>
            </p:cNvSpPr>
            <p:nvPr/>
          </p:nvSpPr>
          <p:spPr bwMode="auto">
            <a:xfrm flipH="1">
              <a:off x="4696" y="2329"/>
              <a:ext cx="144" cy="192"/>
            </a:xfrm>
            <a:prstGeom prst="line">
              <a:avLst/>
            </a:prstGeom>
            <a:noFill/>
            <a:ln w="38100" cap="sq">
              <a:solidFill>
                <a:srgbClr val="FF0000"/>
              </a:solidFill>
              <a:round/>
              <a:headEnd type="none" w="sm" len="sm"/>
              <a:tailEnd type="none" w="sm" len="sm"/>
            </a:ln>
          </p:spPr>
          <p:txBody>
            <a:bodyPr/>
            <a:lstStyle/>
            <a:p>
              <a:endParaRPr lang="zh-CN" altLang="en-US"/>
            </a:p>
          </p:txBody>
        </p:sp>
        <p:sp>
          <p:nvSpPr>
            <p:cNvPr id="74784" name="Line 7"/>
            <p:cNvSpPr>
              <a:spLocks noChangeShapeType="1"/>
            </p:cNvSpPr>
            <p:nvPr/>
          </p:nvSpPr>
          <p:spPr bwMode="auto">
            <a:xfrm flipH="1">
              <a:off x="4848" y="2601"/>
              <a:ext cx="240" cy="96"/>
            </a:xfrm>
            <a:prstGeom prst="line">
              <a:avLst/>
            </a:prstGeom>
            <a:noFill/>
            <a:ln w="25400" cap="sq">
              <a:solidFill>
                <a:srgbClr val="003300"/>
              </a:solidFill>
              <a:round/>
              <a:headEnd type="none" w="sm" len="sm"/>
              <a:tailEnd type="none" w="sm" len="sm"/>
            </a:ln>
          </p:spPr>
          <p:txBody>
            <a:bodyPr/>
            <a:lstStyle/>
            <a:p>
              <a:endParaRPr lang="zh-CN" altLang="en-US"/>
            </a:p>
          </p:txBody>
        </p:sp>
        <p:sp>
          <p:nvSpPr>
            <p:cNvPr id="74785" name="Line 8"/>
            <p:cNvSpPr>
              <a:spLocks noChangeShapeType="1"/>
            </p:cNvSpPr>
            <p:nvPr/>
          </p:nvSpPr>
          <p:spPr bwMode="auto">
            <a:xfrm flipH="1" flipV="1">
              <a:off x="4848" y="3093"/>
              <a:ext cx="192" cy="144"/>
            </a:xfrm>
            <a:prstGeom prst="line">
              <a:avLst/>
            </a:prstGeom>
            <a:noFill/>
            <a:ln w="25400" cap="sq">
              <a:solidFill>
                <a:srgbClr val="003300"/>
              </a:solidFill>
              <a:round/>
              <a:headEnd type="none" w="sm" len="sm"/>
              <a:tailEnd type="none" w="sm" len="sm"/>
            </a:ln>
          </p:spPr>
          <p:txBody>
            <a:bodyPr/>
            <a:lstStyle/>
            <a:p>
              <a:endParaRPr lang="zh-CN" altLang="en-US"/>
            </a:p>
          </p:txBody>
        </p:sp>
        <p:sp>
          <p:nvSpPr>
            <p:cNvPr id="74786" name="Line 9"/>
            <p:cNvSpPr>
              <a:spLocks noChangeShapeType="1"/>
            </p:cNvSpPr>
            <p:nvPr/>
          </p:nvSpPr>
          <p:spPr bwMode="auto">
            <a:xfrm flipH="1" flipV="1">
              <a:off x="4896" y="2889"/>
              <a:ext cx="288" cy="48"/>
            </a:xfrm>
            <a:prstGeom prst="line">
              <a:avLst/>
            </a:prstGeom>
            <a:noFill/>
            <a:ln w="25400" cap="sq">
              <a:solidFill>
                <a:srgbClr val="003300"/>
              </a:solidFill>
              <a:round/>
              <a:headEnd type="none" w="sm" len="sm"/>
              <a:tailEnd type="none" w="sm" len="sm"/>
            </a:ln>
          </p:spPr>
          <p:txBody>
            <a:bodyPr/>
            <a:lstStyle/>
            <a:p>
              <a:endParaRPr lang="zh-CN" altLang="en-US"/>
            </a:p>
          </p:txBody>
        </p:sp>
        <p:sp>
          <p:nvSpPr>
            <p:cNvPr id="74787" name="Line 10"/>
            <p:cNvSpPr>
              <a:spLocks noChangeShapeType="1"/>
            </p:cNvSpPr>
            <p:nvPr/>
          </p:nvSpPr>
          <p:spPr bwMode="auto">
            <a:xfrm>
              <a:off x="4128" y="2313"/>
              <a:ext cx="96" cy="192"/>
            </a:xfrm>
            <a:prstGeom prst="line">
              <a:avLst/>
            </a:prstGeom>
            <a:noFill/>
            <a:ln w="25400" cap="sq">
              <a:solidFill>
                <a:srgbClr val="003300"/>
              </a:solidFill>
              <a:round/>
              <a:headEnd type="none" w="sm" len="sm"/>
              <a:tailEnd type="none" w="sm" len="sm"/>
            </a:ln>
          </p:spPr>
          <p:txBody>
            <a:bodyPr/>
            <a:lstStyle/>
            <a:p>
              <a:endParaRPr lang="zh-CN" altLang="en-US"/>
            </a:p>
          </p:txBody>
        </p:sp>
        <p:sp>
          <p:nvSpPr>
            <p:cNvPr id="74788" name="Line 11"/>
            <p:cNvSpPr>
              <a:spLocks noChangeShapeType="1"/>
            </p:cNvSpPr>
            <p:nvPr/>
          </p:nvSpPr>
          <p:spPr bwMode="auto">
            <a:xfrm rot="-695531">
              <a:off x="4704" y="3273"/>
              <a:ext cx="96" cy="192"/>
            </a:xfrm>
            <a:prstGeom prst="line">
              <a:avLst/>
            </a:prstGeom>
            <a:noFill/>
            <a:ln w="25400" cap="sq">
              <a:solidFill>
                <a:srgbClr val="003300"/>
              </a:solidFill>
              <a:round/>
              <a:headEnd type="none" w="sm" len="sm"/>
              <a:tailEnd type="none" w="sm" len="sm"/>
            </a:ln>
          </p:spPr>
          <p:txBody>
            <a:bodyPr/>
            <a:lstStyle/>
            <a:p>
              <a:endParaRPr lang="zh-CN" altLang="en-US"/>
            </a:p>
          </p:txBody>
        </p:sp>
        <p:sp>
          <p:nvSpPr>
            <p:cNvPr id="74789" name="Text Box 12"/>
            <p:cNvSpPr txBox="1">
              <a:spLocks noChangeArrowheads="1"/>
            </p:cNvSpPr>
            <p:nvPr/>
          </p:nvSpPr>
          <p:spPr bwMode="auto">
            <a:xfrm>
              <a:off x="4944" y="2217"/>
              <a:ext cx="188" cy="231"/>
            </a:xfrm>
            <a:prstGeom prst="rect">
              <a:avLst/>
            </a:prstGeom>
            <a:noFill/>
            <a:ln w="28575" cap="sq">
              <a:noFill/>
              <a:miter lim="800000"/>
              <a:headEnd type="none" w="sm" len="sm"/>
              <a:tailEnd type="none" w="sm" len="sm"/>
            </a:ln>
          </p:spPr>
          <p:txBody>
            <a:bodyPr wrap="none">
              <a:spAutoFit/>
            </a:bodyPr>
            <a:lstStyle/>
            <a:p>
              <a:r>
                <a:rPr lang="zh-CN" altLang="en-US" b="1">
                  <a:solidFill>
                    <a:srgbClr val="000099"/>
                  </a:solidFill>
                </a:rPr>
                <a:t>0</a:t>
              </a:r>
            </a:p>
          </p:txBody>
        </p:sp>
        <p:sp>
          <p:nvSpPr>
            <p:cNvPr id="74790" name="Text Box 13"/>
            <p:cNvSpPr txBox="1">
              <a:spLocks noChangeArrowheads="1"/>
            </p:cNvSpPr>
            <p:nvPr/>
          </p:nvSpPr>
          <p:spPr bwMode="auto">
            <a:xfrm>
              <a:off x="5188" y="2601"/>
              <a:ext cx="188" cy="231"/>
            </a:xfrm>
            <a:prstGeom prst="rect">
              <a:avLst/>
            </a:prstGeom>
            <a:noFill/>
            <a:ln w="28575" cap="sq">
              <a:noFill/>
              <a:miter lim="800000"/>
              <a:headEnd type="none" w="sm" len="sm"/>
              <a:tailEnd type="none" w="sm" len="sm"/>
            </a:ln>
          </p:spPr>
          <p:txBody>
            <a:bodyPr wrap="none">
              <a:spAutoFit/>
            </a:bodyPr>
            <a:lstStyle/>
            <a:p>
              <a:r>
                <a:rPr lang="zh-CN" altLang="en-US" b="1">
                  <a:solidFill>
                    <a:srgbClr val="000099"/>
                  </a:solidFill>
                </a:rPr>
                <a:t>1</a:t>
              </a:r>
            </a:p>
          </p:txBody>
        </p:sp>
        <p:sp>
          <p:nvSpPr>
            <p:cNvPr id="74791" name="Text Box 14"/>
            <p:cNvSpPr txBox="1">
              <a:spLocks noChangeArrowheads="1"/>
            </p:cNvSpPr>
            <p:nvPr/>
          </p:nvSpPr>
          <p:spPr bwMode="auto">
            <a:xfrm>
              <a:off x="5188" y="2985"/>
              <a:ext cx="188" cy="231"/>
            </a:xfrm>
            <a:prstGeom prst="rect">
              <a:avLst/>
            </a:prstGeom>
            <a:noFill/>
            <a:ln w="28575" cap="sq">
              <a:noFill/>
              <a:miter lim="800000"/>
              <a:headEnd type="none" w="sm" len="sm"/>
              <a:tailEnd type="none" w="sm" len="sm"/>
            </a:ln>
          </p:spPr>
          <p:txBody>
            <a:bodyPr wrap="none">
              <a:spAutoFit/>
            </a:bodyPr>
            <a:lstStyle/>
            <a:p>
              <a:r>
                <a:rPr lang="zh-CN" altLang="en-US" b="1">
                  <a:solidFill>
                    <a:srgbClr val="000099"/>
                  </a:solidFill>
                </a:rPr>
                <a:t>2</a:t>
              </a:r>
            </a:p>
          </p:txBody>
        </p:sp>
        <p:sp>
          <p:nvSpPr>
            <p:cNvPr id="74792" name="Text Box 15"/>
            <p:cNvSpPr txBox="1">
              <a:spLocks noChangeArrowheads="1"/>
            </p:cNvSpPr>
            <p:nvPr/>
          </p:nvSpPr>
          <p:spPr bwMode="auto">
            <a:xfrm>
              <a:off x="4996" y="3330"/>
              <a:ext cx="188" cy="231"/>
            </a:xfrm>
            <a:prstGeom prst="rect">
              <a:avLst/>
            </a:prstGeom>
            <a:noFill/>
            <a:ln w="28575" cap="sq">
              <a:noFill/>
              <a:miter lim="800000"/>
              <a:headEnd type="none" w="sm" len="sm"/>
              <a:tailEnd type="none" w="sm" len="sm"/>
            </a:ln>
          </p:spPr>
          <p:txBody>
            <a:bodyPr wrap="none">
              <a:spAutoFit/>
            </a:bodyPr>
            <a:lstStyle/>
            <a:p>
              <a:r>
                <a:rPr lang="zh-CN" altLang="en-US" b="1">
                  <a:solidFill>
                    <a:srgbClr val="000099"/>
                  </a:solidFill>
                </a:rPr>
                <a:t>3</a:t>
              </a:r>
            </a:p>
          </p:txBody>
        </p:sp>
        <p:sp>
          <p:nvSpPr>
            <p:cNvPr id="74793" name="Text Box 16"/>
            <p:cNvSpPr txBox="1">
              <a:spLocks noChangeArrowheads="1"/>
            </p:cNvSpPr>
            <p:nvPr/>
          </p:nvSpPr>
          <p:spPr bwMode="auto">
            <a:xfrm>
              <a:off x="4560" y="3561"/>
              <a:ext cx="188" cy="231"/>
            </a:xfrm>
            <a:prstGeom prst="rect">
              <a:avLst/>
            </a:prstGeom>
            <a:noFill/>
            <a:ln w="28575" cap="sq">
              <a:noFill/>
              <a:miter lim="800000"/>
              <a:headEnd type="none" w="sm" len="sm"/>
              <a:tailEnd type="none" w="sm" len="sm"/>
            </a:ln>
          </p:spPr>
          <p:txBody>
            <a:bodyPr wrap="none">
              <a:spAutoFit/>
            </a:bodyPr>
            <a:lstStyle/>
            <a:p>
              <a:r>
                <a:rPr lang="zh-CN" altLang="en-US" b="1">
                  <a:solidFill>
                    <a:srgbClr val="000099"/>
                  </a:solidFill>
                </a:rPr>
                <a:t>4</a:t>
              </a:r>
            </a:p>
          </p:txBody>
        </p:sp>
        <p:sp>
          <p:nvSpPr>
            <p:cNvPr id="74794" name="Line 17"/>
            <p:cNvSpPr>
              <a:spLocks noChangeShapeType="1"/>
            </p:cNvSpPr>
            <p:nvPr/>
          </p:nvSpPr>
          <p:spPr bwMode="auto">
            <a:xfrm>
              <a:off x="4512" y="3321"/>
              <a:ext cx="0" cy="240"/>
            </a:xfrm>
            <a:prstGeom prst="line">
              <a:avLst/>
            </a:prstGeom>
            <a:noFill/>
            <a:ln w="25400" cap="sq">
              <a:solidFill>
                <a:srgbClr val="003300"/>
              </a:solidFill>
              <a:round/>
              <a:headEnd type="none" w="sm" len="sm"/>
              <a:tailEnd type="none" w="sm" len="sm"/>
            </a:ln>
          </p:spPr>
          <p:txBody>
            <a:bodyPr/>
            <a:lstStyle/>
            <a:p>
              <a:endParaRPr lang="zh-CN" altLang="en-US"/>
            </a:p>
          </p:txBody>
        </p:sp>
        <p:sp>
          <p:nvSpPr>
            <p:cNvPr id="74795" name="Text Box 18"/>
            <p:cNvSpPr txBox="1">
              <a:spLocks noChangeArrowheads="1"/>
            </p:cNvSpPr>
            <p:nvPr/>
          </p:nvSpPr>
          <p:spPr bwMode="auto">
            <a:xfrm>
              <a:off x="4512" y="2025"/>
              <a:ext cx="727" cy="194"/>
            </a:xfrm>
            <a:prstGeom prst="rect">
              <a:avLst/>
            </a:prstGeom>
            <a:noFill/>
            <a:ln w="28575" cap="sq">
              <a:noFill/>
              <a:miter lim="800000"/>
              <a:headEnd type="none" w="sm" len="sm"/>
              <a:tailEnd type="none" w="sm" len="sm"/>
            </a:ln>
          </p:spPr>
          <p:txBody>
            <a:bodyPr wrap="square">
              <a:spAutoFit/>
            </a:bodyPr>
            <a:lstStyle/>
            <a:p>
              <a:r>
                <a:rPr lang="en-US" altLang="zh-CN" sz="1200" b="1" dirty="0">
                  <a:solidFill>
                    <a:srgbClr val="000099"/>
                  </a:solidFill>
                </a:rPr>
                <a:t>MAXSIZE</a:t>
              </a:r>
              <a:r>
                <a:rPr lang="en-US" altLang="zh-CN" sz="1400" b="1" dirty="0">
                  <a:solidFill>
                    <a:srgbClr val="000099"/>
                  </a:solidFill>
                  <a:latin typeface="宋体" charset="-122"/>
                  <a:ea typeface="宋体" charset="-122"/>
                </a:rPr>
                <a:t>-</a:t>
              </a:r>
              <a:r>
                <a:rPr lang="en-US" altLang="zh-CN" sz="1400" b="1" dirty="0">
                  <a:solidFill>
                    <a:srgbClr val="000099"/>
                  </a:solidFill>
                </a:rPr>
                <a:t>1</a:t>
              </a:r>
            </a:p>
          </p:txBody>
        </p:sp>
        <p:sp>
          <p:nvSpPr>
            <p:cNvPr id="74796" name="Text Box 19"/>
            <p:cNvSpPr txBox="1">
              <a:spLocks noChangeArrowheads="1"/>
            </p:cNvSpPr>
            <p:nvPr/>
          </p:nvSpPr>
          <p:spPr bwMode="auto">
            <a:xfrm>
              <a:off x="3878" y="2025"/>
              <a:ext cx="816" cy="194"/>
            </a:xfrm>
            <a:prstGeom prst="rect">
              <a:avLst/>
            </a:prstGeom>
            <a:noFill/>
            <a:ln w="28575" cap="sq">
              <a:noFill/>
              <a:miter lim="800000"/>
              <a:headEnd type="none" w="sm" len="sm"/>
              <a:tailEnd type="none" w="sm" len="sm"/>
            </a:ln>
          </p:spPr>
          <p:txBody>
            <a:bodyPr wrap="square">
              <a:spAutoFit/>
            </a:bodyPr>
            <a:lstStyle/>
            <a:p>
              <a:r>
                <a:rPr lang="en-US" altLang="zh-CN" sz="1200" b="1" dirty="0">
                  <a:solidFill>
                    <a:srgbClr val="000099"/>
                  </a:solidFill>
                </a:rPr>
                <a:t>MAXSIZE</a:t>
              </a:r>
              <a:r>
                <a:rPr lang="en-US" altLang="zh-CN" sz="1400" b="1" dirty="0">
                  <a:solidFill>
                    <a:srgbClr val="000099"/>
                  </a:solidFill>
                  <a:latin typeface="宋体" charset="-122"/>
                  <a:ea typeface="宋体" charset="-122"/>
                </a:rPr>
                <a:t>-</a:t>
              </a:r>
              <a:r>
                <a:rPr lang="en-US" altLang="zh-CN" sz="1400" b="1" dirty="0">
                  <a:solidFill>
                    <a:srgbClr val="000099"/>
                  </a:solidFill>
                </a:rPr>
                <a:t>2</a:t>
              </a:r>
            </a:p>
          </p:txBody>
        </p:sp>
        <p:sp>
          <p:nvSpPr>
            <p:cNvPr id="74797" name="Text Box 20"/>
            <p:cNvSpPr txBox="1">
              <a:spLocks noChangeArrowheads="1"/>
            </p:cNvSpPr>
            <p:nvPr/>
          </p:nvSpPr>
          <p:spPr bwMode="auto">
            <a:xfrm>
              <a:off x="3840" y="2745"/>
              <a:ext cx="144" cy="288"/>
            </a:xfrm>
            <a:prstGeom prst="rect">
              <a:avLst/>
            </a:prstGeom>
            <a:noFill/>
            <a:ln w="28575" cap="sq">
              <a:noFill/>
              <a:miter lim="800000"/>
              <a:headEnd type="none" w="sm" len="sm"/>
              <a:tailEnd type="none" w="sm" len="sm"/>
            </a:ln>
          </p:spPr>
          <p:txBody>
            <a:bodyPr>
              <a:spAutoFit/>
            </a:bodyPr>
            <a:lstStyle/>
            <a:p>
              <a:r>
                <a:rPr lang="zh-CN" altLang="en-US" sz="2400" b="1">
                  <a:solidFill>
                    <a:srgbClr val="000099"/>
                  </a:solidFill>
                  <a:ea typeface="宋体" charset="-122"/>
                  <a:cs typeface="Times New Roman" pitchFamily="18" charset="0"/>
                </a:rPr>
                <a:t>:</a:t>
              </a:r>
            </a:p>
          </p:txBody>
        </p:sp>
        <p:sp>
          <p:nvSpPr>
            <p:cNvPr id="74798" name="Text Box 21"/>
            <p:cNvSpPr txBox="1">
              <a:spLocks noChangeArrowheads="1"/>
            </p:cNvSpPr>
            <p:nvPr/>
          </p:nvSpPr>
          <p:spPr bwMode="auto">
            <a:xfrm>
              <a:off x="3840" y="2889"/>
              <a:ext cx="169" cy="291"/>
            </a:xfrm>
            <a:prstGeom prst="rect">
              <a:avLst/>
            </a:prstGeom>
            <a:noFill/>
            <a:ln w="28575" cap="sq">
              <a:noFill/>
              <a:miter lim="800000"/>
              <a:headEnd type="none" w="sm" len="sm"/>
              <a:tailEnd type="none" w="sm" len="sm"/>
            </a:ln>
          </p:spPr>
          <p:txBody>
            <a:bodyPr wrap="none">
              <a:spAutoFit/>
            </a:bodyPr>
            <a:lstStyle/>
            <a:p>
              <a:r>
                <a:rPr lang="zh-CN" altLang="en-US" sz="2400" b="1">
                  <a:solidFill>
                    <a:srgbClr val="000099"/>
                  </a:solidFill>
                  <a:ea typeface="宋体" charset="-122"/>
                  <a:cs typeface="Times New Roman" pitchFamily="18" charset="0"/>
                </a:rPr>
                <a:t>:</a:t>
              </a:r>
            </a:p>
          </p:txBody>
        </p:sp>
      </p:grpSp>
      <p:grpSp>
        <p:nvGrpSpPr>
          <p:cNvPr id="3" name="Group 32"/>
          <p:cNvGrpSpPr>
            <a:grpSpLocks/>
          </p:cNvGrpSpPr>
          <p:nvPr/>
        </p:nvGrpSpPr>
        <p:grpSpPr bwMode="auto">
          <a:xfrm>
            <a:off x="977703" y="155105"/>
            <a:ext cx="3030538" cy="609600"/>
            <a:chOff x="384" y="336"/>
            <a:chExt cx="1632" cy="384"/>
          </a:xfrm>
        </p:grpSpPr>
        <p:sp>
          <p:nvSpPr>
            <p:cNvPr id="74778" name="Rectangle 33"/>
            <p:cNvSpPr>
              <a:spLocks noChangeArrowheads="1"/>
            </p:cNvSpPr>
            <p:nvPr/>
          </p:nvSpPr>
          <p:spPr bwMode="auto">
            <a:xfrm>
              <a:off x="384" y="336"/>
              <a:ext cx="1632" cy="384"/>
            </a:xfrm>
            <a:prstGeom prst="rect">
              <a:avLst/>
            </a:prstGeom>
            <a:solidFill>
              <a:srgbClr val="CFCFCF"/>
            </a:solidFill>
            <a:ln w="12700" cap="sq">
              <a:noFill/>
              <a:miter lim="800000"/>
              <a:headEnd type="none" w="sm" len="sm"/>
              <a:tailEnd type="none" w="sm" len="sm"/>
            </a:ln>
            <a:effectLst>
              <a:outerShdw dist="117088" dir="2436078" algn="ctr" rotWithShape="0">
                <a:srgbClr val="969696"/>
              </a:outerShdw>
            </a:effectLst>
          </p:spPr>
          <p:txBody>
            <a:bodyPr wrap="none" anchor="ctr"/>
            <a:lstStyle/>
            <a:p>
              <a:endParaRPr lang="zh-CN" altLang="en-US"/>
            </a:p>
          </p:txBody>
        </p:sp>
        <p:sp>
          <p:nvSpPr>
            <p:cNvPr id="74779" name="Rectangle 34"/>
            <p:cNvSpPr>
              <a:spLocks noChangeArrowheads="1"/>
            </p:cNvSpPr>
            <p:nvPr/>
          </p:nvSpPr>
          <p:spPr bwMode="auto">
            <a:xfrm>
              <a:off x="436" y="369"/>
              <a:ext cx="1484" cy="349"/>
            </a:xfrm>
            <a:prstGeom prst="rect">
              <a:avLst/>
            </a:prstGeom>
            <a:noFill/>
            <a:ln w="12700" cap="sq">
              <a:noFill/>
              <a:miter lim="800000"/>
              <a:headEnd type="none" w="sm" len="sm"/>
              <a:tailEnd type="none" w="sm" len="sm"/>
            </a:ln>
          </p:spPr>
          <p:txBody>
            <a:bodyPr>
              <a:spAutoFit/>
            </a:bodyPr>
            <a:lstStyle/>
            <a:p>
              <a:r>
                <a:rPr kumimoji="1" lang="en-US" altLang="zh-CN" sz="3000" b="1" dirty="0">
                  <a:solidFill>
                    <a:srgbClr val="003399"/>
                  </a:solidFill>
                  <a:latin typeface="黑体" pitchFamily="2" charset="-122"/>
                  <a:ea typeface="黑体" pitchFamily="2" charset="-122"/>
                </a:rPr>
                <a:t>(</a:t>
              </a:r>
              <a:r>
                <a:rPr kumimoji="1" lang="zh-CN" altLang="en-US" sz="3000" b="1" dirty="0">
                  <a:solidFill>
                    <a:srgbClr val="003399"/>
                  </a:solidFill>
                  <a:latin typeface="黑体" pitchFamily="2" charset="-122"/>
                  <a:ea typeface="黑体" pitchFamily="2" charset="-122"/>
                </a:rPr>
                <a:t>二</a:t>
              </a:r>
              <a:r>
                <a:rPr kumimoji="1" lang="en-US" altLang="zh-CN" sz="3000" b="1" dirty="0">
                  <a:solidFill>
                    <a:srgbClr val="003399"/>
                  </a:solidFill>
                  <a:latin typeface="黑体" pitchFamily="2" charset="-122"/>
                  <a:ea typeface="黑体" pitchFamily="2" charset="-122"/>
                </a:rPr>
                <a:t>)</a:t>
              </a:r>
              <a:r>
                <a:rPr kumimoji="1" lang="zh-CN" altLang="en-US" sz="3000" b="1" dirty="0">
                  <a:solidFill>
                    <a:srgbClr val="003399"/>
                  </a:solidFill>
                  <a:latin typeface="黑体" pitchFamily="2" charset="-122"/>
                  <a:ea typeface="黑体" pitchFamily="2" charset="-122"/>
                </a:rPr>
                <a:t>循环队列</a:t>
              </a:r>
            </a:p>
          </p:txBody>
        </p:sp>
      </p:grpSp>
      <p:grpSp>
        <p:nvGrpSpPr>
          <p:cNvPr id="4" name="Group 35"/>
          <p:cNvGrpSpPr>
            <a:grpSpLocks/>
          </p:cNvGrpSpPr>
          <p:nvPr/>
        </p:nvGrpSpPr>
        <p:grpSpPr bwMode="auto">
          <a:xfrm>
            <a:off x="1019575" y="1412775"/>
            <a:ext cx="8229601" cy="1600200"/>
            <a:chOff x="384" y="768"/>
            <a:chExt cx="5184" cy="1008"/>
          </a:xfrm>
        </p:grpSpPr>
        <p:sp>
          <p:nvSpPr>
            <p:cNvPr id="74775" name="Rectangle 36"/>
            <p:cNvSpPr>
              <a:spLocks noChangeArrowheads="1"/>
            </p:cNvSpPr>
            <p:nvPr/>
          </p:nvSpPr>
          <p:spPr bwMode="auto">
            <a:xfrm>
              <a:off x="384" y="768"/>
              <a:ext cx="5040" cy="1008"/>
            </a:xfrm>
            <a:prstGeom prst="rect">
              <a:avLst/>
            </a:prstGeom>
            <a:solidFill>
              <a:srgbClr val="CCFFFF"/>
            </a:solidFill>
            <a:ln w="12700" cap="sq">
              <a:noFill/>
              <a:miter lim="800000"/>
              <a:headEnd type="none" w="sm" len="sm"/>
              <a:tailEnd type="none" w="sm" len="sm"/>
            </a:ln>
            <a:effectLst>
              <a:outerShdw dist="197566" dir="2700000" algn="ctr" rotWithShape="0">
                <a:srgbClr val="B2B2B2"/>
              </a:outerShdw>
            </a:effectLst>
          </p:spPr>
          <p:txBody>
            <a:bodyPr wrap="none" anchor="ctr"/>
            <a:lstStyle/>
            <a:p>
              <a:endParaRPr lang="zh-CN" altLang="en-US"/>
            </a:p>
          </p:txBody>
        </p:sp>
        <p:sp>
          <p:nvSpPr>
            <p:cNvPr id="74776" name="Text Box 37"/>
            <p:cNvSpPr txBox="1">
              <a:spLocks noChangeArrowheads="1"/>
            </p:cNvSpPr>
            <p:nvPr/>
          </p:nvSpPr>
          <p:spPr bwMode="auto">
            <a:xfrm>
              <a:off x="528" y="860"/>
              <a:ext cx="5040" cy="756"/>
            </a:xfrm>
            <a:prstGeom prst="rect">
              <a:avLst/>
            </a:prstGeom>
            <a:noFill/>
            <a:ln w="12700" cap="sq">
              <a:noFill/>
              <a:miter lim="800000"/>
              <a:headEnd type="none" w="sm" len="sm"/>
              <a:tailEnd type="none" w="sm" len="sm"/>
            </a:ln>
          </p:spPr>
          <p:txBody>
            <a:bodyPr>
              <a:spAutoFit/>
            </a:bodyPr>
            <a:lstStyle/>
            <a:p>
              <a:pPr eaLnBrk="1" hangingPunct="1"/>
              <a:r>
                <a:rPr kumimoji="1" lang="zh-CN" altLang="en-US" sz="2400" b="1" dirty="0">
                  <a:solidFill>
                    <a:srgbClr val="000099"/>
                  </a:solidFill>
                  <a:latin typeface="幼圆" pitchFamily="49" charset="-122"/>
                  <a:ea typeface="幼圆" pitchFamily="49" charset="-122"/>
                </a:rPr>
                <a:t>把队列(数组)设想成头尾相连的循环表，使得数组前部由于删除操作而导致的无用空间尽可能得到重复利用，这样的队列称为           。</a:t>
              </a:r>
            </a:p>
          </p:txBody>
        </p:sp>
        <p:sp>
          <p:nvSpPr>
            <p:cNvPr id="74777" name="Rectangle 38"/>
            <p:cNvSpPr>
              <a:spLocks noChangeArrowheads="1"/>
            </p:cNvSpPr>
            <p:nvPr/>
          </p:nvSpPr>
          <p:spPr bwMode="auto">
            <a:xfrm>
              <a:off x="1609" y="1358"/>
              <a:ext cx="1104" cy="327"/>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a:spAutoFit/>
            </a:bodyPr>
            <a:lstStyle/>
            <a:p>
              <a:r>
                <a:rPr kumimoji="1" lang="zh-CN" altLang="en-US" sz="2800" b="1" dirty="0">
                  <a:solidFill>
                    <a:srgbClr val="FF3300"/>
                  </a:solidFill>
                  <a:latin typeface="黑体" pitchFamily="2" charset="-122"/>
                  <a:ea typeface="黑体" pitchFamily="2" charset="-122"/>
                </a:rPr>
                <a:t>循环队列</a:t>
              </a:r>
            </a:p>
          </p:txBody>
        </p:sp>
      </p:grpSp>
      <p:grpSp>
        <p:nvGrpSpPr>
          <p:cNvPr id="50" name="组合 49"/>
          <p:cNvGrpSpPr/>
          <p:nvPr/>
        </p:nvGrpSpPr>
        <p:grpSpPr>
          <a:xfrm>
            <a:off x="1451572" y="3429000"/>
            <a:ext cx="5113338" cy="1446213"/>
            <a:chOff x="971550" y="3429000"/>
            <a:chExt cx="5113338" cy="1446213"/>
          </a:xfrm>
        </p:grpSpPr>
        <p:sp>
          <p:nvSpPr>
            <p:cNvPr id="285735" name="Text Box 39"/>
            <p:cNvSpPr txBox="1">
              <a:spLocks noChangeArrowheads="1"/>
            </p:cNvSpPr>
            <p:nvPr/>
          </p:nvSpPr>
          <p:spPr bwMode="auto">
            <a:xfrm>
              <a:off x="971550" y="3429000"/>
              <a:ext cx="3888482" cy="600164"/>
            </a:xfrm>
            <a:prstGeom prst="rect">
              <a:avLst/>
            </a:prstGeom>
            <a:noFill/>
            <a:ln w="12700" cap="sq">
              <a:noFill/>
              <a:miter lim="800000"/>
              <a:headEnd type="none" w="sm" len="sm"/>
              <a:tailEnd type="none" w="sm" len="sm"/>
            </a:ln>
            <a:effectLst>
              <a:outerShdw dist="12700" algn="ctr" rotWithShape="0">
                <a:srgbClr val="000000"/>
              </a:outerShdw>
            </a:effectLst>
          </p:spPr>
          <p:txBody>
            <a:bodyPr wrap="square">
              <a:spAutoFit/>
            </a:bodyPr>
            <a:lstStyle/>
            <a:p>
              <a:r>
                <a:rPr lang="en-US" altLang="zh-CN" sz="3300" b="1" dirty="0">
                  <a:solidFill>
                    <a:srgbClr val="FF0000"/>
                  </a:solidFill>
                </a:rPr>
                <a:t>QUEUE[0..MAXSIZE</a:t>
              </a:r>
              <a:r>
                <a:rPr lang="en-US" altLang="zh-CN" sz="3300" b="1" dirty="0">
                  <a:solidFill>
                    <a:srgbClr val="FF0000"/>
                  </a:solidFill>
                  <a:latin typeface="宋体" charset="-122"/>
                  <a:ea typeface="宋体" charset="-122"/>
                </a:rPr>
                <a:t>-</a:t>
              </a:r>
              <a:r>
                <a:rPr lang="en-US" altLang="zh-CN" sz="3300" b="1" dirty="0">
                  <a:solidFill>
                    <a:srgbClr val="FF0000"/>
                  </a:solidFill>
                </a:rPr>
                <a:t>1]</a:t>
              </a:r>
            </a:p>
          </p:txBody>
        </p:sp>
        <p:grpSp>
          <p:nvGrpSpPr>
            <p:cNvPr id="5" name="Group 40"/>
            <p:cNvGrpSpPr>
              <a:grpSpLocks/>
            </p:cNvGrpSpPr>
            <p:nvPr/>
          </p:nvGrpSpPr>
          <p:grpSpPr bwMode="auto">
            <a:xfrm>
              <a:off x="1011238" y="4076700"/>
              <a:ext cx="5073650" cy="798513"/>
              <a:chOff x="727" y="3162"/>
              <a:chExt cx="3196" cy="503"/>
            </a:xfrm>
          </p:grpSpPr>
          <p:sp>
            <p:nvSpPr>
              <p:cNvPr id="74762" name="Rectangle 41"/>
              <p:cNvSpPr>
                <a:spLocks noChangeArrowheads="1"/>
              </p:cNvSpPr>
              <p:nvPr/>
            </p:nvSpPr>
            <p:spPr bwMode="auto">
              <a:xfrm>
                <a:off x="1887" y="3385"/>
                <a:ext cx="1152" cy="192"/>
              </a:xfrm>
              <a:prstGeom prst="rect">
                <a:avLst/>
              </a:prstGeom>
              <a:noFill/>
              <a:ln w="19050" cap="sq">
                <a:noFill/>
                <a:miter lim="800000"/>
                <a:headEnd type="none" w="sm" len="sm"/>
                <a:tailEnd type="none" w="sm" len="sm"/>
              </a:ln>
            </p:spPr>
            <p:txBody>
              <a:bodyPr wrap="none" anchor="ctr"/>
              <a:lstStyle/>
              <a:p>
                <a:pPr algn="ctr"/>
                <a:r>
                  <a:rPr lang="zh-CN" altLang="en-US" sz="2800" b="1">
                    <a:solidFill>
                      <a:srgbClr val="000099"/>
                    </a:solidFill>
                    <a:ea typeface="宋体" charset="-122"/>
                    <a:cs typeface="Times New Roman" pitchFamily="18" charset="0"/>
                  </a:rPr>
                  <a:t>……</a:t>
                </a:r>
              </a:p>
            </p:txBody>
          </p:sp>
          <p:sp>
            <p:nvSpPr>
              <p:cNvPr id="74763" name="Text Box 42"/>
              <p:cNvSpPr txBox="1">
                <a:spLocks noChangeArrowheads="1"/>
              </p:cNvSpPr>
              <p:nvPr/>
            </p:nvSpPr>
            <p:spPr bwMode="auto">
              <a:xfrm>
                <a:off x="764" y="3162"/>
                <a:ext cx="3159" cy="231"/>
              </a:xfrm>
              <a:prstGeom prst="rect">
                <a:avLst/>
              </a:prstGeom>
              <a:noFill/>
              <a:ln w="12700" cap="sq">
                <a:noFill/>
                <a:miter lim="800000"/>
                <a:headEnd type="none" w="sm" len="sm"/>
                <a:tailEnd type="none" w="sm" len="sm"/>
              </a:ln>
            </p:spPr>
            <p:txBody>
              <a:bodyPr>
                <a:spAutoFit/>
              </a:bodyPr>
              <a:lstStyle/>
              <a:p>
                <a:r>
                  <a:rPr lang="zh-CN" altLang="en-US" b="1" dirty="0">
                    <a:solidFill>
                      <a:srgbClr val="003399"/>
                    </a:solidFill>
                  </a:rPr>
                  <a:t>0    1     2      3    4          </a:t>
                </a:r>
                <a:r>
                  <a:rPr lang="zh-CN" altLang="en-US" b="1" dirty="0">
                    <a:solidFill>
                      <a:srgbClr val="003399"/>
                    </a:solidFill>
                    <a:ea typeface="宋体" charset="-122"/>
                    <a:cs typeface="Times New Roman" pitchFamily="18" charset="0"/>
                  </a:rPr>
                  <a:t>… …</a:t>
                </a:r>
                <a:r>
                  <a:rPr lang="zh-CN" altLang="en-US" b="1" dirty="0">
                    <a:solidFill>
                      <a:srgbClr val="003399"/>
                    </a:solidFill>
                  </a:rPr>
                  <a:t>                    </a:t>
                </a:r>
                <a:r>
                  <a:rPr lang="en-US" altLang="zh-CN" sz="1600" b="1" dirty="0">
                    <a:solidFill>
                      <a:srgbClr val="003399"/>
                    </a:solidFill>
                  </a:rPr>
                  <a:t>MAXSIZE</a:t>
                </a:r>
                <a:r>
                  <a:rPr lang="en-US" altLang="zh-CN" b="1" dirty="0">
                    <a:solidFill>
                      <a:srgbClr val="003399"/>
                    </a:solidFill>
                    <a:latin typeface="宋体" charset="-122"/>
                    <a:ea typeface="宋体" charset="-122"/>
                  </a:rPr>
                  <a:t>-</a:t>
                </a:r>
                <a:r>
                  <a:rPr lang="en-US" altLang="zh-CN" b="1" dirty="0">
                    <a:solidFill>
                      <a:srgbClr val="003399"/>
                    </a:solidFill>
                  </a:rPr>
                  <a:t>1</a:t>
                </a:r>
              </a:p>
            </p:txBody>
          </p:sp>
          <p:sp>
            <p:nvSpPr>
              <p:cNvPr id="74764" name="Line 43"/>
              <p:cNvSpPr>
                <a:spLocks noChangeShapeType="1"/>
              </p:cNvSpPr>
              <p:nvPr/>
            </p:nvSpPr>
            <p:spPr bwMode="auto">
              <a:xfrm>
                <a:off x="740" y="3385"/>
                <a:ext cx="2631" cy="0"/>
              </a:xfrm>
              <a:prstGeom prst="line">
                <a:avLst/>
              </a:prstGeom>
              <a:noFill/>
              <a:ln w="31750" cap="sq">
                <a:solidFill>
                  <a:srgbClr val="000080"/>
                </a:solidFill>
                <a:round/>
                <a:headEnd type="none" w="sm" len="sm"/>
                <a:tailEnd type="none" w="sm" len="sm"/>
              </a:ln>
            </p:spPr>
            <p:txBody>
              <a:bodyPr/>
              <a:lstStyle/>
              <a:p>
                <a:endParaRPr lang="zh-CN" altLang="en-US"/>
              </a:p>
            </p:txBody>
          </p:sp>
          <p:sp>
            <p:nvSpPr>
              <p:cNvPr id="74765" name="Line 44"/>
              <p:cNvSpPr>
                <a:spLocks noChangeShapeType="1"/>
              </p:cNvSpPr>
              <p:nvPr/>
            </p:nvSpPr>
            <p:spPr bwMode="auto">
              <a:xfrm>
                <a:off x="732" y="3665"/>
                <a:ext cx="2631" cy="0"/>
              </a:xfrm>
              <a:prstGeom prst="line">
                <a:avLst/>
              </a:prstGeom>
              <a:noFill/>
              <a:ln w="31750" cap="sq">
                <a:solidFill>
                  <a:srgbClr val="000080"/>
                </a:solidFill>
                <a:round/>
                <a:headEnd type="none" w="sm" len="sm"/>
                <a:tailEnd type="none" w="sm" len="sm"/>
              </a:ln>
            </p:spPr>
            <p:txBody>
              <a:bodyPr/>
              <a:lstStyle/>
              <a:p>
                <a:endParaRPr lang="zh-CN" altLang="en-US"/>
              </a:p>
            </p:txBody>
          </p:sp>
          <p:sp>
            <p:nvSpPr>
              <p:cNvPr id="74766" name="Line 45"/>
              <p:cNvSpPr>
                <a:spLocks noChangeShapeType="1"/>
              </p:cNvSpPr>
              <p:nvPr/>
            </p:nvSpPr>
            <p:spPr bwMode="auto">
              <a:xfrm>
                <a:off x="727" y="3385"/>
                <a:ext cx="0" cy="272"/>
              </a:xfrm>
              <a:prstGeom prst="line">
                <a:avLst/>
              </a:prstGeom>
              <a:noFill/>
              <a:ln w="34925" cap="sq">
                <a:solidFill>
                  <a:srgbClr val="000080"/>
                </a:solidFill>
                <a:round/>
                <a:headEnd type="none" w="sm" len="sm"/>
                <a:tailEnd type="none" w="sm" len="sm"/>
              </a:ln>
            </p:spPr>
            <p:txBody>
              <a:bodyPr/>
              <a:lstStyle/>
              <a:p>
                <a:endParaRPr lang="zh-CN" altLang="en-US"/>
              </a:p>
            </p:txBody>
          </p:sp>
          <p:sp>
            <p:nvSpPr>
              <p:cNvPr id="74767" name="Line 46"/>
              <p:cNvSpPr>
                <a:spLocks noChangeShapeType="1"/>
              </p:cNvSpPr>
              <p:nvPr/>
            </p:nvSpPr>
            <p:spPr bwMode="auto">
              <a:xfrm>
                <a:off x="970" y="3385"/>
                <a:ext cx="0" cy="272"/>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74768" name="Line 47"/>
              <p:cNvSpPr>
                <a:spLocks noChangeShapeType="1"/>
              </p:cNvSpPr>
              <p:nvPr/>
            </p:nvSpPr>
            <p:spPr bwMode="auto">
              <a:xfrm>
                <a:off x="1226" y="3390"/>
                <a:ext cx="0" cy="272"/>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74769" name="Line 48"/>
              <p:cNvSpPr>
                <a:spLocks noChangeShapeType="1"/>
              </p:cNvSpPr>
              <p:nvPr/>
            </p:nvSpPr>
            <p:spPr bwMode="auto">
              <a:xfrm>
                <a:off x="1477" y="3385"/>
                <a:ext cx="0" cy="272"/>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74770" name="Line 49"/>
              <p:cNvSpPr>
                <a:spLocks noChangeShapeType="1"/>
              </p:cNvSpPr>
              <p:nvPr/>
            </p:nvSpPr>
            <p:spPr bwMode="auto">
              <a:xfrm>
                <a:off x="1725" y="3385"/>
                <a:ext cx="0" cy="272"/>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74771" name="Line 50"/>
              <p:cNvSpPr>
                <a:spLocks noChangeShapeType="1"/>
              </p:cNvSpPr>
              <p:nvPr/>
            </p:nvSpPr>
            <p:spPr bwMode="auto">
              <a:xfrm>
                <a:off x="1967" y="3393"/>
                <a:ext cx="0" cy="272"/>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74772" name="Line 51"/>
              <p:cNvSpPr>
                <a:spLocks noChangeShapeType="1"/>
              </p:cNvSpPr>
              <p:nvPr/>
            </p:nvSpPr>
            <p:spPr bwMode="auto">
              <a:xfrm>
                <a:off x="3371" y="3393"/>
                <a:ext cx="0" cy="272"/>
              </a:xfrm>
              <a:prstGeom prst="line">
                <a:avLst/>
              </a:prstGeom>
              <a:noFill/>
              <a:ln w="34925" cap="sq">
                <a:solidFill>
                  <a:srgbClr val="000080"/>
                </a:solidFill>
                <a:round/>
                <a:headEnd type="none" w="sm" len="sm"/>
                <a:tailEnd type="none" w="sm" len="sm"/>
              </a:ln>
            </p:spPr>
            <p:txBody>
              <a:bodyPr/>
              <a:lstStyle/>
              <a:p>
                <a:endParaRPr lang="zh-CN" altLang="en-US"/>
              </a:p>
            </p:txBody>
          </p:sp>
          <p:sp>
            <p:nvSpPr>
              <p:cNvPr id="74773" name="Line 52"/>
              <p:cNvSpPr>
                <a:spLocks noChangeShapeType="1"/>
              </p:cNvSpPr>
              <p:nvPr/>
            </p:nvSpPr>
            <p:spPr bwMode="auto">
              <a:xfrm>
                <a:off x="3128" y="3393"/>
                <a:ext cx="0" cy="272"/>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74774" name="Line 53"/>
              <p:cNvSpPr>
                <a:spLocks noChangeShapeType="1"/>
              </p:cNvSpPr>
              <p:nvPr/>
            </p:nvSpPr>
            <p:spPr bwMode="auto">
              <a:xfrm>
                <a:off x="2888" y="3385"/>
                <a:ext cx="0" cy="272"/>
              </a:xfrm>
              <a:prstGeom prst="line">
                <a:avLst/>
              </a:prstGeom>
              <a:noFill/>
              <a:ln w="25400" cap="sq">
                <a:solidFill>
                  <a:srgbClr val="000080"/>
                </a:solidFill>
                <a:round/>
                <a:headEnd type="none" w="sm" len="sm"/>
                <a:tailEnd type="none" w="sm" len="sm"/>
              </a:ln>
            </p:spPr>
            <p:txBody>
              <a:bodyPr/>
              <a:lstStyle/>
              <a:p>
                <a:endParaRPr lang="zh-CN" altLang="en-US"/>
              </a:p>
            </p:txBody>
          </p:sp>
        </p:grpSp>
      </p:grpSp>
      <p:grpSp>
        <p:nvGrpSpPr>
          <p:cNvPr id="47" name="Group 48"/>
          <p:cNvGrpSpPr>
            <a:grpSpLocks/>
          </p:cNvGrpSpPr>
          <p:nvPr/>
        </p:nvGrpSpPr>
        <p:grpSpPr bwMode="auto">
          <a:xfrm>
            <a:off x="5735960" y="116633"/>
            <a:ext cx="4932040" cy="1440159"/>
            <a:chOff x="3312" y="1510"/>
            <a:chExt cx="2064" cy="946"/>
          </a:xfrm>
        </p:grpSpPr>
        <p:sp>
          <p:nvSpPr>
            <p:cNvPr id="48" name="AutoShape 49"/>
            <p:cNvSpPr>
              <a:spLocks noChangeArrowheads="1"/>
            </p:cNvSpPr>
            <p:nvPr/>
          </p:nvSpPr>
          <p:spPr bwMode="auto">
            <a:xfrm>
              <a:off x="3312" y="1510"/>
              <a:ext cx="2064" cy="946"/>
            </a:xfrm>
            <a:prstGeom prst="cloudCallout">
              <a:avLst>
                <a:gd name="adj1" fmla="val -46297"/>
                <a:gd name="adj2" fmla="val 40386"/>
              </a:avLst>
            </a:prstGeom>
            <a:noFill/>
            <a:ln w="63500" cap="sq">
              <a:solidFill>
                <a:srgbClr val="33CCCC"/>
              </a:solidFill>
              <a:round/>
              <a:headEnd type="none" w="sm" len="sm"/>
              <a:tailEnd type="none" w="sm" len="sm"/>
            </a:ln>
          </p:spPr>
          <p:txBody>
            <a:bodyPr/>
            <a:lstStyle/>
            <a:p>
              <a:pPr algn="ctr"/>
              <a:endParaRPr lang="zh-CN" altLang="en-US"/>
            </a:p>
          </p:txBody>
        </p:sp>
        <p:sp>
          <p:nvSpPr>
            <p:cNvPr id="49" name="Text Box 50"/>
            <p:cNvSpPr txBox="1">
              <a:spLocks noChangeArrowheads="1"/>
            </p:cNvSpPr>
            <p:nvPr/>
          </p:nvSpPr>
          <p:spPr bwMode="auto">
            <a:xfrm>
              <a:off x="3506" y="1574"/>
              <a:ext cx="1870" cy="869"/>
            </a:xfrm>
            <a:prstGeom prst="rect">
              <a:avLst/>
            </a:prstGeom>
            <a:noFill/>
            <a:ln w="12700" cap="sq">
              <a:noFill/>
              <a:miter lim="800000"/>
              <a:headEnd type="none" w="sm" len="sm"/>
              <a:tailEnd type="none" w="sm" len="sm"/>
            </a:ln>
            <a:effectLst>
              <a:outerShdw dist="17961" dir="2700000" algn="ctr" rotWithShape="0">
                <a:schemeClr val="bg1"/>
              </a:outerShdw>
            </a:effectLst>
          </p:spPr>
          <p:txBody>
            <a:bodyPr>
              <a:spAutoFit/>
            </a:bodyPr>
            <a:lstStyle/>
            <a:p>
              <a:r>
                <a:rPr lang="zh-CN" altLang="en-US" sz="1600" b="1" dirty="0">
                  <a:solidFill>
                    <a:srgbClr val="FF3300"/>
                  </a:solidFill>
                  <a:ea typeface="幼圆" pitchFamily="49" charset="-122"/>
                </a:rPr>
                <a:t>在实际应用中，由于队元素需要频繁的进出，单向结构很容易造成溢出，即</a:t>
              </a:r>
              <a:r>
                <a:rPr lang="en-US" altLang="zh-CN" sz="1600" b="1" dirty="0">
                  <a:solidFill>
                    <a:srgbClr val="FF3300"/>
                  </a:solidFill>
                  <a:ea typeface="幼圆" pitchFamily="49" charset="-122"/>
                </a:rPr>
                <a:t>rear</a:t>
              </a:r>
              <a:r>
                <a:rPr lang="zh-CN" altLang="en-US" sz="1600" b="1" dirty="0">
                  <a:solidFill>
                    <a:srgbClr val="FF3300"/>
                  </a:solidFill>
                  <a:ea typeface="幼圆" pitchFamily="49" charset="-122"/>
                </a:rPr>
                <a:t>到达数组尾，而实际队中元素并没有超出数组大小。因此，在实际应用中通常将队设计成一个循环队列，从而提高空间利用率。</a:t>
              </a:r>
            </a:p>
          </p:txBody>
        </p:sp>
      </p:grpSp>
    </p:spTree>
  </p:cSld>
  <p:clrMapOvr>
    <a:masterClrMapping/>
  </p:clrMapOvr>
  <p:transition>
    <p:pull dir="l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7" presetClass="entr" presetSubtype="2"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5000" fill="hold"/>
                                        <p:tgtEl>
                                          <p:spTgt spid="47"/>
                                        </p:tgtEl>
                                        <p:attrNameLst>
                                          <p:attrName>ppt_x</p:attrName>
                                        </p:attrNameLst>
                                      </p:cBhvr>
                                      <p:tavLst>
                                        <p:tav tm="0">
                                          <p:val>
                                            <p:strVal val="1+#ppt_w/2"/>
                                          </p:val>
                                        </p:tav>
                                        <p:tav tm="100000">
                                          <p:val>
                                            <p:strVal val="#ppt_x"/>
                                          </p:val>
                                        </p:tav>
                                      </p:tavLst>
                                    </p:anim>
                                    <p:anim calcmode="lin" valueType="num">
                                      <p:cBhvr additive="base">
                                        <p:cTn id="8" dur="5000" fill="hold"/>
                                        <p:tgtEl>
                                          <p:spTgt spid="4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ox(in)">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50"/>
                                        </p:tgtEl>
                                        <p:attrNameLst>
                                          <p:attrName>style.visibility</p:attrName>
                                        </p:attrNameLst>
                                      </p:cBhvr>
                                      <p:to>
                                        <p:strVal val="visible"/>
                                      </p:to>
                                    </p:set>
                                    <p:animEffect transition="in" filter="blinds(horizontal)">
                                      <p:cBhvr>
                                        <p:cTn id="18" dur="500"/>
                                        <p:tgtEl>
                                          <p:spTgt spid="50"/>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ox(in)">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7"/>
          <p:cNvGrpSpPr>
            <a:grpSpLocks/>
          </p:cNvGrpSpPr>
          <p:nvPr/>
        </p:nvGrpSpPr>
        <p:grpSpPr bwMode="auto">
          <a:xfrm>
            <a:off x="2927351" y="1328739"/>
            <a:ext cx="6005513" cy="2605087"/>
            <a:chOff x="975" y="709"/>
            <a:chExt cx="3783" cy="1641"/>
          </a:xfrm>
        </p:grpSpPr>
        <p:sp>
          <p:nvSpPr>
            <p:cNvPr id="69635" name="Rectangle 3"/>
            <p:cNvSpPr>
              <a:spLocks noChangeArrowheads="1"/>
            </p:cNvSpPr>
            <p:nvPr/>
          </p:nvSpPr>
          <p:spPr bwMode="auto">
            <a:xfrm>
              <a:off x="1392" y="1150"/>
              <a:ext cx="3366" cy="1200"/>
            </a:xfrm>
            <a:prstGeom prst="rect">
              <a:avLst/>
            </a:prstGeom>
            <a:solidFill>
              <a:srgbClr val="E1F0FF"/>
            </a:solidFill>
            <a:ln w="12700" cap="sq">
              <a:noFill/>
              <a:miter lim="800000"/>
              <a:headEnd/>
              <a:tailEnd/>
            </a:ln>
            <a:effectLst>
              <a:outerShdw dist="206741" dir="2550627" algn="ctr" rotWithShape="0">
                <a:srgbClr val="D1D1D1"/>
              </a:outerShdw>
            </a:effectLst>
          </p:spPr>
          <p:txBody>
            <a:bodyPr wrap="none" anchor="ctr"/>
            <a:lstStyle/>
            <a:p>
              <a:endParaRPr lang="zh-CN" altLang="en-US"/>
            </a:p>
          </p:txBody>
        </p:sp>
        <p:sp>
          <p:nvSpPr>
            <p:cNvPr id="69636" name="Text Box 4"/>
            <p:cNvSpPr txBox="1">
              <a:spLocks noChangeArrowheads="1"/>
            </p:cNvSpPr>
            <p:nvPr/>
          </p:nvSpPr>
          <p:spPr bwMode="auto">
            <a:xfrm>
              <a:off x="1770" y="1355"/>
              <a:ext cx="2694" cy="757"/>
            </a:xfrm>
            <a:prstGeom prst="rect">
              <a:avLst/>
            </a:prstGeom>
            <a:noFill/>
            <a:ln w="12700" cap="sq">
              <a:noFill/>
              <a:miter lim="800000"/>
              <a:headEnd/>
              <a:tailEnd/>
            </a:ln>
          </p:spPr>
          <p:txBody>
            <a:bodyPr>
              <a:spAutoFit/>
            </a:bodyPr>
            <a:lstStyle/>
            <a:p>
              <a:pPr fontAlgn="t">
                <a:lnSpc>
                  <a:spcPct val="90000"/>
                </a:lnSpc>
              </a:pPr>
              <a:r>
                <a:rPr lang="en-US" altLang="zh-CN" sz="4000" b="1" baseline="-10000" dirty="0">
                  <a:solidFill>
                    <a:srgbClr val="B2B2B2"/>
                  </a:solidFill>
                </a:rPr>
                <a:t>#define MAXSIZE     1000</a:t>
              </a:r>
            </a:p>
            <a:p>
              <a:pPr fontAlgn="t">
                <a:lnSpc>
                  <a:spcPct val="90000"/>
                </a:lnSpc>
              </a:pPr>
              <a:r>
                <a:rPr lang="en-US" altLang="zh-CN" sz="4000" b="1" baseline="-10000" dirty="0" err="1">
                  <a:solidFill>
                    <a:srgbClr val="003399"/>
                  </a:solidFill>
                </a:rPr>
                <a:t>QElemType</a:t>
              </a:r>
              <a:r>
                <a:rPr lang="en-US" altLang="zh-CN" sz="4000" b="1" baseline="-10000" dirty="0">
                  <a:solidFill>
                    <a:srgbClr val="003399"/>
                  </a:solidFill>
                </a:rPr>
                <a:t>  QUEUE[MAXSIZE];</a:t>
              </a:r>
            </a:p>
            <a:p>
              <a:pPr fontAlgn="t">
                <a:lnSpc>
                  <a:spcPct val="90000"/>
                </a:lnSpc>
              </a:pPr>
              <a:r>
                <a:rPr lang="en-US" altLang="zh-CN" sz="4000" b="1" baseline="-10000" dirty="0" err="1">
                  <a:solidFill>
                    <a:srgbClr val="003399"/>
                  </a:solidFill>
                </a:rPr>
                <a:t>int</a:t>
              </a:r>
              <a:r>
                <a:rPr lang="en-US" altLang="zh-CN" sz="4000" b="1" baseline="-10000" dirty="0">
                  <a:solidFill>
                    <a:srgbClr val="003399"/>
                  </a:solidFill>
                </a:rPr>
                <a:t>  Front, </a:t>
              </a:r>
              <a:r>
                <a:rPr lang="en-US" altLang="zh-CN" sz="4000" b="1" baseline="-10000" dirty="0" err="1">
                  <a:solidFill>
                    <a:srgbClr val="003399"/>
                  </a:solidFill>
                </a:rPr>
                <a:t>Rear,Count</a:t>
              </a:r>
              <a:r>
                <a:rPr lang="en-US" altLang="zh-CN" sz="4000" b="1" baseline="-10000" dirty="0">
                  <a:solidFill>
                    <a:srgbClr val="003399"/>
                  </a:solidFill>
                </a:rPr>
                <a:t>;</a:t>
              </a:r>
            </a:p>
          </p:txBody>
        </p:sp>
        <p:sp>
          <p:nvSpPr>
            <p:cNvPr id="69637" name="Oval 124"/>
            <p:cNvSpPr>
              <a:spLocks noChangeArrowheads="1"/>
            </p:cNvSpPr>
            <p:nvPr/>
          </p:nvSpPr>
          <p:spPr bwMode="auto">
            <a:xfrm rot="-383283">
              <a:off x="975" y="792"/>
              <a:ext cx="1676" cy="384"/>
            </a:xfrm>
            <a:prstGeom prst="ellipse">
              <a:avLst/>
            </a:prstGeom>
            <a:solidFill>
              <a:srgbClr val="CCFFFF"/>
            </a:solidFill>
            <a:ln w="12700" cap="sq">
              <a:noFill/>
              <a:round/>
              <a:headEnd type="none" w="sm" len="sm"/>
              <a:tailEnd type="none" w="sm" len="sm"/>
            </a:ln>
            <a:effectLst>
              <a:outerShdw dist="63500" dir="2212194" algn="ctr" rotWithShape="0">
                <a:srgbClr val="C0C0C0"/>
              </a:outerShdw>
            </a:effectLst>
          </p:spPr>
          <p:txBody>
            <a:bodyPr wrap="none" anchor="ctr"/>
            <a:lstStyle/>
            <a:p>
              <a:endParaRPr lang="zh-CN" altLang="en-US"/>
            </a:p>
          </p:txBody>
        </p:sp>
        <p:sp>
          <p:nvSpPr>
            <p:cNvPr id="69638" name="Text Box 125"/>
            <p:cNvSpPr txBox="1">
              <a:spLocks noChangeArrowheads="1"/>
            </p:cNvSpPr>
            <p:nvPr/>
          </p:nvSpPr>
          <p:spPr bwMode="auto">
            <a:xfrm rot="-448457">
              <a:off x="1098" y="709"/>
              <a:ext cx="1396" cy="442"/>
            </a:xfrm>
            <a:prstGeom prst="rect">
              <a:avLst/>
            </a:prstGeom>
            <a:noFill/>
            <a:ln w="12700" cap="sq">
              <a:noFill/>
              <a:miter lim="800000"/>
              <a:headEnd/>
              <a:tailEnd/>
            </a:ln>
            <a:effectLst>
              <a:outerShdw dist="17961" dir="2700000" algn="ctr" rotWithShape="0">
                <a:schemeClr val="bg1"/>
              </a:outerShdw>
            </a:effectLst>
          </p:spPr>
          <p:txBody>
            <a:bodyPr wrap="none">
              <a:spAutoFit/>
            </a:bodyPr>
            <a:lstStyle/>
            <a:p>
              <a:pPr fontAlgn="t"/>
              <a:r>
                <a:rPr lang="zh-CN" altLang="en-US" sz="6000" b="1" baseline="-10000">
                  <a:solidFill>
                    <a:srgbClr val="FF3300"/>
                  </a:solidFill>
                  <a:ea typeface="华文新魏" pitchFamily="2" charset="-122"/>
                </a:rPr>
                <a:t>类型定义</a:t>
              </a:r>
            </a:p>
          </p:txBody>
        </p:sp>
      </p:grpSp>
      <p:sp>
        <p:nvSpPr>
          <p:cNvPr id="8" name="AutoShape 133"/>
          <p:cNvSpPr>
            <a:spLocks noChangeArrowheads="1"/>
          </p:cNvSpPr>
          <p:nvPr/>
        </p:nvSpPr>
        <p:spPr bwMode="auto">
          <a:xfrm>
            <a:off x="3143672" y="4869160"/>
            <a:ext cx="2736304" cy="1224136"/>
          </a:xfrm>
          <a:prstGeom prst="wedgeRectCallout">
            <a:avLst>
              <a:gd name="adj1" fmla="val 22969"/>
              <a:gd name="adj2" fmla="val -140923"/>
            </a:avLst>
          </a:prstGeom>
          <a:noFill/>
          <a:ln w="63500" cap="sq">
            <a:solidFill>
              <a:srgbClr val="33CCCC"/>
            </a:solidFill>
            <a:miter lim="800000"/>
            <a:headEnd type="none" w="sm" len="sm"/>
            <a:tailEnd type="none" w="sm" len="sm"/>
          </a:ln>
          <a:effectLst/>
        </p:spPr>
        <p:txBody>
          <a:bodyPr/>
          <a:lstStyle/>
          <a:p>
            <a:pPr>
              <a:defRPr/>
            </a:pPr>
            <a:r>
              <a:rPr lang="zh-CN" altLang="en-US" sz="1600" b="1" dirty="0">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a typeface="黑体" pitchFamily="2" charset="-122"/>
              </a:rPr>
              <a:t>由于变量</a:t>
            </a:r>
            <a:r>
              <a:rPr lang="en-US" altLang="zh-CN" sz="1600" b="1" dirty="0">
                <a:solidFill>
                  <a:srgbClr val="7030A0"/>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a typeface="黑体" pitchFamily="2" charset="-122"/>
              </a:rPr>
              <a:t>Front</a:t>
            </a:r>
            <a:r>
              <a:rPr lang="zh-CN" altLang="en-US" sz="1600" b="1" dirty="0">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a typeface="黑体" pitchFamily="2" charset="-122"/>
              </a:rPr>
              <a:t>和</a:t>
            </a:r>
            <a:r>
              <a:rPr lang="en-US" altLang="zh-CN" sz="1600" b="1" dirty="0">
                <a:solidFill>
                  <a:srgbClr val="7030A0"/>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a typeface="黑体" pitchFamily="2" charset="-122"/>
              </a:rPr>
              <a:t>Rear</a:t>
            </a:r>
            <a:r>
              <a:rPr lang="zh-CN" altLang="en-US" sz="1600" b="1" dirty="0">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a typeface="黑体" pitchFamily="2" charset="-122"/>
              </a:rPr>
              <a:t>需要在多个操作（函数）间共享，为了方便操作，在此将其设为</a:t>
            </a:r>
            <a:r>
              <a:rPr lang="zh-CN" altLang="en-US" sz="1600" b="1" dirty="0">
                <a:solidFill>
                  <a:srgbClr val="7030A0"/>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a typeface="黑体" pitchFamily="2" charset="-122"/>
              </a:rPr>
              <a:t>全局变量</a:t>
            </a:r>
            <a:r>
              <a:rPr lang="zh-CN" altLang="en-US" sz="1600" b="1" dirty="0">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a typeface="黑体" pitchFamily="2" charset="-122"/>
              </a:rPr>
              <a:t>。</a:t>
            </a:r>
            <a:r>
              <a:rPr lang="en-US" altLang="zh-CN" sz="1600" b="1" dirty="0">
                <a:solidFill>
                  <a:srgbClr val="7030A0"/>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a typeface="黑体" pitchFamily="2" charset="-122"/>
              </a:rPr>
              <a:t>Count</a:t>
            </a:r>
            <a:r>
              <a:rPr lang="zh-CN" altLang="en-US" sz="1600" b="1" dirty="0">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a typeface="黑体" pitchFamily="2" charset="-122"/>
              </a:rPr>
              <a:t>为队列中元素个数。</a:t>
            </a:r>
          </a:p>
        </p:txBody>
      </p:sp>
      <p:sp>
        <p:nvSpPr>
          <p:cNvPr id="9" name="AutoShape 133"/>
          <p:cNvSpPr>
            <a:spLocks noChangeArrowheads="1"/>
          </p:cNvSpPr>
          <p:nvPr/>
        </p:nvSpPr>
        <p:spPr bwMode="auto">
          <a:xfrm>
            <a:off x="6384032" y="4941168"/>
            <a:ext cx="2736304" cy="1224136"/>
          </a:xfrm>
          <a:prstGeom prst="wedgeRectCallout">
            <a:avLst>
              <a:gd name="adj1" fmla="val -30846"/>
              <a:gd name="adj2" fmla="val -142863"/>
            </a:avLst>
          </a:prstGeom>
          <a:noFill/>
          <a:ln w="63500" cap="sq">
            <a:solidFill>
              <a:srgbClr val="33CCCC"/>
            </a:solidFill>
            <a:miter lim="800000"/>
            <a:headEnd type="none" w="sm" len="sm"/>
            <a:tailEnd type="none" w="sm" len="sm"/>
          </a:ln>
          <a:effectLst/>
        </p:spPr>
        <p:txBody>
          <a:bodyPr/>
          <a:lstStyle/>
          <a:p>
            <a:pPr>
              <a:defRPr/>
            </a:pPr>
            <a:r>
              <a:rPr lang="zh-CN" altLang="en-US" sz="1600" b="1" dirty="0">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a typeface="黑体" pitchFamily="2" charset="-122"/>
              </a:rPr>
              <a:t>初始时，三个变量为：</a:t>
            </a:r>
            <a:endParaRPr lang="en-US" altLang="zh-CN" sz="1600" b="1" dirty="0">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a typeface="黑体" pitchFamily="2" charset="-122"/>
            </a:endParaRPr>
          </a:p>
          <a:p>
            <a:pPr>
              <a:defRPr/>
            </a:pPr>
            <a:r>
              <a:rPr lang="en-US" altLang="zh-CN" sz="1600" b="1" dirty="0">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a typeface="黑体" pitchFamily="2" charset="-122"/>
              </a:rPr>
              <a:t>Front = 0;</a:t>
            </a:r>
          </a:p>
          <a:p>
            <a:pPr>
              <a:defRPr/>
            </a:pPr>
            <a:r>
              <a:rPr lang="en-US" altLang="zh-CN" sz="1600" b="1" dirty="0">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a typeface="黑体" pitchFamily="2" charset="-122"/>
              </a:rPr>
              <a:t>Rear = MAXSIZE – 1;</a:t>
            </a:r>
          </a:p>
          <a:p>
            <a:pPr>
              <a:defRPr/>
            </a:pPr>
            <a:r>
              <a:rPr lang="en-US" altLang="zh-CN" sz="1600" b="1" dirty="0">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a typeface="黑体" pitchFamily="2" charset="-122"/>
              </a:rPr>
              <a:t>Count = 0; </a:t>
            </a:r>
            <a:endParaRPr lang="zh-CN" altLang="en-US" sz="1600" b="1" dirty="0">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a typeface="黑体" pitchFamily="2" charset="-122"/>
            </a:endParaRPr>
          </a:p>
        </p:txBody>
      </p:sp>
    </p:spTree>
  </p:cSld>
  <p:clrMapOvr>
    <a:masterClrMapping/>
  </p:clrMapOvr>
  <p:transition>
    <p:cover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2630488" y="1752601"/>
            <a:ext cx="6705600" cy="1978025"/>
            <a:chOff x="480" y="1104"/>
            <a:chExt cx="4224" cy="1246"/>
          </a:xfrm>
        </p:grpSpPr>
        <p:sp>
          <p:nvSpPr>
            <p:cNvPr id="70674" name="Rectangle 3"/>
            <p:cNvSpPr>
              <a:spLocks noChangeArrowheads="1"/>
            </p:cNvSpPr>
            <p:nvPr/>
          </p:nvSpPr>
          <p:spPr bwMode="auto">
            <a:xfrm>
              <a:off x="480" y="1104"/>
              <a:ext cx="4224" cy="1152"/>
            </a:xfrm>
            <a:prstGeom prst="rect">
              <a:avLst/>
            </a:prstGeom>
            <a:solidFill>
              <a:srgbClr val="E1F0FF"/>
            </a:solidFill>
            <a:ln w="12700" cap="sq">
              <a:noFill/>
              <a:miter lim="800000"/>
              <a:headEnd type="none" w="sm" len="sm"/>
              <a:tailEnd type="none" w="sm" len="sm"/>
            </a:ln>
            <a:effectLst>
              <a:outerShdw dist="188799" dir="2536421" algn="ctr" rotWithShape="0">
                <a:srgbClr val="D1D1D1"/>
              </a:outerShdw>
            </a:effectLst>
          </p:spPr>
          <p:txBody>
            <a:bodyPr wrap="none" anchor="ctr"/>
            <a:lstStyle/>
            <a:p>
              <a:endParaRPr lang="zh-CN" altLang="en-US"/>
            </a:p>
          </p:txBody>
        </p:sp>
        <p:sp>
          <p:nvSpPr>
            <p:cNvPr id="70675" name="Text Box 4"/>
            <p:cNvSpPr txBox="1">
              <a:spLocks noChangeArrowheads="1"/>
            </p:cNvSpPr>
            <p:nvPr/>
          </p:nvSpPr>
          <p:spPr bwMode="auto">
            <a:xfrm>
              <a:off x="852" y="1260"/>
              <a:ext cx="3770" cy="1090"/>
            </a:xfrm>
            <a:prstGeom prst="rect">
              <a:avLst/>
            </a:prstGeom>
            <a:noFill/>
            <a:ln w="12700" cap="sq">
              <a:noFill/>
              <a:miter lim="800000"/>
              <a:headEnd type="none" w="sm" len="sm"/>
              <a:tailEnd type="none" w="sm" len="sm"/>
            </a:ln>
          </p:spPr>
          <p:txBody>
            <a:bodyPr>
              <a:spAutoFit/>
            </a:bodyPr>
            <a:lstStyle/>
            <a:p>
              <a:pPr>
                <a:lnSpc>
                  <a:spcPct val="70000"/>
                </a:lnSpc>
              </a:pPr>
              <a:r>
                <a:rPr lang="en-US" altLang="zh-CN" sz="2500" b="1" dirty="0">
                  <a:solidFill>
                    <a:srgbClr val="003399"/>
                  </a:solidFill>
                </a:rPr>
                <a:t>void  </a:t>
              </a:r>
              <a:r>
                <a:rPr lang="en-US" altLang="zh-CN" sz="2500" b="1" dirty="0" err="1">
                  <a:solidFill>
                    <a:srgbClr val="003399"/>
                  </a:solidFill>
                </a:rPr>
                <a:t>initQueue</a:t>
              </a:r>
              <a:r>
                <a:rPr lang="en-US" altLang="zh-CN" sz="2500" b="1" dirty="0">
                  <a:solidFill>
                    <a:srgbClr val="003399"/>
                  </a:solidFill>
                </a:rPr>
                <a:t>(  ) </a:t>
              </a:r>
            </a:p>
            <a:p>
              <a:pPr>
                <a:lnSpc>
                  <a:spcPct val="70000"/>
                </a:lnSpc>
              </a:pPr>
              <a:r>
                <a:rPr lang="en-US" altLang="zh-CN" sz="2500" b="1" dirty="0">
                  <a:solidFill>
                    <a:srgbClr val="003399"/>
                  </a:solidFill>
                </a:rPr>
                <a:t>{</a:t>
              </a:r>
            </a:p>
            <a:p>
              <a:pPr>
                <a:lnSpc>
                  <a:spcPct val="70000"/>
                </a:lnSpc>
              </a:pPr>
              <a:r>
                <a:rPr lang="en-US" altLang="zh-CN" sz="2500" b="1" dirty="0">
                  <a:solidFill>
                    <a:srgbClr val="003399"/>
                  </a:solidFill>
                </a:rPr>
                <a:t>        Front = </a:t>
              </a:r>
              <a:r>
                <a:rPr lang="en-US" altLang="zh-CN" sz="2600" b="1" dirty="0">
                  <a:solidFill>
                    <a:srgbClr val="003399"/>
                  </a:solidFill>
                  <a:ea typeface="宋体" charset="-122"/>
                  <a:cs typeface="Times New Roman" pitchFamily="18" charset="0"/>
                </a:rPr>
                <a:t>0</a:t>
              </a:r>
              <a:r>
                <a:rPr lang="en-US" altLang="zh-CN" sz="2500" b="1" dirty="0">
                  <a:solidFill>
                    <a:srgbClr val="003399"/>
                  </a:solidFill>
                </a:rPr>
                <a:t>;</a:t>
              </a:r>
            </a:p>
            <a:p>
              <a:pPr>
                <a:lnSpc>
                  <a:spcPct val="70000"/>
                </a:lnSpc>
              </a:pPr>
              <a:r>
                <a:rPr lang="en-US" altLang="zh-CN" sz="2500" b="1" dirty="0">
                  <a:solidFill>
                    <a:srgbClr val="003399"/>
                  </a:solidFill>
                </a:rPr>
                <a:t>        Rear = </a:t>
              </a:r>
              <a:r>
                <a:rPr lang="en-US" altLang="zh-CN" sz="2600" b="1" dirty="0">
                  <a:solidFill>
                    <a:srgbClr val="003399"/>
                  </a:solidFill>
                  <a:ea typeface="宋体" charset="-122"/>
                </a:rPr>
                <a:t>MAXSIZE-1</a:t>
              </a:r>
              <a:r>
                <a:rPr lang="en-US" altLang="zh-CN" sz="2500" b="1" dirty="0">
                  <a:solidFill>
                    <a:srgbClr val="003399"/>
                  </a:solidFill>
                </a:rPr>
                <a:t>;</a:t>
              </a:r>
            </a:p>
            <a:p>
              <a:pPr>
                <a:lnSpc>
                  <a:spcPct val="70000"/>
                </a:lnSpc>
              </a:pPr>
              <a:r>
                <a:rPr lang="en-US" altLang="zh-CN" sz="2500" b="1" dirty="0">
                  <a:solidFill>
                    <a:srgbClr val="003399"/>
                  </a:solidFill>
                </a:rPr>
                <a:t>        Count = 0;</a:t>
              </a:r>
            </a:p>
            <a:p>
              <a:pPr>
                <a:lnSpc>
                  <a:spcPct val="70000"/>
                </a:lnSpc>
              </a:pPr>
              <a:r>
                <a:rPr lang="en-US" altLang="zh-CN" sz="2500" b="1" dirty="0">
                  <a:solidFill>
                    <a:srgbClr val="003399"/>
                  </a:solidFill>
                </a:rPr>
                <a:t>}</a:t>
              </a:r>
            </a:p>
          </p:txBody>
        </p:sp>
      </p:grpSp>
      <p:grpSp>
        <p:nvGrpSpPr>
          <p:cNvPr id="3" name="Group 31"/>
          <p:cNvGrpSpPr>
            <a:grpSpLocks/>
          </p:cNvGrpSpPr>
          <p:nvPr/>
        </p:nvGrpSpPr>
        <p:grpSpPr bwMode="auto">
          <a:xfrm>
            <a:off x="2057400" y="3886200"/>
            <a:ext cx="5262736" cy="647700"/>
            <a:chOff x="336" y="2448"/>
            <a:chExt cx="3120" cy="408"/>
          </a:xfrm>
        </p:grpSpPr>
        <p:sp>
          <p:nvSpPr>
            <p:cNvPr id="70672" name="AutoShape 6"/>
            <p:cNvSpPr>
              <a:spLocks noChangeArrowheads="1"/>
            </p:cNvSpPr>
            <p:nvPr/>
          </p:nvSpPr>
          <p:spPr bwMode="auto">
            <a:xfrm>
              <a:off x="336" y="2448"/>
              <a:ext cx="3048" cy="408"/>
            </a:xfrm>
            <a:prstGeom prst="cloudCallout">
              <a:avLst>
                <a:gd name="adj1" fmla="val -7875"/>
                <a:gd name="adj2" fmla="val 40194"/>
              </a:avLst>
            </a:prstGeom>
            <a:gradFill rotWithShape="0">
              <a:gsLst>
                <a:gs pos="0">
                  <a:srgbClr val="185E5E"/>
                </a:gs>
                <a:gs pos="50000">
                  <a:srgbClr val="33CCCC"/>
                </a:gs>
                <a:gs pos="100000">
                  <a:srgbClr val="185E5E"/>
                </a:gs>
              </a:gsLst>
              <a:lin ang="2700000" scaled="1"/>
            </a:gradFill>
            <a:ln w="12700" cap="sq">
              <a:noFill/>
              <a:round/>
              <a:headEnd type="none" w="sm" len="sm"/>
              <a:tailEnd type="none" w="sm" len="sm"/>
            </a:ln>
            <a:effectLst>
              <a:outerShdw dist="96720" dir="1391915" algn="ctr" rotWithShape="0">
                <a:srgbClr val="808080"/>
              </a:outerShdw>
            </a:effectLst>
          </p:spPr>
          <p:txBody>
            <a:bodyPr/>
            <a:lstStyle/>
            <a:p>
              <a:pPr algn="ctr"/>
              <a:endParaRPr lang="zh-CN" altLang="en-US" sz="2400" b="1"/>
            </a:p>
          </p:txBody>
        </p:sp>
        <p:sp>
          <p:nvSpPr>
            <p:cNvPr id="70673" name="Text Box 7"/>
            <p:cNvSpPr txBox="1">
              <a:spLocks noChangeArrowheads="1"/>
            </p:cNvSpPr>
            <p:nvPr/>
          </p:nvSpPr>
          <p:spPr bwMode="auto">
            <a:xfrm>
              <a:off x="516" y="2480"/>
              <a:ext cx="2940" cy="359"/>
            </a:xfrm>
            <a:prstGeom prst="rect">
              <a:avLst/>
            </a:prstGeom>
            <a:noFill/>
            <a:ln w="12700" cap="sq">
              <a:noFill/>
              <a:miter lim="800000"/>
              <a:headEnd type="none" w="sm" len="sm"/>
              <a:tailEnd type="none" w="sm" len="sm"/>
            </a:ln>
            <a:effectLst>
              <a:outerShdw dist="28398" dir="1593903" algn="ctr" rotWithShape="0">
                <a:srgbClr val="000000"/>
              </a:outerShdw>
            </a:effectLst>
          </p:spPr>
          <p:txBody>
            <a:bodyPr>
              <a:spAutoFit/>
            </a:bodyPr>
            <a:lstStyle/>
            <a:p>
              <a:pPr eaLnBrk="1" hangingPunct="1"/>
              <a:r>
                <a:rPr kumimoji="1" lang="zh-CN" altLang="en-US" sz="3100" b="1" dirty="0">
                  <a:solidFill>
                    <a:srgbClr val="FFFF00"/>
                  </a:solidFill>
                </a:rPr>
                <a:t>2、测试队列是否为空或满</a:t>
              </a:r>
            </a:p>
          </p:txBody>
        </p:sp>
      </p:grpSp>
      <p:grpSp>
        <p:nvGrpSpPr>
          <p:cNvPr id="4" name="Group 8"/>
          <p:cNvGrpSpPr>
            <a:grpSpLocks/>
          </p:cNvGrpSpPr>
          <p:nvPr/>
        </p:nvGrpSpPr>
        <p:grpSpPr bwMode="auto">
          <a:xfrm>
            <a:off x="2627314" y="4648200"/>
            <a:ext cx="3036505" cy="1676400"/>
            <a:chOff x="480" y="2832"/>
            <a:chExt cx="3453" cy="1056"/>
          </a:xfrm>
        </p:grpSpPr>
        <p:sp>
          <p:nvSpPr>
            <p:cNvPr id="70670" name="Rectangle 9"/>
            <p:cNvSpPr>
              <a:spLocks noChangeArrowheads="1"/>
            </p:cNvSpPr>
            <p:nvPr/>
          </p:nvSpPr>
          <p:spPr bwMode="auto">
            <a:xfrm>
              <a:off x="480" y="2832"/>
              <a:ext cx="3453" cy="1056"/>
            </a:xfrm>
            <a:prstGeom prst="rect">
              <a:avLst/>
            </a:prstGeom>
            <a:solidFill>
              <a:srgbClr val="FFFFD1"/>
            </a:solidFill>
            <a:ln w="12700" cap="sq">
              <a:noFill/>
              <a:miter lim="800000"/>
              <a:headEnd type="none" w="sm" len="sm"/>
              <a:tailEnd type="none" w="sm" len="sm"/>
            </a:ln>
            <a:effectLst>
              <a:outerShdw dist="188799" dir="2536421" algn="ctr" rotWithShape="0">
                <a:srgbClr val="D1D1D1"/>
              </a:outerShdw>
            </a:effectLst>
          </p:spPr>
          <p:txBody>
            <a:bodyPr wrap="none" anchor="ctr"/>
            <a:lstStyle/>
            <a:p>
              <a:endParaRPr lang="zh-CN" altLang="en-US"/>
            </a:p>
          </p:txBody>
        </p:sp>
        <p:sp>
          <p:nvSpPr>
            <p:cNvPr id="70671" name="Text Box 10"/>
            <p:cNvSpPr txBox="1">
              <a:spLocks noChangeArrowheads="1"/>
            </p:cNvSpPr>
            <p:nvPr/>
          </p:nvSpPr>
          <p:spPr bwMode="auto">
            <a:xfrm>
              <a:off x="864" y="2966"/>
              <a:ext cx="2823" cy="679"/>
            </a:xfrm>
            <a:prstGeom prst="rect">
              <a:avLst/>
            </a:prstGeom>
            <a:noFill/>
            <a:ln w="12700" cap="sq">
              <a:noFill/>
              <a:miter lim="800000"/>
              <a:headEnd type="none" w="sm" len="sm"/>
              <a:tailEnd type="none" w="sm" len="sm"/>
            </a:ln>
          </p:spPr>
          <p:txBody>
            <a:bodyPr wrap="square">
              <a:spAutoFit/>
            </a:bodyPr>
            <a:lstStyle/>
            <a:p>
              <a:pPr>
                <a:lnSpc>
                  <a:spcPct val="80000"/>
                </a:lnSpc>
              </a:pPr>
              <a:r>
                <a:rPr lang="en-US" altLang="zh-CN" sz="2000" b="1" dirty="0" err="1">
                  <a:solidFill>
                    <a:srgbClr val="003399"/>
                  </a:solidFill>
                </a:rPr>
                <a:t>int</a:t>
              </a:r>
              <a:r>
                <a:rPr lang="en-US" altLang="zh-CN" sz="2000" b="1" dirty="0">
                  <a:solidFill>
                    <a:srgbClr val="003399"/>
                  </a:solidFill>
                </a:rPr>
                <a:t>  </a:t>
              </a:r>
              <a:r>
                <a:rPr lang="en-US" altLang="zh-CN" sz="2000" b="1" dirty="0" err="1">
                  <a:solidFill>
                    <a:srgbClr val="003399"/>
                  </a:solidFill>
                </a:rPr>
                <a:t>isEmpty</a:t>
              </a:r>
              <a:r>
                <a:rPr lang="en-US" altLang="zh-CN" sz="2000" b="1" dirty="0">
                  <a:solidFill>
                    <a:srgbClr val="003399"/>
                  </a:solidFill>
                </a:rPr>
                <a:t>( )</a:t>
              </a:r>
            </a:p>
            <a:p>
              <a:pPr>
                <a:lnSpc>
                  <a:spcPct val="80000"/>
                </a:lnSpc>
              </a:pPr>
              <a:r>
                <a:rPr lang="en-US" altLang="zh-CN" sz="2000" b="1" dirty="0">
                  <a:solidFill>
                    <a:srgbClr val="003399"/>
                  </a:solidFill>
                </a:rPr>
                <a:t>{</a:t>
              </a:r>
            </a:p>
            <a:p>
              <a:pPr>
                <a:lnSpc>
                  <a:spcPct val="80000"/>
                </a:lnSpc>
              </a:pPr>
              <a:r>
                <a:rPr lang="en-US" altLang="zh-CN" sz="2000" b="1" dirty="0">
                  <a:solidFill>
                    <a:srgbClr val="003399"/>
                  </a:solidFill>
                </a:rPr>
                <a:t>        return Count == 0;</a:t>
              </a:r>
            </a:p>
            <a:p>
              <a:pPr>
                <a:lnSpc>
                  <a:spcPct val="80000"/>
                </a:lnSpc>
              </a:pPr>
              <a:r>
                <a:rPr lang="en-US" altLang="zh-CN" sz="2000" b="1" dirty="0">
                  <a:solidFill>
                    <a:srgbClr val="003399"/>
                  </a:solidFill>
                </a:rPr>
                <a:t>}</a:t>
              </a:r>
            </a:p>
          </p:txBody>
        </p:sp>
      </p:grpSp>
      <p:grpSp>
        <p:nvGrpSpPr>
          <p:cNvPr id="5" name="Group 32"/>
          <p:cNvGrpSpPr>
            <a:grpSpLocks/>
          </p:cNvGrpSpPr>
          <p:nvPr/>
        </p:nvGrpSpPr>
        <p:grpSpPr bwMode="auto">
          <a:xfrm>
            <a:off x="7536161" y="3428306"/>
            <a:ext cx="2624535" cy="762000"/>
            <a:chOff x="4032" y="2677"/>
            <a:chExt cx="1465" cy="480"/>
          </a:xfrm>
        </p:grpSpPr>
        <p:sp>
          <p:nvSpPr>
            <p:cNvPr id="70668" name="AutoShape 12"/>
            <p:cNvSpPr>
              <a:spLocks noChangeArrowheads="1"/>
            </p:cNvSpPr>
            <p:nvPr/>
          </p:nvSpPr>
          <p:spPr bwMode="auto">
            <a:xfrm>
              <a:off x="4032" y="2677"/>
              <a:ext cx="1392" cy="480"/>
            </a:xfrm>
            <a:prstGeom prst="wedgeRectCallout">
              <a:avLst>
                <a:gd name="adj1" fmla="val -56313"/>
                <a:gd name="adj2" fmla="val 90049"/>
              </a:avLst>
            </a:prstGeom>
            <a:noFill/>
            <a:ln w="57150" cap="sq">
              <a:solidFill>
                <a:srgbClr val="33CCCC"/>
              </a:solidFill>
              <a:miter lim="800000"/>
              <a:headEnd type="none" w="sm" len="sm"/>
              <a:tailEnd type="none" w="sm" len="sm"/>
            </a:ln>
          </p:spPr>
          <p:txBody>
            <a:bodyPr/>
            <a:lstStyle/>
            <a:p>
              <a:pPr algn="ctr"/>
              <a:endParaRPr lang="zh-CN" altLang="en-US"/>
            </a:p>
          </p:txBody>
        </p:sp>
        <p:sp>
          <p:nvSpPr>
            <p:cNvPr id="70669" name="Text Box 13"/>
            <p:cNvSpPr txBox="1">
              <a:spLocks noChangeArrowheads="1"/>
            </p:cNvSpPr>
            <p:nvPr/>
          </p:nvSpPr>
          <p:spPr bwMode="auto">
            <a:xfrm>
              <a:off x="4153" y="2677"/>
              <a:ext cx="1344" cy="437"/>
            </a:xfrm>
            <a:prstGeom prst="rect">
              <a:avLst/>
            </a:prstGeom>
            <a:noFill/>
            <a:ln w="12700" cap="sq">
              <a:noFill/>
              <a:miter lim="800000"/>
              <a:headEnd type="none" w="sm" len="sm"/>
              <a:tailEnd type="none" w="sm" len="sm"/>
            </a:ln>
            <a:effectLst>
              <a:outerShdw dist="12700" algn="ctr" rotWithShape="0">
                <a:schemeClr val="bg1"/>
              </a:outerShdw>
            </a:effectLst>
          </p:spPr>
          <p:txBody>
            <a:bodyPr>
              <a:spAutoFit/>
            </a:bodyPr>
            <a:lstStyle/>
            <a:p>
              <a:pPr>
                <a:lnSpc>
                  <a:spcPct val="85000"/>
                </a:lnSpc>
              </a:pPr>
              <a:r>
                <a:rPr lang="zh-CN" altLang="en-US" sz="2300" b="1" dirty="0">
                  <a:solidFill>
                    <a:srgbClr val="FF3300"/>
                  </a:solidFill>
                  <a:ea typeface="黑体" pitchFamily="2" charset="-122"/>
                </a:rPr>
                <a:t>队空或满，返回1,</a:t>
              </a:r>
            </a:p>
            <a:p>
              <a:pPr>
                <a:lnSpc>
                  <a:spcPct val="85000"/>
                </a:lnSpc>
              </a:pPr>
              <a:r>
                <a:rPr lang="zh-CN" altLang="en-US" sz="2300" b="1" dirty="0">
                  <a:solidFill>
                    <a:srgbClr val="FF3300"/>
                  </a:solidFill>
                  <a:ea typeface="黑体" pitchFamily="2" charset="-122"/>
                </a:rPr>
                <a:t>否则，返回0。</a:t>
              </a:r>
            </a:p>
          </p:txBody>
        </p:sp>
      </p:grpSp>
      <p:grpSp>
        <p:nvGrpSpPr>
          <p:cNvPr id="6" name="Group 14"/>
          <p:cNvGrpSpPr>
            <a:grpSpLocks/>
          </p:cNvGrpSpPr>
          <p:nvPr/>
        </p:nvGrpSpPr>
        <p:grpSpPr bwMode="auto">
          <a:xfrm>
            <a:off x="999195" y="137721"/>
            <a:ext cx="5343128" cy="609600"/>
            <a:chOff x="384" y="720"/>
            <a:chExt cx="1680" cy="384"/>
          </a:xfrm>
        </p:grpSpPr>
        <p:sp>
          <p:nvSpPr>
            <p:cNvPr id="70666" name="Rectangle 15"/>
            <p:cNvSpPr>
              <a:spLocks noChangeArrowheads="1"/>
            </p:cNvSpPr>
            <p:nvPr/>
          </p:nvSpPr>
          <p:spPr bwMode="auto">
            <a:xfrm>
              <a:off x="384" y="720"/>
              <a:ext cx="1680" cy="384"/>
            </a:xfrm>
            <a:prstGeom prst="rect">
              <a:avLst/>
            </a:prstGeom>
            <a:solidFill>
              <a:srgbClr val="D1D1D1"/>
            </a:solidFill>
            <a:ln w="12700" cap="sq">
              <a:noFill/>
              <a:miter lim="800000"/>
              <a:headEnd type="none" w="sm" len="sm"/>
              <a:tailEnd type="none" w="sm" len="sm"/>
            </a:ln>
            <a:effectLst>
              <a:outerShdw dist="117088" dir="2436078" algn="ctr" rotWithShape="0">
                <a:srgbClr val="969696"/>
              </a:outerShdw>
            </a:effectLst>
          </p:spPr>
          <p:txBody>
            <a:bodyPr wrap="none" anchor="ctr"/>
            <a:lstStyle/>
            <a:p>
              <a:endParaRPr lang="zh-CN" altLang="en-US"/>
            </a:p>
          </p:txBody>
        </p:sp>
        <p:sp>
          <p:nvSpPr>
            <p:cNvPr id="70667" name="Rectangle 16"/>
            <p:cNvSpPr>
              <a:spLocks noChangeArrowheads="1"/>
            </p:cNvSpPr>
            <p:nvPr/>
          </p:nvSpPr>
          <p:spPr bwMode="auto">
            <a:xfrm>
              <a:off x="436" y="742"/>
              <a:ext cx="1580" cy="349"/>
            </a:xfrm>
            <a:prstGeom prst="rect">
              <a:avLst/>
            </a:prstGeom>
            <a:noFill/>
            <a:ln w="12700" cap="sq">
              <a:noFill/>
              <a:miter lim="800000"/>
              <a:headEnd type="none" w="sm" len="sm"/>
              <a:tailEnd type="none" w="sm" len="sm"/>
            </a:ln>
          </p:spPr>
          <p:txBody>
            <a:bodyPr>
              <a:spAutoFit/>
            </a:bodyPr>
            <a:lstStyle/>
            <a:p>
              <a:r>
                <a:rPr kumimoji="1" lang="en-US" altLang="zh-CN" sz="3000" b="1" dirty="0">
                  <a:solidFill>
                    <a:srgbClr val="002C84"/>
                  </a:solidFill>
                  <a:latin typeface="黑体" pitchFamily="2" charset="-122"/>
                  <a:ea typeface="黑体" pitchFamily="2" charset="-122"/>
                </a:rPr>
                <a:t>(</a:t>
              </a:r>
              <a:r>
                <a:rPr kumimoji="1" lang="zh-CN" altLang="en-US" sz="3000" b="1" dirty="0">
                  <a:solidFill>
                    <a:srgbClr val="002C84"/>
                  </a:solidFill>
                  <a:latin typeface="黑体" pitchFamily="2" charset="-122"/>
                  <a:ea typeface="黑体" pitchFamily="2" charset="-122"/>
                </a:rPr>
                <a:t>三</a:t>
              </a:r>
              <a:r>
                <a:rPr kumimoji="1" lang="en-US" altLang="zh-CN" sz="3000" b="1" dirty="0">
                  <a:solidFill>
                    <a:srgbClr val="002C84"/>
                  </a:solidFill>
                  <a:latin typeface="黑体" pitchFamily="2" charset="-122"/>
                  <a:ea typeface="黑体" pitchFamily="2" charset="-122"/>
                </a:rPr>
                <a:t>)</a:t>
              </a:r>
              <a:r>
                <a:rPr kumimoji="1" lang="zh-CN" altLang="en-US" sz="3000" b="1" dirty="0">
                  <a:solidFill>
                    <a:srgbClr val="002C84"/>
                  </a:solidFill>
                  <a:latin typeface="黑体" pitchFamily="2" charset="-122"/>
                  <a:ea typeface="黑体" pitchFamily="2" charset="-122"/>
                </a:rPr>
                <a:t>（循环队列）基本算法</a:t>
              </a:r>
            </a:p>
          </p:txBody>
        </p:sp>
      </p:grpSp>
      <p:grpSp>
        <p:nvGrpSpPr>
          <p:cNvPr id="7" name="Group 30"/>
          <p:cNvGrpSpPr>
            <a:grpSpLocks/>
          </p:cNvGrpSpPr>
          <p:nvPr/>
        </p:nvGrpSpPr>
        <p:grpSpPr bwMode="auto">
          <a:xfrm>
            <a:off x="2033588" y="1104900"/>
            <a:ext cx="3833812" cy="647700"/>
            <a:chOff x="321" y="696"/>
            <a:chExt cx="2415" cy="408"/>
          </a:xfrm>
        </p:grpSpPr>
        <p:sp>
          <p:nvSpPr>
            <p:cNvPr id="70664" name="AutoShape 28"/>
            <p:cNvSpPr>
              <a:spLocks noChangeArrowheads="1"/>
            </p:cNvSpPr>
            <p:nvPr/>
          </p:nvSpPr>
          <p:spPr bwMode="auto">
            <a:xfrm>
              <a:off x="321" y="696"/>
              <a:ext cx="2256" cy="408"/>
            </a:xfrm>
            <a:prstGeom prst="cloudCallout">
              <a:avLst>
                <a:gd name="adj1" fmla="val 6917"/>
                <a:gd name="adj2" fmla="val 40194"/>
              </a:avLst>
            </a:prstGeom>
            <a:gradFill rotWithShape="0">
              <a:gsLst>
                <a:gs pos="0">
                  <a:srgbClr val="185E5E"/>
                </a:gs>
                <a:gs pos="50000">
                  <a:srgbClr val="33CCCC"/>
                </a:gs>
                <a:gs pos="100000">
                  <a:srgbClr val="185E5E"/>
                </a:gs>
              </a:gsLst>
              <a:lin ang="2700000" scaled="1"/>
            </a:gradFill>
            <a:ln w="12700" cap="sq">
              <a:noFill/>
              <a:round/>
              <a:headEnd type="none" w="sm" len="sm"/>
              <a:tailEnd type="none" w="sm" len="sm"/>
            </a:ln>
            <a:effectLst>
              <a:outerShdw dist="96720" dir="1391915" algn="ctr" rotWithShape="0">
                <a:srgbClr val="808080"/>
              </a:outerShdw>
            </a:effectLst>
          </p:spPr>
          <p:txBody>
            <a:bodyPr/>
            <a:lstStyle/>
            <a:p>
              <a:pPr algn="ctr"/>
              <a:endParaRPr lang="zh-CN" altLang="en-US" sz="2400" b="1"/>
            </a:p>
          </p:txBody>
        </p:sp>
        <p:sp>
          <p:nvSpPr>
            <p:cNvPr id="70665" name="Text Box 29"/>
            <p:cNvSpPr txBox="1">
              <a:spLocks noChangeArrowheads="1"/>
            </p:cNvSpPr>
            <p:nvPr/>
          </p:nvSpPr>
          <p:spPr bwMode="auto">
            <a:xfrm>
              <a:off x="564" y="720"/>
              <a:ext cx="2172" cy="356"/>
            </a:xfrm>
            <a:prstGeom prst="rect">
              <a:avLst/>
            </a:prstGeom>
            <a:noFill/>
            <a:ln w="12700" cap="sq">
              <a:noFill/>
              <a:miter lim="800000"/>
              <a:headEnd type="none" w="sm" len="sm"/>
              <a:tailEnd type="none" w="sm" len="sm"/>
            </a:ln>
            <a:effectLst>
              <a:outerShdw dist="28398" dir="1593903" algn="ctr" rotWithShape="0">
                <a:srgbClr val="000000"/>
              </a:outerShdw>
            </a:effectLst>
          </p:spPr>
          <p:txBody>
            <a:bodyPr>
              <a:spAutoFit/>
            </a:bodyPr>
            <a:lstStyle/>
            <a:p>
              <a:pPr eaLnBrk="1" hangingPunct="1"/>
              <a:r>
                <a:rPr kumimoji="1" lang="zh-CN" altLang="en-US" sz="3100" b="1">
                  <a:solidFill>
                    <a:srgbClr val="FFFF00"/>
                  </a:solidFill>
                </a:rPr>
                <a:t>1. 初始化队列</a:t>
              </a:r>
            </a:p>
          </p:txBody>
        </p:sp>
      </p:grpSp>
      <p:grpSp>
        <p:nvGrpSpPr>
          <p:cNvPr id="20" name="Group 8"/>
          <p:cNvGrpSpPr>
            <a:grpSpLocks/>
          </p:cNvGrpSpPr>
          <p:nvPr/>
        </p:nvGrpSpPr>
        <p:grpSpPr bwMode="auto">
          <a:xfrm>
            <a:off x="5951984" y="4653136"/>
            <a:ext cx="3816424" cy="1676400"/>
            <a:chOff x="480" y="2832"/>
            <a:chExt cx="3453" cy="1056"/>
          </a:xfrm>
        </p:grpSpPr>
        <p:sp>
          <p:nvSpPr>
            <p:cNvPr id="21" name="Rectangle 9"/>
            <p:cNvSpPr>
              <a:spLocks noChangeArrowheads="1"/>
            </p:cNvSpPr>
            <p:nvPr/>
          </p:nvSpPr>
          <p:spPr bwMode="auto">
            <a:xfrm>
              <a:off x="480" y="2832"/>
              <a:ext cx="3453" cy="1056"/>
            </a:xfrm>
            <a:prstGeom prst="rect">
              <a:avLst/>
            </a:prstGeom>
            <a:solidFill>
              <a:srgbClr val="FFFFD1"/>
            </a:solidFill>
            <a:ln w="12700" cap="sq">
              <a:noFill/>
              <a:miter lim="800000"/>
              <a:headEnd type="none" w="sm" len="sm"/>
              <a:tailEnd type="none" w="sm" len="sm"/>
            </a:ln>
            <a:effectLst>
              <a:outerShdw dist="188799" dir="2536421" algn="ctr" rotWithShape="0">
                <a:srgbClr val="D1D1D1"/>
              </a:outerShdw>
            </a:effectLst>
          </p:spPr>
          <p:txBody>
            <a:bodyPr wrap="none" anchor="ctr"/>
            <a:lstStyle/>
            <a:p>
              <a:endParaRPr lang="zh-CN" altLang="en-US"/>
            </a:p>
          </p:txBody>
        </p:sp>
        <p:sp>
          <p:nvSpPr>
            <p:cNvPr id="22" name="Text Box 10"/>
            <p:cNvSpPr txBox="1">
              <a:spLocks noChangeArrowheads="1"/>
            </p:cNvSpPr>
            <p:nvPr/>
          </p:nvSpPr>
          <p:spPr bwMode="auto">
            <a:xfrm>
              <a:off x="864" y="2966"/>
              <a:ext cx="2939" cy="679"/>
            </a:xfrm>
            <a:prstGeom prst="rect">
              <a:avLst/>
            </a:prstGeom>
            <a:noFill/>
            <a:ln w="12700" cap="sq">
              <a:noFill/>
              <a:miter lim="800000"/>
              <a:headEnd type="none" w="sm" len="sm"/>
              <a:tailEnd type="none" w="sm" len="sm"/>
            </a:ln>
          </p:spPr>
          <p:txBody>
            <a:bodyPr wrap="square">
              <a:spAutoFit/>
            </a:bodyPr>
            <a:lstStyle/>
            <a:p>
              <a:pPr>
                <a:lnSpc>
                  <a:spcPct val="80000"/>
                </a:lnSpc>
              </a:pPr>
              <a:r>
                <a:rPr lang="en-US" altLang="zh-CN" sz="2000" b="1" dirty="0" err="1">
                  <a:solidFill>
                    <a:srgbClr val="003399"/>
                  </a:solidFill>
                </a:rPr>
                <a:t>int</a:t>
              </a:r>
              <a:r>
                <a:rPr lang="en-US" altLang="zh-CN" sz="2000" b="1" dirty="0">
                  <a:solidFill>
                    <a:srgbClr val="003399"/>
                  </a:solidFill>
                </a:rPr>
                <a:t>  </a:t>
              </a:r>
              <a:r>
                <a:rPr lang="en-US" altLang="zh-CN" sz="2000" b="1" dirty="0" err="1">
                  <a:solidFill>
                    <a:srgbClr val="003399"/>
                  </a:solidFill>
                </a:rPr>
                <a:t>isFull</a:t>
              </a:r>
              <a:r>
                <a:rPr lang="en-US" altLang="zh-CN" sz="2000" b="1" dirty="0">
                  <a:solidFill>
                    <a:srgbClr val="003399"/>
                  </a:solidFill>
                </a:rPr>
                <a:t>( )</a:t>
              </a:r>
            </a:p>
            <a:p>
              <a:pPr>
                <a:lnSpc>
                  <a:spcPct val="80000"/>
                </a:lnSpc>
              </a:pPr>
              <a:r>
                <a:rPr lang="en-US" altLang="zh-CN" sz="2000" b="1" dirty="0">
                  <a:solidFill>
                    <a:srgbClr val="003399"/>
                  </a:solidFill>
                </a:rPr>
                <a:t>{</a:t>
              </a:r>
            </a:p>
            <a:p>
              <a:pPr>
                <a:lnSpc>
                  <a:spcPct val="80000"/>
                </a:lnSpc>
              </a:pPr>
              <a:r>
                <a:rPr lang="en-US" altLang="zh-CN" sz="2000" b="1" dirty="0">
                  <a:solidFill>
                    <a:srgbClr val="003399"/>
                  </a:solidFill>
                </a:rPr>
                <a:t>        return Count == MAXSIZE;</a:t>
              </a:r>
            </a:p>
            <a:p>
              <a:pPr>
                <a:lnSpc>
                  <a:spcPct val="80000"/>
                </a:lnSpc>
              </a:pPr>
              <a:r>
                <a:rPr lang="en-US" altLang="zh-CN" sz="2000" b="1" dirty="0">
                  <a:solidFill>
                    <a:srgbClr val="003399"/>
                  </a:solidFill>
                </a:rPr>
                <a:t>}</a:t>
              </a:r>
            </a:p>
          </p:txBody>
        </p:sp>
      </p:gr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2"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right)">
                                      <p:cBhvr>
                                        <p:cTn id="13" dur="500"/>
                                        <p:tgtEl>
                                          <p:spTgt spid="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0-#ppt_w/2"/>
                                          </p:val>
                                        </p:tav>
                                        <p:tav tm="100000">
                                          <p:val>
                                            <p:strVal val="#ppt_x"/>
                                          </p:val>
                                        </p:tav>
                                      </p:tavLst>
                                    </p:anim>
                                    <p:anim calcmode="lin" valueType="num">
                                      <p:cBhvr additive="base">
                                        <p:cTn id="19"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7" presetClass="entr" presetSubtype="2"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p:cTn id="24" dur="500" fill="hold"/>
                                        <p:tgtEl>
                                          <p:spTgt spid="4"/>
                                        </p:tgtEl>
                                        <p:attrNameLst>
                                          <p:attrName>ppt_x</p:attrName>
                                        </p:attrNameLst>
                                      </p:cBhvr>
                                      <p:tavLst>
                                        <p:tav tm="0">
                                          <p:val>
                                            <p:strVal val="#ppt_x+#ppt_w/2"/>
                                          </p:val>
                                        </p:tav>
                                        <p:tav tm="100000">
                                          <p:val>
                                            <p:strVal val="#ppt_x"/>
                                          </p:val>
                                        </p:tav>
                                      </p:tavLst>
                                    </p:anim>
                                    <p:anim calcmode="lin" valueType="num">
                                      <p:cBhvr>
                                        <p:cTn id="25" dur="500" fill="hold"/>
                                        <p:tgtEl>
                                          <p:spTgt spid="4"/>
                                        </p:tgtEl>
                                        <p:attrNameLst>
                                          <p:attrName>ppt_y</p:attrName>
                                        </p:attrNameLst>
                                      </p:cBhvr>
                                      <p:tavLst>
                                        <p:tav tm="0">
                                          <p:val>
                                            <p:strVal val="#ppt_y"/>
                                          </p:val>
                                        </p:tav>
                                        <p:tav tm="100000">
                                          <p:val>
                                            <p:strVal val="#ppt_y"/>
                                          </p:val>
                                        </p:tav>
                                      </p:tavLst>
                                    </p:anim>
                                    <p:anim calcmode="lin" valueType="num">
                                      <p:cBhvr>
                                        <p:cTn id="26" dur="500" fill="hold"/>
                                        <p:tgtEl>
                                          <p:spTgt spid="4"/>
                                        </p:tgtEl>
                                        <p:attrNameLst>
                                          <p:attrName>ppt_w</p:attrName>
                                        </p:attrNameLst>
                                      </p:cBhvr>
                                      <p:tavLst>
                                        <p:tav tm="0">
                                          <p:val>
                                            <p:fltVal val="0"/>
                                          </p:val>
                                        </p:tav>
                                        <p:tav tm="100000">
                                          <p:val>
                                            <p:strVal val="#ppt_w"/>
                                          </p:val>
                                        </p:tav>
                                      </p:tavLst>
                                    </p:anim>
                                    <p:anim calcmode="lin" valueType="num">
                                      <p:cBhvr>
                                        <p:cTn id="27"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17" presetClass="entr" presetSubtype="2"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 calcmode="lin" valueType="num">
                                      <p:cBhvr>
                                        <p:cTn id="32" dur="500" fill="hold"/>
                                        <p:tgtEl>
                                          <p:spTgt spid="20"/>
                                        </p:tgtEl>
                                        <p:attrNameLst>
                                          <p:attrName>ppt_x</p:attrName>
                                        </p:attrNameLst>
                                      </p:cBhvr>
                                      <p:tavLst>
                                        <p:tav tm="0">
                                          <p:val>
                                            <p:strVal val="#ppt_x+#ppt_w/2"/>
                                          </p:val>
                                        </p:tav>
                                        <p:tav tm="100000">
                                          <p:val>
                                            <p:strVal val="#ppt_x"/>
                                          </p:val>
                                        </p:tav>
                                      </p:tavLst>
                                    </p:anim>
                                    <p:anim calcmode="lin" valueType="num">
                                      <p:cBhvr>
                                        <p:cTn id="33" dur="500" fill="hold"/>
                                        <p:tgtEl>
                                          <p:spTgt spid="20"/>
                                        </p:tgtEl>
                                        <p:attrNameLst>
                                          <p:attrName>ppt_y</p:attrName>
                                        </p:attrNameLst>
                                      </p:cBhvr>
                                      <p:tavLst>
                                        <p:tav tm="0">
                                          <p:val>
                                            <p:strVal val="#ppt_y"/>
                                          </p:val>
                                        </p:tav>
                                        <p:tav tm="100000">
                                          <p:val>
                                            <p:strVal val="#ppt_y"/>
                                          </p:val>
                                        </p:tav>
                                      </p:tavLst>
                                    </p:anim>
                                    <p:anim calcmode="lin" valueType="num">
                                      <p:cBhvr>
                                        <p:cTn id="34" dur="500" fill="hold"/>
                                        <p:tgtEl>
                                          <p:spTgt spid="20"/>
                                        </p:tgtEl>
                                        <p:attrNameLst>
                                          <p:attrName>ppt_w</p:attrName>
                                        </p:attrNameLst>
                                      </p:cBhvr>
                                      <p:tavLst>
                                        <p:tav tm="0">
                                          <p:val>
                                            <p:fltVal val="0"/>
                                          </p:val>
                                        </p:tav>
                                        <p:tav tm="100000">
                                          <p:val>
                                            <p:strVal val="#ppt_w"/>
                                          </p:val>
                                        </p:tav>
                                      </p:tavLst>
                                    </p:anim>
                                    <p:anim calcmode="lin" valueType="num">
                                      <p:cBhvr>
                                        <p:cTn id="35" dur="500" fill="hold"/>
                                        <p:tgtEl>
                                          <p:spTgt spid="20"/>
                                        </p:tgtEl>
                                        <p:attrNameLst>
                                          <p:attrName>ppt_h</p:attrName>
                                        </p:attrNameLst>
                                      </p:cBhvr>
                                      <p:tavLst>
                                        <p:tav tm="0">
                                          <p:val>
                                            <p:strVal val="#ppt_h"/>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up)">
                                      <p:cBhvr>
                                        <p:cTn id="4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176924" y="143670"/>
            <a:ext cx="4114800" cy="647700"/>
            <a:chOff x="240" y="144"/>
            <a:chExt cx="2592" cy="408"/>
          </a:xfrm>
        </p:grpSpPr>
        <p:sp>
          <p:nvSpPr>
            <p:cNvPr id="71721" name="AutoShape 3"/>
            <p:cNvSpPr>
              <a:spLocks noChangeArrowheads="1"/>
            </p:cNvSpPr>
            <p:nvPr/>
          </p:nvSpPr>
          <p:spPr bwMode="auto">
            <a:xfrm>
              <a:off x="240" y="144"/>
              <a:ext cx="2592" cy="408"/>
            </a:xfrm>
            <a:prstGeom prst="cloudCallout">
              <a:avLst>
                <a:gd name="adj1" fmla="val -463"/>
                <a:gd name="adj2" fmla="val 40194"/>
              </a:avLst>
            </a:prstGeom>
            <a:gradFill rotWithShape="0">
              <a:gsLst>
                <a:gs pos="0">
                  <a:srgbClr val="185E5E"/>
                </a:gs>
                <a:gs pos="50000">
                  <a:srgbClr val="33CCCC"/>
                </a:gs>
                <a:gs pos="100000">
                  <a:srgbClr val="185E5E"/>
                </a:gs>
              </a:gsLst>
              <a:lin ang="2700000" scaled="1"/>
            </a:gradFill>
            <a:ln w="12700" cap="sq">
              <a:noFill/>
              <a:round/>
              <a:headEnd type="none" w="sm" len="sm"/>
              <a:tailEnd type="none" w="sm" len="sm"/>
            </a:ln>
            <a:effectLst>
              <a:outerShdw dist="96720" dir="1391915" algn="ctr" rotWithShape="0">
                <a:srgbClr val="808080"/>
              </a:outerShdw>
            </a:effectLst>
          </p:spPr>
          <p:txBody>
            <a:bodyPr/>
            <a:lstStyle/>
            <a:p>
              <a:pPr algn="ctr"/>
              <a:endParaRPr lang="zh-CN" altLang="en-US" sz="2400" b="1"/>
            </a:p>
          </p:txBody>
        </p:sp>
        <p:sp>
          <p:nvSpPr>
            <p:cNvPr id="71722" name="Text Box 4"/>
            <p:cNvSpPr txBox="1">
              <a:spLocks noChangeArrowheads="1"/>
            </p:cNvSpPr>
            <p:nvPr/>
          </p:nvSpPr>
          <p:spPr bwMode="auto">
            <a:xfrm>
              <a:off x="440" y="168"/>
              <a:ext cx="2291" cy="356"/>
            </a:xfrm>
            <a:prstGeom prst="rect">
              <a:avLst/>
            </a:prstGeom>
            <a:noFill/>
            <a:ln w="12700" cap="sq">
              <a:noFill/>
              <a:miter lim="800000"/>
              <a:headEnd type="none" w="sm" len="sm"/>
              <a:tailEnd type="none" w="sm" len="sm"/>
            </a:ln>
            <a:effectLst>
              <a:outerShdw dist="28398" dir="1593903" algn="ctr" rotWithShape="0">
                <a:srgbClr val="000000"/>
              </a:outerShdw>
            </a:effectLst>
          </p:spPr>
          <p:txBody>
            <a:bodyPr>
              <a:spAutoFit/>
            </a:bodyPr>
            <a:lstStyle/>
            <a:p>
              <a:pPr eaLnBrk="1" hangingPunct="1"/>
              <a:r>
                <a:rPr kumimoji="1" lang="zh-CN" altLang="en-US" sz="3100" b="1" dirty="0">
                  <a:solidFill>
                    <a:srgbClr val="FFFF00"/>
                  </a:solidFill>
                </a:rPr>
                <a:t>3. 插入(进队)算法</a:t>
              </a:r>
            </a:p>
          </p:txBody>
        </p:sp>
      </p:grpSp>
      <p:grpSp>
        <p:nvGrpSpPr>
          <p:cNvPr id="3" name="Group 5"/>
          <p:cNvGrpSpPr>
            <a:grpSpLocks/>
          </p:cNvGrpSpPr>
          <p:nvPr/>
        </p:nvGrpSpPr>
        <p:grpSpPr bwMode="auto">
          <a:xfrm>
            <a:off x="3287688" y="1772817"/>
            <a:ext cx="990600" cy="708025"/>
            <a:chOff x="912" y="1296"/>
            <a:chExt cx="624" cy="446"/>
          </a:xfrm>
        </p:grpSpPr>
        <p:sp>
          <p:nvSpPr>
            <p:cNvPr id="71719" name="Text Box 6"/>
            <p:cNvSpPr txBox="1">
              <a:spLocks noChangeArrowheads="1"/>
            </p:cNvSpPr>
            <p:nvPr/>
          </p:nvSpPr>
          <p:spPr bwMode="auto">
            <a:xfrm>
              <a:off x="912" y="1492"/>
              <a:ext cx="624" cy="250"/>
            </a:xfrm>
            <a:prstGeom prst="rect">
              <a:avLst/>
            </a:prstGeom>
            <a:noFill/>
            <a:ln w="12700" cap="sq">
              <a:noFill/>
              <a:miter lim="800000"/>
              <a:headEnd type="none" w="sm" len="sm"/>
              <a:tailEnd type="none" w="sm" len="sm"/>
            </a:ln>
          </p:spPr>
          <p:txBody>
            <a:bodyPr>
              <a:spAutoFit/>
            </a:bodyPr>
            <a:lstStyle/>
            <a:p>
              <a:r>
                <a:rPr lang="en-US" altLang="zh-CN" sz="2000" b="1">
                  <a:solidFill>
                    <a:srgbClr val="FF3300"/>
                  </a:solidFill>
                </a:rPr>
                <a:t>front</a:t>
              </a:r>
            </a:p>
          </p:txBody>
        </p:sp>
        <p:sp>
          <p:nvSpPr>
            <p:cNvPr id="71720" name="Line 7"/>
            <p:cNvSpPr>
              <a:spLocks noChangeShapeType="1"/>
            </p:cNvSpPr>
            <p:nvPr/>
          </p:nvSpPr>
          <p:spPr bwMode="auto">
            <a:xfrm flipV="1">
              <a:off x="1104" y="1296"/>
              <a:ext cx="0" cy="240"/>
            </a:xfrm>
            <a:prstGeom prst="line">
              <a:avLst/>
            </a:prstGeom>
            <a:noFill/>
            <a:ln w="19050" cap="sq">
              <a:solidFill>
                <a:srgbClr val="FF0000"/>
              </a:solidFill>
              <a:round/>
              <a:headEnd type="none" w="sm" len="sm"/>
              <a:tailEnd type="triangle" w="sm" len="lg"/>
            </a:ln>
          </p:spPr>
          <p:txBody>
            <a:bodyPr/>
            <a:lstStyle/>
            <a:p>
              <a:endParaRPr lang="zh-CN" altLang="en-US"/>
            </a:p>
          </p:txBody>
        </p:sp>
      </p:grpSp>
      <p:grpSp>
        <p:nvGrpSpPr>
          <p:cNvPr id="4" name="Group 8"/>
          <p:cNvGrpSpPr>
            <a:grpSpLocks/>
          </p:cNvGrpSpPr>
          <p:nvPr/>
        </p:nvGrpSpPr>
        <p:grpSpPr bwMode="auto">
          <a:xfrm>
            <a:off x="4876801" y="1847851"/>
            <a:ext cx="582613" cy="625475"/>
            <a:chOff x="2112" y="1440"/>
            <a:chExt cx="367" cy="394"/>
          </a:xfrm>
        </p:grpSpPr>
        <p:sp>
          <p:nvSpPr>
            <p:cNvPr id="71717" name="Text Box 9"/>
            <p:cNvSpPr txBox="1">
              <a:spLocks noChangeArrowheads="1"/>
            </p:cNvSpPr>
            <p:nvPr/>
          </p:nvSpPr>
          <p:spPr bwMode="auto">
            <a:xfrm>
              <a:off x="2112" y="1582"/>
              <a:ext cx="367" cy="252"/>
            </a:xfrm>
            <a:prstGeom prst="rect">
              <a:avLst/>
            </a:prstGeom>
            <a:noFill/>
            <a:ln w="12700" cap="sq">
              <a:noFill/>
              <a:miter lim="800000"/>
              <a:headEnd type="none" w="sm" len="sm"/>
              <a:tailEnd type="none" w="sm" len="sm"/>
            </a:ln>
          </p:spPr>
          <p:txBody>
            <a:bodyPr wrap="none">
              <a:spAutoFit/>
            </a:bodyPr>
            <a:lstStyle/>
            <a:p>
              <a:r>
                <a:rPr lang="en-US" altLang="zh-CN" sz="2000" b="1">
                  <a:solidFill>
                    <a:srgbClr val="FF3300"/>
                  </a:solidFill>
                </a:rPr>
                <a:t>rear</a:t>
              </a:r>
            </a:p>
          </p:txBody>
        </p:sp>
        <p:sp>
          <p:nvSpPr>
            <p:cNvPr id="71718" name="Line 10"/>
            <p:cNvSpPr>
              <a:spLocks noChangeShapeType="1"/>
            </p:cNvSpPr>
            <p:nvPr/>
          </p:nvSpPr>
          <p:spPr bwMode="auto">
            <a:xfrm flipV="1">
              <a:off x="2256" y="1440"/>
              <a:ext cx="0" cy="192"/>
            </a:xfrm>
            <a:prstGeom prst="line">
              <a:avLst/>
            </a:prstGeom>
            <a:noFill/>
            <a:ln w="19050" cap="sq">
              <a:solidFill>
                <a:srgbClr val="FF0000"/>
              </a:solidFill>
              <a:round/>
              <a:headEnd type="none" w="sm" len="sm"/>
              <a:tailEnd type="triangle" w="sm" len="lg"/>
            </a:ln>
          </p:spPr>
          <p:txBody>
            <a:bodyPr/>
            <a:lstStyle/>
            <a:p>
              <a:endParaRPr lang="zh-CN" altLang="en-US"/>
            </a:p>
          </p:txBody>
        </p:sp>
      </p:grpSp>
      <p:grpSp>
        <p:nvGrpSpPr>
          <p:cNvPr id="5" name="Group 11"/>
          <p:cNvGrpSpPr>
            <a:grpSpLocks/>
          </p:cNvGrpSpPr>
          <p:nvPr/>
        </p:nvGrpSpPr>
        <p:grpSpPr bwMode="auto">
          <a:xfrm>
            <a:off x="4819650" y="1847850"/>
            <a:ext cx="666750" cy="323850"/>
            <a:chOff x="2076" y="1440"/>
            <a:chExt cx="420" cy="204"/>
          </a:xfrm>
        </p:grpSpPr>
        <p:sp>
          <p:nvSpPr>
            <p:cNvPr id="71715" name="Rectangle 12"/>
            <p:cNvSpPr>
              <a:spLocks noChangeArrowheads="1"/>
            </p:cNvSpPr>
            <p:nvPr/>
          </p:nvSpPr>
          <p:spPr bwMode="auto">
            <a:xfrm>
              <a:off x="2076" y="1452"/>
              <a:ext cx="288" cy="192"/>
            </a:xfrm>
            <a:prstGeom prst="rect">
              <a:avLst/>
            </a:prstGeom>
            <a:solidFill>
              <a:srgbClr val="FFFFFF"/>
            </a:solidFill>
            <a:ln w="12700" cap="sq">
              <a:noFill/>
              <a:miter lim="800000"/>
              <a:headEnd type="none" w="sm" len="sm"/>
              <a:tailEnd type="none" w="sm" len="sm"/>
            </a:ln>
          </p:spPr>
          <p:txBody>
            <a:bodyPr wrap="none" anchor="ctr"/>
            <a:lstStyle/>
            <a:p>
              <a:endParaRPr lang="zh-CN" altLang="en-US"/>
            </a:p>
          </p:txBody>
        </p:sp>
        <p:sp>
          <p:nvSpPr>
            <p:cNvPr id="71716" name="Line 13"/>
            <p:cNvSpPr>
              <a:spLocks noChangeShapeType="1"/>
            </p:cNvSpPr>
            <p:nvPr/>
          </p:nvSpPr>
          <p:spPr bwMode="auto">
            <a:xfrm flipV="1">
              <a:off x="2412" y="1440"/>
              <a:ext cx="84" cy="168"/>
            </a:xfrm>
            <a:prstGeom prst="line">
              <a:avLst/>
            </a:prstGeom>
            <a:noFill/>
            <a:ln w="19050" cap="sq">
              <a:solidFill>
                <a:srgbClr val="FF0000"/>
              </a:solidFill>
              <a:round/>
              <a:headEnd type="none" w="sm" len="sm"/>
              <a:tailEnd type="triangle" w="sm" len="lg"/>
            </a:ln>
          </p:spPr>
          <p:txBody>
            <a:bodyPr/>
            <a:lstStyle/>
            <a:p>
              <a:endParaRPr lang="zh-CN" altLang="en-US"/>
            </a:p>
          </p:txBody>
        </p:sp>
      </p:grpSp>
      <p:sp>
        <p:nvSpPr>
          <p:cNvPr id="297998" name="Text Box 14"/>
          <p:cNvSpPr txBox="1">
            <a:spLocks noChangeArrowheads="1"/>
          </p:cNvSpPr>
          <p:nvPr/>
        </p:nvSpPr>
        <p:spPr bwMode="auto">
          <a:xfrm>
            <a:off x="5203826" y="1368426"/>
            <a:ext cx="792163" cy="366713"/>
          </a:xfrm>
          <a:prstGeom prst="rect">
            <a:avLst/>
          </a:prstGeom>
          <a:noFill/>
          <a:ln w="12700" cap="sq">
            <a:noFill/>
            <a:miter lim="800000"/>
            <a:headEnd type="none" w="sm" len="sm"/>
            <a:tailEnd type="none" w="sm" len="sm"/>
          </a:ln>
        </p:spPr>
        <p:txBody>
          <a:bodyPr>
            <a:spAutoFit/>
          </a:bodyPr>
          <a:lstStyle/>
          <a:p>
            <a:r>
              <a:rPr lang="en-US" altLang="zh-CN" b="1">
                <a:solidFill>
                  <a:srgbClr val="0000CC"/>
                </a:solidFill>
              </a:rPr>
              <a:t>item</a:t>
            </a:r>
          </a:p>
        </p:txBody>
      </p:sp>
      <p:grpSp>
        <p:nvGrpSpPr>
          <p:cNvPr id="38" name="组合 37"/>
          <p:cNvGrpSpPr/>
          <p:nvPr/>
        </p:nvGrpSpPr>
        <p:grpSpPr>
          <a:xfrm>
            <a:off x="1703388" y="2516189"/>
            <a:ext cx="8583612" cy="3887787"/>
            <a:chOff x="179388" y="2516188"/>
            <a:chExt cx="8583612" cy="3887787"/>
          </a:xfrm>
        </p:grpSpPr>
        <p:grpSp>
          <p:nvGrpSpPr>
            <p:cNvPr id="6" name="Group 15"/>
            <p:cNvGrpSpPr>
              <a:grpSpLocks/>
            </p:cNvGrpSpPr>
            <p:nvPr/>
          </p:nvGrpSpPr>
          <p:grpSpPr bwMode="auto">
            <a:xfrm>
              <a:off x="609600" y="3119438"/>
              <a:ext cx="8153400" cy="3284537"/>
              <a:chOff x="384" y="1920"/>
              <a:chExt cx="5136" cy="2069"/>
            </a:xfrm>
          </p:grpSpPr>
          <p:sp>
            <p:nvSpPr>
              <p:cNvPr id="71713" name="Rectangle 16"/>
              <p:cNvSpPr>
                <a:spLocks noChangeArrowheads="1"/>
              </p:cNvSpPr>
              <p:nvPr/>
            </p:nvSpPr>
            <p:spPr bwMode="auto">
              <a:xfrm>
                <a:off x="384" y="1920"/>
                <a:ext cx="5088" cy="2009"/>
              </a:xfrm>
              <a:prstGeom prst="rect">
                <a:avLst/>
              </a:prstGeom>
              <a:solidFill>
                <a:srgbClr val="E1F0FF"/>
              </a:solidFill>
              <a:ln w="12700" cap="sq">
                <a:noFill/>
                <a:miter lim="800000"/>
                <a:headEnd type="none" w="sm" len="sm"/>
                <a:tailEnd type="none" w="sm" len="sm"/>
              </a:ln>
              <a:effectLst>
                <a:outerShdw dist="215526" dir="2700000" algn="ctr" rotWithShape="0">
                  <a:srgbClr val="C0C0C0"/>
                </a:outerShdw>
              </a:effectLst>
            </p:spPr>
            <p:txBody>
              <a:bodyPr wrap="none" anchor="ctr"/>
              <a:lstStyle/>
              <a:p>
                <a:endParaRPr lang="zh-CN" altLang="en-US"/>
              </a:p>
            </p:txBody>
          </p:sp>
          <p:sp>
            <p:nvSpPr>
              <p:cNvPr id="71714" name="Text Box 17"/>
              <p:cNvSpPr txBox="1">
                <a:spLocks noChangeArrowheads="1"/>
              </p:cNvSpPr>
              <p:nvPr/>
            </p:nvSpPr>
            <p:spPr bwMode="auto">
              <a:xfrm>
                <a:off x="540" y="2139"/>
                <a:ext cx="4980" cy="1850"/>
              </a:xfrm>
              <a:prstGeom prst="rect">
                <a:avLst/>
              </a:prstGeom>
              <a:noFill/>
              <a:ln w="12700" cap="sq">
                <a:noFill/>
                <a:miter lim="800000"/>
                <a:headEnd type="none" w="sm" len="sm"/>
                <a:tailEnd type="none" w="sm" len="sm"/>
              </a:ln>
            </p:spPr>
            <p:txBody>
              <a:bodyPr>
                <a:spAutoFit/>
              </a:bodyPr>
              <a:lstStyle/>
              <a:p>
                <a:pPr eaLnBrk="1" hangingPunct="1">
                  <a:lnSpc>
                    <a:spcPct val="70000"/>
                  </a:lnSpc>
                </a:pPr>
                <a:r>
                  <a:rPr kumimoji="1" lang="en-US" altLang="zh-CN" sz="2400" b="1" dirty="0">
                    <a:solidFill>
                      <a:srgbClr val="003399"/>
                    </a:solidFill>
                  </a:rPr>
                  <a:t> void </a:t>
                </a:r>
                <a:r>
                  <a:rPr kumimoji="1" lang="en-US" altLang="zh-CN" sz="2400" b="1" dirty="0" err="1">
                    <a:solidFill>
                      <a:srgbClr val="003399"/>
                    </a:solidFill>
                  </a:rPr>
                  <a:t>enQueue</a:t>
                </a:r>
                <a:r>
                  <a:rPr kumimoji="1" lang="en-US" altLang="zh-CN" sz="2400" b="1" dirty="0">
                    <a:solidFill>
                      <a:srgbClr val="003399"/>
                    </a:solidFill>
                  </a:rPr>
                  <a:t>(</a:t>
                </a:r>
                <a:r>
                  <a:rPr kumimoji="1" lang="en-US" altLang="zh-CN" sz="2400" b="1" dirty="0" err="1">
                    <a:solidFill>
                      <a:srgbClr val="003399"/>
                    </a:solidFill>
                  </a:rPr>
                  <a:t>ElemType</a:t>
                </a:r>
                <a:r>
                  <a:rPr kumimoji="1" lang="en-US" altLang="zh-CN" sz="2400" b="1" dirty="0">
                    <a:solidFill>
                      <a:srgbClr val="003399"/>
                    </a:solidFill>
                  </a:rPr>
                  <a:t> queue[ ], </a:t>
                </a:r>
                <a:r>
                  <a:rPr kumimoji="1" lang="en-US" altLang="zh-CN" sz="2400" b="1" dirty="0" err="1">
                    <a:solidFill>
                      <a:srgbClr val="003399"/>
                    </a:solidFill>
                  </a:rPr>
                  <a:t>ElemType</a:t>
                </a:r>
                <a:r>
                  <a:rPr kumimoji="1" lang="en-US" altLang="zh-CN" sz="2400" b="1" dirty="0">
                    <a:solidFill>
                      <a:srgbClr val="003399"/>
                    </a:solidFill>
                  </a:rPr>
                  <a:t> item)</a:t>
                </a:r>
              </a:p>
              <a:p>
                <a:pPr eaLnBrk="1" hangingPunct="1">
                  <a:lnSpc>
                    <a:spcPct val="70000"/>
                  </a:lnSpc>
                </a:pPr>
                <a:r>
                  <a:rPr kumimoji="1" lang="zh-CN" altLang="en-US" sz="2400" b="1" dirty="0">
                    <a:solidFill>
                      <a:srgbClr val="003399"/>
                    </a:solidFill>
                    <a:latin typeface="楷体_GB2312" pitchFamily="49" charset="-122"/>
                  </a:rPr>
                  <a:t>{</a:t>
                </a:r>
              </a:p>
              <a:p>
                <a:pPr eaLnBrk="1" hangingPunct="1">
                  <a:lnSpc>
                    <a:spcPct val="70000"/>
                  </a:lnSpc>
                </a:pPr>
                <a:r>
                  <a:rPr kumimoji="1" lang="zh-CN" altLang="en-US" sz="2400" b="1" dirty="0">
                    <a:solidFill>
                      <a:srgbClr val="003399"/>
                    </a:solidFill>
                  </a:rPr>
                  <a:t>       </a:t>
                </a:r>
                <a:r>
                  <a:rPr kumimoji="1" lang="en-US" altLang="en-US" sz="2400" b="1" dirty="0">
                    <a:solidFill>
                      <a:srgbClr val="003399"/>
                    </a:solidFill>
                  </a:rPr>
                  <a:t>if</a:t>
                </a:r>
                <a:r>
                  <a:rPr kumimoji="1" lang="en-US" altLang="zh-CN" sz="2400" b="1" dirty="0">
                    <a:solidFill>
                      <a:srgbClr val="003399"/>
                    </a:solidFill>
                  </a:rPr>
                  <a:t>(</a:t>
                </a:r>
                <a:r>
                  <a:rPr kumimoji="1" lang="en-US" altLang="zh-CN" sz="2400" b="1" dirty="0" err="1">
                    <a:solidFill>
                      <a:srgbClr val="003399"/>
                    </a:solidFill>
                  </a:rPr>
                  <a:t>isFull</a:t>
                </a:r>
                <a:r>
                  <a:rPr kumimoji="1" lang="en-US" altLang="zh-CN" sz="2400" b="1" dirty="0">
                    <a:solidFill>
                      <a:srgbClr val="003399"/>
                    </a:solidFill>
                  </a:rPr>
                  <a:t>()</a:t>
                </a:r>
                <a:r>
                  <a:rPr kumimoji="1" lang="en-US" altLang="en-US" sz="2400" b="1" dirty="0">
                    <a:solidFill>
                      <a:srgbClr val="003399"/>
                    </a:solidFill>
                  </a:rPr>
                  <a:t>)                       /* </a:t>
                </a:r>
                <a:r>
                  <a:rPr kumimoji="1" lang="en-US" altLang="zh-CN" sz="2400" b="1" dirty="0">
                    <a:solidFill>
                      <a:srgbClr val="003399"/>
                    </a:solidFill>
                    <a:ea typeface="幼圆" pitchFamily="49" charset="-122"/>
                  </a:rPr>
                  <a:t>队</a:t>
                </a:r>
                <a:r>
                  <a:rPr kumimoji="1" lang="zh-CN" altLang="en-US" sz="2400" b="1" dirty="0">
                    <a:solidFill>
                      <a:srgbClr val="003399"/>
                    </a:solidFill>
                    <a:ea typeface="幼圆" pitchFamily="49" charset="-122"/>
                  </a:rPr>
                  <a:t>满，插入失败</a:t>
                </a:r>
                <a:r>
                  <a:rPr kumimoji="1" lang="zh-CN" altLang="en-US" sz="2400" b="1" dirty="0">
                    <a:solidFill>
                      <a:srgbClr val="003399"/>
                    </a:solidFill>
                  </a:rPr>
                  <a:t> */</a:t>
                </a:r>
                <a:r>
                  <a:rPr kumimoji="1" lang="en-US" altLang="en-US" sz="2400" b="1" dirty="0">
                    <a:solidFill>
                      <a:srgbClr val="003399"/>
                    </a:solidFill>
                  </a:rPr>
                  <a:t>  </a:t>
                </a:r>
              </a:p>
              <a:p>
                <a:pPr eaLnBrk="1" hangingPunct="1">
                  <a:lnSpc>
                    <a:spcPct val="70000"/>
                  </a:lnSpc>
                </a:pPr>
                <a:r>
                  <a:rPr kumimoji="1" lang="en-US" altLang="en-US" sz="2400" b="1" dirty="0">
                    <a:solidFill>
                      <a:srgbClr val="003399"/>
                    </a:solidFill>
                  </a:rPr>
                  <a:t>             </a:t>
                </a:r>
                <a:r>
                  <a:rPr kumimoji="1" lang="en-US" altLang="zh-CN" sz="2400" b="1" dirty="0">
                    <a:solidFill>
                      <a:srgbClr val="003399"/>
                    </a:solidFill>
                  </a:rPr>
                  <a:t>Error(“Full queue!”)</a:t>
                </a:r>
                <a:r>
                  <a:rPr kumimoji="1" lang="en-US" altLang="en-US" sz="2400" b="1" dirty="0">
                    <a:solidFill>
                      <a:srgbClr val="003399"/>
                    </a:solidFill>
                  </a:rPr>
                  <a:t>;</a:t>
                </a:r>
              </a:p>
              <a:p>
                <a:pPr eaLnBrk="1" hangingPunct="1">
                  <a:lnSpc>
                    <a:spcPct val="70000"/>
                  </a:lnSpc>
                </a:pPr>
                <a:r>
                  <a:rPr kumimoji="1" lang="en-US" altLang="en-US" sz="2400" b="1" dirty="0">
                    <a:solidFill>
                      <a:srgbClr val="003399"/>
                    </a:solidFill>
                  </a:rPr>
                  <a:t>       else{</a:t>
                </a:r>
              </a:p>
              <a:p>
                <a:pPr eaLnBrk="1" hangingPunct="1">
                  <a:lnSpc>
                    <a:spcPct val="70000"/>
                  </a:lnSpc>
                </a:pPr>
                <a:r>
                  <a:rPr kumimoji="1" lang="en-US" altLang="en-US" sz="2400" b="1" dirty="0">
                    <a:solidFill>
                      <a:srgbClr val="003399"/>
                    </a:solidFill>
                  </a:rPr>
                  <a:t>             Rear = (Rear+1) % MAXSIZE; </a:t>
                </a:r>
              </a:p>
              <a:p>
                <a:pPr eaLnBrk="1" hangingPunct="1">
                  <a:lnSpc>
                    <a:spcPct val="70000"/>
                  </a:lnSpc>
                </a:pPr>
                <a:r>
                  <a:rPr lang="en-US" altLang="zh-CN" sz="2400" b="1" dirty="0">
                    <a:solidFill>
                      <a:srgbClr val="003399"/>
                    </a:solidFill>
                  </a:rPr>
                  <a:t>             queue[Rear]=item;</a:t>
                </a:r>
              </a:p>
              <a:p>
                <a:pPr eaLnBrk="1" hangingPunct="1">
                  <a:lnSpc>
                    <a:spcPct val="70000"/>
                  </a:lnSpc>
                </a:pPr>
                <a:r>
                  <a:rPr lang="en-US" altLang="zh-CN" sz="2400" b="1" dirty="0">
                    <a:solidFill>
                      <a:srgbClr val="003399"/>
                    </a:solidFill>
                  </a:rPr>
                  <a:t>             Count++;</a:t>
                </a:r>
              </a:p>
              <a:p>
                <a:pPr eaLnBrk="1" hangingPunct="1">
                  <a:lnSpc>
                    <a:spcPct val="70000"/>
                  </a:lnSpc>
                </a:pPr>
                <a:r>
                  <a:rPr kumimoji="1" lang="en-US" altLang="en-US" sz="2400" b="1" dirty="0">
                    <a:solidFill>
                      <a:srgbClr val="003399"/>
                    </a:solidFill>
                  </a:rPr>
                  <a:t>                                             /* </a:t>
                </a:r>
                <a:r>
                  <a:rPr kumimoji="1" lang="en-US" altLang="zh-CN" sz="2400" b="1" dirty="0">
                    <a:solidFill>
                      <a:srgbClr val="003399"/>
                    </a:solidFill>
                    <a:ea typeface="幼圆" pitchFamily="49" charset="-122"/>
                  </a:rPr>
                  <a:t>队</a:t>
                </a:r>
                <a:r>
                  <a:rPr kumimoji="1" lang="zh-CN" altLang="en-US" sz="2400" b="1" dirty="0">
                    <a:solidFill>
                      <a:srgbClr val="003399"/>
                    </a:solidFill>
                    <a:ea typeface="幼圆" pitchFamily="49" charset="-122"/>
                  </a:rPr>
                  <a:t>未满，插入成功</a:t>
                </a:r>
                <a:r>
                  <a:rPr kumimoji="1" lang="zh-CN" altLang="en-US" sz="2400" b="1" dirty="0">
                    <a:solidFill>
                      <a:srgbClr val="003399"/>
                    </a:solidFill>
                  </a:rPr>
                  <a:t> */</a:t>
                </a:r>
                <a:r>
                  <a:rPr kumimoji="1" lang="en-US" altLang="en-US" sz="2400" b="1" dirty="0">
                    <a:solidFill>
                      <a:srgbClr val="003399"/>
                    </a:solidFill>
                  </a:rPr>
                  <a:t> </a:t>
                </a:r>
                <a:endParaRPr lang="en-US" altLang="zh-CN" sz="2400" b="1" dirty="0">
                  <a:solidFill>
                    <a:srgbClr val="003399"/>
                  </a:solidFill>
                </a:endParaRPr>
              </a:p>
              <a:p>
                <a:pPr eaLnBrk="1" hangingPunct="1">
                  <a:lnSpc>
                    <a:spcPct val="70000"/>
                  </a:lnSpc>
                </a:pPr>
                <a:r>
                  <a:rPr lang="en-US" altLang="zh-CN" sz="2400" b="1" dirty="0">
                    <a:solidFill>
                      <a:srgbClr val="003399"/>
                    </a:solidFill>
                  </a:rPr>
                  <a:t>       }</a:t>
                </a:r>
              </a:p>
              <a:p>
                <a:pPr eaLnBrk="1" hangingPunct="1">
                  <a:lnSpc>
                    <a:spcPct val="70000"/>
                  </a:lnSpc>
                </a:pPr>
                <a:r>
                  <a:rPr lang="en-US" altLang="zh-CN" sz="2400" b="1" dirty="0">
                    <a:solidFill>
                      <a:srgbClr val="003399"/>
                    </a:solidFill>
                  </a:rPr>
                  <a:t> }</a:t>
                </a:r>
              </a:p>
            </p:txBody>
          </p:sp>
        </p:grpSp>
        <p:grpSp>
          <p:nvGrpSpPr>
            <p:cNvPr id="7" name="Group 18"/>
            <p:cNvGrpSpPr>
              <a:grpSpLocks/>
            </p:cNvGrpSpPr>
            <p:nvPr/>
          </p:nvGrpSpPr>
          <p:grpSpPr bwMode="auto">
            <a:xfrm>
              <a:off x="179388" y="2516188"/>
              <a:ext cx="2132012" cy="912812"/>
              <a:chOff x="113" y="1559"/>
              <a:chExt cx="1343" cy="575"/>
            </a:xfrm>
          </p:grpSpPr>
          <p:sp>
            <p:nvSpPr>
              <p:cNvPr id="71711" name="AutoShape 19"/>
              <p:cNvSpPr>
                <a:spLocks noChangeArrowheads="1"/>
              </p:cNvSpPr>
              <p:nvPr/>
            </p:nvSpPr>
            <p:spPr bwMode="auto">
              <a:xfrm rot="12536">
                <a:off x="113" y="1570"/>
                <a:ext cx="1056" cy="564"/>
              </a:xfrm>
              <a:prstGeom prst="irregularSeal2">
                <a:avLst/>
              </a:prstGeom>
              <a:solidFill>
                <a:srgbClr val="FF3300"/>
              </a:solidFill>
              <a:ln w="50800">
                <a:solidFill>
                  <a:srgbClr val="FFFF00"/>
                </a:solidFill>
                <a:miter lim="800000"/>
                <a:headEnd type="none" w="sm" len="sm"/>
                <a:tailEnd type="none" w="sm" len="sm"/>
              </a:ln>
              <a:effectLst>
                <a:outerShdw dist="104727" dir="842175" algn="ctr" rotWithShape="0">
                  <a:srgbClr val="808080"/>
                </a:outerShdw>
              </a:effectLst>
            </p:spPr>
            <p:txBody>
              <a:bodyPr wrap="none" anchor="ctr"/>
              <a:lstStyle/>
              <a:p>
                <a:endParaRPr lang="zh-CN" altLang="en-US"/>
              </a:p>
            </p:txBody>
          </p:sp>
          <p:sp>
            <p:nvSpPr>
              <p:cNvPr id="71712" name="Text Box 20"/>
              <p:cNvSpPr txBox="1">
                <a:spLocks noChangeArrowheads="1"/>
              </p:cNvSpPr>
              <p:nvPr/>
            </p:nvSpPr>
            <p:spPr bwMode="auto">
              <a:xfrm rot="-670982">
                <a:off x="128" y="1559"/>
                <a:ext cx="1328" cy="480"/>
              </a:xfrm>
              <a:prstGeom prst="rect">
                <a:avLst/>
              </a:prstGeom>
              <a:noFill/>
              <a:ln w="12700" cap="sq">
                <a:noFill/>
                <a:miter lim="800000"/>
                <a:headEnd type="none" w="sm" len="sm"/>
                <a:tailEnd type="none" w="sm" len="sm"/>
              </a:ln>
              <a:effectLst>
                <a:outerShdw dist="45791" dir="2021404" algn="ctr" rotWithShape="0">
                  <a:srgbClr val="000000"/>
                </a:outerShdw>
              </a:effectLst>
            </p:spPr>
            <p:txBody>
              <a:bodyPr>
                <a:spAutoFit/>
              </a:bodyPr>
              <a:lstStyle/>
              <a:p>
                <a:r>
                  <a:rPr lang="zh-CN" altLang="en-US" sz="4400" b="1" i="1">
                    <a:solidFill>
                      <a:srgbClr val="FFFFFF"/>
                    </a:solidFill>
                    <a:ea typeface="黑体" pitchFamily="2" charset="-122"/>
                  </a:rPr>
                  <a:t>算法</a:t>
                </a:r>
              </a:p>
            </p:txBody>
          </p:sp>
        </p:grpSp>
      </p:grpSp>
      <p:grpSp>
        <p:nvGrpSpPr>
          <p:cNvPr id="9" name="Group 26"/>
          <p:cNvGrpSpPr>
            <a:grpSpLocks/>
          </p:cNvGrpSpPr>
          <p:nvPr/>
        </p:nvGrpSpPr>
        <p:grpSpPr bwMode="auto">
          <a:xfrm>
            <a:off x="3419475" y="981076"/>
            <a:ext cx="5130800" cy="796926"/>
            <a:chOff x="1236" y="1207"/>
            <a:chExt cx="3232" cy="502"/>
          </a:xfrm>
        </p:grpSpPr>
        <p:sp>
          <p:nvSpPr>
            <p:cNvPr id="71692" name="Text Box 27"/>
            <p:cNvSpPr txBox="1">
              <a:spLocks noChangeArrowheads="1"/>
            </p:cNvSpPr>
            <p:nvPr/>
          </p:nvSpPr>
          <p:spPr bwMode="auto">
            <a:xfrm>
              <a:off x="1268" y="1207"/>
              <a:ext cx="3200" cy="212"/>
            </a:xfrm>
            <a:prstGeom prst="rect">
              <a:avLst/>
            </a:prstGeom>
            <a:noFill/>
            <a:ln w="12700" cap="sq">
              <a:noFill/>
              <a:miter lim="800000"/>
              <a:headEnd type="none" w="sm" len="sm"/>
              <a:tailEnd type="none" w="sm" len="sm"/>
            </a:ln>
          </p:spPr>
          <p:txBody>
            <a:bodyPr>
              <a:spAutoFit/>
            </a:bodyPr>
            <a:lstStyle/>
            <a:p>
              <a:r>
                <a:rPr lang="zh-CN" altLang="en-US" sz="1600" b="1"/>
                <a:t>0       </a:t>
              </a:r>
              <a:r>
                <a:rPr lang="en-US" altLang="zh-CN" sz="1600" b="1"/>
                <a:t>1                                                                        M</a:t>
              </a:r>
              <a:r>
                <a:rPr lang="en-US" altLang="zh-CN" sz="1600" b="1">
                  <a:latin typeface="宋体" charset="-122"/>
                  <a:ea typeface="宋体" charset="-122"/>
                </a:rPr>
                <a:t>-</a:t>
              </a:r>
              <a:r>
                <a:rPr lang="en-US" altLang="zh-CN" sz="1600" b="1"/>
                <a:t>1</a:t>
              </a:r>
            </a:p>
          </p:txBody>
        </p:sp>
        <p:sp>
          <p:nvSpPr>
            <p:cNvPr id="71693" name="Text Box 28"/>
            <p:cNvSpPr txBox="1">
              <a:spLocks noChangeArrowheads="1"/>
            </p:cNvSpPr>
            <p:nvPr/>
          </p:nvSpPr>
          <p:spPr bwMode="auto">
            <a:xfrm>
              <a:off x="1285" y="1368"/>
              <a:ext cx="228" cy="327"/>
            </a:xfrm>
            <a:prstGeom prst="rect">
              <a:avLst/>
            </a:prstGeom>
            <a:noFill/>
            <a:ln w="12700" cap="sq">
              <a:noFill/>
              <a:miter lim="800000"/>
              <a:headEnd type="none" w="sm" len="sm"/>
              <a:tailEnd type="none" w="sm" len="sm"/>
            </a:ln>
          </p:spPr>
          <p:txBody>
            <a:bodyPr wrap="none">
              <a:spAutoFit/>
            </a:bodyPr>
            <a:lstStyle/>
            <a:p>
              <a:r>
                <a:rPr lang="en-US" altLang="zh-CN" sz="2800" b="1"/>
                <a:t>a</a:t>
              </a:r>
            </a:p>
          </p:txBody>
        </p:sp>
        <p:sp>
          <p:nvSpPr>
            <p:cNvPr id="71694" name="Text Box 29"/>
            <p:cNvSpPr txBox="1">
              <a:spLocks noChangeArrowheads="1"/>
            </p:cNvSpPr>
            <p:nvPr/>
          </p:nvSpPr>
          <p:spPr bwMode="auto">
            <a:xfrm>
              <a:off x="1844" y="1365"/>
              <a:ext cx="219" cy="330"/>
            </a:xfrm>
            <a:prstGeom prst="rect">
              <a:avLst/>
            </a:prstGeom>
            <a:noFill/>
            <a:ln w="12700" cap="sq">
              <a:noFill/>
              <a:miter lim="800000"/>
              <a:headEnd type="none" w="sm" len="sm"/>
              <a:tailEnd type="none" w="sm" len="sm"/>
            </a:ln>
          </p:spPr>
          <p:txBody>
            <a:bodyPr wrap="none">
              <a:spAutoFit/>
            </a:bodyPr>
            <a:lstStyle/>
            <a:p>
              <a:r>
                <a:rPr lang="en-US" altLang="zh-CN" sz="2800" b="1"/>
                <a:t>c</a:t>
              </a:r>
            </a:p>
          </p:txBody>
        </p:sp>
        <p:sp>
          <p:nvSpPr>
            <p:cNvPr id="71695" name="Text Box 30"/>
            <p:cNvSpPr txBox="1">
              <a:spLocks noChangeArrowheads="1"/>
            </p:cNvSpPr>
            <p:nvPr/>
          </p:nvSpPr>
          <p:spPr bwMode="auto">
            <a:xfrm>
              <a:off x="2128" y="1379"/>
              <a:ext cx="229" cy="330"/>
            </a:xfrm>
            <a:prstGeom prst="rect">
              <a:avLst/>
            </a:prstGeom>
            <a:noFill/>
            <a:ln w="12700" cap="sq">
              <a:noFill/>
              <a:miter lim="800000"/>
              <a:headEnd type="none" w="sm" len="sm"/>
              <a:tailEnd type="none" w="sm" len="sm"/>
            </a:ln>
          </p:spPr>
          <p:txBody>
            <a:bodyPr wrap="none">
              <a:spAutoFit/>
            </a:bodyPr>
            <a:lstStyle/>
            <a:p>
              <a:r>
                <a:rPr lang="en-US" altLang="zh-CN" sz="2800" b="1"/>
                <a:t>d</a:t>
              </a:r>
            </a:p>
          </p:txBody>
        </p:sp>
        <p:sp>
          <p:nvSpPr>
            <p:cNvPr id="71696" name="Text Box 31"/>
            <p:cNvSpPr txBox="1">
              <a:spLocks noChangeArrowheads="1"/>
            </p:cNvSpPr>
            <p:nvPr/>
          </p:nvSpPr>
          <p:spPr bwMode="auto">
            <a:xfrm>
              <a:off x="1565" y="1375"/>
              <a:ext cx="229" cy="330"/>
            </a:xfrm>
            <a:prstGeom prst="rect">
              <a:avLst/>
            </a:prstGeom>
            <a:noFill/>
            <a:ln w="12700" cap="sq">
              <a:noFill/>
              <a:miter lim="800000"/>
              <a:headEnd type="none" w="sm" len="sm"/>
              <a:tailEnd type="none" w="sm" len="sm"/>
            </a:ln>
          </p:spPr>
          <p:txBody>
            <a:bodyPr wrap="none">
              <a:spAutoFit/>
            </a:bodyPr>
            <a:lstStyle/>
            <a:p>
              <a:r>
                <a:rPr lang="en-US" altLang="zh-CN" sz="2800" b="1"/>
                <a:t>b</a:t>
              </a:r>
            </a:p>
          </p:txBody>
        </p:sp>
        <p:sp>
          <p:nvSpPr>
            <p:cNvPr id="71697" name="Line 32"/>
            <p:cNvSpPr>
              <a:spLocks noChangeShapeType="1"/>
            </p:cNvSpPr>
            <p:nvPr/>
          </p:nvSpPr>
          <p:spPr bwMode="auto">
            <a:xfrm>
              <a:off x="1247" y="1420"/>
              <a:ext cx="2994" cy="0"/>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71698" name="Line 33"/>
            <p:cNvSpPr>
              <a:spLocks noChangeShapeType="1"/>
            </p:cNvSpPr>
            <p:nvPr/>
          </p:nvSpPr>
          <p:spPr bwMode="auto">
            <a:xfrm>
              <a:off x="1236" y="1703"/>
              <a:ext cx="2994" cy="0"/>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71699" name="Line 34"/>
            <p:cNvSpPr>
              <a:spLocks noChangeShapeType="1"/>
            </p:cNvSpPr>
            <p:nvPr/>
          </p:nvSpPr>
          <p:spPr bwMode="auto">
            <a:xfrm>
              <a:off x="1237" y="1420"/>
              <a:ext cx="0" cy="272"/>
            </a:xfrm>
            <a:prstGeom prst="line">
              <a:avLst/>
            </a:prstGeom>
            <a:noFill/>
            <a:ln w="31750" cap="sq">
              <a:solidFill>
                <a:srgbClr val="000080"/>
              </a:solidFill>
              <a:round/>
              <a:headEnd type="none" w="sm" len="sm"/>
              <a:tailEnd type="none" w="sm" len="sm"/>
            </a:ln>
          </p:spPr>
          <p:txBody>
            <a:bodyPr/>
            <a:lstStyle/>
            <a:p>
              <a:endParaRPr lang="zh-CN" altLang="en-US"/>
            </a:p>
          </p:txBody>
        </p:sp>
        <p:sp>
          <p:nvSpPr>
            <p:cNvPr id="71700" name="Line 35"/>
            <p:cNvSpPr>
              <a:spLocks noChangeShapeType="1"/>
            </p:cNvSpPr>
            <p:nvPr/>
          </p:nvSpPr>
          <p:spPr bwMode="auto">
            <a:xfrm>
              <a:off x="1523" y="1427"/>
              <a:ext cx="0" cy="272"/>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71701" name="Line 36"/>
            <p:cNvSpPr>
              <a:spLocks noChangeShapeType="1"/>
            </p:cNvSpPr>
            <p:nvPr/>
          </p:nvSpPr>
          <p:spPr bwMode="auto">
            <a:xfrm>
              <a:off x="1816" y="1420"/>
              <a:ext cx="0" cy="272"/>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71702" name="Line 37"/>
            <p:cNvSpPr>
              <a:spLocks noChangeShapeType="1"/>
            </p:cNvSpPr>
            <p:nvPr/>
          </p:nvSpPr>
          <p:spPr bwMode="auto">
            <a:xfrm>
              <a:off x="2102" y="1420"/>
              <a:ext cx="0" cy="272"/>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71703" name="Line 38"/>
            <p:cNvSpPr>
              <a:spLocks noChangeShapeType="1"/>
            </p:cNvSpPr>
            <p:nvPr/>
          </p:nvSpPr>
          <p:spPr bwMode="auto">
            <a:xfrm>
              <a:off x="2395" y="1420"/>
              <a:ext cx="0" cy="272"/>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71704" name="Line 39"/>
            <p:cNvSpPr>
              <a:spLocks noChangeShapeType="1"/>
            </p:cNvSpPr>
            <p:nvPr/>
          </p:nvSpPr>
          <p:spPr bwMode="auto">
            <a:xfrm>
              <a:off x="2692" y="1427"/>
              <a:ext cx="0" cy="272"/>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71705" name="Line 40"/>
            <p:cNvSpPr>
              <a:spLocks noChangeShapeType="1"/>
            </p:cNvSpPr>
            <p:nvPr/>
          </p:nvSpPr>
          <p:spPr bwMode="auto">
            <a:xfrm>
              <a:off x="2985" y="1427"/>
              <a:ext cx="0" cy="272"/>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71706" name="Line 41"/>
            <p:cNvSpPr>
              <a:spLocks noChangeShapeType="1"/>
            </p:cNvSpPr>
            <p:nvPr/>
          </p:nvSpPr>
          <p:spPr bwMode="auto">
            <a:xfrm>
              <a:off x="4241" y="1427"/>
              <a:ext cx="0" cy="272"/>
            </a:xfrm>
            <a:prstGeom prst="line">
              <a:avLst/>
            </a:prstGeom>
            <a:noFill/>
            <a:ln w="31750" cap="sq">
              <a:solidFill>
                <a:srgbClr val="000080"/>
              </a:solidFill>
              <a:round/>
              <a:headEnd type="none" w="sm" len="sm"/>
              <a:tailEnd type="none" w="sm" len="sm"/>
            </a:ln>
          </p:spPr>
          <p:txBody>
            <a:bodyPr/>
            <a:lstStyle/>
            <a:p>
              <a:endParaRPr lang="zh-CN" altLang="en-US"/>
            </a:p>
          </p:txBody>
        </p:sp>
        <p:sp>
          <p:nvSpPr>
            <p:cNvPr id="71707" name="Line 42"/>
            <p:cNvSpPr>
              <a:spLocks noChangeShapeType="1"/>
            </p:cNvSpPr>
            <p:nvPr/>
          </p:nvSpPr>
          <p:spPr bwMode="auto">
            <a:xfrm>
              <a:off x="3969" y="1427"/>
              <a:ext cx="0" cy="272"/>
            </a:xfrm>
            <a:prstGeom prst="line">
              <a:avLst/>
            </a:prstGeom>
            <a:noFill/>
            <a:ln w="25400" cap="sq">
              <a:solidFill>
                <a:srgbClr val="000080"/>
              </a:solidFill>
              <a:round/>
              <a:headEnd type="none" w="sm" len="sm"/>
              <a:tailEnd type="none" w="sm" len="sm"/>
            </a:ln>
          </p:spPr>
          <p:txBody>
            <a:bodyPr/>
            <a:lstStyle/>
            <a:p>
              <a:endParaRPr lang="zh-CN" altLang="en-US"/>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right)">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297998"/>
                                        </p:tgtEl>
                                        <p:attrNameLst>
                                          <p:attrName>style.visibility</p:attrName>
                                        </p:attrNameLst>
                                      </p:cBhvr>
                                      <p:to>
                                        <p:strVal val="visible"/>
                                      </p:to>
                                    </p:set>
                                    <p:anim calcmode="lin" valueType="num">
                                      <p:cBhvr additive="base">
                                        <p:cTn id="27" dur="500" fill="hold"/>
                                        <p:tgtEl>
                                          <p:spTgt spid="297998"/>
                                        </p:tgtEl>
                                        <p:attrNameLst>
                                          <p:attrName>ppt_x</p:attrName>
                                        </p:attrNameLst>
                                      </p:cBhvr>
                                      <p:tavLst>
                                        <p:tav tm="0">
                                          <p:val>
                                            <p:strVal val="1+#ppt_w/2"/>
                                          </p:val>
                                        </p:tav>
                                        <p:tav tm="100000">
                                          <p:val>
                                            <p:strVal val="#ppt_x"/>
                                          </p:val>
                                        </p:tav>
                                      </p:tavLst>
                                    </p:anim>
                                    <p:anim calcmode="lin" valueType="num">
                                      <p:cBhvr additive="base">
                                        <p:cTn id="28" dur="500" fill="hold"/>
                                        <p:tgtEl>
                                          <p:spTgt spid="297998"/>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38"/>
                                        </p:tgtEl>
                                        <p:attrNameLst>
                                          <p:attrName>style.visibility</p:attrName>
                                        </p:attrNameLst>
                                      </p:cBhvr>
                                      <p:to>
                                        <p:strVal val="visible"/>
                                      </p:to>
                                    </p:set>
                                    <p:animEffect transition="in" filter="blinds(horizontal)">
                                      <p:cBhvr>
                                        <p:cTn id="3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98"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219200" y="115195"/>
            <a:ext cx="4114800" cy="669925"/>
            <a:chOff x="192" y="85"/>
            <a:chExt cx="2592" cy="422"/>
          </a:xfrm>
        </p:grpSpPr>
        <p:sp>
          <p:nvSpPr>
            <p:cNvPr id="72743" name="AutoShape 3"/>
            <p:cNvSpPr>
              <a:spLocks noChangeArrowheads="1"/>
            </p:cNvSpPr>
            <p:nvPr/>
          </p:nvSpPr>
          <p:spPr bwMode="auto">
            <a:xfrm>
              <a:off x="192" y="85"/>
              <a:ext cx="2592" cy="422"/>
            </a:xfrm>
            <a:prstGeom prst="cloudCallout">
              <a:avLst>
                <a:gd name="adj1" fmla="val -463"/>
                <a:gd name="adj2" fmla="val 40523"/>
              </a:avLst>
            </a:prstGeom>
            <a:gradFill rotWithShape="0">
              <a:gsLst>
                <a:gs pos="0">
                  <a:srgbClr val="185E5E"/>
                </a:gs>
                <a:gs pos="50000">
                  <a:srgbClr val="33CCCC"/>
                </a:gs>
                <a:gs pos="100000">
                  <a:srgbClr val="185E5E"/>
                </a:gs>
              </a:gsLst>
              <a:lin ang="2700000" scaled="1"/>
            </a:gradFill>
            <a:ln w="12700" cap="sq">
              <a:noFill/>
              <a:round/>
              <a:headEnd type="none" w="sm" len="sm"/>
              <a:tailEnd type="none" w="sm" len="sm"/>
            </a:ln>
            <a:effectLst>
              <a:outerShdw dist="109250" dir="2132261" algn="ctr" rotWithShape="0">
                <a:srgbClr val="808080"/>
              </a:outerShdw>
            </a:effectLst>
          </p:spPr>
          <p:txBody>
            <a:bodyPr/>
            <a:lstStyle/>
            <a:p>
              <a:pPr algn="ctr"/>
              <a:endParaRPr lang="zh-CN" altLang="en-US" sz="2400" b="1"/>
            </a:p>
          </p:txBody>
        </p:sp>
        <p:sp>
          <p:nvSpPr>
            <p:cNvPr id="72744" name="Text Box 4"/>
            <p:cNvSpPr txBox="1">
              <a:spLocks noChangeArrowheads="1"/>
            </p:cNvSpPr>
            <p:nvPr/>
          </p:nvSpPr>
          <p:spPr bwMode="auto">
            <a:xfrm>
              <a:off x="396" y="123"/>
              <a:ext cx="2172" cy="356"/>
            </a:xfrm>
            <a:prstGeom prst="rect">
              <a:avLst/>
            </a:prstGeom>
            <a:noFill/>
            <a:ln w="12700" cap="sq">
              <a:noFill/>
              <a:miter lim="800000"/>
              <a:headEnd type="none" w="sm" len="sm"/>
              <a:tailEnd type="none" w="sm" len="sm"/>
            </a:ln>
            <a:effectLst>
              <a:outerShdw dist="28398" dir="1593903" algn="ctr" rotWithShape="0">
                <a:srgbClr val="000000"/>
              </a:outerShdw>
            </a:effectLst>
          </p:spPr>
          <p:txBody>
            <a:bodyPr>
              <a:spAutoFit/>
            </a:bodyPr>
            <a:lstStyle/>
            <a:p>
              <a:pPr eaLnBrk="1" hangingPunct="1"/>
              <a:r>
                <a:rPr kumimoji="1" lang="zh-CN" altLang="en-US" sz="3100" b="1" dirty="0">
                  <a:solidFill>
                    <a:srgbClr val="FFFF00"/>
                  </a:solidFill>
                </a:rPr>
                <a:t>4. 删除(出队)算法</a:t>
              </a:r>
            </a:p>
          </p:txBody>
        </p:sp>
      </p:grpSp>
      <p:grpSp>
        <p:nvGrpSpPr>
          <p:cNvPr id="3" name="Group 5"/>
          <p:cNvGrpSpPr>
            <a:grpSpLocks/>
          </p:cNvGrpSpPr>
          <p:nvPr/>
        </p:nvGrpSpPr>
        <p:grpSpPr bwMode="auto">
          <a:xfrm>
            <a:off x="2971800" y="1730376"/>
            <a:ext cx="990600" cy="708025"/>
            <a:chOff x="912" y="1296"/>
            <a:chExt cx="624" cy="446"/>
          </a:xfrm>
        </p:grpSpPr>
        <p:sp>
          <p:nvSpPr>
            <p:cNvPr id="72741" name="Text Box 6"/>
            <p:cNvSpPr txBox="1">
              <a:spLocks noChangeArrowheads="1"/>
            </p:cNvSpPr>
            <p:nvPr/>
          </p:nvSpPr>
          <p:spPr bwMode="auto">
            <a:xfrm>
              <a:off x="912" y="1492"/>
              <a:ext cx="624" cy="250"/>
            </a:xfrm>
            <a:prstGeom prst="rect">
              <a:avLst/>
            </a:prstGeom>
            <a:noFill/>
            <a:ln w="12700" cap="sq">
              <a:noFill/>
              <a:miter lim="800000"/>
              <a:headEnd type="none" w="sm" len="sm"/>
              <a:tailEnd type="none" w="sm" len="sm"/>
            </a:ln>
          </p:spPr>
          <p:txBody>
            <a:bodyPr>
              <a:spAutoFit/>
            </a:bodyPr>
            <a:lstStyle/>
            <a:p>
              <a:r>
                <a:rPr lang="en-US" altLang="zh-CN" sz="2000" b="1">
                  <a:solidFill>
                    <a:srgbClr val="FF3300"/>
                  </a:solidFill>
                </a:rPr>
                <a:t>front</a:t>
              </a:r>
            </a:p>
          </p:txBody>
        </p:sp>
        <p:sp>
          <p:nvSpPr>
            <p:cNvPr id="72742" name="Line 7"/>
            <p:cNvSpPr>
              <a:spLocks noChangeShapeType="1"/>
            </p:cNvSpPr>
            <p:nvPr/>
          </p:nvSpPr>
          <p:spPr bwMode="auto">
            <a:xfrm flipV="1">
              <a:off x="1104" y="1296"/>
              <a:ext cx="0" cy="240"/>
            </a:xfrm>
            <a:prstGeom prst="line">
              <a:avLst/>
            </a:prstGeom>
            <a:noFill/>
            <a:ln w="19050" cap="sq">
              <a:solidFill>
                <a:srgbClr val="FF0000"/>
              </a:solidFill>
              <a:round/>
              <a:headEnd type="none" w="sm" len="sm"/>
              <a:tailEnd type="triangle" w="sm" len="lg"/>
            </a:ln>
          </p:spPr>
          <p:txBody>
            <a:bodyPr/>
            <a:lstStyle/>
            <a:p>
              <a:endParaRPr lang="zh-CN" altLang="en-US"/>
            </a:p>
          </p:txBody>
        </p:sp>
      </p:grpSp>
      <p:grpSp>
        <p:nvGrpSpPr>
          <p:cNvPr id="4" name="Group 8"/>
          <p:cNvGrpSpPr>
            <a:grpSpLocks/>
          </p:cNvGrpSpPr>
          <p:nvPr/>
        </p:nvGrpSpPr>
        <p:grpSpPr bwMode="auto">
          <a:xfrm>
            <a:off x="4439817" y="1772817"/>
            <a:ext cx="582613" cy="625475"/>
            <a:chOff x="2112" y="1440"/>
            <a:chExt cx="367" cy="394"/>
          </a:xfrm>
        </p:grpSpPr>
        <p:sp>
          <p:nvSpPr>
            <p:cNvPr id="72739" name="Text Box 9"/>
            <p:cNvSpPr txBox="1">
              <a:spLocks noChangeArrowheads="1"/>
            </p:cNvSpPr>
            <p:nvPr/>
          </p:nvSpPr>
          <p:spPr bwMode="auto">
            <a:xfrm>
              <a:off x="2112" y="1582"/>
              <a:ext cx="367" cy="252"/>
            </a:xfrm>
            <a:prstGeom prst="rect">
              <a:avLst/>
            </a:prstGeom>
            <a:noFill/>
            <a:ln w="12700" cap="sq">
              <a:noFill/>
              <a:miter lim="800000"/>
              <a:headEnd type="none" w="sm" len="sm"/>
              <a:tailEnd type="none" w="sm" len="sm"/>
            </a:ln>
          </p:spPr>
          <p:txBody>
            <a:bodyPr wrap="none">
              <a:spAutoFit/>
            </a:bodyPr>
            <a:lstStyle/>
            <a:p>
              <a:r>
                <a:rPr lang="en-US" altLang="zh-CN" sz="2000" b="1" dirty="0">
                  <a:solidFill>
                    <a:srgbClr val="FF3300"/>
                  </a:solidFill>
                </a:rPr>
                <a:t>rear</a:t>
              </a:r>
            </a:p>
          </p:txBody>
        </p:sp>
        <p:sp>
          <p:nvSpPr>
            <p:cNvPr id="72740" name="Line 10"/>
            <p:cNvSpPr>
              <a:spLocks noChangeShapeType="1"/>
            </p:cNvSpPr>
            <p:nvPr/>
          </p:nvSpPr>
          <p:spPr bwMode="auto">
            <a:xfrm flipV="1">
              <a:off x="2256" y="1440"/>
              <a:ext cx="0" cy="192"/>
            </a:xfrm>
            <a:prstGeom prst="line">
              <a:avLst/>
            </a:prstGeom>
            <a:noFill/>
            <a:ln w="19050" cap="sq">
              <a:solidFill>
                <a:srgbClr val="FF0000"/>
              </a:solidFill>
              <a:round/>
              <a:headEnd type="none" w="sm" len="sm"/>
              <a:tailEnd type="triangle" w="sm" len="lg"/>
            </a:ln>
          </p:spPr>
          <p:txBody>
            <a:bodyPr/>
            <a:lstStyle/>
            <a:p>
              <a:endParaRPr lang="zh-CN" altLang="en-US"/>
            </a:p>
          </p:txBody>
        </p:sp>
      </p:grpSp>
      <p:grpSp>
        <p:nvGrpSpPr>
          <p:cNvPr id="5" name="Group 11"/>
          <p:cNvGrpSpPr>
            <a:grpSpLocks/>
          </p:cNvGrpSpPr>
          <p:nvPr/>
        </p:nvGrpSpPr>
        <p:grpSpPr bwMode="auto">
          <a:xfrm>
            <a:off x="3124200" y="1673225"/>
            <a:ext cx="609600" cy="457200"/>
            <a:chOff x="1008" y="1248"/>
            <a:chExt cx="384" cy="288"/>
          </a:xfrm>
        </p:grpSpPr>
        <p:sp>
          <p:nvSpPr>
            <p:cNvPr id="72737" name="Rectangle 12"/>
            <p:cNvSpPr>
              <a:spLocks noChangeArrowheads="1"/>
            </p:cNvSpPr>
            <p:nvPr/>
          </p:nvSpPr>
          <p:spPr bwMode="auto">
            <a:xfrm>
              <a:off x="1008" y="1248"/>
              <a:ext cx="192" cy="288"/>
            </a:xfrm>
            <a:prstGeom prst="rect">
              <a:avLst/>
            </a:prstGeom>
            <a:solidFill>
              <a:srgbClr val="FFFFFF"/>
            </a:solidFill>
            <a:ln w="12700" cap="sq">
              <a:noFill/>
              <a:miter lim="800000"/>
              <a:headEnd type="none" w="sm" len="sm"/>
              <a:tailEnd type="none" w="sm" len="sm"/>
            </a:ln>
          </p:spPr>
          <p:txBody>
            <a:bodyPr wrap="none" anchor="ctr"/>
            <a:lstStyle/>
            <a:p>
              <a:endParaRPr lang="zh-CN" altLang="en-US"/>
            </a:p>
          </p:txBody>
        </p:sp>
        <p:sp>
          <p:nvSpPr>
            <p:cNvPr id="72738" name="Line 13"/>
            <p:cNvSpPr>
              <a:spLocks noChangeShapeType="1"/>
            </p:cNvSpPr>
            <p:nvPr/>
          </p:nvSpPr>
          <p:spPr bwMode="auto">
            <a:xfrm flipV="1">
              <a:off x="1248" y="1344"/>
              <a:ext cx="144" cy="192"/>
            </a:xfrm>
            <a:prstGeom prst="line">
              <a:avLst/>
            </a:prstGeom>
            <a:noFill/>
            <a:ln w="19050" cap="sq">
              <a:solidFill>
                <a:srgbClr val="FF0000"/>
              </a:solidFill>
              <a:round/>
              <a:headEnd type="none" w="sm" len="sm"/>
              <a:tailEnd type="triangle" w="sm" len="lg"/>
            </a:ln>
          </p:spPr>
          <p:txBody>
            <a:bodyPr/>
            <a:lstStyle/>
            <a:p>
              <a:endParaRPr lang="zh-CN" altLang="en-US"/>
            </a:p>
          </p:txBody>
        </p:sp>
      </p:grpSp>
      <p:grpSp>
        <p:nvGrpSpPr>
          <p:cNvPr id="8" name="Group 20"/>
          <p:cNvGrpSpPr>
            <a:grpSpLocks/>
          </p:cNvGrpSpPr>
          <p:nvPr/>
        </p:nvGrpSpPr>
        <p:grpSpPr bwMode="auto">
          <a:xfrm>
            <a:off x="3071664" y="980728"/>
            <a:ext cx="5130800" cy="796926"/>
            <a:chOff x="1236" y="1207"/>
            <a:chExt cx="3232" cy="502"/>
          </a:xfrm>
        </p:grpSpPr>
        <p:sp>
          <p:nvSpPr>
            <p:cNvPr id="72717" name="Text Box 21"/>
            <p:cNvSpPr txBox="1">
              <a:spLocks noChangeArrowheads="1"/>
            </p:cNvSpPr>
            <p:nvPr/>
          </p:nvSpPr>
          <p:spPr bwMode="auto">
            <a:xfrm>
              <a:off x="1268" y="1207"/>
              <a:ext cx="3200" cy="212"/>
            </a:xfrm>
            <a:prstGeom prst="rect">
              <a:avLst/>
            </a:prstGeom>
            <a:noFill/>
            <a:ln w="12700" cap="sq">
              <a:noFill/>
              <a:miter lim="800000"/>
              <a:headEnd type="none" w="sm" len="sm"/>
              <a:tailEnd type="none" w="sm" len="sm"/>
            </a:ln>
          </p:spPr>
          <p:txBody>
            <a:bodyPr>
              <a:spAutoFit/>
            </a:bodyPr>
            <a:lstStyle/>
            <a:p>
              <a:r>
                <a:rPr lang="zh-CN" altLang="en-US" sz="1600" b="1" dirty="0"/>
                <a:t>0       </a:t>
              </a:r>
              <a:r>
                <a:rPr lang="en-US" altLang="zh-CN" sz="1600" b="1" dirty="0"/>
                <a:t>1                                                                        M</a:t>
              </a:r>
              <a:r>
                <a:rPr lang="en-US" altLang="zh-CN" sz="1600" b="1" dirty="0">
                  <a:latin typeface="宋体" charset="-122"/>
                  <a:ea typeface="宋体" charset="-122"/>
                </a:rPr>
                <a:t>-</a:t>
              </a:r>
              <a:r>
                <a:rPr lang="en-US" altLang="zh-CN" sz="1600" b="1" dirty="0"/>
                <a:t>1</a:t>
              </a:r>
            </a:p>
          </p:txBody>
        </p:sp>
        <p:sp>
          <p:nvSpPr>
            <p:cNvPr id="72718" name="Text Box 22"/>
            <p:cNvSpPr txBox="1">
              <a:spLocks noChangeArrowheads="1"/>
            </p:cNvSpPr>
            <p:nvPr/>
          </p:nvSpPr>
          <p:spPr bwMode="auto">
            <a:xfrm>
              <a:off x="1285" y="1368"/>
              <a:ext cx="228" cy="327"/>
            </a:xfrm>
            <a:prstGeom prst="rect">
              <a:avLst/>
            </a:prstGeom>
            <a:noFill/>
            <a:ln w="12700" cap="sq">
              <a:noFill/>
              <a:miter lim="800000"/>
              <a:headEnd type="none" w="sm" len="sm"/>
              <a:tailEnd type="none" w="sm" len="sm"/>
            </a:ln>
          </p:spPr>
          <p:txBody>
            <a:bodyPr wrap="none">
              <a:spAutoFit/>
            </a:bodyPr>
            <a:lstStyle/>
            <a:p>
              <a:r>
                <a:rPr lang="en-US" altLang="zh-CN" sz="2800" b="1"/>
                <a:t>a</a:t>
              </a:r>
            </a:p>
          </p:txBody>
        </p:sp>
        <p:sp>
          <p:nvSpPr>
            <p:cNvPr id="72719" name="Text Box 23"/>
            <p:cNvSpPr txBox="1">
              <a:spLocks noChangeArrowheads="1"/>
            </p:cNvSpPr>
            <p:nvPr/>
          </p:nvSpPr>
          <p:spPr bwMode="auto">
            <a:xfrm>
              <a:off x="1844" y="1365"/>
              <a:ext cx="219" cy="330"/>
            </a:xfrm>
            <a:prstGeom prst="rect">
              <a:avLst/>
            </a:prstGeom>
            <a:noFill/>
            <a:ln w="12700" cap="sq">
              <a:noFill/>
              <a:miter lim="800000"/>
              <a:headEnd type="none" w="sm" len="sm"/>
              <a:tailEnd type="none" w="sm" len="sm"/>
            </a:ln>
          </p:spPr>
          <p:txBody>
            <a:bodyPr wrap="none">
              <a:spAutoFit/>
            </a:bodyPr>
            <a:lstStyle/>
            <a:p>
              <a:r>
                <a:rPr lang="en-US" altLang="zh-CN" sz="2800" b="1"/>
                <a:t>c</a:t>
              </a:r>
            </a:p>
          </p:txBody>
        </p:sp>
        <p:sp>
          <p:nvSpPr>
            <p:cNvPr id="72720" name="Text Box 24"/>
            <p:cNvSpPr txBox="1">
              <a:spLocks noChangeArrowheads="1"/>
            </p:cNvSpPr>
            <p:nvPr/>
          </p:nvSpPr>
          <p:spPr bwMode="auto">
            <a:xfrm>
              <a:off x="2128" y="1379"/>
              <a:ext cx="229" cy="330"/>
            </a:xfrm>
            <a:prstGeom prst="rect">
              <a:avLst/>
            </a:prstGeom>
            <a:noFill/>
            <a:ln w="12700" cap="sq">
              <a:noFill/>
              <a:miter lim="800000"/>
              <a:headEnd type="none" w="sm" len="sm"/>
              <a:tailEnd type="none" w="sm" len="sm"/>
            </a:ln>
          </p:spPr>
          <p:txBody>
            <a:bodyPr wrap="none">
              <a:spAutoFit/>
            </a:bodyPr>
            <a:lstStyle/>
            <a:p>
              <a:r>
                <a:rPr lang="en-US" altLang="zh-CN" sz="2800" b="1"/>
                <a:t>d</a:t>
              </a:r>
            </a:p>
          </p:txBody>
        </p:sp>
        <p:sp>
          <p:nvSpPr>
            <p:cNvPr id="72721" name="Text Box 25"/>
            <p:cNvSpPr txBox="1">
              <a:spLocks noChangeArrowheads="1"/>
            </p:cNvSpPr>
            <p:nvPr/>
          </p:nvSpPr>
          <p:spPr bwMode="auto">
            <a:xfrm>
              <a:off x="1565" y="1375"/>
              <a:ext cx="229" cy="330"/>
            </a:xfrm>
            <a:prstGeom prst="rect">
              <a:avLst/>
            </a:prstGeom>
            <a:noFill/>
            <a:ln w="12700" cap="sq">
              <a:noFill/>
              <a:miter lim="800000"/>
              <a:headEnd type="none" w="sm" len="sm"/>
              <a:tailEnd type="none" w="sm" len="sm"/>
            </a:ln>
          </p:spPr>
          <p:txBody>
            <a:bodyPr wrap="none">
              <a:spAutoFit/>
            </a:bodyPr>
            <a:lstStyle/>
            <a:p>
              <a:r>
                <a:rPr lang="en-US" altLang="zh-CN" sz="2800" b="1"/>
                <a:t>b</a:t>
              </a:r>
            </a:p>
          </p:txBody>
        </p:sp>
        <p:sp>
          <p:nvSpPr>
            <p:cNvPr id="72722" name="Line 26"/>
            <p:cNvSpPr>
              <a:spLocks noChangeShapeType="1"/>
            </p:cNvSpPr>
            <p:nvPr/>
          </p:nvSpPr>
          <p:spPr bwMode="auto">
            <a:xfrm>
              <a:off x="1247" y="1420"/>
              <a:ext cx="2994" cy="0"/>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72723" name="Line 27"/>
            <p:cNvSpPr>
              <a:spLocks noChangeShapeType="1"/>
            </p:cNvSpPr>
            <p:nvPr/>
          </p:nvSpPr>
          <p:spPr bwMode="auto">
            <a:xfrm>
              <a:off x="1236" y="1703"/>
              <a:ext cx="2994" cy="0"/>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72724" name="Line 28"/>
            <p:cNvSpPr>
              <a:spLocks noChangeShapeType="1"/>
            </p:cNvSpPr>
            <p:nvPr/>
          </p:nvSpPr>
          <p:spPr bwMode="auto">
            <a:xfrm>
              <a:off x="1237" y="1420"/>
              <a:ext cx="0" cy="272"/>
            </a:xfrm>
            <a:prstGeom prst="line">
              <a:avLst/>
            </a:prstGeom>
            <a:noFill/>
            <a:ln w="31750" cap="sq">
              <a:solidFill>
                <a:srgbClr val="000080"/>
              </a:solidFill>
              <a:round/>
              <a:headEnd type="none" w="sm" len="sm"/>
              <a:tailEnd type="none" w="sm" len="sm"/>
            </a:ln>
          </p:spPr>
          <p:txBody>
            <a:bodyPr/>
            <a:lstStyle/>
            <a:p>
              <a:endParaRPr lang="zh-CN" altLang="en-US"/>
            </a:p>
          </p:txBody>
        </p:sp>
        <p:sp>
          <p:nvSpPr>
            <p:cNvPr id="72725" name="Line 29"/>
            <p:cNvSpPr>
              <a:spLocks noChangeShapeType="1"/>
            </p:cNvSpPr>
            <p:nvPr/>
          </p:nvSpPr>
          <p:spPr bwMode="auto">
            <a:xfrm>
              <a:off x="1523" y="1427"/>
              <a:ext cx="0" cy="272"/>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72726" name="Line 30"/>
            <p:cNvSpPr>
              <a:spLocks noChangeShapeType="1"/>
            </p:cNvSpPr>
            <p:nvPr/>
          </p:nvSpPr>
          <p:spPr bwMode="auto">
            <a:xfrm>
              <a:off x="1816" y="1420"/>
              <a:ext cx="0" cy="272"/>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72727" name="Line 31"/>
            <p:cNvSpPr>
              <a:spLocks noChangeShapeType="1"/>
            </p:cNvSpPr>
            <p:nvPr/>
          </p:nvSpPr>
          <p:spPr bwMode="auto">
            <a:xfrm>
              <a:off x="2102" y="1420"/>
              <a:ext cx="0" cy="272"/>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72728" name="Line 32"/>
            <p:cNvSpPr>
              <a:spLocks noChangeShapeType="1"/>
            </p:cNvSpPr>
            <p:nvPr/>
          </p:nvSpPr>
          <p:spPr bwMode="auto">
            <a:xfrm>
              <a:off x="2395" y="1420"/>
              <a:ext cx="0" cy="272"/>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72729" name="Line 33"/>
            <p:cNvSpPr>
              <a:spLocks noChangeShapeType="1"/>
            </p:cNvSpPr>
            <p:nvPr/>
          </p:nvSpPr>
          <p:spPr bwMode="auto">
            <a:xfrm>
              <a:off x="2692" y="1427"/>
              <a:ext cx="0" cy="272"/>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72730" name="Line 34"/>
            <p:cNvSpPr>
              <a:spLocks noChangeShapeType="1"/>
            </p:cNvSpPr>
            <p:nvPr/>
          </p:nvSpPr>
          <p:spPr bwMode="auto">
            <a:xfrm>
              <a:off x="2985" y="1427"/>
              <a:ext cx="0" cy="272"/>
            </a:xfrm>
            <a:prstGeom prst="line">
              <a:avLst/>
            </a:prstGeom>
            <a:noFill/>
            <a:ln w="25400" cap="sq">
              <a:solidFill>
                <a:srgbClr val="000080"/>
              </a:solidFill>
              <a:round/>
              <a:headEnd type="none" w="sm" len="sm"/>
              <a:tailEnd type="none" w="sm" len="sm"/>
            </a:ln>
          </p:spPr>
          <p:txBody>
            <a:bodyPr/>
            <a:lstStyle/>
            <a:p>
              <a:endParaRPr lang="zh-CN" altLang="en-US"/>
            </a:p>
          </p:txBody>
        </p:sp>
        <p:sp>
          <p:nvSpPr>
            <p:cNvPr id="72731" name="Line 35"/>
            <p:cNvSpPr>
              <a:spLocks noChangeShapeType="1"/>
            </p:cNvSpPr>
            <p:nvPr/>
          </p:nvSpPr>
          <p:spPr bwMode="auto">
            <a:xfrm>
              <a:off x="4241" y="1427"/>
              <a:ext cx="0" cy="272"/>
            </a:xfrm>
            <a:prstGeom prst="line">
              <a:avLst/>
            </a:prstGeom>
            <a:noFill/>
            <a:ln w="31750" cap="sq">
              <a:solidFill>
                <a:srgbClr val="000080"/>
              </a:solidFill>
              <a:round/>
              <a:headEnd type="none" w="sm" len="sm"/>
              <a:tailEnd type="none" w="sm" len="sm"/>
            </a:ln>
          </p:spPr>
          <p:txBody>
            <a:bodyPr/>
            <a:lstStyle/>
            <a:p>
              <a:endParaRPr lang="zh-CN" altLang="en-US"/>
            </a:p>
          </p:txBody>
        </p:sp>
        <p:sp>
          <p:nvSpPr>
            <p:cNvPr id="72732" name="Line 36"/>
            <p:cNvSpPr>
              <a:spLocks noChangeShapeType="1"/>
            </p:cNvSpPr>
            <p:nvPr/>
          </p:nvSpPr>
          <p:spPr bwMode="auto">
            <a:xfrm>
              <a:off x="3969" y="1427"/>
              <a:ext cx="0" cy="272"/>
            </a:xfrm>
            <a:prstGeom prst="line">
              <a:avLst/>
            </a:prstGeom>
            <a:noFill/>
            <a:ln w="25400" cap="sq">
              <a:solidFill>
                <a:srgbClr val="000080"/>
              </a:solidFill>
              <a:round/>
              <a:headEnd type="none" w="sm" len="sm"/>
              <a:tailEnd type="none" w="sm" len="sm"/>
            </a:ln>
          </p:spPr>
          <p:txBody>
            <a:bodyPr/>
            <a:lstStyle/>
            <a:p>
              <a:endParaRPr lang="zh-CN" altLang="en-US"/>
            </a:p>
          </p:txBody>
        </p:sp>
      </p:grpSp>
      <p:sp>
        <p:nvSpPr>
          <p:cNvPr id="299045" name="Rectangle 37"/>
          <p:cNvSpPr>
            <a:spLocks noChangeArrowheads="1"/>
          </p:cNvSpPr>
          <p:nvPr/>
        </p:nvSpPr>
        <p:spPr bwMode="auto">
          <a:xfrm>
            <a:off x="3143672" y="1340768"/>
            <a:ext cx="304800" cy="304800"/>
          </a:xfrm>
          <a:prstGeom prst="rect">
            <a:avLst/>
          </a:prstGeom>
          <a:solidFill>
            <a:srgbClr val="FFFFFF"/>
          </a:solidFill>
          <a:ln w="12700" cap="sq">
            <a:noFill/>
            <a:miter lim="800000"/>
            <a:headEnd type="none" w="sm" len="sm"/>
            <a:tailEnd type="none" w="sm" len="sm"/>
          </a:ln>
        </p:spPr>
        <p:txBody>
          <a:bodyPr wrap="none" anchor="ctr"/>
          <a:lstStyle/>
          <a:p>
            <a:endParaRPr lang="zh-CN" altLang="en-US"/>
          </a:p>
        </p:txBody>
      </p:sp>
      <p:grpSp>
        <p:nvGrpSpPr>
          <p:cNvPr id="39" name="组合 38"/>
          <p:cNvGrpSpPr/>
          <p:nvPr/>
        </p:nvGrpSpPr>
        <p:grpSpPr>
          <a:xfrm>
            <a:off x="1752601" y="2422526"/>
            <a:ext cx="8550275" cy="4221163"/>
            <a:chOff x="228600" y="2422525"/>
            <a:chExt cx="8550275" cy="4221163"/>
          </a:xfrm>
        </p:grpSpPr>
        <p:grpSp>
          <p:nvGrpSpPr>
            <p:cNvPr id="6" name="Group 14"/>
            <p:cNvGrpSpPr>
              <a:grpSpLocks/>
            </p:cNvGrpSpPr>
            <p:nvPr/>
          </p:nvGrpSpPr>
          <p:grpSpPr bwMode="auto">
            <a:xfrm>
              <a:off x="533400" y="2971800"/>
              <a:ext cx="8245475" cy="3671888"/>
              <a:chOff x="336" y="1920"/>
              <a:chExt cx="5194" cy="2313"/>
            </a:xfrm>
          </p:grpSpPr>
          <p:sp>
            <p:nvSpPr>
              <p:cNvPr id="72735" name="Rectangle 15"/>
              <p:cNvSpPr>
                <a:spLocks noChangeArrowheads="1"/>
              </p:cNvSpPr>
              <p:nvPr/>
            </p:nvSpPr>
            <p:spPr bwMode="auto">
              <a:xfrm>
                <a:off x="336" y="1920"/>
                <a:ext cx="5088" cy="2112"/>
              </a:xfrm>
              <a:prstGeom prst="rect">
                <a:avLst/>
              </a:prstGeom>
              <a:solidFill>
                <a:srgbClr val="DDFFDD"/>
              </a:solidFill>
              <a:ln w="12700" cap="sq">
                <a:noFill/>
                <a:miter lim="800000"/>
                <a:headEnd type="none" w="sm" len="sm"/>
                <a:tailEnd type="none" w="sm" len="sm"/>
              </a:ln>
              <a:effectLst>
                <a:outerShdw dist="224686" dir="2837437" algn="ctr" rotWithShape="0">
                  <a:srgbClr val="B2B2B2"/>
                </a:outerShdw>
              </a:effectLst>
            </p:spPr>
            <p:txBody>
              <a:bodyPr wrap="none" anchor="ctr"/>
              <a:lstStyle/>
              <a:p>
                <a:endParaRPr lang="zh-CN" altLang="en-US"/>
              </a:p>
            </p:txBody>
          </p:sp>
          <p:sp>
            <p:nvSpPr>
              <p:cNvPr id="72736" name="Text Box 16"/>
              <p:cNvSpPr txBox="1">
                <a:spLocks noChangeArrowheads="1"/>
              </p:cNvSpPr>
              <p:nvPr/>
            </p:nvSpPr>
            <p:spPr bwMode="auto">
              <a:xfrm>
                <a:off x="538" y="2160"/>
                <a:ext cx="4992" cy="2073"/>
              </a:xfrm>
              <a:prstGeom prst="rect">
                <a:avLst/>
              </a:prstGeom>
              <a:noFill/>
              <a:ln w="12700" cap="sq">
                <a:noFill/>
                <a:miter lim="800000"/>
                <a:headEnd type="none" w="sm" len="sm"/>
                <a:tailEnd type="none" w="sm" len="sm"/>
              </a:ln>
            </p:spPr>
            <p:txBody>
              <a:bodyPr>
                <a:spAutoFit/>
              </a:bodyPr>
              <a:lstStyle/>
              <a:p>
                <a:pPr eaLnBrk="1" hangingPunct="1">
                  <a:lnSpc>
                    <a:spcPct val="70000"/>
                  </a:lnSpc>
                </a:pPr>
                <a:r>
                  <a:rPr kumimoji="1" lang="en-US" altLang="zh-CN" sz="2500" b="1" dirty="0" err="1">
                    <a:solidFill>
                      <a:srgbClr val="003399"/>
                    </a:solidFill>
                  </a:rPr>
                  <a:t>ElemType</a:t>
                </a:r>
                <a:r>
                  <a:rPr kumimoji="1" lang="en-US" altLang="zh-CN" sz="2500" b="1" dirty="0">
                    <a:solidFill>
                      <a:srgbClr val="003399"/>
                    </a:solidFill>
                  </a:rPr>
                  <a:t>  </a:t>
                </a:r>
                <a:r>
                  <a:rPr kumimoji="1" lang="en-US" altLang="zh-CN" sz="2500" b="1" dirty="0" err="1">
                    <a:solidFill>
                      <a:srgbClr val="003399"/>
                    </a:solidFill>
                  </a:rPr>
                  <a:t>deQueue</a:t>
                </a:r>
                <a:r>
                  <a:rPr kumimoji="1" lang="en-US" altLang="zh-CN" sz="2500" b="1" dirty="0">
                    <a:solidFill>
                      <a:srgbClr val="003399"/>
                    </a:solidFill>
                  </a:rPr>
                  <a:t>(</a:t>
                </a:r>
                <a:r>
                  <a:rPr kumimoji="1" lang="en-US" altLang="zh-CN" sz="2500" b="1" dirty="0" err="1">
                    <a:solidFill>
                      <a:srgbClr val="003399"/>
                    </a:solidFill>
                  </a:rPr>
                  <a:t>ElemType</a:t>
                </a:r>
                <a:r>
                  <a:rPr kumimoji="1" lang="en-US" altLang="zh-CN" sz="2500" b="1" dirty="0">
                    <a:solidFill>
                      <a:srgbClr val="003399"/>
                    </a:solidFill>
                  </a:rPr>
                  <a:t> queue[ ])</a:t>
                </a:r>
              </a:p>
              <a:p>
                <a:pPr eaLnBrk="1" hangingPunct="1">
                  <a:lnSpc>
                    <a:spcPct val="70000"/>
                  </a:lnSpc>
                </a:pPr>
                <a:r>
                  <a:rPr kumimoji="1" lang="en-US" altLang="zh-CN" sz="2500" b="1" dirty="0">
                    <a:solidFill>
                      <a:srgbClr val="003399"/>
                    </a:solidFill>
                  </a:rPr>
                  <a:t>{</a:t>
                </a:r>
                <a:r>
                  <a:rPr lang="zh-CN" altLang="zh-CN" sz="2500" b="1" dirty="0">
                    <a:solidFill>
                      <a:srgbClr val="003399"/>
                    </a:solidFill>
                    <a:sym typeface="Symbol" pitchFamily="18" charset="2"/>
                  </a:rPr>
                  <a:t> </a:t>
                </a:r>
                <a:endParaRPr lang="en-US" altLang="zh-CN" sz="2500" b="1" dirty="0">
                  <a:solidFill>
                    <a:srgbClr val="003399"/>
                  </a:solidFill>
                  <a:sym typeface="Symbol" pitchFamily="18" charset="2"/>
                </a:endParaRPr>
              </a:p>
              <a:p>
                <a:pPr eaLnBrk="1" hangingPunct="1">
                  <a:lnSpc>
                    <a:spcPct val="70000"/>
                  </a:lnSpc>
                </a:pPr>
                <a:r>
                  <a:rPr kumimoji="1" lang="en-US" altLang="zh-CN" sz="2500" b="1" dirty="0">
                    <a:solidFill>
                      <a:srgbClr val="003399"/>
                    </a:solidFill>
                    <a:latin typeface="楷体_GB2312" pitchFamily="49" charset="-122"/>
                    <a:sym typeface="Symbol" pitchFamily="18" charset="2"/>
                  </a:rPr>
                  <a:t>   </a:t>
                </a:r>
                <a:r>
                  <a:rPr kumimoji="1" lang="en-US" altLang="zh-CN" sz="2500" b="1" dirty="0" err="1">
                    <a:solidFill>
                      <a:srgbClr val="003399"/>
                    </a:solidFill>
                    <a:latin typeface="楷体_GB2312" pitchFamily="49" charset="-122"/>
                    <a:sym typeface="Symbol" pitchFamily="18" charset="2"/>
                  </a:rPr>
                  <a:t>ElemType</a:t>
                </a:r>
                <a:r>
                  <a:rPr kumimoji="1" lang="en-US" altLang="zh-CN" sz="2500" b="1" dirty="0">
                    <a:solidFill>
                      <a:srgbClr val="003399"/>
                    </a:solidFill>
                    <a:latin typeface="楷体_GB2312" pitchFamily="49" charset="-122"/>
                    <a:sym typeface="Symbol" pitchFamily="18" charset="2"/>
                  </a:rPr>
                  <a:t> e;</a:t>
                </a:r>
                <a:endParaRPr kumimoji="1" lang="zh-CN" altLang="en-US" sz="2500" b="1" dirty="0">
                  <a:solidFill>
                    <a:srgbClr val="003399"/>
                  </a:solidFill>
                  <a:latin typeface="楷体_GB2312" pitchFamily="49" charset="-122"/>
                </a:endParaRPr>
              </a:p>
              <a:p>
                <a:pPr eaLnBrk="1" hangingPunct="1">
                  <a:lnSpc>
                    <a:spcPct val="70000"/>
                  </a:lnSpc>
                </a:pPr>
                <a:r>
                  <a:rPr kumimoji="1" lang="zh-CN" altLang="en-US" sz="2500" b="1" dirty="0">
                    <a:solidFill>
                      <a:srgbClr val="003399"/>
                    </a:solidFill>
                  </a:rPr>
                  <a:t>       </a:t>
                </a:r>
                <a:r>
                  <a:rPr kumimoji="1" lang="en-US" altLang="en-US" sz="2500" b="1" dirty="0">
                    <a:solidFill>
                      <a:srgbClr val="003399"/>
                    </a:solidFill>
                  </a:rPr>
                  <a:t>if</a:t>
                </a:r>
                <a:r>
                  <a:rPr kumimoji="1" lang="en-US" altLang="zh-CN" sz="2500" b="1" dirty="0">
                    <a:solidFill>
                      <a:srgbClr val="003399"/>
                    </a:solidFill>
                  </a:rPr>
                  <a:t>(</a:t>
                </a:r>
                <a:r>
                  <a:rPr kumimoji="1" lang="en-US" altLang="zh-CN" sz="2500" b="1" dirty="0" err="1">
                    <a:solidFill>
                      <a:srgbClr val="003399"/>
                    </a:solidFill>
                  </a:rPr>
                  <a:t>isEmpty</a:t>
                </a:r>
                <a:r>
                  <a:rPr kumimoji="1" lang="en-US" altLang="en-US" sz="2500" b="1" dirty="0">
                    <a:solidFill>
                      <a:srgbClr val="003399"/>
                    </a:solidFill>
                  </a:rPr>
                  <a:t>())</a:t>
                </a:r>
              </a:p>
              <a:p>
                <a:pPr eaLnBrk="1" hangingPunct="1">
                  <a:lnSpc>
                    <a:spcPct val="70000"/>
                  </a:lnSpc>
                </a:pPr>
                <a:r>
                  <a:rPr kumimoji="1" lang="en-US" altLang="en-US" sz="2500" b="1" dirty="0">
                    <a:solidFill>
                      <a:srgbClr val="003399"/>
                    </a:solidFill>
                  </a:rPr>
                  <a:t>             Error(“Empty queue!”);     </a:t>
                </a:r>
                <a:r>
                  <a:rPr kumimoji="1" lang="en-US" altLang="en-US" sz="2200" b="1" dirty="0">
                    <a:solidFill>
                      <a:srgbClr val="003399"/>
                    </a:solidFill>
                    <a:latin typeface="幼圆" pitchFamily="49" charset="-122"/>
                    <a:ea typeface="幼圆" pitchFamily="49" charset="-122"/>
                  </a:rPr>
                  <a:t>/* </a:t>
                </a:r>
                <a:r>
                  <a:rPr kumimoji="1" lang="en-US" altLang="zh-CN" sz="2200" b="1" dirty="0">
                    <a:solidFill>
                      <a:srgbClr val="003399"/>
                    </a:solidFill>
                    <a:latin typeface="幼圆" pitchFamily="49" charset="-122"/>
                    <a:ea typeface="幼圆" pitchFamily="49" charset="-122"/>
                  </a:rPr>
                  <a:t>队</a:t>
                </a:r>
                <a:r>
                  <a:rPr kumimoji="1" lang="zh-CN" altLang="en-US" sz="2200" b="1" dirty="0">
                    <a:solidFill>
                      <a:srgbClr val="003399"/>
                    </a:solidFill>
                    <a:latin typeface="幼圆" pitchFamily="49" charset="-122"/>
                    <a:ea typeface="幼圆" pitchFamily="49" charset="-122"/>
                  </a:rPr>
                  <a:t>空，删除失败</a:t>
                </a:r>
                <a:r>
                  <a:rPr kumimoji="1" lang="en-US" altLang="en-US" sz="2200" b="1" dirty="0">
                    <a:solidFill>
                      <a:srgbClr val="003399"/>
                    </a:solidFill>
                    <a:latin typeface="幼圆" pitchFamily="49" charset="-122"/>
                    <a:ea typeface="幼圆" pitchFamily="49" charset="-122"/>
                  </a:rPr>
                  <a:t> */</a:t>
                </a:r>
              </a:p>
              <a:p>
                <a:pPr eaLnBrk="1" hangingPunct="1">
                  <a:lnSpc>
                    <a:spcPct val="70000"/>
                  </a:lnSpc>
                </a:pPr>
                <a:r>
                  <a:rPr kumimoji="1" lang="en-US" altLang="en-US" sz="2500" b="1" dirty="0">
                    <a:solidFill>
                      <a:srgbClr val="003399"/>
                    </a:solidFill>
                  </a:rPr>
                  <a:t>       else{</a:t>
                </a:r>
              </a:p>
              <a:p>
                <a:pPr eaLnBrk="1" hangingPunct="1">
                  <a:lnSpc>
                    <a:spcPct val="70000"/>
                  </a:lnSpc>
                </a:pPr>
                <a:r>
                  <a:rPr lang="en-US" altLang="zh-CN" sz="2500" b="1" dirty="0">
                    <a:solidFill>
                      <a:srgbClr val="003399"/>
                    </a:solidFill>
                  </a:rPr>
                  <a:t>             e=queue[Front];</a:t>
                </a:r>
              </a:p>
              <a:p>
                <a:pPr eaLnBrk="1" hangingPunct="1">
                  <a:lnSpc>
                    <a:spcPct val="70000"/>
                  </a:lnSpc>
                </a:pPr>
                <a:r>
                  <a:rPr lang="en-US" altLang="zh-CN" sz="2500" b="1" dirty="0">
                    <a:solidFill>
                      <a:srgbClr val="003399"/>
                    </a:solidFill>
                  </a:rPr>
                  <a:t>             Count--;                             </a:t>
                </a:r>
                <a:r>
                  <a:rPr kumimoji="1" lang="en-US" altLang="en-US" sz="2200" b="1" dirty="0">
                    <a:solidFill>
                      <a:srgbClr val="003399"/>
                    </a:solidFill>
                    <a:latin typeface="幼圆" pitchFamily="49" charset="-122"/>
                    <a:ea typeface="幼圆" pitchFamily="49" charset="-122"/>
                  </a:rPr>
                  <a:t>/* </a:t>
                </a:r>
                <a:r>
                  <a:rPr kumimoji="1" lang="en-US" altLang="zh-CN" sz="2200" b="1" dirty="0">
                    <a:solidFill>
                      <a:srgbClr val="003399"/>
                    </a:solidFill>
                    <a:latin typeface="幼圆" pitchFamily="49" charset="-122"/>
                    <a:ea typeface="幼圆" pitchFamily="49" charset="-122"/>
                  </a:rPr>
                  <a:t>队</a:t>
                </a:r>
                <a:r>
                  <a:rPr kumimoji="1" lang="zh-CN" altLang="en-US" sz="2200" b="1" dirty="0">
                    <a:solidFill>
                      <a:srgbClr val="003399"/>
                    </a:solidFill>
                    <a:latin typeface="幼圆" pitchFamily="49" charset="-122"/>
                    <a:ea typeface="幼圆" pitchFamily="49" charset="-122"/>
                  </a:rPr>
                  <a:t>非空，删除成功</a:t>
                </a:r>
                <a:r>
                  <a:rPr kumimoji="1" lang="en-US" altLang="en-US" sz="2200" b="1" dirty="0">
                    <a:solidFill>
                      <a:srgbClr val="003399"/>
                    </a:solidFill>
                    <a:latin typeface="幼圆" pitchFamily="49" charset="-122"/>
                    <a:ea typeface="幼圆" pitchFamily="49" charset="-122"/>
                  </a:rPr>
                  <a:t> */</a:t>
                </a:r>
              </a:p>
              <a:p>
                <a:pPr eaLnBrk="1" hangingPunct="1">
                  <a:lnSpc>
                    <a:spcPct val="70000"/>
                  </a:lnSpc>
                </a:pPr>
                <a:r>
                  <a:rPr kumimoji="1" lang="en-US" altLang="zh-CN" sz="2200" b="1" dirty="0">
                    <a:solidFill>
                      <a:srgbClr val="003399"/>
                    </a:solidFill>
                    <a:latin typeface="幼圆" pitchFamily="49" charset="-122"/>
                    <a:ea typeface="幼圆" pitchFamily="49" charset="-122"/>
                  </a:rPr>
                  <a:t>       Front = (Front+1)%MAXSIZE;</a:t>
                </a:r>
              </a:p>
              <a:p>
                <a:pPr eaLnBrk="1" hangingPunct="1">
                  <a:lnSpc>
                    <a:spcPct val="70000"/>
                  </a:lnSpc>
                </a:pPr>
                <a:r>
                  <a:rPr kumimoji="1" lang="en-US" altLang="zh-CN" sz="2200" b="1" dirty="0">
                    <a:solidFill>
                      <a:srgbClr val="003399"/>
                    </a:solidFill>
                    <a:latin typeface="幼圆" pitchFamily="49" charset="-122"/>
                    <a:ea typeface="幼圆" pitchFamily="49" charset="-122"/>
                  </a:rPr>
                  <a:t>       return e;</a:t>
                </a:r>
                <a:endParaRPr lang="en-US" altLang="zh-CN" sz="2500" b="1" dirty="0">
                  <a:solidFill>
                    <a:srgbClr val="003399"/>
                  </a:solidFill>
                </a:endParaRPr>
              </a:p>
              <a:p>
                <a:pPr eaLnBrk="1" hangingPunct="1">
                  <a:lnSpc>
                    <a:spcPct val="70000"/>
                  </a:lnSpc>
                </a:pPr>
                <a:r>
                  <a:rPr lang="en-US" altLang="zh-CN" sz="2500" b="1" dirty="0">
                    <a:solidFill>
                      <a:srgbClr val="003399"/>
                    </a:solidFill>
                  </a:rPr>
                  <a:t>       }</a:t>
                </a:r>
              </a:p>
              <a:p>
                <a:pPr eaLnBrk="1" hangingPunct="1">
                  <a:lnSpc>
                    <a:spcPct val="70000"/>
                  </a:lnSpc>
                </a:pPr>
                <a:r>
                  <a:rPr lang="en-US" altLang="zh-CN" sz="2500" b="1" dirty="0">
                    <a:solidFill>
                      <a:srgbClr val="003399"/>
                    </a:solidFill>
                  </a:rPr>
                  <a:t>}</a:t>
                </a:r>
              </a:p>
            </p:txBody>
          </p:sp>
        </p:grpSp>
        <p:grpSp>
          <p:nvGrpSpPr>
            <p:cNvPr id="7" name="Group 17"/>
            <p:cNvGrpSpPr>
              <a:grpSpLocks/>
            </p:cNvGrpSpPr>
            <p:nvPr/>
          </p:nvGrpSpPr>
          <p:grpSpPr bwMode="auto">
            <a:xfrm>
              <a:off x="228600" y="2422525"/>
              <a:ext cx="2155825" cy="930275"/>
              <a:chOff x="144" y="1526"/>
              <a:chExt cx="1358" cy="586"/>
            </a:xfrm>
          </p:grpSpPr>
          <p:sp>
            <p:nvSpPr>
              <p:cNvPr id="72733" name="AutoShape 18"/>
              <p:cNvSpPr>
                <a:spLocks noChangeArrowheads="1"/>
              </p:cNvSpPr>
              <p:nvPr/>
            </p:nvSpPr>
            <p:spPr bwMode="auto">
              <a:xfrm rot="81652">
                <a:off x="144" y="1548"/>
                <a:ext cx="1056" cy="564"/>
              </a:xfrm>
              <a:prstGeom prst="irregularSeal2">
                <a:avLst/>
              </a:prstGeom>
              <a:solidFill>
                <a:srgbClr val="FF3300"/>
              </a:solidFill>
              <a:ln w="50800">
                <a:solidFill>
                  <a:srgbClr val="FFFF00"/>
                </a:solidFill>
                <a:miter lim="800000"/>
                <a:headEnd type="none" w="sm" len="sm"/>
                <a:tailEnd type="none" w="sm" len="sm"/>
              </a:ln>
              <a:effectLst>
                <a:outerShdw dist="104727" dir="842175" algn="ctr" rotWithShape="0">
                  <a:srgbClr val="808080"/>
                </a:outerShdw>
              </a:effectLst>
            </p:spPr>
            <p:txBody>
              <a:bodyPr wrap="none" anchor="ctr"/>
              <a:lstStyle/>
              <a:p>
                <a:endParaRPr lang="zh-CN" altLang="en-US"/>
              </a:p>
            </p:txBody>
          </p:sp>
          <p:sp>
            <p:nvSpPr>
              <p:cNvPr id="72734" name="Text Box 19"/>
              <p:cNvSpPr txBox="1">
                <a:spLocks noChangeArrowheads="1"/>
              </p:cNvSpPr>
              <p:nvPr/>
            </p:nvSpPr>
            <p:spPr bwMode="auto">
              <a:xfrm rot="-601866">
                <a:off x="177" y="1526"/>
                <a:ext cx="1325" cy="480"/>
              </a:xfrm>
              <a:prstGeom prst="rect">
                <a:avLst/>
              </a:prstGeom>
              <a:noFill/>
              <a:ln w="12700" cap="sq">
                <a:noFill/>
                <a:miter lim="800000"/>
                <a:headEnd type="none" w="sm" len="sm"/>
                <a:tailEnd type="none" w="sm" len="sm"/>
              </a:ln>
              <a:effectLst>
                <a:outerShdw dist="28398" dir="1593903" algn="ctr" rotWithShape="0">
                  <a:srgbClr val="000000"/>
                </a:outerShdw>
              </a:effectLst>
            </p:spPr>
            <p:txBody>
              <a:bodyPr>
                <a:spAutoFit/>
              </a:bodyPr>
              <a:lstStyle/>
              <a:p>
                <a:r>
                  <a:rPr lang="zh-CN" altLang="en-US" sz="4400" b="1" i="1" dirty="0">
                    <a:solidFill>
                      <a:srgbClr val="FFFFFF"/>
                    </a:solidFill>
                    <a:ea typeface="黑体" pitchFamily="2" charset="-122"/>
                  </a:rPr>
                  <a:t>算法</a:t>
                </a:r>
              </a:p>
            </p:txBody>
          </p:sp>
        </p:grpSp>
        <p:sp>
          <p:nvSpPr>
            <p:cNvPr id="72715" name="Line 49"/>
            <p:cNvSpPr>
              <a:spLocks noChangeShapeType="1"/>
            </p:cNvSpPr>
            <p:nvPr/>
          </p:nvSpPr>
          <p:spPr bwMode="auto">
            <a:xfrm>
              <a:off x="5580063" y="4005263"/>
              <a:ext cx="2447925" cy="0"/>
            </a:xfrm>
            <a:prstGeom prst="line">
              <a:avLst/>
            </a:prstGeom>
            <a:noFill/>
            <a:ln w="57150" cap="sq">
              <a:solidFill>
                <a:srgbClr val="FF0000"/>
              </a:solidFill>
              <a:round/>
              <a:headEnd type="none" w="sm" len="sm"/>
              <a:tailEnd type="none" w="sm" len="sm"/>
            </a:ln>
          </p:spPr>
          <p:txBody>
            <a:bodyPr/>
            <a:lstStyle/>
            <a:p>
              <a:endParaRPr lang="zh-CN" altLang="en-US"/>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99045"/>
                                        </p:tgtEl>
                                        <p:attrNameLst>
                                          <p:attrName>style.visibility</p:attrName>
                                        </p:attrNameLst>
                                      </p:cBhvr>
                                      <p:to>
                                        <p:strVal val="visible"/>
                                      </p:to>
                                    </p:set>
                                    <p:animEffect transition="in" filter="dissolve">
                                      <p:cBhvr>
                                        <p:cTn id="27" dur="500"/>
                                        <p:tgtEl>
                                          <p:spTgt spid="29904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blinds(horizontal)">
                                      <p:cBhvr>
                                        <p:cTn id="3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45"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487488" y="1484784"/>
            <a:ext cx="7796213" cy="2016125"/>
            <a:chOff x="657" y="1071"/>
            <a:chExt cx="4911" cy="1270"/>
          </a:xfrm>
        </p:grpSpPr>
        <p:sp>
          <p:nvSpPr>
            <p:cNvPr id="75799" name="Freeform 3"/>
            <p:cNvSpPr>
              <a:spLocks/>
            </p:cNvSpPr>
            <p:nvPr/>
          </p:nvSpPr>
          <p:spPr bwMode="auto">
            <a:xfrm>
              <a:off x="657" y="1071"/>
              <a:ext cx="4911" cy="1270"/>
            </a:xfrm>
            <a:custGeom>
              <a:avLst/>
              <a:gdLst>
                <a:gd name="T0" fmla="*/ 78 w 5139"/>
                <a:gd name="T1" fmla="*/ 153 h 1558"/>
                <a:gd name="T2" fmla="*/ 3990 w 5139"/>
                <a:gd name="T3" fmla="*/ 159 h 1558"/>
                <a:gd name="T4" fmla="*/ 3980 w 5139"/>
                <a:gd name="T5" fmla="*/ 642 h 1558"/>
                <a:gd name="T6" fmla="*/ 3853 w 5139"/>
                <a:gd name="T7" fmla="*/ 667 h 1558"/>
                <a:gd name="T8" fmla="*/ 3236 w 5139"/>
                <a:gd name="T9" fmla="*/ 672 h 1558"/>
                <a:gd name="T10" fmla="*/ 2716 w 5139"/>
                <a:gd name="T11" fmla="*/ 688 h 1558"/>
                <a:gd name="T12" fmla="*/ 932 w 5139"/>
                <a:gd name="T13" fmla="*/ 672 h 1558"/>
                <a:gd name="T14" fmla="*/ 147 w 5139"/>
                <a:gd name="T15" fmla="*/ 672 h 1558"/>
                <a:gd name="T16" fmla="*/ 118 w 5139"/>
                <a:gd name="T17" fmla="*/ 682 h 1558"/>
                <a:gd name="T18" fmla="*/ 0 w 5139"/>
                <a:gd name="T19" fmla="*/ 688 h 1558"/>
                <a:gd name="T20" fmla="*/ 11 w 5139"/>
                <a:gd name="T21" fmla="*/ 210 h 1558"/>
                <a:gd name="T22" fmla="*/ 78 w 5139"/>
                <a:gd name="T23" fmla="*/ 153 h 15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139" h="1558">
                  <a:moveTo>
                    <a:pt x="94" y="347"/>
                  </a:moveTo>
                  <a:cubicBezTo>
                    <a:pt x="1657" y="351"/>
                    <a:pt x="3263" y="0"/>
                    <a:pt x="4784" y="359"/>
                  </a:cubicBezTo>
                  <a:cubicBezTo>
                    <a:pt x="5139" y="443"/>
                    <a:pt x="4795" y="1088"/>
                    <a:pt x="4772" y="1452"/>
                  </a:cubicBezTo>
                  <a:cubicBezTo>
                    <a:pt x="4769" y="1506"/>
                    <a:pt x="4674" y="1510"/>
                    <a:pt x="4620" y="1511"/>
                  </a:cubicBezTo>
                  <a:cubicBezTo>
                    <a:pt x="4373" y="1515"/>
                    <a:pt x="4126" y="1519"/>
                    <a:pt x="3879" y="1523"/>
                  </a:cubicBezTo>
                  <a:cubicBezTo>
                    <a:pt x="3655" y="1546"/>
                    <a:pt x="3521" y="1551"/>
                    <a:pt x="3256" y="1558"/>
                  </a:cubicBezTo>
                  <a:cubicBezTo>
                    <a:pt x="2543" y="1551"/>
                    <a:pt x="1830" y="1551"/>
                    <a:pt x="1117" y="1523"/>
                  </a:cubicBezTo>
                  <a:cubicBezTo>
                    <a:pt x="745" y="1489"/>
                    <a:pt x="861" y="1495"/>
                    <a:pt x="176" y="1523"/>
                  </a:cubicBezTo>
                  <a:cubicBezTo>
                    <a:pt x="162" y="1524"/>
                    <a:pt x="155" y="1543"/>
                    <a:pt x="141" y="1546"/>
                  </a:cubicBezTo>
                  <a:cubicBezTo>
                    <a:pt x="95" y="1555"/>
                    <a:pt x="47" y="1554"/>
                    <a:pt x="0" y="1558"/>
                  </a:cubicBezTo>
                  <a:cubicBezTo>
                    <a:pt x="4" y="1197"/>
                    <a:pt x="5" y="837"/>
                    <a:pt x="12" y="476"/>
                  </a:cubicBezTo>
                  <a:cubicBezTo>
                    <a:pt x="14" y="392"/>
                    <a:pt x="94" y="414"/>
                    <a:pt x="94" y="347"/>
                  </a:cubicBezTo>
                  <a:close/>
                </a:path>
              </a:pathLst>
            </a:custGeom>
            <a:solidFill>
              <a:srgbClr val="CCFFFF"/>
            </a:solidFill>
            <a:ln w="12700" cap="sq" cmpd="sng">
              <a:noFill/>
              <a:prstDash val="solid"/>
              <a:round/>
              <a:headEnd type="none" w="sm" len="sm"/>
              <a:tailEnd type="none" w="sm" len="sm"/>
            </a:ln>
            <a:effectLst>
              <a:outerShdw dist="152928" dir="2901988" algn="ctr" rotWithShape="0">
                <a:srgbClr val="B2B2B2"/>
              </a:outerShdw>
            </a:effectLst>
          </p:spPr>
          <p:txBody>
            <a:bodyPr/>
            <a:lstStyle/>
            <a:p>
              <a:endParaRPr lang="zh-CN" altLang="en-US"/>
            </a:p>
          </p:txBody>
        </p:sp>
        <p:sp>
          <p:nvSpPr>
            <p:cNvPr id="75800" name="Rectangle 4"/>
            <p:cNvSpPr>
              <a:spLocks noChangeArrowheads="1"/>
            </p:cNvSpPr>
            <p:nvPr/>
          </p:nvSpPr>
          <p:spPr bwMode="auto">
            <a:xfrm>
              <a:off x="903" y="1517"/>
              <a:ext cx="4381" cy="634"/>
            </a:xfrm>
            <a:prstGeom prst="rect">
              <a:avLst/>
            </a:prstGeom>
            <a:noFill/>
            <a:ln w="12700" cap="sq">
              <a:noFill/>
              <a:miter lim="800000"/>
              <a:headEnd type="none" w="sm" len="sm"/>
              <a:tailEnd type="none" w="sm" len="sm"/>
            </a:ln>
          </p:spPr>
          <p:txBody>
            <a:bodyPr>
              <a:spAutoFit/>
            </a:bodyPr>
            <a:lstStyle/>
            <a:p>
              <a:pPr eaLnBrk="1" hangingPunct="1">
                <a:lnSpc>
                  <a:spcPct val="80000"/>
                </a:lnSpc>
              </a:pPr>
              <a:r>
                <a:rPr kumimoji="1" lang="zh-CN" altLang="en-US" sz="2500" b="1">
                  <a:solidFill>
                    <a:srgbClr val="002B80"/>
                  </a:solidFill>
                  <a:latin typeface="幼圆" pitchFamily="49" charset="-122"/>
                  <a:ea typeface="幼圆" pitchFamily="49" charset="-122"/>
                </a:rPr>
                <a:t>    队列的链式存储结构是用一个线性链表</a:t>
              </a:r>
            </a:p>
            <a:p>
              <a:pPr eaLnBrk="1" hangingPunct="1">
                <a:lnSpc>
                  <a:spcPct val="80000"/>
                </a:lnSpc>
              </a:pPr>
              <a:r>
                <a:rPr kumimoji="1" lang="zh-CN" altLang="en-US" sz="2500" b="1">
                  <a:solidFill>
                    <a:srgbClr val="002B80"/>
                  </a:solidFill>
                  <a:latin typeface="幼圆" pitchFamily="49" charset="-122"/>
                  <a:ea typeface="幼圆" pitchFamily="49" charset="-122"/>
                </a:rPr>
                <a:t>表示一个队列，指针</a:t>
              </a:r>
              <a:r>
                <a:rPr kumimoji="1" lang="en-US" altLang="en-US" sz="2500" b="1">
                  <a:solidFill>
                    <a:srgbClr val="FF3300"/>
                  </a:solidFill>
                  <a:ea typeface="幼圆" pitchFamily="49" charset="-122"/>
                </a:rPr>
                <a:t>front</a:t>
              </a:r>
              <a:r>
                <a:rPr kumimoji="1" lang="zh-CN" altLang="en-US" sz="2500" b="1">
                  <a:solidFill>
                    <a:srgbClr val="002B80"/>
                  </a:solidFill>
                  <a:latin typeface="幼圆" pitchFamily="49" charset="-122"/>
                  <a:ea typeface="幼圆" pitchFamily="49" charset="-122"/>
                </a:rPr>
                <a:t>与</a:t>
              </a:r>
              <a:r>
                <a:rPr kumimoji="1" lang="en-US" altLang="zh-CN" sz="2500" b="1">
                  <a:solidFill>
                    <a:srgbClr val="FF3300"/>
                  </a:solidFill>
                  <a:ea typeface="幼圆" pitchFamily="49" charset="-122"/>
                </a:rPr>
                <a:t>rear</a:t>
              </a:r>
              <a:r>
                <a:rPr kumimoji="1" lang="zh-CN" altLang="en-US" sz="2500" b="1">
                  <a:solidFill>
                    <a:srgbClr val="002B80"/>
                  </a:solidFill>
                  <a:latin typeface="幼圆" pitchFamily="49" charset="-122"/>
                  <a:ea typeface="幼圆" pitchFamily="49" charset="-122"/>
                </a:rPr>
                <a:t>分别指向实</a:t>
              </a:r>
            </a:p>
            <a:p>
              <a:pPr eaLnBrk="1" hangingPunct="1">
                <a:lnSpc>
                  <a:spcPct val="80000"/>
                </a:lnSpc>
              </a:pPr>
              <a:r>
                <a:rPr kumimoji="1" lang="zh-CN" altLang="en-US" sz="2500" b="1">
                  <a:solidFill>
                    <a:srgbClr val="002B80"/>
                  </a:solidFill>
                  <a:latin typeface="幼圆" pitchFamily="49" charset="-122"/>
                  <a:ea typeface="幼圆" pitchFamily="49" charset="-122"/>
                </a:rPr>
                <a:t>际队头元素与实际队尾元素所在的链结点。</a:t>
              </a:r>
            </a:p>
          </p:txBody>
        </p:sp>
      </p:grpSp>
      <p:grpSp>
        <p:nvGrpSpPr>
          <p:cNvPr id="3" name="Group 5"/>
          <p:cNvGrpSpPr>
            <a:grpSpLocks/>
          </p:cNvGrpSpPr>
          <p:nvPr/>
        </p:nvGrpSpPr>
        <p:grpSpPr bwMode="auto">
          <a:xfrm>
            <a:off x="930275" y="81295"/>
            <a:ext cx="5867400" cy="685800"/>
            <a:chOff x="273" y="192"/>
            <a:chExt cx="3696" cy="432"/>
          </a:xfrm>
        </p:grpSpPr>
        <p:sp>
          <p:nvSpPr>
            <p:cNvPr id="75797" name="Rectangle 6"/>
            <p:cNvSpPr>
              <a:spLocks noChangeArrowheads="1"/>
            </p:cNvSpPr>
            <p:nvPr/>
          </p:nvSpPr>
          <p:spPr bwMode="auto">
            <a:xfrm>
              <a:off x="273" y="192"/>
              <a:ext cx="3456" cy="432"/>
            </a:xfrm>
            <a:prstGeom prst="rect">
              <a:avLst/>
            </a:prstGeom>
            <a:solidFill>
              <a:srgbClr val="CCFFCC"/>
            </a:solidFill>
            <a:ln w="12700" cap="sq">
              <a:noFill/>
              <a:miter lim="800000"/>
              <a:headEnd type="none" w="sm" len="sm"/>
              <a:tailEnd type="none" w="sm" len="sm"/>
            </a:ln>
            <a:effectLst>
              <a:outerShdw dist="125724" dir="2700000" algn="ctr" rotWithShape="0">
                <a:srgbClr val="C0C0C0"/>
              </a:outerShdw>
            </a:effectLst>
          </p:spPr>
          <p:txBody>
            <a:bodyPr wrap="none" anchor="ctr"/>
            <a:lstStyle/>
            <a:p>
              <a:endParaRPr lang="zh-CN" altLang="en-US"/>
            </a:p>
          </p:txBody>
        </p:sp>
        <p:sp>
          <p:nvSpPr>
            <p:cNvPr id="75798" name="Rectangle 7"/>
            <p:cNvSpPr>
              <a:spLocks noChangeArrowheads="1"/>
            </p:cNvSpPr>
            <p:nvPr/>
          </p:nvSpPr>
          <p:spPr bwMode="auto">
            <a:xfrm>
              <a:off x="307" y="218"/>
              <a:ext cx="3662" cy="404"/>
            </a:xfrm>
            <a:prstGeom prst="rect">
              <a:avLst/>
            </a:prstGeom>
            <a:noFill/>
            <a:ln w="12700" cap="sq">
              <a:noFill/>
              <a:miter lim="800000"/>
              <a:headEnd type="none" w="sm" len="sm"/>
              <a:tailEnd type="none" w="sm" len="sm"/>
            </a:ln>
            <a:effectLst>
              <a:outerShdw dist="12700" algn="ctr" rotWithShape="0">
                <a:schemeClr val="bg2"/>
              </a:outerShdw>
            </a:effectLst>
          </p:spPr>
          <p:txBody>
            <a:bodyPr>
              <a:spAutoFit/>
            </a:bodyPr>
            <a:lstStyle/>
            <a:p>
              <a:r>
                <a:rPr kumimoji="1" lang="zh-CN" altLang="en-US" sz="3600" b="1" dirty="0">
                  <a:solidFill>
                    <a:schemeClr val="accent2"/>
                  </a:solidFill>
                </a:rPr>
                <a:t> </a:t>
              </a:r>
              <a:r>
                <a:rPr kumimoji="1" lang="en-US" altLang="zh-CN" sz="3600" b="1" dirty="0">
                  <a:solidFill>
                    <a:schemeClr val="accent2"/>
                  </a:solidFill>
                </a:rPr>
                <a:t>3</a:t>
              </a:r>
              <a:r>
                <a:rPr kumimoji="1" lang="zh-CN" altLang="en-US" sz="3600" b="1" dirty="0">
                  <a:solidFill>
                    <a:schemeClr val="accent2"/>
                  </a:solidFill>
                </a:rPr>
                <a:t>.</a:t>
              </a:r>
              <a:r>
                <a:rPr kumimoji="1" lang="en-US" altLang="zh-CN" sz="3600" b="1" dirty="0">
                  <a:solidFill>
                    <a:schemeClr val="accent2"/>
                  </a:solidFill>
                </a:rPr>
                <a:t>6  </a:t>
              </a:r>
              <a:r>
                <a:rPr kumimoji="1" lang="zh-CN" altLang="en-US" sz="3600" b="1" dirty="0">
                  <a:solidFill>
                    <a:schemeClr val="accent2"/>
                  </a:solidFill>
                </a:rPr>
                <a:t>队列的链式存储结构</a:t>
              </a:r>
            </a:p>
          </p:txBody>
        </p:sp>
      </p:grpSp>
      <p:grpSp>
        <p:nvGrpSpPr>
          <p:cNvPr id="4" name="Group 8"/>
          <p:cNvGrpSpPr>
            <a:grpSpLocks/>
          </p:cNvGrpSpPr>
          <p:nvPr/>
        </p:nvGrpSpPr>
        <p:grpSpPr bwMode="auto">
          <a:xfrm>
            <a:off x="1182687" y="1222846"/>
            <a:ext cx="3113088" cy="554038"/>
            <a:chOff x="284" y="828"/>
            <a:chExt cx="1728" cy="349"/>
          </a:xfrm>
        </p:grpSpPr>
        <p:sp>
          <p:nvSpPr>
            <p:cNvPr id="75795" name="Oval 9"/>
            <p:cNvSpPr>
              <a:spLocks noChangeArrowheads="1"/>
            </p:cNvSpPr>
            <p:nvPr/>
          </p:nvSpPr>
          <p:spPr bwMode="auto">
            <a:xfrm>
              <a:off x="284" y="838"/>
              <a:ext cx="1728" cy="336"/>
            </a:xfrm>
            <a:prstGeom prst="ellipse">
              <a:avLst/>
            </a:prstGeom>
            <a:solidFill>
              <a:srgbClr val="CFCFCF"/>
            </a:solidFill>
            <a:ln w="12700" cap="sq">
              <a:noFill/>
              <a:round/>
              <a:headEnd type="none" w="sm" len="sm"/>
              <a:tailEnd type="none" w="sm" len="sm"/>
            </a:ln>
            <a:effectLst>
              <a:outerShdw dist="108509" dir="1233363" algn="ctr" rotWithShape="0">
                <a:srgbClr val="969696"/>
              </a:outerShdw>
            </a:effectLst>
          </p:spPr>
          <p:txBody>
            <a:bodyPr wrap="none" anchor="ctr"/>
            <a:lstStyle/>
            <a:p>
              <a:endParaRPr lang="zh-CN" altLang="en-US"/>
            </a:p>
          </p:txBody>
        </p:sp>
        <p:sp>
          <p:nvSpPr>
            <p:cNvPr id="75796" name="Rectangle 10"/>
            <p:cNvSpPr>
              <a:spLocks noChangeArrowheads="1"/>
            </p:cNvSpPr>
            <p:nvPr/>
          </p:nvSpPr>
          <p:spPr bwMode="auto">
            <a:xfrm>
              <a:off x="360" y="828"/>
              <a:ext cx="1560" cy="349"/>
            </a:xfrm>
            <a:prstGeom prst="rect">
              <a:avLst/>
            </a:prstGeom>
            <a:noFill/>
            <a:ln w="12700" cap="sq">
              <a:noFill/>
              <a:miter lim="800000"/>
              <a:headEnd type="none" w="sm" len="sm"/>
              <a:tailEnd type="none" w="sm" len="sm"/>
            </a:ln>
          </p:spPr>
          <p:txBody>
            <a:bodyPr>
              <a:spAutoFit/>
            </a:bodyPr>
            <a:lstStyle/>
            <a:p>
              <a:r>
                <a:rPr kumimoji="1" lang="en-US" altLang="zh-CN" sz="3000" b="1">
                  <a:solidFill>
                    <a:srgbClr val="003399"/>
                  </a:solidFill>
                  <a:latin typeface="黑体" pitchFamily="2" charset="-122"/>
                  <a:ea typeface="黑体" pitchFamily="2" charset="-122"/>
                </a:rPr>
                <a:t>(</a:t>
              </a:r>
              <a:r>
                <a:rPr kumimoji="1" lang="zh-CN" altLang="en-US" sz="3000" b="1">
                  <a:solidFill>
                    <a:srgbClr val="003399"/>
                  </a:solidFill>
                  <a:latin typeface="黑体" pitchFamily="2" charset="-122"/>
                  <a:ea typeface="黑体" pitchFamily="2" charset="-122"/>
                </a:rPr>
                <a:t>一</a:t>
              </a:r>
              <a:r>
                <a:rPr kumimoji="1" lang="en-US" altLang="zh-CN" sz="3000" b="1">
                  <a:solidFill>
                    <a:srgbClr val="003399"/>
                  </a:solidFill>
                  <a:latin typeface="黑体" pitchFamily="2" charset="-122"/>
                  <a:ea typeface="黑体" pitchFamily="2" charset="-122"/>
                </a:rPr>
                <a:t>)</a:t>
              </a:r>
              <a:r>
                <a:rPr kumimoji="1" lang="zh-CN" altLang="en-US" sz="3000" b="1">
                  <a:solidFill>
                    <a:srgbClr val="003399"/>
                  </a:solidFill>
                  <a:latin typeface="黑体" pitchFamily="2" charset="-122"/>
                  <a:ea typeface="黑体" pitchFamily="2" charset="-122"/>
                </a:rPr>
                <a:t>构造原理</a:t>
              </a:r>
            </a:p>
          </p:txBody>
        </p:sp>
      </p:grpSp>
      <p:grpSp>
        <p:nvGrpSpPr>
          <p:cNvPr id="5" name="Group 11"/>
          <p:cNvGrpSpPr>
            <a:grpSpLocks/>
          </p:cNvGrpSpPr>
          <p:nvPr/>
        </p:nvGrpSpPr>
        <p:grpSpPr bwMode="auto">
          <a:xfrm>
            <a:off x="1487487" y="3683470"/>
            <a:ext cx="7486650" cy="1778000"/>
            <a:chOff x="612" y="2366"/>
            <a:chExt cx="4716" cy="1120"/>
          </a:xfrm>
        </p:grpSpPr>
        <p:sp>
          <p:nvSpPr>
            <p:cNvPr id="75790" name="Rectangle 12"/>
            <p:cNvSpPr>
              <a:spLocks noChangeArrowheads="1"/>
            </p:cNvSpPr>
            <p:nvPr/>
          </p:nvSpPr>
          <p:spPr bwMode="auto">
            <a:xfrm>
              <a:off x="612" y="2552"/>
              <a:ext cx="4716" cy="934"/>
            </a:xfrm>
            <a:prstGeom prst="rect">
              <a:avLst/>
            </a:prstGeom>
            <a:solidFill>
              <a:srgbClr val="CCFFCC"/>
            </a:solidFill>
            <a:ln w="12700" cap="sq">
              <a:noFill/>
              <a:miter lim="800000"/>
              <a:headEnd type="none" w="sm" len="sm"/>
              <a:tailEnd type="none" w="sm" len="sm"/>
            </a:ln>
            <a:effectLst>
              <a:outerShdw dist="161645" dir="2700000" algn="ctr" rotWithShape="0">
                <a:srgbClr val="C0C0C0"/>
              </a:outerShdw>
            </a:effectLst>
          </p:spPr>
          <p:txBody>
            <a:bodyPr wrap="none" anchor="ctr"/>
            <a:lstStyle/>
            <a:p>
              <a:endParaRPr lang="zh-CN" altLang="en-US"/>
            </a:p>
          </p:txBody>
        </p:sp>
        <p:sp>
          <p:nvSpPr>
            <p:cNvPr id="75791" name="Rectangle 13"/>
            <p:cNvSpPr>
              <a:spLocks noChangeArrowheads="1"/>
            </p:cNvSpPr>
            <p:nvPr/>
          </p:nvSpPr>
          <p:spPr bwMode="auto">
            <a:xfrm>
              <a:off x="961" y="2784"/>
              <a:ext cx="3576" cy="288"/>
            </a:xfrm>
            <a:prstGeom prst="rect">
              <a:avLst/>
            </a:prstGeom>
            <a:noFill/>
            <a:ln w="12700" cap="sq">
              <a:noFill/>
              <a:miter lim="800000"/>
              <a:headEnd type="none" w="sm" len="sm"/>
              <a:tailEnd type="none" w="sm" len="sm"/>
            </a:ln>
          </p:spPr>
          <p:txBody>
            <a:bodyPr>
              <a:spAutoFit/>
            </a:bodyPr>
            <a:lstStyle/>
            <a:p>
              <a:pPr eaLnBrk="1" hangingPunct="1"/>
              <a:r>
                <a:rPr kumimoji="1" lang="en-US" altLang="en-US" sz="2400" b="1">
                  <a:solidFill>
                    <a:srgbClr val="002B80"/>
                  </a:solidFill>
                  <a:ea typeface="幼圆" pitchFamily="49" charset="-122"/>
                </a:rPr>
                <a:t>rear</a:t>
              </a:r>
              <a:r>
                <a:rPr kumimoji="1" lang="zh-CN" altLang="en-US" sz="2400" b="1">
                  <a:solidFill>
                    <a:srgbClr val="002B80"/>
                  </a:solidFill>
                  <a:latin typeface="幼圆" pitchFamily="49" charset="-122"/>
                  <a:ea typeface="幼圆" pitchFamily="49" charset="-122"/>
                </a:rPr>
                <a:t>指出实际队尾元素所在的位置</a:t>
              </a:r>
              <a:r>
                <a:rPr kumimoji="1" lang="en-US" altLang="zh-CN" sz="2400" b="1">
                  <a:solidFill>
                    <a:srgbClr val="002B80"/>
                  </a:solidFill>
                  <a:latin typeface="幼圆" pitchFamily="49" charset="-122"/>
                  <a:ea typeface="幼圆" pitchFamily="49" charset="-122"/>
                </a:rPr>
                <a:t>;</a:t>
              </a:r>
            </a:p>
          </p:txBody>
        </p:sp>
        <p:sp>
          <p:nvSpPr>
            <p:cNvPr id="75792" name="Rectangle 14"/>
            <p:cNvSpPr>
              <a:spLocks noChangeArrowheads="1"/>
            </p:cNvSpPr>
            <p:nvPr/>
          </p:nvSpPr>
          <p:spPr bwMode="auto">
            <a:xfrm>
              <a:off x="852" y="3030"/>
              <a:ext cx="3108" cy="291"/>
            </a:xfrm>
            <a:prstGeom prst="rect">
              <a:avLst/>
            </a:prstGeom>
            <a:noFill/>
            <a:ln w="12700" cap="sq">
              <a:noFill/>
              <a:miter lim="800000"/>
              <a:headEnd type="none" w="sm" len="sm"/>
              <a:tailEnd type="none" w="sm" len="sm"/>
            </a:ln>
          </p:spPr>
          <p:txBody>
            <a:bodyPr wrap="none">
              <a:spAutoFit/>
            </a:bodyPr>
            <a:lstStyle/>
            <a:p>
              <a:r>
                <a:rPr kumimoji="1" lang="zh-CN" altLang="en-US" sz="2400" b="1" dirty="0">
                  <a:solidFill>
                    <a:srgbClr val="002B80"/>
                  </a:solidFill>
                  <a:latin typeface="幼圆" pitchFamily="49" charset="-122"/>
                  <a:ea typeface="幼圆" pitchFamily="49" charset="-122"/>
                </a:rPr>
                <a:t> </a:t>
              </a:r>
              <a:r>
                <a:rPr kumimoji="1" lang="en-US" altLang="en-US" sz="2400" b="1" dirty="0">
                  <a:solidFill>
                    <a:srgbClr val="002B80"/>
                  </a:solidFill>
                  <a:ea typeface="幼圆" pitchFamily="49" charset="-122"/>
                </a:rPr>
                <a:t>front</a:t>
              </a:r>
              <a:r>
                <a:rPr kumimoji="1" lang="zh-CN" altLang="en-US" sz="2400" b="1" dirty="0">
                  <a:solidFill>
                    <a:srgbClr val="002B80"/>
                  </a:solidFill>
                  <a:latin typeface="幼圆" pitchFamily="49" charset="-122"/>
                  <a:ea typeface="幼圆" pitchFamily="49" charset="-122"/>
                </a:rPr>
                <a:t>指出实际队头元素所在位置。</a:t>
              </a:r>
              <a:endParaRPr kumimoji="1" lang="en-US" altLang="zh-CN" sz="2400" b="1" dirty="0">
                <a:solidFill>
                  <a:srgbClr val="002B80"/>
                </a:solidFill>
                <a:latin typeface="幼圆" pitchFamily="49" charset="-122"/>
                <a:ea typeface="幼圆" pitchFamily="49" charset="-122"/>
              </a:endParaRPr>
            </a:p>
          </p:txBody>
        </p:sp>
        <p:sp>
          <p:nvSpPr>
            <p:cNvPr id="75793" name="Oval 15"/>
            <p:cNvSpPr>
              <a:spLocks noChangeArrowheads="1"/>
            </p:cNvSpPr>
            <p:nvPr/>
          </p:nvSpPr>
          <p:spPr bwMode="auto">
            <a:xfrm>
              <a:off x="864" y="2410"/>
              <a:ext cx="746" cy="304"/>
            </a:xfrm>
            <a:prstGeom prst="ellipse">
              <a:avLst/>
            </a:prstGeom>
            <a:solidFill>
              <a:srgbClr val="3FDAFF"/>
            </a:solidFill>
            <a:ln w="12700" cap="sq">
              <a:noFill/>
              <a:round/>
              <a:headEnd type="none" w="sm" len="sm"/>
              <a:tailEnd type="none" w="sm" len="sm"/>
            </a:ln>
          </p:spPr>
          <p:txBody>
            <a:bodyPr wrap="none" anchor="ctr"/>
            <a:lstStyle/>
            <a:p>
              <a:endParaRPr lang="zh-CN" altLang="en-US"/>
            </a:p>
          </p:txBody>
        </p:sp>
        <p:sp>
          <p:nvSpPr>
            <p:cNvPr id="75794" name="Rectangle 16"/>
            <p:cNvSpPr>
              <a:spLocks noChangeArrowheads="1"/>
            </p:cNvSpPr>
            <p:nvPr/>
          </p:nvSpPr>
          <p:spPr bwMode="auto">
            <a:xfrm>
              <a:off x="923" y="2366"/>
              <a:ext cx="768" cy="346"/>
            </a:xfrm>
            <a:prstGeom prst="rect">
              <a:avLst/>
            </a:prstGeom>
            <a:noFill/>
            <a:ln w="12700" cap="sq">
              <a:noFill/>
              <a:miter lim="800000"/>
              <a:headEnd type="none" w="sm" len="sm"/>
              <a:tailEnd type="none" w="sm" len="sm"/>
            </a:ln>
            <a:effectLst>
              <a:outerShdw dist="17961" dir="2700000" algn="ctr" rotWithShape="0">
                <a:schemeClr val="bg1"/>
              </a:outerShdw>
            </a:effectLst>
          </p:spPr>
          <p:txBody>
            <a:bodyPr>
              <a:spAutoFit/>
            </a:bodyPr>
            <a:lstStyle/>
            <a:p>
              <a:r>
                <a:rPr kumimoji="1" lang="zh-CN" altLang="en-US" sz="3000" b="1">
                  <a:solidFill>
                    <a:srgbClr val="FF3300"/>
                  </a:solidFill>
                  <a:ea typeface="黑体" pitchFamily="2" charset="-122"/>
                </a:rPr>
                <a:t>约定</a:t>
              </a:r>
            </a:p>
          </p:txBody>
        </p:sp>
      </p:grpSp>
      <p:sp>
        <p:nvSpPr>
          <p:cNvPr id="300049" name="Line 17"/>
          <p:cNvSpPr>
            <a:spLocks noChangeShapeType="1"/>
          </p:cNvSpPr>
          <p:nvPr/>
        </p:nvSpPr>
        <p:spPr bwMode="auto">
          <a:xfrm rot="-446384">
            <a:off x="2782887" y="4147020"/>
            <a:ext cx="5257800" cy="1441450"/>
          </a:xfrm>
          <a:prstGeom prst="line">
            <a:avLst/>
          </a:prstGeom>
          <a:noFill/>
          <a:ln w="63500">
            <a:solidFill>
              <a:srgbClr val="FF3300"/>
            </a:solidFill>
            <a:round/>
            <a:headEnd type="none" w="sm" len="sm"/>
            <a:tailEnd type="none" w="sm" len="sm"/>
          </a:ln>
        </p:spPr>
        <p:txBody>
          <a:bodyPr/>
          <a:lstStyle/>
          <a:p>
            <a:endParaRPr lang="zh-CN" altLang="en-US"/>
          </a:p>
        </p:txBody>
      </p:sp>
      <p:grpSp>
        <p:nvGrpSpPr>
          <p:cNvPr id="6" name="Group 18"/>
          <p:cNvGrpSpPr>
            <a:grpSpLocks/>
          </p:cNvGrpSpPr>
          <p:nvPr/>
        </p:nvGrpSpPr>
        <p:grpSpPr bwMode="auto">
          <a:xfrm>
            <a:off x="7680326" y="404814"/>
            <a:ext cx="2728913" cy="1296987"/>
            <a:chOff x="3878" y="404"/>
            <a:chExt cx="1719" cy="817"/>
          </a:xfrm>
        </p:grpSpPr>
        <p:sp>
          <p:nvSpPr>
            <p:cNvPr id="75788" name="Freeform 19"/>
            <p:cNvSpPr>
              <a:spLocks/>
            </p:cNvSpPr>
            <p:nvPr/>
          </p:nvSpPr>
          <p:spPr bwMode="auto">
            <a:xfrm>
              <a:off x="3878" y="404"/>
              <a:ext cx="1719" cy="817"/>
            </a:xfrm>
            <a:custGeom>
              <a:avLst/>
              <a:gdLst>
                <a:gd name="T0" fmla="*/ 460 w 1137"/>
                <a:gd name="T1" fmla="*/ 80 h 1082"/>
                <a:gd name="T2" fmla="*/ 277 w 1137"/>
                <a:gd name="T3" fmla="*/ 185 h 1082"/>
                <a:gd name="T4" fmla="*/ 519 w 1137"/>
                <a:gd name="T5" fmla="*/ 227 h 1082"/>
                <a:gd name="T6" fmla="*/ 581 w 1137"/>
                <a:gd name="T7" fmla="*/ 313 h 1082"/>
                <a:gd name="T8" fmla="*/ 878 w 1137"/>
                <a:gd name="T9" fmla="*/ 335 h 1082"/>
                <a:gd name="T10" fmla="*/ 2868 w 1137"/>
                <a:gd name="T11" fmla="*/ 339 h 1082"/>
                <a:gd name="T12" fmla="*/ 3591 w 1137"/>
                <a:gd name="T13" fmla="*/ 335 h 1082"/>
                <a:gd name="T14" fmla="*/ 4126 w 1137"/>
                <a:gd name="T15" fmla="*/ 331 h 1082"/>
                <a:gd name="T16" fmla="*/ 5335 w 1137"/>
                <a:gd name="T17" fmla="*/ 328 h 1082"/>
                <a:gd name="T18" fmla="*/ 5757 w 1137"/>
                <a:gd name="T19" fmla="*/ 350 h 1082"/>
                <a:gd name="T20" fmla="*/ 5697 w 1137"/>
                <a:gd name="T21" fmla="*/ 339 h 1082"/>
                <a:gd name="T22" fmla="*/ 5574 w 1137"/>
                <a:gd name="T23" fmla="*/ 328 h 1082"/>
                <a:gd name="T24" fmla="*/ 5815 w 1137"/>
                <a:gd name="T25" fmla="*/ 80 h 1082"/>
                <a:gd name="T26" fmla="*/ 3889 w 1137"/>
                <a:gd name="T27" fmla="*/ 36 h 1082"/>
                <a:gd name="T28" fmla="*/ 3529 w 1137"/>
                <a:gd name="T29" fmla="*/ 24 h 1082"/>
                <a:gd name="T30" fmla="*/ 3045 w 1137"/>
                <a:gd name="T31" fmla="*/ 17 h 1082"/>
                <a:gd name="T32" fmla="*/ 1844 w 1137"/>
                <a:gd name="T33" fmla="*/ 20 h 1082"/>
                <a:gd name="T34" fmla="*/ 1604 w 1137"/>
                <a:gd name="T35" fmla="*/ 36 h 1082"/>
                <a:gd name="T36" fmla="*/ 999 w 1137"/>
                <a:gd name="T37" fmla="*/ 54 h 1082"/>
                <a:gd name="T38" fmla="*/ 277 w 1137"/>
                <a:gd name="T39" fmla="*/ 51 h 1082"/>
                <a:gd name="T40" fmla="*/ 39 w 1137"/>
                <a:gd name="T41" fmla="*/ 47 h 1082"/>
                <a:gd name="T42" fmla="*/ 218 w 1137"/>
                <a:gd name="T43" fmla="*/ 58 h 1082"/>
                <a:gd name="T44" fmla="*/ 339 w 1137"/>
                <a:gd name="T45" fmla="*/ 85 h 1082"/>
                <a:gd name="T46" fmla="*/ 581 w 1137"/>
                <a:gd name="T47" fmla="*/ 88 h 1082"/>
                <a:gd name="T48" fmla="*/ 460 w 1137"/>
                <a:gd name="T49" fmla="*/ 80 h 108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137" h="1082">
                  <a:moveTo>
                    <a:pt x="88" y="248"/>
                  </a:moveTo>
                  <a:cubicBezTo>
                    <a:pt x="114" y="357"/>
                    <a:pt x="115" y="477"/>
                    <a:pt x="53" y="571"/>
                  </a:cubicBezTo>
                  <a:cubicBezTo>
                    <a:pt x="64" y="621"/>
                    <a:pt x="84" y="651"/>
                    <a:pt x="99" y="698"/>
                  </a:cubicBezTo>
                  <a:cubicBezTo>
                    <a:pt x="103" y="786"/>
                    <a:pt x="101" y="874"/>
                    <a:pt x="111" y="962"/>
                  </a:cubicBezTo>
                  <a:cubicBezTo>
                    <a:pt x="115" y="1002"/>
                    <a:pt x="128" y="1030"/>
                    <a:pt x="168" y="1032"/>
                  </a:cubicBezTo>
                  <a:cubicBezTo>
                    <a:pt x="295" y="1039"/>
                    <a:pt x="422" y="1039"/>
                    <a:pt x="549" y="1043"/>
                  </a:cubicBezTo>
                  <a:cubicBezTo>
                    <a:pt x="595" y="1039"/>
                    <a:pt x="642" y="1041"/>
                    <a:pt x="687" y="1032"/>
                  </a:cubicBezTo>
                  <a:cubicBezTo>
                    <a:pt x="812" y="1007"/>
                    <a:pt x="586" y="987"/>
                    <a:pt x="790" y="1020"/>
                  </a:cubicBezTo>
                  <a:cubicBezTo>
                    <a:pt x="854" y="1082"/>
                    <a:pt x="949" y="1038"/>
                    <a:pt x="1021" y="1009"/>
                  </a:cubicBezTo>
                  <a:cubicBezTo>
                    <a:pt x="1032" y="1020"/>
                    <a:pt x="1087" y="1078"/>
                    <a:pt x="1102" y="1078"/>
                  </a:cubicBezTo>
                  <a:cubicBezTo>
                    <a:pt x="1114" y="1078"/>
                    <a:pt x="1096" y="1054"/>
                    <a:pt x="1090" y="1043"/>
                  </a:cubicBezTo>
                  <a:cubicBezTo>
                    <a:pt x="1084" y="1031"/>
                    <a:pt x="1075" y="1020"/>
                    <a:pt x="1067" y="1009"/>
                  </a:cubicBezTo>
                  <a:cubicBezTo>
                    <a:pt x="1075" y="569"/>
                    <a:pt x="1028" y="519"/>
                    <a:pt x="1113" y="248"/>
                  </a:cubicBezTo>
                  <a:cubicBezTo>
                    <a:pt x="1068" y="0"/>
                    <a:pt x="1137" y="146"/>
                    <a:pt x="744" y="110"/>
                  </a:cubicBezTo>
                  <a:cubicBezTo>
                    <a:pt x="718" y="108"/>
                    <a:pt x="700" y="82"/>
                    <a:pt x="675" y="75"/>
                  </a:cubicBezTo>
                  <a:cubicBezTo>
                    <a:pt x="645" y="67"/>
                    <a:pt x="583" y="52"/>
                    <a:pt x="583" y="52"/>
                  </a:cubicBezTo>
                  <a:cubicBezTo>
                    <a:pt x="506" y="56"/>
                    <a:pt x="428" y="48"/>
                    <a:pt x="353" y="64"/>
                  </a:cubicBezTo>
                  <a:cubicBezTo>
                    <a:pt x="332" y="68"/>
                    <a:pt x="324" y="97"/>
                    <a:pt x="307" y="110"/>
                  </a:cubicBezTo>
                  <a:cubicBezTo>
                    <a:pt x="272" y="136"/>
                    <a:pt x="227" y="144"/>
                    <a:pt x="191" y="168"/>
                  </a:cubicBezTo>
                  <a:cubicBezTo>
                    <a:pt x="145" y="164"/>
                    <a:pt x="99" y="162"/>
                    <a:pt x="53" y="156"/>
                  </a:cubicBezTo>
                  <a:cubicBezTo>
                    <a:pt x="37" y="154"/>
                    <a:pt x="14" y="131"/>
                    <a:pt x="7" y="145"/>
                  </a:cubicBezTo>
                  <a:cubicBezTo>
                    <a:pt x="0" y="160"/>
                    <a:pt x="30" y="168"/>
                    <a:pt x="42" y="179"/>
                  </a:cubicBezTo>
                  <a:cubicBezTo>
                    <a:pt x="50" y="206"/>
                    <a:pt x="45" y="240"/>
                    <a:pt x="65" y="260"/>
                  </a:cubicBezTo>
                  <a:cubicBezTo>
                    <a:pt x="76" y="271"/>
                    <a:pt x="97" y="278"/>
                    <a:pt x="111" y="271"/>
                  </a:cubicBezTo>
                  <a:cubicBezTo>
                    <a:pt x="121" y="266"/>
                    <a:pt x="96" y="256"/>
                    <a:pt x="88" y="248"/>
                  </a:cubicBezTo>
                  <a:close/>
                </a:path>
              </a:pathLst>
            </a:custGeom>
            <a:noFill/>
            <a:ln w="76200" cap="sq" cmpd="sng">
              <a:solidFill>
                <a:srgbClr val="00CCFF"/>
              </a:solidFill>
              <a:prstDash val="solid"/>
              <a:round/>
              <a:headEnd type="none" w="sm" len="sm"/>
              <a:tailEnd type="none" w="sm" len="sm"/>
            </a:ln>
            <a:effectLst>
              <a:outerShdw dist="53882" dir="2700000" algn="ctr" rotWithShape="0">
                <a:srgbClr val="B2B2B2"/>
              </a:outerShdw>
            </a:effectLst>
          </p:spPr>
          <p:txBody>
            <a:bodyPr/>
            <a:lstStyle/>
            <a:p>
              <a:endParaRPr lang="zh-CN" altLang="en-US"/>
            </a:p>
          </p:txBody>
        </p:sp>
        <p:sp>
          <p:nvSpPr>
            <p:cNvPr id="75789" name="Text Box 20"/>
            <p:cNvSpPr txBox="1">
              <a:spLocks noChangeArrowheads="1"/>
            </p:cNvSpPr>
            <p:nvPr/>
          </p:nvSpPr>
          <p:spPr bwMode="auto">
            <a:xfrm>
              <a:off x="4027" y="524"/>
              <a:ext cx="1553" cy="687"/>
            </a:xfrm>
            <a:prstGeom prst="rect">
              <a:avLst/>
            </a:prstGeom>
            <a:noFill/>
            <a:ln w="12700" cap="sq">
              <a:noFill/>
              <a:miter lim="800000"/>
              <a:headEnd type="none" w="sm" len="sm"/>
              <a:tailEnd type="none" w="sm" len="sm"/>
            </a:ln>
            <a:effectLst>
              <a:outerShdw dist="17961" dir="2700000" algn="ctr" rotWithShape="0">
                <a:schemeClr val="bg1"/>
              </a:outerShdw>
            </a:effectLst>
          </p:spPr>
          <p:txBody>
            <a:bodyPr>
              <a:spAutoFit/>
            </a:bodyPr>
            <a:lstStyle/>
            <a:p>
              <a:pPr algn="ctr">
                <a:lnSpc>
                  <a:spcPct val="80000"/>
                </a:lnSpc>
              </a:pPr>
              <a:r>
                <a:rPr lang="zh-CN" altLang="en-US" sz="4000" b="1">
                  <a:solidFill>
                    <a:srgbClr val="FF3300"/>
                  </a:solidFill>
                  <a:ea typeface="华文新魏" pitchFamily="2" charset="-122"/>
                </a:rPr>
                <a:t>链接队列</a:t>
              </a:r>
            </a:p>
            <a:p>
              <a:pPr algn="ctr">
                <a:lnSpc>
                  <a:spcPct val="80000"/>
                </a:lnSpc>
              </a:pPr>
              <a:r>
                <a:rPr lang="zh-CN" altLang="en-US" sz="4000" b="1">
                  <a:solidFill>
                    <a:srgbClr val="FF3300"/>
                  </a:solidFill>
                  <a:ea typeface="华文新魏" pitchFamily="2" charset="-122"/>
                </a:rPr>
                <a:t>链队</a:t>
              </a:r>
            </a:p>
          </p:txBody>
        </p:sp>
      </p:grpSp>
      <p:sp>
        <p:nvSpPr>
          <p:cNvPr id="300053" name="Line 21"/>
          <p:cNvSpPr>
            <a:spLocks noChangeShapeType="1"/>
          </p:cNvSpPr>
          <p:nvPr/>
        </p:nvSpPr>
        <p:spPr bwMode="auto">
          <a:xfrm rot="446384" flipH="1">
            <a:off x="2782887" y="4147020"/>
            <a:ext cx="5257800" cy="1441450"/>
          </a:xfrm>
          <a:prstGeom prst="line">
            <a:avLst/>
          </a:prstGeom>
          <a:noFill/>
          <a:ln w="63500">
            <a:solidFill>
              <a:srgbClr val="FF3300"/>
            </a:solidFill>
            <a:round/>
            <a:headEnd type="none" w="sm" len="sm"/>
            <a:tailEnd type="none" w="sm" len="sm"/>
          </a:ln>
        </p:spPr>
        <p:txBody>
          <a:bodyPr/>
          <a:lstStyle/>
          <a:p>
            <a:endParaRPr lang="zh-CN" altLang="en-US"/>
          </a:p>
        </p:txBody>
      </p:sp>
      <p:grpSp>
        <p:nvGrpSpPr>
          <p:cNvPr id="7" name="Group 22"/>
          <p:cNvGrpSpPr>
            <a:grpSpLocks/>
          </p:cNvGrpSpPr>
          <p:nvPr/>
        </p:nvGrpSpPr>
        <p:grpSpPr bwMode="auto">
          <a:xfrm>
            <a:off x="1558925" y="5804371"/>
            <a:ext cx="7129462" cy="576263"/>
            <a:chOff x="793" y="3793"/>
            <a:chExt cx="4491" cy="363"/>
          </a:xfrm>
        </p:grpSpPr>
        <p:sp>
          <p:nvSpPr>
            <p:cNvPr id="75786" name="Rectangle 23"/>
            <p:cNvSpPr>
              <a:spLocks noChangeArrowheads="1"/>
            </p:cNvSpPr>
            <p:nvPr/>
          </p:nvSpPr>
          <p:spPr bwMode="auto">
            <a:xfrm>
              <a:off x="793" y="3793"/>
              <a:ext cx="4399" cy="363"/>
            </a:xfrm>
            <a:prstGeom prst="rect">
              <a:avLst/>
            </a:prstGeom>
            <a:solidFill>
              <a:srgbClr val="0085A4"/>
            </a:solidFill>
            <a:ln w="12700" cap="sq">
              <a:noFill/>
              <a:miter lim="800000"/>
              <a:headEnd type="none" w="sm" len="sm"/>
              <a:tailEnd type="none" w="sm" len="sm"/>
            </a:ln>
            <a:effectLst>
              <a:outerShdw dist="53882" dir="2700000" algn="ctr" rotWithShape="0">
                <a:srgbClr val="C0C0C0"/>
              </a:outerShdw>
            </a:effectLst>
          </p:spPr>
          <p:txBody>
            <a:bodyPr wrap="none" anchor="ctr"/>
            <a:lstStyle/>
            <a:p>
              <a:endParaRPr lang="zh-CN" altLang="en-US"/>
            </a:p>
          </p:txBody>
        </p:sp>
        <p:sp>
          <p:nvSpPr>
            <p:cNvPr id="75787" name="Text Box 24"/>
            <p:cNvSpPr txBox="1">
              <a:spLocks noChangeArrowheads="1"/>
            </p:cNvSpPr>
            <p:nvPr/>
          </p:nvSpPr>
          <p:spPr bwMode="auto">
            <a:xfrm>
              <a:off x="884" y="3800"/>
              <a:ext cx="4400" cy="327"/>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a:spAutoFit/>
            </a:bodyPr>
            <a:lstStyle/>
            <a:p>
              <a:r>
                <a:rPr lang="en-US" altLang="zh-CN" sz="2800" b="1">
                  <a:solidFill>
                    <a:srgbClr val="FFFFFF"/>
                  </a:solidFill>
                  <a:ea typeface="黑体" pitchFamily="2" charset="-122"/>
                </a:rPr>
                <a:t>front</a:t>
              </a:r>
              <a:r>
                <a:rPr lang="zh-CN" altLang="en-US" sz="2800" b="1">
                  <a:solidFill>
                    <a:srgbClr val="FFFFFF"/>
                  </a:solidFill>
                  <a:latin typeface="黑体" pitchFamily="2" charset="-122"/>
                  <a:ea typeface="黑体" pitchFamily="2" charset="-122"/>
                </a:rPr>
                <a:t>与</a:t>
              </a:r>
              <a:r>
                <a:rPr lang="en-US" altLang="zh-CN" sz="2800" b="1">
                  <a:solidFill>
                    <a:srgbClr val="FFFFFF"/>
                  </a:solidFill>
                  <a:ea typeface="黑体" pitchFamily="2" charset="-122"/>
                </a:rPr>
                <a:t>rear</a:t>
              </a:r>
              <a:r>
                <a:rPr lang="zh-CN" altLang="en-US" sz="2800" b="1">
                  <a:solidFill>
                    <a:srgbClr val="FFFFFF"/>
                  </a:solidFill>
                  <a:latin typeface="黑体" pitchFamily="2" charset="-122"/>
                  <a:ea typeface="黑体" pitchFamily="2" charset="-122"/>
                </a:rPr>
                <a:t>分别指向实际队头和队尾元素</a:t>
              </a:r>
            </a:p>
          </p:txBody>
        </p:sp>
      </p:grpSp>
    </p:spTree>
  </p:cSld>
  <p:clrMapOvr>
    <a:masterClrMapping/>
  </p:clrMapOvr>
  <p:transition>
    <p:pull dir="l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ppt_x</p:attrName>
                                        </p:attrNameLst>
                                      </p:cBhvr>
                                      <p:tavLst>
                                        <p:tav tm="0">
                                          <p:val>
                                            <p:strVal val="#ppt_x-#ppt_w/2"/>
                                          </p:val>
                                        </p:tav>
                                        <p:tav tm="100000">
                                          <p:val>
                                            <p:strVal val="#ppt_x"/>
                                          </p:val>
                                        </p:tav>
                                      </p:tavLst>
                                    </p:anim>
                                    <p:anim calcmode="lin" valueType="num">
                                      <p:cBhvr>
                                        <p:cTn id="14" dur="500" fill="hold"/>
                                        <p:tgtEl>
                                          <p:spTgt spid="2"/>
                                        </p:tgtEl>
                                        <p:attrNameLst>
                                          <p:attrName>ppt_y</p:attrName>
                                        </p:attrNameLst>
                                      </p:cBhvr>
                                      <p:tavLst>
                                        <p:tav tm="0">
                                          <p:val>
                                            <p:strVal val="#ppt_y"/>
                                          </p:val>
                                        </p:tav>
                                        <p:tav tm="100000">
                                          <p:val>
                                            <p:strVal val="#ppt_y"/>
                                          </p:val>
                                        </p:tav>
                                      </p:tavLst>
                                    </p:anim>
                                    <p:anim calcmode="lin" valueType="num">
                                      <p:cBhvr>
                                        <p:cTn id="15" dur="500" fill="hold"/>
                                        <p:tgtEl>
                                          <p:spTgt spid="2"/>
                                        </p:tgtEl>
                                        <p:attrNameLst>
                                          <p:attrName>ppt_w</p:attrName>
                                        </p:attrNameLst>
                                      </p:cBhvr>
                                      <p:tavLst>
                                        <p:tav tm="0">
                                          <p:val>
                                            <p:fltVal val="0"/>
                                          </p:val>
                                        </p:tav>
                                        <p:tav tm="100000">
                                          <p:val>
                                            <p:strVal val="#ppt_w"/>
                                          </p:val>
                                        </p:tav>
                                      </p:tavLst>
                                    </p:anim>
                                    <p:anim calcmode="lin" valueType="num">
                                      <p:cBhvr>
                                        <p:cTn id="16"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dissolve">
                                      <p:cBhvr>
                                        <p:cTn id="21" dur="500"/>
                                        <p:tgtEl>
                                          <p:spTgt spid="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00049"/>
                                        </p:tgtEl>
                                        <p:attrNameLst>
                                          <p:attrName>style.visibility</p:attrName>
                                        </p:attrNameLst>
                                      </p:cBhvr>
                                      <p:to>
                                        <p:strVal val="visible"/>
                                      </p:to>
                                    </p:set>
                                    <p:animEffect transition="in" filter="wipe(left)">
                                      <p:cBhvr>
                                        <p:cTn id="26" dur="500"/>
                                        <p:tgtEl>
                                          <p:spTgt spid="30004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2" fill="hold" grpId="0" nodeType="clickEffect">
                                  <p:stCondLst>
                                    <p:cond delay="0"/>
                                  </p:stCondLst>
                                  <p:childTnLst>
                                    <p:set>
                                      <p:cBhvr>
                                        <p:cTn id="30" dur="1" fill="hold">
                                          <p:stCondLst>
                                            <p:cond delay="0"/>
                                          </p:stCondLst>
                                        </p:cTn>
                                        <p:tgtEl>
                                          <p:spTgt spid="300053"/>
                                        </p:tgtEl>
                                        <p:attrNameLst>
                                          <p:attrName>style.visibility</p:attrName>
                                        </p:attrNameLst>
                                      </p:cBhvr>
                                      <p:to>
                                        <p:strVal val="visible"/>
                                      </p:to>
                                    </p:set>
                                    <p:animEffect transition="in" filter="wipe(right)">
                                      <p:cBhvr>
                                        <p:cTn id="31" dur="500"/>
                                        <p:tgtEl>
                                          <p:spTgt spid="30005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3" presetClass="entr" presetSubtype="528"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p:cTn id="36" dur="500" fill="hold"/>
                                        <p:tgtEl>
                                          <p:spTgt spid="7"/>
                                        </p:tgtEl>
                                        <p:attrNameLst>
                                          <p:attrName>ppt_w</p:attrName>
                                        </p:attrNameLst>
                                      </p:cBhvr>
                                      <p:tavLst>
                                        <p:tav tm="0">
                                          <p:val>
                                            <p:fltVal val="0"/>
                                          </p:val>
                                        </p:tav>
                                        <p:tav tm="100000">
                                          <p:val>
                                            <p:strVal val="#ppt_w"/>
                                          </p:val>
                                        </p:tav>
                                      </p:tavLst>
                                    </p:anim>
                                    <p:anim calcmode="lin" valueType="num">
                                      <p:cBhvr>
                                        <p:cTn id="37" dur="500" fill="hold"/>
                                        <p:tgtEl>
                                          <p:spTgt spid="7"/>
                                        </p:tgtEl>
                                        <p:attrNameLst>
                                          <p:attrName>ppt_h</p:attrName>
                                        </p:attrNameLst>
                                      </p:cBhvr>
                                      <p:tavLst>
                                        <p:tav tm="0">
                                          <p:val>
                                            <p:fltVal val="0"/>
                                          </p:val>
                                        </p:tav>
                                        <p:tav tm="100000">
                                          <p:val>
                                            <p:strVal val="#ppt_h"/>
                                          </p:val>
                                        </p:tav>
                                      </p:tavLst>
                                    </p:anim>
                                    <p:anim calcmode="lin" valueType="num">
                                      <p:cBhvr>
                                        <p:cTn id="38" dur="500" fill="hold"/>
                                        <p:tgtEl>
                                          <p:spTgt spid="7"/>
                                        </p:tgtEl>
                                        <p:attrNameLst>
                                          <p:attrName>ppt_x</p:attrName>
                                        </p:attrNameLst>
                                      </p:cBhvr>
                                      <p:tavLst>
                                        <p:tav tm="0">
                                          <p:val>
                                            <p:fltVal val="0.5"/>
                                          </p:val>
                                        </p:tav>
                                        <p:tav tm="100000">
                                          <p:val>
                                            <p:strVal val="#ppt_x"/>
                                          </p:val>
                                        </p:tav>
                                      </p:tavLst>
                                    </p:anim>
                                    <p:anim calcmode="lin" valueType="num">
                                      <p:cBhvr>
                                        <p:cTn id="39" dur="500" fill="hold"/>
                                        <p:tgtEl>
                                          <p:spTgt spid="7"/>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49" grpId="0" animBg="1"/>
      <p:bldP spid="300053"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8"/>
          <p:cNvGrpSpPr>
            <a:grpSpLocks/>
          </p:cNvGrpSpPr>
          <p:nvPr/>
        </p:nvGrpSpPr>
        <p:grpSpPr bwMode="auto">
          <a:xfrm>
            <a:off x="2381250" y="4891088"/>
            <a:ext cx="7315200" cy="1274762"/>
            <a:chOff x="624" y="2989"/>
            <a:chExt cx="4608" cy="803"/>
          </a:xfrm>
        </p:grpSpPr>
        <p:sp>
          <p:nvSpPr>
            <p:cNvPr id="76836" name="Text Box 29"/>
            <p:cNvSpPr txBox="1">
              <a:spLocks noChangeArrowheads="1"/>
            </p:cNvSpPr>
            <p:nvPr/>
          </p:nvSpPr>
          <p:spPr bwMode="auto">
            <a:xfrm>
              <a:off x="624" y="2989"/>
              <a:ext cx="4608" cy="317"/>
            </a:xfrm>
            <a:prstGeom prst="rect">
              <a:avLst/>
            </a:prstGeom>
            <a:noFill/>
            <a:ln w="12700" cap="sq">
              <a:noFill/>
              <a:miter lim="800000"/>
              <a:headEnd type="none" w="sm" len="sm"/>
              <a:tailEnd type="none" w="sm" len="sm"/>
            </a:ln>
          </p:spPr>
          <p:txBody>
            <a:bodyPr>
              <a:spAutoFit/>
            </a:bodyPr>
            <a:lstStyle/>
            <a:p>
              <a:r>
                <a:rPr lang="zh-CN" altLang="en-US" sz="2700" b="1">
                  <a:solidFill>
                    <a:srgbClr val="002B80"/>
                  </a:solidFill>
                  <a:latin typeface="幼圆" pitchFamily="49" charset="-122"/>
                  <a:ea typeface="幼圆" pitchFamily="49" charset="-122"/>
                </a:rPr>
                <a:t>    空队对应的链表为空链表，空队的标志是</a:t>
              </a:r>
            </a:p>
          </p:txBody>
        </p:sp>
        <p:sp>
          <p:nvSpPr>
            <p:cNvPr id="76837" name="Rectangle 30"/>
            <p:cNvSpPr>
              <a:spLocks noChangeArrowheads="1"/>
            </p:cNvSpPr>
            <p:nvPr/>
          </p:nvSpPr>
          <p:spPr bwMode="auto">
            <a:xfrm>
              <a:off x="1920" y="3408"/>
              <a:ext cx="1824" cy="384"/>
            </a:xfrm>
            <a:prstGeom prst="rect">
              <a:avLst/>
            </a:prstGeom>
            <a:solidFill>
              <a:srgbClr val="B5FFF1"/>
            </a:solidFill>
            <a:ln w="12700" cap="sq">
              <a:noFill/>
              <a:miter lim="800000"/>
              <a:headEnd type="none" w="sm" len="sm"/>
              <a:tailEnd type="none" w="sm" len="sm"/>
            </a:ln>
            <a:effectLst>
              <a:outerShdw dist="125724" dir="2700000" algn="ctr" rotWithShape="0">
                <a:srgbClr val="C0C0C0"/>
              </a:outerShdw>
            </a:effectLst>
          </p:spPr>
          <p:txBody>
            <a:bodyPr wrap="none" anchor="ctr"/>
            <a:lstStyle/>
            <a:p>
              <a:endParaRPr lang="zh-CN" altLang="en-US"/>
            </a:p>
          </p:txBody>
        </p:sp>
        <p:sp>
          <p:nvSpPr>
            <p:cNvPr id="76838" name="Rectangle 31"/>
            <p:cNvSpPr>
              <a:spLocks noChangeArrowheads="1"/>
            </p:cNvSpPr>
            <p:nvPr/>
          </p:nvSpPr>
          <p:spPr bwMode="auto">
            <a:xfrm>
              <a:off x="2034" y="3445"/>
              <a:ext cx="1293" cy="330"/>
            </a:xfrm>
            <a:prstGeom prst="rect">
              <a:avLst/>
            </a:prstGeom>
            <a:noFill/>
            <a:ln w="12700" cap="sq">
              <a:noFill/>
              <a:miter lim="800000"/>
              <a:headEnd type="none" w="sm" len="sm"/>
              <a:tailEnd type="none" w="sm" len="sm"/>
            </a:ln>
          </p:spPr>
          <p:txBody>
            <a:bodyPr wrap="none">
              <a:spAutoFit/>
            </a:bodyPr>
            <a:lstStyle/>
            <a:p>
              <a:pPr>
                <a:spcBef>
                  <a:spcPct val="45000"/>
                </a:spcBef>
              </a:pPr>
              <a:r>
                <a:rPr lang="zh-CN" altLang="en-US" sz="2700" b="1">
                  <a:solidFill>
                    <a:srgbClr val="000099"/>
                  </a:solidFill>
                  <a:ea typeface="黑体" pitchFamily="2" charset="-122"/>
                </a:rPr>
                <a:t> </a:t>
              </a:r>
              <a:r>
                <a:rPr lang="en-US" altLang="zh-CN" sz="2800" b="1">
                  <a:solidFill>
                    <a:srgbClr val="FF3300"/>
                  </a:solidFill>
                  <a:ea typeface="黑体" pitchFamily="2" charset="-122"/>
                </a:rPr>
                <a:t>front = NULL</a:t>
              </a:r>
            </a:p>
          </p:txBody>
        </p:sp>
      </p:grpSp>
      <p:grpSp>
        <p:nvGrpSpPr>
          <p:cNvPr id="3" name="Group 70"/>
          <p:cNvGrpSpPr>
            <a:grpSpLocks/>
          </p:cNvGrpSpPr>
          <p:nvPr/>
        </p:nvGrpSpPr>
        <p:grpSpPr bwMode="auto">
          <a:xfrm>
            <a:off x="2063751" y="209551"/>
            <a:ext cx="7929563" cy="2125663"/>
            <a:chOff x="340" y="132"/>
            <a:chExt cx="4995" cy="1339"/>
          </a:xfrm>
        </p:grpSpPr>
        <p:sp>
          <p:nvSpPr>
            <p:cNvPr id="76833" name="Rectangle 33"/>
            <p:cNvSpPr>
              <a:spLocks noChangeArrowheads="1"/>
            </p:cNvSpPr>
            <p:nvPr/>
          </p:nvSpPr>
          <p:spPr bwMode="auto">
            <a:xfrm>
              <a:off x="492" y="450"/>
              <a:ext cx="4843" cy="1021"/>
            </a:xfrm>
            <a:prstGeom prst="rect">
              <a:avLst/>
            </a:prstGeom>
            <a:noFill/>
            <a:ln w="12700" cap="sq">
              <a:noFill/>
              <a:miter lim="800000"/>
              <a:headEnd type="none" w="sm" len="sm"/>
              <a:tailEnd type="none" w="sm" len="sm"/>
            </a:ln>
          </p:spPr>
          <p:txBody>
            <a:bodyPr>
              <a:spAutoFit/>
            </a:bodyPr>
            <a:lstStyle/>
            <a:p>
              <a:pPr eaLnBrk="1" hangingPunct="1">
                <a:lnSpc>
                  <a:spcPct val="85000"/>
                </a:lnSpc>
              </a:pPr>
              <a:r>
                <a:rPr kumimoji="1" lang="zh-CN" altLang="en-US" sz="2700" b="1" dirty="0">
                  <a:solidFill>
                    <a:srgbClr val="002B80"/>
                  </a:solidFill>
                  <a:latin typeface="幼圆" pitchFamily="49" charset="-122"/>
                  <a:ea typeface="幼圆" pitchFamily="49" charset="-122"/>
                </a:rPr>
                <a:t>        在一个初始为空的链接队列中依次插入 </a:t>
              </a:r>
            </a:p>
            <a:p>
              <a:pPr eaLnBrk="1" hangingPunct="1">
                <a:lnSpc>
                  <a:spcPct val="85000"/>
                </a:lnSpc>
              </a:pPr>
              <a:r>
                <a:rPr kumimoji="1" lang="zh-CN" altLang="en-US" sz="2700" b="1" dirty="0">
                  <a:solidFill>
                    <a:srgbClr val="002B80"/>
                  </a:solidFill>
                  <a:latin typeface="幼圆" pitchFamily="49" charset="-122"/>
                  <a:ea typeface="幼圆" pitchFamily="49" charset="-122"/>
                </a:rPr>
                <a:t>    数据元素 </a:t>
              </a:r>
            </a:p>
            <a:p>
              <a:pPr eaLnBrk="1" hangingPunct="1">
                <a:lnSpc>
                  <a:spcPct val="85000"/>
                </a:lnSpc>
                <a:spcAft>
                  <a:spcPct val="20000"/>
                </a:spcAft>
              </a:pPr>
              <a:r>
                <a:rPr kumimoji="1" lang="zh-CN" altLang="en-US" sz="2700" b="1" dirty="0">
                  <a:solidFill>
                    <a:srgbClr val="000099"/>
                  </a:solidFill>
                  <a:ea typeface="幼圆" pitchFamily="49" charset="-122"/>
                </a:rPr>
                <a:t>                                  </a:t>
              </a:r>
              <a:r>
                <a:rPr kumimoji="1" lang="en-US" altLang="en-US" sz="2900" b="1" dirty="0">
                  <a:solidFill>
                    <a:srgbClr val="FF3300"/>
                  </a:solidFill>
                  <a:ea typeface="幼圆" pitchFamily="49" charset="-122"/>
                </a:rPr>
                <a:t>A,   B,   C,   D</a:t>
              </a:r>
            </a:p>
            <a:p>
              <a:pPr eaLnBrk="1" hangingPunct="1">
                <a:lnSpc>
                  <a:spcPct val="85000"/>
                </a:lnSpc>
              </a:pPr>
              <a:r>
                <a:rPr kumimoji="1" lang="zh-CN" altLang="en-US" sz="2700" b="1" dirty="0">
                  <a:solidFill>
                    <a:srgbClr val="002B80"/>
                  </a:solidFill>
                  <a:latin typeface="幼圆" pitchFamily="49" charset="-122"/>
                  <a:ea typeface="幼圆" pitchFamily="49" charset="-122"/>
                </a:rPr>
                <a:t>    以后, 队列的状态为</a:t>
              </a:r>
            </a:p>
          </p:txBody>
        </p:sp>
        <p:sp>
          <p:nvSpPr>
            <p:cNvPr id="76834" name="Oval 34"/>
            <p:cNvSpPr>
              <a:spLocks noChangeArrowheads="1"/>
            </p:cNvSpPr>
            <p:nvPr/>
          </p:nvSpPr>
          <p:spPr bwMode="auto">
            <a:xfrm>
              <a:off x="340" y="195"/>
              <a:ext cx="576" cy="432"/>
            </a:xfrm>
            <a:prstGeom prst="ellipse">
              <a:avLst/>
            </a:prstGeom>
            <a:solidFill>
              <a:srgbClr val="CCFFFF"/>
            </a:solidFill>
            <a:ln w="12700" cap="sq">
              <a:noFill/>
              <a:round/>
              <a:headEnd type="none" w="sm" len="sm"/>
              <a:tailEnd type="none" w="sm" len="sm"/>
            </a:ln>
            <a:effectLst>
              <a:outerShdw dist="45791" dir="2021404" algn="ctr" rotWithShape="0">
                <a:srgbClr val="B2B2B2"/>
              </a:outerShdw>
            </a:effectLst>
          </p:spPr>
          <p:txBody>
            <a:bodyPr wrap="none" anchor="ctr"/>
            <a:lstStyle/>
            <a:p>
              <a:endParaRPr lang="zh-CN" altLang="en-US"/>
            </a:p>
          </p:txBody>
        </p:sp>
        <p:sp>
          <p:nvSpPr>
            <p:cNvPr id="76835" name="Rectangle 35"/>
            <p:cNvSpPr>
              <a:spLocks noChangeArrowheads="1"/>
            </p:cNvSpPr>
            <p:nvPr/>
          </p:nvSpPr>
          <p:spPr bwMode="auto">
            <a:xfrm>
              <a:off x="344" y="132"/>
              <a:ext cx="516" cy="538"/>
            </a:xfrm>
            <a:prstGeom prst="rect">
              <a:avLst/>
            </a:prstGeom>
            <a:noFill/>
            <a:ln w="12700" cap="sq">
              <a:noFill/>
              <a:miter lim="800000"/>
              <a:headEnd type="none" w="sm" len="sm"/>
              <a:tailEnd type="none" w="sm" len="sm"/>
            </a:ln>
            <a:effectLst>
              <a:outerShdw dist="28398" dir="3806097" algn="ctr" rotWithShape="0">
                <a:srgbClr val="000000"/>
              </a:outerShdw>
            </a:effectLst>
          </p:spPr>
          <p:txBody>
            <a:bodyPr wrap="none">
              <a:spAutoFit/>
            </a:bodyPr>
            <a:lstStyle/>
            <a:p>
              <a:r>
                <a:rPr lang="zh-CN" altLang="en-US" sz="5000" b="1">
                  <a:solidFill>
                    <a:srgbClr val="FF3300"/>
                  </a:solidFill>
                  <a:ea typeface="华文新魏" pitchFamily="2" charset="-122"/>
                </a:rPr>
                <a:t>例</a:t>
              </a:r>
            </a:p>
          </p:txBody>
        </p:sp>
      </p:grpSp>
      <p:grpSp>
        <p:nvGrpSpPr>
          <p:cNvPr id="4" name="Group 68"/>
          <p:cNvGrpSpPr>
            <a:grpSpLocks/>
          </p:cNvGrpSpPr>
          <p:nvPr/>
        </p:nvGrpSpPr>
        <p:grpSpPr bwMode="auto">
          <a:xfrm>
            <a:off x="2541588" y="2349501"/>
            <a:ext cx="7802562" cy="2214563"/>
            <a:chOff x="641" y="1672"/>
            <a:chExt cx="4915" cy="1395"/>
          </a:xfrm>
        </p:grpSpPr>
        <p:grpSp>
          <p:nvGrpSpPr>
            <p:cNvPr id="5" name="Group 37"/>
            <p:cNvGrpSpPr>
              <a:grpSpLocks/>
            </p:cNvGrpSpPr>
            <p:nvPr/>
          </p:nvGrpSpPr>
          <p:grpSpPr bwMode="auto">
            <a:xfrm>
              <a:off x="1248" y="2142"/>
              <a:ext cx="635" cy="272"/>
              <a:chOff x="1565" y="1933"/>
              <a:chExt cx="635" cy="272"/>
            </a:xfrm>
          </p:grpSpPr>
          <p:sp>
            <p:nvSpPr>
              <p:cNvPr id="76831" name="Rectangle 38"/>
              <p:cNvSpPr>
                <a:spLocks noChangeArrowheads="1"/>
              </p:cNvSpPr>
              <p:nvPr/>
            </p:nvSpPr>
            <p:spPr bwMode="auto">
              <a:xfrm>
                <a:off x="1565" y="1933"/>
                <a:ext cx="408" cy="272"/>
              </a:xfrm>
              <a:prstGeom prst="rect">
                <a:avLst/>
              </a:prstGeom>
              <a:noFill/>
              <a:ln w="25400" cap="sq">
                <a:solidFill>
                  <a:srgbClr val="000000"/>
                </a:solidFill>
                <a:miter lim="800000"/>
                <a:headEnd type="none" w="sm" len="sm"/>
                <a:tailEnd type="none" w="sm" len="sm"/>
              </a:ln>
            </p:spPr>
            <p:txBody>
              <a:bodyPr wrap="none" anchor="ctr"/>
              <a:lstStyle/>
              <a:p>
                <a:endParaRPr lang="zh-CN" altLang="en-US"/>
              </a:p>
            </p:txBody>
          </p:sp>
          <p:sp>
            <p:nvSpPr>
              <p:cNvPr id="76832" name="Rectangle 39"/>
              <p:cNvSpPr>
                <a:spLocks noChangeArrowheads="1"/>
              </p:cNvSpPr>
              <p:nvPr/>
            </p:nvSpPr>
            <p:spPr bwMode="auto">
              <a:xfrm>
                <a:off x="1974" y="1933"/>
                <a:ext cx="226" cy="272"/>
              </a:xfrm>
              <a:prstGeom prst="rect">
                <a:avLst/>
              </a:prstGeom>
              <a:noFill/>
              <a:ln w="25400" cap="sq">
                <a:solidFill>
                  <a:srgbClr val="000000"/>
                </a:solidFill>
                <a:miter lim="800000"/>
                <a:headEnd type="none" w="sm" len="sm"/>
                <a:tailEnd type="none" w="sm" len="sm"/>
              </a:ln>
            </p:spPr>
            <p:txBody>
              <a:bodyPr wrap="none" anchor="ctr"/>
              <a:lstStyle/>
              <a:p>
                <a:endParaRPr lang="zh-CN" altLang="en-US"/>
              </a:p>
            </p:txBody>
          </p:sp>
        </p:grpSp>
        <p:grpSp>
          <p:nvGrpSpPr>
            <p:cNvPr id="6" name="Group 40"/>
            <p:cNvGrpSpPr>
              <a:grpSpLocks/>
            </p:cNvGrpSpPr>
            <p:nvPr/>
          </p:nvGrpSpPr>
          <p:grpSpPr bwMode="auto">
            <a:xfrm>
              <a:off x="2201" y="2142"/>
              <a:ext cx="635" cy="272"/>
              <a:chOff x="1565" y="1933"/>
              <a:chExt cx="635" cy="272"/>
            </a:xfrm>
          </p:grpSpPr>
          <p:sp>
            <p:nvSpPr>
              <p:cNvPr id="76829" name="Rectangle 41"/>
              <p:cNvSpPr>
                <a:spLocks noChangeArrowheads="1"/>
              </p:cNvSpPr>
              <p:nvPr/>
            </p:nvSpPr>
            <p:spPr bwMode="auto">
              <a:xfrm>
                <a:off x="1565" y="1933"/>
                <a:ext cx="408" cy="272"/>
              </a:xfrm>
              <a:prstGeom prst="rect">
                <a:avLst/>
              </a:prstGeom>
              <a:noFill/>
              <a:ln w="25400" cap="sq">
                <a:solidFill>
                  <a:srgbClr val="000000"/>
                </a:solidFill>
                <a:miter lim="800000"/>
                <a:headEnd type="none" w="sm" len="sm"/>
                <a:tailEnd type="none" w="sm" len="sm"/>
              </a:ln>
            </p:spPr>
            <p:txBody>
              <a:bodyPr wrap="none" anchor="ctr"/>
              <a:lstStyle/>
              <a:p>
                <a:endParaRPr lang="zh-CN" altLang="en-US"/>
              </a:p>
            </p:txBody>
          </p:sp>
          <p:sp>
            <p:nvSpPr>
              <p:cNvPr id="76830" name="Rectangle 42"/>
              <p:cNvSpPr>
                <a:spLocks noChangeArrowheads="1"/>
              </p:cNvSpPr>
              <p:nvPr/>
            </p:nvSpPr>
            <p:spPr bwMode="auto">
              <a:xfrm>
                <a:off x="1974" y="1933"/>
                <a:ext cx="226" cy="272"/>
              </a:xfrm>
              <a:prstGeom prst="rect">
                <a:avLst/>
              </a:prstGeom>
              <a:noFill/>
              <a:ln w="25400" cap="sq">
                <a:solidFill>
                  <a:srgbClr val="000000"/>
                </a:solidFill>
                <a:miter lim="800000"/>
                <a:headEnd type="none" w="sm" len="sm"/>
                <a:tailEnd type="none" w="sm" len="sm"/>
              </a:ln>
            </p:spPr>
            <p:txBody>
              <a:bodyPr wrap="none" anchor="ctr"/>
              <a:lstStyle/>
              <a:p>
                <a:endParaRPr lang="zh-CN" altLang="en-US"/>
              </a:p>
            </p:txBody>
          </p:sp>
        </p:grpSp>
        <p:grpSp>
          <p:nvGrpSpPr>
            <p:cNvPr id="7" name="Group 43"/>
            <p:cNvGrpSpPr>
              <a:grpSpLocks/>
            </p:cNvGrpSpPr>
            <p:nvPr/>
          </p:nvGrpSpPr>
          <p:grpSpPr bwMode="auto">
            <a:xfrm>
              <a:off x="3156" y="2142"/>
              <a:ext cx="635" cy="272"/>
              <a:chOff x="1565" y="1933"/>
              <a:chExt cx="635" cy="272"/>
            </a:xfrm>
          </p:grpSpPr>
          <p:sp>
            <p:nvSpPr>
              <p:cNvPr id="76827" name="Rectangle 44"/>
              <p:cNvSpPr>
                <a:spLocks noChangeArrowheads="1"/>
              </p:cNvSpPr>
              <p:nvPr/>
            </p:nvSpPr>
            <p:spPr bwMode="auto">
              <a:xfrm>
                <a:off x="1565" y="1933"/>
                <a:ext cx="408" cy="272"/>
              </a:xfrm>
              <a:prstGeom prst="rect">
                <a:avLst/>
              </a:prstGeom>
              <a:noFill/>
              <a:ln w="25400" cap="sq">
                <a:solidFill>
                  <a:srgbClr val="000000"/>
                </a:solidFill>
                <a:miter lim="800000"/>
                <a:headEnd type="none" w="sm" len="sm"/>
                <a:tailEnd type="none" w="sm" len="sm"/>
              </a:ln>
            </p:spPr>
            <p:txBody>
              <a:bodyPr wrap="none" anchor="ctr"/>
              <a:lstStyle/>
              <a:p>
                <a:endParaRPr lang="zh-CN" altLang="en-US"/>
              </a:p>
            </p:txBody>
          </p:sp>
          <p:sp>
            <p:nvSpPr>
              <p:cNvPr id="76828" name="Rectangle 45"/>
              <p:cNvSpPr>
                <a:spLocks noChangeArrowheads="1"/>
              </p:cNvSpPr>
              <p:nvPr/>
            </p:nvSpPr>
            <p:spPr bwMode="auto">
              <a:xfrm>
                <a:off x="1974" y="1933"/>
                <a:ext cx="226" cy="272"/>
              </a:xfrm>
              <a:prstGeom prst="rect">
                <a:avLst/>
              </a:prstGeom>
              <a:noFill/>
              <a:ln w="25400" cap="sq">
                <a:solidFill>
                  <a:srgbClr val="000000"/>
                </a:solidFill>
                <a:miter lim="800000"/>
                <a:headEnd type="none" w="sm" len="sm"/>
                <a:tailEnd type="none" w="sm" len="sm"/>
              </a:ln>
            </p:spPr>
            <p:txBody>
              <a:bodyPr wrap="none" anchor="ctr"/>
              <a:lstStyle/>
              <a:p>
                <a:endParaRPr lang="zh-CN" altLang="en-US"/>
              </a:p>
            </p:txBody>
          </p:sp>
        </p:grpSp>
        <p:grpSp>
          <p:nvGrpSpPr>
            <p:cNvPr id="8" name="Group 46"/>
            <p:cNvGrpSpPr>
              <a:grpSpLocks/>
            </p:cNvGrpSpPr>
            <p:nvPr/>
          </p:nvGrpSpPr>
          <p:grpSpPr bwMode="auto">
            <a:xfrm>
              <a:off x="4103" y="2142"/>
              <a:ext cx="635" cy="272"/>
              <a:chOff x="1565" y="1933"/>
              <a:chExt cx="635" cy="272"/>
            </a:xfrm>
          </p:grpSpPr>
          <p:sp>
            <p:nvSpPr>
              <p:cNvPr id="76825" name="Rectangle 47"/>
              <p:cNvSpPr>
                <a:spLocks noChangeArrowheads="1"/>
              </p:cNvSpPr>
              <p:nvPr/>
            </p:nvSpPr>
            <p:spPr bwMode="auto">
              <a:xfrm>
                <a:off x="1565" y="1933"/>
                <a:ext cx="408" cy="272"/>
              </a:xfrm>
              <a:prstGeom prst="rect">
                <a:avLst/>
              </a:prstGeom>
              <a:noFill/>
              <a:ln w="25400" cap="sq">
                <a:solidFill>
                  <a:srgbClr val="000000"/>
                </a:solidFill>
                <a:miter lim="800000"/>
                <a:headEnd type="none" w="sm" len="sm"/>
                <a:tailEnd type="none" w="sm" len="sm"/>
              </a:ln>
            </p:spPr>
            <p:txBody>
              <a:bodyPr wrap="none" anchor="ctr"/>
              <a:lstStyle/>
              <a:p>
                <a:endParaRPr lang="zh-CN" altLang="en-US"/>
              </a:p>
            </p:txBody>
          </p:sp>
          <p:sp>
            <p:nvSpPr>
              <p:cNvPr id="76826" name="Rectangle 48"/>
              <p:cNvSpPr>
                <a:spLocks noChangeArrowheads="1"/>
              </p:cNvSpPr>
              <p:nvPr/>
            </p:nvSpPr>
            <p:spPr bwMode="auto">
              <a:xfrm>
                <a:off x="1974" y="1933"/>
                <a:ext cx="226" cy="272"/>
              </a:xfrm>
              <a:prstGeom prst="rect">
                <a:avLst/>
              </a:prstGeom>
              <a:noFill/>
              <a:ln w="25400" cap="sq">
                <a:solidFill>
                  <a:srgbClr val="000000"/>
                </a:solidFill>
                <a:miter lim="800000"/>
                <a:headEnd type="none" w="sm" len="sm"/>
                <a:tailEnd type="none" w="sm" len="sm"/>
              </a:ln>
            </p:spPr>
            <p:txBody>
              <a:bodyPr wrap="none" anchor="ctr"/>
              <a:lstStyle/>
              <a:p>
                <a:endParaRPr lang="zh-CN" altLang="en-US"/>
              </a:p>
            </p:txBody>
          </p:sp>
        </p:grpSp>
        <p:sp>
          <p:nvSpPr>
            <p:cNvPr id="76809" name="Line 49"/>
            <p:cNvSpPr>
              <a:spLocks noChangeShapeType="1"/>
            </p:cNvSpPr>
            <p:nvPr/>
          </p:nvSpPr>
          <p:spPr bwMode="auto">
            <a:xfrm>
              <a:off x="1784" y="2273"/>
              <a:ext cx="409" cy="0"/>
            </a:xfrm>
            <a:prstGeom prst="line">
              <a:avLst/>
            </a:prstGeom>
            <a:noFill/>
            <a:ln w="28575" cap="sq">
              <a:solidFill>
                <a:srgbClr val="000080"/>
              </a:solidFill>
              <a:round/>
              <a:headEnd type="none" w="sm" len="sm"/>
              <a:tailEnd type="triangle" w="med" len="med"/>
            </a:ln>
          </p:spPr>
          <p:txBody>
            <a:bodyPr/>
            <a:lstStyle/>
            <a:p>
              <a:endParaRPr lang="zh-CN" altLang="en-US"/>
            </a:p>
          </p:txBody>
        </p:sp>
        <p:sp>
          <p:nvSpPr>
            <p:cNvPr id="76810" name="Line 50"/>
            <p:cNvSpPr>
              <a:spLocks noChangeShapeType="1"/>
            </p:cNvSpPr>
            <p:nvPr/>
          </p:nvSpPr>
          <p:spPr bwMode="auto">
            <a:xfrm>
              <a:off x="2720" y="2278"/>
              <a:ext cx="409" cy="0"/>
            </a:xfrm>
            <a:prstGeom prst="line">
              <a:avLst/>
            </a:prstGeom>
            <a:noFill/>
            <a:ln w="28575" cap="sq">
              <a:solidFill>
                <a:srgbClr val="003366"/>
              </a:solidFill>
              <a:round/>
              <a:headEnd type="none" w="sm" len="sm"/>
              <a:tailEnd type="triangle" w="med" len="med"/>
            </a:ln>
          </p:spPr>
          <p:txBody>
            <a:bodyPr/>
            <a:lstStyle/>
            <a:p>
              <a:endParaRPr lang="zh-CN" altLang="en-US"/>
            </a:p>
          </p:txBody>
        </p:sp>
        <p:sp>
          <p:nvSpPr>
            <p:cNvPr id="76811" name="Line 51"/>
            <p:cNvSpPr>
              <a:spLocks noChangeShapeType="1"/>
            </p:cNvSpPr>
            <p:nvPr/>
          </p:nvSpPr>
          <p:spPr bwMode="auto">
            <a:xfrm>
              <a:off x="3675" y="2278"/>
              <a:ext cx="409" cy="0"/>
            </a:xfrm>
            <a:prstGeom prst="line">
              <a:avLst/>
            </a:prstGeom>
            <a:noFill/>
            <a:ln w="28575" cap="sq">
              <a:solidFill>
                <a:srgbClr val="000080"/>
              </a:solidFill>
              <a:round/>
              <a:headEnd type="none" w="sm" len="sm"/>
              <a:tailEnd type="triangle" w="med" len="med"/>
            </a:ln>
          </p:spPr>
          <p:txBody>
            <a:bodyPr/>
            <a:lstStyle/>
            <a:p>
              <a:endParaRPr lang="zh-CN" altLang="en-US"/>
            </a:p>
          </p:txBody>
        </p:sp>
        <p:sp>
          <p:nvSpPr>
            <p:cNvPr id="76812" name="Text Box 52"/>
            <p:cNvSpPr txBox="1">
              <a:spLocks noChangeArrowheads="1"/>
            </p:cNvSpPr>
            <p:nvPr/>
          </p:nvSpPr>
          <p:spPr bwMode="auto">
            <a:xfrm>
              <a:off x="4493" y="2121"/>
              <a:ext cx="186" cy="233"/>
            </a:xfrm>
            <a:prstGeom prst="rect">
              <a:avLst/>
            </a:prstGeom>
            <a:noFill/>
            <a:ln w="12700" cap="sq">
              <a:noFill/>
              <a:miter lim="800000"/>
              <a:headEnd type="none" w="sm" len="sm"/>
              <a:tailEnd type="none" w="sm" len="sm"/>
            </a:ln>
          </p:spPr>
          <p:txBody>
            <a:bodyPr wrap="none">
              <a:spAutoFit/>
            </a:bodyPr>
            <a:lstStyle/>
            <a:p>
              <a:r>
                <a:rPr lang="en-US" altLang="zh-CN" b="1">
                  <a:solidFill>
                    <a:srgbClr val="003399"/>
                  </a:solidFill>
                </a:rPr>
                <a:t>^</a:t>
              </a:r>
            </a:p>
          </p:txBody>
        </p:sp>
        <p:sp>
          <p:nvSpPr>
            <p:cNvPr id="76813" name="Rectangle 53"/>
            <p:cNvSpPr>
              <a:spLocks noChangeArrowheads="1"/>
            </p:cNvSpPr>
            <p:nvPr/>
          </p:nvSpPr>
          <p:spPr bwMode="auto">
            <a:xfrm>
              <a:off x="4178" y="2111"/>
              <a:ext cx="251" cy="330"/>
            </a:xfrm>
            <a:prstGeom prst="rect">
              <a:avLst/>
            </a:prstGeom>
            <a:noFill/>
            <a:ln w="12700" cap="sq">
              <a:noFill/>
              <a:miter lim="800000"/>
              <a:headEnd type="none" w="sm" len="sm"/>
              <a:tailEnd type="none" w="sm" len="sm"/>
            </a:ln>
          </p:spPr>
          <p:txBody>
            <a:bodyPr wrap="none">
              <a:spAutoFit/>
            </a:bodyPr>
            <a:lstStyle/>
            <a:p>
              <a:r>
                <a:rPr kumimoji="1" lang="en-US" altLang="zh-CN" sz="2800" b="1">
                  <a:solidFill>
                    <a:srgbClr val="FF3300"/>
                  </a:solidFill>
                </a:rPr>
                <a:t>D</a:t>
              </a:r>
              <a:endParaRPr kumimoji="1" lang="zh-CN" altLang="en-US" sz="2800" b="1">
                <a:solidFill>
                  <a:srgbClr val="FF3300"/>
                </a:solidFill>
              </a:endParaRPr>
            </a:p>
          </p:txBody>
        </p:sp>
        <p:sp>
          <p:nvSpPr>
            <p:cNvPr id="76814" name="Rectangle 54"/>
            <p:cNvSpPr>
              <a:spLocks noChangeArrowheads="1"/>
            </p:cNvSpPr>
            <p:nvPr/>
          </p:nvSpPr>
          <p:spPr bwMode="auto">
            <a:xfrm>
              <a:off x="3225" y="2121"/>
              <a:ext cx="251" cy="330"/>
            </a:xfrm>
            <a:prstGeom prst="rect">
              <a:avLst/>
            </a:prstGeom>
            <a:noFill/>
            <a:ln w="12700" cap="sq">
              <a:noFill/>
              <a:miter lim="800000"/>
              <a:headEnd type="none" w="sm" len="sm"/>
              <a:tailEnd type="none" w="sm" len="sm"/>
            </a:ln>
          </p:spPr>
          <p:txBody>
            <a:bodyPr wrap="none">
              <a:spAutoFit/>
            </a:bodyPr>
            <a:lstStyle/>
            <a:p>
              <a:r>
                <a:rPr kumimoji="1" lang="en-US" altLang="zh-CN" sz="2800" b="1">
                  <a:solidFill>
                    <a:srgbClr val="FF3300"/>
                  </a:solidFill>
                </a:rPr>
                <a:t>C</a:t>
              </a:r>
              <a:endParaRPr kumimoji="1" lang="zh-CN" altLang="en-US" sz="2800" b="1">
                <a:solidFill>
                  <a:srgbClr val="FF3300"/>
                </a:solidFill>
              </a:endParaRPr>
            </a:p>
          </p:txBody>
        </p:sp>
        <p:sp>
          <p:nvSpPr>
            <p:cNvPr id="76815" name="Rectangle 55"/>
            <p:cNvSpPr>
              <a:spLocks noChangeArrowheads="1"/>
            </p:cNvSpPr>
            <p:nvPr/>
          </p:nvSpPr>
          <p:spPr bwMode="auto">
            <a:xfrm>
              <a:off x="2267" y="2113"/>
              <a:ext cx="251" cy="330"/>
            </a:xfrm>
            <a:prstGeom prst="rect">
              <a:avLst/>
            </a:prstGeom>
            <a:noFill/>
            <a:ln w="12700" cap="sq">
              <a:noFill/>
              <a:miter lim="800000"/>
              <a:headEnd type="none" w="sm" len="sm"/>
              <a:tailEnd type="none" w="sm" len="sm"/>
            </a:ln>
          </p:spPr>
          <p:txBody>
            <a:bodyPr wrap="none">
              <a:spAutoFit/>
            </a:bodyPr>
            <a:lstStyle/>
            <a:p>
              <a:r>
                <a:rPr kumimoji="1" lang="en-US" altLang="zh-CN" sz="2800" b="1">
                  <a:solidFill>
                    <a:srgbClr val="FF3300"/>
                  </a:solidFill>
                </a:rPr>
                <a:t>B</a:t>
              </a:r>
              <a:endParaRPr kumimoji="1" lang="zh-CN" altLang="en-US" sz="2800" b="1">
                <a:solidFill>
                  <a:srgbClr val="FF3300"/>
                </a:solidFill>
              </a:endParaRPr>
            </a:p>
          </p:txBody>
        </p:sp>
        <p:sp>
          <p:nvSpPr>
            <p:cNvPr id="76816" name="Rectangle 56"/>
            <p:cNvSpPr>
              <a:spLocks noChangeArrowheads="1"/>
            </p:cNvSpPr>
            <p:nvPr/>
          </p:nvSpPr>
          <p:spPr bwMode="auto">
            <a:xfrm>
              <a:off x="1315" y="2110"/>
              <a:ext cx="251" cy="330"/>
            </a:xfrm>
            <a:prstGeom prst="rect">
              <a:avLst/>
            </a:prstGeom>
            <a:noFill/>
            <a:ln w="12700" cap="sq">
              <a:noFill/>
              <a:miter lim="800000"/>
              <a:headEnd type="none" w="sm" len="sm"/>
              <a:tailEnd type="none" w="sm" len="sm"/>
            </a:ln>
          </p:spPr>
          <p:txBody>
            <a:bodyPr wrap="none">
              <a:spAutoFit/>
            </a:bodyPr>
            <a:lstStyle/>
            <a:p>
              <a:r>
                <a:rPr kumimoji="1" lang="en-US" altLang="zh-CN" sz="2800" b="1">
                  <a:solidFill>
                    <a:srgbClr val="FF3300"/>
                  </a:solidFill>
                </a:rPr>
                <a:t>A</a:t>
              </a:r>
              <a:endParaRPr kumimoji="1" lang="zh-CN" altLang="en-US" sz="2800" b="1">
                <a:solidFill>
                  <a:srgbClr val="FF3300"/>
                </a:solidFill>
              </a:endParaRPr>
            </a:p>
          </p:txBody>
        </p:sp>
        <p:sp>
          <p:nvSpPr>
            <p:cNvPr id="76817" name="Rectangle 57"/>
            <p:cNvSpPr>
              <a:spLocks noChangeArrowheads="1"/>
            </p:cNvSpPr>
            <p:nvPr/>
          </p:nvSpPr>
          <p:spPr bwMode="auto">
            <a:xfrm>
              <a:off x="641" y="1732"/>
              <a:ext cx="816" cy="308"/>
            </a:xfrm>
            <a:prstGeom prst="rect">
              <a:avLst/>
            </a:prstGeom>
            <a:noFill/>
            <a:ln w="12700" cap="sq">
              <a:noFill/>
              <a:miter lim="800000"/>
              <a:headEnd type="none" w="sm" len="sm"/>
              <a:tailEnd type="none" w="sm" len="sm"/>
            </a:ln>
          </p:spPr>
          <p:txBody>
            <a:bodyPr>
              <a:spAutoFit/>
            </a:bodyPr>
            <a:lstStyle/>
            <a:p>
              <a:r>
                <a:rPr kumimoji="1" lang="en-US" altLang="zh-CN" sz="2600" b="1">
                  <a:solidFill>
                    <a:srgbClr val="FF0000"/>
                  </a:solidFill>
                </a:rPr>
                <a:t>front</a:t>
              </a:r>
              <a:endParaRPr kumimoji="1" lang="zh-CN" altLang="en-US" sz="2600" b="1">
                <a:solidFill>
                  <a:srgbClr val="FF0000"/>
                </a:solidFill>
              </a:endParaRPr>
            </a:p>
          </p:txBody>
        </p:sp>
        <p:sp>
          <p:nvSpPr>
            <p:cNvPr id="76818" name="Line 58"/>
            <p:cNvSpPr>
              <a:spLocks noChangeShapeType="1"/>
            </p:cNvSpPr>
            <p:nvPr/>
          </p:nvSpPr>
          <p:spPr bwMode="auto">
            <a:xfrm>
              <a:off x="1037" y="1993"/>
              <a:ext cx="182" cy="136"/>
            </a:xfrm>
            <a:prstGeom prst="line">
              <a:avLst/>
            </a:prstGeom>
            <a:noFill/>
            <a:ln w="25400" cap="sq">
              <a:solidFill>
                <a:srgbClr val="FF0000"/>
              </a:solidFill>
              <a:round/>
              <a:headEnd type="none" w="sm" len="sm"/>
              <a:tailEnd type="triangle" w="med" len="lg"/>
            </a:ln>
          </p:spPr>
          <p:txBody>
            <a:bodyPr/>
            <a:lstStyle/>
            <a:p>
              <a:endParaRPr lang="zh-CN" altLang="en-US"/>
            </a:p>
          </p:txBody>
        </p:sp>
        <p:sp>
          <p:nvSpPr>
            <p:cNvPr id="76819" name="Rectangle 59"/>
            <p:cNvSpPr>
              <a:spLocks noChangeArrowheads="1"/>
            </p:cNvSpPr>
            <p:nvPr/>
          </p:nvSpPr>
          <p:spPr bwMode="auto">
            <a:xfrm>
              <a:off x="4740" y="1672"/>
              <a:ext cx="816" cy="308"/>
            </a:xfrm>
            <a:prstGeom prst="rect">
              <a:avLst/>
            </a:prstGeom>
            <a:noFill/>
            <a:ln w="12700" cap="sq">
              <a:noFill/>
              <a:miter lim="800000"/>
              <a:headEnd type="none" w="sm" len="sm"/>
              <a:tailEnd type="none" w="sm" len="sm"/>
            </a:ln>
          </p:spPr>
          <p:txBody>
            <a:bodyPr>
              <a:spAutoFit/>
            </a:bodyPr>
            <a:lstStyle/>
            <a:p>
              <a:r>
                <a:rPr kumimoji="1" lang="en-US" altLang="zh-CN" sz="2600" b="1">
                  <a:solidFill>
                    <a:srgbClr val="FF0000"/>
                  </a:solidFill>
                </a:rPr>
                <a:t>rear</a:t>
              </a:r>
              <a:endParaRPr kumimoji="1" lang="zh-CN" altLang="en-US" sz="2600" b="1">
                <a:solidFill>
                  <a:srgbClr val="FF0000"/>
                </a:solidFill>
              </a:endParaRPr>
            </a:p>
          </p:txBody>
        </p:sp>
        <p:sp>
          <p:nvSpPr>
            <p:cNvPr id="76820" name="Line 60"/>
            <p:cNvSpPr>
              <a:spLocks noChangeShapeType="1"/>
            </p:cNvSpPr>
            <p:nvPr/>
          </p:nvSpPr>
          <p:spPr bwMode="auto">
            <a:xfrm rot="6151208">
              <a:off x="4671" y="1956"/>
              <a:ext cx="182" cy="136"/>
            </a:xfrm>
            <a:prstGeom prst="line">
              <a:avLst/>
            </a:prstGeom>
            <a:noFill/>
            <a:ln w="25400" cap="sq">
              <a:solidFill>
                <a:srgbClr val="FF0000"/>
              </a:solidFill>
              <a:round/>
              <a:headEnd type="none" w="sm" len="sm"/>
              <a:tailEnd type="triangle" w="med" len="lg"/>
            </a:ln>
          </p:spPr>
          <p:txBody>
            <a:bodyPr/>
            <a:lstStyle/>
            <a:p>
              <a:endParaRPr lang="zh-CN" altLang="en-US"/>
            </a:p>
          </p:txBody>
        </p:sp>
        <p:sp>
          <p:nvSpPr>
            <p:cNvPr id="76821" name="AutoShape 64"/>
            <p:cNvSpPr>
              <a:spLocks noChangeArrowheads="1"/>
            </p:cNvSpPr>
            <p:nvPr/>
          </p:nvSpPr>
          <p:spPr bwMode="auto">
            <a:xfrm>
              <a:off x="4059" y="2704"/>
              <a:ext cx="1180" cy="363"/>
            </a:xfrm>
            <a:prstGeom prst="cloudCallout">
              <a:avLst>
                <a:gd name="adj1" fmla="val -30676"/>
                <a:gd name="adj2" fmla="val -103995"/>
              </a:avLst>
            </a:prstGeom>
            <a:noFill/>
            <a:ln w="47625" cap="sq">
              <a:solidFill>
                <a:srgbClr val="00CCFF"/>
              </a:solidFill>
              <a:round/>
              <a:headEnd type="none" w="sm" len="sm"/>
              <a:tailEnd type="none" w="sm" len="sm"/>
            </a:ln>
            <a:effectLst>
              <a:outerShdw dist="52363" dir="842175" algn="ctr" rotWithShape="0">
                <a:srgbClr val="B2B2B2"/>
              </a:outerShdw>
            </a:effectLst>
          </p:spPr>
          <p:txBody>
            <a:bodyPr wrap="none" anchor="ctr"/>
            <a:lstStyle/>
            <a:p>
              <a:pPr algn="ctr"/>
              <a:endParaRPr lang="zh-CN" altLang="en-US" sz="2400" b="1">
                <a:ea typeface="黑体" pitchFamily="2" charset="-122"/>
              </a:endParaRPr>
            </a:p>
          </p:txBody>
        </p:sp>
        <p:sp>
          <p:nvSpPr>
            <p:cNvPr id="76822" name="Text Box 65"/>
            <p:cNvSpPr txBox="1">
              <a:spLocks noChangeArrowheads="1"/>
            </p:cNvSpPr>
            <p:nvPr/>
          </p:nvSpPr>
          <p:spPr bwMode="auto">
            <a:xfrm>
              <a:off x="4175" y="2720"/>
              <a:ext cx="1284" cy="298"/>
            </a:xfrm>
            <a:prstGeom prst="rect">
              <a:avLst/>
            </a:prstGeom>
            <a:noFill/>
            <a:ln w="12700" cap="sq">
              <a:noFill/>
              <a:miter lim="800000"/>
              <a:headEnd type="none" w="sm" len="sm"/>
              <a:tailEnd type="none" w="sm" len="sm"/>
            </a:ln>
            <a:effectLst>
              <a:outerShdw dist="12700" algn="ctr" rotWithShape="0">
                <a:srgbClr val="000000"/>
              </a:outerShdw>
            </a:effectLst>
          </p:spPr>
          <p:txBody>
            <a:bodyPr>
              <a:spAutoFit/>
            </a:bodyPr>
            <a:lstStyle/>
            <a:p>
              <a:r>
                <a:rPr lang="zh-CN" altLang="en-US" sz="2500" b="1">
                  <a:solidFill>
                    <a:srgbClr val="FF0000"/>
                  </a:solidFill>
                  <a:ea typeface="黑体" pitchFamily="2" charset="-122"/>
                </a:rPr>
                <a:t>队尾元素</a:t>
              </a:r>
            </a:p>
          </p:txBody>
        </p:sp>
        <p:sp>
          <p:nvSpPr>
            <p:cNvPr id="76823" name="AutoShape 66"/>
            <p:cNvSpPr>
              <a:spLocks noChangeArrowheads="1"/>
            </p:cNvSpPr>
            <p:nvPr/>
          </p:nvSpPr>
          <p:spPr bwMode="auto">
            <a:xfrm>
              <a:off x="748" y="2696"/>
              <a:ext cx="1180" cy="363"/>
            </a:xfrm>
            <a:prstGeom prst="cloudCallout">
              <a:avLst>
                <a:gd name="adj1" fmla="val 17458"/>
                <a:gd name="adj2" fmla="val -103995"/>
              </a:avLst>
            </a:prstGeom>
            <a:noFill/>
            <a:ln w="47625" cap="sq">
              <a:solidFill>
                <a:srgbClr val="00CCFF"/>
              </a:solidFill>
              <a:round/>
              <a:headEnd type="none" w="sm" len="sm"/>
              <a:tailEnd type="none" w="sm" len="sm"/>
            </a:ln>
            <a:effectLst>
              <a:outerShdw dist="40161" dir="1106097" algn="ctr" rotWithShape="0">
                <a:srgbClr val="B2B2B2"/>
              </a:outerShdw>
            </a:effectLst>
          </p:spPr>
          <p:txBody>
            <a:bodyPr wrap="none" anchor="ctr"/>
            <a:lstStyle/>
            <a:p>
              <a:pPr algn="ctr"/>
              <a:endParaRPr lang="zh-CN" altLang="en-US" sz="2400" b="1">
                <a:ea typeface="黑体" pitchFamily="2" charset="-122"/>
              </a:endParaRPr>
            </a:p>
          </p:txBody>
        </p:sp>
        <p:sp>
          <p:nvSpPr>
            <p:cNvPr id="76824" name="Text Box 67"/>
            <p:cNvSpPr txBox="1">
              <a:spLocks noChangeArrowheads="1"/>
            </p:cNvSpPr>
            <p:nvPr/>
          </p:nvSpPr>
          <p:spPr bwMode="auto">
            <a:xfrm>
              <a:off x="856" y="2704"/>
              <a:ext cx="1284" cy="298"/>
            </a:xfrm>
            <a:prstGeom prst="rect">
              <a:avLst/>
            </a:prstGeom>
            <a:noFill/>
            <a:ln w="12700" cap="sq">
              <a:noFill/>
              <a:miter lim="800000"/>
              <a:headEnd type="none" w="sm" len="sm"/>
              <a:tailEnd type="none" w="sm" len="sm"/>
            </a:ln>
            <a:effectLst>
              <a:outerShdw dist="12700" algn="ctr" rotWithShape="0">
                <a:srgbClr val="000000"/>
              </a:outerShdw>
            </a:effectLst>
          </p:spPr>
          <p:txBody>
            <a:bodyPr>
              <a:spAutoFit/>
            </a:bodyPr>
            <a:lstStyle/>
            <a:p>
              <a:r>
                <a:rPr lang="zh-CN" altLang="en-US" sz="2500" b="1">
                  <a:solidFill>
                    <a:srgbClr val="FF0000"/>
                  </a:solidFill>
                  <a:ea typeface="黑体" pitchFamily="2" charset="-122"/>
                </a:rPr>
                <a:t>队头元素</a:t>
              </a:r>
            </a:p>
          </p:txBody>
        </p:sp>
      </p:grpSp>
    </p:spTree>
  </p:cSld>
  <p:clrMapOvr>
    <a:masterClrMapping/>
  </p:clrMapOvr>
  <p:transition>
    <p:pull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7"/>
          <p:cNvGrpSpPr>
            <a:grpSpLocks/>
          </p:cNvGrpSpPr>
          <p:nvPr/>
        </p:nvGrpSpPr>
        <p:grpSpPr bwMode="auto">
          <a:xfrm>
            <a:off x="1487488" y="1124744"/>
            <a:ext cx="7297926" cy="3522149"/>
            <a:chOff x="884" y="763"/>
            <a:chExt cx="3891" cy="1664"/>
          </a:xfrm>
        </p:grpSpPr>
        <p:sp>
          <p:nvSpPr>
            <p:cNvPr id="77827" name="Rectangle 3"/>
            <p:cNvSpPr>
              <a:spLocks noChangeArrowheads="1"/>
            </p:cNvSpPr>
            <p:nvPr/>
          </p:nvSpPr>
          <p:spPr bwMode="auto">
            <a:xfrm>
              <a:off x="1421" y="1227"/>
              <a:ext cx="3354" cy="1200"/>
            </a:xfrm>
            <a:prstGeom prst="rect">
              <a:avLst/>
            </a:prstGeom>
            <a:solidFill>
              <a:srgbClr val="B5FFF1"/>
            </a:solidFill>
            <a:ln w="12700" cap="sq">
              <a:noFill/>
              <a:miter lim="800000"/>
              <a:headEnd/>
              <a:tailEnd/>
            </a:ln>
            <a:effectLst>
              <a:outerShdw dist="197566" dir="2700000" algn="ctr" rotWithShape="0">
                <a:srgbClr val="C0C0C0"/>
              </a:outerShdw>
            </a:effectLst>
          </p:spPr>
          <p:txBody>
            <a:bodyPr wrap="none" anchor="ctr"/>
            <a:lstStyle/>
            <a:p>
              <a:endParaRPr lang="zh-CN" altLang="en-US"/>
            </a:p>
          </p:txBody>
        </p:sp>
        <p:sp>
          <p:nvSpPr>
            <p:cNvPr id="77828" name="Text Box 4"/>
            <p:cNvSpPr txBox="1">
              <a:spLocks noChangeArrowheads="1"/>
            </p:cNvSpPr>
            <p:nvPr/>
          </p:nvSpPr>
          <p:spPr bwMode="auto">
            <a:xfrm>
              <a:off x="1770" y="1222"/>
              <a:ext cx="2803" cy="1178"/>
            </a:xfrm>
            <a:prstGeom prst="rect">
              <a:avLst/>
            </a:prstGeom>
            <a:noFill/>
            <a:ln w="12700" cap="sq">
              <a:noFill/>
              <a:miter lim="800000"/>
              <a:headEnd/>
              <a:tailEnd/>
            </a:ln>
          </p:spPr>
          <p:txBody>
            <a:bodyPr wrap="square">
              <a:spAutoFit/>
            </a:bodyPr>
            <a:lstStyle/>
            <a:p>
              <a:pPr fontAlgn="t">
                <a:lnSpc>
                  <a:spcPct val="90000"/>
                </a:lnSpc>
              </a:pPr>
              <a:r>
                <a:rPr lang="en-US" altLang="zh-CN" sz="4000" b="1" baseline="-10000" dirty="0" err="1">
                  <a:solidFill>
                    <a:srgbClr val="002B80"/>
                  </a:solidFill>
                </a:rPr>
                <a:t>struct</a:t>
              </a:r>
              <a:r>
                <a:rPr lang="en-US" altLang="zh-CN" sz="4000" b="1" baseline="-10000" dirty="0">
                  <a:solidFill>
                    <a:srgbClr val="002B80"/>
                  </a:solidFill>
                </a:rPr>
                <a:t>  node { </a:t>
              </a:r>
            </a:p>
            <a:p>
              <a:pPr fontAlgn="t">
                <a:lnSpc>
                  <a:spcPct val="90000"/>
                </a:lnSpc>
              </a:pPr>
              <a:r>
                <a:rPr lang="en-US" altLang="zh-CN" sz="4000" b="1" baseline="-10000" dirty="0">
                  <a:solidFill>
                    <a:srgbClr val="002B80"/>
                  </a:solidFill>
                </a:rPr>
                <a:t>        </a:t>
              </a:r>
              <a:r>
                <a:rPr lang="en-US" altLang="zh-CN" sz="4000" b="1" baseline="-10000" dirty="0" err="1">
                  <a:solidFill>
                    <a:srgbClr val="002B80"/>
                  </a:solidFill>
                </a:rPr>
                <a:t>ElmeType</a:t>
              </a:r>
              <a:r>
                <a:rPr lang="en-US" altLang="zh-CN" sz="4000" b="1" baseline="-10000" dirty="0">
                  <a:solidFill>
                    <a:srgbClr val="002B80"/>
                  </a:solidFill>
                </a:rPr>
                <a:t>   data;</a:t>
              </a:r>
            </a:p>
            <a:p>
              <a:pPr fontAlgn="t">
                <a:lnSpc>
                  <a:spcPct val="90000"/>
                </a:lnSpc>
              </a:pPr>
              <a:r>
                <a:rPr lang="en-US" altLang="zh-CN" sz="4000" b="1" baseline="-10000" dirty="0">
                  <a:solidFill>
                    <a:srgbClr val="002B80"/>
                  </a:solidFill>
                </a:rPr>
                <a:t>        </a:t>
              </a:r>
              <a:r>
                <a:rPr lang="en-US" altLang="zh-CN" sz="4000" b="1" baseline="-10000" dirty="0" err="1">
                  <a:solidFill>
                    <a:srgbClr val="002B80"/>
                  </a:solidFill>
                </a:rPr>
                <a:t>struct</a:t>
              </a:r>
              <a:r>
                <a:rPr lang="en-US" altLang="zh-CN" sz="4000" b="1" baseline="-10000" dirty="0">
                  <a:solidFill>
                    <a:srgbClr val="002B80"/>
                  </a:solidFill>
                </a:rPr>
                <a:t>  node   *link;</a:t>
              </a:r>
            </a:p>
            <a:p>
              <a:pPr fontAlgn="t">
                <a:lnSpc>
                  <a:spcPct val="90000"/>
                </a:lnSpc>
              </a:pPr>
              <a:r>
                <a:rPr lang="en-US" altLang="zh-CN" sz="4000" b="1" baseline="-10000" dirty="0">
                  <a:solidFill>
                    <a:srgbClr val="002B80"/>
                  </a:solidFill>
                </a:rPr>
                <a:t>}</a:t>
              </a:r>
            </a:p>
            <a:p>
              <a:pPr fontAlgn="t">
                <a:lnSpc>
                  <a:spcPct val="90000"/>
                </a:lnSpc>
              </a:pPr>
              <a:r>
                <a:rPr lang="en-US" altLang="zh-CN" sz="4000" b="1" baseline="-10000" dirty="0">
                  <a:solidFill>
                    <a:srgbClr val="002B80"/>
                  </a:solidFill>
                </a:rPr>
                <a:t> </a:t>
              </a:r>
              <a:r>
                <a:rPr lang="en-US" altLang="zh-CN" sz="4000" b="1" baseline="-10000" dirty="0" err="1">
                  <a:solidFill>
                    <a:srgbClr val="002B80"/>
                  </a:solidFill>
                </a:rPr>
                <a:t>typedef</a:t>
              </a:r>
              <a:r>
                <a:rPr lang="en-US" altLang="zh-CN" sz="4000" b="1" baseline="-10000" dirty="0">
                  <a:solidFill>
                    <a:srgbClr val="002B80"/>
                  </a:solidFill>
                </a:rPr>
                <a:t> </a:t>
              </a:r>
              <a:r>
                <a:rPr lang="en-US" altLang="zh-CN" sz="4000" b="1" baseline="-10000" dirty="0" err="1">
                  <a:solidFill>
                    <a:srgbClr val="002B80"/>
                  </a:solidFill>
                </a:rPr>
                <a:t>struct</a:t>
              </a:r>
              <a:r>
                <a:rPr lang="en-US" altLang="zh-CN" sz="4000" b="1" baseline="-10000" dirty="0">
                  <a:solidFill>
                    <a:srgbClr val="002B80"/>
                  </a:solidFill>
                </a:rPr>
                <a:t> node </a:t>
              </a:r>
              <a:r>
                <a:rPr lang="en-US" altLang="zh-CN" sz="4000" b="1" dirty="0">
                  <a:solidFill>
                    <a:srgbClr val="002B80"/>
                  </a:solidFill>
                </a:rPr>
                <a:t> </a:t>
              </a:r>
              <a:r>
                <a:rPr lang="en-US" altLang="zh-CN" sz="4000" b="1" baseline="-10000" dirty="0" err="1">
                  <a:solidFill>
                    <a:srgbClr val="FF0000"/>
                  </a:solidFill>
                </a:rPr>
                <a:t>QNode</a:t>
              </a:r>
              <a:r>
                <a:rPr lang="en-US" altLang="zh-CN" sz="4000" b="1" baseline="-10000" dirty="0">
                  <a:solidFill>
                    <a:srgbClr val="002B80"/>
                  </a:solidFill>
                </a:rPr>
                <a:t>; </a:t>
              </a:r>
              <a:r>
                <a:rPr lang="en-US" altLang="zh-CN" sz="4000" b="1" baseline="-10000" dirty="0" err="1">
                  <a:solidFill>
                    <a:srgbClr val="002B80"/>
                  </a:solidFill>
                </a:rPr>
                <a:t>typedef</a:t>
              </a:r>
              <a:r>
                <a:rPr lang="en-US" altLang="zh-CN" sz="4000" b="1" baseline="-10000" dirty="0">
                  <a:solidFill>
                    <a:srgbClr val="002B80"/>
                  </a:solidFill>
                </a:rPr>
                <a:t> </a:t>
              </a:r>
              <a:r>
                <a:rPr lang="en-US" altLang="zh-CN" sz="4000" b="1" baseline="-10000" dirty="0" err="1">
                  <a:solidFill>
                    <a:srgbClr val="002B80"/>
                  </a:solidFill>
                </a:rPr>
                <a:t>struct</a:t>
              </a:r>
              <a:r>
                <a:rPr lang="en-US" altLang="zh-CN" sz="4000" b="1" baseline="-10000" dirty="0">
                  <a:solidFill>
                    <a:srgbClr val="002B80"/>
                  </a:solidFill>
                </a:rPr>
                <a:t> node *</a:t>
              </a:r>
              <a:r>
                <a:rPr lang="en-US" altLang="zh-CN" sz="4000" b="1" baseline="-10000" dirty="0" err="1">
                  <a:solidFill>
                    <a:srgbClr val="002B80"/>
                  </a:solidFill>
                </a:rPr>
                <a:t>Q</a:t>
              </a:r>
              <a:r>
                <a:rPr lang="en-US" altLang="zh-CN" sz="4000" b="1" baseline="-10000" dirty="0" err="1">
                  <a:solidFill>
                    <a:srgbClr val="FF0000"/>
                  </a:solidFill>
                </a:rPr>
                <a:t>Nodeptr</a:t>
              </a:r>
              <a:r>
                <a:rPr lang="en-US" altLang="zh-CN" sz="4000" b="1" baseline="-10000" dirty="0">
                  <a:solidFill>
                    <a:srgbClr val="002B80"/>
                  </a:solidFill>
                </a:rPr>
                <a:t>;</a:t>
              </a:r>
            </a:p>
          </p:txBody>
        </p:sp>
        <p:sp>
          <p:nvSpPr>
            <p:cNvPr id="77829" name="Oval 124"/>
            <p:cNvSpPr>
              <a:spLocks noChangeArrowheads="1"/>
            </p:cNvSpPr>
            <p:nvPr/>
          </p:nvSpPr>
          <p:spPr bwMode="auto">
            <a:xfrm rot="-383283">
              <a:off x="884" y="792"/>
              <a:ext cx="1676" cy="384"/>
            </a:xfrm>
            <a:prstGeom prst="ellipse">
              <a:avLst/>
            </a:prstGeom>
            <a:solidFill>
              <a:srgbClr val="CCFFFF"/>
            </a:solidFill>
            <a:ln w="12700" cap="sq">
              <a:noFill/>
              <a:round/>
              <a:headEnd type="none" w="sm" len="sm"/>
              <a:tailEnd type="none" w="sm" len="sm"/>
            </a:ln>
            <a:effectLst>
              <a:outerShdw dist="63500" dir="2212194" algn="ctr" rotWithShape="0">
                <a:srgbClr val="C0C0C0"/>
              </a:outerShdw>
            </a:effectLst>
          </p:spPr>
          <p:txBody>
            <a:bodyPr wrap="none" anchor="ctr"/>
            <a:lstStyle/>
            <a:p>
              <a:endParaRPr lang="zh-CN" altLang="en-US"/>
            </a:p>
          </p:txBody>
        </p:sp>
        <p:sp>
          <p:nvSpPr>
            <p:cNvPr id="77830" name="Text Box 125"/>
            <p:cNvSpPr txBox="1">
              <a:spLocks noChangeArrowheads="1"/>
            </p:cNvSpPr>
            <p:nvPr/>
          </p:nvSpPr>
          <p:spPr bwMode="auto">
            <a:xfrm rot="21151543">
              <a:off x="1001" y="763"/>
              <a:ext cx="1409" cy="334"/>
            </a:xfrm>
            <a:prstGeom prst="rect">
              <a:avLst/>
            </a:prstGeom>
            <a:noFill/>
            <a:ln w="12700" cap="sq">
              <a:noFill/>
              <a:miter lim="800000"/>
              <a:headEnd/>
              <a:tailEnd/>
            </a:ln>
            <a:effectLst>
              <a:outerShdw dist="17961" dir="2700000" algn="ctr" rotWithShape="0">
                <a:schemeClr val="bg1"/>
              </a:outerShdw>
            </a:effectLst>
          </p:spPr>
          <p:txBody>
            <a:bodyPr wrap="none">
              <a:spAutoFit/>
            </a:bodyPr>
            <a:lstStyle/>
            <a:p>
              <a:pPr fontAlgn="t"/>
              <a:r>
                <a:rPr lang="zh-CN" altLang="en-US" sz="6000" b="1" baseline="-10000">
                  <a:solidFill>
                    <a:srgbClr val="FF3300"/>
                  </a:solidFill>
                  <a:ea typeface="华文新魏" pitchFamily="2" charset="-122"/>
                </a:rPr>
                <a:t>类型定义</a:t>
              </a:r>
            </a:p>
          </p:txBody>
        </p:sp>
      </p:grpSp>
      <p:sp>
        <p:nvSpPr>
          <p:cNvPr id="7" name="TextBox 6"/>
          <p:cNvSpPr txBox="1"/>
          <p:nvPr/>
        </p:nvSpPr>
        <p:spPr>
          <a:xfrm>
            <a:off x="2494681" y="5085184"/>
            <a:ext cx="6290732" cy="1015663"/>
          </a:xfrm>
          <a:prstGeom prst="rect">
            <a:avLst/>
          </a:prstGeom>
          <a:noFill/>
        </p:spPr>
        <p:txBody>
          <a:bodyPr wrap="square" rtlCol="0">
            <a:spAutoFit/>
          </a:bodyPr>
          <a:lstStyle/>
          <a:p>
            <a:r>
              <a:rPr lang="zh-CN" altLang="en-US" sz="2000" b="1" dirty="0"/>
              <a:t>队头及队尾指针</a:t>
            </a:r>
            <a:r>
              <a:rPr lang="en-US" altLang="zh-CN" sz="2000" b="1" dirty="0"/>
              <a:t>front</a:t>
            </a:r>
            <a:r>
              <a:rPr lang="zh-CN" altLang="en-US" sz="2000" b="1" dirty="0"/>
              <a:t>和</a:t>
            </a:r>
            <a:r>
              <a:rPr lang="en-US" altLang="zh-CN" sz="2000" b="1" dirty="0"/>
              <a:t>rear</a:t>
            </a:r>
            <a:r>
              <a:rPr lang="zh-CN" altLang="en-US" sz="2000" b="1" dirty="0"/>
              <a:t>定义如下：</a:t>
            </a:r>
            <a:endParaRPr lang="en-US" altLang="zh-CN" sz="2000" b="1" dirty="0"/>
          </a:p>
          <a:p>
            <a:r>
              <a:rPr lang="en-US" altLang="zh-CN" sz="2000" b="1" dirty="0" err="1">
                <a:solidFill>
                  <a:srgbClr val="7030A0"/>
                </a:solidFill>
              </a:rPr>
              <a:t>QNodeptr</a:t>
            </a:r>
            <a:r>
              <a:rPr lang="en-US" altLang="zh-CN" sz="2000" b="1" dirty="0">
                <a:solidFill>
                  <a:srgbClr val="7030A0"/>
                </a:solidFill>
              </a:rPr>
              <a:t> Front, Rear;  </a:t>
            </a:r>
          </a:p>
          <a:p>
            <a:r>
              <a:rPr lang="zh-CN" altLang="en-US" sz="2000" b="1" dirty="0"/>
              <a:t>为了操作方便，通常将它们定义为</a:t>
            </a:r>
            <a:r>
              <a:rPr lang="zh-CN" altLang="en-US" sz="2000" b="1" dirty="0">
                <a:solidFill>
                  <a:srgbClr val="7030A0"/>
                </a:solidFill>
              </a:rPr>
              <a:t>全局变量</a:t>
            </a:r>
            <a:r>
              <a:rPr lang="en-US" altLang="zh-CN" sz="2000" b="1" dirty="0"/>
              <a:t>  </a:t>
            </a:r>
            <a:endParaRPr lang="zh-CN" altLang="en-US" sz="2000" b="1" dirty="0"/>
          </a:p>
        </p:txBody>
      </p:sp>
    </p:spTree>
  </p:cSld>
  <p:clrMapOvr>
    <a:masterClrMapping/>
  </p:clrMapOvr>
  <p:transition>
    <p:cover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2555875" y="1606550"/>
            <a:ext cx="7391400" cy="2057400"/>
            <a:chOff x="624" y="960"/>
            <a:chExt cx="4656" cy="1296"/>
          </a:xfrm>
        </p:grpSpPr>
        <p:sp>
          <p:nvSpPr>
            <p:cNvPr id="78866" name="Rectangle 3"/>
            <p:cNvSpPr>
              <a:spLocks noChangeArrowheads="1"/>
            </p:cNvSpPr>
            <p:nvPr/>
          </p:nvSpPr>
          <p:spPr bwMode="auto">
            <a:xfrm>
              <a:off x="624" y="960"/>
              <a:ext cx="4656" cy="1296"/>
            </a:xfrm>
            <a:prstGeom prst="rect">
              <a:avLst/>
            </a:prstGeom>
            <a:solidFill>
              <a:srgbClr val="CCFFFF"/>
            </a:solidFill>
            <a:ln w="25400" cap="sq">
              <a:noFill/>
              <a:miter lim="800000"/>
              <a:headEnd type="none" w="sm" len="sm"/>
              <a:tailEnd type="none" w="sm" len="sm"/>
            </a:ln>
            <a:effectLst>
              <a:outerShdw dist="224686" dir="2562563" algn="ctr" rotWithShape="0">
                <a:srgbClr val="C0C0C0"/>
              </a:outerShdw>
            </a:effectLst>
          </p:spPr>
          <p:txBody>
            <a:bodyPr wrap="none" anchor="ctr"/>
            <a:lstStyle/>
            <a:p>
              <a:endParaRPr lang="zh-CN" altLang="en-US"/>
            </a:p>
          </p:txBody>
        </p:sp>
        <p:sp>
          <p:nvSpPr>
            <p:cNvPr id="78867" name="Text Box 4"/>
            <p:cNvSpPr txBox="1">
              <a:spLocks noChangeArrowheads="1"/>
            </p:cNvSpPr>
            <p:nvPr/>
          </p:nvSpPr>
          <p:spPr bwMode="auto">
            <a:xfrm>
              <a:off x="864" y="1120"/>
              <a:ext cx="4272" cy="1018"/>
            </a:xfrm>
            <a:prstGeom prst="rect">
              <a:avLst/>
            </a:prstGeom>
            <a:noFill/>
            <a:ln w="12700" cap="sq">
              <a:noFill/>
              <a:miter lim="800000"/>
              <a:headEnd type="none" w="sm" len="sm"/>
              <a:tailEnd type="none" w="sm" len="sm"/>
            </a:ln>
          </p:spPr>
          <p:txBody>
            <a:bodyPr>
              <a:spAutoFit/>
            </a:bodyPr>
            <a:lstStyle/>
            <a:p>
              <a:pPr>
                <a:lnSpc>
                  <a:spcPct val="80000"/>
                </a:lnSpc>
              </a:pPr>
              <a:r>
                <a:rPr lang="en-US" altLang="zh-CN" sz="2500" b="1" dirty="0">
                  <a:solidFill>
                    <a:srgbClr val="002B80"/>
                  </a:solidFill>
                </a:rPr>
                <a:t>void  </a:t>
              </a:r>
              <a:r>
                <a:rPr lang="en-US" altLang="zh-CN" sz="2500" b="1" dirty="0" err="1">
                  <a:solidFill>
                    <a:srgbClr val="002B80"/>
                  </a:solidFill>
                </a:rPr>
                <a:t>initQueue</a:t>
              </a:r>
              <a:r>
                <a:rPr lang="en-US" altLang="zh-CN" sz="2500" b="1" dirty="0">
                  <a:solidFill>
                    <a:srgbClr val="002B80"/>
                  </a:solidFill>
                </a:rPr>
                <a:t>()</a:t>
              </a:r>
            </a:p>
            <a:p>
              <a:pPr>
                <a:lnSpc>
                  <a:spcPct val="80000"/>
                </a:lnSpc>
              </a:pPr>
              <a:r>
                <a:rPr lang="en-US" altLang="zh-CN" sz="2500" b="1" dirty="0">
                  <a:solidFill>
                    <a:srgbClr val="002B80"/>
                  </a:solidFill>
                </a:rPr>
                <a:t>{</a:t>
              </a:r>
            </a:p>
            <a:p>
              <a:pPr>
                <a:lnSpc>
                  <a:spcPct val="80000"/>
                </a:lnSpc>
              </a:pPr>
              <a:r>
                <a:rPr lang="en-US" altLang="zh-CN" sz="2500" b="1" dirty="0">
                  <a:solidFill>
                    <a:srgbClr val="002B80"/>
                  </a:solidFill>
                </a:rPr>
                <a:t>        Front=NULL;</a:t>
              </a:r>
            </a:p>
            <a:p>
              <a:pPr>
                <a:lnSpc>
                  <a:spcPct val="80000"/>
                </a:lnSpc>
              </a:pPr>
              <a:r>
                <a:rPr lang="en-US" altLang="zh-CN" sz="2500" b="1" dirty="0">
                  <a:solidFill>
                    <a:srgbClr val="002B80"/>
                  </a:solidFill>
                </a:rPr>
                <a:t>        Rear=NULL；</a:t>
              </a:r>
            </a:p>
            <a:p>
              <a:pPr>
                <a:lnSpc>
                  <a:spcPct val="80000"/>
                </a:lnSpc>
              </a:pPr>
              <a:r>
                <a:rPr lang="en-US" altLang="zh-CN" sz="2500" b="1" dirty="0">
                  <a:solidFill>
                    <a:srgbClr val="002B80"/>
                  </a:solidFill>
                </a:rPr>
                <a:t>}</a:t>
              </a:r>
            </a:p>
          </p:txBody>
        </p:sp>
      </p:grpSp>
      <p:grpSp>
        <p:nvGrpSpPr>
          <p:cNvPr id="3" name="Group 5"/>
          <p:cNvGrpSpPr>
            <a:grpSpLocks/>
          </p:cNvGrpSpPr>
          <p:nvPr/>
        </p:nvGrpSpPr>
        <p:grpSpPr bwMode="auto">
          <a:xfrm>
            <a:off x="2555875" y="4495800"/>
            <a:ext cx="7391400" cy="1828800"/>
            <a:chOff x="624" y="2832"/>
            <a:chExt cx="4656" cy="1152"/>
          </a:xfrm>
        </p:grpSpPr>
        <p:sp>
          <p:nvSpPr>
            <p:cNvPr id="78864" name="Rectangle 6"/>
            <p:cNvSpPr>
              <a:spLocks noChangeArrowheads="1"/>
            </p:cNvSpPr>
            <p:nvPr/>
          </p:nvSpPr>
          <p:spPr bwMode="auto">
            <a:xfrm>
              <a:off x="624" y="2832"/>
              <a:ext cx="4656" cy="1152"/>
            </a:xfrm>
            <a:prstGeom prst="rect">
              <a:avLst/>
            </a:prstGeom>
            <a:solidFill>
              <a:srgbClr val="FFEAD5"/>
            </a:solidFill>
            <a:ln w="25400" cap="sq">
              <a:noFill/>
              <a:miter lim="800000"/>
              <a:headEnd type="none" w="sm" len="sm"/>
              <a:tailEnd type="none" w="sm" len="sm"/>
            </a:ln>
            <a:effectLst>
              <a:outerShdw dist="197566" dir="2700000" algn="ctr" rotWithShape="0">
                <a:srgbClr val="C0C0C0"/>
              </a:outerShdw>
            </a:effectLst>
          </p:spPr>
          <p:txBody>
            <a:bodyPr wrap="none" anchor="ctr"/>
            <a:lstStyle/>
            <a:p>
              <a:endParaRPr lang="zh-CN" altLang="en-US"/>
            </a:p>
          </p:txBody>
        </p:sp>
        <p:sp>
          <p:nvSpPr>
            <p:cNvPr id="78865" name="Text Box 7"/>
            <p:cNvSpPr txBox="1">
              <a:spLocks noChangeArrowheads="1"/>
            </p:cNvSpPr>
            <p:nvPr/>
          </p:nvSpPr>
          <p:spPr bwMode="auto">
            <a:xfrm>
              <a:off x="897" y="2995"/>
              <a:ext cx="3072" cy="874"/>
            </a:xfrm>
            <a:prstGeom prst="rect">
              <a:avLst/>
            </a:prstGeom>
            <a:noFill/>
            <a:ln w="12700" cap="sq">
              <a:noFill/>
              <a:miter lim="800000"/>
              <a:headEnd type="none" w="sm" len="sm"/>
              <a:tailEnd type="none" w="sm" len="sm"/>
            </a:ln>
          </p:spPr>
          <p:txBody>
            <a:bodyPr>
              <a:spAutoFit/>
            </a:bodyPr>
            <a:lstStyle/>
            <a:p>
              <a:pPr>
                <a:lnSpc>
                  <a:spcPct val="85000"/>
                </a:lnSpc>
              </a:pPr>
              <a:r>
                <a:rPr lang="en-US" altLang="zh-CN" sz="2500" b="1" dirty="0" err="1">
                  <a:solidFill>
                    <a:srgbClr val="002B80"/>
                  </a:solidFill>
                </a:rPr>
                <a:t>int</a:t>
              </a:r>
              <a:r>
                <a:rPr lang="en-US" altLang="zh-CN" sz="2500" b="1" dirty="0">
                  <a:solidFill>
                    <a:srgbClr val="002B80"/>
                  </a:solidFill>
                </a:rPr>
                <a:t>  </a:t>
              </a:r>
              <a:r>
                <a:rPr lang="en-US" altLang="zh-CN" sz="2500" b="1" dirty="0" err="1">
                  <a:solidFill>
                    <a:srgbClr val="002B80"/>
                  </a:solidFill>
                </a:rPr>
                <a:t>isEmpty</a:t>
              </a:r>
              <a:r>
                <a:rPr lang="en-US" altLang="zh-CN" sz="2500" b="1" dirty="0">
                  <a:solidFill>
                    <a:srgbClr val="002B80"/>
                  </a:solidFill>
                </a:rPr>
                <a:t>()</a:t>
              </a:r>
            </a:p>
            <a:p>
              <a:pPr>
                <a:lnSpc>
                  <a:spcPct val="85000"/>
                </a:lnSpc>
              </a:pPr>
              <a:r>
                <a:rPr lang="en-US" altLang="zh-CN" sz="2500" b="1" dirty="0">
                  <a:solidFill>
                    <a:srgbClr val="002B80"/>
                  </a:solidFill>
                </a:rPr>
                <a:t>{</a:t>
              </a:r>
            </a:p>
            <a:p>
              <a:pPr>
                <a:lnSpc>
                  <a:spcPct val="85000"/>
                </a:lnSpc>
              </a:pPr>
              <a:r>
                <a:rPr lang="en-US" altLang="zh-CN" sz="2500" b="1" dirty="0">
                  <a:solidFill>
                    <a:srgbClr val="002B80"/>
                  </a:solidFill>
                </a:rPr>
                <a:t>        return Front==NULL;</a:t>
              </a:r>
            </a:p>
            <a:p>
              <a:pPr>
                <a:lnSpc>
                  <a:spcPct val="85000"/>
                </a:lnSpc>
              </a:pPr>
              <a:r>
                <a:rPr lang="en-US" altLang="zh-CN" sz="2500" b="1" dirty="0">
                  <a:solidFill>
                    <a:srgbClr val="002B80"/>
                  </a:solidFill>
                </a:rPr>
                <a:t>}</a:t>
              </a:r>
            </a:p>
          </p:txBody>
        </p:sp>
      </p:grpSp>
      <p:grpSp>
        <p:nvGrpSpPr>
          <p:cNvPr id="4" name="Group 8"/>
          <p:cNvGrpSpPr>
            <a:grpSpLocks/>
          </p:cNvGrpSpPr>
          <p:nvPr/>
        </p:nvGrpSpPr>
        <p:grpSpPr bwMode="auto">
          <a:xfrm>
            <a:off x="7832726" y="4641850"/>
            <a:ext cx="2378075" cy="838200"/>
            <a:chOff x="3948" y="2928"/>
            <a:chExt cx="1498" cy="528"/>
          </a:xfrm>
        </p:grpSpPr>
        <p:sp>
          <p:nvSpPr>
            <p:cNvPr id="78862" name="AutoShape 9"/>
            <p:cNvSpPr>
              <a:spLocks noChangeArrowheads="1"/>
            </p:cNvSpPr>
            <p:nvPr/>
          </p:nvSpPr>
          <p:spPr bwMode="auto">
            <a:xfrm>
              <a:off x="3948" y="2928"/>
              <a:ext cx="1236" cy="528"/>
            </a:xfrm>
            <a:prstGeom prst="wedgeRectCallout">
              <a:avLst>
                <a:gd name="adj1" fmla="val -96602"/>
                <a:gd name="adj2" fmla="val 47727"/>
              </a:avLst>
            </a:prstGeom>
            <a:noFill/>
            <a:ln w="63500" cap="sq">
              <a:solidFill>
                <a:srgbClr val="33CCCC"/>
              </a:solidFill>
              <a:miter lim="800000"/>
              <a:headEnd type="none" w="sm" len="sm"/>
              <a:tailEnd type="none" w="sm" len="sm"/>
            </a:ln>
          </p:spPr>
          <p:txBody>
            <a:bodyPr/>
            <a:lstStyle/>
            <a:p>
              <a:pPr algn="ctr"/>
              <a:endParaRPr lang="zh-CN" altLang="en-US"/>
            </a:p>
          </p:txBody>
        </p:sp>
        <p:sp>
          <p:nvSpPr>
            <p:cNvPr id="78863" name="Text Box 10"/>
            <p:cNvSpPr txBox="1">
              <a:spLocks noChangeArrowheads="1"/>
            </p:cNvSpPr>
            <p:nvPr/>
          </p:nvSpPr>
          <p:spPr bwMode="auto">
            <a:xfrm>
              <a:off x="4054" y="2958"/>
              <a:ext cx="1392" cy="477"/>
            </a:xfrm>
            <a:prstGeom prst="rect">
              <a:avLst/>
            </a:prstGeom>
            <a:noFill/>
            <a:ln w="12700" cap="sq">
              <a:noFill/>
              <a:miter lim="800000"/>
              <a:headEnd type="none" w="sm" len="sm"/>
              <a:tailEnd type="none" w="sm" len="sm"/>
            </a:ln>
          </p:spPr>
          <p:txBody>
            <a:bodyPr>
              <a:spAutoFit/>
            </a:bodyPr>
            <a:lstStyle/>
            <a:p>
              <a:pPr>
                <a:lnSpc>
                  <a:spcPct val="90000"/>
                </a:lnSpc>
              </a:pPr>
              <a:r>
                <a:rPr lang="zh-CN" altLang="en-US" sz="2400" b="1">
                  <a:solidFill>
                    <a:schemeClr val="accent2"/>
                  </a:solidFill>
                  <a:ea typeface="黑体" pitchFamily="2" charset="-122"/>
                </a:rPr>
                <a:t>队空,返回1</a:t>
              </a:r>
            </a:p>
            <a:p>
              <a:pPr>
                <a:lnSpc>
                  <a:spcPct val="90000"/>
                </a:lnSpc>
              </a:pPr>
              <a:r>
                <a:rPr lang="zh-CN" altLang="en-US" sz="2400" b="1">
                  <a:solidFill>
                    <a:schemeClr val="accent2"/>
                  </a:solidFill>
                  <a:ea typeface="黑体" pitchFamily="2" charset="-122"/>
                </a:rPr>
                <a:t>否则,返回0</a:t>
              </a:r>
            </a:p>
          </p:txBody>
        </p:sp>
      </p:grpSp>
      <p:grpSp>
        <p:nvGrpSpPr>
          <p:cNvPr id="5" name="Group 11"/>
          <p:cNvGrpSpPr>
            <a:grpSpLocks/>
          </p:cNvGrpSpPr>
          <p:nvPr/>
        </p:nvGrpSpPr>
        <p:grpSpPr bwMode="auto">
          <a:xfrm>
            <a:off x="1052584" y="117877"/>
            <a:ext cx="3433763" cy="549275"/>
            <a:chOff x="284" y="828"/>
            <a:chExt cx="1728" cy="346"/>
          </a:xfrm>
        </p:grpSpPr>
        <p:sp>
          <p:nvSpPr>
            <p:cNvPr id="78860" name="Oval 12"/>
            <p:cNvSpPr>
              <a:spLocks noChangeArrowheads="1"/>
            </p:cNvSpPr>
            <p:nvPr/>
          </p:nvSpPr>
          <p:spPr bwMode="auto">
            <a:xfrm>
              <a:off x="284" y="838"/>
              <a:ext cx="1728" cy="336"/>
            </a:xfrm>
            <a:prstGeom prst="ellipse">
              <a:avLst/>
            </a:prstGeom>
            <a:solidFill>
              <a:srgbClr val="CFCFCF"/>
            </a:solidFill>
            <a:ln w="12700" cap="sq">
              <a:noFill/>
              <a:round/>
              <a:headEnd type="none" w="sm" len="sm"/>
              <a:tailEnd type="none" w="sm" len="sm"/>
            </a:ln>
            <a:effectLst>
              <a:outerShdw dist="108509" dir="1233363" algn="ctr" rotWithShape="0">
                <a:srgbClr val="969696"/>
              </a:outerShdw>
            </a:effectLst>
          </p:spPr>
          <p:txBody>
            <a:bodyPr wrap="none" anchor="ctr"/>
            <a:lstStyle/>
            <a:p>
              <a:endParaRPr lang="zh-CN" altLang="en-US"/>
            </a:p>
          </p:txBody>
        </p:sp>
        <p:sp>
          <p:nvSpPr>
            <p:cNvPr id="78861" name="Rectangle 13"/>
            <p:cNvSpPr>
              <a:spLocks noChangeArrowheads="1"/>
            </p:cNvSpPr>
            <p:nvPr/>
          </p:nvSpPr>
          <p:spPr bwMode="auto">
            <a:xfrm>
              <a:off x="360" y="828"/>
              <a:ext cx="1560" cy="346"/>
            </a:xfrm>
            <a:prstGeom prst="rect">
              <a:avLst/>
            </a:prstGeom>
            <a:noFill/>
            <a:ln w="12700" cap="sq">
              <a:noFill/>
              <a:miter lim="800000"/>
              <a:headEnd type="none" w="sm" len="sm"/>
              <a:tailEnd type="none" w="sm" len="sm"/>
            </a:ln>
          </p:spPr>
          <p:txBody>
            <a:bodyPr>
              <a:spAutoFit/>
            </a:bodyPr>
            <a:lstStyle/>
            <a:p>
              <a:r>
                <a:rPr kumimoji="1" lang="en-US" altLang="zh-CN" sz="3000" b="1" dirty="0">
                  <a:solidFill>
                    <a:srgbClr val="003399"/>
                  </a:solidFill>
                  <a:latin typeface="黑体" pitchFamily="2" charset="-122"/>
                  <a:ea typeface="黑体" pitchFamily="2" charset="-122"/>
                </a:rPr>
                <a:t>(</a:t>
              </a:r>
              <a:r>
                <a:rPr kumimoji="1" lang="zh-CN" altLang="en-US" sz="3000" b="1" dirty="0">
                  <a:solidFill>
                    <a:srgbClr val="003399"/>
                  </a:solidFill>
                  <a:latin typeface="黑体" pitchFamily="2" charset="-122"/>
                  <a:ea typeface="黑体" pitchFamily="2" charset="-122"/>
                </a:rPr>
                <a:t>二</a:t>
              </a:r>
              <a:r>
                <a:rPr kumimoji="1" lang="en-US" altLang="zh-CN" sz="3000" b="1" dirty="0">
                  <a:solidFill>
                    <a:srgbClr val="003399"/>
                  </a:solidFill>
                  <a:latin typeface="黑体" pitchFamily="2" charset="-122"/>
                  <a:ea typeface="黑体" pitchFamily="2" charset="-122"/>
                </a:rPr>
                <a:t>)</a:t>
              </a:r>
              <a:r>
                <a:rPr kumimoji="1" lang="zh-CN" altLang="en-US" sz="3000" b="1" dirty="0">
                  <a:solidFill>
                    <a:srgbClr val="003399"/>
                  </a:solidFill>
                  <a:latin typeface="黑体" pitchFamily="2" charset="-122"/>
                  <a:ea typeface="黑体" pitchFamily="2" charset="-122"/>
                </a:rPr>
                <a:t>基本算法</a:t>
              </a:r>
            </a:p>
          </p:txBody>
        </p:sp>
      </p:grpSp>
      <p:grpSp>
        <p:nvGrpSpPr>
          <p:cNvPr id="6" name="Group 14"/>
          <p:cNvGrpSpPr>
            <a:grpSpLocks/>
          </p:cNvGrpSpPr>
          <p:nvPr/>
        </p:nvGrpSpPr>
        <p:grpSpPr bwMode="auto">
          <a:xfrm>
            <a:off x="2098675" y="966788"/>
            <a:ext cx="3505200" cy="647700"/>
            <a:chOff x="1584" y="480"/>
            <a:chExt cx="2208" cy="408"/>
          </a:xfrm>
        </p:grpSpPr>
        <p:sp>
          <p:nvSpPr>
            <p:cNvPr id="78858" name="AutoShape 15"/>
            <p:cNvSpPr>
              <a:spLocks noChangeArrowheads="1"/>
            </p:cNvSpPr>
            <p:nvPr/>
          </p:nvSpPr>
          <p:spPr bwMode="auto">
            <a:xfrm>
              <a:off x="1584" y="480"/>
              <a:ext cx="2208" cy="408"/>
            </a:xfrm>
            <a:prstGeom prst="cloudCallout">
              <a:avLst>
                <a:gd name="adj1" fmla="val 8153"/>
                <a:gd name="adj2" fmla="val 40194"/>
              </a:avLst>
            </a:prstGeom>
            <a:solidFill>
              <a:srgbClr val="EEDDFF"/>
            </a:solidFill>
            <a:ln w="12700" cap="sq">
              <a:noFill/>
              <a:round/>
              <a:headEnd type="none" w="sm" len="sm"/>
              <a:tailEnd type="none" w="sm" len="sm"/>
            </a:ln>
            <a:effectLst>
              <a:outerShdw dist="96720" dir="1391915" algn="ctr" rotWithShape="0">
                <a:srgbClr val="C0C0C0"/>
              </a:outerShdw>
            </a:effectLst>
          </p:spPr>
          <p:txBody>
            <a:bodyPr/>
            <a:lstStyle/>
            <a:p>
              <a:pPr algn="ctr"/>
              <a:endParaRPr lang="zh-CN" altLang="en-US" sz="2400" b="1"/>
            </a:p>
          </p:txBody>
        </p:sp>
        <p:sp>
          <p:nvSpPr>
            <p:cNvPr id="78859" name="Text Box 16"/>
            <p:cNvSpPr txBox="1">
              <a:spLocks noChangeArrowheads="1"/>
            </p:cNvSpPr>
            <p:nvPr/>
          </p:nvSpPr>
          <p:spPr bwMode="auto">
            <a:xfrm>
              <a:off x="1827" y="504"/>
              <a:ext cx="1965" cy="356"/>
            </a:xfrm>
            <a:prstGeom prst="rect">
              <a:avLst/>
            </a:prstGeom>
            <a:noFill/>
            <a:ln w="12700" cap="sq">
              <a:noFill/>
              <a:miter lim="800000"/>
              <a:headEnd type="none" w="sm" len="sm"/>
              <a:tailEnd type="none" w="sm" len="sm"/>
            </a:ln>
          </p:spPr>
          <p:txBody>
            <a:bodyPr>
              <a:spAutoFit/>
            </a:bodyPr>
            <a:lstStyle/>
            <a:p>
              <a:pPr eaLnBrk="1" hangingPunct="1"/>
              <a:r>
                <a:rPr kumimoji="1" lang="zh-CN" altLang="en-US" sz="3100" b="1">
                  <a:solidFill>
                    <a:schemeClr val="accent2"/>
                  </a:solidFill>
                </a:rPr>
                <a:t>1. 初始化队列</a:t>
              </a:r>
            </a:p>
          </p:txBody>
        </p:sp>
      </p:grpSp>
      <p:grpSp>
        <p:nvGrpSpPr>
          <p:cNvPr id="7" name="Group 17"/>
          <p:cNvGrpSpPr>
            <a:grpSpLocks/>
          </p:cNvGrpSpPr>
          <p:nvPr/>
        </p:nvGrpSpPr>
        <p:grpSpPr bwMode="auto">
          <a:xfrm>
            <a:off x="2157413" y="3821113"/>
            <a:ext cx="4419600" cy="647700"/>
            <a:chOff x="2448" y="218"/>
            <a:chExt cx="2784" cy="408"/>
          </a:xfrm>
        </p:grpSpPr>
        <p:sp>
          <p:nvSpPr>
            <p:cNvPr id="78856" name="AutoShape 18"/>
            <p:cNvSpPr>
              <a:spLocks noChangeArrowheads="1"/>
            </p:cNvSpPr>
            <p:nvPr/>
          </p:nvSpPr>
          <p:spPr bwMode="auto">
            <a:xfrm>
              <a:off x="2448" y="218"/>
              <a:ext cx="2784" cy="408"/>
            </a:xfrm>
            <a:prstGeom prst="cloudCallout">
              <a:avLst>
                <a:gd name="adj1" fmla="val 13361"/>
                <a:gd name="adj2" fmla="val 40194"/>
              </a:avLst>
            </a:prstGeom>
            <a:solidFill>
              <a:srgbClr val="EEDDFF"/>
            </a:solidFill>
            <a:ln w="12700" cap="sq">
              <a:noFill/>
              <a:round/>
              <a:headEnd type="none" w="sm" len="sm"/>
              <a:tailEnd type="none" w="sm" len="sm"/>
            </a:ln>
            <a:effectLst>
              <a:outerShdw dist="96720" dir="1391915" algn="ctr" rotWithShape="0">
                <a:srgbClr val="C0C0C0"/>
              </a:outerShdw>
            </a:effectLst>
          </p:spPr>
          <p:txBody>
            <a:bodyPr/>
            <a:lstStyle/>
            <a:p>
              <a:pPr algn="ctr"/>
              <a:endParaRPr lang="zh-CN" altLang="en-US" sz="2400" b="1"/>
            </a:p>
          </p:txBody>
        </p:sp>
        <p:sp>
          <p:nvSpPr>
            <p:cNvPr id="78857" name="Text Box 19"/>
            <p:cNvSpPr txBox="1">
              <a:spLocks noChangeArrowheads="1"/>
            </p:cNvSpPr>
            <p:nvPr/>
          </p:nvSpPr>
          <p:spPr bwMode="auto">
            <a:xfrm>
              <a:off x="2640" y="240"/>
              <a:ext cx="2592" cy="356"/>
            </a:xfrm>
            <a:prstGeom prst="rect">
              <a:avLst/>
            </a:prstGeom>
            <a:noFill/>
            <a:ln w="12700" cap="sq">
              <a:noFill/>
              <a:miter lim="800000"/>
              <a:headEnd type="none" w="sm" len="sm"/>
              <a:tailEnd type="none" w="sm" len="sm"/>
            </a:ln>
          </p:spPr>
          <p:txBody>
            <a:bodyPr>
              <a:spAutoFit/>
            </a:bodyPr>
            <a:lstStyle/>
            <a:p>
              <a:pPr eaLnBrk="1" hangingPunct="1"/>
              <a:r>
                <a:rPr kumimoji="1" lang="zh-CN" altLang="en-US" sz="3100" b="1">
                  <a:solidFill>
                    <a:schemeClr val="accent2"/>
                  </a:solidFill>
                </a:rPr>
                <a:t>2. 测试队列是否为空</a:t>
              </a:r>
              <a:endParaRPr kumimoji="1" lang="zh-CN" altLang="en-US" sz="3100">
                <a:solidFill>
                  <a:schemeClr val="accent2"/>
                </a:solidFill>
              </a:endParaRPr>
            </a:p>
          </p:txBody>
        </p:sp>
      </p:gr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right)">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right)">
                                      <p:cBhvr>
                                        <p:cTn id="17" dur="5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ox(out)">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2"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right)">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组合 70"/>
          <p:cNvGrpSpPr/>
          <p:nvPr/>
        </p:nvGrpSpPr>
        <p:grpSpPr>
          <a:xfrm>
            <a:off x="2960688" y="2713039"/>
            <a:ext cx="871892" cy="688975"/>
            <a:chOff x="1436688" y="2713038"/>
            <a:chExt cx="871892" cy="688975"/>
          </a:xfrm>
        </p:grpSpPr>
        <p:grpSp>
          <p:nvGrpSpPr>
            <p:cNvPr id="2" name="Group 5"/>
            <p:cNvGrpSpPr>
              <a:grpSpLocks/>
            </p:cNvGrpSpPr>
            <p:nvPr/>
          </p:nvGrpSpPr>
          <p:grpSpPr bwMode="auto">
            <a:xfrm>
              <a:off x="1462088" y="2713038"/>
              <a:ext cx="838200" cy="688975"/>
              <a:chOff x="816" y="1920"/>
              <a:chExt cx="528" cy="434"/>
            </a:xfrm>
          </p:grpSpPr>
          <p:grpSp>
            <p:nvGrpSpPr>
              <p:cNvPr id="3" name="Group 6"/>
              <p:cNvGrpSpPr>
                <a:grpSpLocks/>
              </p:cNvGrpSpPr>
              <p:nvPr/>
            </p:nvGrpSpPr>
            <p:grpSpPr bwMode="auto">
              <a:xfrm>
                <a:off x="816" y="1920"/>
                <a:ext cx="528" cy="240"/>
                <a:chOff x="1248" y="2208"/>
                <a:chExt cx="528" cy="240"/>
              </a:xfrm>
            </p:grpSpPr>
            <p:sp>
              <p:nvSpPr>
                <p:cNvPr id="79940" name="Rectangle 7"/>
                <p:cNvSpPr>
                  <a:spLocks noChangeArrowheads="1"/>
                </p:cNvSpPr>
                <p:nvPr/>
              </p:nvSpPr>
              <p:spPr bwMode="auto">
                <a:xfrm>
                  <a:off x="1248" y="2208"/>
                  <a:ext cx="336" cy="240"/>
                </a:xfrm>
                <a:prstGeom prst="rect">
                  <a:avLst/>
                </a:prstGeom>
                <a:noFill/>
                <a:ln w="22225" cap="sq">
                  <a:solidFill>
                    <a:srgbClr val="FF0000"/>
                  </a:solidFill>
                  <a:miter lim="800000"/>
                  <a:headEnd type="none" w="sm" len="sm"/>
                  <a:tailEnd type="none" w="sm" len="sm"/>
                </a:ln>
              </p:spPr>
              <p:txBody>
                <a:bodyPr wrap="none" anchor="ctr"/>
                <a:lstStyle/>
                <a:p>
                  <a:endParaRPr lang="zh-CN" altLang="en-US"/>
                </a:p>
              </p:txBody>
            </p:sp>
            <p:sp>
              <p:nvSpPr>
                <p:cNvPr id="79941" name="Rectangle 8"/>
                <p:cNvSpPr>
                  <a:spLocks noChangeArrowheads="1"/>
                </p:cNvSpPr>
                <p:nvPr/>
              </p:nvSpPr>
              <p:spPr bwMode="auto">
                <a:xfrm>
                  <a:off x="1584" y="2208"/>
                  <a:ext cx="192" cy="240"/>
                </a:xfrm>
                <a:prstGeom prst="rect">
                  <a:avLst/>
                </a:prstGeom>
                <a:noFill/>
                <a:ln w="22225" cap="sq">
                  <a:solidFill>
                    <a:srgbClr val="FF0000"/>
                  </a:solidFill>
                  <a:miter lim="800000"/>
                  <a:headEnd type="none" w="sm" len="sm"/>
                  <a:tailEnd type="none" w="sm" len="sm"/>
                </a:ln>
              </p:spPr>
              <p:txBody>
                <a:bodyPr wrap="none" anchor="ctr"/>
                <a:lstStyle/>
                <a:p>
                  <a:endParaRPr lang="zh-CN" altLang="en-US"/>
                </a:p>
              </p:txBody>
            </p:sp>
          </p:grpSp>
          <p:sp>
            <p:nvSpPr>
              <p:cNvPr id="79939" name="Text Box 9"/>
              <p:cNvSpPr txBox="1">
                <a:spLocks noChangeArrowheads="1"/>
              </p:cNvSpPr>
              <p:nvPr/>
            </p:nvSpPr>
            <p:spPr bwMode="auto">
              <a:xfrm>
                <a:off x="864" y="2102"/>
                <a:ext cx="197" cy="252"/>
              </a:xfrm>
              <a:prstGeom prst="rect">
                <a:avLst/>
              </a:prstGeom>
              <a:noFill/>
              <a:ln w="12700" cap="sq">
                <a:noFill/>
                <a:miter lim="800000"/>
                <a:headEnd type="none" w="sm" len="sm"/>
                <a:tailEnd type="none" w="sm" len="sm"/>
              </a:ln>
            </p:spPr>
            <p:txBody>
              <a:bodyPr wrap="none">
                <a:spAutoFit/>
              </a:bodyPr>
              <a:lstStyle/>
              <a:p>
                <a:r>
                  <a:rPr lang="en-US" altLang="zh-CN" sz="2000" b="1">
                    <a:solidFill>
                      <a:srgbClr val="FF3300"/>
                    </a:solidFill>
                  </a:rPr>
                  <a:t>p</a:t>
                </a:r>
              </a:p>
            </p:txBody>
          </p:sp>
        </p:grpSp>
        <p:sp>
          <p:nvSpPr>
            <p:cNvPr id="225290" name="Text Box 10"/>
            <p:cNvSpPr txBox="1">
              <a:spLocks noChangeArrowheads="1"/>
            </p:cNvSpPr>
            <p:nvPr/>
          </p:nvSpPr>
          <p:spPr bwMode="auto">
            <a:xfrm>
              <a:off x="1436688" y="2713038"/>
              <a:ext cx="574196" cy="369332"/>
            </a:xfrm>
            <a:prstGeom prst="rect">
              <a:avLst/>
            </a:prstGeom>
            <a:noFill/>
            <a:ln w="12700" cap="sq">
              <a:noFill/>
              <a:miter lim="800000"/>
              <a:headEnd type="none" w="sm" len="sm"/>
              <a:tailEnd type="none" w="sm" len="sm"/>
            </a:ln>
          </p:spPr>
          <p:txBody>
            <a:bodyPr wrap="none">
              <a:spAutoFit/>
            </a:bodyPr>
            <a:lstStyle/>
            <a:p>
              <a:r>
                <a:rPr lang="en-US" altLang="zh-CN" b="1">
                  <a:solidFill>
                    <a:srgbClr val="0000CC"/>
                  </a:solidFill>
                </a:rPr>
                <a:t>item</a:t>
              </a:r>
            </a:p>
          </p:txBody>
        </p:sp>
        <p:sp>
          <p:nvSpPr>
            <p:cNvPr id="225291" name="Text Box 11"/>
            <p:cNvSpPr txBox="1">
              <a:spLocks noChangeArrowheads="1"/>
            </p:cNvSpPr>
            <p:nvPr/>
          </p:nvSpPr>
          <p:spPr bwMode="auto">
            <a:xfrm>
              <a:off x="1976438" y="2713038"/>
              <a:ext cx="332142" cy="461665"/>
            </a:xfrm>
            <a:prstGeom prst="rect">
              <a:avLst/>
            </a:prstGeom>
            <a:noFill/>
            <a:ln w="12700" cap="sq">
              <a:noFill/>
              <a:miter lim="800000"/>
              <a:headEnd type="none" w="sm" len="sm"/>
              <a:tailEnd type="none" w="sm" len="sm"/>
            </a:ln>
          </p:spPr>
          <p:txBody>
            <a:bodyPr wrap="none">
              <a:spAutoFit/>
            </a:bodyPr>
            <a:lstStyle/>
            <a:p>
              <a:r>
                <a:rPr lang="zh-CN" altLang="en-US" sz="2400" b="1" dirty="0"/>
                <a:t>^</a:t>
              </a:r>
            </a:p>
          </p:txBody>
        </p:sp>
      </p:grpSp>
      <p:sp>
        <p:nvSpPr>
          <p:cNvPr id="225292" name="Rectangle 12"/>
          <p:cNvSpPr>
            <a:spLocks noChangeArrowheads="1"/>
          </p:cNvSpPr>
          <p:nvPr/>
        </p:nvSpPr>
        <p:spPr bwMode="auto">
          <a:xfrm>
            <a:off x="2605089" y="1989139"/>
            <a:ext cx="2338387" cy="427037"/>
          </a:xfrm>
          <a:prstGeom prst="rect">
            <a:avLst/>
          </a:prstGeom>
          <a:noFill/>
          <a:ln w="12700" cap="sq">
            <a:noFill/>
            <a:miter lim="800000"/>
            <a:headEnd type="none" w="sm" len="sm"/>
            <a:tailEnd type="none" w="sm" len="sm"/>
          </a:ln>
        </p:spPr>
        <p:txBody>
          <a:bodyPr>
            <a:spAutoFit/>
          </a:bodyPr>
          <a:lstStyle/>
          <a:p>
            <a:r>
              <a:rPr lang="en-US" altLang="zh-CN" sz="2200" b="1">
                <a:solidFill>
                  <a:schemeClr val="accent2"/>
                </a:solidFill>
              </a:rPr>
              <a:t>front</a:t>
            </a:r>
            <a:r>
              <a:rPr lang="en-US" altLang="zh-CN" sz="2200" b="1">
                <a:solidFill>
                  <a:srgbClr val="FFFFFF"/>
                </a:solidFill>
              </a:rPr>
              <a:t>      </a:t>
            </a:r>
            <a:r>
              <a:rPr lang="en-US" altLang="zh-CN" sz="2200" b="1">
                <a:solidFill>
                  <a:srgbClr val="B20059"/>
                </a:solidFill>
              </a:rPr>
              <a:t>rear</a:t>
            </a:r>
            <a:endParaRPr lang="zh-CN" altLang="en-US" sz="2200" b="1">
              <a:solidFill>
                <a:srgbClr val="B20059"/>
              </a:solidFill>
            </a:endParaRPr>
          </a:p>
        </p:txBody>
      </p:sp>
      <p:sp>
        <p:nvSpPr>
          <p:cNvPr id="225293" name="Line 13"/>
          <p:cNvSpPr>
            <a:spLocks noChangeShapeType="1"/>
          </p:cNvSpPr>
          <p:nvPr/>
        </p:nvSpPr>
        <p:spPr bwMode="auto">
          <a:xfrm>
            <a:off x="2986088" y="2332038"/>
            <a:ext cx="76200" cy="381000"/>
          </a:xfrm>
          <a:prstGeom prst="line">
            <a:avLst/>
          </a:prstGeom>
          <a:noFill/>
          <a:ln w="25400" cap="sq">
            <a:solidFill>
              <a:srgbClr val="FF0000"/>
            </a:solidFill>
            <a:round/>
            <a:headEnd type="none" w="sm" len="sm"/>
            <a:tailEnd type="triangle" w="med" len="med"/>
          </a:ln>
        </p:spPr>
        <p:txBody>
          <a:bodyPr/>
          <a:lstStyle/>
          <a:p>
            <a:endParaRPr lang="zh-CN" altLang="en-US"/>
          </a:p>
        </p:txBody>
      </p:sp>
      <p:sp>
        <p:nvSpPr>
          <p:cNvPr id="225294" name="Line 14"/>
          <p:cNvSpPr>
            <a:spLocks noChangeShapeType="1"/>
          </p:cNvSpPr>
          <p:nvPr/>
        </p:nvSpPr>
        <p:spPr bwMode="auto">
          <a:xfrm flipH="1">
            <a:off x="3368675" y="2320925"/>
            <a:ext cx="357188" cy="363538"/>
          </a:xfrm>
          <a:prstGeom prst="line">
            <a:avLst/>
          </a:prstGeom>
          <a:noFill/>
          <a:ln w="25400" cap="sq">
            <a:solidFill>
              <a:srgbClr val="FF0000"/>
            </a:solidFill>
            <a:round/>
            <a:headEnd type="none" w="sm" len="sm"/>
            <a:tailEnd type="triangle" w="med" len="med"/>
          </a:ln>
        </p:spPr>
        <p:txBody>
          <a:bodyPr/>
          <a:lstStyle/>
          <a:p>
            <a:endParaRPr lang="zh-CN" altLang="en-US"/>
          </a:p>
        </p:txBody>
      </p:sp>
      <p:grpSp>
        <p:nvGrpSpPr>
          <p:cNvPr id="4" name="Group 15"/>
          <p:cNvGrpSpPr>
            <a:grpSpLocks/>
          </p:cNvGrpSpPr>
          <p:nvPr/>
        </p:nvGrpSpPr>
        <p:grpSpPr bwMode="auto">
          <a:xfrm>
            <a:off x="2454276" y="4194177"/>
            <a:ext cx="6056313" cy="1144588"/>
            <a:chOff x="480" y="2642"/>
            <a:chExt cx="3815" cy="721"/>
          </a:xfrm>
        </p:grpSpPr>
        <p:grpSp>
          <p:nvGrpSpPr>
            <p:cNvPr id="5" name="Group 16"/>
            <p:cNvGrpSpPr>
              <a:grpSpLocks/>
            </p:cNvGrpSpPr>
            <p:nvPr/>
          </p:nvGrpSpPr>
          <p:grpSpPr bwMode="auto">
            <a:xfrm>
              <a:off x="720" y="3120"/>
              <a:ext cx="528" cy="240"/>
              <a:chOff x="1248" y="2208"/>
              <a:chExt cx="528" cy="240"/>
            </a:xfrm>
          </p:grpSpPr>
          <p:sp>
            <p:nvSpPr>
              <p:cNvPr id="79936" name="Rectangle 17"/>
              <p:cNvSpPr>
                <a:spLocks noChangeArrowheads="1"/>
              </p:cNvSpPr>
              <p:nvPr/>
            </p:nvSpPr>
            <p:spPr bwMode="auto">
              <a:xfrm>
                <a:off x="1248" y="2208"/>
                <a:ext cx="336"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79937" name="Rectangle 18"/>
              <p:cNvSpPr>
                <a:spLocks noChangeArrowheads="1"/>
              </p:cNvSpPr>
              <p:nvPr/>
            </p:nvSpPr>
            <p:spPr bwMode="auto">
              <a:xfrm>
                <a:off x="1584" y="2208"/>
                <a:ext cx="192"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grpSp>
        <p:grpSp>
          <p:nvGrpSpPr>
            <p:cNvPr id="6" name="Group 19"/>
            <p:cNvGrpSpPr>
              <a:grpSpLocks/>
            </p:cNvGrpSpPr>
            <p:nvPr/>
          </p:nvGrpSpPr>
          <p:grpSpPr bwMode="auto">
            <a:xfrm>
              <a:off x="1440" y="3120"/>
              <a:ext cx="528" cy="240"/>
              <a:chOff x="1248" y="2208"/>
              <a:chExt cx="528" cy="240"/>
            </a:xfrm>
          </p:grpSpPr>
          <p:sp>
            <p:nvSpPr>
              <p:cNvPr id="79934" name="Rectangle 20"/>
              <p:cNvSpPr>
                <a:spLocks noChangeArrowheads="1"/>
              </p:cNvSpPr>
              <p:nvPr/>
            </p:nvSpPr>
            <p:spPr bwMode="auto">
              <a:xfrm>
                <a:off x="1248" y="2208"/>
                <a:ext cx="336"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79935" name="Rectangle 21"/>
              <p:cNvSpPr>
                <a:spLocks noChangeArrowheads="1"/>
              </p:cNvSpPr>
              <p:nvPr/>
            </p:nvSpPr>
            <p:spPr bwMode="auto">
              <a:xfrm>
                <a:off x="1584" y="2208"/>
                <a:ext cx="192"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grpSp>
        <p:grpSp>
          <p:nvGrpSpPr>
            <p:cNvPr id="7" name="Group 22"/>
            <p:cNvGrpSpPr>
              <a:grpSpLocks/>
            </p:cNvGrpSpPr>
            <p:nvPr/>
          </p:nvGrpSpPr>
          <p:grpSpPr bwMode="auto">
            <a:xfrm>
              <a:off x="2160" y="3120"/>
              <a:ext cx="528" cy="240"/>
              <a:chOff x="1248" y="2208"/>
              <a:chExt cx="528" cy="240"/>
            </a:xfrm>
          </p:grpSpPr>
          <p:sp>
            <p:nvSpPr>
              <p:cNvPr id="79932" name="Rectangle 23"/>
              <p:cNvSpPr>
                <a:spLocks noChangeArrowheads="1"/>
              </p:cNvSpPr>
              <p:nvPr/>
            </p:nvSpPr>
            <p:spPr bwMode="auto">
              <a:xfrm>
                <a:off x="1248" y="2208"/>
                <a:ext cx="336"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79933" name="Rectangle 24"/>
              <p:cNvSpPr>
                <a:spLocks noChangeArrowheads="1"/>
              </p:cNvSpPr>
              <p:nvPr/>
            </p:nvSpPr>
            <p:spPr bwMode="auto">
              <a:xfrm>
                <a:off x="1584" y="2208"/>
                <a:ext cx="192"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grpSp>
        <p:grpSp>
          <p:nvGrpSpPr>
            <p:cNvPr id="8" name="Group 25"/>
            <p:cNvGrpSpPr>
              <a:grpSpLocks/>
            </p:cNvGrpSpPr>
            <p:nvPr/>
          </p:nvGrpSpPr>
          <p:grpSpPr bwMode="auto">
            <a:xfrm>
              <a:off x="3552" y="3120"/>
              <a:ext cx="528" cy="240"/>
              <a:chOff x="1248" y="2208"/>
              <a:chExt cx="528" cy="240"/>
            </a:xfrm>
          </p:grpSpPr>
          <p:sp>
            <p:nvSpPr>
              <p:cNvPr id="79930" name="Rectangle 26"/>
              <p:cNvSpPr>
                <a:spLocks noChangeArrowheads="1"/>
              </p:cNvSpPr>
              <p:nvPr/>
            </p:nvSpPr>
            <p:spPr bwMode="auto">
              <a:xfrm>
                <a:off x="1248" y="2208"/>
                <a:ext cx="336"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79931" name="Rectangle 27"/>
              <p:cNvSpPr>
                <a:spLocks noChangeArrowheads="1"/>
              </p:cNvSpPr>
              <p:nvPr/>
            </p:nvSpPr>
            <p:spPr bwMode="auto">
              <a:xfrm>
                <a:off x="1584" y="2208"/>
                <a:ext cx="192"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grpSp>
        <p:sp>
          <p:nvSpPr>
            <p:cNvPr id="79921" name="Line 28"/>
            <p:cNvSpPr>
              <a:spLocks noChangeShapeType="1"/>
            </p:cNvSpPr>
            <p:nvPr/>
          </p:nvSpPr>
          <p:spPr bwMode="auto">
            <a:xfrm>
              <a:off x="1152" y="3264"/>
              <a:ext cx="288" cy="0"/>
            </a:xfrm>
            <a:prstGeom prst="line">
              <a:avLst/>
            </a:prstGeom>
            <a:noFill/>
            <a:ln w="15875" cap="sq">
              <a:solidFill>
                <a:schemeClr val="tx1"/>
              </a:solidFill>
              <a:round/>
              <a:headEnd type="none" w="sm" len="sm"/>
              <a:tailEnd type="triangle" w="med" len="med"/>
            </a:ln>
          </p:spPr>
          <p:txBody>
            <a:bodyPr/>
            <a:lstStyle/>
            <a:p>
              <a:endParaRPr lang="zh-CN" altLang="en-US"/>
            </a:p>
          </p:txBody>
        </p:sp>
        <p:sp>
          <p:nvSpPr>
            <p:cNvPr id="79922" name="Line 29"/>
            <p:cNvSpPr>
              <a:spLocks noChangeShapeType="1"/>
            </p:cNvSpPr>
            <p:nvPr/>
          </p:nvSpPr>
          <p:spPr bwMode="auto">
            <a:xfrm>
              <a:off x="3264" y="3264"/>
              <a:ext cx="288" cy="0"/>
            </a:xfrm>
            <a:prstGeom prst="line">
              <a:avLst/>
            </a:prstGeom>
            <a:noFill/>
            <a:ln w="15875" cap="sq">
              <a:solidFill>
                <a:srgbClr val="000000"/>
              </a:solidFill>
              <a:round/>
              <a:headEnd type="none" w="sm" len="sm"/>
              <a:tailEnd type="triangle" w="med" len="med"/>
            </a:ln>
          </p:spPr>
          <p:txBody>
            <a:bodyPr/>
            <a:lstStyle/>
            <a:p>
              <a:endParaRPr lang="zh-CN" altLang="en-US"/>
            </a:p>
          </p:txBody>
        </p:sp>
        <p:sp>
          <p:nvSpPr>
            <p:cNvPr id="79923" name="Line 30"/>
            <p:cNvSpPr>
              <a:spLocks noChangeShapeType="1"/>
            </p:cNvSpPr>
            <p:nvPr/>
          </p:nvSpPr>
          <p:spPr bwMode="auto">
            <a:xfrm>
              <a:off x="2592" y="3264"/>
              <a:ext cx="288" cy="0"/>
            </a:xfrm>
            <a:prstGeom prst="line">
              <a:avLst/>
            </a:prstGeom>
            <a:noFill/>
            <a:ln w="15875" cap="sq">
              <a:solidFill>
                <a:schemeClr val="bg2"/>
              </a:solidFill>
              <a:round/>
              <a:headEnd type="none" w="sm" len="sm"/>
              <a:tailEnd type="triangle" w="med" len="med"/>
            </a:ln>
          </p:spPr>
          <p:txBody>
            <a:bodyPr/>
            <a:lstStyle/>
            <a:p>
              <a:endParaRPr lang="zh-CN" altLang="en-US"/>
            </a:p>
          </p:txBody>
        </p:sp>
        <p:sp>
          <p:nvSpPr>
            <p:cNvPr id="79924" name="Line 31"/>
            <p:cNvSpPr>
              <a:spLocks noChangeShapeType="1"/>
            </p:cNvSpPr>
            <p:nvPr/>
          </p:nvSpPr>
          <p:spPr bwMode="auto">
            <a:xfrm>
              <a:off x="1872" y="3264"/>
              <a:ext cx="288" cy="0"/>
            </a:xfrm>
            <a:prstGeom prst="line">
              <a:avLst/>
            </a:prstGeom>
            <a:noFill/>
            <a:ln w="15875" cap="sq">
              <a:solidFill>
                <a:schemeClr val="tx1"/>
              </a:solidFill>
              <a:round/>
              <a:headEnd type="none" w="sm" len="sm"/>
              <a:tailEnd type="triangle" w="med" len="med"/>
            </a:ln>
          </p:spPr>
          <p:txBody>
            <a:bodyPr/>
            <a:lstStyle/>
            <a:p>
              <a:endParaRPr lang="zh-CN" altLang="en-US"/>
            </a:p>
          </p:txBody>
        </p:sp>
        <p:sp>
          <p:nvSpPr>
            <p:cNvPr id="79925" name="Text Box 32"/>
            <p:cNvSpPr txBox="1">
              <a:spLocks noChangeArrowheads="1"/>
            </p:cNvSpPr>
            <p:nvPr/>
          </p:nvSpPr>
          <p:spPr bwMode="auto">
            <a:xfrm>
              <a:off x="2942" y="3072"/>
              <a:ext cx="275" cy="291"/>
            </a:xfrm>
            <a:prstGeom prst="rect">
              <a:avLst/>
            </a:prstGeom>
            <a:noFill/>
            <a:ln w="12700" cap="sq">
              <a:noFill/>
              <a:miter lim="800000"/>
              <a:headEnd type="none" w="sm" len="sm"/>
              <a:tailEnd type="none" w="sm" len="sm"/>
            </a:ln>
          </p:spPr>
          <p:txBody>
            <a:bodyPr wrap="none">
              <a:spAutoFit/>
            </a:bodyPr>
            <a:lstStyle/>
            <a:p>
              <a:r>
                <a:rPr lang="zh-CN" altLang="en-US" sz="2400" b="1" dirty="0">
                  <a:ea typeface="宋体" charset="-122"/>
                  <a:cs typeface="Times New Roman" pitchFamily="18" charset="0"/>
                </a:rPr>
                <a:t>…</a:t>
              </a:r>
            </a:p>
          </p:txBody>
        </p:sp>
        <p:sp>
          <p:nvSpPr>
            <p:cNvPr id="79926" name="Text Box 33"/>
            <p:cNvSpPr txBox="1">
              <a:spLocks noChangeArrowheads="1"/>
            </p:cNvSpPr>
            <p:nvPr/>
          </p:nvSpPr>
          <p:spPr bwMode="auto">
            <a:xfrm>
              <a:off x="480" y="2666"/>
              <a:ext cx="448" cy="271"/>
            </a:xfrm>
            <a:prstGeom prst="rect">
              <a:avLst/>
            </a:prstGeom>
            <a:noFill/>
            <a:ln w="12700" cap="sq">
              <a:noFill/>
              <a:miter lim="800000"/>
              <a:headEnd type="none" w="sm" len="sm"/>
              <a:tailEnd type="none" w="sm" len="sm"/>
            </a:ln>
          </p:spPr>
          <p:txBody>
            <a:bodyPr wrap="none">
              <a:spAutoFit/>
            </a:bodyPr>
            <a:lstStyle/>
            <a:p>
              <a:r>
                <a:rPr lang="en-US" altLang="zh-CN" sz="2200" b="1">
                  <a:solidFill>
                    <a:schemeClr val="accent2"/>
                  </a:solidFill>
                </a:rPr>
                <a:t>front</a:t>
              </a:r>
            </a:p>
          </p:txBody>
        </p:sp>
        <p:sp>
          <p:nvSpPr>
            <p:cNvPr id="79927" name="Line 34"/>
            <p:cNvSpPr>
              <a:spLocks noChangeShapeType="1"/>
            </p:cNvSpPr>
            <p:nvPr/>
          </p:nvSpPr>
          <p:spPr bwMode="auto">
            <a:xfrm>
              <a:off x="624" y="2880"/>
              <a:ext cx="144" cy="240"/>
            </a:xfrm>
            <a:prstGeom prst="line">
              <a:avLst/>
            </a:prstGeom>
            <a:noFill/>
            <a:ln w="15875" cap="sq">
              <a:solidFill>
                <a:srgbClr val="FF0000"/>
              </a:solidFill>
              <a:round/>
              <a:headEnd type="none" w="sm" len="sm"/>
              <a:tailEnd type="triangle" w="med" len="med"/>
            </a:ln>
          </p:spPr>
          <p:txBody>
            <a:bodyPr/>
            <a:lstStyle/>
            <a:p>
              <a:endParaRPr lang="zh-CN" altLang="en-US"/>
            </a:p>
          </p:txBody>
        </p:sp>
        <p:sp>
          <p:nvSpPr>
            <p:cNvPr id="79928" name="Text Box 35"/>
            <p:cNvSpPr txBox="1">
              <a:spLocks noChangeArrowheads="1"/>
            </p:cNvSpPr>
            <p:nvPr/>
          </p:nvSpPr>
          <p:spPr bwMode="auto">
            <a:xfrm>
              <a:off x="3904" y="2642"/>
              <a:ext cx="391" cy="271"/>
            </a:xfrm>
            <a:prstGeom prst="rect">
              <a:avLst/>
            </a:prstGeom>
            <a:noFill/>
            <a:ln w="12700" cap="sq">
              <a:noFill/>
              <a:miter lim="800000"/>
              <a:headEnd type="none" w="sm" len="sm"/>
              <a:tailEnd type="none" w="sm" len="sm"/>
            </a:ln>
          </p:spPr>
          <p:txBody>
            <a:bodyPr wrap="none">
              <a:spAutoFit/>
            </a:bodyPr>
            <a:lstStyle/>
            <a:p>
              <a:r>
                <a:rPr lang="en-US" altLang="zh-CN" sz="2200" b="1">
                  <a:solidFill>
                    <a:srgbClr val="B20059"/>
                  </a:solidFill>
                </a:rPr>
                <a:t>rear</a:t>
              </a:r>
            </a:p>
          </p:txBody>
        </p:sp>
        <p:sp>
          <p:nvSpPr>
            <p:cNvPr id="79929" name="Line 36"/>
            <p:cNvSpPr>
              <a:spLocks noChangeShapeType="1"/>
            </p:cNvSpPr>
            <p:nvPr/>
          </p:nvSpPr>
          <p:spPr bwMode="auto">
            <a:xfrm flipH="1">
              <a:off x="3648" y="2880"/>
              <a:ext cx="384" cy="192"/>
            </a:xfrm>
            <a:prstGeom prst="line">
              <a:avLst/>
            </a:prstGeom>
            <a:noFill/>
            <a:ln w="12700" cap="sq">
              <a:solidFill>
                <a:srgbClr val="FF00FF"/>
              </a:solidFill>
              <a:round/>
              <a:headEnd type="none" w="sm" len="sm"/>
              <a:tailEnd type="triangle" w="med" len="med"/>
            </a:ln>
          </p:spPr>
          <p:txBody>
            <a:bodyPr/>
            <a:lstStyle/>
            <a:p>
              <a:endParaRPr lang="zh-CN" altLang="en-US"/>
            </a:p>
          </p:txBody>
        </p:sp>
      </p:grpSp>
      <p:grpSp>
        <p:nvGrpSpPr>
          <p:cNvPr id="72" name="组合 71"/>
          <p:cNvGrpSpPr/>
          <p:nvPr/>
        </p:nvGrpSpPr>
        <p:grpSpPr>
          <a:xfrm>
            <a:off x="8455025" y="4953001"/>
            <a:ext cx="865542" cy="688975"/>
            <a:chOff x="6931025" y="4953000"/>
            <a:chExt cx="865542" cy="688975"/>
          </a:xfrm>
        </p:grpSpPr>
        <p:grpSp>
          <p:nvGrpSpPr>
            <p:cNvPr id="9" name="Group 37"/>
            <p:cNvGrpSpPr>
              <a:grpSpLocks/>
            </p:cNvGrpSpPr>
            <p:nvPr/>
          </p:nvGrpSpPr>
          <p:grpSpPr bwMode="auto">
            <a:xfrm>
              <a:off x="6950075" y="4953000"/>
              <a:ext cx="838200" cy="688975"/>
              <a:chOff x="4272" y="3120"/>
              <a:chExt cx="528" cy="434"/>
            </a:xfrm>
          </p:grpSpPr>
          <p:grpSp>
            <p:nvGrpSpPr>
              <p:cNvPr id="10" name="Group 38"/>
              <p:cNvGrpSpPr>
                <a:grpSpLocks/>
              </p:cNvGrpSpPr>
              <p:nvPr/>
            </p:nvGrpSpPr>
            <p:grpSpPr bwMode="auto">
              <a:xfrm>
                <a:off x="4272" y="3120"/>
                <a:ext cx="528" cy="240"/>
                <a:chOff x="1248" y="2208"/>
                <a:chExt cx="528" cy="240"/>
              </a:xfrm>
            </p:grpSpPr>
            <p:sp>
              <p:nvSpPr>
                <p:cNvPr id="79915" name="Rectangle 39"/>
                <p:cNvSpPr>
                  <a:spLocks noChangeArrowheads="1"/>
                </p:cNvSpPr>
                <p:nvPr/>
              </p:nvSpPr>
              <p:spPr bwMode="auto">
                <a:xfrm>
                  <a:off x="1248" y="2208"/>
                  <a:ext cx="336" cy="240"/>
                </a:xfrm>
                <a:prstGeom prst="rect">
                  <a:avLst/>
                </a:prstGeom>
                <a:noFill/>
                <a:ln w="19050" cap="sq">
                  <a:solidFill>
                    <a:srgbClr val="FF0000"/>
                  </a:solidFill>
                  <a:miter lim="800000"/>
                  <a:headEnd type="none" w="sm" len="sm"/>
                  <a:tailEnd type="none" w="sm" len="sm"/>
                </a:ln>
              </p:spPr>
              <p:txBody>
                <a:bodyPr wrap="none" anchor="ctr"/>
                <a:lstStyle/>
                <a:p>
                  <a:endParaRPr lang="zh-CN" altLang="en-US"/>
                </a:p>
              </p:txBody>
            </p:sp>
            <p:sp>
              <p:nvSpPr>
                <p:cNvPr id="79916" name="Rectangle 40"/>
                <p:cNvSpPr>
                  <a:spLocks noChangeArrowheads="1"/>
                </p:cNvSpPr>
                <p:nvPr/>
              </p:nvSpPr>
              <p:spPr bwMode="auto">
                <a:xfrm>
                  <a:off x="1584" y="2208"/>
                  <a:ext cx="192" cy="240"/>
                </a:xfrm>
                <a:prstGeom prst="rect">
                  <a:avLst/>
                </a:prstGeom>
                <a:noFill/>
                <a:ln w="19050" cap="sq">
                  <a:solidFill>
                    <a:srgbClr val="FF0000"/>
                  </a:solidFill>
                  <a:miter lim="800000"/>
                  <a:headEnd type="none" w="sm" len="sm"/>
                  <a:tailEnd type="none" w="sm" len="sm"/>
                </a:ln>
              </p:spPr>
              <p:txBody>
                <a:bodyPr wrap="none" anchor="ctr"/>
                <a:lstStyle/>
                <a:p>
                  <a:endParaRPr lang="zh-CN" altLang="en-US"/>
                </a:p>
              </p:txBody>
            </p:sp>
          </p:grpSp>
          <p:sp>
            <p:nvSpPr>
              <p:cNvPr id="79914" name="Text Box 41"/>
              <p:cNvSpPr txBox="1">
                <a:spLocks noChangeArrowheads="1"/>
              </p:cNvSpPr>
              <p:nvPr/>
            </p:nvSpPr>
            <p:spPr bwMode="auto">
              <a:xfrm>
                <a:off x="4320" y="3302"/>
                <a:ext cx="197" cy="252"/>
              </a:xfrm>
              <a:prstGeom prst="rect">
                <a:avLst/>
              </a:prstGeom>
              <a:noFill/>
              <a:ln w="12700" cap="sq">
                <a:noFill/>
                <a:miter lim="800000"/>
                <a:headEnd type="none" w="sm" len="sm"/>
                <a:tailEnd type="none" w="sm" len="sm"/>
              </a:ln>
            </p:spPr>
            <p:txBody>
              <a:bodyPr wrap="none">
                <a:spAutoFit/>
              </a:bodyPr>
              <a:lstStyle/>
              <a:p>
                <a:r>
                  <a:rPr lang="en-US" altLang="zh-CN" sz="2000" b="1">
                    <a:solidFill>
                      <a:srgbClr val="FF3300"/>
                    </a:solidFill>
                  </a:rPr>
                  <a:t>p</a:t>
                </a:r>
              </a:p>
            </p:txBody>
          </p:sp>
        </p:grpSp>
        <p:sp>
          <p:nvSpPr>
            <p:cNvPr id="225322" name="Text Box 42"/>
            <p:cNvSpPr txBox="1">
              <a:spLocks noChangeArrowheads="1"/>
            </p:cNvSpPr>
            <p:nvPr/>
          </p:nvSpPr>
          <p:spPr bwMode="auto">
            <a:xfrm>
              <a:off x="6931025" y="4967288"/>
              <a:ext cx="574196" cy="369332"/>
            </a:xfrm>
            <a:prstGeom prst="rect">
              <a:avLst/>
            </a:prstGeom>
            <a:noFill/>
            <a:ln w="12700" cap="sq">
              <a:noFill/>
              <a:miter lim="800000"/>
              <a:headEnd type="none" w="sm" len="sm"/>
              <a:tailEnd type="none" w="sm" len="sm"/>
            </a:ln>
          </p:spPr>
          <p:txBody>
            <a:bodyPr wrap="none">
              <a:spAutoFit/>
            </a:bodyPr>
            <a:lstStyle/>
            <a:p>
              <a:r>
                <a:rPr lang="en-US" altLang="zh-CN" b="1">
                  <a:solidFill>
                    <a:srgbClr val="0000CC"/>
                  </a:solidFill>
                </a:rPr>
                <a:t>item</a:t>
              </a:r>
            </a:p>
          </p:txBody>
        </p:sp>
        <p:sp>
          <p:nvSpPr>
            <p:cNvPr id="225323" name="Text Box 43"/>
            <p:cNvSpPr txBox="1">
              <a:spLocks noChangeArrowheads="1"/>
            </p:cNvSpPr>
            <p:nvPr/>
          </p:nvSpPr>
          <p:spPr bwMode="auto">
            <a:xfrm>
              <a:off x="7464425" y="4953000"/>
              <a:ext cx="332142" cy="461665"/>
            </a:xfrm>
            <a:prstGeom prst="rect">
              <a:avLst/>
            </a:prstGeom>
            <a:noFill/>
            <a:ln w="12700" cap="sq">
              <a:noFill/>
              <a:miter lim="800000"/>
              <a:headEnd type="none" w="sm" len="sm"/>
              <a:tailEnd type="none" w="sm" len="sm"/>
            </a:ln>
          </p:spPr>
          <p:txBody>
            <a:bodyPr wrap="none">
              <a:spAutoFit/>
            </a:bodyPr>
            <a:lstStyle/>
            <a:p>
              <a:r>
                <a:rPr lang="zh-CN" altLang="en-US" sz="2400" b="1" dirty="0"/>
                <a:t>^</a:t>
              </a:r>
            </a:p>
          </p:txBody>
        </p:sp>
      </p:grpSp>
      <p:sp>
        <p:nvSpPr>
          <p:cNvPr id="225324" name="Line 44"/>
          <p:cNvSpPr>
            <a:spLocks noChangeShapeType="1"/>
          </p:cNvSpPr>
          <p:nvPr/>
        </p:nvSpPr>
        <p:spPr bwMode="auto">
          <a:xfrm>
            <a:off x="7940675" y="5159375"/>
            <a:ext cx="533400" cy="0"/>
          </a:xfrm>
          <a:prstGeom prst="line">
            <a:avLst/>
          </a:prstGeom>
          <a:noFill/>
          <a:ln w="25400" cap="sq">
            <a:solidFill>
              <a:srgbClr val="FF0000"/>
            </a:solidFill>
            <a:round/>
            <a:headEnd type="none" w="sm" len="sm"/>
            <a:tailEnd type="triangle" w="med" len="med"/>
          </a:ln>
        </p:spPr>
        <p:txBody>
          <a:bodyPr/>
          <a:lstStyle/>
          <a:p>
            <a:endParaRPr lang="zh-CN" altLang="en-US"/>
          </a:p>
        </p:txBody>
      </p:sp>
      <p:grpSp>
        <p:nvGrpSpPr>
          <p:cNvPr id="11" name="Group 45"/>
          <p:cNvGrpSpPr>
            <a:grpSpLocks/>
          </p:cNvGrpSpPr>
          <p:nvPr/>
        </p:nvGrpSpPr>
        <p:grpSpPr bwMode="auto">
          <a:xfrm>
            <a:off x="7483475" y="4514850"/>
            <a:ext cx="1104900" cy="381000"/>
            <a:chOff x="3648" y="2844"/>
            <a:chExt cx="696" cy="240"/>
          </a:xfrm>
        </p:grpSpPr>
        <p:sp>
          <p:nvSpPr>
            <p:cNvPr id="79911" name="Rectangle 46"/>
            <p:cNvSpPr>
              <a:spLocks noChangeArrowheads="1"/>
            </p:cNvSpPr>
            <p:nvPr/>
          </p:nvSpPr>
          <p:spPr bwMode="auto">
            <a:xfrm>
              <a:off x="3648" y="2844"/>
              <a:ext cx="432" cy="240"/>
            </a:xfrm>
            <a:prstGeom prst="rect">
              <a:avLst/>
            </a:prstGeom>
            <a:solidFill>
              <a:srgbClr val="FFFFFF"/>
            </a:solidFill>
            <a:ln w="12700" cap="sq">
              <a:noFill/>
              <a:miter lim="800000"/>
              <a:headEnd type="none" w="sm" len="sm"/>
              <a:tailEnd type="none" w="sm" len="sm"/>
            </a:ln>
          </p:spPr>
          <p:txBody>
            <a:bodyPr wrap="none" anchor="ctr"/>
            <a:lstStyle/>
            <a:p>
              <a:endParaRPr lang="zh-CN" altLang="en-US"/>
            </a:p>
          </p:txBody>
        </p:sp>
        <p:sp>
          <p:nvSpPr>
            <p:cNvPr id="79912" name="Line 47"/>
            <p:cNvSpPr>
              <a:spLocks noChangeShapeType="1"/>
            </p:cNvSpPr>
            <p:nvPr/>
          </p:nvSpPr>
          <p:spPr bwMode="auto">
            <a:xfrm>
              <a:off x="4200" y="2892"/>
              <a:ext cx="144" cy="192"/>
            </a:xfrm>
            <a:prstGeom prst="line">
              <a:avLst/>
            </a:prstGeom>
            <a:noFill/>
            <a:ln w="19050" cap="sq">
              <a:solidFill>
                <a:srgbClr val="FF00FF"/>
              </a:solidFill>
              <a:round/>
              <a:headEnd type="none" w="sm" len="sm"/>
              <a:tailEnd type="triangle" w="med" len="lg"/>
            </a:ln>
          </p:spPr>
          <p:txBody>
            <a:bodyPr/>
            <a:lstStyle/>
            <a:p>
              <a:endParaRPr lang="zh-CN" altLang="en-US"/>
            </a:p>
          </p:txBody>
        </p:sp>
      </p:grpSp>
      <p:grpSp>
        <p:nvGrpSpPr>
          <p:cNvPr id="12" name="Group 119"/>
          <p:cNvGrpSpPr>
            <a:grpSpLocks/>
          </p:cNvGrpSpPr>
          <p:nvPr/>
        </p:nvGrpSpPr>
        <p:grpSpPr bwMode="auto">
          <a:xfrm>
            <a:off x="6096001" y="6010275"/>
            <a:ext cx="2600325" cy="533400"/>
            <a:chOff x="2920" y="3865"/>
            <a:chExt cx="1638" cy="336"/>
          </a:xfrm>
        </p:grpSpPr>
        <p:sp>
          <p:nvSpPr>
            <p:cNvPr id="79909" name="AutoShape 49"/>
            <p:cNvSpPr>
              <a:spLocks noChangeArrowheads="1"/>
            </p:cNvSpPr>
            <p:nvPr/>
          </p:nvSpPr>
          <p:spPr bwMode="auto">
            <a:xfrm>
              <a:off x="2925" y="3865"/>
              <a:ext cx="1248" cy="336"/>
            </a:xfrm>
            <a:prstGeom prst="wedgeRectCallout">
              <a:avLst>
                <a:gd name="adj1" fmla="val 54329"/>
                <a:gd name="adj2" fmla="val -169046"/>
              </a:avLst>
            </a:prstGeom>
            <a:noFill/>
            <a:ln w="63500" cap="sq">
              <a:solidFill>
                <a:srgbClr val="33CCCC"/>
              </a:solidFill>
              <a:miter lim="800000"/>
              <a:headEnd type="none" w="sm" len="sm"/>
              <a:tailEnd type="none" w="sm" len="sm"/>
            </a:ln>
          </p:spPr>
          <p:txBody>
            <a:bodyPr/>
            <a:lstStyle/>
            <a:p>
              <a:endParaRPr lang="zh-CN" altLang="en-US"/>
            </a:p>
          </p:txBody>
        </p:sp>
        <p:sp>
          <p:nvSpPr>
            <p:cNvPr id="79910" name="Text Box 50"/>
            <p:cNvSpPr txBox="1">
              <a:spLocks noChangeArrowheads="1"/>
            </p:cNvSpPr>
            <p:nvPr/>
          </p:nvSpPr>
          <p:spPr bwMode="auto">
            <a:xfrm>
              <a:off x="2920" y="3868"/>
              <a:ext cx="1638" cy="288"/>
            </a:xfrm>
            <a:prstGeom prst="rect">
              <a:avLst/>
            </a:prstGeom>
            <a:noFill/>
            <a:ln w="12700" cap="sq">
              <a:noFill/>
              <a:miter lim="800000"/>
              <a:headEnd type="none" w="sm" len="sm"/>
              <a:tailEnd type="none" w="sm" len="sm"/>
            </a:ln>
          </p:spPr>
          <p:txBody>
            <a:bodyPr>
              <a:spAutoFit/>
            </a:bodyPr>
            <a:lstStyle/>
            <a:p>
              <a:r>
                <a:rPr lang="en-US" altLang="zh-CN" sz="2400" b="1">
                  <a:solidFill>
                    <a:srgbClr val="B20059"/>
                  </a:solidFill>
                </a:rPr>
                <a:t>rear</a:t>
              </a:r>
              <a:r>
                <a:rPr lang="en-US" altLang="zh-CN" sz="2400" b="1">
                  <a:solidFill>
                    <a:srgbClr val="B20059"/>
                  </a:solidFill>
                  <a:latin typeface="宋体" charset="-122"/>
                  <a:ea typeface="宋体" charset="-122"/>
                </a:rPr>
                <a:t>-</a:t>
              </a:r>
              <a:r>
                <a:rPr lang="en-US" altLang="zh-CN" sz="2400" b="1">
                  <a:solidFill>
                    <a:srgbClr val="B20059"/>
                  </a:solidFill>
                </a:rPr>
                <a:t>&gt;link=</a:t>
              </a:r>
              <a:r>
                <a:rPr lang="en-US" altLang="zh-CN" sz="2400" b="1">
                  <a:solidFill>
                    <a:srgbClr val="B20059"/>
                  </a:solidFill>
                  <a:sym typeface="Symbol" pitchFamily="18" charset="2"/>
                </a:rPr>
                <a:t>p;</a:t>
              </a:r>
              <a:endParaRPr lang="en-US" altLang="zh-CN" sz="2400" b="1">
                <a:solidFill>
                  <a:srgbClr val="B20059"/>
                </a:solidFill>
              </a:endParaRPr>
            </a:p>
          </p:txBody>
        </p:sp>
      </p:grpSp>
      <p:grpSp>
        <p:nvGrpSpPr>
          <p:cNvPr id="13" name="Group 87"/>
          <p:cNvGrpSpPr>
            <a:grpSpLocks/>
          </p:cNvGrpSpPr>
          <p:nvPr/>
        </p:nvGrpSpPr>
        <p:grpSpPr bwMode="auto">
          <a:xfrm>
            <a:off x="9239251" y="3716338"/>
            <a:ext cx="1355725" cy="533400"/>
            <a:chOff x="4656" y="2352"/>
            <a:chExt cx="854" cy="336"/>
          </a:xfrm>
        </p:grpSpPr>
        <p:sp>
          <p:nvSpPr>
            <p:cNvPr id="79907" name="AutoShape 52"/>
            <p:cNvSpPr>
              <a:spLocks noChangeArrowheads="1"/>
            </p:cNvSpPr>
            <p:nvPr/>
          </p:nvSpPr>
          <p:spPr bwMode="auto">
            <a:xfrm>
              <a:off x="4656" y="2352"/>
              <a:ext cx="816" cy="336"/>
            </a:xfrm>
            <a:prstGeom prst="wedgeRectCallout">
              <a:avLst>
                <a:gd name="adj1" fmla="val -90565"/>
                <a:gd name="adj2" fmla="val 117560"/>
              </a:avLst>
            </a:prstGeom>
            <a:noFill/>
            <a:ln w="53975" cap="sq">
              <a:solidFill>
                <a:srgbClr val="33CCCC"/>
              </a:solidFill>
              <a:miter lim="800000"/>
              <a:headEnd type="none" w="sm" len="sm"/>
              <a:tailEnd type="none" w="sm" len="sm"/>
            </a:ln>
          </p:spPr>
          <p:txBody>
            <a:bodyPr/>
            <a:lstStyle/>
            <a:p>
              <a:pPr algn="ctr"/>
              <a:endParaRPr lang="zh-CN" altLang="en-US"/>
            </a:p>
          </p:txBody>
        </p:sp>
        <p:sp>
          <p:nvSpPr>
            <p:cNvPr id="79908" name="Rectangle 53"/>
            <p:cNvSpPr>
              <a:spLocks noChangeArrowheads="1"/>
            </p:cNvSpPr>
            <p:nvPr/>
          </p:nvSpPr>
          <p:spPr bwMode="auto">
            <a:xfrm>
              <a:off x="4694" y="2353"/>
              <a:ext cx="816" cy="298"/>
            </a:xfrm>
            <a:prstGeom prst="rect">
              <a:avLst/>
            </a:prstGeom>
            <a:noFill/>
            <a:ln w="12700" cap="sq">
              <a:noFill/>
              <a:miter lim="800000"/>
              <a:headEnd type="none" w="sm" len="sm"/>
              <a:tailEnd type="none" w="sm" len="sm"/>
            </a:ln>
          </p:spPr>
          <p:txBody>
            <a:bodyPr>
              <a:spAutoFit/>
            </a:bodyPr>
            <a:lstStyle/>
            <a:p>
              <a:r>
                <a:rPr lang="en-US" altLang="zh-CN" sz="2500" b="1">
                  <a:solidFill>
                    <a:schemeClr val="accent2"/>
                  </a:solidFill>
                </a:rPr>
                <a:t>rear</a:t>
              </a:r>
              <a:r>
                <a:rPr lang="en-US" altLang="zh-CN" sz="2500" b="1">
                  <a:solidFill>
                    <a:schemeClr val="accent2"/>
                  </a:solidFill>
                  <a:sym typeface="Symbol" pitchFamily="18" charset="2"/>
                </a:rPr>
                <a:t>=p;</a:t>
              </a:r>
              <a:endParaRPr lang="en-US" altLang="zh-CN" sz="2500" b="1">
                <a:solidFill>
                  <a:schemeClr val="accent2"/>
                </a:solidFill>
              </a:endParaRPr>
            </a:p>
          </p:txBody>
        </p:sp>
      </p:grpSp>
      <p:grpSp>
        <p:nvGrpSpPr>
          <p:cNvPr id="14" name="Group 118"/>
          <p:cNvGrpSpPr>
            <a:grpSpLocks/>
          </p:cNvGrpSpPr>
          <p:nvPr/>
        </p:nvGrpSpPr>
        <p:grpSpPr bwMode="auto">
          <a:xfrm rot="-265940">
            <a:off x="7381875" y="620714"/>
            <a:ext cx="2813050" cy="625475"/>
            <a:chOff x="3690" y="461"/>
            <a:chExt cx="1772" cy="394"/>
          </a:xfrm>
        </p:grpSpPr>
        <p:sp>
          <p:nvSpPr>
            <p:cNvPr id="79905" name="Oval 72"/>
            <p:cNvSpPr>
              <a:spLocks noChangeArrowheads="1"/>
            </p:cNvSpPr>
            <p:nvPr/>
          </p:nvSpPr>
          <p:spPr bwMode="auto">
            <a:xfrm rot="731040">
              <a:off x="3690" y="468"/>
              <a:ext cx="1687" cy="377"/>
            </a:xfrm>
            <a:prstGeom prst="ellipse">
              <a:avLst/>
            </a:prstGeom>
            <a:noFill/>
            <a:ln w="82550" cap="sq">
              <a:solidFill>
                <a:srgbClr val="00CCFF"/>
              </a:solidFill>
              <a:round/>
              <a:headEnd type="none" w="sm" len="sm"/>
              <a:tailEnd type="none" w="sm" len="sm"/>
            </a:ln>
          </p:spPr>
          <p:txBody>
            <a:bodyPr wrap="none" anchor="ctr"/>
            <a:lstStyle/>
            <a:p>
              <a:endParaRPr lang="zh-CN" altLang="en-US"/>
            </a:p>
          </p:txBody>
        </p:sp>
        <p:sp>
          <p:nvSpPr>
            <p:cNvPr id="79906" name="Text Box 73"/>
            <p:cNvSpPr txBox="1">
              <a:spLocks noChangeArrowheads="1"/>
            </p:cNvSpPr>
            <p:nvPr/>
          </p:nvSpPr>
          <p:spPr bwMode="auto">
            <a:xfrm rot="731040">
              <a:off x="3735" y="461"/>
              <a:ext cx="1724" cy="394"/>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a:spAutoFit/>
            </a:bodyPr>
            <a:lstStyle/>
            <a:p>
              <a:r>
                <a:rPr lang="zh-CN" altLang="en-US" sz="3500" b="1">
                  <a:solidFill>
                    <a:srgbClr val="FF3300"/>
                  </a:solidFill>
                  <a:ea typeface="华文新魏" pitchFamily="2" charset="-122"/>
                </a:rPr>
                <a:t>分两种情况</a:t>
              </a:r>
            </a:p>
          </p:txBody>
        </p:sp>
      </p:grpSp>
      <p:grpSp>
        <p:nvGrpSpPr>
          <p:cNvPr id="15" name="Group 85"/>
          <p:cNvGrpSpPr>
            <a:grpSpLocks/>
          </p:cNvGrpSpPr>
          <p:nvPr/>
        </p:nvGrpSpPr>
        <p:grpSpPr bwMode="auto">
          <a:xfrm>
            <a:off x="1096963" y="88901"/>
            <a:ext cx="3400425" cy="647700"/>
            <a:chOff x="402" y="288"/>
            <a:chExt cx="2142" cy="408"/>
          </a:xfrm>
        </p:grpSpPr>
        <p:sp>
          <p:nvSpPr>
            <p:cNvPr id="79903" name="AutoShape 83"/>
            <p:cNvSpPr>
              <a:spLocks noChangeArrowheads="1"/>
            </p:cNvSpPr>
            <p:nvPr/>
          </p:nvSpPr>
          <p:spPr bwMode="auto">
            <a:xfrm>
              <a:off x="402" y="288"/>
              <a:ext cx="1968" cy="408"/>
            </a:xfrm>
            <a:prstGeom prst="cloudCallout">
              <a:avLst>
                <a:gd name="adj1" fmla="val 15245"/>
                <a:gd name="adj2" fmla="val 40194"/>
              </a:avLst>
            </a:prstGeom>
            <a:solidFill>
              <a:srgbClr val="EEDDFF"/>
            </a:solidFill>
            <a:ln w="12700" cap="sq">
              <a:noFill/>
              <a:round/>
              <a:headEnd type="none" w="sm" len="sm"/>
              <a:tailEnd type="none" w="sm" len="sm"/>
            </a:ln>
            <a:effectLst>
              <a:outerShdw dist="96720" dir="1391915" algn="ctr" rotWithShape="0">
                <a:srgbClr val="C0C0C0"/>
              </a:outerShdw>
            </a:effectLst>
          </p:spPr>
          <p:txBody>
            <a:bodyPr/>
            <a:lstStyle/>
            <a:p>
              <a:pPr algn="ctr"/>
              <a:endParaRPr lang="zh-CN" altLang="en-US" sz="2400" b="1"/>
            </a:p>
          </p:txBody>
        </p:sp>
        <p:sp>
          <p:nvSpPr>
            <p:cNvPr id="79904" name="Text Box 84"/>
            <p:cNvSpPr txBox="1">
              <a:spLocks noChangeArrowheads="1"/>
            </p:cNvSpPr>
            <p:nvPr/>
          </p:nvSpPr>
          <p:spPr bwMode="auto">
            <a:xfrm>
              <a:off x="579" y="312"/>
              <a:ext cx="1965" cy="356"/>
            </a:xfrm>
            <a:prstGeom prst="rect">
              <a:avLst/>
            </a:prstGeom>
            <a:noFill/>
            <a:ln w="12700" cap="sq">
              <a:noFill/>
              <a:miter lim="800000"/>
              <a:headEnd type="none" w="sm" len="sm"/>
              <a:tailEnd type="none" w="sm" len="sm"/>
            </a:ln>
          </p:spPr>
          <p:txBody>
            <a:bodyPr>
              <a:spAutoFit/>
            </a:bodyPr>
            <a:lstStyle/>
            <a:p>
              <a:pPr eaLnBrk="1" hangingPunct="1"/>
              <a:r>
                <a:rPr kumimoji="1" lang="zh-CN" altLang="en-US" sz="3100" b="1">
                  <a:solidFill>
                    <a:srgbClr val="B20059"/>
                  </a:solidFill>
                </a:rPr>
                <a:t>3. 插入(进队)</a:t>
              </a:r>
            </a:p>
          </p:txBody>
        </p:sp>
      </p:grpSp>
      <p:grpSp>
        <p:nvGrpSpPr>
          <p:cNvPr id="70" name="组合 69"/>
          <p:cNvGrpSpPr/>
          <p:nvPr/>
        </p:nvGrpSpPr>
        <p:grpSpPr>
          <a:xfrm>
            <a:off x="1954213" y="1268414"/>
            <a:ext cx="6157912" cy="587375"/>
            <a:chOff x="430213" y="1268413"/>
            <a:chExt cx="6157912" cy="587375"/>
          </a:xfrm>
        </p:grpSpPr>
        <p:sp>
          <p:nvSpPr>
            <p:cNvPr id="225355" name="Text Box 75"/>
            <p:cNvSpPr txBox="1">
              <a:spLocks noChangeArrowheads="1"/>
            </p:cNvSpPr>
            <p:nvPr/>
          </p:nvSpPr>
          <p:spPr bwMode="auto">
            <a:xfrm>
              <a:off x="3817938" y="1411288"/>
              <a:ext cx="2770187" cy="403225"/>
            </a:xfrm>
            <a:prstGeom prst="rect">
              <a:avLst/>
            </a:prstGeom>
            <a:noFill/>
            <a:ln w="12700" cap="sq">
              <a:noFill/>
              <a:miter lim="800000"/>
              <a:headEnd type="none" w="sm" len="sm"/>
              <a:tailEnd type="none" w="sm" len="sm"/>
            </a:ln>
          </p:spPr>
          <p:txBody>
            <a:bodyPr>
              <a:spAutoFit/>
            </a:bodyPr>
            <a:lstStyle/>
            <a:p>
              <a:pPr>
                <a:lnSpc>
                  <a:spcPct val="85000"/>
                </a:lnSpc>
              </a:pPr>
              <a:r>
                <a:rPr lang="en-US" altLang="zh-CN" sz="2400" b="1">
                  <a:solidFill>
                    <a:schemeClr val="accent2"/>
                  </a:solidFill>
                </a:rPr>
                <a:t>front</a:t>
              </a:r>
              <a:r>
                <a:rPr lang="en-US" altLang="zh-CN" sz="2400" b="1">
                  <a:solidFill>
                    <a:srgbClr val="0000CC"/>
                  </a:solidFill>
                </a:rPr>
                <a:t>=</a:t>
              </a:r>
              <a:r>
                <a:rPr lang="en-US" altLang="zh-CN" sz="2400" b="1">
                  <a:solidFill>
                    <a:srgbClr val="B20059"/>
                  </a:solidFill>
                </a:rPr>
                <a:t>rear</a:t>
              </a:r>
              <a:r>
                <a:rPr lang="en-US" altLang="zh-CN" sz="2400" b="1">
                  <a:solidFill>
                    <a:srgbClr val="0000CC"/>
                  </a:solidFill>
                </a:rPr>
                <a:t>=NULL</a:t>
              </a:r>
            </a:p>
          </p:txBody>
        </p:sp>
        <p:grpSp>
          <p:nvGrpSpPr>
            <p:cNvPr id="16" name="Group 110"/>
            <p:cNvGrpSpPr>
              <a:grpSpLocks/>
            </p:cNvGrpSpPr>
            <p:nvPr/>
          </p:nvGrpSpPr>
          <p:grpSpPr bwMode="auto">
            <a:xfrm>
              <a:off x="430213" y="1268413"/>
              <a:ext cx="3654425" cy="587375"/>
              <a:chOff x="271" y="845"/>
              <a:chExt cx="2302" cy="370"/>
            </a:xfrm>
          </p:grpSpPr>
          <p:grpSp>
            <p:nvGrpSpPr>
              <p:cNvPr id="17" name="Group 91"/>
              <p:cNvGrpSpPr>
                <a:grpSpLocks/>
              </p:cNvGrpSpPr>
              <p:nvPr/>
            </p:nvGrpSpPr>
            <p:grpSpPr bwMode="auto">
              <a:xfrm>
                <a:off x="271" y="845"/>
                <a:ext cx="432" cy="365"/>
                <a:chOff x="144" y="2404"/>
                <a:chExt cx="432" cy="365"/>
              </a:xfrm>
            </p:grpSpPr>
            <p:sp>
              <p:nvSpPr>
                <p:cNvPr id="79901" name="Oval 92"/>
                <p:cNvSpPr>
                  <a:spLocks noChangeArrowheads="1"/>
                </p:cNvSpPr>
                <p:nvPr/>
              </p:nvSpPr>
              <p:spPr bwMode="auto">
                <a:xfrm>
                  <a:off x="144" y="2448"/>
                  <a:ext cx="432" cy="321"/>
                </a:xfrm>
                <a:prstGeom prst="ellipse">
                  <a:avLst/>
                </a:prstGeom>
                <a:solidFill>
                  <a:srgbClr val="FFEAD5"/>
                </a:solidFill>
                <a:ln w="50800" cap="sq">
                  <a:noFill/>
                  <a:round/>
                  <a:headEnd type="none" w="sm" len="sm"/>
                  <a:tailEnd type="none" w="sm" len="sm"/>
                </a:ln>
                <a:effectLst>
                  <a:outerShdw dist="45791" dir="2021404" algn="ctr" rotWithShape="0">
                    <a:srgbClr val="D6D6D6"/>
                  </a:outerShdw>
                </a:effectLst>
              </p:spPr>
              <p:txBody>
                <a:bodyPr wrap="none" anchor="ctr"/>
                <a:lstStyle/>
                <a:p>
                  <a:endParaRPr lang="zh-CN" altLang="en-US"/>
                </a:p>
              </p:txBody>
            </p:sp>
            <p:sp>
              <p:nvSpPr>
                <p:cNvPr id="79902" name="Text Box 93"/>
                <p:cNvSpPr txBox="1">
                  <a:spLocks noChangeArrowheads="1"/>
                </p:cNvSpPr>
                <p:nvPr/>
              </p:nvSpPr>
              <p:spPr bwMode="auto">
                <a:xfrm>
                  <a:off x="258" y="2404"/>
                  <a:ext cx="183" cy="233"/>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wrap="none">
                  <a:spAutoFit/>
                </a:bodyPr>
                <a:lstStyle/>
                <a:p>
                  <a:r>
                    <a:rPr lang="zh-CN" altLang="en-US" b="1">
                      <a:solidFill>
                        <a:srgbClr val="FF3300"/>
                      </a:solidFill>
                    </a:rPr>
                    <a:t>1</a:t>
                  </a:r>
                </a:p>
              </p:txBody>
            </p:sp>
          </p:grpSp>
          <p:sp>
            <p:nvSpPr>
              <p:cNvPr id="79899" name="Rectangle 107"/>
              <p:cNvSpPr>
                <a:spLocks noChangeArrowheads="1"/>
              </p:cNvSpPr>
              <p:nvPr/>
            </p:nvSpPr>
            <p:spPr bwMode="auto">
              <a:xfrm>
                <a:off x="804" y="897"/>
                <a:ext cx="1452" cy="318"/>
              </a:xfrm>
              <a:prstGeom prst="rect">
                <a:avLst/>
              </a:prstGeom>
              <a:gradFill rotWithShape="1">
                <a:gsLst>
                  <a:gs pos="0">
                    <a:srgbClr val="0000FF"/>
                  </a:gs>
                  <a:gs pos="50000">
                    <a:srgbClr val="000076"/>
                  </a:gs>
                  <a:gs pos="100000">
                    <a:srgbClr val="0000FF"/>
                  </a:gs>
                </a:gsLst>
                <a:lin ang="5400000" scaled="1"/>
              </a:gradFill>
              <a:ln w="12700" cap="sq">
                <a:noFill/>
                <a:miter lim="800000"/>
                <a:headEnd type="none" w="sm" len="sm"/>
                <a:tailEnd type="none" w="sm" len="sm"/>
              </a:ln>
              <a:effectLst>
                <a:outerShdw dist="63500" dir="2212194" algn="ctr" rotWithShape="0">
                  <a:schemeClr val="bg2">
                    <a:alpha val="50000"/>
                  </a:schemeClr>
                </a:outerShdw>
              </a:effectLst>
            </p:spPr>
            <p:txBody>
              <a:bodyPr wrap="none" anchor="ctr"/>
              <a:lstStyle/>
              <a:p>
                <a:endParaRPr lang="zh-CN" altLang="en-US"/>
              </a:p>
            </p:txBody>
          </p:sp>
          <p:sp>
            <p:nvSpPr>
              <p:cNvPr id="79900" name="Text Box 108"/>
              <p:cNvSpPr txBox="1">
                <a:spLocks noChangeArrowheads="1"/>
              </p:cNvSpPr>
              <p:nvPr/>
            </p:nvSpPr>
            <p:spPr bwMode="auto">
              <a:xfrm>
                <a:off x="837" y="883"/>
                <a:ext cx="1736" cy="308"/>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a:spAutoFit/>
              </a:bodyPr>
              <a:lstStyle/>
              <a:p>
                <a:r>
                  <a:rPr lang="zh-CN" altLang="en-US" sz="2600" b="1">
                    <a:solidFill>
                      <a:srgbClr val="FFFFFF"/>
                    </a:solidFill>
                    <a:ea typeface="幼圆" pitchFamily="49" charset="-122"/>
                  </a:rPr>
                  <a:t>初始队列为空</a:t>
                </a:r>
              </a:p>
            </p:txBody>
          </p:sp>
        </p:grpSp>
      </p:grpSp>
      <p:grpSp>
        <p:nvGrpSpPr>
          <p:cNvPr id="18" name="Group 117"/>
          <p:cNvGrpSpPr>
            <a:grpSpLocks/>
          </p:cNvGrpSpPr>
          <p:nvPr/>
        </p:nvGrpSpPr>
        <p:grpSpPr bwMode="auto">
          <a:xfrm>
            <a:off x="1847851" y="3573464"/>
            <a:ext cx="3654425" cy="587375"/>
            <a:chOff x="204" y="2292"/>
            <a:chExt cx="2302" cy="370"/>
          </a:xfrm>
        </p:grpSpPr>
        <p:grpSp>
          <p:nvGrpSpPr>
            <p:cNvPr id="19" name="Group 112"/>
            <p:cNvGrpSpPr>
              <a:grpSpLocks/>
            </p:cNvGrpSpPr>
            <p:nvPr/>
          </p:nvGrpSpPr>
          <p:grpSpPr bwMode="auto">
            <a:xfrm>
              <a:off x="204" y="2292"/>
              <a:ext cx="432" cy="365"/>
              <a:chOff x="144" y="2404"/>
              <a:chExt cx="432" cy="365"/>
            </a:xfrm>
          </p:grpSpPr>
          <p:sp>
            <p:nvSpPr>
              <p:cNvPr id="79896" name="Oval 113"/>
              <p:cNvSpPr>
                <a:spLocks noChangeArrowheads="1"/>
              </p:cNvSpPr>
              <p:nvPr/>
            </p:nvSpPr>
            <p:spPr bwMode="auto">
              <a:xfrm>
                <a:off x="144" y="2448"/>
                <a:ext cx="432" cy="321"/>
              </a:xfrm>
              <a:prstGeom prst="ellipse">
                <a:avLst/>
              </a:prstGeom>
              <a:solidFill>
                <a:srgbClr val="FFEAD5"/>
              </a:solidFill>
              <a:ln w="50800" cap="sq">
                <a:noFill/>
                <a:round/>
                <a:headEnd type="none" w="sm" len="sm"/>
                <a:tailEnd type="none" w="sm" len="sm"/>
              </a:ln>
              <a:effectLst>
                <a:outerShdw dist="45791" dir="2021404" algn="ctr" rotWithShape="0">
                  <a:srgbClr val="D6D6D6"/>
                </a:outerShdw>
              </a:effectLst>
            </p:spPr>
            <p:txBody>
              <a:bodyPr wrap="none" anchor="ctr"/>
              <a:lstStyle/>
              <a:p>
                <a:endParaRPr lang="zh-CN" altLang="en-US"/>
              </a:p>
            </p:txBody>
          </p:sp>
          <p:sp>
            <p:nvSpPr>
              <p:cNvPr id="79897" name="Text Box 114"/>
              <p:cNvSpPr txBox="1">
                <a:spLocks noChangeArrowheads="1"/>
              </p:cNvSpPr>
              <p:nvPr/>
            </p:nvSpPr>
            <p:spPr bwMode="auto">
              <a:xfrm>
                <a:off x="258" y="2404"/>
                <a:ext cx="183" cy="233"/>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wrap="none">
                <a:spAutoFit/>
              </a:bodyPr>
              <a:lstStyle/>
              <a:p>
                <a:r>
                  <a:rPr lang="en-US" altLang="zh-CN" b="1">
                    <a:solidFill>
                      <a:srgbClr val="FF3300"/>
                    </a:solidFill>
                  </a:rPr>
                  <a:t>2</a:t>
                </a:r>
              </a:p>
            </p:txBody>
          </p:sp>
        </p:grpSp>
        <p:sp>
          <p:nvSpPr>
            <p:cNvPr id="79894" name="Rectangle 115"/>
            <p:cNvSpPr>
              <a:spLocks noChangeArrowheads="1"/>
            </p:cNvSpPr>
            <p:nvPr/>
          </p:nvSpPr>
          <p:spPr bwMode="auto">
            <a:xfrm>
              <a:off x="737" y="2344"/>
              <a:ext cx="1452" cy="318"/>
            </a:xfrm>
            <a:prstGeom prst="rect">
              <a:avLst/>
            </a:prstGeom>
            <a:gradFill rotWithShape="1">
              <a:gsLst>
                <a:gs pos="0">
                  <a:srgbClr val="0000FF"/>
                </a:gs>
                <a:gs pos="50000">
                  <a:srgbClr val="000076"/>
                </a:gs>
                <a:gs pos="100000">
                  <a:srgbClr val="0000FF"/>
                </a:gs>
              </a:gsLst>
              <a:lin ang="5400000" scaled="1"/>
            </a:gradFill>
            <a:ln w="12700" cap="sq">
              <a:noFill/>
              <a:miter lim="800000"/>
              <a:headEnd type="none" w="sm" len="sm"/>
              <a:tailEnd type="none" w="sm" len="sm"/>
            </a:ln>
            <a:effectLst>
              <a:outerShdw dist="63500" dir="2212194" algn="ctr" rotWithShape="0">
                <a:schemeClr val="bg2">
                  <a:alpha val="50000"/>
                </a:schemeClr>
              </a:outerShdw>
            </a:effectLst>
          </p:spPr>
          <p:txBody>
            <a:bodyPr wrap="none" anchor="ctr"/>
            <a:lstStyle/>
            <a:p>
              <a:endParaRPr lang="zh-CN" altLang="en-US"/>
            </a:p>
          </p:txBody>
        </p:sp>
        <p:sp>
          <p:nvSpPr>
            <p:cNvPr id="79895" name="Text Box 116"/>
            <p:cNvSpPr txBox="1">
              <a:spLocks noChangeArrowheads="1"/>
            </p:cNvSpPr>
            <p:nvPr/>
          </p:nvSpPr>
          <p:spPr bwMode="auto">
            <a:xfrm>
              <a:off x="770" y="2330"/>
              <a:ext cx="1736" cy="308"/>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a:spAutoFit/>
            </a:bodyPr>
            <a:lstStyle/>
            <a:p>
              <a:r>
                <a:rPr lang="zh-CN" altLang="en-US" sz="2600" b="1">
                  <a:solidFill>
                    <a:srgbClr val="FFFFFF"/>
                  </a:solidFill>
                  <a:ea typeface="幼圆" pitchFamily="49" charset="-122"/>
                </a:rPr>
                <a:t>初始队列非空</a:t>
              </a:r>
            </a:p>
          </p:txBody>
        </p:sp>
      </p:grpSp>
    </p:spTree>
  </p:cSld>
  <p:clrMapOvr>
    <a:masterClrMapping/>
  </p:clrMapOvr>
  <p:transition>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52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 calcmode="lin" valueType="num">
                                      <p:cBhvr>
                                        <p:cTn id="9" dur="500" fill="hold"/>
                                        <p:tgtEl>
                                          <p:spTgt spid="14"/>
                                        </p:tgtEl>
                                        <p:attrNameLst>
                                          <p:attrName>ppt_x</p:attrName>
                                        </p:attrNameLst>
                                      </p:cBhvr>
                                      <p:tavLst>
                                        <p:tav tm="0">
                                          <p:val>
                                            <p:fltVal val="0.5"/>
                                          </p:val>
                                        </p:tav>
                                        <p:tav tm="100000">
                                          <p:val>
                                            <p:strVal val="#ppt_x"/>
                                          </p:val>
                                        </p:tav>
                                      </p:tavLst>
                                    </p:anim>
                                    <p:anim calcmode="lin" valueType="num">
                                      <p:cBhvr>
                                        <p:cTn id="10" dur="500" fill="hold"/>
                                        <p:tgtEl>
                                          <p:spTgt spid="14"/>
                                        </p:tgtEl>
                                        <p:attrNameLst>
                                          <p:attrName>ppt_y</p:attrName>
                                        </p:attrNameLst>
                                      </p:cBhvr>
                                      <p:tavLst>
                                        <p:tav tm="0">
                                          <p:val>
                                            <p:fltVal val="0.5"/>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70"/>
                                        </p:tgtEl>
                                        <p:attrNameLst>
                                          <p:attrName>style.visibility</p:attrName>
                                        </p:attrNameLst>
                                      </p:cBhvr>
                                      <p:to>
                                        <p:strVal val="visible"/>
                                      </p:to>
                                    </p:set>
                                    <p:animEffect transition="in" filter="blinds(horizontal)">
                                      <p:cBhvr>
                                        <p:cTn id="15" dur="500"/>
                                        <p:tgtEl>
                                          <p:spTgt spid="7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left)">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25292"/>
                                        </p:tgtEl>
                                        <p:attrNameLst>
                                          <p:attrName>style.visibility</p:attrName>
                                        </p:attrNameLst>
                                      </p:cBhvr>
                                      <p:to>
                                        <p:strVal val="visible"/>
                                      </p:to>
                                    </p:set>
                                    <p:animEffect transition="in" filter="wipe(left)">
                                      <p:cBhvr>
                                        <p:cTn id="25" dur="500"/>
                                        <p:tgtEl>
                                          <p:spTgt spid="225292"/>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71"/>
                                        </p:tgtEl>
                                        <p:attrNameLst>
                                          <p:attrName>style.visibility</p:attrName>
                                        </p:attrNameLst>
                                      </p:cBhvr>
                                      <p:to>
                                        <p:strVal val="visible"/>
                                      </p:to>
                                    </p:set>
                                    <p:animEffect transition="in" filter="blinds(horizontal)">
                                      <p:cBhvr>
                                        <p:cTn id="30" dur="500"/>
                                        <p:tgtEl>
                                          <p:spTgt spid="7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225293"/>
                                        </p:tgtEl>
                                        <p:attrNameLst>
                                          <p:attrName>style.visibility</p:attrName>
                                        </p:attrNameLst>
                                      </p:cBhvr>
                                      <p:to>
                                        <p:strVal val="visible"/>
                                      </p:to>
                                    </p:set>
                                    <p:animEffect transition="in" filter="wipe(up)">
                                      <p:cBhvr>
                                        <p:cTn id="35" dur="500"/>
                                        <p:tgtEl>
                                          <p:spTgt spid="22529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grpId="0" nodeType="clickEffect">
                                  <p:stCondLst>
                                    <p:cond delay="0"/>
                                  </p:stCondLst>
                                  <p:childTnLst>
                                    <p:set>
                                      <p:cBhvr>
                                        <p:cTn id="39" dur="1" fill="hold">
                                          <p:stCondLst>
                                            <p:cond delay="0"/>
                                          </p:stCondLst>
                                        </p:cTn>
                                        <p:tgtEl>
                                          <p:spTgt spid="225294"/>
                                        </p:tgtEl>
                                        <p:attrNameLst>
                                          <p:attrName>style.visibility</p:attrName>
                                        </p:attrNameLst>
                                      </p:cBhvr>
                                      <p:to>
                                        <p:strVal val="visible"/>
                                      </p:to>
                                    </p:set>
                                    <p:animEffect transition="in" filter="wipe(right)">
                                      <p:cBhvr>
                                        <p:cTn id="40" dur="500"/>
                                        <p:tgtEl>
                                          <p:spTgt spid="22529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wipe(left)">
                                      <p:cBhvr>
                                        <p:cTn id="45" dur="500"/>
                                        <p:tgtEl>
                                          <p:spTgt spid="4"/>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72"/>
                                        </p:tgtEl>
                                        <p:attrNameLst>
                                          <p:attrName>style.visibility</p:attrName>
                                        </p:attrNameLst>
                                      </p:cBhvr>
                                      <p:to>
                                        <p:strVal val="visible"/>
                                      </p:to>
                                    </p:set>
                                    <p:animEffect transition="in" filter="blinds(horizontal)">
                                      <p:cBhvr>
                                        <p:cTn id="50" dur="500"/>
                                        <p:tgtEl>
                                          <p:spTgt spid="7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25324"/>
                                        </p:tgtEl>
                                        <p:attrNameLst>
                                          <p:attrName>style.visibility</p:attrName>
                                        </p:attrNameLst>
                                      </p:cBhvr>
                                      <p:to>
                                        <p:strVal val="visible"/>
                                      </p:to>
                                    </p:set>
                                    <p:animEffect transition="in" filter="wipe(left)">
                                      <p:cBhvr>
                                        <p:cTn id="55" dur="500"/>
                                        <p:tgtEl>
                                          <p:spTgt spid="225324"/>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nodeType="click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wipe(down)">
                                      <p:cBhvr>
                                        <p:cTn id="60" dur="500"/>
                                        <p:tgtEl>
                                          <p:spTgt spid="12"/>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nodeType="clickEffect">
                                  <p:stCondLst>
                                    <p:cond delay="0"/>
                                  </p:stCondLst>
                                  <p:childTnLst>
                                    <p:set>
                                      <p:cBhvr>
                                        <p:cTn id="64" dur="1" fill="hold">
                                          <p:stCondLst>
                                            <p:cond delay="0"/>
                                          </p:stCondLst>
                                        </p:cTn>
                                        <p:tgtEl>
                                          <p:spTgt spid="11"/>
                                        </p:tgtEl>
                                        <p:attrNameLst>
                                          <p:attrName>style.visibility</p:attrName>
                                        </p:attrNameLst>
                                      </p:cBhvr>
                                      <p:to>
                                        <p:strVal val="visible"/>
                                      </p:to>
                                    </p:set>
                                    <p:animEffect transition="in" filter="wipe(up)">
                                      <p:cBhvr>
                                        <p:cTn id="65" dur="500"/>
                                        <p:tgtEl>
                                          <p:spTgt spid="11"/>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1" fill="hold" nodeType="clickEffect">
                                  <p:stCondLst>
                                    <p:cond delay="0"/>
                                  </p:stCondLst>
                                  <p:childTnLst>
                                    <p:set>
                                      <p:cBhvr>
                                        <p:cTn id="69" dur="1" fill="hold">
                                          <p:stCondLst>
                                            <p:cond delay="0"/>
                                          </p:stCondLst>
                                        </p:cTn>
                                        <p:tgtEl>
                                          <p:spTgt spid="13"/>
                                        </p:tgtEl>
                                        <p:attrNameLst>
                                          <p:attrName>style.visibility</p:attrName>
                                        </p:attrNameLst>
                                      </p:cBhvr>
                                      <p:to>
                                        <p:strVal val="visible"/>
                                      </p:to>
                                    </p:set>
                                    <p:animEffect transition="in" filter="wipe(up)">
                                      <p:cBhvr>
                                        <p:cTn id="7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92" grpId="0" autoUpdateAnimBg="0"/>
      <p:bldP spid="225293" grpId="0" animBg="1"/>
      <p:bldP spid="225294" grpId="0" animBg="1"/>
      <p:bldP spid="225324"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9"/>
          <p:cNvGrpSpPr>
            <a:grpSpLocks/>
          </p:cNvGrpSpPr>
          <p:nvPr/>
        </p:nvGrpSpPr>
        <p:grpSpPr bwMode="auto">
          <a:xfrm>
            <a:off x="1992314" y="914400"/>
            <a:ext cx="9072238" cy="5105400"/>
            <a:chOff x="265" y="624"/>
            <a:chExt cx="5369" cy="3216"/>
          </a:xfrm>
        </p:grpSpPr>
        <p:sp>
          <p:nvSpPr>
            <p:cNvPr id="80902" name="Rectangle 3"/>
            <p:cNvSpPr>
              <a:spLocks noChangeArrowheads="1"/>
            </p:cNvSpPr>
            <p:nvPr/>
          </p:nvSpPr>
          <p:spPr bwMode="auto">
            <a:xfrm>
              <a:off x="303" y="624"/>
              <a:ext cx="5088" cy="3216"/>
            </a:xfrm>
            <a:prstGeom prst="rect">
              <a:avLst/>
            </a:prstGeom>
            <a:solidFill>
              <a:srgbClr val="CCFFFF"/>
            </a:solidFill>
            <a:ln w="12700" cap="sq">
              <a:noFill/>
              <a:miter lim="800000"/>
              <a:headEnd type="none" w="sm" len="sm"/>
              <a:tailEnd type="none" w="sm" len="sm"/>
            </a:ln>
            <a:effectLst>
              <a:outerShdw dist="216273" dir="2414181" algn="ctr" rotWithShape="0">
                <a:srgbClr val="CDCDCD"/>
              </a:outerShdw>
            </a:effectLst>
          </p:spPr>
          <p:txBody>
            <a:bodyPr wrap="none" anchor="ctr"/>
            <a:lstStyle/>
            <a:p>
              <a:endParaRPr lang="zh-CN" altLang="en-US"/>
            </a:p>
          </p:txBody>
        </p:sp>
        <p:sp>
          <p:nvSpPr>
            <p:cNvPr id="80903" name="Text Box 4"/>
            <p:cNvSpPr txBox="1">
              <a:spLocks noChangeArrowheads="1"/>
            </p:cNvSpPr>
            <p:nvPr/>
          </p:nvSpPr>
          <p:spPr bwMode="auto">
            <a:xfrm>
              <a:off x="265" y="929"/>
              <a:ext cx="5369" cy="2239"/>
            </a:xfrm>
            <a:prstGeom prst="rect">
              <a:avLst/>
            </a:prstGeom>
            <a:noFill/>
            <a:ln w="12700" cap="sq">
              <a:noFill/>
              <a:miter lim="800000"/>
              <a:headEnd type="none" w="sm" len="sm"/>
              <a:tailEnd type="none" w="sm" len="sm"/>
            </a:ln>
          </p:spPr>
          <p:txBody>
            <a:bodyPr wrap="square">
              <a:spAutoFit/>
            </a:bodyPr>
            <a:lstStyle/>
            <a:p>
              <a:pPr eaLnBrk="1" hangingPunct="1">
                <a:lnSpc>
                  <a:spcPct val="75000"/>
                </a:lnSpc>
              </a:pPr>
              <a:r>
                <a:rPr kumimoji="1" lang="en-US" altLang="zh-CN" sz="2500" b="1" dirty="0">
                  <a:solidFill>
                    <a:srgbClr val="002B80"/>
                  </a:solidFill>
                </a:rPr>
                <a:t>void  </a:t>
              </a:r>
              <a:r>
                <a:rPr kumimoji="1" lang="en-US" altLang="zh-CN" sz="2500" b="1" dirty="0" err="1">
                  <a:solidFill>
                    <a:srgbClr val="002B80"/>
                  </a:solidFill>
                </a:rPr>
                <a:t>enLQueue</a:t>
              </a:r>
              <a:r>
                <a:rPr kumimoji="1" lang="en-US" altLang="zh-CN" sz="2500" b="1" dirty="0">
                  <a:solidFill>
                    <a:srgbClr val="002B80"/>
                  </a:solidFill>
                </a:rPr>
                <a:t>(</a:t>
              </a:r>
              <a:r>
                <a:rPr kumimoji="1" lang="en-US" altLang="zh-CN" sz="2500" b="1" dirty="0" err="1">
                  <a:solidFill>
                    <a:srgbClr val="002B80"/>
                  </a:solidFill>
                </a:rPr>
                <a:t>ElemType</a:t>
              </a:r>
              <a:r>
                <a:rPr kumimoji="1" lang="en-US" altLang="zh-CN" sz="2500" b="1" dirty="0">
                  <a:solidFill>
                    <a:srgbClr val="002B80"/>
                  </a:solidFill>
                </a:rPr>
                <a:t>  item )</a:t>
              </a:r>
            </a:p>
            <a:p>
              <a:pPr eaLnBrk="1" hangingPunct="1">
                <a:lnSpc>
                  <a:spcPct val="75000"/>
                </a:lnSpc>
              </a:pPr>
              <a:r>
                <a:rPr kumimoji="1" lang="en-US" altLang="zh-CN" sz="2500" b="1" dirty="0">
                  <a:solidFill>
                    <a:srgbClr val="002B80"/>
                  </a:solidFill>
                </a:rPr>
                <a:t>{     </a:t>
              </a:r>
              <a:r>
                <a:rPr kumimoji="1" lang="en-US" altLang="zh-CN" sz="2500" b="1" dirty="0" err="1">
                  <a:solidFill>
                    <a:srgbClr val="002B80"/>
                  </a:solidFill>
                </a:rPr>
                <a:t>QNodeptr</a:t>
              </a:r>
              <a:r>
                <a:rPr kumimoji="1" lang="en-US" altLang="zh-CN" sz="2500" b="1" dirty="0">
                  <a:solidFill>
                    <a:srgbClr val="002B80"/>
                  </a:solidFill>
                </a:rPr>
                <a:t>  p;</a:t>
              </a:r>
            </a:p>
            <a:p>
              <a:pPr eaLnBrk="1" hangingPunct="1">
                <a:lnSpc>
                  <a:spcPct val="75000"/>
                </a:lnSpc>
              </a:pPr>
              <a:r>
                <a:rPr kumimoji="1" lang="en-US" altLang="zh-CN" sz="2500" b="1" dirty="0">
                  <a:solidFill>
                    <a:srgbClr val="002B80"/>
                  </a:solidFill>
                </a:rPr>
                <a:t>       if((p=(</a:t>
              </a:r>
              <a:r>
                <a:rPr kumimoji="1" lang="en-US" altLang="zh-CN" sz="2500" b="1" dirty="0" err="1">
                  <a:solidFill>
                    <a:srgbClr val="002B80"/>
                  </a:solidFill>
                </a:rPr>
                <a:t>QNodeptr</a:t>
              </a:r>
              <a:r>
                <a:rPr kumimoji="1" lang="en-US" altLang="zh-CN" sz="2500" b="1" dirty="0">
                  <a:solidFill>
                    <a:srgbClr val="002B80"/>
                  </a:solidFill>
                </a:rPr>
                <a:t>)</a:t>
              </a:r>
              <a:r>
                <a:rPr kumimoji="1" lang="en-US" altLang="zh-CN" sz="2500" b="1" dirty="0" err="1">
                  <a:solidFill>
                    <a:srgbClr val="002B80"/>
                  </a:solidFill>
                </a:rPr>
                <a:t>malloc</a:t>
              </a:r>
              <a:r>
                <a:rPr kumimoji="1" lang="en-US" altLang="zh-CN" sz="2500" b="1" dirty="0">
                  <a:solidFill>
                    <a:srgbClr val="002B80"/>
                  </a:solidFill>
                </a:rPr>
                <a:t>(</a:t>
              </a:r>
              <a:r>
                <a:rPr kumimoji="1" lang="en-US" altLang="zh-CN" sz="2500" b="1" dirty="0" err="1">
                  <a:solidFill>
                    <a:srgbClr val="002B80"/>
                  </a:solidFill>
                </a:rPr>
                <a:t>sizeof</a:t>
              </a:r>
              <a:r>
                <a:rPr kumimoji="1" lang="en-US" altLang="zh-CN" sz="2500" b="1" dirty="0">
                  <a:solidFill>
                    <a:srgbClr val="002B80"/>
                  </a:solidFill>
                </a:rPr>
                <a:t>(</a:t>
              </a:r>
              <a:r>
                <a:rPr kumimoji="1" lang="en-US" altLang="zh-CN" sz="2500" b="1" dirty="0" err="1">
                  <a:solidFill>
                    <a:srgbClr val="002B80"/>
                  </a:solidFill>
                </a:rPr>
                <a:t>QNode</a:t>
              </a:r>
              <a:r>
                <a:rPr kumimoji="1" lang="en-US" altLang="zh-CN" sz="2500" b="1" dirty="0">
                  <a:solidFill>
                    <a:srgbClr val="002B80"/>
                  </a:solidFill>
                </a:rPr>
                <a:t>))) ==NULL)  </a:t>
              </a:r>
              <a:r>
                <a:rPr kumimoji="1" lang="en-US" altLang="zh-CN" b="1" dirty="0">
                  <a:solidFill>
                    <a:srgbClr val="002B80"/>
                  </a:solidFill>
                </a:rPr>
                <a:t>/* </a:t>
              </a:r>
              <a:r>
                <a:rPr kumimoji="1" lang="zh-CN" altLang="en-US" b="1" dirty="0">
                  <a:solidFill>
                    <a:srgbClr val="002B80"/>
                  </a:solidFill>
                  <a:ea typeface="幼圆" pitchFamily="49" charset="-122"/>
                </a:rPr>
                <a:t>申请链结点</a:t>
              </a:r>
              <a:r>
                <a:rPr kumimoji="1" lang="zh-CN" altLang="en-US" b="1" dirty="0">
                  <a:solidFill>
                    <a:srgbClr val="002B80"/>
                  </a:solidFill>
                </a:rPr>
                <a:t> */</a:t>
              </a:r>
              <a:endParaRPr kumimoji="1" lang="zh-CN" altLang="en-US" sz="2200" b="1" dirty="0">
                <a:solidFill>
                  <a:srgbClr val="002B80"/>
                </a:solidFill>
              </a:endParaRPr>
            </a:p>
            <a:p>
              <a:pPr eaLnBrk="1" hangingPunct="1">
                <a:lnSpc>
                  <a:spcPct val="75000"/>
                </a:lnSpc>
              </a:pPr>
              <a:r>
                <a:rPr kumimoji="1" lang="zh-CN" altLang="en-US" sz="2200" b="1" dirty="0">
                  <a:solidFill>
                    <a:srgbClr val="002B80"/>
                  </a:solidFill>
                </a:rPr>
                <a:t>                </a:t>
              </a:r>
              <a:r>
                <a:rPr kumimoji="1" lang="en-US" altLang="zh-CN" sz="2500" b="1" dirty="0">
                  <a:solidFill>
                    <a:srgbClr val="002B80"/>
                  </a:solidFill>
                </a:rPr>
                <a:t>Error(“No memory! ”)</a:t>
              </a:r>
              <a:r>
                <a:rPr kumimoji="1" lang="en-US" altLang="zh-CN" sz="2200" b="1" dirty="0">
                  <a:solidFill>
                    <a:srgbClr val="002B80"/>
                  </a:solidFill>
                </a:rPr>
                <a:t>;</a:t>
              </a:r>
            </a:p>
            <a:p>
              <a:pPr eaLnBrk="1" hangingPunct="1">
                <a:lnSpc>
                  <a:spcPct val="75000"/>
                </a:lnSpc>
              </a:pPr>
              <a:r>
                <a:rPr kumimoji="1" lang="en-US" altLang="zh-CN" sz="2500" b="1" dirty="0">
                  <a:solidFill>
                    <a:srgbClr val="002B80"/>
                  </a:solidFill>
                </a:rPr>
                <a:t>       p</a:t>
              </a:r>
              <a:r>
                <a:rPr kumimoji="1" lang="en-US" altLang="zh-CN" sz="2500" b="1" dirty="0">
                  <a:solidFill>
                    <a:srgbClr val="002B80"/>
                  </a:solidFill>
                  <a:latin typeface="宋体" charset="-122"/>
                  <a:ea typeface="宋体" charset="-122"/>
                </a:rPr>
                <a:t>-</a:t>
              </a:r>
              <a:r>
                <a:rPr kumimoji="1" lang="en-US" altLang="zh-CN" sz="2500" b="1" dirty="0">
                  <a:solidFill>
                    <a:srgbClr val="002B80"/>
                  </a:solidFill>
                </a:rPr>
                <a:t>&gt;data=</a:t>
              </a:r>
              <a:r>
                <a:rPr lang="en-US" altLang="zh-CN" sz="2500" b="1" dirty="0">
                  <a:solidFill>
                    <a:srgbClr val="002B80"/>
                  </a:solidFill>
                </a:rPr>
                <a:t>item;</a:t>
              </a:r>
            </a:p>
            <a:p>
              <a:pPr eaLnBrk="1" hangingPunct="1">
                <a:lnSpc>
                  <a:spcPct val="75000"/>
                </a:lnSpc>
              </a:pPr>
              <a:r>
                <a:rPr lang="en-US" altLang="zh-CN" sz="2500" b="1" dirty="0">
                  <a:solidFill>
                    <a:srgbClr val="002B80"/>
                  </a:solidFill>
                </a:rPr>
                <a:t>       p</a:t>
              </a:r>
              <a:r>
                <a:rPr kumimoji="1" lang="en-US" altLang="zh-CN" sz="2500" b="1" dirty="0">
                  <a:solidFill>
                    <a:srgbClr val="002B80"/>
                  </a:solidFill>
                  <a:latin typeface="宋体" charset="-122"/>
                  <a:ea typeface="宋体" charset="-122"/>
                </a:rPr>
                <a:t>-</a:t>
              </a:r>
              <a:r>
                <a:rPr lang="en-US" altLang="zh-CN" sz="2500" b="1" dirty="0">
                  <a:solidFill>
                    <a:srgbClr val="002B80"/>
                  </a:solidFill>
                </a:rPr>
                <a:t>&gt;link=NULL;</a:t>
              </a:r>
            </a:p>
            <a:p>
              <a:pPr eaLnBrk="1" hangingPunct="1">
                <a:lnSpc>
                  <a:spcPct val="75000"/>
                </a:lnSpc>
              </a:pPr>
              <a:r>
                <a:rPr lang="en-US" altLang="zh-CN" sz="2500" b="1" dirty="0">
                  <a:solidFill>
                    <a:srgbClr val="002B80"/>
                  </a:solidFill>
                </a:rPr>
                <a:t>       if(Front==NULL) </a:t>
              </a:r>
            </a:p>
            <a:p>
              <a:pPr eaLnBrk="1" hangingPunct="1">
                <a:lnSpc>
                  <a:spcPct val="75000"/>
                </a:lnSpc>
              </a:pPr>
              <a:r>
                <a:rPr lang="en-US" altLang="zh-CN" sz="2500" b="1" dirty="0">
                  <a:solidFill>
                    <a:srgbClr val="002B80"/>
                  </a:solidFill>
                </a:rPr>
                <a:t>              Front=p;                        /* </a:t>
              </a:r>
              <a:r>
                <a:rPr lang="zh-CN" altLang="en-US" sz="2200" b="1" dirty="0">
                  <a:solidFill>
                    <a:srgbClr val="002B80"/>
                  </a:solidFill>
                  <a:ea typeface="幼圆" pitchFamily="49" charset="-122"/>
                </a:rPr>
                <a:t>插入空队的情况</a:t>
              </a:r>
              <a:r>
                <a:rPr lang="zh-CN" altLang="en-US" sz="2500" b="1" dirty="0">
                  <a:solidFill>
                    <a:srgbClr val="002B80"/>
                  </a:solidFill>
                </a:rPr>
                <a:t> */</a:t>
              </a:r>
            </a:p>
            <a:p>
              <a:pPr eaLnBrk="1" hangingPunct="1">
                <a:lnSpc>
                  <a:spcPct val="75000"/>
                </a:lnSpc>
              </a:pPr>
              <a:r>
                <a:rPr lang="zh-CN" altLang="zh-CN" sz="2500" b="1" dirty="0">
                  <a:solidFill>
                    <a:srgbClr val="002B80"/>
                  </a:solidFill>
                </a:rPr>
                <a:t>    </a:t>
              </a:r>
              <a:r>
                <a:rPr lang="zh-CN" altLang="en-US" sz="2500" b="1" dirty="0">
                  <a:solidFill>
                    <a:srgbClr val="002B80"/>
                  </a:solidFill>
                </a:rPr>
                <a:t>  </a:t>
              </a:r>
              <a:r>
                <a:rPr lang="zh-CN" altLang="zh-CN" sz="2500" b="1" dirty="0">
                  <a:solidFill>
                    <a:srgbClr val="002B80"/>
                  </a:solidFill>
                </a:rPr>
                <a:t> </a:t>
              </a:r>
              <a:r>
                <a:rPr lang="en-US" altLang="zh-CN" sz="2500" b="1" dirty="0">
                  <a:solidFill>
                    <a:srgbClr val="002B80"/>
                  </a:solidFill>
                </a:rPr>
                <a:t>else</a:t>
              </a:r>
            </a:p>
            <a:p>
              <a:pPr eaLnBrk="1" hangingPunct="1">
                <a:lnSpc>
                  <a:spcPct val="75000"/>
                </a:lnSpc>
              </a:pPr>
              <a:r>
                <a:rPr lang="en-US" altLang="zh-CN" sz="2500" b="1" dirty="0">
                  <a:solidFill>
                    <a:srgbClr val="002B80"/>
                  </a:solidFill>
                </a:rPr>
                <a:t>              Rear</a:t>
              </a:r>
              <a:r>
                <a:rPr kumimoji="1" lang="en-US" altLang="zh-CN" sz="2500" b="1" dirty="0">
                  <a:solidFill>
                    <a:srgbClr val="002B80"/>
                  </a:solidFill>
                  <a:latin typeface="宋体" charset="-122"/>
                  <a:ea typeface="宋体" charset="-122"/>
                </a:rPr>
                <a:t>-</a:t>
              </a:r>
              <a:r>
                <a:rPr lang="en-US" altLang="zh-CN" sz="2500" b="1" dirty="0">
                  <a:solidFill>
                    <a:srgbClr val="002B80"/>
                  </a:solidFill>
                </a:rPr>
                <a:t>&gt;link=p;</a:t>
              </a:r>
            </a:p>
            <a:p>
              <a:pPr eaLnBrk="1" hangingPunct="1">
                <a:lnSpc>
                  <a:spcPct val="75000"/>
                </a:lnSpc>
              </a:pPr>
              <a:r>
                <a:rPr lang="en-US" altLang="zh-CN" sz="2500" b="1" dirty="0">
                  <a:solidFill>
                    <a:srgbClr val="002B80"/>
                  </a:solidFill>
                </a:rPr>
                <a:t>       Rear=p;                                /* </a:t>
              </a:r>
              <a:r>
                <a:rPr lang="zh-CN" altLang="en-US" sz="2200" b="1" dirty="0">
                  <a:solidFill>
                    <a:srgbClr val="002B80"/>
                  </a:solidFill>
                  <a:ea typeface="幼圆" pitchFamily="49" charset="-122"/>
                </a:rPr>
                <a:t>插入非空队的情况</a:t>
              </a:r>
              <a:r>
                <a:rPr lang="zh-CN" altLang="en-US" sz="2500" b="1" dirty="0">
                  <a:solidFill>
                    <a:srgbClr val="002B80"/>
                  </a:solidFill>
                </a:rPr>
                <a:t> */</a:t>
              </a:r>
              <a:r>
                <a:rPr lang="en-US" altLang="zh-CN" sz="2500" b="1" dirty="0">
                  <a:solidFill>
                    <a:srgbClr val="002B80"/>
                  </a:solidFill>
                </a:rPr>
                <a:t>   </a:t>
              </a:r>
            </a:p>
            <a:p>
              <a:pPr eaLnBrk="1" hangingPunct="1">
                <a:lnSpc>
                  <a:spcPct val="75000"/>
                </a:lnSpc>
              </a:pPr>
              <a:r>
                <a:rPr lang="en-US" altLang="zh-CN" sz="2500" b="1" dirty="0">
                  <a:solidFill>
                    <a:srgbClr val="002B80"/>
                  </a:solidFill>
                </a:rPr>
                <a:t>}</a:t>
              </a:r>
            </a:p>
          </p:txBody>
        </p:sp>
      </p:grpSp>
      <p:grpSp>
        <p:nvGrpSpPr>
          <p:cNvPr id="3" name="Group 30"/>
          <p:cNvGrpSpPr>
            <a:grpSpLocks/>
          </p:cNvGrpSpPr>
          <p:nvPr/>
        </p:nvGrpSpPr>
        <p:grpSpPr bwMode="auto">
          <a:xfrm>
            <a:off x="1127448" y="211932"/>
            <a:ext cx="2209800" cy="944562"/>
            <a:chOff x="240" y="147"/>
            <a:chExt cx="1392" cy="595"/>
          </a:xfrm>
        </p:grpSpPr>
        <p:sp>
          <p:nvSpPr>
            <p:cNvPr id="80900" name="AutoShape 6"/>
            <p:cNvSpPr>
              <a:spLocks noChangeArrowheads="1"/>
            </p:cNvSpPr>
            <p:nvPr/>
          </p:nvSpPr>
          <p:spPr bwMode="auto">
            <a:xfrm rot="-1091790">
              <a:off x="240" y="178"/>
              <a:ext cx="1392" cy="564"/>
            </a:xfrm>
            <a:prstGeom prst="irregularSeal2">
              <a:avLst/>
            </a:prstGeom>
            <a:solidFill>
              <a:srgbClr val="00FF00"/>
            </a:solidFill>
            <a:ln w="50800">
              <a:solidFill>
                <a:srgbClr val="FFFF00"/>
              </a:solidFill>
              <a:miter lim="800000"/>
              <a:headEnd type="none" w="sm" len="sm"/>
              <a:tailEnd type="none" w="sm" len="sm"/>
            </a:ln>
            <a:effectLst>
              <a:outerShdw dist="104727" dir="842175" algn="ctr" rotWithShape="0">
                <a:srgbClr val="777777"/>
              </a:outerShdw>
            </a:effectLst>
          </p:spPr>
          <p:txBody>
            <a:bodyPr wrap="none" anchor="ctr"/>
            <a:lstStyle/>
            <a:p>
              <a:endParaRPr lang="zh-CN" altLang="en-US"/>
            </a:p>
          </p:txBody>
        </p:sp>
        <p:sp>
          <p:nvSpPr>
            <p:cNvPr id="80901" name="Text Box 7"/>
            <p:cNvSpPr txBox="1">
              <a:spLocks noChangeArrowheads="1"/>
            </p:cNvSpPr>
            <p:nvPr/>
          </p:nvSpPr>
          <p:spPr bwMode="auto">
            <a:xfrm rot="119199">
              <a:off x="366" y="147"/>
              <a:ext cx="1198" cy="586"/>
            </a:xfrm>
            <a:prstGeom prst="rect">
              <a:avLst/>
            </a:prstGeom>
            <a:noFill/>
            <a:ln w="12700" cap="sq">
              <a:noFill/>
              <a:miter lim="800000"/>
              <a:headEnd type="none" w="sm" len="sm"/>
              <a:tailEnd type="none" w="sm" len="sm"/>
            </a:ln>
            <a:effectLst>
              <a:outerShdw dist="45791" dir="2021404" algn="ctr" rotWithShape="0">
                <a:schemeClr val="bg2"/>
              </a:outerShdw>
            </a:effectLst>
          </p:spPr>
          <p:txBody>
            <a:bodyPr>
              <a:spAutoFit/>
            </a:bodyPr>
            <a:lstStyle/>
            <a:p>
              <a:r>
                <a:rPr lang="zh-CN" altLang="en-US" sz="5500" b="1" i="1" dirty="0">
                  <a:solidFill>
                    <a:srgbClr val="FF3300"/>
                  </a:solidFill>
                  <a:ea typeface="黑体" pitchFamily="2" charset="-122"/>
                </a:rPr>
                <a:t>算法</a:t>
              </a:r>
            </a:p>
          </p:txBody>
        </p:sp>
      </p:gr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2"/>
          <p:cNvGrpSpPr>
            <a:grpSpLocks/>
          </p:cNvGrpSpPr>
          <p:nvPr/>
        </p:nvGrpSpPr>
        <p:grpSpPr bwMode="auto">
          <a:xfrm>
            <a:off x="2286001" y="1136651"/>
            <a:ext cx="7218363" cy="1195388"/>
            <a:chOff x="480" y="786"/>
            <a:chExt cx="4547" cy="753"/>
          </a:xfrm>
        </p:grpSpPr>
        <p:grpSp>
          <p:nvGrpSpPr>
            <p:cNvPr id="3" name="Group 6"/>
            <p:cNvGrpSpPr>
              <a:grpSpLocks/>
            </p:cNvGrpSpPr>
            <p:nvPr/>
          </p:nvGrpSpPr>
          <p:grpSpPr bwMode="auto">
            <a:xfrm>
              <a:off x="1440" y="1248"/>
              <a:ext cx="528" cy="240"/>
              <a:chOff x="1248" y="2208"/>
              <a:chExt cx="528" cy="240"/>
            </a:xfrm>
          </p:grpSpPr>
          <p:sp>
            <p:nvSpPr>
              <p:cNvPr id="81966" name="Rectangle 7"/>
              <p:cNvSpPr>
                <a:spLocks noChangeArrowheads="1"/>
              </p:cNvSpPr>
              <p:nvPr/>
            </p:nvSpPr>
            <p:spPr bwMode="auto">
              <a:xfrm>
                <a:off x="1248" y="2208"/>
                <a:ext cx="336"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81967" name="Rectangle 8"/>
              <p:cNvSpPr>
                <a:spLocks noChangeArrowheads="1"/>
              </p:cNvSpPr>
              <p:nvPr/>
            </p:nvSpPr>
            <p:spPr bwMode="auto">
              <a:xfrm>
                <a:off x="1584" y="2208"/>
                <a:ext cx="192"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grpSp>
        <p:grpSp>
          <p:nvGrpSpPr>
            <p:cNvPr id="4" name="Group 9"/>
            <p:cNvGrpSpPr>
              <a:grpSpLocks/>
            </p:cNvGrpSpPr>
            <p:nvPr/>
          </p:nvGrpSpPr>
          <p:grpSpPr bwMode="auto">
            <a:xfrm>
              <a:off x="2160" y="1248"/>
              <a:ext cx="528" cy="240"/>
              <a:chOff x="1248" y="2208"/>
              <a:chExt cx="528" cy="240"/>
            </a:xfrm>
          </p:grpSpPr>
          <p:sp>
            <p:nvSpPr>
              <p:cNvPr id="81964" name="Rectangle 10"/>
              <p:cNvSpPr>
                <a:spLocks noChangeArrowheads="1"/>
              </p:cNvSpPr>
              <p:nvPr/>
            </p:nvSpPr>
            <p:spPr bwMode="auto">
              <a:xfrm>
                <a:off x="1248" y="2208"/>
                <a:ext cx="336"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81965" name="Rectangle 11"/>
              <p:cNvSpPr>
                <a:spLocks noChangeArrowheads="1"/>
              </p:cNvSpPr>
              <p:nvPr/>
            </p:nvSpPr>
            <p:spPr bwMode="auto">
              <a:xfrm>
                <a:off x="1584" y="2208"/>
                <a:ext cx="192"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grpSp>
        <p:grpSp>
          <p:nvGrpSpPr>
            <p:cNvPr id="5" name="Group 12"/>
            <p:cNvGrpSpPr>
              <a:grpSpLocks/>
            </p:cNvGrpSpPr>
            <p:nvPr/>
          </p:nvGrpSpPr>
          <p:grpSpPr bwMode="auto">
            <a:xfrm>
              <a:off x="2880" y="1248"/>
              <a:ext cx="528" cy="240"/>
              <a:chOff x="1248" y="2208"/>
              <a:chExt cx="528" cy="240"/>
            </a:xfrm>
          </p:grpSpPr>
          <p:sp>
            <p:nvSpPr>
              <p:cNvPr id="81962" name="Rectangle 13"/>
              <p:cNvSpPr>
                <a:spLocks noChangeArrowheads="1"/>
              </p:cNvSpPr>
              <p:nvPr/>
            </p:nvSpPr>
            <p:spPr bwMode="auto">
              <a:xfrm>
                <a:off x="1248" y="2208"/>
                <a:ext cx="336"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81963" name="Rectangle 14"/>
              <p:cNvSpPr>
                <a:spLocks noChangeArrowheads="1"/>
              </p:cNvSpPr>
              <p:nvPr/>
            </p:nvSpPr>
            <p:spPr bwMode="auto">
              <a:xfrm>
                <a:off x="1584" y="2208"/>
                <a:ext cx="192"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grpSp>
        <p:grpSp>
          <p:nvGrpSpPr>
            <p:cNvPr id="6" name="Group 15"/>
            <p:cNvGrpSpPr>
              <a:grpSpLocks/>
            </p:cNvGrpSpPr>
            <p:nvPr/>
          </p:nvGrpSpPr>
          <p:grpSpPr bwMode="auto">
            <a:xfrm>
              <a:off x="4272" y="1248"/>
              <a:ext cx="528" cy="240"/>
              <a:chOff x="1248" y="2208"/>
              <a:chExt cx="528" cy="240"/>
            </a:xfrm>
          </p:grpSpPr>
          <p:sp>
            <p:nvSpPr>
              <p:cNvPr id="81960" name="Rectangle 16"/>
              <p:cNvSpPr>
                <a:spLocks noChangeArrowheads="1"/>
              </p:cNvSpPr>
              <p:nvPr/>
            </p:nvSpPr>
            <p:spPr bwMode="auto">
              <a:xfrm>
                <a:off x="1248" y="2208"/>
                <a:ext cx="336"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81961" name="Rectangle 17"/>
              <p:cNvSpPr>
                <a:spLocks noChangeArrowheads="1"/>
              </p:cNvSpPr>
              <p:nvPr/>
            </p:nvSpPr>
            <p:spPr bwMode="auto">
              <a:xfrm>
                <a:off x="1584" y="2208"/>
                <a:ext cx="192"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grpSp>
        <p:sp>
          <p:nvSpPr>
            <p:cNvPr id="81946" name="Line 18"/>
            <p:cNvSpPr>
              <a:spLocks noChangeShapeType="1"/>
            </p:cNvSpPr>
            <p:nvPr/>
          </p:nvSpPr>
          <p:spPr bwMode="auto">
            <a:xfrm>
              <a:off x="1872" y="1392"/>
              <a:ext cx="288" cy="0"/>
            </a:xfrm>
            <a:prstGeom prst="line">
              <a:avLst/>
            </a:prstGeom>
            <a:noFill/>
            <a:ln w="19050" cap="sq">
              <a:solidFill>
                <a:srgbClr val="003300"/>
              </a:solidFill>
              <a:round/>
              <a:headEnd type="none" w="sm" len="sm"/>
              <a:tailEnd type="triangle" w="med" len="med"/>
            </a:ln>
          </p:spPr>
          <p:txBody>
            <a:bodyPr/>
            <a:lstStyle/>
            <a:p>
              <a:endParaRPr lang="zh-CN" altLang="en-US"/>
            </a:p>
          </p:txBody>
        </p:sp>
        <p:sp>
          <p:nvSpPr>
            <p:cNvPr id="81947" name="Line 19"/>
            <p:cNvSpPr>
              <a:spLocks noChangeShapeType="1"/>
            </p:cNvSpPr>
            <p:nvPr/>
          </p:nvSpPr>
          <p:spPr bwMode="auto">
            <a:xfrm>
              <a:off x="3984" y="1392"/>
              <a:ext cx="288" cy="0"/>
            </a:xfrm>
            <a:prstGeom prst="line">
              <a:avLst/>
            </a:prstGeom>
            <a:noFill/>
            <a:ln w="15875" cap="sq">
              <a:solidFill>
                <a:srgbClr val="003300"/>
              </a:solidFill>
              <a:round/>
              <a:headEnd type="none" w="sm" len="sm"/>
              <a:tailEnd type="triangle" w="med" len="med"/>
            </a:ln>
          </p:spPr>
          <p:txBody>
            <a:bodyPr/>
            <a:lstStyle/>
            <a:p>
              <a:endParaRPr lang="zh-CN" altLang="en-US"/>
            </a:p>
          </p:txBody>
        </p:sp>
        <p:sp>
          <p:nvSpPr>
            <p:cNvPr id="81948" name="Line 20"/>
            <p:cNvSpPr>
              <a:spLocks noChangeShapeType="1"/>
            </p:cNvSpPr>
            <p:nvPr/>
          </p:nvSpPr>
          <p:spPr bwMode="auto">
            <a:xfrm>
              <a:off x="3312" y="1392"/>
              <a:ext cx="288" cy="0"/>
            </a:xfrm>
            <a:prstGeom prst="line">
              <a:avLst/>
            </a:prstGeom>
            <a:noFill/>
            <a:ln w="15875" cap="sq">
              <a:solidFill>
                <a:srgbClr val="003300"/>
              </a:solidFill>
              <a:round/>
              <a:headEnd type="none" w="sm" len="sm"/>
              <a:tailEnd type="triangle" w="med" len="med"/>
            </a:ln>
          </p:spPr>
          <p:txBody>
            <a:bodyPr/>
            <a:lstStyle/>
            <a:p>
              <a:endParaRPr lang="zh-CN" altLang="en-US"/>
            </a:p>
          </p:txBody>
        </p:sp>
        <p:sp>
          <p:nvSpPr>
            <p:cNvPr id="81949" name="Line 21"/>
            <p:cNvSpPr>
              <a:spLocks noChangeShapeType="1"/>
            </p:cNvSpPr>
            <p:nvPr/>
          </p:nvSpPr>
          <p:spPr bwMode="auto">
            <a:xfrm>
              <a:off x="2592" y="1392"/>
              <a:ext cx="288" cy="0"/>
            </a:xfrm>
            <a:prstGeom prst="line">
              <a:avLst/>
            </a:prstGeom>
            <a:noFill/>
            <a:ln w="15875" cap="sq">
              <a:solidFill>
                <a:srgbClr val="333300"/>
              </a:solidFill>
              <a:round/>
              <a:headEnd type="none" w="sm" len="sm"/>
              <a:tailEnd type="triangle" w="med" len="med"/>
            </a:ln>
          </p:spPr>
          <p:txBody>
            <a:bodyPr/>
            <a:lstStyle/>
            <a:p>
              <a:endParaRPr lang="zh-CN" altLang="en-US"/>
            </a:p>
          </p:txBody>
        </p:sp>
        <p:sp>
          <p:nvSpPr>
            <p:cNvPr id="81950" name="Text Box 22"/>
            <p:cNvSpPr txBox="1">
              <a:spLocks noChangeArrowheads="1"/>
            </p:cNvSpPr>
            <p:nvPr/>
          </p:nvSpPr>
          <p:spPr bwMode="auto">
            <a:xfrm>
              <a:off x="3686" y="1200"/>
              <a:ext cx="275" cy="291"/>
            </a:xfrm>
            <a:prstGeom prst="rect">
              <a:avLst/>
            </a:prstGeom>
            <a:noFill/>
            <a:ln w="12700" cap="sq">
              <a:noFill/>
              <a:miter lim="800000"/>
              <a:headEnd type="none" w="sm" len="sm"/>
              <a:tailEnd type="none" w="sm" len="sm"/>
            </a:ln>
          </p:spPr>
          <p:txBody>
            <a:bodyPr wrap="none">
              <a:spAutoFit/>
            </a:bodyPr>
            <a:lstStyle/>
            <a:p>
              <a:r>
                <a:rPr lang="zh-CN" altLang="en-US" sz="2400" b="1">
                  <a:solidFill>
                    <a:schemeClr val="bg1"/>
                  </a:solidFill>
                  <a:ea typeface="宋体" charset="-122"/>
                  <a:cs typeface="Times New Roman" pitchFamily="18" charset="0"/>
                </a:rPr>
                <a:t>…</a:t>
              </a:r>
            </a:p>
          </p:txBody>
        </p:sp>
        <p:sp>
          <p:nvSpPr>
            <p:cNvPr id="81951" name="Text Box 23"/>
            <p:cNvSpPr txBox="1">
              <a:spLocks noChangeArrowheads="1"/>
            </p:cNvSpPr>
            <p:nvPr/>
          </p:nvSpPr>
          <p:spPr bwMode="auto">
            <a:xfrm>
              <a:off x="480" y="786"/>
              <a:ext cx="418" cy="252"/>
            </a:xfrm>
            <a:prstGeom prst="rect">
              <a:avLst/>
            </a:prstGeom>
            <a:noFill/>
            <a:ln w="12700" cap="sq">
              <a:noFill/>
              <a:miter lim="800000"/>
              <a:headEnd type="none" w="sm" len="sm"/>
              <a:tailEnd type="none" w="sm" len="sm"/>
            </a:ln>
          </p:spPr>
          <p:txBody>
            <a:bodyPr wrap="none">
              <a:spAutoFit/>
            </a:bodyPr>
            <a:lstStyle/>
            <a:p>
              <a:r>
                <a:rPr lang="en-US" altLang="zh-CN" sz="2000" b="1">
                  <a:solidFill>
                    <a:srgbClr val="FF3300"/>
                  </a:solidFill>
                </a:rPr>
                <a:t>front</a:t>
              </a:r>
            </a:p>
          </p:txBody>
        </p:sp>
        <p:sp>
          <p:nvSpPr>
            <p:cNvPr id="81952" name="Line 24"/>
            <p:cNvSpPr>
              <a:spLocks noChangeShapeType="1"/>
            </p:cNvSpPr>
            <p:nvPr/>
          </p:nvSpPr>
          <p:spPr bwMode="auto">
            <a:xfrm>
              <a:off x="768" y="1032"/>
              <a:ext cx="96" cy="180"/>
            </a:xfrm>
            <a:prstGeom prst="line">
              <a:avLst/>
            </a:prstGeom>
            <a:noFill/>
            <a:ln w="19050" cap="sq">
              <a:solidFill>
                <a:srgbClr val="FF0000"/>
              </a:solidFill>
              <a:round/>
              <a:headEnd type="none" w="sm" len="sm"/>
              <a:tailEnd type="triangle" w="med" len="med"/>
            </a:ln>
          </p:spPr>
          <p:txBody>
            <a:bodyPr/>
            <a:lstStyle/>
            <a:p>
              <a:endParaRPr lang="zh-CN" altLang="en-US"/>
            </a:p>
          </p:txBody>
        </p:sp>
        <p:sp>
          <p:nvSpPr>
            <p:cNvPr id="81953" name="Text Box 25"/>
            <p:cNvSpPr txBox="1">
              <a:spLocks noChangeArrowheads="1"/>
            </p:cNvSpPr>
            <p:nvPr/>
          </p:nvSpPr>
          <p:spPr bwMode="auto">
            <a:xfrm>
              <a:off x="4660" y="786"/>
              <a:ext cx="367" cy="252"/>
            </a:xfrm>
            <a:prstGeom prst="rect">
              <a:avLst/>
            </a:prstGeom>
            <a:noFill/>
            <a:ln w="12700" cap="sq">
              <a:noFill/>
              <a:miter lim="800000"/>
              <a:headEnd type="none" w="sm" len="sm"/>
              <a:tailEnd type="none" w="sm" len="sm"/>
            </a:ln>
          </p:spPr>
          <p:txBody>
            <a:bodyPr wrap="none">
              <a:spAutoFit/>
            </a:bodyPr>
            <a:lstStyle/>
            <a:p>
              <a:r>
                <a:rPr lang="en-US" altLang="zh-CN" sz="2000" b="1">
                  <a:solidFill>
                    <a:srgbClr val="FF3300"/>
                  </a:solidFill>
                </a:rPr>
                <a:t>rear</a:t>
              </a:r>
            </a:p>
          </p:txBody>
        </p:sp>
        <p:sp>
          <p:nvSpPr>
            <p:cNvPr id="81954" name="Line 26"/>
            <p:cNvSpPr>
              <a:spLocks noChangeShapeType="1"/>
            </p:cNvSpPr>
            <p:nvPr/>
          </p:nvSpPr>
          <p:spPr bwMode="auto">
            <a:xfrm flipH="1">
              <a:off x="4368" y="1008"/>
              <a:ext cx="384" cy="192"/>
            </a:xfrm>
            <a:prstGeom prst="line">
              <a:avLst/>
            </a:prstGeom>
            <a:noFill/>
            <a:ln w="19050" cap="sq">
              <a:solidFill>
                <a:srgbClr val="FF0000"/>
              </a:solidFill>
              <a:round/>
              <a:headEnd type="none" w="sm" len="sm"/>
              <a:tailEnd type="triangle" w="med" len="med"/>
            </a:ln>
          </p:spPr>
          <p:txBody>
            <a:bodyPr/>
            <a:lstStyle/>
            <a:p>
              <a:endParaRPr lang="zh-CN" altLang="en-US"/>
            </a:p>
          </p:txBody>
        </p:sp>
        <p:grpSp>
          <p:nvGrpSpPr>
            <p:cNvPr id="7" name="Group 27"/>
            <p:cNvGrpSpPr>
              <a:grpSpLocks/>
            </p:cNvGrpSpPr>
            <p:nvPr/>
          </p:nvGrpSpPr>
          <p:grpSpPr bwMode="auto">
            <a:xfrm>
              <a:off x="720" y="1248"/>
              <a:ext cx="528" cy="240"/>
              <a:chOff x="1248" y="2208"/>
              <a:chExt cx="528" cy="240"/>
            </a:xfrm>
          </p:grpSpPr>
          <p:sp>
            <p:nvSpPr>
              <p:cNvPr id="81958" name="Rectangle 28"/>
              <p:cNvSpPr>
                <a:spLocks noChangeArrowheads="1"/>
              </p:cNvSpPr>
              <p:nvPr/>
            </p:nvSpPr>
            <p:spPr bwMode="auto">
              <a:xfrm>
                <a:off x="1248" y="2208"/>
                <a:ext cx="336"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sp>
            <p:nvSpPr>
              <p:cNvPr id="81959" name="Rectangle 29"/>
              <p:cNvSpPr>
                <a:spLocks noChangeArrowheads="1"/>
              </p:cNvSpPr>
              <p:nvPr/>
            </p:nvSpPr>
            <p:spPr bwMode="auto">
              <a:xfrm>
                <a:off x="1584" y="2208"/>
                <a:ext cx="192" cy="240"/>
              </a:xfrm>
              <a:prstGeom prst="rect">
                <a:avLst/>
              </a:prstGeom>
              <a:noFill/>
              <a:ln w="19050" cap="sq">
                <a:solidFill>
                  <a:srgbClr val="003300"/>
                </a:solidFill>
                <a:miter lim="800000"/>
                <a:headEnd type="none" w="sm" len="sm"/>
                <a:tailEnd type="none" w="sm" len="sm"/>
              </a:ln>
            </p:spPr>
            <p:txBody>
              <a:bodyPr wrap="none" anchor="ctr"/>
              <a:lstStyle/>
              <a:p>
                <a:endParaRPr lang="zh-CN" altLang="en-US"/>
              </a:p>
            </p:txBody>
          </p:sp>
        </p:grpSp>
        <p:sp>
          <p:nvSpPr>
            <p:cNvPr id="81956" name="Line 30"/>
            <p:cNvSpPr>
              <a:spLocks noChangeShapeType="1"/>
            </p:cNvSpPr>
            <p:nvPr/>
          </p:nvSpPr>
          <p:spPr bwMode="auto">
            <a:xfrm>
              <a:off x="1152" y="1392"/>
              <a:ext cx="288" cy="0"/>
            </a:xfrm>
            <a:prstGeom prst="line">
              <a:avLst/>
            </a:prstGeom>
            <a:noFill/>
            <a:ln w="15875" cap="sq">
              <a:solidFill>
                <a:schemeClr val="bg2"/>
              </a:solidFill>
              <a:round/>
              <a:headEnd type="none" w="sm" len="sm"/>
              <a:tailEnd type="triangle" w="med" len="med"/>
            </a:ln>
          </p:spPr>
          <p:txBody>
            <a:bodyPr/>
            <a:lstStyle/>
            <a:p>
              <a:endParaRPr lang="zh-CN" altLang="en-US"/>
            </a:p>
          </p:txBody>
        </p:sp>
        <p:sp>
          <p:nvSpPr>
            <p:cNvPr id="81957" name="Text Box 31"/>
            <p:cNvSpPr txBox="1">
              <a:spLocks noChangeArrowheads="1"/>
            </p:cNvSpPr>
            <p:nvPr/>
          </p:nvSpPr>
          <p:spPr bwMode="auto">
            <a:xfrm>
              <a:off x="4608" y="1248"/>
              <a:ext cx="209" cy="291"/>
            </a:xfrm>
            <a:prstGeom prst="rect">
              <a:avLst/>
            </a:prstGeom>
            <a:noFill/>
            <a:ln w="12700" cap="sq">
              <a:noFill/>
              <a:miter lim="800000"/>
              <a:headEnd type="none" w="sm" len="sm"/>
              <a:tailEnd type="none" w="sm" len="sm"/>
            </a:ln>
          </p:spPr>
          <p:txBody>
            <a:bodyPr wrap="none">
              <a:spAutoFit/>
            </a:bodyPr>
            <a:lstStyle/>
            <a:p>
              <a:r>
                <a:rPr lang="zh-CN" altLang="en-US" sz="2400" b="1" dirty="0"/>
                <a:t>^</a:t>
              </a:r>
            </a:p>
          </p:txBody>
        </p:sp>
      </p:grpSp>
      <p:grpSp>
        <p:nvGrpSpPr>
          <p:cNvPr id="8" name="Group 35"/>
          <p:cNvGrpSpPr>
            <a:grpSpLocks/>
          </p:cNvGrpSpPr>
          <p:nvPr/>
        </p:nvGrpSpPr>
        <p:grpSpPr bwMode="auto">
          <a:xfrm>
            <a:off x="2609850" y="1412875"/>
            <a:ext cx="1200150" cy="457200"/>
            <a:chOff x="684" y="960"/>
            <a:chExt cx="756" cy="288"/>
          </a:xfrm>
        </p:grpSpPr>
        <p:sp>
          <p:nvSpPr>
            <p:cNvPr id="81940" name="Rectangle 36"/>
            <p:cNvSpPr>
              <a:spLocks noChangeArrowheads="1"/>
            </p:cNvSpPr>
            <p:nvPr/>
          </p:nvSpPr>
          <p:spPr bwMode="auto">
            <a:xfrm>
              <a:off x="684" y="996"/>
              <a:ext cx="288" cy="228"/>
            </a:xfrm>
            <a:prstGeom prst="rect">
              <a:avLst/>
            </a:prstGeom>
            <a:solidFill>
              <a:srgbClr val="FFFFFF"/>
            </a:solidFill>
            <a:ln w="12700" cap="sq">
              <a:noFill/>
              <a:miter lim="800000"/>
              <a:headEnd type="none" w="sm" len="sm"/>
              <a:tailEnd type="none" w="sm" len="sm"/>
            </a:ln>
          </p:spPr>
          <p:txBody>
            <a:bodyPr wrap="none" anchor="ctr"/>
            <a:lstStyle/>
            <a:p>
              <a:endParaRPr lang="zh-CN" altLang="en-US"/>
            </a:p>
          </p:txBody>
        </p:sp>
        <p:sp>
          <p:nvSpPr>
            <p:cNvPr id="81941" name="Line 37"/>
            <p:cNvSpPr>
              <a:spLocks noChangeShapeType="1"/>
            </p:cNvSpPr>
            <p:nvPr/>
          </p:nvSpPr>
          <p:spPr bwMode="auto">
            <a:xfrm>
              <a:off x="960" y="960"/>
              <a:ext cx="480" cy="288"/>
            </a:xfrm>
            <a:prstGeom prst="line">
              <a:avLst/>
            </a:prstGeom>
            <a:noFill/>
            <a:ln w="19050" cap="sq">
              <a:solidFill>
                <a:srgbClr val="FF0000"/>
              </a:solidFill>
              <a:round/>
              <a:headEnd type="none" w="sm" len="sm"/>
              <a:tailEnd type="triangle" w="sm" len="sm"/>
            </a:ln>
          </p:spPr>
          <p:txBody>
            <a:bodyPr/>
            <a:lstStyle/>
            <a:p>
              <a:endParaRPr lang="zh-CN" altLang="en-US"/>
            </a:p>
          </p:txBody>
        </p:sp>
      </p:grpSp>
      <p:grpSp>
        <p:nvGrpSpPr>
          <p:cNvPr id="45" name="组合 44"/>
          <p:cNvGrpSpPr/>
          <p:nvPr/>
        </p:nvGrpSpPr>
        <p:grpSpPr>
          <a:xfrm>
            <a:off x="1828800" y="1851026"/>
            <a:ext cx="8153400" cy="4659313"/>
            <a:chOff x="304800" y="1851025"/>
            <a:chExt cx="8153400" cy="4659313"/>
          </a:xfrm>
        </p:grpSpPr>
        <p:sp>
          <p:nvSpPr>
            <p:cNvPr id="122918" name="Rectangle 38"/>
            <p:cNvSpPr>
              <a:spLocks noChangeArrowheads="1"/>
            </p:cNvSpPr>
            <p:nvPr/>
          </p:nvSpPr>
          <p:spPr bwMode="auto">
            <a:xfrm>
              <a:off x="1123950" y="1851025"/>
              <a:ext cx="1143000" cy="533400"/>
            </a:xfrm>
            <a:prstGeom prst="rect">
              <a:avLst/>
            </a:prstGeom>
            <a:solidFill>
              <a:srgbClr val="FFFFFF"/>
            </a:solidFill>
            <a:ln w="12700" cap="sq">
              <a:noFill/>
              <a:miter lim="800000"/>
              <a:headEnd type="none" w="sm" len="sm"/>
              <a:tailEnd type="none" w="sm" len="sm"/>
            </a:ln>
          </p:spPr>
          <p:txBody>
            <a:bodyPr wrap="none" anchor="ctr"/>
            <a:lstStyle/>
            <a:p>
              <a:endParaRPr lang="zh-CN" altLang="en-US"/>
            </a:p>
          </p:txBody>
        </p:sp>
        <p:grpSp>
          <p:nvGrpSpPr>
            <p:cNvPr id="9" name="Group 78"/>
            <p:cNvGrpSpPr>
              <a:grpSpLocks/>
            </p:cNvGrpSpPr>
            <p:nvPr/>
          </p:nvGrpSpPr>
          <p:grpSpPr bwMode="auto">
            <a:xfrm>
              <a:off x="533400" y="2667000"/>
              <a:ext cx="7924800" cy="3843338"/>
              <a:chOff x="336" y="1776"/>
              <a:chExt cx="4992" cy="2421"/>
            </a:xfrm>
          </p:grpSpPr>
          <p:sp>
            <p:nvSpPr>
              <p:cNvPr id="81938" name="Rectangle 43"/>
              <p:cNvSpPr>
                <a:spLocks noChangeArrowheads="1"/>
              </p:cNvSpPr>
              <p:nvPr/>
            </p:nvSpPr>
            <p:spPr bwMode="auto">
              <a:xfrm>
                <a:off x="336" y="1776"/>
                <a:ext cx="4992" cy="2400"/>
              </a:xfrm>
              <a:prstGeom prst="rect">
                <a:avLst/>
              </a:prstGeom>
              <a:solidFill>
                <a:srgbClr val="E1FFE1"/>
              </a:solidFill>
              <a:ln w="12700" cap="sq">
                <a:noFill/>
                <a:miter lim="800000"/>
                <a:headEnd type="none" w="sm" len="sm"/>
                <a:tailEnd type="none" w="sm" len="sm"/>
              </a:ln>
              <a:effectLst>
                <a:outerShdw dist="188799" dir="2536421" algn="ctr" rotWithShape="0">
                  <a:srgbClr val="C5C5C5"/>
                </a:outerShdw>
              </a:effectLst>
            </p:spPr>
            <p:txBody>
              <a:bodyPr wrap="none" anchor="ctr"/>
              <a:lstStyle/>
              <a:p>
                <a:endParaRPr lang="zh-CN" altLang="en-US"/>
              </a:p>
            </p:txBody>
          </p:sp>
          <p:sp>
            <p:nvSpPr>
              <p:cNvPr id="81939" name="Text Box 44"/>
              <p:cNvSpPr txBox="1">
                <a:spLocks noChangeArrowheads="1"/>
              </p:cNvSpPr>
              <p:nvPr/>
            </p:nvSpPr>
            <p:spPr bwMode="auto">
              <a:xfrm>
                <a:off x="576" y="1958"/>
                <a:ext cx="4752" cy="2239"/>
              </a:xfrm>
              <a:prstGeom prst="rect">
                <a:avLst/>
              </a:prstGeom>
              <a:noFill/>
              <a:ln w="12700" cap="sq">
                <a:noFill/>
                <a:miter lim="800000"/>
                <a:headEnd type="none" w="sm" len="sm"/>
                <a:tailEnd type="none" w="sm" len="sm"/>
              </a:ln>
            </p:spPr>
            <p:txBody>
              <a:bodyPr>
                <a:spAutoFit/>
              </a:bodyPr>
              <a:lstStyle/>
              <a:p>
                <a:pPr eaLnBrk="1" hangingPunct="1">
                  <a:lnSpc>
                    <a:spcPct val="70000"/>
                  </a:lnSpc>
                </a:pPr>
                <a:r>
                  <a:rPr kumimoji="1" lang="en-US" altLang="zh-CN" sz="2500" b="1" dirty="0" err="1">
                    <a:solidFill>
                      <a:srgbClr val="002D88"/>
                    </a:solidFill>
                  </a:rPr>
                  <a:t>ElemType</a:t>
                </a:r>
                <a:r>
                  <a:rPr kumimoji="1" lang="en-US" altLang="zh-CN" sz="2500" b="1" dirty="0">
                    <a:solidFill>
                      <a:srgbClr val="002D88"/>
                    </a:solidFill>
                  </a:rPr>
                  <a:t>  </a:t>
                </a:r>
                <a:r>
                  <a:rPr kumimoji="1" lang="en-US" altLang="zh-CN" sz="2500" b="1" dirty="0" err="1">
                    <a:solidFill>
                      <a:srgbClr val="002D88"/>
                    </a:solidFill>
                  </a:rPr>
                  <a:t>deLQueue</a:t>
                </a:r>
                <a:r>
                  <a:rPr kumimoji="1" lang="en-US" altLang="zh-CN" sz="2500" b="1" dirty="0">
                    <a:solidFill>
                      <a:srgbClr val="002D88"/>
                    </a:solidFill>
                  </a:rPr>
                  <a:t>( )</a:t>
                </a:r>
              </a:p>
              <a:p>
                <a:pPr eaLnBrk="1" hangingPunct="1">
                  <a:lnSpc>
                    <a:spcPct val="70000"/>
                  </a:lnSpc>
                </a:pPr>
                <a:r>
                  <a:rPr kumimoji="1" lang="en-US" altLang="zh-CN" sz="2500" b="1" dirty="0">
                    <a:solidFill>
                      <a:srgbClr val="002D88"/>
                    </a:solidFill>
                  </a:rPr>
                  <a:t>{     </a:t>
                </a:r>
                <a:r>
                  <a:rPr kumimoji="1" lang="en-US" altLang="zh-CN" sz="2500" b="1" dirty="0" err="1">
                    <a:solidFill>
                      <a:srgbClr val="002D88"/>
                    </a:solidFill>
                  </a:rPr>
                  <a:t>QNodeptr</a:t>
                </a:r>
                <a:r>
                  <a:rPr kumimoji="1" lang="en-US" altLang="zh-CN" sz="2500" b="1" dirty="0">
                    <a:solidFill>
                      <a:srgbClr val="002D88"/>
                    </a:solidFill>
                  </a:rPr>
                  <a:t>  p;</a:t>
                </a:r>
              </a:p>
              <a:p>
                <a:pPr eaLnBrk="1" hangingPunct="1">
                  <a:lnSpc>
                    <a:spcPct val="70000"/>
                  </a:lnSpc>
                </a:pPr>
                <a:r>
                  <a:rPr kumimoji="1" lang="en-US" altLang="zh-CN" sz="2500" b="1" dirty="0">
                    <a:solidFill>
                      <a:srgbClr val="002D88"/>
                    </a:solidFill>
                  </a:rPr>
                  <a:t>       </a:t>
                </a:r>
                <a:r>
                  <a:rPr kumimoji="1" lang="en-US" altLang="zh-CN" sz="2500" b="1" dirty="0" err="1">
                    <a:solidFill>
                      <a:srgbClr val="002D88"/>
                    </a:solidFill>
                  </a:rPr>
                  <a:t>ElemType</a:t>
                </a:r>
                <a:r>
                  <a:rPr kumimoji="1" lang="en-US" altLang="zh-CN" sz="2500" b="1" dirty="0">
                    <a:solidFill>
                      <a:srgbClr val="002D88"/>
                    </a:solidFill>
                  </a:rPr>
                  <a:t> item;</a:t>
                </a:r>
                <a:endParaRPr kumimoji="1" lang="zh-CN" altLang="en-US" sz="2500" b="1" dirty="0">
                  <a:solidFill>
                    <a:srgbClr val="002D88"/>
                  </a:solidFill>
                </a:endParaRPr>
              </a:p>
              <a:p>
                <a:pPr eaLnBrk="1" hangingPunct="1">
                  <a:lnSpc>
                    <a:spcPct val="70000"/>
                  </a:lnSpc>
                </a:pPr>
                <a:r>
                  <a:rPr lang="zh-CN" altLang="en-US" sz="2500" b="1" dirty="0">
                    <a:solidFill>
                      <a:srgbClr val="002D88"/>
                    </a:solidFill>
                  </a:rPr>
                  <a:t> </a:t>
                </a:r>
                <a:r>
                  <a:rPr lang="zh-CN" altLang="zh-CN" sz="2500" b="1" dirty="0">
                    <a:solidFill>
                      <a:srgbClr val="002D88"/>
                    </a:solidFill>
                  </a:rPr>
                  <a:t>     </a:t>
                </a:r>
                <a:r>
                  <a:rPr lang="zh-CN" altLang="en-US" sz="2500" b="1" dirty="0">
                    <a:solidFill>
                      <a:srgbClr val="002D88"/>
                    </a:solidFill>
                  </a:rPr>
                  <a:t> </a:t>
                </a:r>
                <a:r>
                  <a:rPr lang="en-US" altLang="zh-CN" sz="2500" b="1" dirty="0">
                    <a:solidFill>
                      <a:srgbClr val="002D88"/>
                    </a:solidFill>
                  </a:rPr>
                  <a:t>if(</a:t>
                </a:r>
                <a:r>
                  <a:rPr lang="en-US" altLang="zh-CN" sz="2500" b="1" dirty="0" err="1">
                    <a:solidFill>
                      <a:srgbClr val="002D88"/>
                    </a:solidFill>
                  </a:rPr>
                  <a:t>isEmpty</a:t>
                </a:r>
                <a:r>
                  <a:rPr lang="en-US" altLang="zh-CN" sz="2500" b="1" dirty="0">
                    <a:solidFill>
                      <a:srgbClr val="002D88"/>
                    </a:solidFill>
                  </a:rPr>
                  <a:t>() )   </a:t>
                </a:r>
              </a:p>
              <a:p>
                <a:pPr eaLnBrk="1" hangingPunct="1">
                  <a:lnSpc>
                    <a:spcPct val="70000"/>
                  </a:lnSpc>
                </a:pPr>
                <a:r>
                  <a:rPr lang="en-US" altLang="zh-CN" sz="2500" b="1" dirty="0">
                    <a:solidFill>
                      <a:srgbClr val="002D88"/>
                    </a:solidFill>
                  </a:rPr>
                  <a:t>             Error(“Empty queue!”);   </a:t>
                </a:r>
                <a:r>
                  <a:rPr lang="en-US" altLang="zh-CN" sz="2200" b="1" dirty="0">
                    <a:solidFill>
                      <a:srgbClr val="002D88"/>
                    </a:solidFill>
                  </a:rPr>
                  <a:t>/* </a:t>
                </a:r>
                <a:r>
                  <a:rPr lang="zh-CN" altLang="en-US" sz="2200" b="1" dirty="0">
                    <a:solidFill>
                      <a:srgbClr val="002D88"/>
                    </a:solidFill>
                    <a:ea typeface="幼圆" pitchFamily="49" charset="-122"/>
                  </a:rPr>
                  <a:t>队为空，删除失败 </a:t>
                </a:r>
                <a:r>
                  <a:rPr lang="zh-CN" altLang="en-US" sz="2200" b="1" dirty="0">
                    <a:solidFill>
                      <a:srgbClr val="002D88"/>
                    </a:solidFill>
                  </a:rPr>
                  <a:t>*/</a:t>
                </a:r>
              </a:p>
              <a:p>
                <a:pPr eaLnBrk="1" hangingPunct="1">
                  <a:lnSpc>
                    <a:spcPct val="70000"/>
                  </a:lnSpc>
                </a:pPr>
                <a:r>
                  <a:rPr lang="en-US" altLang="zh-CN" sz="2500" b="1" dirty="0">
                    <a:solidFill>
                      <a:srgbClr val="002D88"/>
                    </a:solidFill>
                  </a:rPr>
                  <a:t>       else{</a:t>
                </a:r>
              </a:p>
              <a:p>
                <a:pPr eaLnBrk="1" hangingPunct="1">
                  <a:lnSpc>
                    <a:spcPct val="70000"/>
                  </a:lnSpc>
                </a:pPr>
                <a:r>
                  <a:rPr lang="en-US" altLang="zh-CN" sz="2500" b="1" dirty="0">
                    <a:solidFill>
                      <a:srgbClr val="002D88"/>
                    </a:solidFill>
                  </a:rPr>
                  <a:t>             p=Front;</a:t>
                </a:r>
              </a:p>
              <a:p>
                <a:pPr eaLnBrk="1" hangingPunct="1">
                  <a:lnSpc>
                    <a:spcPct val="70000"/>
                  </a:lnSpc>
                </a:pPr>
                <a:r>
                  <a:rPr lang="zh-CN" altLang="en-US" sz="2500" b="1" dirty="0">
                    <a:solidFill>
                      <a:srgbClr val="002D88"/>
                    </a:solidFill>
                  </a:rPr>
                  <a:t>             </a:t>
                </a:r>
                <a:r>
                  <a:rPr lang="en-US" altLang="zh-CN" sz="2500" b="1" dirty="0">
                    <a:solidFill>
                      <a:srgbClr val="002D88"/>
                    </a:solidFill>
                  </a:rPr>
                  <a:t>Front=Front</a:t>
                </a:r>
                <a:r>
                  <a:rPr lang="en-US" altLang="zh-CN" sz="2500" b="1" dirty="0">
                    <a:solidFill>
                      <a:srgbClr val="002D88"/>
                    </a:solidFill>
                    <a:latin typeface="宋体" charset="-122"/>
                    <a:ea typeface="宋体" charset="-122"/>
                  </a:rPr>
                  <a:t>-</a:t>
                </a:r>
                <a:r>
                  <a:rPr lang="en-US" altLang="zh-CN" sz="2500" b="1" dirty="0">
                    <a:solidFill>
                      <a:srgbClr val="002D88"/>
                    </a:solidFill>
                  </a:rPr>
                  <a:t>&gt;link;</a:t>
                </a:r>
              </a:p>
              <a:p>
                <a:pPr eaLnBrk="1" hangingPunct="1">
                  <a:lnSpc>
                    <a:spcPct val="70000"/>
                  </a:lnSpc>
                </a:pPr>
                <a:r>
                  <a:rPr lang="en-US" altLang="zh-CN" sz="2500" b="1" dirty="0">
                    <a:solidFill>
                      <a:srgbClr val="002D88"/>
                    </a:solidFill>
                  </a:rPr>
                  <a:t>             item=p</a:t>
                </a:r>
                <a:r>
                  <a:rPr lang="en-US" altLang="zh-CN" sz="2500" b="1" dirty="0">
                    <a:solidFill>
                      <a:srgbClr val="002D88"/>
                    </a:solidFill>
                    <a:latin typeface="宋体" charset="-122"/>
                    <a:ea typeface="宋体" charset="-122"/>
                  </a:rPr>
                  <a:t>-</a:t>
                </a:r>
                <a:r>
                  <a:rPr lang="en-US" altLang="zh-CN" sz="2500" b="1" dirty="0">
                    <a:solidFill>
                      <a:srgbClr val="002D88"/>
                    </a:solidFill>
                  </a:rPr>
                  <a:t>&gt;data;</a:t>
                </a:r>
              </a:p>
              <a:p>
                <a:pPr eaLnBrk="1" hangingPunct="1">
                  <a:lnSpc>
                    <a:spcPct val="70000"/>
                  </a:lnSpc>
                </a:pPr>
                <a:r>
                  <a:rPr lang="en-US" altLang="zh-CN" sz="2500" b="1" dirty="0">
                    <a:solidFill>
                      <a:srgbClr val="002D88"/>
                    </a:solidFill>
                  </a:rPr>
                  <a:t>             free(p);     </a:t>
                </a:r>
              </a:p>
              <a:p>
                <a:pPr eaLnBrk="1" hangingPunct="1">
                  <a:lnSpc>
                    <a:spcPct val="70000"/>
                  </a:lnSpc>
                </a:pPr>
                <a:r>
                  <a:rPr lang="en-US" altLang="zh-CN" sz="2500" b="1" dirty="0">
                    <a:solidFill>
                      <a:srgbClr val="002D88"/>
                    </a:solidFill>
                  </a:rPr>
                  <a:t>             return  item;              </a:t>
                </a:r>
                <a:r>
                  <a:rPr lang="en-US" altLang="zh-CN" sz="2200" b="1" dirty="0">
                    <a:solidFill>
                      <a:srgbClr val="002D88"/>
                    </a:solidFill>
                  </a:rPr>
                  <a:t>/* </a:t>
                </a:r>
                <a:r>
                  <a:rPr lang="zh-CN" altLang="en-US" sz="2200" b="1" dirty="0">
                    <a:solidFill>
                      <a:srgbClr val="002D88"/>
                    </a:solidFill>
                    <a:ea typeface="幼圆" pitchFamily="49" charset="-122"/>
                  </a:rPr>
                  <a:t>队非空，删除成功 </a:t>
                </a:r>
                <a:r>
                  <a:rPr lang="zh-CN" altLang="en-US" sz="2200" b="1" dirty="0">
                    <a:solidFill>
                      <a:srgbClr val="002D88"/>
                    </a:solidFill>
                  </a:rPr>
                  <a:t>*/</a:t>
                </a:r>
                <a:endParaRPr lang="en-US" altLang="zh-CN" sz="2500" b="1" dirty="0">
                  <a:solidFill>
                    <a:srgbClr val="002D88"/>
                  </a:solidFill>
                </a:endParaRPr>
              </a:p>
              <a:p>
                <a:pPr eaLnBrk="1" hangingPunct="1">
                  <a:lnSpc>
                    <a:spcPct val="65000"/>
                  </a:lnSpc>
                </a:pPr>
                <a:r>
                  <a:rPr lang="en-US" altLang="zh-CN" sz="2500" b="1" dirty="0">
                    <a:solidFill>
                      <a:srgbClr val="002D88"/>
                    </a:solidFill>
                  </a:rPr>
                  <a:t>       }</a:t>
                </a:r>
              </a:p>
              <a:p>
                <a:pPr eaLnBrk="1" hangingPunct="1">
                  <a:lnSpc>
                    <a:spcPct val="65000"/>
                  </a:lnSpc>
                </a:pPr>
                <a:r>
                  <a:rPr lang="en-US" altLang="zh-CN" sz="2500" b="1" dirty="0">
                    <a:solidFill>
                      <a:srgbClr val="002D88"/>
                    </a:solidFill>
                  </a:rPr>
                  <a:t>}</a:t>
                </a:r>
              </a:p>
            </p:txBody>
          </p:sp>
        </p:grpSp>
        <p:grpSp>
          <p:nvGrpSpPr>
            <p:cNvPr id="10" name="Group 93"/>
            <p:cNvGrpSpPr>
              <a:grpSpLocks/>
            </p:cNvGrpSpPr>
            <p:nvPr/>
          </p:nvGrpSpPr>
          <p:grpSpPr bwMode="auto">
            <a:xfrm>
              <a:off x="304800" y="2022475"/>
              <a:ext cx="1676400" cy="895350"/>
              <a:chOff x="192" y="1596"/>
              <a:chExt cx="1056" cy="564"/>
            </a:xfrm>
          </p:grpSpPr>
          <p:sp>
            <p:nvSpPr>
              <p:cNvPr id="81936" name="AutoShape 46"/>
              <p:cNvSpPr>
                <a:spLocks noChangeArrowheads="1"/>
              </p:cNvSpPr>
              <p:nvPr/>
            </p:nvSpPr>
            <p:spPr bwMode="auto">
              <a:xfrm rot="137302">
                <a:off x="192" y="1596"/>
                <a:ext cx="1056" cy="564"/>
              </a:xfrm>
              <a:prstGeom prst="irregularSeal2">
                <a:avLst/>
              </a:prstGeom>
              <a:solidFill>
                <a:srgbClr val="FF3300"/>
              </a:solidFill>
              <a:ln w="50800">
                <a:solidFill>
                  <a:srgbClr val="FFFF00"/>
                </a:solidFill>
                <a:miter lim="800000"/>
                <a:headEnd type="none" w="sm" len="sm"/>
                <a:tailEnd type="none" w="sm" len="sm"/>
              </a:ln>
              <a:effectLst>
                <a:outerShdw dist="104727" dir="842175" algn="ctr" rotWithShape="0">
                  <a:srgbClr val="777777"/>
                </a:outerShdw>
              </a:effectLst>
            </p:spPr>
            <p:txBody>
              <a:bodyPr wrap="none" anchor="ctr"/>
              <a:lstStyle/>
              <a:p>
                <a:endParaRPr lang="zh-CN" altLang="en-US"/>
              </a:p>
            </p:txBody>
          </p:sp>
          <p:sp>
            <p:nvSpPr>
              <p:cNvPr id="81937" name="Text Box 47"/>
              <p:cNvSpPr txBox="1">
                <a:spLocks noChangeArrowheads="1"/>
              </p:cNvSpPr>
              <p:nvPr/>
            </p:nvSpPr>
            <p:spPr bwMode="auto">
              <a:xfrm rot="-546216">
                <a:off x="195" y="1635"/>
                <a:ext cx="1050" cy="480"/>
              </a:xfrm>
              <a:prstGeom prst="rect">
                <a:avLst/>
              </a:prstGeom>
              <a:noFill/>
              <a:ln w="12700" cap="sq">
                <a:noFill/>
                <a:miter lim="800000"/>
                <a:headEnd type="none" w="sm" len="sm"/>
                <a:tailEnd type="none" w="sm" len="sm"/>
              </a:ln>
              <a:effectLst>
                <a:outerShdw dist="45791" dir="2021404" algn="ctr" rotWithShape="0">
                  <a:srgbClr val="000000"/>
                </a:outerShdw>
              </a:effectLst>
            </p:spPr>
            <p:txBody>
              <a:bodyPr>
                <a:spAutoFit/>
              </a:bodyPr>
              <a:lstStyle/>
              <a:p>
                <a:r>
                  <a:rPr lang="zh-CN" altLang="en-US" sz="4400" b="1" i="1" dirty="0">
                    <a:solidFill>
                      <a:srgbClr val="FFFFFF"/>
                    </a:solidFill>
                    <a:ea typeface="黑体" pitchFamily="2" charset="-122"/>
                  </a:rPr>
                  <a:t>算法</a:t>
                </a:r>
              </a:p>
            </p:txBody>
          </p:sp>
        </p:grpSp>
      </p:grpSp>
      <p:grpSp>
        <p:nvGrpSpPr>
          <p:cNvPr id="11" name="Group 77"/>
          <p:cNvGrpSpPr>
            <a:grpSpLocks/>
          </p:cNvGrpSpPr>
          <p:nvPr/>
        </p:nvGrpSpPr>
        <p:grpSpPr bwMode="auto">
          <a:xfrm>
            <a:off x="5087938" y="908050"/>
            <a:ext cx="2970212" cy="533400"/>
            <a:chOff x="2220" y="672"/>
            <a:chExt cx="1871" cy="336"/>
          </a:xfrm>
        </p:grpSpPr>
        <p:sp>
          <p:nvSpPr>
            <p:cNvPr id="81934" name="AutoShape 58"/>
            <p:cNvSpPr>
              <a:spLocks noChangeArrowheads="1"/>
            </p:cNvSpPr>
            <p:nvPr/>
          </p:nvSpPr>
          <p:spPr bwMode="auto">
            <a:xfrm>
              <a:off x="2220" y="672"/>
              <a:ext cx="1764" cy="336"/>
            </a:xfrm>
            <a:prstGeom prst="wedgeRectCallout">
              <a:avLst>
                <a:gd name="adj1" fmla="val -97167"/>
                <a:gd name="adj2" fmla="val 90181"/>
              </a:avLst>
            </a:prstGeom>
            <a:noFill/>
            <a:ln w="53975" cap="sq">
              <a:solidFill>
                <a:srgbClr val="33CCCC"/>
              </a:solidFill>
              <a:miter lim="800000"/>
              <a:headEnd type="none" w="sm" len="sm"/>
              <a:tailEnd type="none" w="sm" len="sm"/>
            </a:ln>
          </p:spPr>
          <p:txBody>
            <a:bodyPr/>
            <a:lstStyle/>
            <a:p>
              <a:pPr algn="ctr"/>
              <a:endParaRPr lang="zh-CN" altLang="en-US">
                <a:solidFill>
                  <a:srgbClr val="FFFF00"/>
                </a:solidFill>
              </a:endParaRPr>
            </a:p>
          </p:txBody>
        </p:sp>
        <p:sp>
          <p:nvSpPr>
            <p:cNvPr id="81935" name="Rectangle 59"/>
            <p:cNvSpPr>
              <a:spLocks noChangeArrowheads="1"/>
            </p:cNvSpPr>
            <p:nvPr/>
          </p:nvSpPr>
          <p:spPr bwMode="auto">
            <a:xfrm>
              <a:off x="2253" y="678"/>
              <a:ext cx="1838" cy="298"/>
            </a:xfrm>
            <a:prstGeom prst="rect">
              <a:avLst/>
            </a:prstGeom>
            <a:noFill/>
            <a:ln w="12700" cap="sq">
              <a:noFill/>
              <a:miter lim="800000"/>
              <a:headEnd type="none" w="sm" len="sm"/>
              <a:tailEnd type="none" w="sm" len="sm"/>
            </a:ln>
          </p:spPr>
          <p:txBody>
            <a:bodyPr>
              <a:spAutoFit/>
            </a:bodyPr>
            <a:lstStyle/>
            <a:p>
              <a:r>
                <a:rPr lang="en-US" altLang="zh-CN" sz="2500" b="1">
                  <a:solidFill>
                    <a:schemeClr val="accent2"/>
                  </a:solidFill>
                  <a:sym typeface="Symbol" pitchFamily="18" charset="2"/>
                </a:rPr>
                <a:t>front=front</a:t>
              </a:r>
              <a:r>
                <a:rPr lang="en-US" altLang="zh-CN" sz="2500" b="1">
                  <a:solidFill>
                    <a:schemeClr val="accent2"/>
                  </a:solidFill>
                  <a:latin typeface="宋体" charset="-122"/>
                  <a:ea typeface="宋体" charset="-122"/>
                  <a:sym typeface="Symbol" pitchFamily="18" charset="2"/>
                </a:rPr>
                <a:t>-</a:t>
              </a:r>
              <a:r>
                <a:rPr lang="en-US" altLang="zh-CN" sz="2500" b="1">
                  <a:solidFill>
                    <a:schemeClr val="accent2"/>
                  </a:solidFill>
                  <a:sym typeface="Symbol" pitchFamily="18" charset="2"/>
                </a:rPr>
                <a:t>&gt;</a:t>
              </a:r>
              <a:r>
                <a:rPr lang="en-US" altLang="zh-CN" sz="2500" b="1">
                  <a:solidFill>
                    <a:schemeClr val="accent2"/>
                  </a:solidFill>
                </a:rPr>
                <a:t>link;</a:t>
              </a:r>
            </a:p>
          </p:txBody>
        </p:sp>
      </p:grpSp>
      <p:grpSp>
        <p:nvGrpSpPr>
          <p:cNvPr id="12" name="Group 74"/>
          <p:cNvGrpSpPr>
            <a:grpSpLocks/>
          </p:cNvGrpSpPr>
          <p:nvPr/>
        </p:nvGrpSpPr>
        <p:grpSpPr bwMode="auto">
          <a:xfrm>
            <a:off x="1042988" y="147191"/>
            <a:ext cx="3400425" cy="647700"/>
            <a:chOff x="402" y="288"/>
            <a:chExt cx="2142" cy="408"/>
          </a:xfrm>
        </p:grpSpPr>
        <p:sp>
          <p:nvSpPr>
            <p:cNvPr id="81932" name="AutoShape 75"/>
            <p:cNvSpPr>
              <a:spLocks noChangeArrowheads="1"/>
            </p:cNvSpPr>
            <p:nvPr/>
          </p:nvSpPr>
          <p:spPr bwMode="auto">
            <a:xfrm>
              <a:off x="402" y="288"/>
              <a:ext cx="1968" cy="408"/>
            </a:xfrm>
            <a:prstGeom prst="cloudCallout">
              <a:avLst>
                <a:gd name="adj1" fmla="val 15245"/>
                <a:gd name="adj2" fmla="val 40194"/>
              </a:avLst>
            </a:prstGeom>
            <a:solidFill>
              <a:srgbClr val="EEDDFF"/>
            </a:solidFill>
            <a:ln w="12700" cap="sq">
              <a:noFill/>
              <a:round/>
              <a:headEnd type="none" w="sm" len="sm"/>
              <a:tailEnd type="none" w="sm" len="sm"/>
            </a:ln>
            <a:effectLst>
              <a:outerShdw dist="96720" dir="1391915" algn="ctr" rotWithShape="0">
                <a:srgbClr val="C0C0C0"/>
              </a:outerShdw>
            </a:effectLst>
          </p:spPr>
          <p:txBody>
            <a:bodyPr/>
            <a:lstStyle/>
            <a:p>
              <a:pPr algn="ctr"/>
              <a:endParaRPr lang="zh-CN" altLang="en-US" sz="2400" b="1"/>
            </a:p>
          </p:txBody>
        </p:sp>
        <p:sp>
          <p:nvSpPr>
            <p:cNvPr id="81933" name="Text Box 76"/>
            <p:cNvSpPr txBox="1">
              <a:spLocks noChangeArrowheads="1"/>
            </p:cNvSpPr>
            <p:nvPr/>
          </p:nvSpPr>
          <p:spPr bwMode="auto">
            <a:xfrm>
              <a:off x="579" y="312"/>
              <a:ext cx="1965" cy="356"/>
            </a:xfrm>
            <a:prstGeom prst="rect">
              <a:avLst/>
            </a:prstGeom>
            <a:noFill/>
            <a:ln w="12700" cap="sq">
              <a:noFill/>
              <a:miter lim="800000"/>
              <a:headEnd type="none" w="sm" len="sm"/>
              <a:tailEnd type="none" w="sm" len="sm"/>
            </a:ln>
          </p:spPr>
          <p:txBody>
            <a:bodyPr>
              <a:spAutoFit/>
            </a:bodyPr>
            <a:lstStyle/>
            <a:p>
              <a:pPr eaLnBrk="1" hangingPunct="1"/>
              <a:r>
                <a:rPr kumimoji="1" lang="zh-CN" altLang="en-US" sz="3100" b="1">
                  <a:solidFill>
                    <a:srgbClr val="B20059"/>
                  </a:solidFill>
                </a:rPr>
                <a:t>4. 删除(出队)</a:t>
              </a:r>
            </a:p>
          </p:txBody>
        </p:sp>
      </p:grpSp>
    </p:spTree>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righ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blinds(horizontal)">
                                      <p:cBhvr>
                                        <p:cTn id="2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9"/>
          <p:cNvGrpSpPr>
            <a:grpSpLocks/>
          </p:cNvGrpSpPr>
          <p:nvPr/>
        </p:nvGrpSpPr>
        <p:grpSpPr bwMode="auto">
          <a:xfrm>
            <a:off x="2286000" y="1143000"/>
            <a:ext cx="7696200" cy="1828800"/>
            <a:chOff x="480" y="720"/>
            <a:chExt cx="4848" cy="1152"/>
          </a:xfrm>
        </p:grpSpPr>
        <p:sp>
          <p:nvSpPr>
            <p:cNvPr id="82982" name="Rectangle 6"/>
            <p:cNvSpPr>
              <a:spLocks noChangeArrowheads="1"/>
            </p:cNvSpPr>
            <p:nvPr/>
          </p:nvSpPr>
          <p:spPr bwMode="auto">
            <a:xfrm>
              <a:off x="480" y="720"/>
              <a:ext cx="4848" cy="1152"/>
            </a:xfrm>
            <a:prstGeom prst="rect">
              <a:avLst/>
            </a:prstGeom>
            <a:solidFill>
              <a:srgbClr val="CCFFFF"/>
            </a:solidFill>
            <a:ln w="12700" cap="sq">
              <a:noFill/>
              <a:miter lim="800000"/>
              <a:headEnd type="none" w="sm" len="sm"/>
              <a:tailEnd type="none" w="sm" len="sm"/>
            </a:ln>
            <a:effectLst>
              <a:outerShdw dist="188799" dir="2536421" algn="ctr" rotWithShape="0">
                <a:srgbClr val="AEAEAE"/>
              </a:outerShdw>
            </a:effectLst>
          </p:spPr>
          <p:txBody>
            <a:bodyPr wrap="none" anchor="ctr"/>
            <a:lstStyle/>
            <a:p>
              <a:endParaRPr lang="zh-CN" altLang="en-US"/>
            </a:p>
          </p:txBody>
        </p:sp>
        <p:sp>
          <p:nvSpPr>
            <p:cNvPr id="82983" name="Text Box 7"/>
            <p:cNvSpPr txBox="1">
              <a:spLocks noChangeArrowheads="1"/>
            </p:cNvSpPr>
            <p:nvPr/>
          </p:nvSpPr>
          <p:spPr bwMode="auto">
            <a:xfrm>
              <a:off x="672" y="912"/>
              <a:ext cx="4512" cy="784"/>
            </a:xfrm>
            <a:prstGeom prst="rect">
              <a:avLst/>
            </a:prstGeom>
            <a:noFill/>
            <a:ln w="12700" cap="sq">
              <a:noFill/>
              <a:miter lim="800000"/>
              <a:headEnd type="none" w="sm" len="sm"/>
              <a:tailEnd type="none" w="sm" len="sm"/>
            </a:ln>
          </p:spPr>
          <p:txBody>
            <a:bodyPr>
              <a:spAutoFit/>
            </a:bodyPr>
            <a:lstStyle/>
            <a:p>
              <a:pPr>
                <a:lnSpc>
                  <a:spcPct val="90000"/>
                </a:lnSpc>
              </a:pPr>
              <a:r>
                <a:rPr lang="zh-CN" altLang="en-US" sz="2800" b="1" dirty="0">
                  <a:solidFill>
                    <a:srgbClr val="002D88"/>
                  </a:solidFill>
                  <a:ea typeface="幼圆" pitchFamily="49" charset="-122"/>
                </a:rPr>
                <a:t>        所谓销毁一个队是指将队列所对应的链表中所有结点都删除，并且释放其存储空间，使队成为一个空队(空链表)。</a:t>
              </a:r>
            </a:p>
          </p:txBody>
        </p:sp>
      </p:grpSp>
      <p:grpSp>
        <p:nvGrpSpPr>
          <p:cNvPr id="3" name="Group 58"/>
          <p:cNvGrpSpPr>
            <a:grpSpLocks/>
          </p:cNvGrpSpPr>
          <p:nvPr/>
        </p:nvGrpSpPr>
        <p:grpSpPr bwMode="auto">
          <a:xfrm>
            <a:off x="2590801" y="3581400"/>
            <a:ext cx="6905625" cy="1111250"/>
            <a:chOff x="672" y="2544"/>
            <a:chExt cx="4350" cy="700"/>
          </a:xfrm>
        </p:grpSpPr>
        <p:grpSp>
          <p:nvGrpSpPr>
            <p:cNvPr id="4" name="Group 32"/>
            <p:cNvGrpSpPr>
              <a:grpSpLocks/>
            </p:cNvGrpSpPr>
            <p:nvPr/>
          </p:nvGrpSpPr>
          <p:grpSpPr bwMode="auto">
            <a:xfrm>
              <a:off x="1060" y="3004"/>
              <a:ext cx="384" cy="240"/>
              <a:chOff x="1344" y="1296"/>
              <a:chExt cx="384" cy="240"/>
            </a:xfrm>
          </p:grpSpPr>
          <p:sp>
            <p:nvSpPr>
              <p:cNvPr id="82980" name="Rectangle 33"/>
              <p:cNvSpPr>
                <a:spLocks noChangeArrowheads="1"/>
              </p:cNvSpPr>
              <p:nvPr/>
            </p:nvSpPr>
            <p:spPr bwMode="auto">
              <a:xfrm>
                <a:off x="1344" y="1296"/>
                <a:ext cx="240" cy="240"/>
              </a:xfrm>
              <a:prstGeom prst="rect">
                <a:avLst/>
              </a:prstGeom>
              <a:noFill/>
              <a:ln w="25400" cap="sq">
                <a:solidFill>
                  <a:schemeClr val="tx1"/>
                </a:solidFill>
                <a:miter lim="800000"/>
                <a:headEnd/>
                <a:tailEnd/>
              </a:ln>
            </p:spPr>
            <p:txBody>
              <a:bodyPr wrap="none" anchor="ctr"/>
              <a:lstStyle/>
              <a:p>
                <a:endParaRPr lang="zh-CN" altLang="en-US"/>
              </a:p>
            </p:txBody>
          </p:sp>
          <p:sp>
            <p:nvSpPr>
              <p:cNvPr id="82981" name="Rectangle 34"/>
              <p:cNvSpPr>
                <a:spLocks noChangeArrowheads="1"/>
              </p:cNvSpPr>
              <p:nvPr/>
            </p:nvSpPr>
            <p:spPr bwMode="auto">
              <a:xfrm>
                <a:off x="1584" y="1296"/>
                <a:ext cx="144" cy="240"/>
              </a:xfrm>
              <a:prstGeom prst="rect">
                <a:avLst/>
              </a:prstGeom>
              <a:noFill/>
              <a:ln w="25400" cap="sq">
                <a:solidFill>
                  <a:schemeClr val="tx1"/>
                </a:solidFill>
                <a:miter lim="800000"/>
                <a:headEnd/>
                <a:tailEnd/>
              </a:ln>
            </p:spPr>
            <p:txBody>
              <a:bodyPr wrap="none" anchor="ctr"/>
              <a:lstStyle/>
              <a:p>
                <a:endParaRPr lang="zh-CN" altLang="en-US"/>
              </a:p>
            </p:txBody>
          </p:sp>
        </p:grpSp>
        <p:grpSp>
          <p:nvGrpSpPr>
            <p:cNvPr id="5" name="Group 35"/>
            <p:cNvGrpSpPr>
              <a:grpSpLocks/>
            </p:cNvGrpSpPr>
            <p:nvPr/>
          </p:nvGrpSpPr>
          <p:grpSpPr bwMode="auto">
            <a:xfrm>
              <a:off x="1732" y="3004"/>
              <a:ext cx="384" cy="240"/>
              <a:chOff x="1344" y="1296"/>
              <a:chExt cx="384" cy="240"/>
            </a:xfrm>
          </p:grpSpPr>
          <p:sp>
            <p:nvSpPr>
              <p:cNvPr id="82978" name="Rectangle 36"/>
              <p:cNvSpPr>
                <a:spLocks noChangeArrowheads="1"/>
              </p:cNvSpPr>
              <p:nvPr/>
            </p:nvSpPr>
            <p:spPr bwMode="auto">
              <a:xfrm>
                <a:off x="1344" y="1296"/>
                <a:ext cx="240" cy="240"/>
              </a:xfrm>
              <a:prstGeom prst="rect">
                <a:avLst/>
              </a:prstGeom>
              <a:noFill/>
              <a:ln w="25400" cap="sq">
                <a:solidFill>
                  <a:schemeClr val="tx1"/>
                </a:solidFill>
                <a:miter lim="800000"/>
                <a:headEnd/>
                <a:tailEnd/>
              </a:ln>
            </p:spPr>
            <p:txBody>
              <a:bodyPr wrap="none" anchor="ctr"/>
              <a:lstStyle/>
              <a:p>
                <a:endParaRPr lang="zh-CN" altLang="en-US"/>
              </a:p>
            </p:txBody>
          </p:sp>
          <p:sp>
            <p:nvSpPr>
              <p:cNvPr id="82979" name="Rectangle 37"/>
              <p:cNvSpPr>
                <a:spLocks noChangeArrowheads="1"/>
              </p:cNvSpPr>
              <p:nvPr/>
            </p:nvSpPr>
            <p:spPr bwMode="auto">
              <a:xfrm>
                <a:off x="1584" y="1296"/>
                <a:ext cx="144" cy="240"/>
              </a:xfrm>
              <a:prstGeom prst="rect">
                <a:avLst/>
              </a:prstGeom>
              <a:noFill/>
              <a:ln w="25400" cap="sq">
                <a:solidFill>
                  <a:schemeClr val="tx1"/>
                </a:solidFill>
                <a:miter lim="800000"/>
                <a:headEnd/>
                <a:tailEnd/>
              </a:ln>
            </p:spPr>
            <p:txBody>
              <a:bodyPr wrap="none" anchor="ctr"/>
              <a:lstStyle/>
              <a:p>
                <a:endParaRPr lang="zh-CN" altLang="en-US"/>
              </a:p>
            </p:txBody>
          </p:sp>
        </p:grpSp>
        <p:grpSp>
          <p:nvGrpSpPr>
            <p:cNvPr id="6" name="Group 38"/>
            <p:cNvGrpSpPr>
              <a:grpSpLocks/>
            </p:cNvGrpSpPr>
            <p:nvPr/>
          </p:nvGrpSpPr>
          <p:grpSpPr bwMode="auto">
            <a:xfrm>
              <a:off x="2404" y="3004"/>
              <a:ext cx="384" cy="240"/>
              <a:chOff x="1344" y="1296"/>
              <a:chExt cx="384" cy="240"/>
            </a:xfrm>
          </p:grpSpPr>
          <p:sp>
            <p:nvSpPr>
              <p:cNvPr id="82976" name="Rectangle 39"/>
              <p:cNvSpPr>
                <a:spLocks noChangeArrowheads="1"/>
              </p:cNvSpPr>
              <p:nvPr/>
            </p:nvSpPr>
            <p:spPr bwMode="auto">
              <a:xfrm>
                <a:off x="1344" y="1296"/>
                <a:ext cx="240" cy="240"/>
              </a:xfrm>
              <a:prstGeom prst="rect">
                <a:avLst/>
              </a:prstGeom>
              <a:noFill/>
              <a:ln w="25400" cap="sq">
                <a:solidFill>
                  <a:schemeClr val="tx1"/>
                </a:solidFill>
                <a:miter lim="800000"/>
                <a:headEnd/>
                <a:tailEnd/>
              </a:ln>
            </p:spPr>
            <p:txBody>
              <a:bodyPr wrap="none" anchor="ctr"/>
              <a:lstStyle/>
              <a:p>
                <a:endParaRPr lang="zh-CN" altLang="en-US"/>
              </a:p>
            </p:txBody>
          </p:sp>
          <p:sp>
            <p:nvSpPr>
              <p:cNvPr id="82977" name="Rectangle 40"/>
              <p:cNvSpPr>
                <a:spLocks noChangeArrowheads="1"/>
              </p:cNvSpPr>
              <p:nvPr/>
            </p:nvSpPr>
            <p:spPr bwMode="auto">
              <a:xfrm>
                <a:off x="1584" y="1296"/>
                <a:ext cx="144" cy="240"/>
              </a:xfrm>
              <a:prstGeom prst="rect">
                <a:avLst/>
              </a:prstGeom>
              <a:noFill/>
              <a:ln w="25400" cap="sq">
                <a:solidFill>
                  <a:schemeClr val="tx1"/>
                </a:solidFill>
                <a:miter lim="800000"/>
                <a:headEnd/>
                <a:tailEnd/>
              </a:ln>
            </p:spPr>
            <p:txBody>
              <a:bodyPr wrap="none" anchor="ctr"/>
              <a:lstStyle/>
              <a:p>
                <a:endParaRPr lang="zh-CN" altLang="en-US"/>
              </a:p>
            </p:txBody>
          </p:sp>
        </p:grpSp>
        <p:grpSp>
          <p:nvGrpSpPr>
            <p:cNvPr id="7" name="Group 41"/>
            <p:cNvGrpSpPr>
              <a:grpSpLocks/>
            </p:cNvGrpSpPr>
            <p:nvPr/>
          </p:nvGrpSpPr>
          <p:grpSpPr bwMode="auto">
            <a:xfrm>
              <a:off x="3039" y="3004"/>
              <a:ext cx="384" cy="240"/>
              <a:chOff x="1344" y="1296"/>
              <a:chExt cx="384" cy="240"/>
            </a:xfrm>
          </p:grpSpPr>
          <p:sp>
            <p:nvSpPr>
              <p:cNvPr id="82974" name="Rectangle 42"/>
              <p:cNvSpPr>
                <a:spLocks noChangeArrowheads="1"/>
              </p:cNvSpPr>
              <p:nvPr/>
            </p:nvSpPr>
            <p:spPr bwMode="auto">
              <a:xfrm>
                <a:off x="1344" y="1296"/>
                <a:ext cx="240" cy="240"/>
              </a:xfrm>
              <a:prstGeom prst="rect">
                <a:avLst/>
              </a:prstGeom>
              <a:noFill/>
              <a:ln w="25400" cap="sq">
                <a:solidFill>
                  <a:schemeClr val="tx1"/>
                </a:solidFill>
                <a:miter lim="800000"/>
                <a:headEnd/>
                <a:tailEnd/>
              </a:ln>
            </p:spPr>
            <p:txBody>
              <a:bodyPr wrap="none" anchor="ctr"/>
              <a:lstStyle/>
              <a:p>
                <a:endParaRPr lang="zh-CN" altLang="en-US"/>
              </a:p>
            </p:txBody>
          </p:sp>
          <p:sp>
            <p:nvSpPr>
              <p:cNvPr id="82975" name="Rectangle 43"/>
              <p:cNvSpPr>
                <a:spLocks noChangeArrowheads="1"/>
              </p:cNvSpPr>
              <p:nvPr/>
            </p:nvSpPr>
            <p:spPr bwMode="auto">
              <a:xfrm>
                <a:off x="1584" y="1296"/>
                <a:ext cx="144" cy="240"/>
              </a:xfrm>
              <a:prstGeom prst="rect">
                <a:avLst/>
              </a:prstGeom>
              <a:noFill/>
              <a:ln w="25400" cap="sq">
                <a:solidFill>
                  <a:schemeClr val="tx1"/>
                </a:solidFill>
                <a:miter lim="800000"/>
                <a:headEnd/>
                <a:tailEnd/>
              </a:ln>
            </p:spPr>
            <p:txBody>
              <a:bodyPr wrap="none" anchor="ctr"/>
              <a:lstStyle/>
              <a:p>
                <a:endParaRPr lang="zh-CN" altLang="en-US"/>
              </a:p>
            </p:txBody>
          </p:sp>
        </p:grpSp>
        <p:grpSp>
          <p:nvGrpSpPr>
            <p:cNvPr id="8" name="Group 44"/>
            <p:cNvGrpSpPr>
              <a:grpSpLocks/>
            </p:cNvGrpSpPr>
            <p:nvPr/>
          </p:nvGrpSpPr>
          <p:grpSpPr bwMode="auto">
            <a:xfrm>
              <a:off x="4324" y="3004"/>
              <a:ext cx="384" cy="240"/>
              <a:chOff x="1344" y="1296"/>
              <a:chExt cx="384" cy="240"/>
            </a:xfrm>
          </p:grpSpPr>
          <p:sp>
            <p:nvSpPr>
              <p:cNvPr id="82972" name="Rectangle 45"/>
              <p:cNvSpPr>
                <a:spLocks noChangeArrowheads="1"/>
              </p:cNvSpPr>
              <p:nvPr/>
            </p:nvSpPr>
            <p:spPr bwMode="auto">
              <a:xfrm>
                <a:off x="1344" y="1296"/>
                <a:ext cx="240" cy="240"/>
              </a:xfrm>
              <a:prstGeom prst="rect">
                <a:avLst/>
              </a:prstGeom>
              <a:noFill/>
              <a:ln w="25400" cap="sq">
                <a:solidFill>
                  <a:schemeClr val="tx1"/>
                </a:solidFill>
                <a:miter lim="800000"/>
                <a:headEnd/>
                <a:tailEnd/>
              </a:ln>
            </p:spPr>
            <p:txBody>
              <a:bodyPr wrap="none" anchor="ctr"/>
              <a:lstStyle/>
              <a:p>
                <a:endParaRPr lang="zh-CN" altLang="en-US"/>
              </a:p>
            </p:txBody>
          </p:sp>
          <p:sp>
            <p:nvSpPr>
              <p:cNvPr id="82973" name="Rectangle 46"/>
              <p:cNvSpPr>
                <a:spLocks noChangeArrowheads="1"/>
              </p:cNvSpPr>
              <p:nvPr/>
            </p:nvSpPr>
            <p:spPr bwMode="auto">
              <a:xfrm>
                <a:off x="1584" y="1296"/>
                <a:ext cx="144" cy="240"/>
              </a:xfrm>
              <a:prstGeom prst="rect">
                <a:avLst/>
              </a:prstGeom>
              <a:noFill/>
              <a:ln w="25400" cap="sq">
                <a:solidFill>
                  <a:schemeClr val="tx1"/>
                </a:solidFill>
                <a:miter lim="800000"/>
                <a:headEnd/>
                <a:tailEnd/>
              </a:ln>
            </p:spPr>
            <p:txBody>
              <a:bodyPr wrap="none" anchor="ctr"/>
              <a:lstStyle/>
              <a:p>
                <a:endParaRPr lang="zh-CN" altLang="en-US"/>
              </a:p>
            </p:txBody>
          </p:sp>
        </p:grpSp>
        <p:sp>
          <p:nvSpPr>
            <p:cNvPr id="82961" name="Line 47"/>
            <p:cNvSpPr>
              <a:spLocks noChangeShapeType="1"/>
            </p:cNvSpPr>
            <p:nvPr/>
          </p:nvSpPr>
          <p:spPr bwMode="auto">
            <a:xfrm flipV="1">
              <a:off x="1396" y="3126"/>
              <a:ext cx="336" cy="0"/>
            </a:xfrm>
            <a:prstGeom prst="line">
              <a:avLst/>
            </a:prstGeom>
            <a:noFill/>
            <a:ln w="22225" cap="sq">
              <a:solidFill>
                <a:schemeClr val="tx1"/>
              </a:solidFill>
              <a:round/>
              <a:headEnd/>
              <a:tailEnd type="stealth" w="med" len="med"/>
            </a:ln>
          </p:spPr>
          <p:txBody>
            <a:bodyPr wrap="none" anchor="ctr"/>
            <a:lstStyle/>
            <a:p>
              <a:endParaRPr lang="zh-CN" altLang="en-US"/>
            </a:p>
          </p:txBody>
        </p:sp>
        <p:sp>
          <p:nvSpPr>
            <p:cNvPr id="82962" name="Line 48"/>
            <p:cNvSpPr>
              <a:spLocks noChangeShapeType="1"/>
            </p:cNvSpPr>
            <p:nvPr/>
          </p:nvSpPr>
          <p:spPr bwMode="auto">
            <a:xfrm flipV="1">
              <a:off x="2057" y="3122"/>
              <a:ext cx="336" cy="0"/>
            </a:xfrm>
            <a:prstGeom prst="line">
              <a:avLst/>
            </a:prstGeom>
            <a:noFill/>
            <a:ln w="22225" cap="sq">
              <a:solidFill>
                <a:schemeClr val="tx1"/>
              </a:solidFill>
              <a:round/>
              <a:headEnd/>
              <a:tailEnd type="stealth" w="med" len="med"/>
            </a:ln>
          </p:spPr>
          <p:txBody>
            <a:bodyPr wrap="none" anchor="ctr"/>
            <a:lstStyle/>
            <a:p>
              <a:endParaRPr lang="zh-CN" altLang="en-US"/>
            </a:p>
          </p:txBody>
        </p:sp>
        <p:sp>
          <p:nvSpPr>
            <p:cNvPr id="82963" name="Line 49"/>
            <p:cNvSpPr>
              <a:spLocks noChangeShapeType="1"/>
            </p:cNvSpPr>
            <p:nvPr/>
          </p:nvSpPr>
          <p:spPr bwMode="auto">
            <a:xfrm flipV="1">
              <a:off x="2703" y="3126"/>
              <a:ext cx="336" cy="0"/>
            </a:xfrm>
            <a:prstGeom prst="line">
              <a:avLst/>
            </a:prstGeom>
            <a:noFill/>
            <a:ln w="22225" cap="sq">
              <a:solidFill>
                <a:schemeClr val="tx1"/>
              </a:solidFill>
              <a:round/>
              <a:headEnd/>
              <a:tailEnd type="stealth" w="med" len="med"/>
            </a:ln>
          </p:spPr>
          <p:txBody>
            <a:bodyPr wrap="none" anchor="ctr"/>
            <a:lstStyle/>
            <a:p>
              <a:endParaRPr lang="zh-CN" altLang="en-US"/>
            </a:p>
          </p:txBody>
        </p:sp>
        <p:sp>
          <p:nvSpPr>
            <p:cNvPr id="82964" name="Line 50"/>
            <p:cNvSpPr>
              <a:spLocks noChangeShapeType="1"/>
            </p:cNvSpPr>
            <p:nvPr/>
          </p:nvSpPr>
          <p:spPr bwMode="auto">
            <a:xfrm flipV="1">
              <a:off x="3364" y="3122"/>
              <a:ext cx="336" cy="0"/>
            </a:xfrm>
            <a:prstGeom prst="line">
              <a:avLst/>
            </a:prstGeom>
            <a:noFill/>
            <a:ln w="22225" cap="sq">
              <a:solidFill>
                <a:schemeClr val="tx1"/>
              </a:solidFill>
              <a:round/>
              <a:headEnd/>
              <a:tailEnd type="stealth" w="med" len="med"/>
            </a:ln>
          </p:spPr>
          <p:txBody>
            <a:bodyPr wrap="none" anchor="ctr"/>
            <a:lstStyle/>
            <a:p>
              <a:endParaRPr lang="zh-CN" altLang="en-US"/>
            </a:p>
          </p:txBody>
        </p:sp>
        <p:sp>
          <p:nvSpPr>
            <p:cNvPr id="82965" name="Line 51"/>
            <p:cNvSpPr>
              <a:spLocks noChangeShapeType="1"/>
            </p:cNvSpPr>
            <p:nvPr/>
          </p:nvSpPr>
          <p:spPr bwMode="auto">
            <a:xfrm flipV="1">
              <a:off x="3988" y="3126"/>
              <a:ext cx="336" cy="0"/>
            </a:xfrm>
            <a:prstGeom prst="line">
              <a:avLst/>
            </a:prstGeom>
            <a:noFill/>
            <a:ln w="22225" cap="sq">
              <a:solidFill>
                <a:schemeClr val="tx1"/>
              </a:solidFill>
              <a:round/>
              <a:headEnd/>
              <a:tailEnd type="stealth" w="med" len="med"/>
            </a:ln>
          </p:spPr>
          <p:txBody>
            <a:bodyPr wrap="none" anchor="ctr"/>
            <a:lstStyle/>
            <a:p>
              <a:endParaRPr lang="zh-CN" altLang="en-US"/>
            </a:p>
          </p:txBody>
        </p:sp>
        <p:sp>
          <p:nvSpPr>
            <p:cNvPr id="82966" name="Text Box 52"/>
            <p:cNvSpPr txBox="1">
              <a:spLocks noChangeArrowheads="1"/>
            </p:cNvSpPr>
            <p:nvPr/>
          </p:nvSpPr>
          <p:spPr bwMode="auto">
            <a:xfrm>
              <a:off x="3721" y="2960"/>
              <a:ext cx="231" cy="226"/>
            </a:xfrm>
            <a:prstGeom prst="rect">
              <a:avLst/>
            </a:prstGeom>
            <a:noFill/>
            <a:ln w="12700" cap="sq">
              <a:noFill/>
              <a:miter lim="800000"/>
              <a:headEnd/>
              <a:tailEnd/>
            </a:ln>
          </p:spPr>
          <p:txBody>
            <a:bodyPr wrap="none">
              <a:spAutoFit/>
            </a:bodyPr>
            <a:lstStyle/>
            <a:p>
              <a:pPr algn="ctr" fontAlgn="t">
                <a:spcBef>
                  <a:spcPct val="50000"/>
                </a:spcBef>
              </a:pPr>
              <a:r>
                <a:rPr lang="zh-CN" altLang="en-US" sz="2600" b="1" baseline="-10000">
                  <a:ea typeface="宋体" charset="-122"/>
                </a:rPr>
                <a:t>…</a:t>
              </a:r>
              <a:endParaRPr lang="zh-CN" altLang="en-US" sz="2600" b="1" baseline="-10000"/>
            </a:p>
          </p:txBody>
        </p:sp>
        <p:sp>
          <p:nvSpPr>
            <p:cNvPr id="82967" name="Text Box 53"/>
            <p:cNvSpPr txBox="1">
              <a:spLocks noChangeArrowheads="1"/>
            </p:cNvSpPr>
            <p:nvPr/>
          </p:nvSpPr>
          <p:spPr bwMode="auto">
            <a:xfrm>
              <a:off x="4568" y="3004"/>
              <a:ext cx="154" cy="174"/>
            </a:xfrm>
            <a:prstGeom prst="rect">
              <a:avLst/>
            </a:prstGeom>
            <a:noFill/>
            <a:ln w="12700" cap="sq">
              <a:noFill/>
              <a:miter lim="800000"/>
              <a:headEnd/>
              <a:tailEnd/>
            </a:ln>
          </p:spPr>
          <p:txBody>
            <a:bodyPr wrap="none">
              <a:spAutoFit/>
            </a:bodyPr>
            <a:lstStyle/>
            <a:p>
              <a:pPr algn="ctr" fontAlgn="t">
                <a:spcBef>
                  <a:spcPct val="50000"/>
                </a:spcBef>
              </a:pPr>
              <a:r>
                <a:rPr lang="zh-CN" altLang="en-US" baseline="-10000"/>
                <a:t>^</a:t>
              </a:r>
            </a:p>
          </p:txBody>
        </p:sp>
        <p:sp>
          <p:nvSpPr>
            <p:cNvPr id="82968" name="Text Box 54"/>
            <p:cNvSpPr txBox="1">
              <a:spLocks noChangeArrowheads="1"/>
            </p:cNvSpPr>
            <p:nvPr/>
          </p:nvSpPr>
          <p:spPr bwMode="auto">
            <a:xfrm>
              <a:off x="672" y="2544"/>
              <a:ext cx="418" cy="252"/>
            </a:xfrm>
            <a:prstGeom prst="rect">
              <a:avLst/>
            </a:prstGeom>
            <a:noFill/>
            <a:ln w="12700" cap="sq">
              <a:noFill/>
              <a:miter lim="800000"/>
              <a:headEnd/>
              <a:tailEnd/>
            </a:ln>
          </p:spPr>
          <p:txBody>
            <a:bodyPr wrap="none">
              <a:spAutoFit/>
            </a:bodyPr>
            <a:lstStyle/>
            <a:p>
              <a:pPr algn="ctr" fontAlgn="t">
                <a:spcBef>
                  <a:spcPct val="50000"/>
                </a:spcBef>
              </a:pPr>
              <a:r>
                <a:rPr lang="en-US" altLang="zh-CN" sz="3000" b="1" baseline="-10000">
                  <a:solidFill>
                    <a:srgbClr val="FF3300"/>
                  </a:solidFill>
                </a:rPr>
                <a:t>front</a:t>
              </a:r>
            </a:p>
          </p:txBody>
        </p:sp>
        <p:sp>
          <p:nvSpPr>
            <p:cNvPr id="82969" name="Line 55"/>
            <p:cNvSpPr>
              <a:spLocks noChangeShapeType="1"/>
            </p:cNvSpPr>
            <p:nvPr/>
          </p:nvSpPr>
          <p:spPr bwMode="auto">
            <a:xfrm rot="904659">
              <a:off x="879" y="2834"/>
              <a:ext cx="192" cy="144"/>
            </a:xfrm>
            <a:prstGeom prst="line">
              <a:avLst/>
            </a:prstGeom>
            <a:noFill/>
            <a:ln w="19050" cap="sq">
              <a:solidFill>
                <a:schemeClr val="tx1"/>
              </a:solidFill>
              <a:round/>
              <a:headEnd/>
              <a:tailEnd type="stealth" w="med" len="med"/>
            </a:ln>
          </p:spPr>
          <p:txBody>
            <a:bodyPr wrap="none" anchor="ctr"/>
            <a:lstStyle/>
            <a:p>
              <a:endParaRPr lang="zh-CN" altLang="en-US"/>
            </a:p>
          </p:txBody>
        </p:sp>
        <p:sp>
          <p:nvSpPr>
            <p:cNvPr id="82970" name="Text Box 56"/>
            <p:cNvSpPr txBox="1">
              <a:spLocks noChangeArrowheads="1"/>
            </p:cNvSpPr>
            <p:nvPr/>
          </p:nvSpPr>
          <p:spPr bwMode="auto">
            <a:xfrm>
              <a:off x="4655" y="2582"/>
              <a:ext cx="367" cy="252"/>
            </a:xfrm>
            <a:prstGeom prst="rect">
              <a:avLst/>
            </a:prstGeom>
            <a:noFill/>
            <a:ln w="12700" cap="sq">
              <a:noFill/>
              <a:miter lim="800000"/>
              <a:headEnd/>
              <a:tailEnd/>
            </a:ln>
          </p:spPr>
          <p:txBody>
            <a:bodyPr wrap="none">
              <a:spAutoFit/>
            </a:bodyPr>
            <a:lstStyle/>
            <a:p>
              <a:pPr algn="ctr" fontAlgn="t">
                <a:spcBef>
                  <a:spcPct val="50000"/>
                </a:spcBef>
              </a:pPr>
              <a:r>
                <a:rPr lang="en-US" altLang="zh-CN" sz="3000" b="1" baseline="-10000">
                  <a:solidFill>
                    <a:srgbClr val="FF3300"/>
                  </a:solidFill>
                </a:rPr>
                <a:t>rear</a:t>
              </a:r>
            </a:p>
          </p:txBody>
        </p:sp>
        <p:sp>
          <p:nvSpPr>
            <p:cNvPr id="82971" name="Line 57"/>
            <p:cNvSpPr>
              <a:spLocks noChangeShapeType="1"/>
            </p:cNvSpPr>
            <p:nvPr/>
          </p:nvSpPr>
          <p:spPr bwMode="auto">
            <a:xfrm flipH="1">
              <a:off x="4560" y="2784"/>
              <a:ext cx="192" cy="192"/>
            </a:xfrm>
            <a:prstGeom prst="line">
              <a:avLst/>
            </a:prstGeom>
            <a:noFill/>
            <a:ln w="22225" cap="sq">
              <a:solidFill>
                <a:schemeClr val="tx1"/>
              </a:solidFill>
              <a:round/>
              <a:headEnd type="none" w="sm" len="sm"/>
              <a:tailEnd type="arrow" w="sm" len="sm"/>
            </a:ln>
          </p:spPr>
          <p:txBody>
            <a:bodyPr/>
            <a:lstStyle/>
            <a:p>
              <a:endParaRPr lang="zh-CN" altLang="en-US"/>
            </a:p>
          </p:txBody>
        </p:sp>
      </p:grpSp>
      <p:grpSp>
        <p:nvGrpSpPr>
          <p:cNvPr id="9" name="Group 70"/>
          <p:cNvGrpSpPr>
            <a:grpSpLocks/>
          </p:cNvGrpSpPr>
          <p:nvPr/>
        </p:nvGrpSpPr>
        <p:grpSpPr bwMode="auto">
          <a:xfrm>
            <a:off x="2438401" y="5334000"/>
            <a:ext cx="6069013" cy="838200"/>
            <a:chOff x="576" y="3360"/>
            <a:chExt cx="3823" cy="528"/>
          </a:xfrm>
        </p:grpSpPr>
        <p:sp>
          <p:nvSpPr>
            <p:cNvPr id="82952" name="Text Box 59"/>
            <p:cNvSpPr txBox="1">
              <a:spLocks noChangeArrowheads="1"/>
            </p:cNvSpPr>
            <p:nvPr/>
          </p:nvSpPr>
          <p:spPr bwMode="auto">
            <a:xfrm>
              <a:off x="576" y="3384"/>
              <a:ext cx="3696" cy="394"/>
            </a:xfrm>
            <a:prstGeom prst="rect">
              <a:avLst/>
            </a:prstGeom>
            <a:noFill/>
            <a:ln w="12700" cap="sq">
              <a:noFill/>
              <a:miter lim="800000"/>
              <a:headEnd type="none" w="sm" len="sm"/>
              <a:tailEnd type="none" w="sm" len="sm"/>
            </a:ln>
            <a:effectLst>
              <a:outerShdw dist="25400" dir="5400000" algn="ctr" rotWithShape="0">
                <a:schemeClr val="bg1"/>
              </a:outerShdw>
            </a:effectLst>
          </p:spPr>
          <p:txBody>
            <a:bodyPr>
              <a:spAutoFit/>
            </a:bodyPr>
            <a:lstStyle/>
            <a:p>
              <a:r>
                <a:rPr lang="zh-CN" altLang="en-US" sz="3500" b="1" i="1">
                  <a:solidFill>
                    <a:srgbClr val="FF3300"/>
                  </a:solidFill>
                  <a:ea typeface="黑体" pitchFamily="2" charset="-122"/>
                </a:rPr>
                <a:t>归结为一个线性链表的删除</a:t>
              </a:r>
            </a:p>
          </p:txBody>
        </p:sp>
        <p:grpSp>
          <p:nvGrpSpPr>
            <p:cNvPr id="10" name="Group 60"/>
            <p:cNvGrpSpPr>
              <a:grpSpLocks/>
            </p:cNvGrpSpPr>
            <p:nvPr/>
          </p:nvGrpSpPr>
          <p:grpSpPr bwMode="auto">
            <a:xfrm rot="876263">
              <a:off x="4159" y="3360"/>
              <a:ext cx="240" cy="528"/>
              <a:chOff x="3984" y="2976"/>
              <a:chExt cx="291" cy="657"/>
            </a:xfrm>
          </p:grpSpPr>
          <p:sp>
            <p:nvSpPr>
              <p:cNvPr id="82954" name="Freeform 61"/>
              <p:cNvSpPr>
                <a:spLocks/>
              </p:cNvSpPr>
              <p:nvPr/>
            </p:nvSpPr>
            <p:spPr bwMode="auto">
              <a:xfrm>
                <a:off x="3981" y="2973"/>
                <a:ext cx="291" cy="449"/>
              </a:xfrm>
              <a:custGeom>
                <a:avLst/>
                <a:gdLst>
                  <a:gd name="T0" fmla="*/ 68 w 291"/>
                  <a:gd name="T1" fmla="*/ 34 h 562"/>
                  <a:gd name="T2" fmla="*/ 274 w 291"/>
                  <a:gd name="T3" fmla="*/ 22 h 562"/>
                  <a:gd name="T4" fmla="*/ 264 w 291"/>
                  <a:gd name="T5" fmla="*/ 87 h 562"/>
                  <a:gd name="T6" fmla="*/ 242 w 291"/>
                  <a:gd name="T7" fmla="*/ 114 h 562"/>
                  <a:gd name="T8" fmla="*/ 231 w 291"/>
                  <a:gd name="T9" fmla="*/ 149 h 562"/>
                  <a:gd name="T10" fmla="*/ 209 w 291"/>
                  <a:gd name="T11" fmla="*/ 177 h 562"/>
                  <a:gd name="T12" fmla="*/ 198 w 291"/>
                  <a:gd name="T13" fmla="*/ 216 h 562"/>
                  <a:gd name="T14" fmla="*/ 68 w 291"/>
                  <a:gd name="T15" fmla="*/ 216 h 562"/>
                  <a:gd name="T16" fmla="*/ 35 w 291"/>
                  <a:gd name="T17" fmla="*/ 105 h 562"/>
                  <a:gd name="T18" fmla="*/ 68 w 291"/>
                  <a:gd name="T19" fmla="*/ 34 h 5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91" h="562">
                    <a:moveTo>
                      <a:pt x="68" y="84"/>
                    </a:moveTo>
                    <a:cubicBezTo>
                      <a:pt x="97" y="0"/>
                      <a:pt x="197" y="47"/>
                      <a:pt x="274" y="52"/>
                    </a:cubicBezTo>
                    <a:cubicBezTo>
                      <a:pt x="291" y="102"/>
                      <a:pt x="277" y="164"/>
                      <a:pt x="264" y="215"/>
                    </a:cubicBezTo>
                    <a:cubicBezTo>
                      <a:pt x="259" y="237"/>
                      <a:pt x="242" y="280"/>
                      <a:pt x="242" y="280"/>
                    </a:cubicBezTo>
                    <a:cubicBezTo>
                      <a:pt x="238" y="309"/>
                      <a:pt x="237" y="338"/>
                      <a:pt x="231" y="367"/>
                    </a:cubicBezTo>
                    <a:cubicBezTo>
                      <a:pt x="226" y="389"/>
                      <a:pt x="209" y="432"/>
                      <a:pt x="209" y="432"/>
                    </a:cubicBezTo>
                    <a:cubicBezTo>
                      <a:pt x="205" y="465"/>
                      <a:pt x="220" y="506"/>
                      <a:pt x="198" y="530"/>
                    </a:cubicBezTo>
                    <a:cubicBezTo>
                      <a:pt x="170" y="562"/>
                      <a:pt x="102" y="539"/>
                      <a:pt x="68" y="530"/>
                    </a:cubicBezTo>
                    <a:cubicBezTo>
                      <a:pt x="49" y="433"/>
                      <a:pt x="92" y="343"/>
                      <a:pt x="35" y="258"/>
                    </a:cubicBezTo>
                    <a:cubicBezTo>
                      <a:pt x="47" y="52"/>
                      <a:pt x="0" y="16"/>
                      <a:pt x="68" y="84"/>
                    </a:cubicBezTo>
                    <a:close/>
                  </a:path>
                </a:pathLst>
              </a:custGeom>
              <a:solidFill>
                <a:srgbClr val="FF0000"/>
              </a:solidFill>
              <a:ln w="73025" cap="sq" cmpd="sng">
                <a:solidFill>
                  <a:srgbClr val="FFFF00"/>
                </a:solidFill>
                <a:prstDash val="solid"/>
                <a:round/>
                <a:headEnd/>
                <a:tailEnd/>
              </a:ln>
              <a:effectLst>
                <a:outerShdw dist="35921" dir="2700000" algn="ctr" rotWithShape="0">
                  <a:schemeClr val="bg1"/>
                </a:outerShdw>
              </a:effectLst>
            </p:spPr>
            <p:txBody>
              <a:bodyPr wrap="none" anchor="ctr"/>
              <a:lstStyle/>
              <a:p>
                <a:endParaRPr lang="zh-CN" altLang="en-US"/>
              </a:p>
            </p:txBody>
          </p:sp>
          <p:sp>
            <p:nvSpPr>
              <p:cNvPr id="82955" name="Freeform 62"/>
              <p:cNvSpPr>
                <a:spLocks/>
              </p:cNvSpPr>
              <p:nvPr/>
            </p:nvSpPr>
            <p:spPr bwMode="auto">
              <a:xfrm>
                <a:off x="4001" y="3486"/>
                <a:ext cx="200" cy="147"/>
              </a:xfrm>
              <a:custGeom>
                <a:avLst/>
                <a:gdLst>
                  <a:gd name="T0" fmla="*/ 84 w 200"/>
                  <a:gd name="T1" fmla="*/ 0 h 184"/>
                  <a:gd name="T2" fmla="*/ 30 w 200"/>
                  <a:gd name="T3" fmla="*/ 53 h 184"/>
                  <a:gd name="T4" fmla="*/ 41 w 200"/>
                  <a:gd name="T5" fmla="*/ 66 h 184"/>
                  <a:gd name="T6" fmla="*/ 106 w 200"/>
                  <a:gd name="T7" fmla="*/ 74 h 184"/>
                  <a:gd name="T8" fmla="*/ 182 w 200"/>
                  <a:gd name="T9" fmla="*/ 70 h 184"/>
                  <a:gd name="T10" fmla="*/ 193 w 200"/>
                  <a:gd name="T11" fmla="*/ 58 h 184"/>
                  <a:gd name="T12" fmla="*/ 171 w 200"/>
                  <a:gd name="T13" fmla="*/ 9 h 184"/>
                  <a:gd name="T14" fmla="*/ 84 w 200"/>
                  <a:gd name="T15" fmla="*/ 0 h 18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0" h="184">
                    <a:moveTo>
                      <a:pt x="84" y="0"/>
                    </a:moveTo>
                    <a:cubicBezTo>
                      <a:pt x="0" y="56"/>
                      <a:pt x="10" y="21"/>
                      <a:pt x="30" y="130"/>
                    </a:cubicBezTo>
                    <a:cubicBezTo>
                      <a:pt x="32" y="141"/>
                      <a:pt x="32" y="156"/>
                      <a:pt x="41" y="163"/>
                    </a:cubicBezTo>
                    <a:cubicBezTo>
                      <a:pt x="60" y="176"/>
                      <a:pt x="106" y="184"/>
                      <a:pt x="106" y="184"/>
                    </a:cubicBezTo>
                    <a:cubicBezTo>
                      <a:pt x="131" y="180"/>
                      <a:pt x="159" y="184"/>
                      <a:pt x="182" y="173"/>
                    </a:cubicBezTo>
                    <a:cubicBezTo>
                      <a:pt x="192" y="168"/>
                      <a:pt x="193" y="152"/>
                      <a:pt x="193" y="141"/>
                    </a:cubicBezTo>
                    <a:cubicBezTo>
                      <a:pt x="193" y="100"/>
                      <a:pt x="200" y="50"/>
                      <a:pt x="171" y="21"/>
                    </a:cubicBezTo>
                    <a:cubicBezTo>
                      <a:pt x="162" y="12"/>
                      <a:pt x="84" y="0"/>
                      <a:pt x="84" y="0"/>
                    </a:cubicBezTo>
                    <a:close/>
                  </a:path>
                </a:pathLst>
              </a:custGeom>
              <a:solidFill>
                <a:srgbClr val="FF0000"/>
              </a:solidFill>
              <a:ln w="76200" cap="sq" cmpd="sng">
                <a:solidFill>
                  <a:srgbClr val="FFFF00"/>
                </a:solidFill>
                <a:prstDash val="solid"/>
                <a:round/>
                <a:headEnd/>
                <a:tailEnd/>
              </a:ln>
              <a:effectLst>
                <a:outerShdw dist="35921" dir="2700000" algn="ctr" rotWithShape="0">
                  <a:schemeClr val="bg1"/>
                </a:outerShdw>
              </a:effectLst>
            </p:spPr>
            <p:txBody>
              <a:bodyPr wrap="none" anchor="ctr"/>
              <a:lstStyle/>
              <a:p>
                <a:endParaRPr lang="zh-CN" altLang="en-US"/>
              </a:p>
            </p:txBody>
          </p:sp>
        </p:grpSp>
      </p:grpSp>
      <p:grpSp>
        <p:nvGrpSpPr>
          <p:cNvPr id="11" name="Group 68"/>
          <p:cNvGrpSpPr>
            <a:grpSpLocks/>
          </p:cNvGrpSpPr>
          <p:nvPr/>
        </p:nvGrpSpPr>
        <p:grpSpPr bwMode="auto">
          <a:xfrm>
            <a:off x="1119982" y="93598"/>
            <a:ext cx="3903663" cy="647700"/>
            <a:chOff x="240" y="96"/>
            <a:chExt cx="2459" cy="408"/>
          </a:xfrm>
        </p:grpSpPr>
        <p:sp>
          <p:nvSpPr>
            <p:cNvPr id="82950" name="AutoShape 65"/>
            <p:cNvSpPr>
              <a:spLocks noChangeArrowheads="1"/>
            </p:cNvSpPr>
            <p:nvPr/>
          </p:nvSpPr>
          <p:spPr bwMode="auto">
            <a:xfrm>
              <a:off x="240" y="96"/>
              <a:ext cx="2208" cy="408"/>
            </a:xfrm>
            <a:prstGeom prst="cloudCallout">
              <a:avLst>
                <a:gd name="adj1" fmla="val 8153"/>
                <a:gd name="adj2" fmla="val 40194"/>
              </a:avLst>
            </a:prstGeom>
            <a:solidFill>
              <a:srgbClr val="EEDDFF"/>
            </a:solidFill>
            <a:ln w="12700" cap="sq">
              <a:noFill/>
              <a:round/>
              <a:headEnd type="none" w="sm" len="sm"/>
              <a:tailEnd type="none" w="sm" len="sm"/>
            </a:ln>
            <a:effectLst>
              <a:outerShdw dist="96720" dir="1391915" algn="ctr" rotWithShape="0">
                <a:srgbClr val="C0C0C0"/>
              </a:outerShdw>
            </a:effectLst>
          </p:spPr>
          <p:txBody>
            <a:bodyPr/>
            <a:lstStyle/>
            <a:p>
              <a:pPr algn="ctr"/>
              <a:endParaRPr lang="zh-CN" altLang="en-US" sz="2400" b="1"/>
            </a:p>
          </p:txBody>
        </p:sp>
        <p:sp>
          <p:nvSpPr>
            <p:cNvPr id="82951" name="Text Box 67"/>
            <p:cNvSpPr txBox="1">
              <a:spLocks noChangeArrowheads="1"/>
            </p:cNvSpPr>
            <p:nvPr/>
          </p:nvSpPr>
          <p:spPr bwMode="auto">
            <a:xfrm>
              <a:off x="419" y="129"/>
              <a:ext cx="2280" cy="356"/>
            </a:xfrm>
            <a:prstGeom prst="rect">
              <a:avLst/>
            </a:prstGeom>
            <a:noFill/>
            <a:ln w="12700" cap="sq">
              <a:noFill/>
              <a:miter lim="800000"/>
              <a:headEnd type="none" w="sm" len="sm"/>
              <a:tailEnd type="none" w="sm" len="sm"/>
            </a:ln>
          </p:spPr>
          <p:txBody>
            <a:bodyPr>
              <a:spAutoFit/>
            </a:bodyPr>
            <a:lstStyle/>
            <a:p>
              <a:pPr eaLnBrk="1" hangingPunct="1"/>
              <a:r>
                <a:rPr kumimoji="1" lang="zh-CN" altLang="en-US" sz="3100" b="1" dirty="0">
                  <a:solidFill>
                    <a:srgbClr val="B20059"/>
                  </a:solidFill>
                </a:rPr>
                <a:t>5. 销毁一个队</a:t>
              </a:r>
              <a:endParaRPr kumimoji="1" lang="zh-CN" altLang="en-US" sz="3100" dirty="0">
                <a:solidFill>
                  <a:srgbClr val="B20059"/>
                </a:solidFill>
              </a:endParaRPr>
            </a:p>
          </p:txBody>
        </p:sp>
      </p:gr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52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fltVal val="0"/>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anim calcmode="lin" valueType="num">
                                      <p:cBhvr>
                                        <p:cTn id="19" dur="500" fill="hold"/>
                                        <p:tgtEl>
                                          <p:spTgt spid="9"/>
                                        </p:tgtEl>
                                        <p:attrNameLst>
                                          <p:attrName>ppt_x</p:attrName>
                                        </p:attrNameLst>
                                      </p:cBhvr>
                                      <p:tavLst>
                                        <p:tav tm="0">
                                          <p:val>
                                            <p:fltVal val="0.5"/>
                                          </p:val>
                                        </p:tav>
                                        <p:tav tm="100000">
                                          <p:val>
                                            <p:strVal val="#ppt_x"/>
                                          </p:val>
                                        </p:tav>
                                      </p:tavLst>
                                    </p:anim>
                                    <p:anim calcmode="lin" valueType="num">
                                      <p:cBhvr>
                                        <p:cTn id="20" dur="500" fill="hold"/>
                                        <p:tgtEl>
                                          <p:spTgt spid="9"/>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8"/>
          <p:cNvGrpSpPr>
            <a:grpSpLocks/>
          </p:cNvGrpSpPr>
          <p:nvPr/>
        </p:nvGrpSpPr>
        <p:grpSpPr bwMode="auto">
          <a:xfrm>
            <a:off x="1775520" y="1988840"/>
            <a:ext cx="7772400" cy="3581400"/>
            <a:chOff x="432" y="768"/>
            <a:chExt cx="4896" cy="2256"/>
          </a:xfrm>
        </p:grpSpPr>
        <p:sp>
          <p:nvSpPr>
            <p:cNvPr id="84001" name="AutoShape 3"/>
            <p:cNvSpPr>
              <a:spLocks noChangeArrowheads="1"/>
            </p:cNvSpPr>
            <p:nvPr/>
          </p:nvSpPr>
          <p:spPr bwMode="auto">
            <a:xfrm>
              <a:off x="432" y="768"/>
              <a:ext cx="4896" cy="2256"/>
            </a:xfrm>
            <a:prstGeom prst="roundRect">
              <a:avLst>
                <a:gd name="adj" fmla="val 8500"/>
              </a:avLst>
            </a:prstGeom>
            <a:solidFill>
              <a:srgbClr val="CCFFFF"/>
            </a:solidFill>
            <a:ln w="12700" cap="sq">
              <a:noFill/>
              <a:round/>
              <a:headEnd type="none" w="sm" len="sm"/>
              <a:tailEnd type="none" w="sm" len="sm"/>
            </a:ln>
            <a:effectLst>
              <a:outerShdw dist="224686" dir="2562563" algn="ctr" rotWithShape="0">
                <a:srgbClr val="999999"/>
              </a:outerShdw>
            </a:effectLst>
          </p:spPr>
          <p:txBody>
            <a:bodyPr wrap="none" anchor="ctr"/>
            <a:lstStyle/>
            <a:p>
              <a:endParaRPr lang="zh-CN" altLang="en-US"/>
            </a:p>
          </p:txBody>
        </p:sp>
        <p:sp>
          <p:nvSpPr>
            <p:cNvPr id="84002" name="Text Box 4"/>
            <p:cNvSpPr txBox="1">
              <a:spLocks noChangeArrowheads="1"/>
            </p:cNvSpPr>
            <p:nvPr/>
          </p:nvSpPr>
          <p:spPr bwMode="auto">
            <a:xfrm>
              <a:off x="672" y="1022"/>
              <a:ext cx="4560" cy="1858"/>
            </a:xfrm>
            <a:prstGeom prst="rect">
              <a:avLst/>
            </a:prstGeom>
            <a:noFill/>
            <a:ln w="12700" cap="sq">
              <a:noFill/>
              <a:miter lim="800000"/>
              <a:headEnd type="none" w="sm" len="sm"/>
              <a:tailEnd type="none" w="sm" len="sm"/>
            </a:ln>
          </p:spPr>
          <p:txBody>
            <a:bodyPr>
              <a:spAutoFit/>
            </a:bodyPr>
            <a:lstStyle/>
            <a:p>
              <a:pPr>
                <a:lnSpc>
                  <a:spcPct val="90000"/>
                </a:lnSpc>
              </a:pPr>
              <a:r>
                <a:rPr lang="en-US" altLang="zh-CN" sz="2600" b="1" dirty="0">
                  <a:solidFill>
                    <a:srgbClr val="002D88"/>
                  </a:solidFill>
                </a:rPr>
                <a:t>void </a:t>
              </a:r>
              <a:r>
                <a:rPr lang="en-US" altLang="zh-CN" sz="2600" b="1" dirty="0" err="1">
                  <a:solidFill>
                    <a:srgbClr val="002D88"/>
                  </a:solidFill>
                </a:rPr>
                <a:t>destroyLQueue</a:t>
              </a:r>
              <a:r>
                <a:rPr lang="en-US" altLang="zh-CN" sz="2600" b="1" dirty="0">
                  <a:solidFill>
                    <a:srgbClr val="002D88"/>
                  </a:solidFill>
                </a:rPr>
                <a:t>()</a:t>
              </a:r>
            </a:p>
            <a:p>
              <a:pPr>
                <a:lnSpc>
                  <a:spcPct val="90000"/>
                </a:lnSpc>
              </a:pPr>
              <a:r>
                <a:rPr lang="en-US" altLang="zh-CN" sz="2600" b="1" dirty="0">
                  <a:solidFill>
                    <a:srgbClr val="002D88"/>
                  </a:solidFill>
                </a:rPr>
                <a:t>{</a:t>
              </a:r>
            </a:p>
            <a:p>
              <a:pPr>
                <a:lnSpc>
                  <a:spcPct val="90000"/>
                </a:lnSpc>
              </a:pPr>
              <a:r>
                <a:rPr lang="en-US" altLang="zh-CN" sz="2600" b="1" dirty="0">
                  <a:solidFill>
                    <a:srgbClr val="002D88"/>
                  </a:solidFill>
                </a:rPr>
                <a:t>       while(Front != NULL){                    </a:t>
              </a:r>
              <a:r>
                <a:rPr lang="en-US" altLang="zh-CN" sz="2200" b="1" dirty="0">
                  <a:solidFill>
                    <a:srgbClr val="002D88"/>
                  </a:solidFill>
                </a:rPr>
                <a:t>/* </a:t>
              </a:r>
              <a:r>
                <a:rPr lang="zh-CN" altLang="en-US" sz="2200" b="1" dirty="0">
                  <a:solidFill>
                    <a:srgbClr val="002D88"/>
                  </a:solidFill>
                  <a:ea typeface="幼圆" pitchFamily="49" charset="-122"/>
                </a:rPr>
                <a:t>队非空时</a:t>
              </a:r>
              <a:r>
                <a:rPr lang="zh-CN" altLang="en-US" sz="2200" b="1" dirty="0">
                  <a:solidFill>
                    <a:srgbClr val="002D88"/>
                  </a:solidFill>
                </a:rPr>
                <a:t>  */</a:t>
              </a:r>
            </a:p>
            <a:p>
              <a:pPr>
                <a:lnSpc>
                  <a:spcPct val="90000"/>
                </a:lnSpc>
              </a:pPr>
              <a:r>
                <a:rPr lang="en-US" altLang="zh-CN" sz="2600" b="1" dirty="0">
                  <a:solidFill>
                    <a:srgbClr val="002D88"/>
                  </a:solidFill>
                </a:rPr>
                <a:t>            Rear=Front</a:t>
              </a:r>
              <a:r>
                <a:rPr lang="en-US" altLang="zh-CN" sz="2600" b="1" dirty="0">
                  <a:solidFill>
                    <a:srgbClr val="002D88"/>
                  </a:solidFill>
                  <a:latin typeface="宋体" charset="-122"/>
                  <a:ea typeface="宋体" charset="-122"/>
                </a:rPr>
                <a:t>-</a:t>
              </a:r>
              <a:r>
                <a:rPr lang="en-US" altLang="zh-CN" sz="2600" b="1" dirty="0">
                  <a:solidFill>
                    <a:srgbClr val="002D88"/>
                  </a:solidFill>
                </a:rPr>
                <a:t>&gt;link;    </a:t>
              </a:r>
            </a:p>
            <a:p>
              <a:pPr>
                <a:lnSpc>
                  <a:spcPct val="90000"/>
                </a:lnSpc>
              </a:pPr>
              <a:r>
                <a:rPr lang="en-US" altLang="zh-CN" sz="2600" b="1" dirty="0">
                  <a:solidFill>
                    <a:srgbClr val="002D88"/>
                  </a:solidFill>
                </a:rPr>
                <a:t>            free(Front);                 </a:t>
              </a:r>
              <a:r>
                <a:rPr lang="en-US" altLang="zh-CN" sz="2200" b="1" dirty="0">
                  <a:solidFill>
                    <a:srgbClr val="002D88"/>
                  </a:solidFill>
                </a:rPr>
                <a:t>/* </a:t>
              </a:r>
              <a:r>
                <a:rPr lang="zh-CN" altLang="en-US" sz="2200" b="1" dirty="0">
                  <a:solidFill>
                    <a:srgbClr val="002D88"/>
                  </a:solidFill>
                  <a:ea typeface="幼圆" pitchFamily="49" charset="-122"/>
                </a:rPr>
                <a:t>释放一个结点空间</a:t>
              </a:r>
              <a:r>
                <a:rPr lang="zh-CN" altLang="en-US" sz="2200" b="1" dirty="0">
                  <a:solidFill>
                    <a:srgbClr val="002D88"/>
                  </a:solidFill>
                </a:rPr>
                <a:t>  */</a:t>
              </a:r>
              <a:endParaRPr lang="en-US" altLang="zh-CN" sz="2200" b="1" dirty="0">
                <a:solidFill>
                  <a:srgbClr val="002D88"/>
                </a:solidFill>
              </a:endParaRPr>
            </a:p>
            <a:p>
              <a:pPr>
                <a:lnSpc>
                  <a:spcPct val="90000"/>
                </a:lnSpc>
              </a:pPr>
              <a:r>
                <a:rPr lang="en-US" altLang="zh-CN" sz="2600" b="1" dirty="0">
                  <a:solidFill>
                    <a:srgbClr val="002D88"/>
                  </a:solidFill>
                </a:rPr>
                <a:t>            Front=Rear;</a:t>
              </a:r>
            </a:p>
            <a:p>
              <a:pPr>
                <a:lnSpc>
                  <a:spcPct val="90000"/>
                </a:lnSpc>
              </a:pPr>
              <a:r>
                <a:rPr lang="en-US" altLang="zh-CN" sz="2600" b="1" dirty="0">
                  <a:solidFill>
                    <a:srgbClr val="002D88"/>
                  </a:solidFill>
                </a:rPr>
                <a:t>       }</a:t>
              </a:r>
            </a:p>
            <a:p>
              <a:pPr>
                <a:lnSpc>
                  <a:spcPct val="90000"/>
                </a:lnSpc>
              </a:pPr>
              <a:r>
                <a:rPr lang="en-US" altLang="zh-CN" sz="2600" b="1" dirty="0">
                  <a:solidFill>
                    <a:srgbClr val="002D88"/>
                  </a:solidFill>
                </a:rPr>
                <a:t>}</a:t>
              </a:r>
            </a:p>
          </p:txBody>
        </p:sp>
      </p:grpSp>
      <p:grpSp>
        <p:nvGrpSpPr>
          <p:cNvPr id="3" name="Group 50"/>
          <p:cNvGrpSpPr>
            <a:grpSpLocks/>
          </p:cNvGrpSpPr>
          <p:nvPr/>
        </p:nvGrpSpPr>
        <p:grpSpPr bwMode="auto">
          <a:xfrm>
            <a:off x="1626296" y="1301454"/>
            <a:ext cx="2378075" cy="960437"/>
            <a:chOff x="338" y="239"/>
            <a:chExt cx="1498" cy="605"/>
          </a:xfrm>
        </p:grpSpPr>
        <p:sp>
          <p:nvSpPr>
            <p:cNvPr id="83999" name="AutoShape 6"/>
            <p:cNvSpPr>
              <a:spLocks noChangeArrowheads="1"/>
            </p:cNvSpPr>
            <p:nvPr/>
          </p:nvSpPr>
          <p:spPr bwMode="auto">
            <a:xfrm rot="-352797">
              <a:off x="338" y="239"/>
              <a:ext cx="1392" cy="605"/>
            </a:xfrm>
            <a:prstGeom prst="irregularSeal2">
              <a:avLst/>
            </a:prstGeom>
            <a:solidFill>
              <a:srgbClr val="CCFFCC"/>
            </a:solidFill>
            <a:ln w="66675">
              <a:solidFill>
                <a:srgbClr val="FFFF00"/>
              </a:solidFill>
              <a:miter lim="800000"/>
              <a:headEnd type="none" w="sm" len="sm"/>
              <a:tailEnd type="none" w="sm" len="sm"/>
            </a:ln>
            <a:effectLst>
              <a:outerShdw dist="104727" dir="842175" algn="ctr" rotWithShape="0">
                <a:srgbClr val="999999"/>
              </a:outerShdw>
            </a:effectLst>
          </p:spPr>
          <p:txBody>
            <a:bodyPr wrap="none" anchor="ctr"/>
            <a:lstStyle/>
            <a:p>
              <a:endParaRPr lang="zh-CN" altLang="en-US"/>
            </a:p>
          </p:txBody>
        </p:sp>
        <p:sp>
          <p:nvSpPr>
            <p:cNvPr id="84000" name="Text Box 7"/>
            <p:cNvSpPr txBox="1">
              <a:spLocks noChangeArrowheads="1"/>
            </p:cNvSpPr>
            <p:nvPr/>
          </p:nvSpPr>
          <p:spPr bwMode="auto">
            <a:xfrm rot="-74607">
              <a:off x="483" y="259"/>
              <a:ext cx="1353" cy="519"/>
            </a:xfrm>
            <a:prstGeom prst="rect">
              <a:avLst/>
            </a:prstGeom>
            <a:noFill/>
            <a:ln w="12700" cap="sq">
              <a:noFill/>
              <a:miter lim="800000"/>
              <a:headEnd type="none" w="sm" len="sm"/>
              <a:tailEnd type="none" w="sm" len="sm"/>
            </a:ln>
            <a:effectLst>
              <a:outerShdw dist="35921" dir="2700000" algn="ctr" rotWithShape="0">
                <a:srgbClr val="000000"/>
              </a:outerShdw>
            </a:effectLst>
          </p:spPr>
          <p:txBody>
            <a:bodyPr>
              <a:spAutoFit/>
            </a:bodyPr>
            <a:lstStyle/>
            <a:p>
              <a:r>
                <a:rPr lang="zh-CN" altLang="en-US" sz="4800" b="1" i="1">
                  <a:solidFill>
                    <a:srgbClr val="FF3300"/>
                  </a:solidFill>
                  <a:ea typeface="黑体" pitchFamily="2" charset="-122"/>
                </a:rPr>
                <a:t>算法</a:t>
              </a:r>
            </a:p>
          </p:txBody>
        </p:sp>
      </p:grpSp>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83432" y="63546"/>
            <a:ext cx="8189913" cy="841375"/>
          </a:xfrm>
        </p:spPr>
        <p:txBody>
          <a:bodyPr>
            <a:normAutofit fontScale="90000"/>
          </a:bodyPr>
          <a:lstStyle/>
          <a:p>
            <a:r>
              <a:rPr lang="zh-CN" altLang="en-US" dirty="0"/>
              <a:t>问题</a:t>
            </a:r>
            <a:r>
              <a:rPr lang="en-US" altLang="zh-CN" dirty="0"/>
              <a:t>3.2 </a:t>
            </a:r>
            <a:r>
              <a:rPr lang="zh-CN" altLang="en-US" dirty="0"/>
              <a:t>：银行排队模拟</a:t>
            </a:r>
            <a:r>
              <a:rPr lang="en-US" altLang="zh-CN" dirty="0"/>
              <a:t>(Simulation)</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74</a:t>
            </a:fld>
            <a:endParaRPr lang="zh-CN" altLang="en-US" dirty="0"/>
          </a:p>
        </p:txBody>
      </p:sp>
      <p:pic>
        <p:nvPicPr>
          <p:cNvPr id="68610" name="Picture 2"/>
          <p:cNvPicPr>
            <a:picLocks noChangeAspect="1" noChangeArrowheads="1"/>
          </p:cNvPicPr>
          <p:nvPr/>
        </p:nvPicPr>
        <p:blipFill>
          <a:blip r:embed="rId2" cstate="print"/>
          <a:srcRect/>
          <a:stretch>
            <a:fillRect/>
          </a:stretch>
        </p:blipFill>
        <p:spPr bwMode="auto">
          <a:xfrm>
            <a:off x="7752184" y="0"/>
            <a:ext cx="1371600" cy="1268760"/>
          </a:xfrm>
          <a:prstGeom prst="rect">
            <a:avLst/>
          </a:prstGeom>
          <a:noFill/>
          <a:ln w="9525">
            <a:noFill/>
            <a:miter lim="800000"/>
            <a:headEnd/>
            <a:tailEnd/>
          </a:ln>
        </p:spPr>
      </p:pic>
      <p:pic>
        <p:nvPicPr>
          <p:cNvPr id="68611" name="Picture 3"/>
          <p:cNvPicPr>
            <a:picLocks noChangeAspect="1" noChangeArrowheads="1"/>
          </p:cNvPicPr>
          <p:nvPr/>
        </p:nvPicPr>
        <p:blipFill>
          <a:blip r:embed="rId3" cstate="print"/>
          <a:srcRect/>
          <a:stretch>
            <a:fillRect/>
          </a:stretch>
        </p:blipFill>
        <p:spPr bwMode="auto">
          <a:xfrm>
            <a:off x="9086850" y="1"/>
            <a:ext cx="1581150" cy="1266825"/>
          </a:xfrm>
          <a:prstGeom prst="rect">
            <a:avLst/>
          </a:prstGeom>
          <a:noFill/>
          <a:ln w="9525">
            <a:noFill/>
            <a:miter lim="800000"/>
            <a:headEnd/>
            <a:tailEnd/>
          </a:ln>
        </p:spPr>
      </p:pic>
      <p:grpSp>
        <p:nvGrpSpPr>
          <p:cNvPr id="6" name="Group 38"/>
          <p:cNvGrpSpPr>
            <a:grpSpLocks/>
          </p:cNvGrpSpPr>
          <p:nvPr/>
        </p:nvGrpSpPr>
        <p:grpSpPr bwMode="auto">
          <a:xfrm>
            <a:off x="1775520" y="1052858"/>
            <a:ext cx="8712968" cy="2087988"/>
            <a:chOff x="289" y="965"/>
            <a:chExt cx="5136" cy="3410"/>
          </a:xfrm>
        </p:grpSpPr>
        <p:sp>
          <p:nvSpPr>
            <p:cNvPr id="7" name="Freeform 9"/>
            <p:cNvSpPr>
              <a:spLocks/>
            </p:cNvSpPr>
            <p:nvPr/>
          </p:nvSpPr>
          <p:spPr bwMode="auto">
            <a:xfrm>
              <a:off x="289" y="965"/>
              <a:ext cx="5136" cy="3410"/>
            </a:xfrm>
            <a:custGeom>
              <a:avLst/>
              <a:gdLst>
                <a:gd name="T0" fmla="*/ 517 w 4969"/>
                <a:gd name="T1" fmla="*/ 63 h 2578"/>
                <a:gd name="T2" fmla="*/ 1684 w 4969"/>
                <a:gd name="T3" fmla="*/ 68 h 2578"/>
                <a:gd name="T4" fmla="*/ 2638 w 4969"/>
                <a:gd name="T5" fmla="*/ 39 h 2578"/>
                <a:gd name="T6" fmla="*/ 3377 w 4969"/>
                <a:gd name="T7" fmla="*/ 63 h 2578"/>
                <a:gd name="T8" fmla="*/ 4047 w 4969"/>
                <a:gd name="T9" fmla="*/ 99 h 2578"/>
                <a:gd name="T10" fmla="*/ 5455 w 4969"/>
                <a:gd name="T11" fmla="*/ 93 h 2578"/>
                <a:gd name="T12" fmla="*/ 6011 w 4969"/>
                <a:gd name="T13" fmla="*/ 63 h 2578"/>
                <a:gd name="T14" fmla="*/ 6211 w 4969"/>
                <a:gd name="T15" fmla="*/ 111 h 2578"/>
                <a:gd name="T16" fmla="*/ 6181 w 4969"/>
                <a:gd name="T17" fmla="*/ 129 h 2578"/>
                <a:gd name="T18" fmla="*/ 6154 w 4969"/>
                <a:gd name="T19" fmla="*/ 349 h 2578"/>
                <a:gd name="T20" fmla="*/ 6124 w 4969"/>
                <a:gd name="T21" fmla="*/ 539 h 2578"/>
                <a:gd name="T22" fmla="*/ 6099 w 4969"/>
                <a:gd name="T23" fmla="*/ 884 h 2578"/>
                <a:gd name="T24" fmla="*/ 6111 w 4969"/>
                <a:gd name="T25" fmla="*/ 826 h 2578"/>
                <a:gd name="T26" fmla="*/ 6124 w 4969"/>
                <a:gd name="T27" fmla="*/ 794 h 2578"/>
                <a:gd name="T28" fmla="*/ 6140 w 4969"/>
                <a:gd name="T29" fmla="*/ 826 h 2578"/>
                <a:gd name="T30" fmla="*/ 6169 w 4969"/>
                <a:gd name="T31" fmla="*/ 842 h 2578"/>
                <a:gd name="T32" fmla="*/ 6140 w 4969"/>
                <a:gd name="T33" fmla="*/ 1336 h 2578"/>
                <a:gd name="T34" fmla="*/ 4789 w 4969"/>
                <a:gd name="T35" fmla="*/ 1329 h 2578"/>
                <a:gd name="T36" fmla="*/ 4871 w 4969"/>
                <a:gd name="T37" fmla="*/ 1324 h 2578"/>
                <a:gd name="T38" fmla="*/ 3535 w 4969"/>
                <a:gd name="T39" fmla="*/ 1316 h 2578"/>
                <a:gd name="T40" fmla="*/ 2083 w 4969"/>
                <a:gd name="T41" fmla="*/ 1299 h 2578"/>
                <a:gd name="T42" fmla="*/ 1242 w 4969"/>
                <a:gd name="T43" fmla="*/ 1299 h 2578"/>
                <a:gd name="T44" fmla="*/ 161 w 4969"/>
                <a:gd name="T45" fmla="*/ 1353 h 2578"/>
                <a:gd name="T46" fmla="*/ 90 w 4969"/>
                <a:gd name="T47" fmla="*/ 663 h 2578"/>
                <a:gd name="T48" fmla="*/ 133 w 4969"/>
                <a:gd name="T49" fmla="*/ 82 h 2578"/>
                <a:gd name="T50" fmla="*/ 190 w 4969"/>
                <a:gd name="T51" fmla="*/ 88 h 2578"/>
                <a:gd name="T52" fmla="*/ 275 w 4969"/>
                <a:gd name="T53" fmla="*/ 99 h 2578"/>
                <a:gd name="T54" fmla="*/ 389 w 4969"/>
                <a:gd name="T55" fmla="*/ 52 h 2578"/>
                <a:gd name="T56" fmla="*/ 517 w 4969"/>
                <a:gd name="T57" fmla="*/ 63 h 2578"/>
                <a:gd name="T58" fmla="*/ 517 w 4969"/>
                <a:gd name="T59" fmla="*/ 63 h 257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969" h="2578">
                  <a:moveTo>
                    <a:pt x="410" y="121"/>
                  </a:moveTo>
                  <a:cubicBezTo>
                    <a:pt x="749" y="132"/>
                    <a:pt x="984" y="140"/>
                    <a:pt x="1336" y="132"/>
                  </a:cubicBezTo>
                  <a:cubicBezTo>
                    <a:pt x="1588" y="105"/>
                    <a:pt x="1841" y="98"/>
                    <a:pt x="2093" y="76"/>
                  </a:cubicBezTo>
                  <a:cubicBezTo>
                    <a:pt x="1871" y="226"/>
                    <a:pt x="2499" y="91"/>
                    <a:pt x="2680" y="121"/>
                  </a:cubicBezTo>
                  <a:cubicBezTo>
                    <a:pt x="3241" y="111"/>
                    <a:pt x="3496" y="0"/>
                    <a:pt x="3211" y="189"/>
                  </a:cubicBezTo>
                  <a:cubicBezTo>
                    <a:pt x="2900" y="395"/>
                    <a:pt x="3956" y="182"/>
                    <a:pt x="4329" y="178"/>
                  </a:cubicBezTo>
                  <a:cubicBezTo>
                    <a:pt x="4474" y="140"/>
                    <a:pt x="4621" y="130"/>
                    <a:pt x="4770" y="121"/>
                  </a:cubicBezTo>
                  <a:cubicBezTo>
                    <a:pt x="4910" y="140"/>
                    <a:pt x="4969" y="91"/>
                    <a:pt x="4928" y="212"/>
                  </a:cubicBezTo>
                  <a:cubicBezTo>
                    <a:pt x="4924" y="225"/>
                    <a:pt x="4913" y="234"/>
                    <a:pt x="4905" y="245"/>
                  </a:cubicBezTo>
                  <a:cubicBezTo>
                    <a:pt x="4854" y="402"/>
                    <a:pt x="4898" y="255"/>
                    <a:pt x="4883" y="663"/>
                  </a:cubicBezTo>
                  <a:cubicBezTo>
                    <a:pt x="4875" y="867"/>
                    <a:pt x="4874" y="861"/>
                    <a:pt x="4860" y="1025"/>
                  </a:cubicBezTo>
                  <a:cubicBezTo>
                    <a:pt x="4855" y="1243"/>
                    <a:pt x="4838" y="1462"/>
                    <a:pt x="4838" y="1680"/>
                  </a:cubicBezTo>
                  <a:cubicBezTo>
                    <a:pt x="4838" y="1718"/>
                    <a:pt x="4844" y="1605"/>
                    <a:pt x="4849" y="1567"/>
                  </a:cubicBezTo>
                  <a:cubicBezTo>
                    <a:pt x="4851" y="1548"/>
                    <a:pt x="4856" y="1529"/>
                    <a:pt x="4860" y="1510"/>
                  </a:cubicBezTo>
                  <a:cubicBezTo>
                    <a:pt x="4864" y="1529"/>
                    <a:pt x="4864" y="1549"/>
                    <a:pt x="4871" y="1567"/>
                  </a:cubicBezTo>
                  <a:cubicBezTo>
                    <a:pt x="4876" y="1580"/>
                    <a:pt x="4894" y="1587"/>
                    <a:pt x="4894" y="1601"/>
                  </a:cubicBezTo>
                  <a:cubicBezTo>
                    <a:pt x="4894" y="1913"/>
                    <a:pt x="4879" y="2226"/>
                    <a:pt x="4871" y="2538"/>
                  </a:cubicBezTo>
                  <a:cubicBezTo>
                    <a:pt x="4514" y="2534"/>
                    <a:pt x="4156" y="2535"/>
                    <a:pt x="3799" y="2527"/>
                  </a:cubicBezTo>
                  <a:cubicBezTo>
                    <a:pt x="3776" y="2527"/>
                    <a:pt x="3889" y="2517"/>
                    <a:pt x="3866" y="2516"/>
                  </a:cubicBezTo>
                  <a:cubicBezTo>
                    <a:pt x="3512" y="2508"/>
                    <a:pt x="3159" y="2508"/>
                    <a:pt x="2805" y="2504"/>
                  </a:cubicBezTo>
                  <a:cubicBezTo>
                    <a:pt x="2734" y="2506"/>
                    <a:pt x="1040" y="2578"/>
                    <a:pt x="1653" y="2470"/>
                  </a:cubicBezTo>
                  <a:cubicBezTo>
                    <a:pt x="1450" y="2572"/>
                    <a:pt x="1204" y="2516"/>
                    <a:pt x="986" y="2470"/>
                  </a:cubicBezTo>
                  <a:cubicBezTo>
                    <a:pt x="872" y="2472"/>
                    <a:pt x="318" y="2382"/>
                    <a:pt x="128" y="2572"/>
                  </a:cubicBezTo>
                  <a:cubicBezTo>
                    <a:pt x="0" y="2261"/>
                    <a:pt x="85" y="1659"/>
                    <a:pt x="71" y="1262"/>
                  </a:cubicBezTo>
                  <a:cubicBezTo>
                    <a:pt x="81" y="466"/>
                    <a:pt x="28" y="556"/>
                    <a:pt x="105" y="155"/>
                  </a:cubicBezTo>
                  <a:cubicBezTo>
                    <a:pt x="120" y="159"/>
                    <a:pt x="138" y="157"/>
                    <a:pt x="151" y="166"/>
                  </a:cubicBezTo>
                  <a:cubicBezTo>
                    <a:pt x="211" y="206"/>
                    <a:pt x="126" y="211"/>
                    <a:pt x="218" y="189"/>
                  </a:cubicBezTo>
                  <a:cubicBezTo>
                    <a:pt x="244" y="150"/>
                    <a:pt x="269" y="125"/>
                    <a:pt x="309" y="99"/>
                  </a:cubicBezTo>
                  <a:cubicBezTo>
                    <a:pt x="348" y="107"/>
                    <a:pt x="373" y="111"/>
                    <a:pt x="410" y="121"/>
                  </a:cubicBezTo>
                  <a:cubicBezTo>
                    <a:pt x="410" y="121"/>
                    <a:pt x="501" y="150"/>
                    <a:pt x="410" y="121"/>
                  </a:cubicBezTo>
                  <a:close/>
                </a:path>
              </a:pathLst>
            </a:custGeom>
            <a:solidFill>
              <a:srgbClr val="C9E4FF"/>
            </a:solidFill>
            <a:ln w="31750" cap="sq" cmpd="sng">
              <a:noFill/>
              <a:prstDash val="solid"/>
              <a:round/>
              <a:headEnd/>
              <a:tailEnd/>
            </a:ln>
            <a:effectLst>
              <a:outerShdw dist="224686" dir="2837437" algn="ctr" rotWithShape="0">
                <a:srgbClr val="B9B9B9"/>
              </a:outerShdw>
            </a:effectLst>
          </p:spPr>
          <p:txBody>
            <a:bodyPr wrap="none" anchor="ctr"/>
            <a:lstStyle/>
            <a:p>
              <a:endParaRPr lang="zh-CN" altLang="en-US"/>
            </a:p>
          </p:txBody>
        </p:sp>
        <p:sp>
          <p:nvSpPr>
            <p:cNvPr id="8" name="Text Box 10"/>
            <p:cNvSpPr txBox="1">
              <a:spLocks noChangeArrowheads="1"/>
            </p:cNvSpPr>
            <p:nvPr/>
          </p:nvSpPr>
          <p:spPr bwMode="auto">
            <a:xfrm>
              <a:off x="423" y="1318"/>
              <a:ext cx="4823" cy="2865"/>
            </a:xfrm>
            <a:prstGeom prst="rect">
              <a:avLst/>
            </a:prstGeom>
            <a:noFill/>
            <a:ln w="9525">
              <a:noFill/>
              <a:miter lim="800000"/>
              <a:headEnd/>
              <a:tailEnd/>
            </a:ln>
          </p:spPr>
          <p:txBody>
            <a:bodyPr wrap="square">
              <a:spAutoFit/>
            </a:bodyPr>
            <a:lstStyle/>
            <a:p>
              <a:pPr algn="just" fontAlgn="base">
                <a:spcBef>
                  <a:spcPct val="0"/>
                </a:spcBef>
              </a:pPr>
              <a:r>
                <a:rPr lang="zh-CN" altLang="en-US" dirty="0">
                  <a:solidFill>
                    <a:srgbClr val="000080"/>
                  </a:solidFill>
                  <a:latin typeface="幼圆" pitchFamily="49" charset="-122"/>
                  <a:ea typeface="幼圆" pitchFamily="49" charset="-122"/>
                </a:rPr>
                <a:t>一个系统模仿另一个系统行为的技术称为</a:t>
              </a:r>
              <a:r>
                <a:rPr lang="zh-CN" altLang="en-US" b="1" dirty="0">
                  <a:solidFill>
                    <a:srgbClr val="000080"/>
                  </a:solidFill>
                  <a:latin typeface="幼圆" pitchFamily="49" charset="-122"/>
                  <a:ea typeface="幼圆" pitchFamily="49" charset="-122"/>
                </a:rPr>
                <a:t>模拟</a:t>
              </a:r>
              <a:r>
                <a:rPr lang="zh-CN" altLang="en-US" dirty="0">
                  <a:solidFill>
                    <a:srgbClr val="000080"/>
                  </a:solidFill>
                  <a:latin typeface="幼圆" pitchFamily="49" charset="-122"/>
                  <a:ea typeface="幼圆" pitchFamily="49" charset="-122"/>
                </a:rPr>
                <a:t>，如飞行模拟器。模拟可以用来进行方案认证、人员培训和改进服务。计算机技术常用于模拟系统中。</a:t>
              </a:r>
              <a:endParaRPr lang="en-US" altLang="zh-CN" dirty="0">
                <a:solidFill>
                  <a:srgbClr val="000080"/>
                </a:solidFill>
                <a:latin typeface="幼圆" pitchFamily="49" charset="-122"/>
                <a:ea typeface="幼圆" pitchFamily="49" charset="-122"/>
              </a:endParaRPr>
            </a:p>
            <a:p>
              <a:pPr algn="just" fontAlgn="base">
                <a:spcBef>
                  <a:spcPct val="0"/>
                </a:spcBef>
              </a:pPr>
              <a:r>
                <a:rPr lang="zh-CN" altLang="en-US" b="1" dirty="0">
                  <a:solidFill>
                    <a:srgbClr val="000080"/>
                  </a:solidFill>
                  <a:latin typeface="幼圆" pitchFamily="49" charset="-122"/>
                  <a:ea typeface="幼圆" pitchFamily="49" charset="-122"/>
                </a:rPr>
                <a:t>生产者</a:t>
              </a:r>
              <a:r>
                <a:rPr lang="en-US" altLang="zh-CN" b="1" dirty="0">
                  <a:solidFill>
                    <a:srgbClr val="000080"/>
                  </a:solidFill>
                  <a:latin typeface="幼圆" pitchFamily="49" charset="-122"/>
                  <a:ea typeface="幼圆" pitchFamily="49" charset="-122"/>
                </a:rPr>
                <a:t>-</a:t>
              </a:r>
              <a:r>
                <a:rPr lang="zh-CN" altLang="en-US" b="1" dirty="0">
                  <a:solidFill>
                    <a:srgbClr val="000080"/>
                  </a:solidFill>
                  <a:latin typeface="幼圆" pitchFamily="49" charset="-122"/>
                  <a:ea typeface="幼圆" pitchFamily="49" charset="-122"/>
                </a:rPr>
                <a:t>消费者</a:t>
              </a:r>
              <a:r>
                <a:rPr lang="zh-CN" altLang="en-US" dirty="0">
                  <a:solidFill>
                    <a:srgbClr val="000080"/>
                  </a:solidFill>
                  <a:latin typeface="幼圆" pitchFamily="49" charset="-122"/>
                  <a:ea typeface="幼圆" pitchFamily="49" charset="-122"/>
                </a:rPr>
                <a:t>（</a:t>
              </a:r>
              <a:r>
                <a:rPr lang="en-US" altLang="zh-CN" dirty="0">
                  <a:solidFill>
                    <a:srgbClr val="000080"/>
                  </a:solidFill>
                  <a:latin typeface="幼圆" pitchFamily="49" charset="-122"/>
                  <a:ea typeface="幼圆" pitchFamily="49" charset="-122"/>
                </a:rPr>
                <a:t>Server-Custom</a:t>
              </a:r>
              <a:r>
                <a:rPr lang="zh-CN" altLang="en-US" dirty="0">
                  <a:solidFill>
                    <a:srgbClr val="000080"/>
                  </a:solidFill>
                  <a:latin typeface="幼圆" pitchFamily="49" charset="-122"/>
                  <a:ea typeface="幼圆" pitchFamily="49" charset="-122"/>
                </a:rPr>
                <a:t>）是常见的应用模式，见于银行、食堂、打印机、医院、超市</a:t>
              </a:r>
              <a:r>
                <a:rPr lang="en-US" altLang="zh-CN" dirty="0">
                  <a:solidFill>
                    <a:srgbClr val="000080"/>
                  </a:solidFill>
                  <a:latin typeface="幼圆" pitchFamily="49" charset="-122"/>
                  <a:ea typeface="幼圆" pitchFamily="49" charset="-122"/>
                </a:rPr>
                <a:t>…</a:t>
              </a:r>
              <a:r>
                <a:rPr lang="zh-CN" altLang="en-US" dirty="0">
                  <a:solidFill>
                    <a:srgbClr val="000080"/>
                  </a:solidFill>
                  <a:latin typeface="幼圆" pitchFamily="49" charset="-122"/>
                  <a:ea typeface="幼圆" pitchFamily="49" charset="-122"/>
                </a:rPr>
                <a:t>提供服务和使用服务的应用中。这类应用的主要问题是消费者如果等待（排队）时间过长，会引发用户抱怨，影响服务质量；如果提供服务者（服务窗口）过多，将提高运管商成本。（排队论</a:t>
              </a:r>
              <a:r>
                <a:rPr lang="en-US" altLang="zh-CN">
                  <a:solidFill>
                    <a:srgbClr val="000080"/>
                  </a:solidFill>
                  <a:latin typeface="幼圆" pitchFamily="49" charset="-122"/>
                  <a:ea typeface="幼圆" pitchFamily="49" charset="-122"/>
                </a:rPr>
                <a:t>-queuing theory</a:t>
              </a:r>
              <a:r>
                <a:rPr lang="zh-CN" altLang="en-US" dirty="0">
                  <a:solidFill>
                    <a:srgbClr val="000080"/>
                  </a:solidFill>
                  <a:latin typeface="幼圆" pitchFamily="49" charset="-122"/>
                  <a:ea typeface="幼圆" pitchFamily="49" charset="-122"/>
                </a:rPr>
                <a:t>）</a:t>
              </a:r>
            </a:p>
          </p:txBody>
        </p:sp>
      </p:grpSp>
      <p:sp>
        <p:nvSpPr>
          <p:cNvPr id="9" name="Freeform 9"/>
          <p:cNvSpPr>
            <a:spLocks/>
          </p:cNvSpPr>
          <p:nvPr/>
        </p:nvSpPr>
        <p:spPr bwMode="auto">
          <a:xfrm>
            <a:off x="1703512" y="3140968"/>
            <a:ext cx="8712968" cy="3528392"/>
          </a:xfrm>
          <a:custGeom>
            <a:avLst/>
            <a:gdLst>
              <a:gd name="T0" fmla="*/ 517 w 4969"/>
              <a:gd name="T1" fmla="*/ 63 h 2578"/>
              <a:gd name="T2" fmla="*/ 1684 w 4969"/>
              <a:gd name="T3" fmla="*/ 68 h 2578"/>
              <a:gd name="T4" fmla="*/ 2638 w 4969"/>
              <a:gd name="T5" fmla="*/ 39 h 2578"/>
              <a:gd name="T6" fmla="*/ 3377 w 4969"/>
              <a:gd name="T7" fmla="*/ 63 h 2578"/>
              <a:gd name="T8" fmla="*/ 4047 w 4969"/>
              <a:gd name="T9" fmla="*/ 99 h 2578"/>
              <a:gd name="T10" fmla="*/ 5455 w 4969"/>
              <a:gd name="T11" fmla="*/ 93 h 2578"/>
              <a:gd name="T12" fmla="*/ 6011 w 4969"/>
              <a:gd name="T13" fmla="*/ 63 h 2578"/>
              <a:gd name="T14" fmla="*/ 6211 w 4969"/>
              <a:gd name="T15" fmla="*/ 111 h 2578"/>
              <a:gd name="T16" fmla="*/ 6181 w 4969"/>
              <a:gd name="T17" fmla="*/ 129 h 2578"/>
              <a:gd name="T18" fmla="*/ 6154 w 4969"/>
              <a:gd name="T19" fmla="*/ 349 h 2578"/>
              <a:gd name="T20" fmla="*/ 6124 w 4969"/>
              <a:gd name="T21" fmla="*/ 539 h 2578"/>
              <a:gd name="T22" fmla="*/ 6099 w 4969"/>
              <a:gd name="T23" fmla="*/ 884 h 2578"/>
              <a:gd name="T24" fmla="*/ 6111 w 4969"/>
              <a:gd name="T25" fmla="*/ 826 h 2578"/>
              <a:gd name="T26" fmla="*/ 6124 w 4969"/>
              <a:gd name="T27" fmla="*/ 794 h 2578"/>
              <a:gd name="T28" fmla="*/ 6140 w 4969"/>
              <a:gd name="T29" fmla="*/ 826 h 2578"/>
              <a:gd name="T30" fmla="*/ 6169 w 4969"/>
              <a:gd name="T31" fmla="*/ 842 h 2578"/>
              <a:gd name="T32" fmla="*/ 6140 w 4969"/>
              <a:gd name="T33" fmla="*/ 1336 h 2578"/>
              <a:gd name="T34" fmla="*/ 4789 w 4969"/>
              <a:gd name="T35" fmla="*/ 1329 h 2578"/>
              <a:gd name="T36" fmla="*/ 4871 w 4969"/>
              <a:gd name="T37" fmla="*/ 1324 h 2578"/>
              <a:gd name="T38" fmla="*/ 3535 w 4969"/>
              <a:gd name="T39" fmla="*/ 1316 h 2578"/>
              <a:gd name="T40" fmla="*/ 2083 w 4969"/>
              <a:gd name="T41" fmla="*/ 1299 h 2578"/>
              <a:gd name="T42" fmla="*/ 1242 w 4969"/>
              <a:gd name="T43" fmla="*/ 1299 h 2578"/>
              <a:gd name="T44" fmla="*/ 161 w 4969"/>
              <a:gd name="T45" fmla="*/ 1353 h 2578"/>
              <a:gd name="T46" fmla="*/ 90 w 4969"/>
              <a:gd name="T47" fmla="*/ 663 h 2578"/>
              <a:gd name="T48" fmla="*/ 133 w 4969"/>
              <a:gd name="T49" fmla="*/ 82 h 2578"/>
              <a:gd name="T50" fmla="*/ 190 w 4969"/>
              <a:gd name="T51" fmla="*/ 88 h 2578"/>
              <a:gd name="T52" fmla="*/ 275 w 4969"/>
              <a:gd name="T53" fmla="*/ 99 h 2578"/>
              <a:gd name="T54" fmla="*/ 389 w 4969"/>
              <a:gd name="T55" fmla="*/ 52 h 2578"/>
              <a:gd name="T56" fmla="*/ 517 w 4969"/>
              <a:gd name="T57" fmla="*/ 63 h 2578"/>
              <a:gd name="T58" fmla="*/ 517 w 4969"/>
              <a:gd name="T59" fmla="*/ 63 h 257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969" h="2578">
                <a:moveTo>
                  <a:pt x="410" y="121"/>
                </a:moveTo>
                <a:cubicBezTo>
                  <a:pt x="749" y="132"/>
                  <a:pt x="984" y="140"/>
                  <a:pt x="1336" y="132"/>
                </a:cubicBezTo>
                <a:cubicBezTo>
                  <a:pt x="1588" y="105"/>
                  <a:pt x="1841" y="98"/>
                  <a:pt x="2093" y="76"/>
                </a:cubicBezTo>
                <a:cubicBezTo>
                  <a:pt x="1871" y="226"/>
                  <a:pt x="2499" y="91"/>
                  <a:pt x="2680" y="121"/>
                </a:cubicBezTo>
                <a:cubicBezTo>
                  <a:pt x="3241" y="111"/>
                  <a:pt x="3496" y="0"/>
                  <a:pt x="3211" y="189"/>
                </a:cubicBezTo>
                <a:cubicBezTo>
                  <a:pt x="2900" y="395"/>
                  <a:pt x="3956" y="182"/>
                  <a:pt x="4329" y="178"/>
                </a:cubicBezTo>
                <a:cubicBezTo>
                  <a:pt x="4474" y="140"/>
                  <a:pt x="4621" y="130"/>
                  <a:pt x="4770" y="121"/>
                </a:cubicBezTo>
                <a:cubicBezTo>
                  <a:pt x="4910" y="140"/>
                  <a:pt x="4969" y="91"/>
                  <a:pt x="4928" y="212"/>
                </a:cubicBezTo>
                <a:cubicBezTo>
                  <a:pt x="4924" y="225"/>
                  <a:pt x="4913" y="234"/>
                  <a:pt x="4905" y="245"/>
                </a:cubicBezTo>
                <a:cubicBezTo>
                  <a:pt x="4854" y="402"/>
                  <a:pt x="4898" y="255"/>
                  <a:pt x="4883" y="663"/>
                </a:cubicBezTo>
                <a:cubicBezTo>
                  <a:pt x="4875" y="867"/>
                  <a:pt x="4874" y="861"/>
                  <a:pt x="4860" y="1025"/>
                </a:cubicBezTo>
                <a:cubicBezTo>
                  <a:pt x="4855" y="1243"/>
                  <a:pt x="4838" y="1462"/>
                  <a:pt x="4838" y="1680"/>
                </a:cubicBezTo>
                <a:cubicBezTo>
                  <a:pt x="4838" y="1718"/>
                  <a:pt x="4844" y="1605"/>
                  <a:pt x="4849" y="1567"/>
                </a:cubicBezTo>
                <a:cubicBezTo>
                  <a:pt x="4851" y="1548"/>
                  <a:pt x="4856" y="1529"/>
                  <a:pt x="4860" y="1510"/>
                </a:cubicBezTo>
                <a:cubicBezTo>
                  <a:pt x="4864" y="1529"/>
                  <a:pt x="4864" y="1549"/>
                  <a:pt x="4871" y="1567"/>
                </a:cubicBezTo>
                <a:cubicBezTo>
                  <a:pt x="4876" y="1580"/>
                  <a:pt x="4894" y="1587"/>
                  <a:pt x="4894" y="1601"/>
                </a:cubicBezTo>
                <a:cubicBezTo>
                  <a:pt x="4894" y="1913"/>
                  <a:pt x="4879" y="2226"/>
                  <a:pt x="4871" y="2538"/>
                </a:cubicBezTo>
                <a:cubicBezTo>
                  <a:pt x="4514" y="2534"/>
                  <a:pt x="4156" y="2535"/>
                  <a:pt x="3799" y="2527"/>
                </a:cubicBezTo>
                <a:cubicBezTo>
                  <a:pt x="3776" y="2527"/>
                  <a:pt x="3889" y="2517"/>
                  <a:pt x="3866" y="2516"/>
                </a:cubicBezTo>
                <a:cubicBezTo>
                  <a:pt x="3512" y="2508"/>
                  <a:pt x="3159" y="2508"/>
                  <a:pt x="2805" y="2504"/>
                </a:cubicBezTo>
                <a:cubicBezTo>
                  <a:pt x="2734" y="2506"/>
                  <a:pt x="1040" y="2578"/>
                  <a:pt x="1653" y="2470"/>
                </a:cubicBezTo>
                <a:cubicBezTo>
                  <a:pt x="1450" y="2572"/>
                  <a:pt x="1204" y="2516"/>
                  <a:pt x="986" y="2470"/>
                </a:cubicBezTo>
                <a:cubicBezTo>
                  <a:pt x="872" y="2472"/>
                  <a:pt x="318" y="2382"/>
                  <a:pt x="128" y="2572"/>
                </a:cubicBezTo>
                <a:cubicBezTo>
                  <a:pt x="0" y="2261"/>
                  <a:pt x="85" y="1659"/>
                  <a:pt x="71" y="1262"/>
                </a:cubicBezTo>
                <a:cubicBezTo>
                  <a:pt x="81" y="466"/>
                  <a:pt x="28" y="556"/>
                  <a:pt x="105" y="155"/>
                </a:cubicBezTo>
                <a:cubicBezTo>
                  <a:pt x="120" y="159"/>
                  <a:pt x="138" y="157"/>
                  <a:pt x="151" y="166"/>
                </a:cubicBezTo>
                <a:cubicBezTo>
                  <a:pt x="211" y="206"/>
                  <a:pt x="126" y="211"/>
                  <a:pt x="218" y="189"/>
                </a:cubicBezTo>
                <a:cubicBezTo>
                  <a:pt x="244" y="150"/>
                  <a:pt x="269" y="125"/>
                  <a:pt x="309" y="99"/>
                </a:cubicBezTo>
                <a:cubicBezTo>
                  <a:pt x="348" y="107"/>
                  <a:pt x="373" y="111"/>
                  <a:pt x="410" y="121"/>
                </a:cubicBezTo>
                <a:cubicBezTo>
                  <a:pt x="410" y="121"/>
                  <a:pt x="501" y="150"/>
                  <a:pt x="410" y="121"/>
                </a:cubicBezTo>
                <a:close/>
              </a:path>
            </a:pathLst>
          </a:custGeom>
          <a:solidFill>
            <a:schemeClr val="bg2"/>
          </a:solidFill>
          <a:ln w="31750" cap="sq" cmpd="sng">
            <a:noFill/>
            <a:prstDash val="solid"/>
            <a:round/>
            <a:headEnd/>
            <a:tailEnd/>
          </a:ln>
          <a:effectLst>
            <a:outerShdw dist="224686" dir="2837437" algn="ctr" rotWithShape="0">
              <a:srgbClr val="B9B9B9"/>
            </a:outerShdw>
          </a:effectLst>
        </p:spPr>
        <p:txBody>
          <a:bodyPr wrap="none" anchor="ctr"/>
          <a:lstStyle/>
          <a:p>
            <a:endParaRPr lang="zh-CN" altLang="en-US" dirty="0"/>
          </a:p>
        </p:txBody>
      </p:sp>
      <p:sp>
        <p:nvSpPr>
          <p:cNvPr id="10" name="TextBox 9"/>
          <p:cNvSpPr txBox="1"/>
          <p:nvPr/>
        </p:nvSpPr>
        <p:spPr>
          <a:xfrm>
            <a:off x="1991544" y="3164682"/>
            <a:ext cx="8424936" cy="3693319"/>
          </a:xfrm>
          <a:prstGeom prst="rect">
            <a:avLst/>
          </a:prstGeom>
          <a:noFill/>
        </p:spPr>
        <p:txBody>
          <a:bodyPr wrap="square" rtlCol="0">
            <a:spAutoFit/>
          </a:bodyPr>
          <a:lstStyle/>
          <a:p>
            <a:r>
              <a:rPr lang="zh-CN" altLang="en-US" dirty="0"/>
              <a:t>某银行网点有五个服务窗口，分别为三个对私、一个对公和一个外币窗口。通常对私业务人很多，其它窗口人则较少，可临时改为对私服务。假设当对私窗口客户平均排队人数超过</a:t>
            </a:r>
            <a:r>
              <a:rPr lang="en-US" altLang="zh-CN" dirty="0"/>
              <a:t>7</a:t>
            </a:r>
            <a:r>
              <a:rPr lang="zh-CN" altLang="en-US" dirty="0"/>
              <a:t>人时，客户将有抱怨，此时银行可临时将其它窗口中一个或两个改为对私服务，当客户少于</a:t>
            </a:r>
            <a:r>
              <a:rPr lang="en-US" altLang="zh-CN" dirty="0"/>
              <a:t>7</a:t>
            </a:r>
            <a:r>
              <a:rPr lang="zh-CN" altLang="en-US" dirty="0"/>
              <a:t>人时，将恢复原有业务。设计一个程序用来模拟银行服务。</a:t>
            </a:r>
          </a:p>
          <a:p>
            <a:r>
              <a:rPr lang="zh-CN" altLang="en-US" b="1" dirty="0"/>
              <a:t>输入</a:t>
            </a:r>
            <a:r>
              <a:rPr lang="zh-CN" altLang="en-US" dirty="0"/>
              <a:t>：首先输入一个整数表示时间周期数，然后再依次输入每个时间周期中因私业务的到达 客户数。注：一个时间周期指的是银行处理一笔业务的平均处理时间，可以是一分钟、三分钟或其它。例如：</a:t>
            </a:r>
            <a:endParaRPr lang="en-US" altLang="zh-CN" dirty="0"/>
          </a:p>
          <a:p>
            <a:r>
              <a:rPr lang="en-US" altLang="zh-CN" dirty="0"/>
              <a:t>6</a:t>
            </a:r>
          </a:p>
          <a:p>
            <a:pPr marL="342900" indent="-342900"/>
            <a:r>
              <a:rPr lang="en-US" altLang="zh-CN" dirty="0"/>
              <a:t>2  5  13  11  15   9  </a:t>
            </a:r>
          </a:p>
          <a:p>
            <a:pPr marL="342900" indent="-342900"/>
            <a:r>
              <a:rPr lang="zh-CN" altLang="en-US" dirty="0"/>
              <a:t>说明：表明在</a:t>
            </a:r>
            <a:r>
              <a:rPr lang="en-US" altLang="zh-CN" dirty="0"/>
              <a:t>6</a:t>
            </a:r>
            <a:r>
              <a:rPr lang="zh-CN" altLang="en-US" dirty="0"/>
              <a:t>个时间周期内，第</a:t>
            </a:r>
            <a:r>
              <a:rPr lang="en-US" altLang="zh-CN" dirty="0"/>
              <a:t>1</a:t>
            </a:r>
            <a:r>
              <a:rPr lang="zh-CN" altLang="en-US" dirty="0"/>
              <a:t>个周期来了</a:t>
            </a:r>
            <a:r>
              <a:rPr lang="en-US" altLang="zh-CN" dirty="0"/>
              <a:t>2</a:t>
            </a:r>
            <a:r>
              <a:rPr lang="zh-CN" altLang="en-US" dirty="0"/>
              <a:t>个（</a:t>
            </a:r>
            <a:r>
              <a:rPr lang="en-US" altLang="zh-CN" dirty="0"/>
              <a:t>ID</a:t>
            </a:r>
            <a:r>
              <a:rPr lang="zh-CN" altLang="en-US" dirty="0"/>
              <a:t>分别为</a:t>
            </a:r>
            <a:r>
              <a:rPr lang="en-US" altLang="zh-CN" dirty="0"/>
              <a:t>1,2</a:t>
            </a:r>
            <a:r>
              <a:rPr lang="zh-CN" altLang="en-US" dirty="0"/>
              <a:t>），第</a:t>
            </a:r>
            <a:r>
              <a:rPr lang="en-US" altLang="zh-CN" dirty="0"/>
              <a:t>2</a:t>
            </a:r>
            <a:r>
              <a:rPr lang="zh-CN" altLang="en-US" dirty="0"/>
              <a:t>个来了</a:t>
            </a:r>
            <a:r>
              <a:rPr lang="en-US" altLang="zh-CN" dirty="0"/>
              <a:t>5</a:t>
            </a:r>
            <a:r>
              <a:rPr lang="zh-CN" altLang="en-US" dirty="0"/>
              <a:t>人（</a:t>
            </a:r>
            <a:r>
              <a:rPr lang="en-US" altLang="zh-CN" dirty="0"/>
              <a:t>ID</a:t>
            </a:r>
            <a:r>
              <a:rPr lang="zh-CN" altLang="en-US" dirty="0"/>
              <a:t>分别为</a:t>
            </a:r>
            <a:r>
              <a:rPr lang="en-US" altLang="zh-CN" dirty="0"/>
              <a:t>3,4,5,6,7</a:t>
            </a:r>
            <a:r>
              <a:rPr lang="zh-CN" altLang="en-US" dirty="0"/>
              <a:t>），以此类推。</a:t>
            </a:r>
            <a:endParaRPr lang="en-US" altLang="zh-CN" dirty="0"/>
          </a:p>
          <a:p>
            <a:r>
              <a:rPr lang="zh-CN" altLang="en-US" b="1" dirty="0"/>
              <a:t>输出</a:t>
            </a:r>
            <a:r>
              <a:rPr lang="zh-CN" altLang="en-US" dirty="0"/>
              <a:t>：每个客户等待服务的时间周期数。</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righ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linds(horizontal)">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animBg="1"/>
      <p:bldP spid="10"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36525"/>
            <a:ext cx="10515600" cy="743588"/>
          </a:xfrm>
        </p:spPr>
        <p:txBody>
          <a:bodyPr/>
          <a:lstStyle/>
          <a:p>
            <a:r>
              <a:rPr lang="zh-CN" altLang="en-US" dirty="0"/>
              <a:t>问题</a:t>
            </a:r>
            <a:r>
              <a:rPr lang="en-US" altLang="zh-CN" dirty="0"/>
              <a:t>3.2 </a:t>
            </a:r>
            <a:r>
              <a:rPr lang="zh-CN" altLang="en-US" dirty="0"/>
              <a:t>：问题分析及算法设计</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75</a:t>
            </a:fld>
            <a:endParaRPr lang="zh-CN" altLang="en-US" dirty="0"/>
          </a:p>
        </p:txBody>
      </p:sp>
      <p:sp>
        <p:nvSpPr>
          <p:cNvPr id="4" name="TextBox 3"/>
          <p:cNvSpPr txBox="1"/>
          <p:nvPr/>
        </p:nvSpPr>
        <p:spPr>
          <a:xfrm>
            <a:off x="2279576" y="1196752"/>
            <a:ext cx="7560840" cy="3416320"/>
          </a:xfrm>
          <a:prstGeom prst="rect">
            <a:avLst/>
          </a:prstGeom>
          <a:solidFill>
            <a:schemeClr val="bg2">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zh-CN" altLang="en-US" dirty="0"/>
              <a:t>在</a:t>
            </a:r>
            <a:r>
              <a:rPr lang="zh-CN" altLang="en-US" b="1" dirty="0"/>
              <a:t>生产者</a:t>
            </a:r>
            <a:r>
              <a:rPr lang="en-US" altLang="zh-CN" b="1" dirty="0"/>
              <a:t>-</a:t>
            </a:r>
            <a:r>
              <a:rPr lang="zh-CN" altLang="en-US" b="1" dirty="0"/>
              <a:t>消费者</a:t>
            </a:r>
            <a:r>
              <a:rPr lang="zh-CN" altLang="en-US" dirty="0"/>
              <a:t>应用中消费者显然是先来先得到服务。在此，显然可用一个</a:t>
            </a:r>
            <a:r>
              <a:rPr lang="zh-CN" altLang="en-US" b="1" dirty="0"/>
              <a:t>队列</a:t>
            </a:r>
            <a:r>
              <a:rPr lang="zh-CN" altLang="en-US" dirty="0"/>
              <a:t>来存放等待服务的</a:t>
            </a:r>
            <a:r>
              <a:rPr lang="zh-CN" altLang="en-US" b="1" dirty="0"/>
              <a:t>客户</a:t>
            </a:r>
            <a:r>
              <a:rPr lang="zh-CN" altLang="en-US" dirty="0"/>
              <a:t>队列。每个客户有二个基本属性：排队序号和等待时间（时间周期数）：</a:t>
            </a:r>
            <a:endParaRPr lang="en-US" altLang="zh-CN" dirty="0"/>
          </a:p>
          <a:p>
            <a:r>
              <a:rPr lang="en-US" altLang="zh-CN" dirty="0" err="1"/>
              <a:t>struct</a:t>
            </a:r>
            <a:r>
              <a:rPr lang="en-US" altLang="zh-CN" dirty="0"/>
              <a:t>  </a:t>
            </a:r>
            <a:r>
              <a:rPr lang="en-US" altLang="zh-CN" dirty="0" err="1"/>
              <a:t>cust</a:t>
            </a:r>
            <a:r>
              <a:rPr lang="en-US" altLang="zh-CN" dirty="0"/>
              <a:t> {</a:t>
            </a:r>
          </a:p>
          <a:p>
            <a:r>
              <a:rPr lang="en-US" altLang="zh-CN" dirty="0"/>
              <a:t>    </a:t>
            </a:r>
            <a:r>
              <a:rPr lang="en-US" altLang="zh-CN" dirty="0" err="1"/>
              <a:t>int</a:t>
            </a:r>
            <a:r>
              <a:rPr lang="en-US" altLang="zh-CN" dirty="0"/>
              <a:t> id;	//</a:t>
            </a:r>
            <a:r>
              <a:rPr lang="zh-CN" altLang="en-US" dirty="0"/>
              <a:t>客户排队序号</a:t>
            </a:r>
            <a:endParaRPr lang="en-US" altLang="zh-CN" dirty="0"/>
          </a:p>
          <a:p>
            <a:r>
              <a:rPr lang="en-US" altLang="zh-CN" dirty="0"/>
              <a:t>    </a:t>
            </a:r>
            <a:r>
              <a:rPr lang="en-US" altLang="zh-CN" dirty="0" err="1"/>
              <a:t>int</a:t>
            </a:r>
            <a:r>
              <a:rPr lang="en-US" altLang="zh-CN" dirty="0"/>
              <a:t> </a:t>
            </a:r>
            <a:r>
              <a:rPr lang="en-US" altLang="zh-CN" dirty="0" err="1"/>
              <a:t>wtime</a:t>
            </a:r>
            <a:r>
              <a:rPr lang="en-US" altLang="zh-CN" dirty="0"/>
              <a:t>;  //</a:t>
            </a:r>
            <a:r>
              <a:rPr lang="zh-CN" altLang="en-US" dirty="0"/>
              <a:t>客户等待服务的时间（时间周期数）</a:t>
            </a:r>
            <a:endParaRPr lang="en-US" altLang="zh-CN" dirty="0"/>
          </a:p>
          <a:p>
            <a:r>
              <a:rPr lang="en-US" altLang="zh-CN" dirty="0"/>
              <a:t>};</a:t>
            </a:r>
          </a:p>
          <a:p>
            <a:r>
              <a:rPr lang="en-US" altLang="zh-CN" dirty="0" err="1"/>
              <a:t>Struct</a:t>
            </a:r>
            <a:r>
              <a:rPr lang="en-US" altLang="zh-CN" dirty="0"/>
              <a:t> </a:t>
            </a:r>
            <a:r>
              <a:rPr lang="en-US" altLang="zh-CN" dirty="0" err="1"/>
              <a:t>cust</a:t>
            </a:r>
            <a:r>
              <a:rPr lang="en-US" altLang="zh-CN" dirty="0"/>
              <a:t> </a:t>
            </a:r>
            <a:r>
              <a:rPr lang="en-US" altLang="zh-CN" dirty="0" err="1"/>
              <a:t>Cqueue</a:t>
            </a:r>
            <a:r>
              <a:rPr lang="en-US" altLang="zh-CN" dirty="0"/>
              <a:t>[MAXSIZE]; //</a:t>
            </a:r>
            <a:r>
              <a:rPr lang="zh-CN" altLang="en-US" dirty="0"/>
              <a:t>等待服务的客户队列，一个循环队列</a:t>
            </a:r>
            <a:endParaRPr lang="en-US" altLang="zh-CN" dirty="0"/>
          </a:p>
          <a:p>
            <a:r>
              <a:rPr lang="en-US" altLang="zh-CN" dirty="0"/>
              <a:t> </a:t>
            </a:r>
          </a:p>
          <a:p>
            <a:r>
              <a:rPr lang="zh-CN" altLang="en-US" dirty="0"/>
              <a:t>为了简化问题，可用一个变量来表示银行当前提供服务的</a:t>
            </a:r>
            <a:r>
              <a:rPr lang="zh-CN" altLang="en-US" b="1" dirty="0"/>
              <a:t>窗口数</a:t>
            </a:r>
            <a:r>
              <a:rPr lang="zh-CN" altLang="en-US" dirty="0"/>
              <a:t>：</a:t>
            </a:r>
            <a:endParaRPr lang="en-US" altLang="zh-CN" dirty="0"/>
          </a:p>
          <a:p>
            <a:r>
              <a:rPr lang="en-US" altLang="zh-CN" dirty="0" err="1"/>
              <a:t>int</a:t>
            </a:r>
            <a:r>
              <a:rPr lang="en-US" altLang="zh-CN" dirty="0"/>
              <a:t>  </a:t>
            </a:r>
            <a:r>
              <a:rPr lang="en-US" altLang="zh-CN" dirty="0" err="1"/>
              <a:t>snum</a:t>
            </a:r>
            <a:r>
              <a:rPr lang="en-US" altLang="zh-CN" dirty="0"/>
              <a:t>; </a:t>
            </a:r>
          </a:p>
          <a:p>
            <a:r>
              <a:rPr lang="zh-CN" altLang="en-US" dirty="0"/>
              <a:t>在本问题中，该变量的取值范围为</a:t>
            </a:r>
            <a:r>
              <a:rPr lang="en-US" altLang="zh-CN" dirty="0"/>
              <a:t>3&lt;= </a:t>
            </a:r>
            <a:r>
              <a:rPr lang="en-US" altLang="zh-CN" dirty="0" err="1"/>
              <a:t>snum</a:t>
            </a:r>
            <a:r>
              <a:rPr lang="en-US" altLang="zh-CN" dirty="0"/>
              <a:t> &lt;= 5</a:t>
            </a:r>
            <a:endParaRPr lang="zh-CN" altLang="en-US" dirty="0"/>
          </a:p>
        </p:txBody>
      </p:sp>
      <p:grpSp>
        <p:nvGrpSpPr>
          <p:cNvPr id="5" name="Group 120">
            <a:extLst>
              <a:ext uri="{FF2B5EF4-FFF2-40B4-BE49-F238E27FC236}">
                <a16:creationId xmlns:a16="http://schemas.microsoft.com/office/drawing/2014/main" id="{ACC62A04-71A4-4854-939B-EF334E33B72C}"/>
              </a:ext>
            </a:extLst>
          </p:cNvPr>
          <p:cNvGrpSpPr>
            <a:grpSpLocks/>
          </p:cNvGrpSpPr>
          <p:nvPr/>
        </p:nvGrpSpPr>
        <p:grpSpPr bwMode="auto">
          <a:xfrm>
            <a:off x="2097362" y="4570487"/>
            <a:ext cx="8016049" cy="1987535"/>
            <a:chOff x="3606" y="2799"/>
            <a:chExt cx="1941" cy="776"/>
          </a:xfrm>
        </p:grpSpPr>
        <p:sp>
          <p:nvSpPr>
            <p:cNvPr id="6" name="Freeform 121">
              <a:extLst>
                <a:ext uri="{FF2B5EF4-FFF2-40B4-BE49-F238E27FC236}">
                  <a16:creationId xmlns:a16="http://schemas.microsoft.com/office/drawing/2014/main" id="{D60C29FE-570B-47F4-BD50-976065C7AD17}"/>
                </a:ext>
              </a:extLst>
            </p:cNvPr>
            <p:cNvSpPr>
              <a:spLocks/>
            </p:cNvSpPr>
            <p:nvPr/>
          </p:nvSpPr>
          <p:spPr bwMode="auto">
            <a:xfrm>
              <a:off x="3606" y="2850"/>
              <a:ext cx="1897" cy="725"/>
            </a:xfrm>
            <a:custGeom>
              <a:avLst/>
              <a:gdLst>
                <a:gd name="T0" fmla="*/ 104 w 1635"/>
                <a:gd name="T1" fmla="*/ 81 h 504"/>
                <a:gd name="T2" fmla="*/ 118 w 1635"/>
                <a:gd name="T3" fmla="*/ 61 h 504"/>
                <a:gd name="T4" fmla="*/ 163 w 1635"/>
                <a:gd name="T5" fmla="*/ 55 h 504"/>
                <a:gd name="T6" fmla="*/ 534 w 1635"/>
                <a:gd name="T7" fmla="*/ 24 h 504"/>
                <a:gd name="T8" fmla="*/ 1052 w 1635"/>
                <a:gd name="T9" fmla="*/ 24 h 504"/>
                <a:gd name="T10" fmla="*/ 1970 w 1635"/>
                <a:gd name="T11" fmla="*/ 49 h 504"/>
                <a:gd name="T12" fmla="*/ 2029 w 1635"/>
                <a:gd name="T13" fmla="*/ 130 h 504"/>
                <a:gd name="T14" fmla="*/ 2062 w 1635"/>
                <a:gd name="T15" fmla="*/ 168 h 504"/>
                <a:gd name="T16" fmla="*/ 2015 w 1635"/>
                <a:gd name="T17" fmla="*/ 207 h 504"/>
                <a:gd name="T18" fmla="*/ 1999 w 1635"/>
                <a:gd name="T19" fmla="*/ 233 h 504"/>
                <a:gd name="T20" fmla="*/ 1927 w 1635"/>
                <a:gd name="T21" fmla="*/ 238 h 504"/>
                <a:gd name="T22" fmla="*/ 1794 w 1635"/>
                <a:gd name="T23" fmla="*/ 245 h 504"/>
                <a:gd name="T24" fmla="*/ 1690 w 1635"/>
                <a:gd name="T25" fmla="*/ 263 h 504"/>
                <a:gd name="T26" fmla="*/ 1570 w 1635"/>
                <a:gd name="T27" fmla="*/ 277 h 504"/>
                <a:gd name="T28" fmla="*/ 1244 w 1635"/>
                <a:gd name="T29" fmla="*/ 257 h 504"/>
                <a:gd name="T30" fmla="*/ 474 w 1635"/>
                <a:gd name="T31" fmla="*/ 277 h 504"/>
                <a:gd name="T32" fmla="*/ 268 w 1635"/>
                <a:gd name="T33" fmla="*/ 271 h 504"/>
                <a:gd name="T34" fmla="*/ 88 w 1635"/>
                <a:gd name="T35" fmla="*/ 233 h 504"/>
                <a:gd name="T36" fmla="*/ 0 w 1635"/>
                <a:gd name="T37" fmla="*/ 176 h 504"/>
                <a:gd name="T38" fmla="*/ 104 w 1635"/>
                <a:gd name="T39" fmla="*/ 125 h 504"/>
                <a:gd name="T40" fmla="*/ 118 w 1635"/>
                <a:gd name="T41" fmla="*/ 106 h 504"/>
                <a:gd name="T42" fmla="*/ 104 w 1635"/>
                <a:gd name="T43" fmla="*/ 81 h 50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35" h="504">
                  <a:moveTo>
                    <a:pt x="81" y="147"/>
                  </a:moveTo>
                  <a:cubicBezTo>
                    <a:pt x="85" y="135"/>
                    <a:pt x="83" y="121"/>
                    <a:pt x="92" y="112"/>
                  </a:cubicBezTo>
                  <a:cubicBezTo>
                    <a:pt x="101" y="103"/>
                    <a:pt x="116" y="106"/>
                    <a:pt x="127" y="101"/>
                  </a:cubicBezTo>
                  <a:cubicBezTo>
                    <a:pt x="225" y="53"/>
                    <a:pt x="303" y="54"/>
                    <a:pt x="415" y="43"/>
                  </a:cubicBezTo>
                  <a:cubicBezTo>
                    <a:pt x="552" y="0"/>
                    <a:pt x="681" y="31"/>
                    <a:pt x="818" y="43"/>
                  </a:cubicBezTo>
                  <a:cubicBezTo>
                    <a:pt x="1050" y="91"/>
                    <a:pt x="1296" y="80"/>
                    <a:pt x="1532" y="89"/>
                  </a:cubicBezTo>
                  <a:cubicBezTo>
                    <a:pt x="1601" y="158"/>
                    <a:pt x="1550" y="92"/>
                    <a:pt x="1578" y="239"/>
                  </a:cubicBezTo>
                  <a:cubicBezTo>
                    <a:pt x="1583" y="263"/>
                    <a:pt x="1602" y="308"/>
                    <a:pt x="1602" y="308"/>
                  </a:cubicBezTo>
                  <a:cubicBezTo>
                    <a:pt x="1551" y="457"/>
                    <a:pt x="1635" y="221"/>
                    <a:pt x="1567" y="377"/>
                  </a:cubicBezTo>
                  <a:cubicBezTo>
                    <a:pt x="1561" y="392"/>
                    <a:pt x="1567" y="413"/>
                    <a:pt x="1555" y="423"/>
                  </a:cubicBezTo>
                  <a:cubicBezTo>
                    <a:pt x="1540" y="435"/>
                    <a:pt x="1517" y="432"/>
                    <a:pt x="1498" y="435"/>
                  </a:cubicBezTo>
                  <a:cubicBezTo>
                    <a:pt x="1463" y="440"/>
                    <a:pt x="1429" y="442"/>
                    <a:pt x="1394" y="446"/>
                  </a:cubicBezTo>
                  <a:cubicBezTo>
                    <a:pt x="1367" y="456"/>
                    <a:pt x="1342" y="472"/>
                    <a:pt x="1314" y="481"/>
                  </a:cubicBezTo>
                  <a:cubicBezTo>
                    <a:pt x="1284" y="491"/>
                    <a:pt x="1221" y="504"/>
                    <a:pt x="1221" y="504"/>
                  </a:cubicBezTo>
                  <a:cubicBezTo>
                    <a:pt x="1127" y="497"/>
                    <a:pt x="1056" y="492"/>
                    <a:pt x="968" y="469"/>
                  </a:cubicBezTo>
                  <a:cubicBezTo>
                    <a:pt x="773" y="481"/>
                    <a:pt x="557" y="459"/>
                    <a:pt x="369" y="504"/>
                  </a:cubicBezTo>
                  <a:cubicBezTo>
                    <a:pt x="315" y="500"/>
                    <a:pt x="261" y="502"/>
                    <a:pt x="208" y="493"/>
                  </a:cubicBezTo>
                  <a:cubicBezTo>
                    <a:pt x="202" y="492"/>
                    <a:pt x="83" y="429"/>
                    <a:pt x="69" y="423"/>
                  </a:cubicBezTo>
                  <a:cubicBezTo>
                    <a:pt x="35" y="389"/>
                    <a:pt x="16" y="365"/>
                    <a:pt x="0" y="320"/>
                  </a:cubicBezTo>
                  <a:cubicBezTo>
                    <a:pt x="17" y="270"/>
                    <a:pt x="43" y="265"/>
                    <a:pt x="81" y="228"/>
                  </a:cubicBezTo>
                  <a:cubicBezTo>
                    <a:pt x="85" y="216"/>
                    <a:pt x="94" y="205"/>
                    <a:pt x="92" y="193"/>
                  </a:cubicBezTo>
                  <a:cubicBezTo>
                    <a:pt x="83" y="138"/>
                    <a:pt x="52" y="173"/>
                    <a:pt x="81" y="147"/>
                  </a:cubicBezTo>
                  <a:close/>
                </a:path>
              </a:pathLst>
            </a:custGeom>
            <a:solidFill>
              <a:srgbClr val="FFFF99"/>
            </a:solidFill>
            <a:ln w="12700" cap="sq" cmpd="sng">
              <a:noFill/>
              <a:prstDash val="solid"/>
              <a:round/>
              <a:headEnd/>
              <a:tailEnd/>
            </a:ln>
            <a:effectLst>
              <a:outerShdw dist="71842" dir="2700000" algn="ctr" rotWithShape="0">
                <a:srgbClr val="B2B2B2"/>
              </a:outerShdw>
            </a:effectLst>
          </p:spPr>
          <p:txBody>
            <a:bodyPr wrap="none" anchor="ctr"/>
            <a:lstStyle/>
            <a:p>
              <a:endParaRPr lang="zh-CN" altLang="en-US"/>
            </a:p>
          </p:txBody>
        </p:sp>
        <p:sp>
          <p:nvSpPr>
            <p:cNvPr id="7" name="Rectangle 122">
              <a:extLst>
                <a:ext uri="{FF2B5EF4-FFF2-40B4-BE49-F238E27FC236}">
                  <a16:creationId xmlns:a16="http://schemas.microsoft.com/office/drawing/2014/main" id="{91B90F01-C588-4178-84E2-FD8139631469}"/>
                </a:ext>
              </a:extLst>
            </p:cNvPr>
            <p:cNvSpPr>
              <a:spLocks noChangeArrowheads="1"/>
            </p:cNvSpPr>
            <p:nvPr/>
          </p:nvSpPr>
          <p:spPr bwMode="auto">
            <a:xfrm rot="21569806">
              <a:off x="3685" y="2799"/>
              <a:ext cx="1862" cy="757"/>
            </a:xfrm>
            <a:prstGeom prst="rect">
              <a:avLst/>
            </a:prstGeom>
            <a:noFill/>
            <a:ln w="12700" cap="sq">
              <a:noFill/>
              <a:miter lim="800000"/>
              <a:headEnd/>
              <a:tailEnd/>
            </a:ln>
            <a:effectLst>
              <a:outerShdw dist="12700" dir="5400000" algn="ctr" rotWithShape="0">
                <a:srgbClr val="000000"/>
              </a:outerShdw>
            </a:effectLst>
          </p:spPr>
          <p:txBody>
            <a:bodyPr>
              <a:spAutoFit/>
            </a:bodyPr>
            <a:lstStyle/>
            <a:p>
              <a:r>
                <a:rPr lang="zh-CN" altLang="en-US" sz="2000" dirty="0">
                  <a:solidFill>
                    <a:srgbClr val="FF3300"/>
                  </a:solidFill>
                  <a:ea typeface="幼圆" pitchFamily="49" charset="-122"/>
                </a:rPr>
                <a:t>生产者</a:t>
              </a:r>
              <a:r>
                <a:rPr lang="en-US" altLang="zh-CN" sz="2000" dirty="0">
                  <a:solidFill>
                    <a:srgbClr val="FF3300"/>
                  </a:solidFill>
                  <a:ea typeface="幼圆" pitchFamily="49" charset="-122"/>
                </a:rPr>
                <a:t>-</a:t>
              </a:r>
              <a:r>
                <a:rPr lang="zh-CN" altLang="en-US" sz="2000" dirty="0">
                  <a:solidFill>
                    <a:srgbClr val="FF3300"/>
                  </a:solidFill>
                  <a:ea typeface="幼圆" pitchFamily="49" charset="-122"/>
                </a:rPr>
                <a:t>消费者模式中的基本策略</a:t>
              </a:r>
              <a:r>
                <a:rPr lang="zh-CN" altLang="en-US" sz="2000" b="1" dirty="0">
                  <a:solidFill>
                    <a:srgbClr val="FF3300"/>
                  </a:solidFill>
                  <a:ea typeface="幼圆" pitchFamily="49" charset="-122"/>
                </a:rPr>
                <a:t>：追求各自利益最大化！</a:t>
              </a:r>
              <a:endParaRPr lang="en-US" altLang="zh-CN" sz="2000" b="1" dirty="0">
                <a:solidFill>
                  <a:srgbClr val="FF3300"/>
                </a:solidFill>
                <a:ea typeface="幼圆" pitchFamily="49" charset="-122"/>
              </a:endParaRPr>
            </a:p>
            <a:p>
              <a:r>
                <a:rPr lang="zh-CN" altLang="en-US" sz="2000" b="1" dirty="0">
                  <a:solidFill>
                    <a:srgbClr val="7030A0"/>
                  </a:solidFill>
                  <a:ea typeface="幼圆" pitchFamily="49" charset="-122"/>
                </a:rPr>
                <a:t>对客户来说</a:t>
              </a:r>
              <a:r>
                <a:rPr lang="zh-CN" altLang="en-US" sz="2000" dirty="0">
                  <a:solidFill>
                    <a:srgbClr val="7030A0"/>
                  </a:solidFill>
                  <a:ea typeface="幼圆" pitchFamily="49" charset="-122"/>
                </a:rPr>
                <a:t>：要求尽快得到服务，也就是说，当他到达银行要求得到服务时，排队过长会有抱怨。（要求多开窗口）（当客户到达时，如排队过长，银行应想办法减少排队，避免抱怨产生）</a:t>
              </a:r>
              <a:endParaRPr lang="en-US" altLang="zh-CN" sz="2000" dirty="0">
                <a:solidFill>
                  <a:srgbClr val="7030A0"/>
                </a:solidFill>
                <a:ea typeface="幼圆" pitchFamily="49" charset="-122"/>
              </a:endParaRPr>
            </a:p>
            <a:p>
              <a:r>
                <a:rPr lang="zh-CN" altLang="en-US" sz="2000" b="1" dirty="0">
                  <a:solidFill>
                    <a:srgbClr val="7030A0"/>
                  </a:solidFill>
                  <a:ea typeface="幼圆" pitchFamily="49" charset="-122"/>
                </a:rPr>
                <a:t>对银行来说</a:t>
              </a:r>
              <a:r>
                <a:rPr lang="zh-CN" altLang="en-US" sz="2000" dirty="0">
                  <a:solidFill>
                    <a:srgbClr val="7030A0"/>
                  </a:solidFill>
                  <a:ea typeface="幼圆" pitchFamily="49" charset="-122"/>
                </a:rPr>
                <a:t>：在满足客户基本要求的前提下，尽可能减少成本支出（少开窗口</a:t>
              </a:r>
              <a:r>
                <a:rPr lang="zh-CN" altLang="en-US" sz="2000">
                  <a:solidFill>
                    <a:srgbClr val="7030A0"/>
                  </a:solidFill>
                  <a:ea typeface="幼圆" pitchFamily="49" charset="-122"/>
                </a:rPr>
                <a:t>）（当队列中客户减少时，将及时减少窗口）</a:t>
              </a:r>
              <a:endParaRPr lang="zh-CN" altLang="en-US" sz="2000" dirty="0">
                <a:solidFill>
                  <a:srgbClr val="7030A0"/>
                </a:solidFill>
                <a:ea typeface="幼圆" pitchFamily="49" charset="-122"/>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11372"/>
            <a:ext cx="10515600" cy="771807"/>
          </a:xfrm>
        </p:spPr>
        <p:txBody>
          <a:bodyPr/>
          <a:lstStyle/>
          <a:p>
            <a:r>
              <a:rPr lang="zh-CN" altLang="en-US" dirty="0"/>
              <a:t>问题</a:t>
            </a:r>
            <a:r>
              <a:rPr lang="en-US" altLang="zh-CN" dirty="0"/>
              <a:t>3.2 </a:t>
            </a:r>
            <a:r>
              <a:rPr lang="zh-CN" altLang="en-US" dirty="0"/>
              <a:t>：问题分析及算法设计</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76</a:t>
            </a:fld>
            <a:endParaRPr lang="zh-CN" altLang="en-US" dirty="0"/>
          </a:p>
        </p:txBody>
      </p:sp>
      <p:sp>
        <p:nvSpPr>
          <p:cNvPr id="4" name="TextBox 3"/>
          <p:cNvSpPr txBox="1"/>
          <p:nvPr/>
        </p:nvSpPr>
        <p:spPr>
          <a:xfrm>
            <a:off x="2279576" y="1196753"/>
            <a:ext cx="7560840" cy="4524315"/>
          </a:xfrm>
          <a:prstGeom prst="rect">
            <a:avLst/>
          </a:prstGeom>
          <a:solidFill>
            <a:schemeClr val="bg2">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zh-CN" altLang="en-US" dirty="0"/>
              <a:t>主要算法：</a:t>
            </a:r>
            <a:endParaRPr lang="en-US" altLang="zh-CN" dirty="0"/>
          </a:p>
          <a:p>
            <a:r>
              <a:rPr lang="en-US" altLang="zh-CN" dirty="0">
                <a:latin typeface="楷体" pitchFamily="49" charset="-122"/>
                <a:ea typeface="楷体" pitchFamily="49" charset="-122"/>
              </a:rPr>
              <a:t>for(clock=1; ; clock++) //</a:t>
            </a:r>
            <a:r>
              <a:rPr lang="zh-CN" altLang="en-US" dirty="0">
                <a:latin typeface="楷体" pitchFamily="49" charset="-122"/>
                <a:ea typeface="楷体" pitchFamily="49" charset="-122"/>
              </a:rPr>
              <a:t>在每个时间周期内</a:t>
            </a:r>
            <a:endParaRPr lang="en-US" altLang="zh-CN" dirty="0">
              <a:latin typeface="楷体" pitchFamily="49" charset="-122"/>
              <a:ea typeface="楷体" pitchFamily="49" charset="-122"/>
            </a:endParaRPr>
          </a:p>
          <a:p>
            <a:r>
              <a:rPr lang="en-US" altLang="zh-CN" dirty="0">
                <a:latin typeface="楷体" pitchFamily="49" charset="-122"/>
                <a:ea typeface="楷体" pitchFamily="49" charset="-122"/>
              </a:rPr>
              <a:t>{</a:t>
            </a:r>
          </a:p>
          <a:p>
            <a:pPr lvl="1"/>
            <a:r>
              <a:rPr lang="en-US" altLang="zh-CN" dirty="0">
                <a:latin typeface="楷体" pitchFamily="49" charset="-122"/>
                <a:ea typeface="楷体" pitchFamily="49" charset="-122"/>
              </a:rPr>
              <a:t>1. If </a:t>
            </a:r>
            <a:r>
              <a:rPr lang="zh-CN" altLang="en-US" dirty="0">
                <a:latin typeface="楷体" pitchFamily="49" charset="-122"/>
                <a:ea typeface="楷体" pitchFamily="49" charset="-122"/>
              </a:rPr>
              <a:t>客户等待队列非空</a:t>
            </a:r>
            <a:endParaRPr lang="en-US" altLang="zh-CN" dirty="0">
              <a:latin typeface="楷体" pitchFamily="49" charset="-122"/>
              <a:ea typeface="楷体" pitchFamily="49" charset="-122"/>
            </a:endParaRPr>
          </a:p>
          <a:p>
            <a:pPr lvl="1" indent="803275"/>
            <a:r>
              <a:rPr lang="zh-CN" altLang="en-US" dirty="0">
                <a:latin typeface="楷体" pitchFamily="49" charset="-122"/>
                <a:ea typeface="楷体" pitchFamily="49" charset="-122"/>
              </a:rPr>
              <a:t>将每个客户的等待时间增加一个时间单元；</a:t>
            </a:r>
            <a:endParaRPr lang="en-US" altLang="zh-CN" dirty="0">
              <a:latin typeface="楷体" pitchFamily="49" charset="-122"/>
              <a:ea typeface="楷体" pitchFamily="49" charset="-122"/>
            </a:endParaRPr>
          </a:p>
          <a:p>
            <a:pPr lvl="1"/>
            <a:r>
              <a:rPr lang="en-US" altLang="zh-CN" dirty="0">
                <a:latin typeface="楷体" pitchFamily="49" charset="-122"/>
                <a:ea typeface="楷体" pitchFamily="49" charset="-122"/>
              </a:rPr>
              <a:t>2. If(clock &lt;= </a:t>
            </a:r>
            <a:r>
              <a:rPr lang="en-US" altLang="zh-CN" dirty="0" err="1">
                <a:latin typeface="楷体" pitchFamily="49" charset="-122"/>
                <a:ea typeface="楷体" pitchFamily="49" charset="-122"/>
              </a:rPr>
              <a:t>simulationtime</a:t>
            </a:r>
            <a:r>
              <a:rPr lang="en-US" altLang="zh-CN" dirty="0">
                <a:latin typeface="楷体" pitchFamily="49" charset="-122"/>
                <a:ea typeface="楷体" pitchFamily="49" charset="-122"/>
              </a:rPr>
              <a:t>)</a:t>
            </a:r>
          </a:p>
          <a:p>
            <a:pPr marL="1260475" lvl="1"/>
            <a:r>
              <a:rPr lang="en-US" altLang="zh-CN" dirty="0">
                <a:latin typeface="楷体" pitchFamily="49" charset="-122"/>
                <a:ea typeface="楷体" pitchFamily="49" charset="-122"/>
              </a:rPr>
              <a:t>2.1 </a:t>
            </a:r>
            <a:r>
              <a:rPr lang="zh-CN" altLang="en-US" dirty="0">
                <a:latin typeface="楷体" pitchFamily="49" charset="-122"/>
                <a:ea typeface="楷体" pitchFamily="49" charset="-122"/>
              </a:rPr>
              <a:t>如果有新客户到来（从输入中读入本周期内新来客户数），将其入队；</a:t>
            </a:r>
            <a:endParaRPr lang="en-US" altLang="zh-CN" dirty="0">
              <a:latin typeface="楷体" pitchFamily="49" charset="-122"/>
              <a:ea typeface="楷体" pitchFamily="49" charset="-122"/>
            </a:endParaRPr>
          </a:p>
          <a:p>
            <a:pPr marL="1260475" lvl="1"/>
            <a:r>
              <a:rPr lang="en-US" altLang="zh-CN" b="1" dirty="0">
                <a:solidFill>
                  <a:srgbClr val="7030A0"/>
                </a:solidFill>
                <a:latin typeface="楷体" pitchFamily="49" charset="-122"/>
                <a:ea typeface="楷体" pitchFamily="49" charset="-122"/>
              </a:rPr>
              <a:t>2.2 </a:t>
            </a:r>
            <a:r>
              <a:rPr lang="zh-CN" altLang="en-US" b="1" dirty="0">
                <a:solidFill>
                  <a:srgbClr val="7030A0"/>
                </a:solidFill>
                <a:latin typeface="楷体" pitchFamily="49" charset="-122"/>
                <a:ea typeface="楷体" pitchFamily="49" charset="-122"/>
              </a:rPr>
              <a:t>根据等待服务客户数重新计算服务窗口数；</a:t>
            </a:r>
            <a:endParaRPr lang="en-US" altLang="zh-CN" b="1" dirty="0">
              <a:solidFill>
                <a:srgbClr val="7030A0"/>
              </a:solidFill>
              <a:latin typeface="楷体" pitchFamily="49" charset="-122"/>
              <a:ea typeface="楷体" pitchFamily="49" charset="-122"/>
            </a:endParaRPr>
          </a:p>
          <a:p>
            <a:pPr lvl="1"/>
            <a:r>
              <a:rPr lang="en-US" altLang="zh-CN" dirty="0">
                <a:latin typeface="楷体" pitchFamily="49" charset="-122"/>
                <a:ea typeface="楷体" pitchFamily="49" charset="-122"/>
              </a:rPr>
              <a:t>3. If </a:t>
            </a:r>
            <a:r>
              <a:rPr lang="zh-CN" altLang="en-US" dirty="0">
                <a:latin typeface="楷体" pitchFamily="49" charset="-122"/>
                <a:ea typeface="楷体" pitchFamily="49" charset="-122"/>
              </a:rPr>
              <a:t>客户等待队列非空</a:t>
            </a:r>
            <a:endParaRPr lang="en-US" altLang="zh-CN" dirty="0">
              <a:latin typeface="楷体" pitchFamily="49" charset="-122"/>
              <a:ea typeface="楷体" pitchFamily="49" charset="-122"/>
            </a:endParaRPr>
          </a:p>
          <a:p>
            <a:pPr marL="1260475" lvl="1"/>
            <a:r>
              <a:rPr lang="en-US" altLang="zh-CN" dirty="0">
                <a:latin typeface="楷体" pitchFamily="49" charset="-122"/>
                <a:ea typeface="楷体" pitchFamily="49" charset="-122"/>
              </a:rPr>
              <a:t>3.1 </a:t>
            </a:r>
            <a:r>
              <a:rPr lang="zh-CN" altLang="en-US" dirty="0">
                <a:latin typeface="楷体" pitchFamily="49" charset="-122"/>
                <a:ea typeface="楷体" pitchFamily="49" charset="-122"/>
              </a:rPr>
              <a:t>从客户队列中取（出队）相应数目（按实际服务窗口数）客户获得服务；</a:t>
            </a:r>
            <a:endParaRPr lang="en-US" altLang="zh-CN" dirty="0">
              <a:latin typeface="楷体" pitchFamily="49" charset="-122"/>
              <a:ea typeface="楷体" pitchFamily="49" charset="-122"/>
            </a:endParaRPr>
          </a:p>
          <a:p>
            <a:pPr marL="1260475" lvl="1"/>
            <a:r>
              <a:rPr lang="en-US" altLang="zh-CN" b="1" dirty="0">
                <a:solidFill>
                  <a:srgbClr val="7030A0"/>
                </a:solidFill>
                <a:latin typeface="楷体" pitchFamily="49" charset="-122"/>
                <a:ea typeface="楷体" pitchFamily="49" charset="-122"/>
              </a:rPr>
              <a:t>3.2 </a:t>
            </a:r>
            <a:r>
              <a:rPr lang="zh-CN" altLang="en-US" b="1" dirty="0">
                <a:solidFill>
                  <a:srgbClr val="7030A0"/>
                </a:solidFill>
                <a:latin typeface="楷体" pitchFamily="49" charset="-122"/>
                <a:ea typeface="楷体" pitchFamily="49" charset="-122"/>
              </a:rPr>
              <a:t>然后根据等待服务客户数重新计算服务窗口数；</a:t>
            </a:r>
            <a:endParaRPr lang="en-US" altLang="zh-CN" b="1" dirty="0">
              <a:solidFill>
                <a:srgbClr val="7030A0"/>
              </a:solidFill>
              <a:latin typeface="楷体" pitchFamily="49" charset="-122"/>
              <a:ea typeface="楷体" pitchFamily="49" charset="-122"/>
            </a:endParaRPr>
          </a:p>
          <a:p>
            <a:pPr marL="1260475" lvl="1" indent="-457200"/>
            <a:r>
              <a:rPr lang="en-US" altLang="zh-CN" dirty="0">
                <a:latin typeface="楷体" pitchFamily="49" charset="-122"/>
                <a:ea typeface="楷体" pitchFamily="49" charset="-122"/>
              </a:rPr>
              <a:t>Else </a:t>
            </a:r>
            <a:r>
              <a:rPr lang="zh-CN" altLang="en-US" dirty="0">
                <a:latin typeface="楷体" pitchFamily="49" charset="-122"/>
                <a:ea typeface="楷体" pitchFamily="49" charset="-122"/>
              </a:rPr>
              <a:t>结束模拟</a:t>
            </a:r>
            <a:endParaRPr lang="en-US" altLang="zh-CN" dirty="0">
              <a:latin typeface="楷体" pitchFamily="49" charset="-122"/>
              <a:ea typeface="楷体" pitchFamily="49" charset="-122"/>
            </a:endParaRPr>
          </a:p>
          <a:p>
            <a:r>
              <a:rPr lang="en-US" altLang="zh-CN" dirty="0">
                <a:latin typeface="楷体" pitchFamily="49" charset="-122"/>
                <a:ea typeface="楷体" pitchFamily="49" charset="-122"/>
              </a:rPr>
              <a:t>}</a:t>
            </a:r>
          </a:p>
          <a:p>
            <a:pPr lvl="1"/>
            <a:endParaRPr lang="zh-CN" altLang="en-US" dirty="0">
              <a:latin typeface="楷体" pitchFamily="49" charset="-122"/>
              <a:ea typeface="楷体" pitchFamily="49" charset="-122"/>
            </a:endParaRPr>
          </a:p>
        </p:txBody>
      </p:sp>
    </p:spTree>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831627"/>
          </a:xfrm>
        </p:spPr>
        <p:txBody>
          <a:bodyPr/>
          <a:lstStyle/>
          <a:p>
            <a:r>
              <a:rPr lang="zh-CN" altLang="en-US" dirty="0"/>
              <a:t>问题</a:t>
            </a:r>
            <a:r>
              <a:rPr lang="en-US" altLang="zh-CN" dirty="0"/>
              <a:t>3.2 </a:t>
            </a:r>
            <a:r>
              <a:rPr lang="zh-CN" altLang="en-US" dirty="0"/>
              <a:t>：代码实现</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77</a:t>
            </a:fld>
            <a:endParaRPr lang="zh-CN" altLang="en-US" dirty="0"/>
          </a:p>
        </p:txBody>
      </p:sp>
      <p:sp>
        <p:nvSpPr>
          <p:cNvPr id="5" name="灯片编号占位符 2"/>
          <p:cNvSpPr txBox="1">
            <a:spLocks/>
          </p:cNvSpPr>
          <p:nvPr/>
        </p:nvSpPr>
        <p:spPr bwMode="auto">
          <a:xfrm>
            <a:off x="8255000" y="6229350"/>
            <a:ext cx="1729432" cy="44001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algn="r">
              <a:spcBef>
                <a:spcPct val="50000"/>
              </a:spcBef>
              <a:defRPr/>
            </a:pPr>
            <a:fld id="{0C913308-F349-4B6D-A68A-DD1791B4A57B}" type="slidenum">
              <a:rPr lang="zh-CN" altLang="en-US" sz="1400">
                <a:solidFill>
                  <a:schemeClr val="bg2"/>
                </a:solidFill>
              </a:rPr>
              <a:pPr algn="r">
                <a:spcBef>
                  <a:spcPct val="50000"/>
                </a:spcBef>
                <a:defRPr/>
              </a:pPr>
              <a:t>77</a:t>
            </a:fld>
            <a:endParaRPr lang="zh-CN" altLang="en-US" sz="1400" dirty="0">
              <a:solidFill>
                <a:schemeClr val="bg2"/>
              </a:solidFill>
            </a:endParaRPr>
          </a:p>
        </p:txBody>
      </p:sp>
      <p:sp>
        <p:nvSpPr>
          <p:cNvPr id="6" name="TextBox 5"/>
          <p:cNvSpPr txBox="1"/>
          <p:nvPr/>
        </p:nvSpPr>
        <p:spPr>
          <a:xfrm>
            <a:off x="1071294" y="1556792"/>
            <a:ext cx="4680520" cy="5232202"/>
          </a:xfrm>
          <a:prstGeom prst="rect">
            <a:avLst/>
          </a:prstGeom>
          <a:solidFill>
            <a:schemeClr val="bg2">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US" altLang="zh-CN" sz="1600" dirty="0"/>
              <a:t>//</a:t>
            </a:r>
            <a:r>
              <a:rPr lang="en-US" altLang="zh-CN" sz="1600" dirty="0" err="1"/>
              <a:t>main.c</a:t>
            </a:r>
            <a:r>
              <a:rPr lang="en-US" altLang="zh-CN" sz="1600" dirty="0"/>
              <a:t> </a:t>
            </a:r>
          </a:p>
          <a:p>
            <a:r>
              <a:rPr lang="en-US" altLang="zh-CN" sz="1600" dirty="0"/>
              <a:t>#include &lt;</a:t>
            </a:r>
            <a:r>
              <a:rPr lang="en-US" altLang="zh-CN" sz="1600" dirty="0" err="1"/>
              <a:t>stdio.h</a:t>
            </a:r>
            <a:r>
              <a:rPr lang="en-US" altLang="zh-CN" sz="1600" dirty="0"/>
              <a:t>&gt;</a:t>
            </a:r>
          </a:p>
          <a:p>
            <a:r>
              <a:rPr lang="en-US" altLang="zh-CN" sz="1600" dirty="0"/>
              <a:t>#include  &lt;</a:t>
            </a:r>
            <a:r>
              <a:rPr lang="en-US" altLang="zh-CN" sz="1600" dirty="0" err="1"/>
              <a:t>stdlib.h</a:t>
            </a:r>
            <a:r>
              <a:rPr lang="en-US" altLang="zh-CN" sz="1600" dirty="0"/>
              <a:t>&gt;</a:t>
            </a:r>
          </a:p>
          <a:p>
            <a:r>
              <a:rPr lang="en-US" altLang="zh-CN" sz="1600" dirty="0"/>
              <a:t>#define  MAXSIZE 200  //</a:t>
            </a:r>
            <a:r>
              <a:rPr lang="zh-CN" altLang="en-US" sz="1600" dirty="0"/>
              <a:t>队列容量</a:t>
            </a:r>
            <a:endParaRPr lang="en-US" altLang="zh-CN" sz="1600" dirty="0"/>
          </a:p>
          <a:p>
            <a:r>
              <a:rPr lang="en-US" altLang="zh-CN" sz="1600" dirty="0"/>
              <a:t>#define THRESHOLD  7  //</a:t>
            </a:r>
            <a:r>
              <a:rPr lang="zh-CN" altLang="en-US" sz="1600" dirty="0"/>
              <a:t>窗口增加阈值</a:t>
            </a:r>
            <a:endParaRPr lang="en-US" altLang="zh-CN" sz="1600" dirty="0"/>
          </a:p>
          <a:p>
            <a:r>
              <a:rPr lang="en-US" altLang="zh-CN" sz="1600" dirty="0"/>
              <a:t>#define MAXSVR  5   //</a:t>
            </a:r>
            <a:r>
              <a:rPr lang="zh-CN" altLang="en-US" sz="1600" dirty="0"/>
              <a:t>最大服务窗口数</a:t>
            </a:r>
            <a:endParaRPr lang="en-US" altLang="zh-CN" sz="1600" dirty="0"/>
          </a:p>
          <a:p>
            <a:r>
              <a:rPr lang="en-US" altLang="zh-CN" sz="1600" dirty="0"/>
              <a:t>#define MINSVR  3    //</a:t>
            </a:r>
            <a:r>
              <a:rPr lang="zh-CN" altLang="en-US" sz="1600" dirty="0"/>
              <a:t>最小服务窗口数</a:t>
            </a:r>
            <a:endParaRPr lang="en-US" altLang="zh-CN" sz="1600" dirty="0"/>
          </a:p>
          <a:p>
            <a:r>
              <a:rPr lang="en-US" altLang="zh-CN" sz="1600" dirty="0" err="1"/>
              <a:t>typedef</a:t>
            </a:r>
            <a:r>
              <a:rPr lang="en-US" altLang="zh-CN" sz="1600" dirty="0"/>
              <a:t> </a:t>
            </a:r>
            <a:r>
              <a:rPr lang="en-US" altLang="zh-CN" sz="1600" dirty="0" err="1"/>
              <a:t>struct</a:t>
            </a:r>
            <a:r>
              <a:rPr lang="en-US" altLang="zh-CN" sz="1600" dirty="0"/>
              <a:t> {</a:t>
            </a:r>
          </a:p>
          <a:p>
            <a:r>
              <a:rPr lang="en-US" altLang="zh-CN" sz="1600" dirty="0"/>
              <a:t>    </a:t>
            </a:r>
            <a:r>
              <a:rPr lang="en-US" altLang="zh-CN" sz="1600" dirty="0" err="1"/>
              <a:t>int</a:t>
            </a:r>
            <a:r>
              <a:rPr lang="en-US" altLang="zh-CN" sz="1600" dirty="0"/>
              <a:t> id;</a:t>
            </a:r>
          </a:p>
          <a:p>
            <a:r>
              <a:rPr lang="en-US" altLang="zh-CN" sz="1600" dirty="0"/>
              <a:t>    </a:t>
            </a:r>
            <a:r>
              <a:rPr lang="en-US" altLang="zh-CN" sz="1600" dirty="0" err="1"/>
              <a:t>int</a:t>
            </a:r>
            <a:r>
              <a:rPr lang="en-US" altLang="zh-CN" sz="1600" dirty="0"/>
              <a:t> </a:t>
            </a:r>
            <a:r>
              <a:rPr lang="en-US" altLang="zh-CN" sz="1600" dirty="0" err="1"/>
              <a:t>wtime</a:t>
            </a:r>
            <a:r>
              <a:rPr lang="en-US" altLang="zh-CN" sz="1600" dirty="0"/>
              <a:t>;</a:t>
            </a:r>
          </a:p>
          <a:p>
            <a:r>
              <a:rPr lang="en-US" altLang="zh-CN" sz="1600" dirty="0"/>
              <a:t>} </a:t>
            </a:r>
            <a:r>
              <a:rPr lang="en-US" altLang="zh-CN" sz="1600" dirty="0" err="1"/>
              <a:t>CustType</a:t>
            </a:r>
            <a:r>
              <a:rPr lang="en-US" altLang="zh-CN" sz="1600" dirty="0"/>
              <a:t>;</a:t>
            </a:r>
          </a:p>
          <a:p>
            <a:r>
              <a:rPr lang="en-US" altLang="zh-CN" sz="1600" dirty="0" err="1"/>
              <a:t>int</a:t>
            </a:r>
            <a:r>
              <a:rPr lang="en-US" altLang="zh-CN" sz="1600" dirty="0"/>
              <a:t> </a:t>
            </a:r>
            <a:r>
              <a:rPr lang="en-US" altLang="zh-CN" sz="1600" dirty="0" err="1"/>
              <a:t>Winnum</a:t>
            </a:r>
            <a:r>
              <a:rPr lang="en-US" altLang="zh-CN" sz="1600" dirty="0"/>
              <a:t>=MINSVR; //</a:t>
            </a:r>
            <a:r>
              <a:rPr lang="zh-CN" altLang="en-US" sz="1600" dirty="0"/>
              <a:t>提供服务的窗口数</a:t>
            </a:r>
            <a:endParaRPr lang="en-US" altLang="zh-CN" sz="1600" dirty="0"/>
          </a:p>
          <a:p>
            <a:r>
              <a:rPr lang="en-US" altLang="zh-CN" sz="1600" dirty="0"/>
              <a:t>void  </a:t>
            </a:r>
            <a:r>
              <a:rPr lang="en-US" altLang="zh-CN" sz="1600" dirty="0" err="1"/>
              <a:t>updateCustqueue</a:t>
            </a:r>
            <a:r>
              <a:rPr lang="en-US" altLang="zh-CN" sz="1600" dirty="0"/>
              <a:t>(); </a:t>
            </a:r>
            <a:r>
              <a:rPr lang="en-US" altLang="zh-CN" sz="1100" dirty="0"/>
              <a:t>//</a:t>
            </a:r>
            <a:r>
              <a:rPr lang="zh-CN" altLang="en-US" sz="1100" dirty="0"/>
              <a:t>更新等待队列中客户等待时间</a:t>
            </a:r>
            <a:endParaRPr lang="en-US" altLang="zh-CN" sz="1100" dirty="0"/>
          </a:p>
          <a:p>
            <a:r>
              <a:rPr lang="en-US" altLang="zh-CN" sz="1600" dirty="0"/>
              <a:t>void  </a:t>
            </a:r>
            <a:r>
              <a:rPr lang="en-US" altLang="zh-CN" sz="1600" dirty="0" err="1"/>
              <a:t>enCustqueue</a:t>
            </a:r>
            <a:r>
              <a:rPr lang="en-US" altLang="zh-CN" sz="1600" dirty="0"/>
              <a:t>(</a:t>
            </a:r>
            <a:r>
              <a:rPr lang="en-US" altLang="zh-CN" sz="1600" dirty="0" err="1"/>
              <a:t>CustType</a:t>
            </a:r>
            <a:r>
              <a:rPr lang="en-US" altLang="zh-CN" sz="1600" dirty="0"/>
              <a:t> c); //</a:t>
            </a:r>
            <a:r>
              <a:rPr lang="zh-CN" altLang="en-US" sz="1600" dirty="0"/>
              <a:t>客户入等待队列</a:t>
            </a:r>
            <a:endParaRPr lang="en-US" altLang="zh-CN" sz="1600" dirty="0"/>
          </a:p>
          <a:p>
            <a:r>
              <a:rPr lang="en-US" altLang="zh-CN" sz="1600" dirty="0" err="1"/>
              <a:t>CustType</a:t>
            </a:r>
            <a:r>
              <a:rPr lang="en-US" altLang="zh-CN" sz="1600" dirty="0"/>
              <a:t> </a:t>
            </a:r>
            <a:r>
              <a:rPr lang="en-US" altLang="zh-CN" sz="1600" dirty="0" err="1"/>
              <a:t>deCustqueue</a:t>
            </a:r>
            <a:r>
              <a:rPr lang="en-US" altLang="zh-CN" sz="1600" dirty="0"/>
              <a:t>(); //</a:t>
            </a:r>
            <a:r>
              <a:rPr lang="zh-CN" altLang="en-US" sz="1600" dirty="0"/>
              <a:t>客户出队</a:t>
            </a:r>
            <a:endParaRPr lang="en-US" altLang="zh-CN" sz="1600" dirty="0"/>
          </a:p>
          <a:p>
            <a:r>
              <a:rPr lang="en-US" altLang="zh-CN" sz="1600" dirty="0" err="1"/>
              <a:t>int</a:t>
            </a:r>
            <a:r>
              <a:rPr lang="en-US" altLang="zh-CN" sz="1600" dirty="0"/>
              <a:t>  </a:t>
            </a:r>
            <a:r>
              <a:rPr lang="en-US" altLang="zh-CN" sz="1600" dirty="0" err="1"/>
              <a:t>getCustnum</a:t>
            </a:r>
            <a:r>
              <a:rPr lang="en-US" altLang="zh-CN" sz="1600" dirty="0"/>
              <a:t>();   //</a:t>
            </a:r>
            <a:r>
              <a:rPr lang="zh-CN" altLang="en-US" sz="1600" dirty="0"/>
              <a:t>获取队中等待客户人数</a:t>
            </a:r>
            <a:endParaRPr lang="en-US" altLang="zh-CN" sz="1600" dirty="0"/>
          </a:p>
          <a:p>
            <a:r>
              <a:rPr lang="en-US" altLang="zh-CN" sz="1600" dirty="0" err="1"/>
              <a:t>int</a:t>
            </a:r>
            <a:r>
              <a:rPr lang="en-US" altLang="zh-CN" sz="1600" dirty="0"/>
              <a:t>  </a:t>
            </a:r>
            <a:r>
              <a:rPr lang="en-US" altLang="zh-CN" sz="1600" dirty="0" err="1"/>
              <a:t>isFull</a:t>
            </a:r>
            <a:r>
              <a:rPr lang="en-US" altLang="zh-CN" sz="1600" dirty="0"/>
              <a:t>();</a:t>
            </a:r>
          </a:p>
          <a:p>
            <a:r>
              <a:rPr lang="en-US" altLang="zh-CN" sz="1600" dirty="0" err="1"/>
              <a:t>int</a:t>
            </a:r>
            <a:r>
              <a:rPr lang="en-US" altLang="zh-CN" sz="1600" dirty="0"/>
              <a:t>  </a:t>
            </a:r>
            <a:r>
              <a:rPr lang="en-US" altLang="zh-CN" sz="1600" dirty="0" err="1"/>
              <a:t>isEmpty</a:t>
            </a:r>
            <a:r>
              <a:rPr lang="en-US" altLang="zh-CN" sz="1600" dirty="0"/>
              <a:t>();</a:t>
            </a:r>
          </a:p>
          <a:p>
            <a:r>
              <a:rPr lang="en-US" altLang="zh-CN" sz="1600" dirty="0"/>
              <a:t>void </a:t>
            </a:r>
            <a:r>
              <a:rPr lang="en-US" altLang="zh-CN" sz="1600" dirty="0" err="1"/>
              <a:t>arriveCust</a:t>
            </a:r>
            <a:r>
              <a:rPr lang="en-US" altLang="zh-CN" sz="1600" dirty="0"/>
              <a:t>(); </a:t>
            </a:r>
            <a:r>
              <a:rPr lang="en-US" altLang="zh-CN" sz="1400" dirty="0"/>
              <a:t>//</a:t>
            </a:r>
            <a:r>
              <a:rPr lang="zh-CN" altLang="en-US" sz="1400" dirty="0"/>
              <a:t>获取新客户，并加至等待队列中</a:t>
            </a:r>
            <a:endParaRPr lang="en-US" altLang="zh-CN" sz="1400" dirty="0"/>
          </a:p>
          <a:p>
            <a:r>
              <a:rPr lang="en-US" altLang="zh-CN" sz="1600" dirty="0" err="1"/>
              <a:t>int</a:t>
            </a:r>
            <a:r>
              <a:rPr lang="en-US" altLang="zh-CN" sz="1600" dirty="0"/>
              <a:t>  service(); //</a:t>
            </a:r>
            <a:r>
              <a:rPr lang="zh-CN" altLang="en-US" sz="1600" dirty="0"/>
              <a:t>银行从队列中获取客户进行服务</a:t>
            </a:r>
            <a:endParaRPr lang="en-US" altLang="zh-CN" sz="1600" dirty="0"/>
          </a:p>
          <a:p>
            <a:r>
              <a:rPr lang="en-US" altLang="zh-CN" sz="1400" dirty="0"/>
              <a:t> </a:t>
            </a:r>
            <a:endParaRPr lang="en-US" altLang="zh-CN" sz="1600" dirty="0"/>
          </a:p>
        </p:txBody>
      </p:sp>
      <p:sp>
        <p:nvSpPr>
          <p:cNvPr id="7" name="TextBox 6"/>
          <p:cNvSpPr txBox="1"/>
          <p:nvPr/>
        </p:nvSpPr>
        <p:spPr>
          <a:xfrm>
            <a:off x="5807968" y="188640"/>
            <a:ext cx="5400600" cy="3503523"/>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nSpc>
                <a:spcPts val="1900"/>
              </a:lnSpc>
            </a:pPr>
            <a:r>
              <a:rPr lang="en-US" altLang="zh-CN" sz="2000" dirty="0"/>
              <a:t>//</a:t>
            </a:r>
            <a:r>
              <a:rPr lang="en-US" altLang="zh-CN" sz="2000" dirty="0" err="1"/>
              <a:t>main.c</a:t>
            </a:r>
            <a:endParaRPr lang="en-US" altLang="zh-CN" sz="2000" dirty="0"/>
          </a:p>
          <a:p>
            <a:pPr>
              <a:lnSpc>
                <a:spcPts val="1900"/>
              </a:lnSpc>
            </a:pPr>
            <a:r>
              <a:rPr lang="en-US" altLang="zh-CN" sz="2000" dirty="0" err="1"/>
              <a:t>int</a:t>
            </a:r>
            <a:r>
              <a:rPr lang="en-US" altLang="zh-CN" sz="2000" dirty="0"/>
              <a:t> main()</a:t>
            </a:r>
          </a:p>
          <a:p>
            <a:pPr>
              <a:lnSpc>
                <a:spcPts val="1900"/>
              </a:lnSpc>
            </a:pPr>
            <a:r>
              <a:rPr lang="en-US" altLang="zh-CN" sz="2000" dirty="0"/>
              <a:t>{</a:t>
            </a:r>
          </a:p>
          <a:p>
            <a:pPr>
              <a:lnSpc>
                <a:spcPts val="1900"/>
              </a:lnSpc>
            </a:pPr>
            <a:r>
              <a:rPr lang="en-US" altLang="zh-CN" sz="2000" dirty="0"/>
              <a:t>    </a:t>
            </a:r>
            <a:r>
              <a:rPr lang="en-US" altLang="zh-CN" sz="2000" dirty="0" err="1"/>
              <a:t>int</a:t>
            </a:r>
            <a:r>
              <a:rPr lang="en-US" altLang="zh-CN" sz="2000" dirty="0"/>
              <a:t> clock, </a:t>
            </a:r>
            <a:r>
              <a:rPr lang="en-US" altLang="zh-CN" sz="2000" dirty="0" err="1"/>
              <a:t>simulationtime</a:t>
            </a:r>
            <a:r>
              <a:rPr lang="en-US" altLang="zh-CN" sz="2000" dirty="0"/>
              <a:t>;</a:t>
            </a:r>
          </a:p>
          <a:p>
            <a:pPr>
              <a:lnSpc>
                <a:spcPts val="1900"/>
              </a:lnSpc>
            </a:pPr>
            <a:r>
              <a:rPr lang="en-US" altLang="zh-CN" sz="2000" dirty="0"/>
              <a:t>    </a:t>
            </a:r>
            <a:r>
              <a:rPr lang="en-US" altLang="zh-CN" sz="2000" dirty="0" err="1"/>
              <a:t>scanf</a:t>
            </a:r>
            <a:r>
              <a:rPr lang="en-US" altLang="zh-CN" sz="2000" dirty="0"/>
              <a:t>(“%</a:t>
            </a:r>
            <a:r>
              <a:rPr lang="en-US" altLang="zh-CN" sz="2000" dirty="0" err="1"/>
              <a:t>d”,&amp;simulationtime</a:t>
            </a:r>
            <a:r>
              <a:rPr lang="en-US" altLang="zh-CN" sz="2000" dirty="0"/>
              <a:t>);</a:t>
            </a:r>
          </a:p>
          <a:p>
            <a:pPr>
              <a:lnSpc>
                <a:spcPts val="1900"/>
              </a:lnSpc>
            </a:pPr>
            <a:r>
              <a:rPr lang="en-US" altLang="zh-CN" sz="2000" dirty="0"/>
              <a:t>    for(clock=1; ; clock++) {</a:t>
            </a:r>
          </a:p>
          <a:p>
            <a:pPr>
              <a:lnSpc>
                <a:spcPts val="1900"/>
              </a:lnSpc>
            </a:pPr>
            <a:r>
              <a:rPr lang="en-US" altLang="zh-CN" sz="2000" dirty="0"/>
              <a:t>        </a:t>
            </a:r>
            <a:r>
              <a:rPr lang="en-US" altLang="zh-CN" sz="2000" dirty="0" err="1"/>
              <a:t>updateCustqueue</a:t>
            </a:r>
            <a:r>
              <a:rPr lang="en-US" altLang="zh-CN" sz="2000" dirty="0"/>
              <a:t>();</a:t>
            </a:r>
          </a:p>
          <a:p>
            <a:pPr>
              <a:lnSpc>
                <a:spcPts val="1900"/>
              </a:lnSpc>
            </a:pPr>
            <a:r>
              <a:rPr lang="en-US" altLang="zh-CN" sz="2000" dirty="0"/>
              <a:t>        if(clock &lt;= </a:t>
            </a:r>
            <a:r>
              <a:rPr lang="en-US" altLang="zh-CN" sz="2000" dirty="0" err="1"/>
              <a:t>simulationtime</a:t>
            </a:r>
            <a:r>
              <a:rPr lang="en-US" altLang="zh-CN" sz="2000" dirty="0"/>
              <a:t> )</a:t>
            </a:r>
          </a:p>
          <a:p>
            <a:pPr>
              <a:lnSpc>
                <a:spcPts val="1900"/>
              </a:lnSpc>
            </a:pPr>
            <a:r>
              <a:rPr lang="en-US" altLang="zh-CN" sz="2000" dirty="0"/>
              <a:t>            </a:t>
            </a:r>
            <a:r>
              <a:rPr lang="en-US" altLang="zh-CN" sz="2000" dirty="0" err="1"/>
              <a:t>arriveCust</a:t>
            </a:r>
            <a:r>
              <a:rPr lang="en-US" altLang="zh-CN" sz="2000" dirty="0"/>
              <a:t>();  </a:t>
            </a:r>
          </a:p>
          <a:p>
            <a:pPr>
              <a:lnSpc>
                <a:spcPts val="1900"/>
              </a:lnSpc>
            </a:pPr>
            <a:r>
              <a:rPr lang="en-US" altLang="zh-CN" sz="2000" dirty="0"/>
              <a:t>        if(service()==0 &amp;&amp; clock &gt; </a:t>
            </a:r>
            <a:r>
              <a:rPr lang="en-US" altLang="zh-CN" sz="2000" dirty="0" err="1"/>
              <a:t>simulationtime</a:t>
            </a:r>
            <a:r>
              <a:rPr lang="en-US" altLang="zh-CN" sz="2000" dirty="0"/>
              <a:t>)</a:t>
            </a:r>
          </a:p>
          <a:p>
            <a:pPr>
              <a:lnSpc>
                <a:spcPts val="1900"/>
              </a:lnSpc>
            </a:pPr>
            <a:r>
              <a:rPr lang="en-US" altLang="zh-CN" sz="2000" dirty="0"/>
              <a:t>            break</a:t>
            </a:r>
            <a:r>
              <a:rPr lang="en-US" altLang="zh-CN" dirty="0"/>
              <a:t>;  //</a:t>
            </a:r>
            <a:r>
              <a:rPr lang="zh-CN" altLang="en-US" dirty="0"/>
              <a:t>等待队列为空且不会有新客户</a:t>
            </a:r>
            <a:endParaRPr lang="en-US" altLang="zh-CN" sz="2000" dirty="0"/>
          </a:p>
          <a:p>
            <a:pPr>
              <a:lnSpc>
                <a:spcPts val="1900"/>
              </a:lnSpc>
            </a:pPr>
            <a:r>
              <a:rPr lang="en-US" altLang="zh-CN" sz="2000" dirty="0"/>
              <a:t>    }</a:t>
            </a:r>
          </a:p>
          <a:p>
            <a:pPr>
              <a:lnSpc>
                <a:spcPts val="1900"/>
              </a:lnSpc>
            </a:pPr>
            <a:r>
              <a:rPr lang="en-US" altLang="zh-CN" sz="2000" dirty="0"/>
              <a:t>    return 0;</a:t>
            </a:r>
          </a:p>
          <a:p>
            <a:pPr>
              <a:lnSpc>
                <a:spcPts val="1900"/>
              </a:lnSpc>
            </a:pPr>
            <a:r>
              <a:rPr lang="en-US" altLang="zh-CN" sz="2000" dirty="0"/>
              <a:t>}</a:t>
            </a:r>
            <a:endParaRPr lang="zh-CN" altLang="en-US" sz="20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839416" y="188640"/>
            <a:ext cx="8189913" cy="610715"/>
          </a:xfrm>
        </p:spPr>
        <p:txBody>
          <a:bodyPr>
            <a:normAutofit fontScale="90000"/>
          </a:bodyPr>
          <a:lstStyle/>
          <a:p>
            <a:r>
              <a:rPr lang="zh-CN" altLang="en-US" dirty="0"/>
              <a:t>问题</a:t>
            </a:r>
            <a:r>
              <a:rPr lang="en-US" altLang="zh-CN" dirty="0"/>
              <a:t>3.2 </a:t>
            </a:r>
            <a:r>
              <a:rPr lang="zh-CN" altLang="en-US" dirty="0"/>
              <a:t>：代码实现</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78</a:t>
            </a:fld>
            <a:endParaRPr lang="zh-CN" altLang="en-US" dirty="0"/>
          </a:p>
        </p:txBody>
      </p:sp>
      <p:sp>
        <p:nvSpPr>
          <p:cNvPr id="7" name="TextBox 6"/>
          <p:cNvSpPr txBox="1"/>
          <p:nvPr/>
        </p:nvSpPr>
        <p:spPr>
          <a:xfrm>
            <a:off x="5447928" y="0"/>
            <a:ext cx="6696744" cy="6804991"/>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nSpc>
                <a:spcPts val="1800"/>
              </a:lnSpc>
            </a:pPr>
            <a:r>
              <a:rPr lang="en-US" altLang="zh-CN" sz="1600" dirty="0"/>
              <a:t>//</a:t>
            </a:r>
            <a:r>
              <a:rPr lang="en-US" altLang="zh-CN" sz="1600" dirty="0" err="1"/>
              <a:t>main.c</a:t>
            </a:r>
            <a:endParaRPr lang="en-US" altLang="zh-CN" sz="1600" dirty="0"/>
          </a:p>
          <a:p>
            <a:pPr>
              <a:lnSpc>
                <a:spcPts val="1800"/>
              </a:lnSpc>
            </a:pPr>
            <a:r>
              <a:rPr lang="en-US" altLang="zh-CN" sz="1600" dirty="0"/>
              <a:t>void </a:t>
            </a:r>
            <a:r>
              <a:rPr lang="en-US" altLang="zh-CN" sz="1600" dirty="0" err="1"/>
              <a:t>arriveCust</a:t>
            </a:r>
            <a:r>
              <a:rPr lang="en-US" altLang="zh-CN" sz="1600" dirty="0"/>
              <a:t>()</a:t>
            </a:r>
          </a:p>
          <a:p>
            <a:pPr>
              <a:lnSpc>
                <a:spcPts val="1800"/>
              </a:lnSpc>
            </a:pPr>
            <a:r>
              <a:rPr lang="en-US" altLang="zh-CN" sz="1600" dirty="0"/>
              <a:t>{</a:t>
            </a:r>
          </a:p>
          <a:p>
            <a:pPr>
              <a:lnSpc>
                <a:spcPts val="1800"/>
              </a:lnSpc>
            </a:pPr>
            <a:r>
              <a:rPr lang="en-US" altLang="zh-CN" sz="1600" dirty="0"/>
              <a:t>    </a:t>
            </a:r>
            <a:r>
              <a:rPr lang="en-US" altLang="zh-CN" sz="1600" dirty="0" err="1"/>
              <a:t>int</a:t>
            </a:r>
            <a:r>
              <a:rPr lang="en-US" altLang="zh-CN" sz="1600" dirty="0"/>
              <a:t> </a:t>
            </a:r>
            <a:r>
              <a:rPr lang="en-US" altLang="zh-CN" sz="1600" dirty="0" err="1"/>
              <a:t>i,n</a:t>
            </a:r>
            <a:r>
              <a:rPr lang="en-US" altLang="zh-CN" sz="1600" dirty="0"/>
              <a:t>;</a:t>
            </a:r>
          </a:p>
          <a:p>
            <a:pPr>
              <a:lnSpc>
                <a:spcPts val="1800"/>
              </a:lnSpc>
            </a:pPr>
            <a:r>
              <a:rPr lang="en-US" altLang="zh-CN" b="1" dirty="0">
                <a:solidFill>
                  <a:srgbClr val="7030A0"/>
                </a:solidFill>
              </a:rPr>
              <a:t>    static </a:t>
            </a:r>
            <a:r>
              <a:rPr lang="en-US" altLang="zh-CN" sz="1600" dirty="0" err="1"/>
              <a:t>int</a:t>
            </a:r>
            <a:r>
              <a:rPr lang="en-US" altLang="zh-CN" sz="1600" dirty="0"/>
              <a:t> count=1;</a:t>
            </a:r>
          </a:p>
          <a:p>
            <a:pPr>
              <a:lnSpc>
                <a:spcPts val="1800"/>
              </a:lnSpc>
            </a:pPr>
            <a:r>
              <a:rPr lang="en-US" altLang="zh-CN" sz="1600" dirty="0"/>
              <a:t>    </a:t>
            </a:r>
            <a:r>
              <a:rPr lang="en-US" altLang="zh-CN" sz="1600" dirty="0" err="1"/>
              <a:t>CustType</a:t>
            </a:r>
            <a:r>
              <a:rPr lang="en-US" altLang="zh-CN" sz="1600" dirty="0"/>
              <a:t> c;</a:t>
            </a:r>
          </a:p>
          <a:p>
            <a:pPr>
              <a:lnSpc>
                <a:spcPts val="1800"/>
              </a:lnSpc>
            </a:pPr>
            <a:r>
              <a:rPr lang="en-US" altLang="zh-CN" sz="1600" dirty="0"/>
              <a:t>    </a:t>
            </a:r>
            <a:r>
              <a:rPr lang="en-US" altLang="zh-CN" sz="1600" dirty="0" err="1"/>
              <a:t>scanf</a:t>
            </a:r>
            <a:r>
              <a:rPr lang="en-US" altLang="zh-CN" sz="1600" dirty="0"/>
              <a:t>(“%d”, &amp;n);</a:t>
            </a:r>
          </a:p>
          <a:p>
            <a:pPr>
              <a:lnSpc>
                <a:spcPts val="1800"/>
              </a:lnSpc>
            </a:pPr>
            <a:r>
              <a:rPr lang="en-US" altLang="zh-CN" sz="1600" dirty="0"/>
              <a:t>    for(</a:t>
            </a:r>
            <a:r>
              <a:rPr lang="en-US" altLang="zh-CN" sz="1600" dirty="0" err="1"/>
              <a:t>i</a:t>
            </a:r>
            <a:r>
              <a:rPr lang="en-US" altLang="zh-CN" sz="1600" dirty="0"/>
              <a:t>=0; </a:t>
            </a:r>
            <a:r>
              <a:rPr lang="en-US" altLang="zh-CN" sz="1600" dirty="0" err="1"/>
              <a:t>i</a:t>
            </a:r>
            <a:r>
              <a:rPr lang="en-US" altLang="zh-CN" sz="1600" dirty="0"/>
              <a:t>&lt;n; </a:t>
            </a:r>
            <a:r>
              <a:rPr lang="en-US" altLang="zh-CN" sz="1600" dirty="0" err="1"/>
              <a:t>i</a:t>
            </a:r>
            <a:r>
              <a:rPr lang="en-US" altLang="zh-CN" sz="1600" dirty="0"/>
              <a:t>++){</a:t>
            </a:r>
          </a:p>
          <a:p>
            <a:pPr>
              <a:lnSpc>
                <a:spcPts val="1800"/>
              </a:lnSpc>
            </a:pPr>
            <a:r>
              <a:rPr lang="en-US" altLang="zh-CN" sz="1600" dirty="0"/>
              <a:t>        c.id = count++; </a:t>
            </a:r>
            <a:r>
              <a:rPr lang="en-US" altLang="zh-CN" sz="1600" dirty="0" err="1"/>
              <a:t>c.wtime</a:t>
            </a:r>
            <a:r>
              <a:rPr lang="en-US" altLang="zh-CN" sz="1600" dirty="0"/>
              <a:t> = 0;</a:t>
            </a:r>
          </a:p>
          <a:p>
            <a:pPr>
              <a:lnSpc>
                <a:spcPts val="1800"/>
              </a:lnSpc>
            </a:pPr>
            <a:r>
              <a:rPr lang="en-US" altLang="zh-CN" sz="1600" dirty="0"/>
              <a:t>        </a:t>
            </a:r>
            <a:r>
              <a:rPr lang="en-US" altLang="zh-CN" sz="1600" dirty="0" err="1"/>
              <a:t>enCustqueue</a:t>
            </a:r>
            <a:r>
              <a:rPr lang="en-US" altLang="zh-CN" sz="1600" dirty="0"/>
              <a:t>(c);</a:t>
            </a:r>
          </a:p>
          <a:p>
            <a:pPr>
              <a:lnSpc>
                <a:spcPts val="1800"/>
              </a:lnSpc>
            </a:pPr>
            <a:r>
              <a:rPr lang="en-US" altLang="zh-CN" sz="1600" dirty="0"/>
              <a:t>    }</a:t>
            </a:r>
          </a:p>
          <a:p>
            <a:pPr>
              <a:lnSpc>
                <a:spcPts val="1800"/>
              </a:lnSpc>
            </a:pPr>
            <a:r>
              <a:rPr lang="en-US" altLang="zh-CN" sz="1600" dirty="0"/>
              <a:t>    while((</a:t>
            </a:r>
            <a:r>
              <a:rPr lang="en-US" altLang="zh-CN" sz="1600" dirty="0" err="1"/>
              <a:t>getCustnum</a:t>
            </a:r>
            <a:r>
              <a:rPr lang="en-US" altLang="zh-CN" sz="1600" dirty="0"/>
              <a:t>() / </a:t>
            </a:r>
            <a:r>
              <a:rPr lang="en-US" altLang="zh-CN" sz="1600" dirty="0" err="1"/>
              <a:t>Winnum</a:t>
            </a:r>
            <a:r>
              <a:rPr lang="en-US" altLang="zh-CN" sz="1600" dirty="0"/>
              <a:t>) &gt;= THRESHOLD &amp;&amp;   </a:t>
            </a:r>
          </a:p>
          <a:p>
            <a:pPr>
              <a:lnSpc>
                <a:spcPts val="1800"/>
              </a:lnSpc>
            </a:pPr>
            <a:r>
              <a:rPr lang="en-US" altLang="zh-CN" sz="1600" dirty="0"/>
              <a:t>         </a:t>
            </a:r>
            <a:r>
              <a:rPr lang="en-US" altLang="zh-CN" sz="1600" dirty="0" err="1"/>
              <a:t>Winnum</a:t>
            </a:r>
            <a:r>
              <a:rPr lang="en-US" altLang="zh-CN" sz="1600" dirty="0"/>
              <a:t>&lt;MAXSVR)  //</a:t>
            </a:r>
            <a:r>
              <a:rPr lang="zh-CN" altLang="en-US" sz="1600" dirty="0"/>
              <a:t>增加服务窗口</a:t>
            </a:r>
            <a:endParaRPr lang="en-US" altLang="zh-CN" sz="1600" dirty="0"/>
          </a:p>
          <a:p>
            <a:pPr>
              <a:lnSpc>
                <a:spcPts val="1800"/>
              </a:lnSpc>
            </a:pPr>
            <a:r>
              <a:rPr lang="en-US" altLang="zh-CN" sz="1600" dirty="0"/>
              <a:t>        </a:t>
            </a:r>
            <a:r>
              <a:rPr lang="en-US" altLang="zh-CN" sz="1600" dirty="0" err="1"/>
              <a:t>Winnum</a:t>
            </a:r>
            <a:r>
              <a:rPr lang="en-US" altLang="zh-CN" sz="1600" dirty="0"/>
              <a:t>++;</a:t>
            </a:r>
          </a:p>
          <a:p>
            <a:pPr>
              <a:lnSpc>
                <a:spcPts val="1800"/>
              </a:lnSpc>
            </a:pPr>
            <a:r>
              <a:rPr lang="en-US" altLang="zh-CN" sz="1600" dirty="0"/>
              <a:t>}</a:t>
            </a:r>
          </a:p>
          <a:p>
            <a:pPr>
              <a:lnSpc>
                <a:spcPts val="1800"/>
              </a:lnSpc>
            </a:pPr>
            <a:r>
              <a:rPr lang="en-US" altLang="zh-CN" sz="1600" dirty="0" err="1"/>
              <a:t>int</a:t>
            </a:r>
            <a:r>
              <a:rPr lang="en-US" altLang="zh-CN" sz="1600" dirty="0"/>
              <a:t> service()</a:t>
            </a:r>
          </a:p>
          <a:p>
            <a:pPr>
              <a:lnSpc>
                <a:spcPts val="1800"/>
              </a:lnSpc>
            </a:pPr>
            <a:r>
              <a:rPr lang="en-US" altLang="zh-CN" sz="1600" dirty="0"/>
              <a:t>{</a:t>
            </a:r>
          </a:p>
          <a:p>
            <a:pPr>
              <a:lnSpc>
                <a:spcPts val="1800"/>
              </a:lnSpc>
            </a:pPr>
            <a:r>
              <a:rPr lang="en-US" altLang="zh-CN" sz="1600" dirty="0"/>
              <a:t>    </a:t>
            </a:r>
            <a:r>
              <a:rPr lang="en-US" altLang="zh-CN" sz="1600" dirty="0" err="1"/>
              <a:t>int</a:t>
            </a:r>
            <a:r>
              <a:rPr lang="en-US" altLang="zh-CN" sz="1600" dirty="0"/>
              <a:t> </a:t>
            </a:r>
            <a:r>
              <a:rPr lang="en-US" altLang="zh-CN" sz="1600" dirty="0" err="1"/>
              <a:t>i</a:t>
            </a:r>
            <a:r>
              <a:rPr lang="en-US" altLang="zh-CN" sz="1600" dirty="0"/>
              <a:t>;</a:t>
            </a:r>
          </a:p>
          <a:p>
            <a:pPr>
              <a:lnSpc>
                <a:spcPts val="1800"/>
              </a:lnSpc>
            </a:pPr>
            <a:r>
              <a:rPr lang="en-US" altLang="zh-CN" sz="1600" dirty="0"/>
              <a:t>    </a:t>
            </a:r>
            <a:r>
              <a:rPr lang="en-US" altLang="zh-CN" sz="1600" dirty="0" err="1"/>
              <a:t>CustType</a:t>
            </a:r>
            <a:r>
              <a:rPr lang="en-US" altLang="zh-CN" sz="1600" dirty="0"/>
              <a:t> c;</a:t>
            </a:r>
          </a:p>
          <a:p>
            <a:pPr>
              <a:lnSpc>
                <a:spcPts val="1800"/>
              </a:lnSpc>
            </a:pPr>
            <a:r>
              <a:rPr lang="en-US" altLang="zh-CN" sz="1600" dirty="0"/>
              <a:t>    for(</a:t>
            </a:r>
            <a:r>
              <a:rPr lang="en-US" altLang="zh-CN" sz="1600" dirty="0" err="1"/>
              <a:t>i</a:t>
            </a:r>
            <a:r>
              <a:rPr lang="en-US" altLang="zh-CN" sz="1600" dirty="0"/>
              <a:t>=0; </a:t>
            </a:r>
            <a:r>
              <a:rPr lang="en-US" altLang="zh-CN" sz="1600" dirty="0" err="1"/>
              <a:t>i</a:t>
            </a:r>
            <a:r>
              <a:rPr lang="en-US" altLang="zh-CN" sz="1600" dirty="0"/>
              <a:t>&lt;</a:t>
            </a:r>
            <a:r>
              <a:rPr lang="en-US" altLang="zh-CN" sz="1600" dirty="0" err="1"/>
              <a:t>Winnum</a:t>
            </a:r>
            <a:r>
              <a:rPr lang="en-US" altLang="zh-CN" sz="1600" dirty="0"/>
              <a:t>; </a:t>
            </a:r>
            <a:r>
              <a:rPr lang="en-US" altLang="zh-CN" sz="1600" dirty="0" err="1"/>
              <a:t>i</a:t>
            </a:r>
            <a:r>
              <a:rPr lang="en-US" altLang="zh-CN" sz="1600" dirty="0"/>
              <a:t>++)</a:t>
            </a:r>
          </a:p>
          <a:p>
            <a:pPr>
              <a:lnSpc>
                <a:spcPts val="1800"/>
              </a:lnSpc>
            </a:pPr>
            <a:r>
              <a:rPr lang="en-US" altLang="zh-CN" sz="1600" dirty="0"/>
              <a:t>        if(</a:t>
            </a:r>
            <a:r>
              <a:rPr lang="en-US" altLang="zh-CN" sz="1600" dirty="0" err="1"/>
              <a:t>isEmpty</a:t>
            </a:r>
            <a:r>
              <a:rPr lang="en-US" altLang="zh-CN" sz="1600" dirty="0"/>
              <a:t>() ) return 0;</a:t>
            </a:r>
          </a:p>
          <a:p>
            <a:pPr>
              <a:lnSpc>
                <a:spcPts val="1800"/>
              </a:lnSpc>
            </a:pPr>
            <a:r>
              <a:rPr lang="en-US" altLang="zh-CN" sz="1600" dirty="0"/>
              <a:t>       else {</a:t>
            </a:r>
          </a:p>
          <a:p>
            <a:pPr>
              <a:lnSpc>
                <a:spcPts val="1800"/>
              </a:lnSpc>
            </a:pPr>
            <a:r>
              <a:rPr lang="en-US" altLang="zh-CN" sz="1600" dirty="0"/>
              <a:t>           c = </a:t>
            </a:r>
            <a:r>
              <a:rPr lang="en-US" altLang="zh-CN" sz="1600" dirty="0" err="1"/>
              <a:t>deCustqueue</a:t>
            </a:r>
            <a:r>
              <a:rPr lang="en-US" altLang="zh-CN" sz="1600" dirty="0"/>
              <a:t>();</a:t>
            </a:r>
          </a:p>
          <a:p>
            <a:pPr>
              <a:lnSpc>
                <a:spcPts val="1800"/>
              </a:lnSpc>
            </a:pPr>
            <a:r>
              <a:rPr lang="en-US" altLang="zh-CN" sz="1600" dirty="0"/>
              <a:t>           </a:t>
            </a:r>
            <a:r>
              <a:rPr lang="en-US" altLang="zh-CN" sz="1600" dirty="0" err="1"/>
              <a:t>printf</a:t>
            </a:r>
            <a:r>
              <a:rPr lang="en-US" altLang="zh-CN" sz="1600" dirty="0"/>
              <a:t>(“%d :%d\n”, c.id, </a:t>
            </a:r>
            <a:r>
              <a:rPr lang="en-US" altLang="zh-CN" sz="1600" dirty="0" err="1"/>
              <a:t>c.wtime</a:t>
            </a:r>
            <a:r>
              <a:rPr lang="en-US" altLang="zh-CN" sz="1600" dirty="0"/>
              <a:t>);</a:t>
            </a:r>
          </a:p>
          <a:p>
            <a:pPr>
              <a:lnSpc>
                <a:spcPts val="1800"/>
              </a:lnSpc>
            </a:pPr>
            <a:r>
              <a:rPr lang="en-US" altLang="zh-CN" sz="1600" dirty="0"/>
              <a:t>       }</a:t>
            </a:r>
          </a:p>
          <a:p>
            <a:pPr>
              <a:lnSpc>
                <a:spcPts val="1800"/>
              </a:lnSpc>
            </a:pPr>
            <a:r>
              <a:rPr lang="en-US" altLang="zh-CN" sz="1600" dirty="0"/>
              <a:t>     if((</a:t>
            </a:r>
            <a:r>
              <a:rPr lang="en-US" altLang="zh-CN" sz="1600" dirty="0" err="1"/>
              <a:t>getCustnum</a:t>
            </a:r>
            <a:r>
              <a:rPr lang="en-US" altLang="zh-CN" sz="1600" dirty="0"/>
              <a:t>() / </a:t>
            </a:r>
            <a:r>
              <a:rPr lang="en-US" altLang="zh-CN" sz="1600" dirty="0" err="1"/>
              <a:t>Winnum</a:t>
            </a:r>
            <a:r>
              <a:rPr lang="en-US" altLang="zh-CN" sz="1600" dirty="0"/>
              <a:t>) &lt; THRESHOLD &amp;&amp; </a:t>
            </a:r>
            <a:r>
              <a:rPr lang="en-US" altLang="zh-CN" sz="1600" dirty="0" err="1"/>
              <a:t>Winnum</a:t>
            </a:r>
            <a:r>
              <a:rPr lang="en-US" altLang="zh-CN" sz="1600" dirty="0"/>
              <a:t>&gt;MINSVR)</a:t>
            </a:r>
          </a:p>
          <a:p>
            <a:pPr>
              <a:lnSpc>
                <a:spcPts val="1800"/>
              </a:lnSpc>
            </a:pPr>
            <a:r>
              <a:rPr lang="en-US" altLang="zh-CN" sz="1600" dirty="0"/>
              <a:t>          </a:t>
            </a:r>
            <a:r>
              <a:rPr lang="en-US" altLang="zh-CN" sz="1600" dirty="0" err="1"/>
              <a:t>Winnum</a:t>
            </a:r>
            <a:r>
              <a:rPr lang="en-US" altLang="zh-CN" sz="1600" dirty="0"/>
              <a:t>--;</a:t>
            </a:r>
          </a:p>
          <a:p>
            <a:pPr>
              <a:lnSpc>
                <a:spcPts val="1800"/>
              </a:lnSpc>
            </a:pPr>
            <a:r>
              <a:rPr lang="en-US" altLang="zh-CN" sz="1600" dirty="0"/>
              <a:t>    return 1;</a:t>
            </a:r>
          </a:p>
          <a:p>
            <a:pPr>
              <a:lnSpc>
                <a:spcPts val="1800"/>
              </a:lnSpc>
            </a:pPr>
            <a:r>
              <a:rPr lang="en-US" altLang="zh-CN" sz="1600" dirty="0"/>
              <a:t>} </a:t>
            </a:r>
            <a:endParaRPr lang="zh-CN" altLang="en-US" sz="1600" dirty="0"/>
          </a:p>
        </p:txBody>
      </p:sp>
      <p:sp>
        <p:nvSpPr>
          <p:cNvPr id="6" name="对话气泡: 圆角矩形 5">
            <a:extLst>
              <a:ext uri="{FF2B5EF4-FFF2-40B4-BE49-F238E27FC236}">
                <a16:creationId xmlns:a16="http://schemas.microsoft.com/office/drawing/2014/main" id="{600056E1-2C55-48E4-81CF-F3E3DCEDDB22}"/>
              </a:ext>
            </a:extLst>
          </p:cNvPr>
          <p:cNvSpPr/>
          <p:nvPr/>
        </p:nvSpPr>
        <p:spPr bwMode="auto">
          <a:xfrm>
            <a:off x="2351584" y="1124744"/>
            <a:ext cx="2088232" cy="2227778"/>
          </a:xfrm>
          <a:prstGeom prst="wedgeRoundRectCallout">
            <a:avLst>
              <a:gd name="adj1" fmla="val 92982"/>
              <a:gd name="adj2" fmla="val -52036"/>
              <a:gd name="adj3" fmla="val 16667"/>
            </a:avLst>
          </a:prstGeom>
          <a:no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eaLnBrk="0" fontAlgn="base" hangingPunct="0">
              <a:spcBef>
                <a:spcPct val="0"/>
              </a:spcBef>
              <a:spcAft>
                <a:spcPct val="0"/>
              </a:spcAft>
            </a:pPr>
            <a:r>
              <a:rPr lang="zh-CN" altLang="en-US" b="1" dirty="0">
                <a:solidFill>
                  <a:srgbClr val="7030A0"/>
                </a:solidFill>
                <a:latin typeface="Arial" charset="0"/>
                <a:ea typeface="宋体" charset="-122"/>
              </a:rPr>
              <a:t>内部静态变量</a:t>
            </a:r>
            <a:r>
              <a:rPr lang="zh-CN" altLang="en-US" b="1" dirty="0">
                <a:latin typeface="Arial" charset="0"/>
                <a:ea typeface="宋体" charset="-122"/>
              </a:rPr>
              <a:t>，</a:t>
            </a:r>
            <a:r>
              <a:rPr lang="zh-CN" altLang="en-US" dirty="0">
                <a:latin typeface="Arial" charset="0"/>
                <a:ea typeface="宋体" charset="-122"/>
              </a:rPr>
              <a:t>作用域为当前函数，生存周期同全局变量。它只初始化</a:t>
            </a:r>
            <a:r>
              <a:rPr lang="zh-CN" altLang="en-US">
                <a:latin typeface="Arial" charset="0"/>
                <a:ea typeface="宋体" charset="-122"/>
              </a:rPr>
              <a:t>一次，每次函数调用时，上次的值仍在。</a:t>
            </a:r>
            <a:endParaRPr lang="zh-CN" altLang="en-US" b="1" dirty="0">
              <a:latin typeface="Arial" charset="0"/>
              <a:ea typeface="宋体"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45232" y="136601"/>
            <a:ext cx="10515600" cy="687611"/>
          </a:xfrm>
        </p:spPr>
        <p:txBody>
          <a:bodyPr>
            <a:normAutofit fontScale="90000"/>
          </a:bodyPr>
          <a:lstStyle/>
          <a:p>
            <a:r>
              <a:rPr lang="zh-CN" altLang="en-US" dirty="0"/>
              <a:t>问题</a:t>
            </a:r>
            <a:r>
              <a:rPr lang="en-US" altLang="zh-CN" dirty="0"/>
              <a:t>3.2 </a:t>
            </a:r>
            <a:r>
              <a:rPr lang="zh-CN" altLang="en-US" dirty="0"/>
              <a:t>：思考</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79</a:t>
            </a:fld>
            <a:endParaRPr lang="zh-CN" altLang="en-US" dirty="0"/>
          </a:p>
        </p:txBody>
      </p:sp>
      <p:grpSp>
        <p:nvGrpSpPr>
          <p:cNvPr id="4" name="Group 49"/>
          <p:cNvGrpSpPr>
            <a:grpSpLocks/>
          </p:cNvGrpSpPr>
          <p:nvPr/>
        </p:nvGrpSpPr>
        <p:grpSpPr bwMode="auto">
          <a:xfrm>
            <a:off x="7608168" y="260649"/>
            <a:ext cx="2851150" cy="1033463"/>
            <a:chOff x="404" y="73"/>
            <a:chExt cx="1161" cy="651"/>
          </a:xfrm>
        </p:grpSpPr>
        <p:sp>
          <p:nvSpPr>
            <p:cNvPr id="5" name="AutoShape 50"/>
            <p:cNvSpPr>
              <a:spLocks noChangeArrowheads="1"/>
            </p:cNvSpPr>
            <p:nvPr/>
          </p:nvSpPr>
          <p:spPr bwMode="auto">
            <a:xfrm>
              <a:off x="404" y="132"/>
              <a:ext cx="922" cy="592"/>
            </a:xfrm>
            <a:prstGeom prst="irregularSeal2">
              <a:avLst/>
            </a:prstGeom>
            <a:solidFill>
              <a:srgbClr val="CCFFFF"/>
            </a:solidFill>
            <a:ln w="69850" cap="sq">
              <a:solidFill>
                <a:srgbClr val="FFCC00"/>
              </a:solidFill>
              <a:miter lim="800000"/>
              <a:headEnd/>
              <a:tailEnd/>
            </a:ln>
            <a:effectLst>
              <a:outerShdw dist="137372" dir="2021404" algn="ctr" rotWithShape="0">
                <a:srgbClr val="B9B9B9"/>
              </a:outerShdw>
            </a:effectLst>
          </p:spPr>
          <p:txBody>
            <a:bodyPr wrap="none" anchor="ctr"/>
            <a:lstStyle/>
            <a:p>
              <a:endParaRPr lang="zh-CN" altLang="en-US"/>
            </a:p>
          </p:txBody>
        </p:sp>
        <p:sp>
          <p:nvSpPr>
            <p:cNvPr id="6" name="Rectangle 51"/>
            <p:cNvSpPr>
              <a:spLocks noChangeArrowheads="1"/>
            </p:cNvSpPr>
            <p:nvPr/>
          </p:nvSpPr>
          <p:spPr bwMode="auto">
            <a:xfrm rot="-63299">
              <a:off x="509" y="73"/>
              <a:ext cx="1056" cy="634"/>
            </a:xfrm>
            <a:prstGeom prst="rect">
              <a:avLst/>
            </a:prstGeom>
            <a:noFill/>
            <a:ln w="9525">
              <a:noFill/>
              <a:miter lim="800000"/>
              <a:headEnd/>
              <a:tailEnd/>
            </a:ln>
            <a:effectLst>
              <a:outerShdw dist="35921" dir="2700000" algn="ctr" rotWithShape="0">
                <a:schemeClr val="bg1"/>
              </a:outerShdw>
            </a:effectLst>
          </p:spPr>
          <p:txBody>
            <a:bodyPr>
              <a:spAutoFit/>
            </a:bodyPr>
            <a:lstStyle/>
            <a:p>
              <a:r>
                <a:rPr kumimoji="1" lang="zh-CN" altLang="en-US" sz="6000" dirty="0">
                  <a:solidFill>
                    <a:srgbClr val="FF3300"/>
                  </a:solidFill>
                  <a:latin typeface="方正舒体" pitchFamily="2" charset="-122"/>
                  <a:ea typeface="华文新魏" pitchFamily="2" charset="-122"/>
                </a:rPr>
                <a:t>思考</a:t>
              </a:r>
              <a:endParaRPr kumimoji="1" lang="zh-CN" altLang="en-US" sz="6000" dirty="0">
                <a:solidFill>
                  <a:srgbClr val="FF3300"/>
                </a:solidFill>
                <a:latin typeface="黑体" pitchFamily="2" charset="-122"/>
                <a:ea typeface="华文新魏" pitchFamily="2" charset="-122"/>
              </a:endParaRPr>
            </a:p>
          </p:txBody>
        </p:sp>
      </p:grpSp>
      <p:grpSp>
        <p:nvGrpSpPr>
          <p:cNvPr id="7" name="Group 38"/>
          <p:cNvGrpSpPr>
            <a:grpSpLocks/>
          </p:cNvGrpSpPr>
          <p:nvPr/>
        </p:nvGrpSpPr>
        <p:grpSpPr bwMode="auto">
          <a:xfrm>
            <a:off x="2351584" y="1340769"/>
            <a:ext cx="7200800" cy="4092537"/>
            <a:chOff x="289" y="1200"/>
            <a:chExt cx="5136" cy="2352"/>
          </a:xfrm>
        </p:grpSpPr>
        <p:sp>
          <p:nvSpPr>
            <p:cNvPr id="8" name="Freeform 9"/>
            <p:cNvSpPr>
              <a:spLocks/>
            </p:cNvSpPr>
            <p:nvPr/>
          </p:nvSpPr>
          <p:spPr bwMode="auto">
            <a:xfrm>
              <a:off x="289" y="1200"/>
              <a:ext cx="5136" cy="2352"/>
            </a:xfrm>
            <a:custGeom>
              <a:avLst/>
              <a:gdLst>
                <a:gd name="T0" fmla="*/ 517 w 4969"/>
                <a:gd name="T1" fmla="*/ 63 h 2578"/>
                <a:gd name="T2" fmla="*/ 1684 w 4969"/>
                <a:gd name="T3" fmla="*/ 68 h 2578"/>
                <a:gd name="T4" fmla="*/ 2638 w 4969"/>
                <a:gd name="T5" fmla="*/ 39 h 2578"/>
                <a:gd name="T6" fmla="*/ 3377 w 4969"/>
                <a:gd name="T7" fmla="*/ 63 h 2578"/>
                <a:gd name="T8" fmla="*/ 4047 w 4969"/>
                <a:gd name="T9" fmla="*/ 99 h 2578"/>
                <a:gd name="T10" fmla="*/ 5455 w 4969"/>
                <a:gd name="T11" fmla="*/ 93 h 2578"/>
                <a:gd name="T12" fmla="*/ 6011 w 4969"/>
                <a:gd name="T13" fmla="*/ 63 h 2578"/>
                <a:gd name="T14" fmla="*/ 6211 w 4969"/>
                <a:gd name="T15" fmla="*/ 111 h 2578"/>
                <a:gd name="T16" fmla="*/ 6181 w 4969"/>
                <a:gd name="T17" fmla="*/ 129 h 2578"/>
                <a:gd name="T18" fmla="*/ 6154 w 4969"/>
                <a:gd name="T19" fmla="*/ 349 h 2578"/>
                <a:gd name="T20" fmla="*/ 6124 w 4969"/>
                <a:gd name="T21" fmla="*/ 539 h 2578"/>
                <a:gd name="T22" fmla="*/ 6099 w 4969"/>
                <a:gd name="T23" fmla="*/ 884 h 2578"/>
                <a:gd name="T24" fmla="*/ 6111 w 4969"/>
                <a:gd name="T25" fmla="*/ 826 h 2578"/>
                <a:gd name="T26" fmla="*/ 6124 w 4969"/>
                <a:gd name="T27" fmla="*/ 794 h 2578"/>
                <a:gd name="T28" fmla="*/ 6140 w 4969"/>
                <a:gd name="T29" fmla="*/ 826 h 2578"/>
                <a:gd name="T30" fmla="*/ 6169 w 4969"/>
                <a:gd name="T31" fmla="*/ 842 h 2578"/>
                <a:gd name="T32" fmla="*/ 6140 w 4969"/>
                <a:gd name="T33" fmla="*/ 1336 h 2578"/>
                <a:gd name="T34" fmla="*/ 4789 w 4969"/>
                <a:gd name="T35" fmla="*/ 1329 h 2578"/>
                <a:gd name="T36" fmla="*/ 4871 w 4969"/>
                <a:gd name="T37" fmla="*/ 1324 h 2578"/>
                <a:gd name="T38" fmla="*/ 3535 w 4969"/>
                <a:gd name="T39" fmla="*/ 1316 h 2578"/>
                <a:gd name="T40" fmla="*/ 2083 w 4969"/>
                <a:gd name="T41" fmla="*/ 1299 h 2578"/>
                <a:gd name="T42" fmla="*/ 1242 w 4969"/>
                <a:gd name="T43" fmla="*/ 1299 h 2578"/>
                <a:gd name="T44" fmla="*/ 161 w 4969"/>
                <a:gd name="T45" fmla="*/ 1353 h 2578"/>
                <a:gd name="T46" fmla="*/ 90 w 4969"/>
                <a:gd name="T47" fmla="*/ 663 h 2578"/>
                <a:gd name="T48" fmla="*/ 133 w 4969"/>
                <a:gd name="T49" fmla="*/ 82 h 2578"/>
                <a:gd name="T50" fmla="*/ 190 w 4969"/>
                <a:gd name="T51" fmla="*/ 88 h 2578"/>
                <a:gd name="T52" fmla="*/ 275 w 4969"/>
                <a:gd name="T53" fmla="*/ 99 h 2578"/>
                <a:gd name="T54" fmla="*/ 389 w 4969"/>
                <a:gd name="T55" fmla="*/ 52 h 2578"/>
                <a:gd name="T56" fmla="*/ 517 w 4969"/>
                <a:gd name="T57" fmla="*/ 63 h 2578"/>
                <a:gd name="T58" fmla="*/ 517 w 4969"/>
                <a:gd name="T59" fmla="*/ 63 h 257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969" h="2578">
                  <a:moveTo>
                    <a:pt x="410" y="121"/>
                  </a:moveTo>
                  <a:cubicBezTo>
                    <a:pt x="749" y="132"/>
                    <a:pt x="984" y="140"/>
                    <a:pt x="1336" y="132"/>
                  </a:cubicBezTo>
                  <a:cubicBezTo>
                    <a:pt x="1588" y="105"/>
                    <a:pt x="1841" y="98"/>
                    <a:pt x="2093" y="76"/>
                  </a:cubicBezTo>
                  <a:cubicBezTo>
                    <a:pt x="1871" y="226"/>
                    <a:pt x="2499" y="91"/>
                    <a:pt x="2680" y="121"/>
                  </a:cubicBezTo>
                  <a:cubicBezTo>
                    <a:pt x="3241" y="111"/>
                    <a:pt x="3496" y="0"/>
                    <a:pt x="3211" y="189"/>
                  </a:cubicBezTo>
                  <a:cubicBezTo>
                    <a:pt x="2900" y="395"/>
                    <a:pt x="3956" y="182"/>
                    <a:pt x="4329" y="178"/>
                  </a:cubicBezTo>
                  <a:cubicBezTo>
                    <a:pt x="4474" y="140"/>
                    <a:pt x="4621" y="130"/>
                    <a:pt x="4770" y="121"/>
                  </a:cubicBezTo>
                  <a:cubicBezTo>
                    <a:pt x="4910" y="140"/>
                    <a:pt x="4969" y="91"/>
                    <a:pt x="4928" y="212"/>
                  </a:cubicBezTo>
                  <a:cubicBezTo>
                    <a:pt x="4924" y="225"/>
                    <a:pt x="4913" y="234"/>
                    <a:pt x="4905" y="245"/>
                  </a:cubicBezTo>
                  <a:cubicBezTo>
                    <a:pt x="4854" y="402"/>
                    <a:pt x="4898" y="255"/>
                    <a:pt x="4883" y="663"/>
                  </a:cubicBezTo>
                  <a:cubicBezTo>
                    <a:pt x="4875" y="867"/>
                    <a:pt x="4874" y="861"/>
                    <a:pt x="4860" y="1025"/>
                  </a:cubicBezTo>
                  <a:cubicBezTo>
                    <a:pt x="4855" y="1243"/>
                    <a:pt x="4838" y="1462"/>
                    <a:pt x="4838" y="1680"/>
                  </a:cubicBezTo>
                  <a:cubicBezTo>
                    <a:pt x="4838" y="1718"/>
                    <a:pt x="4844" y="1605"/>
                    <a:pt x="4849" y="1567"/>
                  </a:cubicBezTo>
                  <a:cubicBezTo>
                    <a:pt x="4851" y="1548"/>
                    <a:pt x="4856" y="1529"/>
                    <a:pt x="4860" y="1510"/>
                  </a:cubicBezTo>
                  <a:cubicBezTo>
                    <a:pt x="4864" y="1529"/>
                    <a:pt x="4864" y="1549"/>
                    <a:pt x="4871" y="1567"/>
                  </a:cubicBezTo>
                  <a:cubicBezTo>
                    <a:pt x="4876" y="1580"/>
                    <a:pt x="4894" y="1587"/>
                    <a:pt x="4894" y="1601"/>
                  </a:cubicBezTo>
                  <a:cubicBezTo>
                    <a:pt x="4894" y="1913"/>
                    <a:pt x="4879" y="2226"/>
                    <a:pt x="4871" y="2538"/>
                  </a:cubicBezTo>
                  <a:cubicBezTo>
                    <a:pt x="4514" y="2534"/>
                    <a:pt x="4156" y="2535"/>
                    <a:pt x="3799" y="2527"/>
                  </a:cubicBezTo>
                  <a:cubicBezTo>
                    <a:pt x="3776" y="2527"/>
                    <a:pt x="3889" y="2517"/>
                    <a:pt x="3866" y="2516"/>
                  </a:cubicBezTo>
                  <a:cubicBezTo>
                    <a:pt x="3512" y="2508"/>
                    <a:pt x="3159" y="2508"/>
                    <a:pt x="2805" y="2504"/>
                  </a:cubicBezTo>
                  <a:cubicBezTo>
                    <a:pt x="2734" y="2506"/>
                    <a:pt x="1040" y="2578"/>
                    <a:pt x="1653" y="2470"/>
                  </a:cubicBezTo>
                  <a:cubicBezTo>
                    <a:pt x="1450" y="2572"/>
                    <a:pt x="1204" y="2516"/>
                    <a:pt x="986" y="2470"/>
                  </a:cubicBezTo>
                  <a:cubicBezTo>
                    <a:pt x="872" y="2472"/>
                    <a:pt x="318" y="2382"/>
                    <a:pt x="128" y="2572"/>
                  </a:cubicBezTo>
                  <a:cubicBezTo>
                    <a:pt x="0" y="2261"/>
                    <a:pt x="85" y="1659"/>
                    <a:pt x="71" y="1262"/>
                  </a:cubicBezTo>
                  <a:cubicBezTo>
                    <a:pt x="81" y="466"/>
                    <a:pt x="28" y="556"/>
                    <a:pt x="105" y="155"/>
                  </a:cubicBezTo>
                  <a:cubicBezTo>
                    <a:pt x="120" y="159"/>
                    <a:pt x="138" y="157"/>
                    <a:pt x="151" y="166"/>
                  </a:cubicBezTo>
                  <a:cubicBezTo>
                    <a:pt x="211" y="206"/>
                    <a:pt x="126" y="211"/>
                    <a:pt x="218" y="189"/>
                  </a:cubicBezTo>
                  <a:cubicBezTo>
                    <a:pt x="244" y="150"/>
                    <a:pt x="269" y="125"/>
                    <a:pt x="309" y="99"/>
                  </a:cubicBezTo>
                  <a:cubicBezTo>
                    <a:pt x="348" y="107"/>
                    <a:pt x="373" y="111"/>
                    <a:pt x="410" y="121"/>
                  </a:cubicBezTo>
                  <a:cubicBezTo>
                    <a:pt x="410" y="121"/>
                    <a:pt x="501" y="150"/>
                    <a:pt x="410" y="121"/>
                  </a:cubicBezTo>
                  <a:close/>
                </a:path>
              </a:pathLst>
            </a:custGeom>
            <a:solidFill>
              <a:srgbClr val="C9E4FF"/>
            </a:solidFill>
            <a:ln w="31750" cap="sq" cmpd="sng">
              <a:noFill/>
              <a:prstDash val="solid"/>
              <a:round/>
              <a:headEnd/>
              <a:tailEnd/>
            </a:ln>
            <a:effectLst>
              <a:outerShdw dist="224686" dir="2837437" algn="ctr" rotWithShape="0">
                <a:srgbClr val="B9B9B9"/>
              </a:outerShdw>
            </a:effectLst>
          </p:spPr>
          <p:txBody>
            <a:bodyPr wrap="none" anchor="ctr"/>
            <a:lstStyle/>
            <a:p>
              <a:endParaRPr lang="zh-CN" altLang="en-US"/>
            </a:p>
          </p:txBody>
        </p:sp>
        <p:sp>
          <p:nvSpPr>
            <p:cNvPr id="9" name="Text Box 10"/>
            <p:cNvSpPr txBox="1">
              <a:spLocks noChangeArrowheads="1"/>
            </p:cNvSpPr>
            <p:nvPr/>
          </p:nvSpPr>
          <p:spPr bwMode="auto">
            <a:xfrm>
              <a:off x="392" y="1522"/>
              <a:ext cx="4804" cy="1822"/>
            </a:xfrm>
            <a:prstGeom prst="rect">
              <a:avLst/>
            </a:prstGeom>
            <a:noFill/>
            <a:ln w="9525">
              <a:noFill/>
              <a:miter lim="800000"/>
              <a:headEnd/>
              <a:tailEnd/>
            </a:ln>
          </p:spPr>
          <p:txBody>
            <a:bodyPr wrap="square">
              <a:spAutoFit/>
            </a:bodyPr>
            <a:lstStyle/>
            <a:p>
              <a:pPr algn="just" fontAlgn="base">
                <a:spcBef>
                  <a:spcPct val="0"/>
                </a:spcBef>
              </a:pPr>
              <a:r>
                <a:rPr lang="zh-CN" altLang="en-US" sz="2000" dirty="0">
                  <a:solidFill>
                    <a:srgbClr val="000080"/>
                  </a:solidFill>
                  <a:latin typeface="幼圆" pitchFamily="49" charset="-122"/>
                  <a:ea typeface="幼圆" pitchFamily="49" charset="-122"/>
                </a:rPr>
                <a:t>在本问题中，当前服务窗口平均排队等待服务的客户人员数小于某个阈值时，临时窗口将不再提供服务，一来该策略不是最优，二来也不符合实际情况。现增加如下规则：</a:t>
              </a:r>
              <a:endParaRPr lang="en-US" altLang="zh-CN" sz="2000" dirty="0">
                <a:solidFill>
                  <a:srgbClr val="000080"/>
                </a:solidFill>
                <a:latin typeface="幼圆" pitchFamily="49" charset="-122"/>
                <a:ea typeface="幼圆" pitchFamily="49" charset="-122"/>
              </a:endParaRPr>
            </a:p>
            <a:p>
              <a:pPr algn="just" fontAlgn="base">
                <a:spcBef>
                  <a:spcPct val="0"/>
                </a:spcBef>
                <a:buFont typeface="Wingdings" pitchFamily="2" charset="2"/>
                <a:buChar char="Ø"/>
              </a:pPr>
              <a:r>
                <a:rPr lang="en-US" altLang="zh-CN" sz="2000" dirty="0">
                  <a:solidFill>
                    <a:srgbClr val="000080"/>
                  </a:solidFill>
                  <a:latin typeface="幼圆" pitchFamily="49" charset="-122"/>
                  <a:ea typeface="幼圆" pitchFamily="49" charset="-122"/>
                </a:rPr>
                <a:t> </a:t>
              </a:r>
              <a:r>
                <a:rPr lang="zh-CN" altLang="en-US" sz="2000" dirty="0">
                  <a:solidFill>
                    <a:srgbClr val="000080"/>
                  </a:solidFill>
                  <a:latin typeface="幼圆" pitchFamily="49" charset="-122"/>
                  <a:ea typeface="幼圆" pitchFamily="49" charset="-122"/>
                </a:rPr>
                <a:t>外币和对公窗口应优先处理本业务，即当有对应业务（有客户等待时）时应优先处理，只有当本业务没有排队客户时，才能处理对私业务；</a:t>
              </a:r>
              <a:endParaRPr lang="en-US" altLang="zh-CN" sz="2000" dirty="0">
                <a:solidFill>
                  <a:srgbClr val="000080"/>
                </a:solidFill>
                <a:latin typeface="幼圆" pitchFamily="49" charset="-122"/>
                <a:ea typeface="幼圆" pitchFamily="49" charset="-122"/>
              </a:endParaRPr>
            </a:p>
            <a:p>
              <a:pPr algn="just" fontAlgn="base">
                <a:spcBef>
                  <a:spcPct val="0"/>
                </a:spcBef>
                <a:buFont typeface="Wingdings" pitchFamily="2" charset="2"/>
                <a:buChar char="Ø"/>
              </a:pPr>
              <a:r>
                <a:rPr lang="en-US" altLang="zh-CN" sz="2000" dirty="0">
                  <a:solidFill>
                    <a:srgbClr val="000080"/>
                  </a:solidFill>
                  <a:latin typeface="幼圆" pitchFamily="49" charset="-122"/>
                  <a:ea typeface="幼圆" pitchFamily="49" charset="-122"/>
                </a:rPr>
                <a:t> </a:t>
              </a:r>
              <a:r>
                <a:rPr lang="zh-CN" altLang="en-US" sz="2000" dirty="0">
                  <a:solidFill>
                    <a:srgbClr val="000080"/>
                  </a:solidFill>
                  <a:latin typeface="幼圆" pitchFamily="49" charset="-122"/>
                  <a:ea typeface="幼圆" pitchFamily="49" charset="-122"/>
                </a:rPr>
                <a:t>只有当外币和对公窗口没有等待客户同时对私窗口有等待客户排队时，将处理对私业务（资源利用最大化）。</a:t>
              </a:r>
              <a:endParaRPr lang="en-US" altLang="zh-CN" sz="2000" dirty="0">
                <a:solidFill>
                  <a:srgbClr val="000080"/>
                </a:solidFill>
                <a:latin typeface="幼圆" pitchFamily="49" charset="-122"/>
                <a:ea typeface="幼圆" pitchFamily="49" charset="-122"/>
              </a:endParaRPr>
            </a:p>
            <a:p>
              <a:pPr algn="just" fontAlgn="base">
                <a:spcBef>
                  <a:spcPct val="0"/>
                </a:spcBef>
                <a:buFont typeface="Wingdings" pitchFamily="2" charset="2"/>
                <a:buChar char="Ø"/>
              </a:pPr>
              <a:r>
                <a:rPr lang="zh-CN" altLang="en-US" sz="2000" dirty="0">
                  <a:solidFill>
                    <a:srgbClr val="000080"/>
                  </a:solidFill>
                  <a:latin typeface="幼圆" pitchFamily="49" charset="-122"/>
                  <a:ea typeface="幼圆" pitchFamily="49" charset="-122"/>
                </a:rPr>
                <a:t>现在个人业务处理时间都一样的（一个时间周期），这不符合实际情况。可将个人业务分为复杂、较复杂和简单。</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67969"/>
            <a:ext cx="10515600" cy="687611"/>
          </a:xfrm>
        </p:spPr>
        <p:txBody>
          <a:bodyPr/>
          <a:lstStyle/>
          <a:p>
            <a:r>
              <a:rPr lang="zh-CN" altLang="en-US" sz="3200" dirty="0">
                <a:solidFill>
                  <a:srgbClr val="FF0000"/>
                </a:solidFill>
                <a:latin typeface="黑体" pitchFamily="2" charset="-122"/>
                <a:ea typeface="黑体" pitchFamily="2" charset="-122"/>
              </a:rPr>
              <a:t>优先队列（</a:t>
            </a:r>
            <a:r>
              <a:rPr lang="en-US" altLang="zh-CN" sz="3200" dirty="0">
                <a:solidFill>
                  <a:srgbClr val="FF0000"/>
                </a:solidFill>
                <a:latin typeface="黑体" pitchFamily="2" charset="-122"/>
                <a:ea typeface="黑体" pitchFamily="2" charset="-122"/>
              </a:rPr>
              <a:t>Priority queue</a:t>
            </a:r>
            <a:r>
              <a:rPr lang="zh-CN" altLang="en-US" sz="3200" dirty="0">
                <a:solidFill>
                  <a:srgbClr val="FF0000"/>
                </a:solidFill>
                <a:latin typeface="黑体" pitchFamily="2" charset="-122"/>
                <a:ea typeface="黑体" pitchFamily="2" charset="-122"/>
              </a:rPr>
              <a:t>）</a:t>
            </a:r>
            <a:r>
              <a:rPr lang="en-US" altLang="zh-CN" sz="3200" dirty="0">
                <a:solidFill>
                  <a:srgbClr val="FF0000"/>
                </a:solidFill>
                <a:latin typeface="黑体" pitchFamily="2" charset="-122"/>
                <a:ea typeface="黑体" pitchFamily="2" charset="-122"/>
              </a:rPr>
              <a:t>*</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80</a:t>
            </a:fld>
            <a:endParaRPr lang="zh-CN" altLang="en-US" dirty="0"/>
          </a:p>
        </p:txBody>
      </p:sp>
      <p:grpSp>
        <p:nvGrpSpPr>
          <p:cNvPr id="4" name="Group 38"/>
          <p:cNvGrpSpPr>
            <a:grpSpLocks/>
          </p:cNvGrpSpPr>
          <p:nvPr/>
        </p:nvGrpSpPr>
        <p:grpSpPr bwMode="auto">
          <a:xfrm>
            <a:off x="1919537" y="1196753"/>
            <a:ext cx="8137353" cy="4739709"/>
            <a:chOff x="-19" y="993"/>
            <a:chExt cx="5804" cy="2235"/>
          </a:xfrm>
        </p:grpSpPr>
        <p:sp>
          <p:nvSpPr>
            <p:cNvPr id="5" name="Freeform 9"/>
            <p:cNvSpPr>
              <a:spLocks/>
            </p:cNvSpPr>
            <p:nvPr/>
          </p:nvSpPr>
          <p:spPr bwMode="auto">
            <a:xfrm>
              <a:off x="-19" y="993"/>
              <a:ext cx="5804" cy="2235"/>
            </a:xfrm>
            <a:custGeom>
              <a:avLst/>
              <a:gdLst>
                <a:gd name="T0" fmla="*/ 517 w 4969"/>
                <a:gd name="T1" fmla="*/ 63 h 2578"/>
                <a:gd name="T2" fmla="*/ 1684 w 4969"/>
                <a:gd name="T3" fmla="*/ 68 h 2578"/>
                <a:gd name="T4" fmla="*/ 2638 w 4969"/>
                <a:gd name="T5" fmla="*/ 39 h 2578"/>
                <a:gd name="T6" fmla="*/ 3377 w 4969"/>
                <a:gd name="T7" fmla="*/ 63 h 2578"/>
                <a:gd name="T8" fmla="*/ 4047 w 4969"/>
                <a:gd name="T9" fmla="*/ 99 h 2578"/>
                <a:gd name="T10" fmla="*/ 5455 w 4969"/>
                <a:gd name="T11" fmla="*/ 93 h 2578"/>
                <a:gd name="T12" fmla="*/ 6011 w 4969"/>
                <a:gd name="T13" fmla="*/ 63 h 2578"/>
                <a:gd name="T14" fmla="*/ 6211 w 4969"/>
                <a:gd name="T15" fmla="*/ 111 h 2578"/>
                <a:gd name="T16" fmla="*/ 6181 w 4969"/>
                <a:gd name="T17" fmla="*/ 129 h 2578"/>
                <a:gd name="T18" fmla="*/ 6154 w 4969"/>
                <a:gd name="T19" fmla="*/ 349 h 2578"/>
                <a:gd name="T20" fmla="*/ 6124 w 4969"/>
                <a:gd name="T21" fmla="*/ 539 h 2578"/>
                <a:gd name="T22" fmla="*/ 6099 w 4969"/>
                <a:gd name="T23" fmla="*/ 884 h 2578"/>
                <a:gd name="T24" fmla="*/ 6111 w 4969"/>
                <a:gd name="T25" fmla="*/ 826 h 2578"/>
                <a:gd name="T26" fmla="*/ 6124 w 4969"/>
                <a:gd name="T27" fmla="*/ 794 h 2578"/>
                <a:gd name="T28" fmla="*/ 6140 w 4969"/>
                <a:gd name="T29" fmla="*/ 826 h 2578"/>
                <a:gd name="T30" fmla="*/ 6169 w 4969"/>
                <a:gd name="T31" fmla="*/ 842 h 2578"/>
                <a:gd name="T32" fmla="*/ 6140 w 4969"/>
                <a:gd name="T33" fmla="*/ 1336 h 2578"/>
                <a:gd name="T34" fmla="*/ 4789 w 4969"/>
                <a:gd name="T35" fmla="*/ 1329 h 2578"/>
                <a:gd name="T36" fmla="*/ 4871 w 4969"/>
                <a:gd name="T37" fmla="*/ 1324 h 2578"/>
                <a:gd name="T38" fmla="*/ 3535 w 4969"/>
                <a:gd name="T39" fmla="*/ 1316 h 2578"/>
                <a:gd name="T40" fmla="*/ 2083 w 4969"/>
                <a:gd name="T41" fmla="*/ 1299 h 2578"/>
                <a:gd name="T42" fmla="*/ 1242 w 4969"/>
                <a:gd name="T43" fmla="*/ 1299 h 2578"/>
                <a:gd name="T44" fmla="*/ 161 w 4969"/>
                <a:gd name="T45" fmla="*/ 1353 h 2578"/>
                <a:gd name="T46" fmla="*/ 90 w 4969"/>
                <a:gd name="T47" fmla="*/ 663 h 2578"/>
                <a:gd name="T48" fmla="*/ 133 w 4969"/>
                <a:gd name="T49" fmla="*/ 82 h 2578"/>
                <a:gd name="T50" fmla="*/ 190 w 4969"/>
                <a:gd name="T51" fmla="*/ 88 h 2578"/>
                <a:gd name="T52" fmla="*/ 275 w 4969"/>
                <a:gd name="T53" fmla="*/ 99 h 2578"/>
                <a:gd name="T54" fmla="*/ 389 w 4969"/>
                <a:gd name="T55" fmla="*/ 52 h 2578"/>
                <a:gd name="T56" fmla="*/ 517 w 4969"/>
                <a:gd name="T57" fmla="*/ 63 h 2578"/>
                <a:gd name="T58" fmla="*/ 517 w 4969"/>
                <a:gd name="T59" fmla="*/ 63 h 257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969" h="2578">
                  <a:moveTo>
                    <a:pt x="410" y="121"/>
                  </a:moveTo>
                  <a:cubicBezTo>
                    <a:pt x="749" y="132"/>
                    <a:pt x="984" y="140"/>
                    <a:pt x="1336" y="132"/>
                  </a:cubicBezTo>
                  <a:cubicBezTo>
                    <a:pt x="1588" y="105"/>
                    <a:pt x="1841" y="98"/>
                    <a:pt x="2093" y="76"/>
                  </a:cubicBezTo>
                  <a:cubicBezTo>
                    <a:pt x="1871" y="226"/>
                    <a:pt x="2499" y="91"/>
                    <a:pt x="2680" y="121"/>
                  </a:cubicBezTo>
                  <a:cubicBezTo>
                    <a:pt x="3241" y="111"/>
                    <a:pt x="3496" y="0"/>
                    <a:pt x="3211" y="189"/>
                  </a:cubicBezTo>
                  <a:cubicBezTo>
                    <a:pt x="2900" y="395"/>
                    <a:pt x="3956" y="182"/>
                    <a:pt x="4329" y="178"/>
                  </a:cubicBezTo>
                  <a:cubicBezTo>
                    <a:pt x="4474" y="140"/>
                    <a:pt x="4621" y="130"/>
                    <a:pt x="4770" y="121"/>
                  </a:cubicBezTo>
                  <a:cubicBezTo>
                    <a:pt x="4910" y="140"/>
                    <a:pt x="4969" y="91"/>
                    <a:pt x="4928" y="212"/>
                  </a:cubicBezTo>
                  <a:cubicBezTo>
                    <a:pt x="4924" y="225"/>
                    <a:pt x="4913" y="234"/>
                    <a:pt x="4905" y="245"/>
                  </a:cubicBezTo>
                  <a:cubicBezTo>
                    <a:pt x="4854" y="402"/>
                    <a:pt x="4898" y="255"/>
                    <a:pt x="4883" y="663"/>
                  </a:cubicBezTo>
                  <a:cubicBezTo>
                    <a:pt x="4875" y="867"/>
                    <a:pt x="4874" y="861"/>
                    <a:pt x="4860" y="1025"/>
                  </a:cubicBezTo>
                  <a:cubicBezTo>
                    <a:pt x="4855" y="1243"/>
                    <a:pt x="4838" y="1462"/>
                    <a:pt x="4838" y="1680"/>
                  </a:cubicBezTo>
                  <a:cubicBezTo>
                    <a:pt x="4838" y="1718"/>
                    <a:pt x="4844" y="1605"/>
                    <a:pt x="4849" y="1567"/>
                  </a:cubicBezTo>
                  <a:cubicBezTo>
                    <a:pt x="4851" y="1548"/>
                    <a:pt x="4856" y="1529"/>
                    <a:pt x="4860" y="1510"/>
                  </a:cubicBezTo>
                  <a:cubicBezTo>
                    <a:pt x="4864" y="1529"/>
                    <a:pt x="4864" y="1549"/>
                    <a:pt x="4871" y="1567"/>
                  </a:cubicBezTo>
                  <a:cubicBezTo>
                    <a:pt x="4876" y="1580"/>
                    <a:pt x="4894" y="1587"/>
                    <a:pt x="4894" y="1601"/>
                  </a:cubicBezTo>
                  <a:cubicBezTo>
                    <a:pt x="4894" y="1913"/>
                    <a:pt x="4879" y="2226"/>
                    <a:pt x="4871" y="2538"/>
                  </a:cubicBezTo>
                  <a:cubicBezTo>
                    <a:pt x="4514" y="2534"/>
                    <a:pt x="4156" y="2535"/>
                    <a:pt x="3799" y="2527"/>
                  </a:cubicBezTo>
                  <a:cubicBezTo>
                    <a:pt x="3776" y="2527"/>
                    <a:pt x="3889" y="2517"/>
                    <a:pt x="3866" y="2516"/>
                  </a:cubicBezTo>
                  <a:cubicBezTo>
                    <a:pt x="3512" y="2508"/>
                    <a:pt x="3159" y="2508"/>
                    <a:pt x="2805" y="2504"/>
                  </a:cubicBezTo>
                  <a:cubicBezTo>
                    <a:pt x="2734" y="2506"/>
                    <a:pt x="1040" y="2578"/>
                    <a:pt x="1653" y="2470"/>
                  </a:cubicBezTo>
                  <a:cubicBezTo>
                    <a:pt x="1450" y="2572"/>
                    <a:pt x="1204" y="2516"/>
                    <a:pt x="986" y="2470"/>
                  </a:cubicBezTo>
                  <a:cubicBezTo>
                    <a:pt x="872" y="2472"/>
                    <a:pt x="318" y="2382"/>
                    <a:pt x="128" y="2572"/>
                  </a:cubicBezTo>
                  <a:cubicBezTo>
                    <a:pt x="0" y="2261"/>
                    <a:pt x="85" y="1659"/>
                    <a:pt x="71" y="1262"/>
                  </a:cubicBezTo>
                  <a:cubicBezTo>
                    <a:pt x="81" y="466"/>
                    <a:pt x="28" y="556"/>
                    <a:pt x="105" y="155"/>
                  </a:cubicBezTo>
                  <a:cubicBezTo>
                    <a:pt x="120" y="159"/>
                    <a:pt x="138" y="157"/>
                    <a:pt x="151" y="166"/>
                  </a:cubicBezTo>
                  <a:cubicBezTo>
                    <a:pt x="211" y="206"/>
                    <a:pt x="126" y="211"/>
                    <a:pt x="218" y="189"/>
                  </a:cubicBezTo>
                  <a:cubicBezTo>
                    <a:pt x="244" y="150"/>
                    <a:pt x="269" y="125"/>
                    <a:pt x="309" y="99"/>
                  </a:cubicBezTo>
                  <a:cubicBezTo>
                    <a:pt x="348" y="107"/>
                    <a:pt x="373" y="111"/>
                    <a:pt x="410" y="121"/>
                  </a:cubicBezTo>
                  <a:cubicBezTo>
                    <a:pt x="410" y="121"/>
                    <a:pt x="501" y="150"/>
                    <a:pt x="410" y="121"/>
                  </a:cubicBezTo>
                  <a:close/>
                </a:path>
              </a:pathLst>
            </a:custGeom>
            <a:solidFill>
              <a:srgbClr val="C9E4FF"/>
            </a:solidFill>
            <a:ln w="31750" cap="sq" cmpd="sng">
              <a:noFill/>
              <a:prstDash val="solid"/>
              <a:round/>
              <a:headEnd/>
              <a:tailEnd/>
            </a:ln>
            <a:effectLst>
              <a:outerShdw dist="224686" dir="2837437" algn="ctr" rotWithShape="0">
                <a:srgbClr val="B9B9B9"/>
              </a:outerShdw>
            </a:effectLst>
          </p:spPr>
          <p:txBody>
            <a:bodyPr wrap="none" anchor="ctr"/>
            <a:lstStyle/>
            <a:p>
              <a:endParaRPr lang="zh-CN" altLang="en-US" dirty="0"/>
            </a:p>
          </p:txBody>
        </p:sp>
        <p:sp>
          <p:nvSpPr>
            <p:cNvPr id="6" name="Text Box 10"/>
            <p:cNvSpPr txBox="1">
              <a:spLocks noChangeArrowheads="1"/>
            </p:cNvSpPr>
            <p:nvPr/>
          </p:nvSpPr>
          <p:spPr bwMode="auto">
            <a:xfrm>
              <a:off x="135" y="1197"/>
              <a:ext cx="5061" cy="1708"/>
            </a:xfrm>
            <a:prstGeom prst="rect">
              <a:avLst/>
            </a:prstGeom>
            <a:noFill/>
            <a:ln w="9525">
              <a:noFill/>
              <a:miter lim="800000"/>
              <a:headEnd/>
              <a:tailEnd/>
            </a:ln>
          </p:spPr>
          <p:txBody>
            <a:bodyPr wrap="square">
              <a:spAutoFit/>
            </a:bodyPr>
            <a:lstStyle/>
            <a:p>
              <a:pPr algn="just" fontAlgn="base">
                <a:lnSpc>
                  <a:spcPts val="3100"/>
                </a:lnSpc>
                <a:spcBef>
                  <a:spcPct val="0"/>
                </a:spcBef>
              </a:pPr>
              <a:r>
                <a:rPr lang="zh-CN" altLang="en-US" sz="2400" dirty="0">
                  <a:solidFill>
                    <a:srgbClr val="000080"/>
                  </a:solidFill>
                  <a:latin typeface="幼圆" pitchFamily="49" charset="-122"/>
                  <a:ea typeface="幼圆" pitchFamily="49" charset="-122"/>
                </a:rPr>
                <a:t>在实际应用时，前述简单队列结构是不够的，先入先出机制需要使用某些优先规则来完善。如：</a:t>
              </a:r>
              <a:endParaRPr lang="en-US" altLang="zh-CN" sz="2400" dirty="0">
                <a:solidFill>
                  <a:srgbClr val="000080"/>
                </a:solidFill>
                <a:latin typeface="幼圆" pitchFamily="49" charset="-122"/>
                <a:ea typeface="幼圆" pitchFamily="49" charset="-122"/>
              </a:endParaRPr>
            </a:p>
            <a:p>
              <a:pPr lvl="1" algn="just" fontAlgn="base">
                <a:lnSpc>
                  <a:spcPts val="3100"/>
                </a:lnSpc>
                <a:spcBef>
                  <a:spcPct val="0"/>
                </a:spcBef>
                <a:buFont typeface="Wingdings" pitchFamily="2" charset="2"/>
                <a:buChar char="Ø"/>
              </a:pPr>
              <a:r>
                <a:rPr lang="en-US" altLang="zh-CN" sz="2400" dirty="0">
                  <a:solidFill>
                    <a:srgbClr val="000080"/>
                  </a:solidFill>
                  <a:latin typeface="幼圆" pitchFamily="49" charset="-122"/>
                  <a:ea typeface="幼圆" pitchFamily="49" charset="-122"/>
                </a:rPr>
                <a:t> </a:t>
              </a:r>
              <a:r>
                <a:rPr lang="zh-CN" altLang="en-US" sz="2400" dirty="0">
                  <a:solidFill>
                    <a:srgbClr val="000080"/>
                  </a:solidFill>
                  <a:latin typeface="楷体" pitchFamily="49" charset="-122"/>
                  <a:ea typeface="楷体" pitchFamily="49" charset="-122"/>
                </a:rPr>
                <a:t>在服务行业，通常有残疾人、老人优先</a:t>
              </a:r>
              <a:endParaRPr lang="en-US" altLang="zh-CN" sz="2400" dirty="0">
                <a:solidFill>
                  <a:srgbClr val="000080"/>
                </a:solidFill>
                <a:latin typeface="楷体" pitchFamily="49" charset="-122"/>
                <a:ea typeface="楷体" pitchFamily="49" charset="-122"/>
              </a:endParaRPr>
            </a:p>
            <a:p>
              <a:pPr marL="806450" lvl="1" indent="-349250" algn="just" fontAlgn="base">
                <a:lnSpc>
                  <a:spcPts val="3100"/>
                </a:lnSpc>
                <a:spcBef>
                  <a:spcPct val="0"/>
                </a:spcBef>
                <a:buFont typeface="Wingdings" pitchFamily="2" charset="2"/>
                <a:buChar char="Ø"/>
              </a:pPr>
              <a:r>
                <a:rPr lang="zh-CN" altLang="en-US" sz="2400" dirty="0">
                  <a:solidFill>
                    <a:srgbClr val="000080"/>
                  </a:solidFill>
                  <a:latin typeface="楷体" pitchFamily="49" charset="-122"/>
                  <a:ea typeface="楷体" pitchFamily="49" charset="-122"/>
                </a:rPr>
                <a:t>在公路上某些特殊车辆（如救护车、消防车）优先</a:t>
              </a:r>
              <a:endParaRPr lang="en-US" altLang="zh-CN" sz="2400" dirty="0">
                <a:solidFill>
                  <a:srgbClr val="000080"/>
                </a:solidFill>
                <a:latin typeface="楷体" pitchFamily="49" charset="-122"/>
                <a:ea typeface="楷体" pitchFamily="49" charset="-122"/>
              </a:endParaRPr>
            </a:p>
            <a:p>
              <a:pPr marL="806450" lvl="1" indent="-349250" algn="just" fontAlgn="base">
                <a:lnSpc>
                  <a:spcPts val="3100"/>
                </a:lnSpc>
                <a:spcBef>
                  <a:spcPct val="0"/>
                </a:spcBef>
                <a:buFont typeface="Wingdings" pitchFamily="2" charset="2"/>
                <a:buChar char="Ø"/>
              </a:pPr>
              <a:r>
                <a:rPr lang="zh-CN" altLang="en-US" sz="2400" dirty="0">
                  <a:solidFill>
                    <a:srgbClr val="000080"/>
                  </a:solidFill>
                  <a:latin typeface="楷体" pitchFamily="49" charset="-122"/>
                  <a:ea typeface="楷体" pitchFamily="49" charset="-122"/>
                </a:rPr>
                <a:t>在操作系统进程调度中，具有高优先级的进程优先执行</a:t>
              </a:r>
              <a:endParaRPr lang="en-US" altLang="zh-CN" sz="2400" dirty="0">
                <a:solidFill>
                  <a:srgbClr val="000080"/>
                </a:solidFill>
                <a:latin typeface="楷体" pitchFamily="49" charset="-122"/>
                <a:ea typeface="楷体" pitchFamily="49" charset="-122"/>
              </a:endParaRPr>
            </a:p>
            <a:p>
              <a:pPr algn="just" fontAlgn="base">
                <a:lnSpc>
                  <a:spcPts val="3100"/>
                </a:lnSpc>
                <a:spcBef>
                  <a:spcPct val="0"/>
                </a:spcBef>
              </a:pPr>
              <a:r>
                <a:rPr lang="zh-CN" altLang="en-US" sz="2400" b="1" dirty="0">
                  <a:solidFill>
                    <a:srgbClr val="000080"/>
                  </a:solidFill>
                  <a:latin typeface="幼圆" pitchFamily="49" charset="-122"/>
                  <a:ea typeface="幼圆" pitchFamily="49" charset="-122"/>
                </a:rPr>
                <a:t>优先队列（</a:t>
              </a:r>
              <a:r>
                <a:rPr lang="en-US" altLang="zh-CN" sz="2400" b="1" dirty="0">
                  <a:solidFill>
                    <a:srgbClr val="000080"/>
                  </a:solidFill>
                  <a:latin typeface="幼圆" pitchFamily="49" charset="-122"/>
                  <a:ea typeface="幼圆" pitchFamily="49" charset="-122"/>
                </a:rPr>
                <a:t>Priority Queue</a:t>
              </a:r>
              <a:r>
                <a:rPr lang="zh-CN" altLang="en-US" sz="2400" b="1" dirty="0">
                  <a:solidFill>
                    <a:srgbClr val="000080"/>
                  </a:solidFill>
                  <a:latin typeface="幼圆" pitchFamily="49" charset="-122"/>
                  <a:ea typeface="幼圆" pitchFamily="49" charset="-122"/>
                </a:rPr>
                <a:t>）：根据元素的优先级及在队列中的当前位置决定出队的顺序。</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74481" y="85459"/>
            <a:ext cx="10515600" cy="759619"/>
          </a:xfrm>
        </p:spPr>
        <p:txBody>
          <a:bodyPr/>
          <a:lstStyle/>
          <a:p>
            <a:r>
              <a:rPr lang="zh-CN" altLang="en-US" sz="3200" dirty="0">
                <a:solidFill>
                  <a:srgbClr val="FF0000"/>
                </a:solidFill>
                <a:latin typeface="黑体" pitchFamily="2" charset="-122"/>
                <a:ea typeface="黑体" pitchFamily="2" charset="-122"/>
              </a:rPr>
              <a:t>优先队列的实现</a:t>
            </a:r>
            <a:r>
              <a:rPr lang="en-US" altLang="zh-CN" sz="3200" dirty="0">
                <a:solidFill>
                  <a:srgbClr val="FF0000"/>
                </a:solidFill>
                <a:latin typeface="黑体" pitchFamily="2" charset="-122"/>
                <a:ea typeface="黑体" pitchFamily="2" charset="-122"/>
              </a:rPr>
              <a:t>*</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81</a:t>
            </a:fld>
            <a:endParaRPr lang="zh-CN" altLang="en-US" dirty="0"/>
          </a:p>
        </p:txBody>
      </p:sp>
      <p:grpSp>
        <p:nvGrpSpPr>
          <p:cNvPr id="7" name="Group 49"/>
          <p:cNvGrpSpPr>
            <a:grpSpLocks/>
          </p:cNvGrpSpPr>
          <p:nvPr/>
        </p:nvGrpSpPr>
        <p:grpSpPr bwMode="auto">
          <a:xfrm>
            <a:off x="2279576" y="1124744"/>
            <a:ext cx="7560840" cy="5402746"/>
            <a:chOff x="672" y="1008"/>
            <a:chExt cx="3504" cy="1079"/>
          </a:xfrm>
        </p:grpSpPr>
        <p:sp>
          <p:nvSpPr>
            <p:cNvPr id="8" name="Rectangle 3"/>
            <p:cNvSpPr>
              <a:spLocks noChangeArrowheads="1"/>
            </p:cNvSpPr>
            <p:nvPr/>
          </p:nvSpPr>
          <p:spPr bwMode="auto">
            <a:xfrm>
              <a:off x="672" y="1008"/>
              <a:ext cx="3504" cy="1079"/>
            </a:xfrm>
            <a:prstGeom prst="rect">
              <a:avLst/>
            </a:prstGeom>
            <a:solidFill>
              <a:srgbClr val="FFDEBD"/>
            </a:solidFill>
            <a:ln w="12700" cap="sq">
              <a:noFill/>
              <a:miter lim="800000"/>
              <a:headEnd type="none" w="sm" len="sm"/>
              <a:tailEnd type="none" w="sm" len="sm"/>
            </a:ln>
            <a:effectLst>
              <a:outerShdw dist="197566" dir="2700000" algn="ctr" rotWithShape="0">
                <a:srgbClr val="C0C0C0"/>
              </a:outerShdw>
            </a:effectLst>
          </p:spPr>
          <p:txBody>
            <a:bodyPr wrap="none" anchor="ctr"/>
            <a:lstStyle/>
            <a:p>
              <a:endParaRPr lang="zh-CN" altLang="en-US"/>
            </a:p>
          </p:txBody>
        </p:sp>
        <p:sp>
          <p:nvSpPr>
            <p:cNvPr id="9" name="Text Box 4"/>
            <p:cNvSpPr txBox="1">
              <a:spLocks noChangeArrowheads="1"/>
            </p:cNvSpPr>
            <p:nvPr/>
          </p:nvSpPr>
          <p:spPr bwMode="auto">
            <a:xfrm>
              <a:off x="772" y="1048"/>
              <a:ext cx="3371" cy="977"/>
            </a:xfrm>
            <a:prstGeom prst="rect">
              <a:avLst/>
            </a:prstGeom>
            <a:noFill/>
            <a:ln w="12700" cap="sq">
              <a:noFill/>
              <a:miter lim="800000"/>
              <a:headEnd type="none" w="sm" len="sm"/>
              <a:tailEnd type="none" w="sm" len="sm"/>
            </a:ln>
          </p:spPr>
          <p:txBody>
            <a:bodyPr wrap="square">
              <a:spAutoFit/>
            </a:bodyPr>
            <a:lstStyle/>
            <a:p>
              <a:pPr marL="363538" indent="-363538">
                <a:buFont typeface="Wingdings" pitchFamily="2" charset="2"/>
                <a:buChar char="u"/>
              </a:pPr>
              <a:r>
                <a:rPr lang="zh-CN" altLang="en-US" sz="2400" dirty="0">
                  <a:solidFill>
                    <a:srgbClr val="000099"/>
                  </a:solidFill>
                </a:rPr>
                <a:t>方法一：使用两种变种链表实现。一种链表是所有元素都按进入顺序排列（队），取元素效率为</a:t>
              </a:r>
              <a:r>
                <a:rPr lang="en-US" altLang="zh-CN" sz="2400" dirty="0">
                  <a:solidFill>
                    <a:srgbClr val="000099"/>
                  </a:solidFill>
                </a:rPr>
                <a:t>O(n) </a:t>
              </a:r>
              <a:r>
                <a:rPr lang="zh-CN" altLang="en-US" sz="2400" dirty="0">
                  <a:solidFill>
                    <a:srgbClr val="000099"/>
                  </a:solidFill>
                </a:rPr>
                <a:t>；另一种链表是根据元素的优先级决定新增位置（按优先级排序），新增元素效率为</a:t>
              </a:r>
              <a:r>
                <a:rPr lang="en-US" altLang="zh-CN" sz="2400" dirty="0">
                  <a:solidFill>
                    <a:srgbClr val="000099"/>
                  </a:solidFill>
                </a:rPr>
                <a:t>O(n)</a:t>
              </a:r>
              <a:r>
                <a:rPr lang="zh-CN" altLang="en-US" sz="2400" dirty="0">
                  <a:solidFill>
                    <a:srgbClr val="000099"/>
                  </a:solidFill>
                </a:rPr>
                <a:t>。实现简单。</a:t>
              </a:r>
              <a:endParaRPr lang="en-US" altLang="zh-CN" sz="2400" dirty="0">
                <a:solidFill>
                  <a:srgbClr val="000099"/>
                </a:solidFill>
              </a:endParaRPr>
            </a:p>
            <a:p>
              <a:pPr marL="363538" indent="-363538"/>
              <a:endParaRPr lang="en-US" altLang="zh-CN" sz="2400" dirty="0">
                <a:solidFill>
                  <a:srgbClr val="000099"/>
                </a:solidFill>
              </a:endParaRPr>
            </a:p>
            <a:p>
              <a:pPr marL="363538" indent="-363538">
                <a:buFont typeface="Wingdings" pitchFamily="2" charset="2"/>
                <a:buChar char="u"/>
              </a:pPr>
              <a:r>
                <a:rPr lang="zh-CN" altLang="en-US" sz="2400" dirty="0">
                  <a:solidFill>
                    <a:srgbClr val="000099"/>
                  </a:solidFill>
                </a:rPr>
                <a:t>方法二：使用一个链表和一个指针数组，链表用于存放元素，一个指向链表的指针数组用于确定新加入的元素应该在哪个范围中（按优先级），算法的时间复杂度为</a:t>
              </a:r>
              <a:r>
                <a:rPr lang="en-US" altLang="zh-CN" sz="2400" b="1" dirty="0">
                  <a:solidFill>
                    <a:srgbClr val="FF0000"/>
                  </a:solidFill>
                </a:rPr>
                <a:t>O(      )</a:t>
              </a:r>
              <a:r>
                <a:rPr lang="zh-CN" altLang="en-US" sz="2400" dirty="0">
                  <a:solidFill>
                    <a:srgbClr val="000099"/>
                  </a:solidFill>
                </a:rPr>
                <a:t>。（</a:t>
              </a:r>
              <a:r>
                <a:rPr lang="en-US" altLang="zh-CN" sz="2400" dirty="0" err="1">
                  <a:solidFill>
                    <a:srgbClr val="000099"/>
                  </a:solidFill>
                </a:rPr>
                <a:t>J.O.Hendriksen</a:t>
              </a:r>
              <a:r>
                <a:rPr lang="zh-CN" altLang="en-US" sz="2400" dirty="0">
                  <a:solidFill>
                    <a:srgbClr val="000099"/>
                  </a:solidFill>
                </a:rPr>
                <a:t>提出）。</a:t>
              </a:r>
              <a:endParaRPr lang="en-US" altLang="zh-CN" sz="2400" dirty="0">
                <a:solidFill>
                  <a:srgbClr val="000099"/>
                </a:solidFill>
              </a:endParaRPr>
            </a:p>
            <a:p>
              <a:pPr marL="363538" indent="-363538"/>
              <a:endParaRPr lang="en-US" altLang="zh-CN" sz="2400" dirty="0">
                <a:solidFill>
                  <a:srgbClr val="000099"/>
                </a:solidFill>
              </a:endParaRPr>
            </a:p>
            <a:p>
              <a:pPr marL="363538" indent="-363538">
                <a:buFont typeface="Wingdings" pitchFamily="2" charset="2"/>
                <a:buChar char="u"/>
              </a:pPr>
              <a:r>
                <a:rPr lang="zh-CN" altLang="en-US" sz="2400" dirty="0">
                  <a:solidFill>
                    <a:srgbClr val="000099"/>
                  </a:solidFill>
                </a:rPr>
                <a:t>方法三：</a:t>
              </a:r>
              <a:r>
                <a:rPr lang="zh-CN" altLang="en-US" sz="2400" b="1" dirty="0">
                  <a:solidFill>
                    <a:srgbClr val="000099"/>
                  </a:solidFill>
                </a:rPr>
                <a:t>用一个堆（</a:t>
              </a:r>
              <a:r>
                <a:rPr lang="en-US" altLang="zh-CN" sz="2400" b="1" dirty="0">
                  <a:solidFill>
                    <a:srgbClr val="000099"/>
                  </a:solidFill>
                </a:rPr>
                <a:t>Heap</a:t>
              </a:r>
              <a:r>
                <a:rPr lang="zh-CN" altLang="en-US" sz="2400" b="1" dirty="0">
                  <a:solidFill>
                    <a:srgbClr val="000099"/>
                  </a:solidFill>
                </a:rPr>
                <a:t>）结构实现。这是常用的一种高效实现优先队列的方法</a:t>
              </a:r>
              <a:r>
                <a:rPr lang="zh-CN" altLang="en-US" sz="2400" dirty="0">
                  <a:solidFill>
                    <a:srgbClr val="000099"/>
                  </a:solidFill>
                </a:rPr>
                <a:t>（原理将在树中讲解），算法的时间复杂度为</a:t>
              </a:r>
              <a:r>
                <a:rPr lang="en-US" altLang="zh-CN" sz="2400" dirty="0">
                  <a:solidFill>
                    <a:srgbClr val="000099"/>
                  </a:solidFill>
                </a:rPr>
                <a:t>O</a:t>
              </a:r>
              <a:r>
                <a:rPr lang="en-US" altLang="zh-CN" sz="2400" dirty="0">
                  <a:solidFill>
                    <a:srgbClr val="002060"/>
                  </a:solidFill>
                  <a:latin typeface="黑体" pitchFamily="2" charset="-122"/>
                  <a:ea typeface="黑体" pitchFamily="2" charset="-122"/>
                </a:rPr>
                <a:t>(log</a:t>
              </a:r>
              <a:r>
                <a:rPr lang="en-US" altLang="zh-CN" sz="2400" baseline="-25000" dirty="0">
                  <a:solidFill>
                    <a:srgbClr val="002060"/>
                  </a:solidFill>
                  <a:latin typeface="黑体" pitchFamily="2" charset="-122"/>
                  <a:ea typeface="黑体" pitchFamily="2" charset="-122"/>
                </a:rPr>
                <a:t>2</a:t>
              </a:r>
              <a:r>
                <a:rPr lang="en-US" altLang="zh-CN" sz="2400" dirty="0">
                  <a:solidFill>
                    <a:srgbClr val="002060"/>
                  </a:solidFill>
                  <a:latin typeface="黑体" pitchFamily="2" charset="-122"/>
                  <a:ea typeface="黑体" pitchFamily="2" charset="-122"/>
                </a:rPr>
                <a:t> N)</a:t>
              </a:r>
              <a:r>
                <a:rPr lang="zh-CN" altLang="en-US" sz="2400" dirty="0">
                  <a:solidFill>
                    <a:srgbClr val="002060"/>
                  </a:solidFill>
                  <a:latin typeface="黑体" pitchFamily="2" charset="-122"/>
                  <a:ea typeface="黑体" pitchFamily="2" charset="-122"/>
                </a:rPr>
                <a:t> </a:t>
              </a:r>
              <a:r>
                <a:rPr lang="zh-CN" altLang="en-US" sz="2400" dirty="0">
                  <a:solidFill>
                    <a:srgbClr val="000099"/>
                  </a:solidFill>
                </a:rPr>
                <a:t>。</a:t>
              </a:r>
              <a:endParaRPr lang="en-US" altLang="zh-CN" sz="2400" dirty="0">
                <a:solidFill>
                  <a:srgbClr val="000099"/>
                </a:solidFill>
              </a:endParaRPr>
            </a:p>
          </p:txBody>
        </p:sp>
      </p:grpSp>
      <p:graphicFrame>
        <p:nvGraphicFramePr>
          <p:cNvPr id="11" name="对象 10"/>
          <p:cNvGraphicFramePr>
            <a:graphicFrameLocks noChangeAspect="1"/>
          </p:cNvGraphicFramePr>
          <p:nvPr/>
        </p:nvGraphicFramePr>
        <p:xfrm>
          <a:off x="5015880" y="4293096"/>
          <a:ext cx="424684" cy="402332"/>
        </p:xfrm>
        <a:graphic>
          <a:graphicData uri="http://schemas.openxmlformats.org/presentationml/2006/ole">
            <mc:AlternateContent xmlns:mc="http://schemas.openxmlformats.org/markup-compatibility/2006">
              <mc:Choice xmlns:v="urn:schemas-microsoft-com:vml" Requires="v">
                <p:oleObj spid="_x0000_s7170" name="公式" r:id="rId3" imgW="241200" imgH="228600" progId="Equation.3">
                  <p:embed/>
                </p:oleObj>
              </mc:Choice>
              <mc:Fallback>
                <p:oleObj name="公式" r:id="rId3" imgW="241200" imgH="228600" progId="Equation.3">
                  <p:embed/>
                  <p:pic>
                    <p:nvPicPr>
                      <p:cNvPr id="11" name="对象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15880" y="4293096"/>
                        <a:ext cx="424684" cy="402332"/>
                      </a:xfrm>
                      <a:prstGeom prst="rect">
                        <a:avLst/>
                      </a:prstGeom>
                      <a:noFill/>
                    </p:spPr>
                  </p:pic>
                </p:oleObj>
              </mc:Fallback>
            </mc:AlternateContent>
          </a:graphicData>
        </a:graphic>
      </p:graphicFrame>
    </p:spTree>
    <p:extLst>
      <p:ext uri="{BB962C8B-B14F-4D97-AF65-F5344CB8AC3E}">
        <p14:creationId xmlns:p14="http://schemas.microsoft.com/office/powerpoint/2010/main" val="19464760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ppt_w/2"/>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anim calcmode="lin" valueType="num">
                                      <p:cBhvr>
                                        <p:cTn id="9" dur="500" fill="hold"/>
                                        <p:tgtEl>
                                          <p:spTgt spid="7"/>
                                        </p:tgtEl>
                                        <p:attrNameLst>
                                          <p:attrName>ppt_w</p:attrName>
                                        </p:attrNameLst>
                                      </p:cBhvr>
                                      <p:tavLst>
                                        <p:tav tm="0">
                                          <p:val>
                                            <p:fltVal val="0"/>
                                          </p:val>
                                        </p:tav>
                                        <p:tav tm="100000">
                                          <p:val>
                                            <p:strVal val="#ppt_w"/>
                                          </p:val>
                                        </p:tav>
                                      </p:tavLst>
                                    </p:anim>
                                    <p:anim calcmode="lin" valueType="num">
                                      <p:cBhvr>
                                        <p:cTn id="10" dur="5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2"/>
          <p:cNvSpPr txBox="1">
            <a:spLocks noChangeArrowheads="1"/>
          </p:cNvSpPr>
          <p:nvPr/>
        </p:nvSpPr>
        <p:spPr bwMode="auto">
          <a:xfrm rot="20778706">
            <a:off x="3468688" y="2466976"/>
            <a:ext cx="4775200" cy="1006475"/>
          </a:xfrm>
          <a:prstGeom prst="rect">
            <a:avLst/>
          </a:prstGeom>
          <a:noFill/>
          <a:ln w="9525">
            <a:noFill/>
            <a:miter lim="800000"/>
            <a:headEnd/>
            <a:tailEnd/>
          </a:ln>
        </p:spPr>
        <p:txBody>
          <a:bodyPr wrap="none">
            <a:spAutoFit/>
          </a:bodyPr>
          <a:lstStyle/>
          <a:p>
            <a:pPr fontAlgn="t">
              <a:spcBef>
                <a:spcPct val="50000"/>
              </a:spcBef>
            </a:pPr>
            <a:r>
              <a:rPr lang="zh-CN" altLang="en-US" sz="6000" b="1">
                <a:solidFill>
                  <a:srgbClr val="FFFFFF"/>
                </a:solidFill>
                <a:ea typeface="黑体" pitchFamily="2" charset="-122"/>
              </a:rPr>
              <a:t>本章内容小结</a:t>
            </a:r>
          </a:p>
        </p:txBody>
      </p:sp>
      <p:sp>
        <p:nvSpPr>
          <p:cNvPr id="84995" name="Freeform 3"/>
          <p:cNvSpPr>
            <a:spLocks/>
          </p:cNvSpPr>
          <p:nvPr/>
        </p:nvSpPr>
        <p:spPr bwMode="auto">
          <a:xfrm rot="20778706">
            <a:off x="3962400" y="1600200"/>
            <a:ext cx="5607050" cy="1798638"/>
          </a:xfrm>
          <a:custGeom>
            <a:avLst/>
            <a:gdLst>
              <a:gd name="T0" fmla="*/ 2147483647 w 3784"/>
              <a:gd name="T1" fmla="*/ 2147483647 h 1277"/>
              <a:gd name="T2" fmla="*/ 2147483647 w 3784"/>
              <a:gd name="T3" fmla="*/ 2147483647 h 1277"/>
              <a:gd name="T4" fmla="*/ 2147483647 w 3784"/>
              <a:gd name="T5" fmla="*/ 2147483647 h 1277"/>
              <a:gd name="T6" fmla="*/ 2147483647 w 3784"/>
              <a:gd name="T7" fmla="*/ 0 h 1277"/>
              <a:gd name="T8" fmla="*/ 2147483647 w 3784"/>
              <a:gd name="T9" fmla="*/ 2147483647 h 1277"/>
              <a:gd name="T10" fmla="*/ 2147483647 w 3784"/>
              <a:gd name="T11" fmla="*/ 2147483647 h 1277"/>
              <a:gd name="T12" fmla="*/ 2147483647 w 3784"/>
              <a:gd name="T13" fmla="*/ 2147483647 h 1277"/>
              <a:gd name="T14" fmla="*/ 2147483647 w 3784"/>
              <a:gd name="T15" fmla="*/ 2147483647 h 1277"/>
              <a:gd name="T16" fmla="*/ 2147483647 w 3784"/>
              <a:gd name="T17" fmla="*/ 2147483647 h 1277"/>
              <a:gd name="T18" fmla="*/ 2147483647 w 3784"/>
              <a:gd name="T19" fmla="*/ 2147483647 h 1277"/>
              <a:gd name="T20" fmla="*/ 2147483647 w 3784"/>
              <a:gd name="T21" fmla="*/ 2147483647 h 1277"/>
              <a:gd name="T22" fmla="*/ 2147483647 w 3784"/>
              <a:gd name="T23" fmla="*/ 2147483647 h 1277"/>
              <a:gd name="T24" fmla="*/ 2147483647 w 3784"/>
              <a:gd name="T25" fmla="*/ 2147483647 h 1277"/>
              <a:gd name="T26" fmla="*/ 2147483647 w 3784"/>
              <a:gd name="T27" fmla="*/ 2147483647 h 1277"/>
              <a:gd name="T28" fmla="*/ 2147483647 w 3784"/>
              <a:gd name="T29" fmla="*/ 2147483647 h 1277"/>
              <a:gd name="T30" fmla="*/ 2147483647 w 3784"/>
              <a:gd name="T31" fmla="*/ 2147483647 h 1277"/>
              <a:gd name="T32" fmla="*/ 2147483647 w 3784"/>
              <a:gd name="T33" fmla="*/ 2147483647 h 1277"/>
              <a:gd name="T34" fmla="*/ 2147483647 w 3784"/>
              <a:gd name="T35" fmla="*/ 2147483647 h 1277"/>
              <a:gd name="T36" fmla="*/ 2147483647 w 3784"/>
              <a:gd name="T37" fmla="*/ 2147483647 h 1277"/>
              <a:gd name="T38" fmla="*/ 2147483647 w 3784"/>
              <a:gd name="T39" fmla="*/ 2147483647 h 1277"/>
              <a:gd name="T40" fmla="*/ 2147483647 w 3784"/>
              <a:gd name="T41" fmla="*/ 2147483647 h 1277"/>
              <a:gd name="T42" fmla="*/ 2147483647 w 3784"/>
              <a:gd name="T43" fmla="*/ 2147483647 h 1277"/>
              <a:gd name="T44" fmla="*/ 2147483647 w 3784"/>
              <a:gd name="T45" fmla="*/ 2147483647 h 1277"/>
              <a:gd name="T46" fmla="*/ 2147483647 w 3784"/>
              <a:gd name="T47" fmla="*/ 2147483647 h 1277"/>
              <a:gd name="T48" fmla="*/ 2147483647 w 3784"/>
              <a:gd name="T49" fmla="*/ 2147483647 h 1277"/>
              <a:gd name="T50" fmla="*/ 2147483647 w 3784"/>
              <a:gd name="T51" fmla="*/ 2147483647 h 1277"/>
              <a:gd name="T52" fmla="*/ 2147483647 w 3784"/>
              <a:gd name="T53" fmla="*/ 2147483647 h 1277"/>
              <a:gd name="T54" fmla="*/ 2147483647 w 3784"/>
              <a:gd name="T55" fmla="*/ 2147483647 h 1277"/>
              <a:gd name="T56" fmla="*/ 2147483647 w 3784"/>
              <a:gd name="T57" fmla="*/ 2147483647 h 1277"/>
              <a:gd name="T58" fmla="*/ 2147483647 w 3784"/>
              <a:gd name="T59" fmla="*/ 2147483647 h 1277"/>
              <a:gd name="T60" fmla="*/ 2147483647 w 3784"/>
              <a:gd name="T61" fmla="*/ 2147483647 h 1277"/>
              <a:gd name="T62" fmla="*/ 2147483647 w 3784"/>
              <a:gd name="T63" fmla="*/ 2147483647 h 1277"/>
              <a:gd name="T64" fmla="*/ 2147483647 w 3784"/>
              <a:gd name="T65" fmla="*/ 2147483647 h 1277"/>
              <a:gd name="T66" fmla="*/ 2147483647 w 3784"/>
              <a:gd name="T67" fmla="*/ 2147483647 h 1277"/>
              <a:gd name="T68" fmla="*/ 2147483647 w 3784"/>
              <a:gd name="T69" fmla="*/ 2147483647 h 1277"/>
              <a:gd name="T70" fmla="*/ 2147483647 w 3784"/>
              <a:gd name="T71" fmla="*/ 2147483647 h 1277"/>
              <a:gd name="T72" fmla="*/ 2147483647 w 3784"/>
              <a:gd name="T73" fmla="*/ 2147483647 h 1277"/>
              <a:gd name="T74" fmla="*/ 2147483647 w 3784"/>
              <a:gd name="T75" fmla="*/ 2147483647 h 1277"/>
              <a:gd name="T76" fmla="*/ 2147483647 w 3784"/>
              <a:gd name="T77" fmla="*/ 2147483647 h 1277"/>
              <a:gd name="T78" fmla="*/ 2147483647 w 3784"/>
              <a:gd name="T79" fmla="*/ 2147483647 h 1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784" h="1277">
                <a:moveTo>
                  <a:pt x="103" y="68"/>
                </a:moveTo>
                <a:cubicBezTo>
                  <a:pt x="243" y="78"/>
                  <a:pt x="381" y="93"/>
                  <a:pt x="521" y="102"/>
                </a:cubicBezTo>
                <a:cubicBezTo>
                  <a:pt x="1201" y="86"/>
                  <a:pt x="1871" y="53"/>
                  <a:pt x="2554" y="45"/>
                </a:cubicBezTo>
                <a:cubicBezTo>
                  <a:pt x="2942" y="26"/>
                  <a:pt x="3328" y="8"/>
                  <a:pt x="3717" y="0"/>
                </a:cubicBezTo>
                <a:cubicBezTo>
                  <a:pt x="3710" y="11"/>
                  <a:pt x="3705" y="25"/>
                  <a:pt x="3695" y="34"/>
                </a:cubicBezTo>
                <a:cubicBezTo>
                  <a:pt x="3675" y="52"/>
                  <a:pt x="3627" y="79"/>
                  <a:pt x="3627" y="79"/>
                </a:cubicBezTo>
                <a:cubicBezTo>
                  <a:pt x="3630" y="126"/>
                  <a:pt x="3630" y="309"/>
                  <a:pt x="3672" y="373"/>
                </a:cubicBezTo>
                <a:cubicBezTo>
                  <a:pt x="3681" y="387"/>
                  <a:pt x="3702" y="388"/>
                  <a:pt x="3717" y="396"/>
                </a:cubicBezTo>
                <a:cubicBezTo>
                  <a:pt x="3688" y="514"/>
                  <a:pt x="3687" y="626"/>
                  <a:pt x="3729" y="746"/>
                </a:cubicBezTo>
                <a:cubicBezTo>
                  <a:pt x="3725" y="772"/>
                  <a:pt x="3729" y="801"/>
                  <a:pt x="3717" y="825"/>
                </a:cubicBezTo>
                <a:cubicBezTo>
                  <a:pt x="3712" y="835"/>
                  <a:pt x="3685" y="824"/>
                  <a:pt x="3684" y="836"/>
                </a:cubicBezTo>
                <a:cubicBezTo>
                  <a:pt x="3666" y="986"/>
                  <a:pt x="3690" y="991"/>
                  <a:pt x="3751" y="1085"/>
                </a:cubicBezTo>
                <a:cubicBezTo>
                  <a:pt x="3755" y="1107"/>
                  <a:pt x="3758" y="1130"/>
                  <a:pt x="3763" y="1152"/>
                </a:cubicBezTo>
                <a:cubicBezTo>
                  <a:pt x="3766" y="1164"/>
                  <a:pt x="3784" y="1179"/>
                  <a:pt x="3774" y="1186"/>
                </a:cubicBezTo>
                <a:cubicBezTo>
                  <a:pt x="3752" y="1201"/>
                  <a:pt x="3721" y="1193"/>
                  <a:pt x="3695" y="1197"/>
                </a:cubicBezTo>
                <a:cubicBezTo>
                  <a:pt x="3676" y="1200"/>
                  <a:pt x="3657" y="1208"/>
                  <a:pt x="3638" y="1209"/>
                </a:cubicBezTo>
                <a:cubicBezTo>
                  <a:pt x="3521" y="1216"/>
                  <a:pt x="3405" y="1216"/>
                  <a:pt x="3288" y="1220"/>
                </a:cubicBezTo>
                <a:cubicBezTo>
                  <a:pt x="3224" y="1233"/>
                  <a:pt x="3159" y="1239"/>
                  <a:pt x="3096" y="1254"/>
                </a:cubicBezTo>
                <a:cubicBezTo>
                  <a:pt x="2888" y="1220"/>
                  <a:pt x="2848" y="1235"/>
                  <a:pt x="2554" y="1243"/>
                </a:cubicBezTo>
                <a:cubicBezTo>
                  <a:pt x="2233" y="1263"/>
                  <a:pt x="1917" y="1270"/>
                  <a:pt x="1594" y="1277"/>
                </a:cubicBezTo>
                <a:cubicBezTo>
                  <a:pt x="1372" y="1273"/>
                  <a:pt x="1150" y="1273"/>
                  <a:pt x="928" y="1265"/>
                </a:cubicBezTo>
                <a:cubicBezTo>
                  <a:pt x="916" y="1265"/>
                  <a:pt x="974" y="1254"/>
                  <a:pt x="962" y="1254"/>
                </a:cubicBezTo>
                <a:cubicBezTo>
                  <a:pt x="664" y="1246"/>
                  <a:pt x="367" y="1247"/>
                  <a:pt x="69" y="1243"/>
                </a:cubicBezTo>
                <a:cubicBezTo>
                  <a:pt x="73" y="1220"/>
                  <a:pt x="69" y="1195"/>
                  <a:pt x="81" y="1175"/>
                </a:cubicBezTo>
                <a:cubicBezTo>
                  <a:pt x="87" y="1165"/>
                  <a:pt x="111" y="1175"/>
                  <a:pt x="115" y="1164"/>
                </a:cubicBezTo>
                <a:cubicBezTo>
                  <a:pt x="132" y="1117"/>
                  <a:pt x="122" y="1064"/>
                  <a:pt x="137" y="1017"/>
                </a:cubicBezTo>
                <a:cubicBezTo>
                  <a:pt x="121" y="950"/>
                  <a:pt x="116" y="896"/>
                  <a:pt x="103" y="825"/>
                </a:cubicBezTo>
                <a:cubicBezTo>
                  <a:pt x="99" y="802"/>
                  <a:pt x="81" y="757"/>
                  <a:pt x="81" y="757"/>
                </a:cubicBezTo>
                <a:cubicBezTo>
                  <a:pt x="60" y="615"/>
                  <a:pt x="46" y="600"/>
                  <a:pt x="69" y="463"/>
                </a:cubicBezTo>
                <a:cubicBezTo>
                  <a:pt x="73" y="440"/>
                  <a:pt x="84" y="418"/>
                  <a:pt x="92" y="396"/>
                </a:cubicBezTo>
                <a:cubicBezTo>
                  <a:pt x="96" y="385"/>
                  <a:pt x="103" y="362"/>
                  <a:pt x="103" y="362"/>
                </a:cubicBezTo>
                <a:cubicBezTo>
                  <a:pt x="93" y="342"/>
                  <a:pt x="74" y="307"/>
                  <a:pt x="69" y="283"/>
                </a:cubicBezTo>
                <a:cubicBezTo>
                  <a:pt x="64" y="257"/>
                  <a:pt x="69" y="228"/>
                  <a:pt x="58" y="204"/>
                </a:cubicBezTo>
                <a:cubicBezTo>
                  <a:pt x="52" y="191"/>
                  <a:pt x="35" y="189"/>
                  <a:pt x="24" y="181"/>
                </a:cubicBezTo>
                <a:cubicBezTo>
                  <a:pt x="17" y="170"/>
                  <a:pt x="4" y="160"/>
                  <a:pt x="2" y="147"/>
                </a:cubicBezTo>
                <a:cubicBezTo>
                  <a:pt x="0" y="132"/>
                  <a:pt x="10" y="117"/>
                  <a:pt x="13" y="102"/>
                </a:cubicBezTo>
                <a:cubicBezTo>
                  <a:pt x="18" y="76"/>
                  <a:pt x="20" y="49"/>
                  <a:pt x="24" y="23"/>
                </a:cubicBezTo>
                <a:cubicBezTo>
                  <a:pt x="39" y="27"/>
                  <a:pt x="54" y="31"/>
                  <a:pt x="69" y="34"/>
                </a:cubicBezTo>
                <a:cubicBezTo>
                  <a:pt x="92" y="38"/>
                  <a:pt x="115" y="40"/>
                  <a:pt x="137" y="45"/>
                </a:cubicBezTo>
                <a:cubicBezTo>
                  <a:pt x="149" y="48"/>
                  <a:pt x="171" y="57"/>
                  <a:pt x="171" y="57"/>
                </a:cubicBezTo>
              </a:path>
            </a:pathLst>
          </a:custGeom>
          <a:gradFill rotWithShape="0">
            <a:gsLst>
              <a:gs pos="0">
                <a:srgbClr val="CC99FF"/>
              </a:gs>
              <a:gs pos="100000">
                <a:srgbClr val="5E4776"/>
              </a:gs>
            </a:gsLst>
            <a:lin ang="2700000" scaled="1"/>
          </a:gradFill>
          <a:ln w="9525" cap="flat" cmpd="sng">
            <a:noFill/>
            <a:prstDash val="solid"/>
            <a:round/>
            <a:headEnd/>
            <a:tailEnd/>
          </a:ln>
          <a:effectLst>
            <a:outerShdw dist="239623" dir="1920323" algn="ctr" rotWithShape="0">
              <a:srgbClr val="808080"/>
            </a:outerShdw>
          </a:effectLst>
        </p:spPr>
        <p:txBody>
          <a:bodyPr/>
          <a:lstStyle/>
          <a:p>
            <a:endParaRPr lang="zh-CN" altLang="en-US"/>
          </a:p>
        </p:txBody>
      </p:sp>
      <p:sp>
        <p:nvSpPr>
          <p:cNvPr id="84996" name="Text Box 4"/>
          <p:cNvSpPr txBox="1">
            <a:spLocks noChangeArrowheads="1"/>
          </p:cNvSpPr>
          <p:nvPr/>
        </p:nvSpPr>
        <p:spPr bwMode="auto">
          <a:xfrm rot="20778706">
            <a:off x="4357688" y="1946276"/>
            <a:ext cx="5472112" cy="1006475"/>
          </a:xfrm>
          <a:prstGeom prst="rect">
            <a:avLst/>
          </a:prstGeom>
          <a:noFill/>
          <a:ln w="9525">
            <a:noFill/>
            <a:miter lim="800000"/>
            <a:headEnd/>
            <a:tailEnd/>
          </a:ln>
          <a:effectLst>
            <a:outerShdw dist="45791" dir="2021404" algn="ctr" rotWithShape="0">
              <a:srgbClr val="000000"/>
            </a:outerShdw>
          </a:effectLst>
        </p:spPr>
        <p:txBody>
          <a:bodyPr>
            <a:spAutoFit/>
          </a:bodyPr>
          <a:lstStyle/>
          <a:p>
            <a:pPr fontAlgn="t">
              <a:spcBef>
                <a:spcPct val="50000"/>
              </a:spcBef>
            </a:pPr>
            <a:r>
              <a:rPr lang="zh-CN" altLang="en-US" sz="6000" b="1">
                <a:solidFill>
                  <a:srgbClr val="FFFF00"/>
                </a:solidFill>
                <a:ea typeface="黑体" pitchFamily="2" charset="-122"/>
              </a:rPr>
              <a:t>本章内容小结</a:t>
            </a:r>
          </a:p>
        </p:txBody>
      </p:sp>
      <p:graphicFrame>
        <p:nvGraphicFramePr>
          <p:cNvPr id="84997" name="Object 6"/>
          <p:cNvGraphicFramePr>
            <a:graphicFrameLocks noChangeAspect="1"/>
          </p:cNvGraphicFramePr>
          <p:nvPr/>
        </p:nvGraphicFramePr>
        <p:xfrm>
          <a:off x="2057400" y="2514600"/>
          <a:ext cx="2133600" cy="3581400"/>
        </p:xfrm>
        <a:graphic>
          <a:graphicData uri="http://schemas.openxmlformats.org/presentationml/2006/ole">
            <mc:AlternateContent xmlns:mc="http://schemas.openxmlformats.org/markup-compatibility/2006">
              <mc:Choice xmlns:v="urn:schemas-microsoft-com:vml" Requires="v">
                <p:oleObj spid="_x0000_s8194" name="Photo Editor 照片" r:id="rId3" imgW="533474" imgH="952633" progId="">
                  <p:embed/>
                </p:oleObj>
              </mc:Choice>
              <mc:Fallback>
                <p:oleObj name="Photo Editor 照片" r:id="rId3" imgW="533474" imgH="952633" progId="">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2514600"/>
                        <a:ext cx="2133600"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zoom dir="in"/>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ChangeArrowheads="1"/>
          </p:cNvSpPr>
          <p:nvPr/>
        </p:nvSpPr>
        <p:spPr bwMode="auto">
          <a:xfrm>
            <a:off x="1492424" y="2704281"/>
            <a:ext cx="647934" cy="1295739"/>
          </a:xfrm>
          <a:prstGeom prst="rect">
            <a:avLst/>
          </a:prstGeom>
          <a:noFill/>
          <a:ln w="12700" cap="sq">
            <a:noFill/>
            <a:miter lim="800000"/>
            <a:headEnd type="none" w="sm" len="sm"/>
            <a:tailEnd type="none" w="sm" len="sm"/>
          </a:ln>
          <a:effectLst>
            <a:outerShdw dist="28398" dir="1593903" algn="ctr" rotWithShape="0">
              <a:srgbClr val="000000"/>
            </a:outerShdw>
          </a:effectLst>
        </p:spPr>
        <p:txBody>
          <a:bodyPr wrap="none">
            <a:spAutoFit/>
          </a:bodyPr>
          <a:lstStyle/>
          <a:p>
            <a:pPr>
              <a:lnSpc>
                <a:spcPct val="85000"/>
              </a:lnSpc>
            </a:pPr>
            <a:r>
              <a:rPr lang="zh-CN" altLang="en-US" sz="3600" b="1" dirty="0">
                <a:solidFill>
                  <a:srgbClr val="FF3300"/>
                </a:solidFill>
                <a:ea typeface="黑体" pitchFamily="2" charset="-122"/>
              </a:rPr>
              <a:t>栈</a:t>
            </a:r>
          </a:p>
          <a:p>
            <a:pPr>
              <a:lnSpc>
                <a:spcPct val="85000"/>
              </a:lnSpc>
            </a:pPr>
            <a:r>
              <a:rPr lang="zh-CN" altLang="en-US" sz="2000" b="1" dirty="0">
                <a:solidFill>
                  <a:srgbClr val="FF3300"/>
                </a:solidFill>
                <a:ea typeface="黑体" pitchFamily="2" charset="-122"/>
              </a:rPr>
              <a:t>   、</a:t>
            </a:r>
          </a:p>
          <a:p>
            <a:pPr>
              <a:lnSpc>
                <a:spcPct val="85000"/>
              </a:lnSpc>
            </a:pPr>
            <a:r>
              <a:rPr lang="zh-CN" altLang="en-US" sz="3600" b="1">
                <a:solidFill>
                  <a:srgbClr val="FF3300"/>
                </a:solidFill>
                <a:ea typeface="黑体" pitchFamily="2" charset="-122"/>
              </a:rPr>
              <a:t>队</a:t>
            </a:r>
            <a:endParaRPr lang="zh-CN" altLang="en-US" sz="3600" b="1" dirty="0">
              <a:solidFill>
                <a:srgbClr val="FF3300"/>
              </a:solidFill>
              <a:ea typeface="黑体" pitchFamily="2" charset="-122"/>
            </a:endParaRPr>
          </a:p>
        </p:txBody>
      </p:sp>
      <p:sp>
        <p:nvSpPr>
          <p:cNvPr id="272387" name="Rectangle 3"/>
          <p:cNvSpPr>
            <a:spLocks noChangeArrowheads="1"/>
          </p:cNvSpPr>
          <p:nvPr/>
        </p:nvSpPr>
        <p:spPr bwMode="auto">
          <a:xfrm>
            <a:off x="2711624" y="1248544"/>
            <a:ext cx="4343400" cy="549275"/>
          </a:xfrm>
          <a:prstGeom prst="rect">
            <a:avLst/>
          </a:prstGeom>
          <a:noFill/>
          <a:ln w="12700" cap="sq">
            <a:noFill/>
            <a:miter lim="800000"/>
            <a:headEnd type="none" w="sm" len="sm"/>
            <a:tailEnd type="none" w="sm" len="sm"/>
          </a:ln>
          <a:effectLst>
            <a:outerShdw dist="12700" algn="ctr" rotWithShape="0">
              <a:srgbClr val="000000"/>
            </a:outerShdw>
          </a:effectLst>
        </p:spPr>
        <p:txBody>
          <a:bodyPr>
            <a:spAutoFit/>
          </a:bodyPr>
          <a:lstStyle/>
          <a:p>
            <a:r>
              <a:rPr lang="zh-CN" altLang="en-US" sz="3000" b="1" dirty="0">
                <a:solidFill>
                  <a:schemeClr val="accent2"/>
                </a:solidFill>
                <a:ea typeface="黑体" pitchFamily="2" charset="-122"/>
              </a:rPr>
              <a:t>栈、队的基本概念</a:t>
            </a:r>
          </a:p>
        </p:txBody>
      </p:sp>
      <p:sp>
        <p:nvSpPr>
          <p:cNvPr id="272388" name="Rectangle 4"/>
          <p:cNvSpPr>
            <a:spLocks noChangeArrowheads="1"/>
          </p:cNvSpPr>
          <p:nvPr/>
        </p:nvSpPr>
        <p:spPr bwMode="auto">
          <a:xfrm>
            <a:off x="2711624" y="2924944"/>
            <a:ext cx="5181600" cy="549275"/>
          </a:xfrm>
          <a:prstGeom prst="rect">
            <a:avLst/>
          </a:prstGeom>
          <a:noFill/>
          <a:ln w="12700" cap="sq">
            <a:noFill/>
            <a:miter lim="800000"/>
            <a:headEnd type="none" w="sm" len="sm"/>
            <a:tailEnd type="none" w="sm" len="sm"/>
          </a:ln>
          <a:effectLst>
            <a:outerShdw dist="12700" algn="ctr" rotWithShape="0">
              <a:srgbClr val="000000"/>
            </a:outerShdw>
          </a:effectLst>
        </p:spPr>
        <p:txBody>
          <a:bodyPr>
            <a:spAutoFit/>
          </a:bodyPr>
          <a:lstStyle/>
          <a:p>
            <a:r>
              <a:rPr lang="zh-CN" altLang="en-US" sz="3000" b="1" dirty="0">
                <a:solidFill>
                  <a:schemeClr val="accent2"/>
                </a:solidFill>
                <a:ea typeface="黑体" pitchFamily="2" charset="-122"/>
              </a:rPr>
              <a:t>栈、队的顺序存储结构</a:t>
            </a:r>
          </a:p>
        </p:txBody>
      </p:sp>
      <p:sp>
        <p:nvSpPr>
          <p:cNvPr id="272389" name="Rectangle 5"/>
          <p:cNvSpPr>
            <a:spLocks noChangeArrowheads="1"/>
          </p:cNvSpPr>
          <p:nvPr/>
        </p:nvSpPr>
        <p:spPr bwMode="auto">
          <a:xfrm>
            <a:off x="2711624" y="4639444"/>
            <a:ext cx="5181600" cy="549275"/>
          </a:xfrm>
          <a:prstGeom prst="rect">
            <a:avLst/>
          </a:prstGeom>
          <a:noFill/>
          <a:ln w="12700" cap="sq">
            <a:noFill/>
            <a:miter lim="800000"/>
            <a:headEnd type="none" w="sm" len="sm"/>
            <a:tailEnd type="none" w="sm" len="sm"/>
          </a:ln>
          <a:effectLst>
            <a:outerShdw dist="12700" algn="ctr" rotWithShape="0">
              <a:srgbClr val="000000"/>
            </a:outerShdw>
          </a:effectLst>
        </p:spPr>
        <p:txBody>
          <a:bodyPr>
            <a:spAutoFit/>
          </a:bodyPr>
          <a:lstStyle/>
          <a:p>
            <a:r>
              <a:rPr lang="zh-CN" altLang="en-US" sz="3000" b="1" dirty="0">
                <a:solidFill>
                  <a:schemeClr val="accent2"/>
                </a:solidFill>
                <a:ea typeface="黑体" pitchFamily="2" charset="-122"/>
              </a:rPr>
              <a:t>栈、队的链式存储结构</a:t>
            </a:r>
          </a:p>
        </p:txBody>
      </p:sp>
      <p:sp>
        <p:nvSpPr>
          <p:cNvPr id="272390" name="Rectangle 6"/>
          <p:cNvSpPr>
            <a:spLocks noChangeArrowheads="1"/>
          </p:cNvSpPr>
          <p:nvPr/>
        </p:nvSpPr>
        <p:spPr bwMode="auto">
          <a:xfrm>
            <a:off x="2711624" y="5896744"/>
            <a:ext cx="4495800" cy="549275"/>
          </a:xfrm>
          <a:prstGeom prst="rect">
            <a:avLst/>
          </a:prstGeom>
          <a:noFill/>
          <a:ln w="12700" cap="sq">
            <a:noFill/>
            <a:miter lim="800000"/>
            <a:headEnd type="none" w="sm" len="sm"/>
            <a:tailEnd type="none" w="sm" len="sm"/>
          </a:ln>
          <a:effectLst>
            <a:outerShdw dist="28398" dir="1593903" algn="ctr" rotWithShape="0">
              <a:srgbClr val="000000"/>
            </a:outerShdw>
          </a:effectLst>
        </p:spPr>
        <p:txBody>
          <a:bodyPr>
            <a:spAutoFit/>
          </a:bodyPr>
          <a:lstStyle/>
          <a:p>
            <a:r>
              <a:rPr lang="zh-CN" altLang="en-US" sz="3000" b="1" dirty="0">
                <a:solidFill>
                  <a:schemeClr val="accent1"/>
                </a:solidFill>
                <a:ea typeface="黑体" pitchFamily="2" charset="-122"/>
              </a:rPr>
              <a:t>栈、队的应用举例</a:t>
            </a:r>
          </a:p>
        </p:txBody>
      </p:sp>
      <p:sp>
        <p:nvSpPr>
          <p:cNvPr id="272391" name="Rectangle 7"/>
          <p:cNvSpPr>
            <a:spLocks noChangeArrowheads="1"/>
          </p:cNvSpPr>
          <p:nvPr/>
        </p:nvSpPr>
        <p:spPr bwMode="auto">
          <a:xfrm>
            <a:off x="3854624" y="2483618"/>
            <a:ext cx="5105400" cy="457200"/>
          </a:xfrm>
          <a:prstGeom prst="rect">
            <a:avLst/>
          </a:prstGeom>
          <a:noFill/>
          <a:ln w="12700" cap="sq">
            <a:noFill/>
            <a:miter lim="800000"/>
            <a:headEnd type="none" w="sm" len="sm"/>
            <a:tailEnd type="none" w="sm" len="sm"/>
          </a:ln>
        </p:spPr>
        <p:txBody>
          <a:bodyPr>
            <a:spAutoFit/>
          </a:bodyPr>
          <a:lstStyle/>
          <a:p>
            <a:r>
              <a:rPr lang="zh-CN" altLang="en-US" sz="2400" b="1" dirty="0">
                <a:ea typeface="幼圆" pitchFamily="49" charset="-122"/>
              </a:rPr>
              <a:t>栈、队列是特殊线性表(特殊性)</a:t>
            </a:r>
          </a:p>
        </p:txBody>
      </p:sp>
      <p:sp>
        <p:nvSpPr>
          <p:cNvPr id="272392" name="Rectangle 8"/>
          <p:cNvSpPr>
            <a:spLocks noChangeArrowheads="1"/>
          </p:cNvSpPr>
          <p:nvPr/>
        </p:nvSpPr>
        <p:spPr bwMode="auto">
          <a:xfrm>
            <a:off x="3778424" y="4160018"/>
            <a:ext cx="2057400" cy="457200"/>
          </a:xfrm>
          <a:prstGeom prst="rect">
            <a:avLst/>
          </a:prstGeom>
          <a:noFill/>
          <a:ln w="12700" cap="sq">
            <a:noFill/>
            <a:miter lim="800000"/>
            <a:headEnd type="none" w="sm" len="sm"/>
            <a:tailEnd type="none" w="sm" len="sm"/>
          </a:ln>
        </p:spPr>
        <p:txBody>
          <a:bodyPr>
            <a:spAutoFit/>
          </a:bodyPr>
          <a:lstStyle/>
          <a:p>
            <a:r>
              <a:rPr lang="zh-CN" altLang="en-US" sz="2400" b="1" i="1">
                <a:solidFill>
                  <a:srgbClr val="808080"/>
                </a:solidFill>
                <a:ea typeface="幼圆" pitchFamily="49" charset="-122"/>
              </a:rPr>
              <a:t>（循环队列）</a:t>
            </a:r>
          </a:p>
        </p:txBody>
      </p:sp>
      <p:grpSp>
        <p:nvGrpSpPr>
          <p:cNvPr id="2" name="Group 9"/>
          <p:cNvGrpSpPr>
            <a:grpSpLocks/>
          </p:cNvGrpSpPr>
          <p:nvPr/>
        </p:nvGrpSpPr>
        <p:grpSpPr bwMode="auto">
          <a:xfrm>
            <a:off x="3168824" y="1675580"/>
            <a:ext cx="3962400" cy="503238"/>
            <a:chOff x="1344" y="816"/>
            <a:chExt cx="2496" cy="317"/>
          </a:xfrm>
        </p:grpSpPr>
        <p:sp>
          <p:nvSpPr>
            <p:cNvPr id="86090" name="Rectangle 10"/>
            <p:cNvSpPr>
              <a:spLocks noChangeArrowheads="1"/>
            </p:cNvSpPr>
            <p:nvPr/>
          </p:nvSpPr>
          <p:spPr bwMode="auto">
            <a:xfrm>
              <a:off x="1536" y="816"/>
              <a:ext cx="2304" cy="317"/>
            </a:xfrm>
            <a:prstGeom prst="rect">
              <a:avLst/>
            </a:prstGeom>
            <a:noFill/>
            <a:ln w="12700" cap="sq">
              <a:noFill/>
              <a:miter lim="800000"/>
              <a:headEnd type="none" w="sm" len="sm"/>
              <a:tailEnd type="none" w="sm" len="sm"/>
            </a:ln>
          </p:spPr>
          <p:txBody>
            <a:bodyPr>
              <a:spAutoFit/>
            </a:bodyPr>
            <a:lstStyle/>
            <a:p>
              <a:r>
                <a:rPr lang="zh-CN" altLang="en-US" sz="2700" b="1" dirty="0">
                  <a:solidFill>
                    <a:srgbClr val="0033CC"/>
                  </a:solidFill>
                  <a:ea typeface="幼圆" pitchFamily="49" charset="-122"/>
                </a:rPr>
                <a:t>栈、队的定义</a:t>
              </a:r>
            </a:p>
          </p:txBody>
        </p:sp>
        <p:grpSp>
          <p:nvGrpSpPr>
            <p:cNvPr id="3" name="Group 11"/>
            <p:cNvGrpSpPr>
              <a:grpSpLocks/>
            </p:cNvGrpSpPr>
            <p:nvPr/>
          </p:nvGrpSpPr>
          <p:grpSpPr bwMode="auto">
            <a:xfrm>
              <a:off x="1344" y="912"/>
              <a:ext cx="192" cy="169"/>
              <a:chOff x="4320" y="754"/>
              <a:chExt cx="240" cy="231"/>
            </a:xfrm>
          </p:grpSpPr>
          <p:sp>
            <p:nvSpPr>
              <p:cNvPr id="86092" name="Freeform 12"/>
              <p:cNvSpPr>
                <a:spLocks/>
              </p:cNvSpPr>
              <p:nvPr/>
            </p:nvSpPr>
            <p:spPr bwMode="auto">
              <a:xfrm>
                <a:off x="4320" y="754"/>
                <a:ext cx="240" cy="231"/>
              </a:xfrm>
              <a:custGeom>
                <a:avLst/>
                <a:gdLst>
                  <a:gd name="T0" fmla="*/ 0 w 720"/>
                  <a:gd name="T1" fmla="*/ 0 h 693"/>
                  <a:gd name="T2" fmla="*/ 0 w 720"/>
                  <a:gd name="T3" fmla="*/ 0 h 693"/>
                  <a:gd name="T4" fmla="*/ 0 w 720"/>
                  <a:gd name="T5" fmla="*/ 0 h 693"/>
                  <a:gd name="T6" fmla="*/ 0 w 720"/>
                  <a:gd name="T7" fmla="*/ 0 h 693"/>
                  <a:gd name="T8" fmla="*/ 0 w 720"/>
                  <a:gd name="T9" fmla="*/ 0 h 693"/>
                  <a:gd name="T10" fmla="*/ 0 w 720"/>
                  <a:gd name="T11" fmla="*/ 0 h 693"/>
                  <a:gd name="T12" fmla="*/ 0 w 720"/>
                  <a:gd name="T13" fmla="*/ 0 h 693"/>
                  <a:gd name="T14" fmla="*/ 0 w 720"/>
                  <a:gd name="T15" fmla="*/ 0 h 693"/>
                  <a:gd name="T16" fmla="*/ 0 w 720"/>
                  <a:gd name="T17" fmla="*/ 0 h 693"/>
                  <a:gd name="T18" fmla="*/ 0 w 720"/>
                  <a:gd name="T19" fmla="*/ 0 h 693"/>
                  <a:gd name="T20" fmla="*/ 0 w 720"/>
                  <a:gd name="T21" fmla="*/ 0 h 693"/>
                  <a:gd name="T22" fmla="*/ 0 w 720"/>
                  <a:gd name="T23" fmla="*/ 0 h 693"/>
                  <a:gd name="T24" fmla="*/ 0 w 720"/>
                  <a:gd name="T25" fmla="*/ 0 h 693"/>
                  <a:gd name="T26" fmla="*/ 0 w 720"/>
                  <a:gd name="T27" fmla="*/ 0 h 693"/>
                  <a:gd name="T28" fmla="*/ 0 w 720"/>
                  <a:gd name="T29" fmla="*/ 0 h 693"/>
                  <a:gd name="T30" fmla="*/ 0 w 720"/>
                  <a:gd name="T31" fmla="*/ 0 h 693"/>
                  <a:gd name="T32" fmla="*/ 0 w 720"/>
                  <a:gd name="T33" fmla="*/ 0 h 69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20"/>
                  <a:gd name="T52" fmla="*/ 0 h 693"/>
                  <a:gd name="T53" fmla="*/ 720 w 720"/>
                  <a:gd name="T54" fmla="*/ 693 h 69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20" h="693">
                    <a:moveTo>
                      <a:pt x="366" y="0"/>
                    </a:moveTo>
                    <a:lnTo>
                      <a:pt x="310" y="203"/>
                    </a:lnTo>
                    <a:lnTo>
                      <a:pt x="189" y="162"/>
                    </a:lnTo>
                    <a:lnTo>
                      <a:pt x="218" y="285"/>
                    </a:lnTo>
                    <a:lnTo>
                      <a:pt x="0" y="339"/>
                    </a:lnTo>
                    <a:lnTo>
                      <a:pt x="218" y="395"/>
                    </a:lnTo>
                    <a:lnTo>
                      <a:pt x="184" y="521"/>
                    </a:lnTo>
                    <a:lnTo>
                      <a:pt x="310" y="487"/>
                    </a:lnTo>
                    <a:lnTo>
                      <a:pt x="363" y="693"/>
                    </a:lnTo>
                    <a:lnTo>
                      <a:pt x="415" y="487"/>
                    </a:lnTo>
                    <a:lnTo>
                      <a:pt x="540" y="526"/>
                    </a:lnTo>
                    <a:lnTo>
                      <a:pt x="510" y="399"/>
                    </a:lnTo>
                    <a:lnTo>
                      <a:pt x="720" y="341"/>
                    </a:lnTo>
                    <a:lnTo>
                      <a:pt x="510" y="293"/>
                    </a:lnTo>
                    <a:lnTo>
                      <a:pt x="543" y="163"/>
                    </a:lnTo>
                    <a:lnTo>
                      <a:pt x="414" y="204"/>
                    </a:lnTo>
                    <a:lnTo>
                      <a:pt x="366" y="0"/>
                    </a:lnTo>
                    <a:close/>
                  </a:path>
                </a:pathLst>
              </a:custGeom>
              <a:solidFill>
                <a:srgbClr val="FF0000"/>
              </a:solidFill>
              <a:ln w="15875">
                <a:solidFill>
                  <a:srgbClr val="339966"/>
                </a:solidFill>
                <a:round/>
                <a:headEnd/>
                <a:tailEnd/>
              </a:ln>
            </p:spPr>
            <p:txBody>
              <a:bodyPr/>
              <a:lstStyle/>
              <a:p>
                <a:endParaRPr lang="zh-CN" altLang="en-US"/>
              </a:p>
            </p:txBody>
          </p:sp>
          <p:sp>
            <p:nvSpPr>
              <p:cNvPr id="86093" name="Freeform 13"/>
              <p:cNvSpPr>
                <a:spLocks/>
              </p:cNvSpPr>
              <p:nvPr/>
            </p:nvSpPr>
            <p:spPr bwMode="auto">
              <a:xfrm>
                <a:off x="4423" y="768"/>
                <a:ext cx="19" cy="100"/>
              </a:xfrm>
              <a:custGeom>
                <a:avLst/>
                <a:gdLst>
                  <a:gd name="T0" fmla="*/ 0 w 58"/>
                  <a:gd name="T1" fmla="*/ 0 h 298"/>
                  <a:gd name="T2" fmla="*/ 0 w 58"/>
                  <a:gd name="T3" fmla="*/ 0 h 298"/>
                  <a:gd name="T4" fmla="*/ 0 w 58"/>
                  <a:gd name="T5" fmla="*/ 0 h 298"/>
                  <a:gd name="T6" fmla="*/ 0 w 58"/>
                  <a:gd name="T7" fmla="*/ 0 h 298"/>
                  <a:gd name="T8" fmla="*/ 0 60000 65536"/>
                  <a:gd name="T9" fmla="*/ 0 60000 65536"/>
                  <a:gd name="T10" fmla="*/ 0 60000 65536"/>
                  <a:gd name="T11" fmla="*/ 0 60000 65536"/>
                  <a:gd name="T12" fmla="*/ 0 w 58"/>
                  <a:gd name="T13" fmla="*/ 0 h 298"/>
                  <a:gd name="T14" fmla="*/ 58 w 58"/>
                  <a:gd name="T15" fmla="*/ 298 h 298"/>
                </a:gdLst>
                <a:ahLst/>
                <a:cxnLst>
                  <a:cxn ang="T8">
                    <a:pos x="T0" y="T1"/>
                  </a:cxn>
                  <a:cxn ang="T9">
                    <a:pos x="T2" y="T3"/>
                  </a:cxn>
                  <a:cxn ang="T10">
                    <a:pos x="T4" y="T5"/>
                  </a:cxn>
                  <a:cxn ang="T11">
                    <a:pos x="T6" y="T7"/>
                  </a:cxn>
                </a:cxnLst>
                <a:rect l="T12" t="T13" r="T14" b="T15"/>
                <a:pathLst>
                  <a:path w="58" h="298">
                    <a:moveTo>
                      <a:pt x="58" y="0"/>
                    </a:moveTo>
                    <a:lnTo>
                      <a:pt x="58" y="298"/>
                    </a:lnTo>
                    <a:lnTo>
                      <a:pt x="0" y="244"/>
                    </a:lnTo>
                    <a:lnTo>
                      <a:pt x="58" y="0"/>
                    </a:lnTo>
                    <a:close/>
                  </a:path>
                </a:pathLst>
              </a:custGeom>
              <a:solidFill>
                <a:srgbClr val="FF0000"/>
              </a:solidFill>
              <a:ln w="15875">
                <a:solidFill>
                  <a:srgbClr val="339966"/>
                </a:solidFill>
                <a:round/>
                <a:headEnd/>
                <a:tailEnd/>
              </a:ln>
            </p:spPr>
            <p:txBody>
              <a:bodyPr/>
              <a:lstStyle/>
              <a:p>
                <a:endParaRPr lang="zh-CN" altLang="en-US"/>
              </a:p>
            </p:txBody>
          </p:sp>
          <p:sp>
            <p:nvSpPr>
              <p:cNvPr id="86094" name="Freeform 14"/>
              <p:cNvSpPr>
                <a:spLocks/>
              </p:cNvSpPr>
              <p:nvPr/>
            </p:nvSpPr>
            <p:spPr bwMode="auto">
              <a:xfrm>
                <a:off x="4343" y="868"/>
                <a:ext cx="99" cy="19"/>
              </a:xfrm>
              <a:custGeom>
                <a:avLst/>
                <a:gdLst>
                  <a:gd name="T0" fmla="*/ 0 w 298"/>
                  <a:gd name="T1" fmla="*/ 0 h 59"/>
                  <a:gd name="T2" fmla="*/ 0 w 298"/>
                  <a:gd name="T3" fmla="*/ 0 h 59"/>
                  <a:gd name="T4" fmla="*/ 0 w 298"/>
                  <a:gd name="T5" fmla="*/ 0 h 59"/>
                  <a:gd name="T6" fmla="*/ 0 w 298"/>
                  <a:gd name="T7" fmla="*/ 0 h 59"/>
                  <a:gd name="T8" fmla="*/ 0 60000 65536"/>
                  <a:gd name="T9" fmla="*/ 0 60000 65536"/>
                  <a:gd name="T10" fmla="*/ 0 60000 65536"/>
                  <a:gd name="T11" fmla="*/ 0 60000 65536"/>
                  <a:gd name="T12" fmla="*/ 0 w 298"/>
                  <a:gd name="T13" fmla="*/ 0 h 59"/>
                  <a:gd name="T14" fmla="*/ 298 w 298"/>
                  <a:gd name="T15" fmla="*/ 59 h 59"/>
                </a:gdLst>
                <a:ahLst/>
                <a:cxnLst>
                  <a:cxn ang="T8">
                    <a:pos x="T0" y="T1"/>
                  </a:cxn>
                  <a:cxn ang="T9">
                    <a:pos x="T2" y="T3"/>
                  </a:cxn>
                  <a:cxn ang="T10">
                    <a:pos x="T4" y="T5"/>
                  </a:cxn>
                  <a:cxn ang="T11">
                    <a:pos x="T6" y="T7"/>
                  </a:cxn>
                </a:cxnLst>
                <a:rect l="T12" t="T13" r="T14" b="T15"/>
                <a:pathLst>
                  <a:path w="298" h="59">
                    <a:moveTo>
                      <a:pt x="0" y="0"/>
                    </a:moveTo>
                    <a:lnTo>
                      <a:pt x="298" y="0"/>
                    </a:lnTo>
                    <a:lnTo>
                      <a:pt x="242" y="59"/>
                    </a:lnTo>
                    <a:lnTo>
                      <a:pt x="0" y="0"/>
                    </a:lnTo>
                    <a:close/>
                  </a:path>
                </a:pathLst>
              </a:custGeom>
              <a:solidFill>
                <a:srgbClr val="FF0000"/>
              </a:solidFill>
              <a:ln w="15875">
                <a:solidFill>
                  <a:srgbClr val="339966"/>
                </a:solidFill>
                <a:round/>
                <a:headEnd/>
                <a:tailEnd/>
              </a:ln>
            </p:spPr>
            <p:txBody>
              <a:bodyPr/>
              <a:lstStyle/>
              <a:p>
                <a:endParaRPr lang="zh-CN" altLang="en-US"/>
              </a:p>
            </p:txBody>
          </p:sp>
          <p:sp>
            <p:nvSpPr>
              <p:cNvPr id="86095" name="Freeform 15"/>
              <p:cNvSpPr>
                <a:spLocks/>
              </p:cNvSpPr>
              <p:nvPr/>
            </p:nvSpPr>
            <p:spPr bwMode="auto">
              <a:xfrm>
                <a:off x="4442" y="868"/>
                <a:ext cx="19" cy="99"/>
              </a:xfrm>
              <a:custGeom>
                <a:avLst/>
                <a:gdLst>
                  <a:gd name="T0" fmla="*/ 0 w 56"/>
                  <a:gd name="T1" fmla="*/ 0 h 297"/>
                  <a:gd name="T2" fmla="*/ 0 w 56"/>
                  <a:gd name="T3" fmla="*/ 0 h 297"/>
                  <a:gd name="T4" fmla="*/ 0 w 56"/>
                  <a:gd name="T5" fmla="*/ 0 h 297"/>
                  <a:gd name="T6" fmla="*/ 0 w 56"/>
                  <a:gd name="T7" fmla="*/ 0 h 297"/>
                  <a:gd name="T8" fmla="*/ 0 60000 65536"/>
                  <a:gd name="T9" fmla="*/ 0 60000 65536"/>
                  <a:gd name="T10" fmla="*/ 0 60000 65536"/>
                  <a:gd name="T11" fmla="*/ 0 60000 65536"/>
                  <a:gd name="T12" fmla="*/ 0 w 56"/>
                  <a:gd name="T13" fmla="*/ 0 h 297"/>
                  <a:gd name="T14" fmla="*/ 56 w 56"/>
                  <a:gd name="T15" fmla="*/ 297 h 297"/>
                </a:gdLst>
                <a:ahLst/>
                <a:cxnLst>
                  <a:cxn ang="T8">
                    <a:pos x="T0" y="T1"/>
                  </a:cxn>
                  <a:cxn ang="T9">
                    <a:pos x="T2" y="T3"/>
                  </a:cxn>
                  <a:cxn ang="T10">
                    <a:pos x="T4" y="T5"/>
                  </a:cxn>
                  <a:cxn ang="T11">
                    <a:pos x="T6" y="T7"/>
                  </a:cxn>
                </a:cxnLst>
                <a:rect l="T12" t="T13" r="T14" b="T15"/>
                <a:pathLst>
                  <a:path w="56" h="297">
                    <a:moveTo>
                      <a:pt x="0" y="297"/>
                    </a:moveTo>
                    <a:lnTo>
                      <a:pt x="0" y="0"/>
                    </a:lnTo>
                    <a:lnTo>
                      <a:pt x="56" y="56"/>
                    </a:lnTo>
                    <a:lnTo>
                      <a:pt x="0" y="297"/>
                    </a:lnTo>
                    <a:close/>
                  </a:path>
                </a:pathLst>
              </a:custGeom>
              <a:solidFill>
                <a:srgbClr val="FF0000"/>
              </a:solidFill>
              <a:ln w="15875">
                <a:solidFill>
                  <a:srgbClr val="339966"/>
                </a:solidFill>
                <a:round/>
                <a:headEnd/>
                <a:tailEnd/>
              </a:ln>
            </p:spPr>
            <p:txBody>
              <a:bodyPr/>
              <a:lstStyle/>
              <a:p>
                <a:endParaRPr lang="zh-CN" altLang="en-US"/>
              </a:p>
            </p:txBody>
          </p:sp>
          <p:sp>
            <p:nvSpPr>
              <p:cNvPr id="86096" name="Freeform 16"/>
              <p:cNvSpPr>
                <a:spLocks/>
              </p:cNvSpPr>
              <p:nvPr/>
            </p:nvSpPr>
            <p:spPr bwMode="auto">
              <a:xfrm>
                <a:off x="4442" y="849"/>
                <a:ext cx="99" cy="19"/>
              </a:xfrm>
              <a:custGeom>
                <a:avLst/>
                <a:gdLst>
                  <a:gd name="T0" fmla="*/ 0 w 297"/>
                  <a:gd name="T1" fmla="*/ 0 h 57"/>
                  <a:gd name="T2" fmla="*/ 0 w 297"/>
                  <a:gd name="T3" fmla="*/ 0 h 57"/>
                  <a:gd name="T4" fmla="*/ 0 w 297"/>
                  <a:gd name="T5" fmla="*/ 0 h 57"/>
                  <a:gd name="T6" fmla="*/ 0 w 297"/>
                  <a:gd name="T7" fmla="*/ 0 h 57"/>
                  <a:gd name="T8" fmla="*/ 0 60000 65536"/>
                  <a:gd name="T9" fmla="*/ 0 60000 65536"/>
                  <a:gd name="T10" fmla="*/ 0 60000 65536"/>
                  <a:gd name="T11" fmla="*/ 0 60000 65536"/>
                  <a:gd name="T12" fmla="*/ 0 w 297"/>
                  <a:gd name="T13" fmla="*/ 0 h 57"/>
                  <a:gd name="T14" fmla="*/ 297 w 297"/>
                  <a:gd name="T15" fmla="*/ 57 h 57"/>
                </a:gdLst>
                <a:ahLst/>
                <a:cxnLst>
                  <a:cxn ang="T8">
                    <a:pos x="T0" y="T1"/>
                  </a:cxn>
                  <a:cxn ang="T9">
                    <a:pos x="T2" y="T3"/>
                  </a:cxn>
                  <a:cxn ang="T10">
                    <a:pos x="T4" y="T5"/>
                  </a:cxn>
                  <a:cxn ang="T11">
                    <a:pos x="T6" y="T7"/>
                  </a:cxn>
                </a:cxnLst>
                <a:rect l="T12" t="T13" r="T14" b="T15"/>
                <a:pathLst>
                  <a:path w="297" h="57">
                    <a:moveTo>
                      <a:pt x="297" y="57"/>
                    </a:moveTo>
                    <a:lnTo>
                      <a:pt x="0" y="57"/>
                    </a:lnTo>
                    <a:lnTo>
                      <a:pt x="55" y="0"/>
                    </a:lnTo>
                    <a:lnTo>
                      <a:pt x="297" y="57"/>
                    </a:lnTo>
                    <a:close/>
                  </a:path>
                </a:pathLst>
              </a:custGeom>
              <a:solidFill>
                <a:srgbClr val="FF0000"/>
              </a:solidFill>
              <a:ln w="15875">
                <a:solidFill>
                  <a:srgbClr val="339966"/>
                </a:solidFill>
                <a:round/>
                <a:headEnd/>
                <a:tailEnd/>
              </a:ln>
            </p:spPr>
            <p:txBody>
              <a:bodyPr/>
              <a:lstStyle/>
              <a:p>
                <a:endParaRPr lang="zh-CN" altLang="en-US"/>
              </a:p>
            </p:txBody>
          </p:sp>
          <p:sp>
            <p:nvSpPr>
              <p:cNvPr id="86097" name="Freeform 17"/>
              <p:cNvSpPr>
                <a:spLocks/>
              </p:cNvSpPr>
              <p:nvPr/>
            </p:nvSpPr>
            <p:spPr bwMode="auto">
              <a:xfrm>
                <a:off x="4388" y="814"/>
                <a:ext cx="29" cy="34"/>
              </a:xfrm>
              <a:custGeom>
                <a:avLst/>
                <a:gdLst>
                  <a:gd name="T0" fmla="*/ 0 w 87"/>
                  <a:gd name="T1" fmla="*/ 0 h 102"/>
                  <a:gd name="T2" fmla="*/ 0 w 87"/>
                  <a:gd name="T3" fmla="*/ 0 h 102"/>
                  <a:gd name="T4" fmla="*/ 0 w 87"/>
                  <a:gd name="T5" fmla="*/ 0 h 102"/>
                  <a:gd name="T6" fmla="*/ 0 w 87"/>
                  <a:gd name="T7" fmla="*/ 0 h 102"/>
                  <a:gd name="T8" fmla="*/ 0 60000 65536"/>
                  <a:gd name="T9" fmla="*/ 0 60000 65536"/>
                  <a:gd name="T10" fmla="*/ 0 60000 65536"/>
                  <a:gd name="T11" fmla="*/ 0 60000 65536"/>
                  <a:gd name="T12" fmla="*/ 0 w 87"/>
                  <a:gd name="T13" fmla="*/ 0 h 102"/>
                  <a:gd name="T14" fmla="*/ 87 w 87"/>
                  <a:gd name="T15" fmla="*/ 102 h 102"/>
                </a:gdLst>
                <a:ahLst/>
                <a:cxnLst>
                  <a:cxn ang="T8">
                    <a:pos x="T0" y="T1"/>
                  </a:cxn>
                  <a:cxn ang="T9">
                    <a:pos x="T2" y="T3"/>
                  </a:cxn>
                  <a:cxn ang="T10">
                    <a:pos x="T4" y="T5"/>
                  </a:cxn>
                  <a:cxn ang="T11">
                    <a:pos x="T6" y="T7"/>
                  </a:cxn>
                </a:cxnLst>
                <a:rect l="T12" t="T13" r="T14" b="T15"/>
                <a:pathLst>
                  <a:path w="87" h="102">
                    <a:moveTo>
                      <a:pt x="0" y="0"/>
                    </a:moveTo>
                    <a:lnTo>
                      <a:pt x="87" y="88"/>
                    </a:lnTo>
                    <a:lnTo>
                      <a:pt x="29" y="102"/>
                    </a:lnTo>
                    <a:lnTo>
                      <a:pt x="0" y="0"/>
                    </a:lnTo>
                    <a:close/>
                  </a:path>
                </a:pathLst>
              </a:custGeom>
              <a:solidFill>
                <a:srgbClr val="FF0000"/>
              </a:solidFill>
              <a:ln w="15875">
                <a:solidFill>
                  <a:srgbClr val="339966"/>
                </a:solidFill>
                <a:round/>
                <a:headEnd/>
                <a:tailEnd/>
              </a:ln>
            </p:spPr>
            <p:txBody>
              <a:bodyPr/>
              <a:lstStyle/>
              <a:p>
                <a:endParaRPr lang="zh-CN" altLang="en-US"/>
              </a:p>
            </p:txBody>
          </p:sp>
          <p:sp>
            <p:nvSpPr>
              <p:cNvPr id="86098" name="Freeform 18"/>
              <p:cNvSpPr>
                <a:spLocks/>
              </p:cNvSpPr>
              <p:nvPr/>
            </p:nvSpPr>
            <p:spPr bwMode="auto">
              <a:xfrm>
                <a:off x="4388" y="893"/>
                <a:ext cx="34" cy="28"/>
              </a:xfrm>
              <a:custGeom>
                <a:avLst/>
                <a:gdLst>
                  <a:gd name="T0" fmla="*/ 0 w 103"/>
                  <a:gd name="T1" fmla="*/ 0 h 84"/>
                  <a:gd name="T2" fmla="*/ 0 w 103"/>
                  <a:gd name="T3" fmla="*/ 0 h 84"/>
                  <a:gd name="T4" fmla="*/ 0 w 103"/>
                  <a:gd name="T5" fmla="*/ 0 h 84"/>
                  <a:gd name="T6" fmla="*/ 0 w 103"/>
                  <a:gd name="T7" fmla="*/ 0 h 84"/>
                  <a:gd name="T8" fmla="*/ 0 60000 65536"/>
                  <a:gd name="T9" fmla="*/ 0 60000 65536"/>
                  <a:gd name="T10" fmla="*/ 0 60000 65536"/>
                  <a:gd name="T11" fmla="*/ 0 60000 65536"/>
                  <a:gd name="T12" fmla="*/ 0 w 103"/>
                  <a:gd name="T13" fmla="*/ 0 h 84"/>
                  <a:gd name="T14" fmla="*/ 103 w 103"/>
                  <a:gd name="T15" fmla="*/ 84 h 84"/>
                </a:gdLst>
                <a:ahLst/>
                <a:cxnLst>
                  <a:cxn ang="T8">
                    <a:pos x="T0" y="T1"/>
                  </a:cxn>
                  <a:cxn ang="T9">
                    <a:pos x="T2" y="T3"/>
                  </a:cxn>
                  <a:cxn ang="T10">
                    <a:pos x="T4" y="T5"/>
                  </a:cxn>
                  <a:cxn ang="T11">
                    <a:pos x="T6" y="T7"/>
                  </a:cxn>
                </a:cxnLst>
                <a:rect l="T12" t="T13" r="T14" b="T15"/>
                <a:pathLst>
                  <a:path w="103" h="84">
                    <a:moveTo>
                      <a:pt x="0" y="84"/>
                    </a:moveTo>
                    <a:lnTo>
                      <a:pt x="89" y="0"/>
                    </a:lnTo>
                    <a:lnTo>
                      <a:pt x="103" y="56"/>
                    </a:lnTo>
                    <a:lnTo>
                      <a:pt x="0" y="84"/>
                    </a:lnTo>
                    <a:close/>
                  </a:path>
                </a:pathLst>
              </a:custGeom>
              <a:solidFill>
                <a:srgbClr val="FF0000"/>
              </a:solidFill>
              <a:ln w="15875">
                <a:solidFill>
                  <a:srgbClr val="339966"/>
                </a:solidFill>
                <a:round/>
                <a:headEnd/>
                <a:tailEnd/>
              </a:ln>
            </p:spPr>
            <p:txBody>
              <a:bodyPr/>
              <a:lstStyle/>
              <a:p>
                <a:endParaRPr lang="zh-CN" altLang="en-US"/>
              </a:p>
            </p:txBody>
          </p:sp>
          <p:sp>
            <p:nvSpPr>
              <p:cNvPr id="86099" name="Freeform 19"/>
              <p:cNvSpPr>
                <a:spLocks/>
              </p:cNvSpPr>
              <p:nvPr/>
            </p:nvSpPr>
            <p:spPr bwMode="auto">
              <a:xfrm>
                <a:off x="4466" y="888"/>
                <a:ext cx="29" cy="34"/>
              </a:xfrm>
              <a:custGeom>
                <a:avLst/>
                <a:gdLst>
                  <a:gd name="T0" fmla="*/ 0 w 87"/>
                  <a:gd name="T1" fmla="*/ 0 h 102"/>
                  <a:gd name="T2" fmla="*/ 0 w 87"/>
                  <a:gd name="T3" fmla="*/ 0 h 102"/>
                  <a:gd name="T4" fmla="*/ 0 w 87"/>
                  <a:gd name="T5" fmla="*/ 0 h 102"/>
                  <a:gd name="T6" fmla="*/ 0 w 87"/>
                  <a:gd name="T7" fmla="*/ 0 h 102"/>
                  <a:gd name="T8" fmla="*/ 0 60000 65536"/>
                  <a:gd name="T9" fmla="*/ 0 60000 65536"/>
                  <a:gd name="T10" fmla="*/ 0 60000 65536"/>
                  <a:gd name="T11" fmla="*/ 0 60000 65536"/>
                  <a:gd name="T12" fmla="*/ 0 w 87"/>
                  <a:gd name="T13" fmla="*/ 0 h 102"/>
                  <a:gd name="T14" fmla="*/ 87 w 87"/>
                  <a:gd name="T15" fmla="*/ 102 h 102"/>
                </a:gdLst>
                <a:ahLst/>
                <a:cxnLst>
                  <a:cxn ang="T8">
                    <a:pos x="T0" y="T1"/>
                  </a:cxn>
                  <a:cxn ang="T9">
                    <a:pos x="T2" y="T3"/>
                  </a:cxn>
                  <a:cxn ang="T10">
                    <a:pos x="T4" y="T5"/>
                  </a:cxn>
                  <a:cxn ang="T11">
                    <a:pos x="T6" y="T7"/>
                  </a:cxn>
                </a:cxnLst>
                <a:rect l="T12" t="T13" r="T14" b="T15"/>
                <a:pathLst>
                  <a:path w="87" h="102">
                    <a:moveTo>
                      <a:pt x="87" y="102"/>
                    </a:moveTo>
                    <a:lnTo>
                      <a:pt x="0" y="14"/>
                    </a:lnTo>
                    <a:lnTo>
                      <a:pt x="58" y="0"/>
                    </a:lnTo>
                    <a:lnTo>
                      <a:pt x="87" y="102"/>
                    </a:lnTo>
                    <a:close/>
                  </a:path>
                </a:pathLst>
              </a:custGeom>
              <a:solidFill>
                <a:srgbClr val="FF0000"/>
              </a:solidFill>
              <a:ln w="15875">
                <a:solidFill>
                  <a:srgbClr val="339966"/>
                </a:solidFill>
                <a:round/>
                <a:headEnd/>
                <a:tailEnd/>
              </a:ln>
            </p:spPr>
            <p:txBody>
              <a:bodyPr/>
              <a:lstStyle/>
              <a:p>
                <a:endParaRPr lang="zh-CN" altLang="en-US"/>
              </a:p>
            </p:txBody>
          </p:sp>
          <p:sp>
            <p:nvSpPr>
              <p:cNvPr id="86100" name="Freeform 20"/>
              <p:cNvSpPr>
                <a:spLocks/>
              </p:cNvSpPr>
              <p:nvPr/>
            </p:nvSpPr>
            <p:spPr bwMode="auto">
              <a:xfrm>
                <a:off x="4461" y="814"/>
                <a:ext cx="35" cy="29"/>
              </a:xfrm>
              <a:custGeom>
                <a:avLst/>
                <a:gdLst>
                  <a:gd name="T0" fmla="*/ 0 w 104"/>
                  <a:gd name="T1" fmla="*/ 0 h 87"/>
                  <a:gd name="T2" fmla="*/ 0 w 104"/>
                  <a:gd name="T3" fmla="*/ 0 h 87"/>
                  <a:gd name="T4" fmla="*/ 0 w 104"/>
                  <a:gd name="T5" fmla="*/ 0 h 87"/>
                  <a:gd name="T6" fmla="*/ 0 w 104"/>
                  <a:gd name="T7" fmla="*/ 0 h 87"/>
                  <a:gd name="T8" fmla="*/ 0 60000 65536"/>
                  <a:gd name="T9" fmla="*/ 0 60000 65536"/>
                  <a:gd name="T10" fmla="*/ 0 60000 65536"/>
                  <a:gd name="T11" fmla="*/ 0 60000 65536"/>
                  <a:gd name="T12" fmla="*/ 0 w 104"/>
                  <a:gd name="T13" fmla="*/ 0 h 87"/>
                  <a:gd name="T14" fmla="*/ 104 w 104"/>
                  <a:gd name="T15" fmla="*/ 87 h 87"/>
                </a:gdLst>
                <a:ahLst/>
                <a:cxnLst>
                  <a:cxn ang="T8">
                    <a:pos x="T0" y="T1"/>
                  </a:cxn>
                  <a:cxn ang="T9">
                    <a:pos x="T2" y="T3"/>
                  </a:cxn>
                  <a:cxn ang="T10">
                    <a:pos x="T4" y="T5"/>
                  </a:cxn>
                  <a:cxn ang="T11">
                    <a:pos x="T6" y="T7"/>
                  </a:cxn>
                </a:cxnLst>
                <a:rect l="T12" t="T13" r="T14" b="T15"/>
                <a:pathLst>
                  <a:path w="104" h="87">
                    <a:moveTo>
                      <a:pt x="104" y="0"/>
                    </a:moveTo>
                    <a:lnTo>
                      <a:pt x="14" y="87"/>
                    </a:lnTo>
                    <a:lnTo>
                      <a:pt x="0" y="29"/>
                    </a:lnTo>
                    <a:lnTo>
                      <a:pt x="104" y="0"/>
                    </a:lnTo>
                    <a:close/>
                  </a:path>
                </a:pathLst>
              </a:custGeom>
              <a:solidFill>
                <a:srgbClr val="FF0000"/>
              </a:solidFill>
              <a:ln w="15875">
                <a:solidFill>
                  <a:srgbClr val="339966"/>
                </a:solidFill>
                <a:round/>
                <a:headEnd/>
                <a:tailEnd/>
              </a:ln>
            </p:spPr>
            <p:txBody>
              <a:bodyPr/>
              <a:lstStyle/>
              <a:p>
                <a:endParaRPr lang="zh-CN" altLang="en-US"/>
              </a:p>
            </p:txBody>
          </p:sp>
        </p:grpSp>
      </p:grpSp>
      <p:grpSp>
        <p:nvGrpSpPr>
          <p:cNvPr id="4" name="Group 21"/>
          <p:cNvGrpSpPr>
            <a:grpSpLocks/>
          </p:cNvGrpSpPr>
          <p:nvPr/>
        </p:nvGrpSpPr>
        <p:grpSpPr bwMode="auto">
          <a:xfrm>
            <a:off x="3168824" y="2056580"/>
            <a:ext cx="5029200" cy="503238"/>
            <a:chOff x="1344" y="1056"/>
            <a:chExt cx="3168" cy="317"/>
          </a:xfrm>
        </p:grpSpPr>
        <p:sp>
          <p:nvSpPr>
            <p:cNvPr id="86079" name="Rectangle 22"/>
            <p:cNvSpPr>
              <a:spLocks noChangeArrowheads="1"/>
            </p:cNvSpPr>
            <p:nvPr/>
          </p:nvSpPr>
          <p:spPr bwMode="auto">
            <a:xfrm>
              <a:off x="1536" y="1056"/>
              <a:ext cx="2976" cy="317"/>
            </a:xfrm>
            <a:prstGeom prst="rect">
              <a:avLst/>
            </a:prstGeom>
            <a:noFill/>
            <a:ln w="12700" cap="sq">
              <a:noFill/>
              <a:miter lim="800000"/>
              <a:headEnd type="none" w="sm" len="sm"/>
              <a:tailEnd type="none" w="sm" len="sm"/>
            </a:ln>
          </p:spPr>
          <p:txBody>
            <a:bodyPr>
              <a:spAutoFit/>
            </a:bodyPr>
            <a:lstStyle/>
            <a:p>
              <a:r>
                <a:rPr lang="zh-CN" altLang="en-US" sz="2700" b="1" dirty="0">
                  <a:solidFill>
                    <a:srgbClr val="0033CC"/>
                  </a:solidFill>
                  <a:ea typeface="幼圆" pitchFamily="49" charset="-122"/>
                </a:rPr>
                <a:t>栈、队的基本操作</a:t>
              </a:r>
            </a:p>
          </p:txBody>
        </p:sp>
        <p:grpSp>
          <p:nvGrpSpPr>
            <p:cNvPr id="5" name="Group 23"/>
            <p:cNvGrpSpPr>
              <a:grpSpLocks/>
            </p:cNvGrpSpPr>
            <p:nvPr/>
          </p:nvGrpSpPr>
          <p:grpSpPr bwMode="auto">
            <a:xfrm>
              <a:off x="1344" y="1140"/>
              <a:ext cx="192" cy="169"/>
              <a:chOff x="4320" y="754"/>
              <a:chExt cx="240" cy="231"/>
            </a:xfrm>
          </p:grpSpPr>
          <p:sp>
            <p:nvSpPr>
              <p:cNvPr id="86081" name="Freeform 24"/>
              <p:cNvSpPr>
                <a:spLocks/>
              </p:cNvSpPr>
              <p:nvPr/>
            </p:nvSpPr>
            <p:spPr bwMode="auto">
              <a:xfrm>
                <a:off x="4320" y="754"/>
                <a:ext cx="240" cy="231"/>
              </a:xfrm>
              <a:custGeom>
                <a:avLst/>
                <a:gdLst>
                  <a:gd name="T0" fmla="*/ 0 w 720"/>
                  <a:gd name="T1" fmla="*/ 0 h 693"/>
                  <a:gd name="T2" fmla="*/ 0 w 720"/>
                  <a:gd name="T3" fmla="*/ 0 h 693"/>
                  <a:gd name="T4" fmla="*/ 0 w 720"/>
                  <a:gd name="T5" fmla="*/ 0 h 693"/>
                  <a:gd name="T6" fmla="*/ 0 w 720"/>
                  <a:gd name="T7" fmla="*/ 0 h 693"/>
                  <a:gd name="T8" fmla="*/ 0 w 720"/>
                  <a:gd name="T9" fmla="*/ 0 h 693"/>
                  <a:gd name="T10" fmla="*/ 0 w 720"/>
                  <a:gd name="T11" fmla="*/ 0 h 693"/>
                  <a:gd name="T12" fmla="*/ 0 w 720"/>
                  <a:gd name="T13" fmla="*/ 0 h 693"/>
                  <a:gd name="T14" fmla="*/ 0 w 720"/>
                  <a:gd name="T15" fmla="*/ 0 h 693"/>
                  <a:gd name="T16" fmla="*/ 0 w 720"/>
                  <a:gd name="T17" fmla="*/ 0 h 693"/>
                  <a:gd name="T18" fmla="*/ 0 w 720"/>
                  <a:gd name="T19" fmla="*/ 0 h 693"/>
                  <a:gd name="T20" fmla="*/ 0 w 720"/>
                  <a:gd name="T21" fmla="*/ 0 h 693"/>
                  <a:gd name="T22" fmla="*/ 0 w 720"/>
                  <a:gd name="T23" fmla="*/ 0 h 693"/>
                  <a:gd name="T24" fmla="*/ 0 w 720"/>
                  <a:gd name="T25" fmla="*/ 0 h 693"/>
                  <a:gd name="T26" fmla="*/ 0 w 720"/>
                  <a:gd name="T27" fmla="*/ 0 h 693"/>
                  <a:gd name="T28" fmla="*/ 0 w 720"/>
                  <a:gd name="T29" fmla="*/ 0 h 693"/>
                  <a:gd name="T30" fmla="*/ 0 w 720"/>
                  <a:gd name="T31" fmla="*/ 0 h 693"/>
                  <a:gd name="T32" fmla="*/ 0 w 720"/>
                  <a:gd name="T33" fmla="*/ 0 h 69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20"/>
                  <a:gd name="T52" fmla="*/ 0 h 693"/>
                  <a:gd name="T53" fmla="*/ 720 w 720"/>
                  <a:gd name="T54" fmla="*/ 693 h 69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20" h="693">
                    <a:moveTo>
                      <a:pt x="366" y="0"/>
                    </a:moveTo>
                    <a:lnTo>
                      <a:pt x="310" y="203"/>
                    </a:lnTo>
                    <a:lnTo>
                      <a:pt x="189" y="162"/>
                    </a:lnTo>
                    <a:lnTo>
                      <a:pt x="218" y="285"/>
                    </a:lnTo>
                    <a:lnTo>
                      <a:pt x="0" y="339"/>
                    </a:lnTo>
                    <a:lnTo>
                      <a:pt x="218" y="395"/>
                    </a:lnTo>
                    <a:lnTo>
                      <a:pt x="184" y="521"/>
                    </a:lnTo>
                    <a:lnTo>
                      <a:pt x="310" y="487"/>
                    </a:lnTo>
                    <a:lnTo>
                      <a:pt x="363" y="693"/>
                    </a:lnTo>
                    <a:lnTo>
                      <a:pt x="415" y="487"/>
                    </a:lnTo>
                    <a:lnTo>
                      <a:pt x="540" y="526"/>
                    </a:lnTo>
                    <a:lnTo>
                      <a:pt x="510" y="399"/>
                    </a:lnTo>
                    <a:lnTo>
                      <a:pt x="720" y="341"/>
                    </a:lnTo>
                    <a:lnTo>
                      <a:pt x="510" y="293"/>
                    </a:lnTo>
                    <a:lnTo>
                      <a:pt x="543" y="163"/>
                    </a:lnTo>
                    <a:lnTo>
                      <a:pt x="414" y="204"/>
                    </a:lnTo>
                    <a:lnTo>
                      <a:pt x="366" y="0"/>
                    </a:lnTo>
                    <a:close/>
                  </a:path>
                </a:pathLst>
              </a:custGeom>
              <a:solidFill>
                <a:srgbClr val="FF0000"/>
              </a:solidFill>
              <a:ln w="15875">
                <a:solidFill>
                  <a:srgbClr val="339966"/>
                </a:solidFill>
                <a:round/>
                <a:headEnd/>
                <a:tailEnd/>
              </a:ln>
            </p:spPr>
            <p:txBody>
              <a:bodyPr/>
              <a:lstStyle/>
              <a:p>
                <a:endParaRPr lang="zh-CN" altLang="en-US"/>
              </a:p>
            </p:txBody>
          </p:sp>
          <p:sp>
            <p:nvSpPr>
              <p:cNvPr id="86082" name="Freeform 25"/>
              <p:cNvSpPr>
                <a:spLocks/>
              </p:cNvSpPr>
              <p:nvPr/>
            </p:nvSpPr>
            <p:spPr bwMode="auto">
              <a:xfrm>
                <a:off x="4423" y="768"/>
                <a:ext cx="19" cy="100"/>
              </a:xfrm>
              <a:custGeom>
                <a:avLst/>
                <a:gdLst>
                  <a:gd name="T0" fmla="*/ 0 w 58"/>
                  <a:gd name="T1" fmla="*/ 0 h 298"/>
                  <a:gd name="T2" fmla="*/ 0 w 58"/>
                  <a:gd name="T3" fmla="*/ 0 h 298"/>
                  <a:gd name="T4" fmla="*/ 0 w 58"/>
                  <a:gd name="T5" fmla="*/ 0 h 298"/>
                  <a:gd name="T6" fmla="*/ 0 w 58"/>
                  <a:gd name="T7" fmla="*/ 0 h 298"/>
                  <a:gd name="T8" fmla="*/ 0 60000 65536"/>
                  <a:gd name="T9" fmla="*/ 0 60000 65536"/>
                  <a:gd name="T10" fmla="*/ 0 60000 65536"/>
                  <a:gd name="T11" fmla="*/ 0 60000 65536"/>
                  <a:gd name="T12" fmla="*/ 0 w 58"/>
                  <a:gd name="T13" fmla="*/ 0 h 298"/>
                  <a:gd name="T14" fmla="*/ 58 w 58"/>
                  <a:gd name="T15" fmla="*/ 298 h 298"/>
                </a:gdLst>
                <a:ahLst/>
                <a:cxnLst>
                  <a:cxn ang="T8">
                    <a:pos x="T0" y="T1"/>
                  </a:cxn>
                  <a:cxn ang="T9">
                    <a:pos x="T2" y="T3"/>
                  </a:cxn>
                  <a:cxn ang="T10">
                    <a:pos x="T4" y="T5"/>
                  </a:cxn>
                  <a:cxn ang="T11">
                    <a:pos x="T6" y="T7"/>
                  </a:cxn>
                </a:cxnLst>
                <a:rect l="T12" t="T13" r="T14" b="T15"/>
                <a:pathLst>
                  <a:path w="58" h="298">
                    <a:moveTo>
                      <a:pt x="58" y="0"/>
                    </a:moveTo>
                    <a:lnTo>
                      <a:pt x="58" y="298"/>
                    </a:lnTo>
                    <a:lnTo>
                      <a:pt x="0" y="244"/>
                    </a:lnTo>
                    <a:lnTo>
                      <a:pt x="58" y="0"/>
                    </a:lnTo>
                    <a:close/>
                  </a:path>
                </a:pathLst>
              </a:custGeom>
              <a:solidFill>
                <a:srgbClr val="FF0000"/>
              </a:solidFill>
              <a:ln w="15875">
                <a:solidFill>
                  <a:srgbClr val="339966"/>
                </a:solidFill>
                <a:round/>
                <a:headEnd/>
                <a:tailEnd/>
              </a:ln>
            </p:spPr>
            <p:txBody>
              <a:bodyPr/>
              <a:lstStyle/>
              <a:p>
                <a:endParaRPr lang="zh-CN" altLang="en-US"/>
              </a:p>
            </p:txBody>
          </p:sp>
          <p:sp>
            <p:nvSpPr>
              <p:cNvPr id="86083" name="Freeform 26"/>
              <p:cNvSpPr>
                <a:spLocks/>
              </p:cNvSpPr>
              <p:nvPr/>
            </p:nvSpPr>
            <p:spPr bwMode="auto">
              <a:xfrm>
                <a:off x="4343" y="868"/>
                <a:ext cx="99" cy="19"/>
              </a:xfrm>
              <a:custGeom>
                <a:avLst/>
                <a:gdLst>
                  <a:gd name="T0" fmla="*/ 0 w 298"/>
                  <a:gd name="T1" fmla="*/ 0 h 59"/>
                  <a:gd name="T2" fmla="*/ 0 w 298"/>
                  <a:gd name="T3" fmla="*/ 0 h 59"/>
                  <a:gd name="T4" fmla="*/ 0 w 298"/>
                  <a:gd name="T5" fmla="*/ 0 h 59"/>
                  <a:gd name="T6" fmla="*/ 0 w 298"/>
                  <a:gd name="T7" fmla="*/ 0 h 59"/>
                  <a:gd name="T8" fmla="*/ 0 60000 65536"/>
                  <a:gd name="T9" fmla="*/ 0 60000 65536"/>
                  <a:gd name="T10" fmla="*/ 0 60000 65536"/>
                  <a:gd name="T11" fmla="*/ 0 60000 65536"/>
                  <a:gd name="T12" fmla="*/ 0 w 298"/>
                  <a:gd name="T13" fmla="*/ 0 h 59"/>
                  <a:gd name="T14" fmla="*/ 298 w 298"/>
                  <a:gd name="T15" fmla="*/ 59 h 59"/>
                </a:gdLst>
                <a:ahLst/>
                <a:cxnLst>
                  <a:cxn ang="T8">
                    <a:pos x="T0" y="T1"/>
                  </a:cxn>
                  <a:cxn ang="T9">
                    <a:pos x="T2" y="T3"/>
                  </a:cxn>
                  <a:cxn ang="T10">
                    <a:pos x="T4" y="T5"/>
                  </a:cxn>
                  <a:cxn ang="T11">
                    <a:pos x="T6" y="T7"/>
                  </a:cxn>
                </a:cxnLst>
                <a:rect l="T12" t="T13" r="T14" b="T15"/>
                <a:pathLst>
                  <a:path w="298" h="59">
                    <a:moveTo>
                      <a:pt x="0" y="0"/>
                    </a:moveTo>
                    <a:lnTo>
                      <a:pt x="298" y="0"/>
                    </a:lnTo>
                    <a:lnTo>
                      <a:pt x="242" y="59"/>
                    </a:lnTo>
                    <a:lnTo>
                      <a:pt x="0" y="0"/>
                    </a:lnTo>
                    <a:close/>
                  </a:path>
                </a:pathLst>
              </a:custGeom>
              <a:solidFill>
                <a:srgbClr val="FF0000"/>
              </a:solidFill>
              <a:ln w="15875">
                <a:solidFill>
                  <a:srgbClr val="339966"/>
                </a:solidFill>
                <a:round/>
                <a:headEnd/>
                <a:tailEnd/>
              </a:ln>
            </p:spPr>
            <p:txBody>
              <a:bodyPr/>
              <a:lstStyle/>
              <a:p>
                <a:endParaRPr lang="zh-CN" altLang="en-US"/>
              </a:p>
            </p:txBody>
          </p:sp>
          <p:sp>
            <p:nvSpPr>
              <p:cNvPr id="86084" name="Freeform 27"/>
              <p:cNvSpPr>
                <a:spLocks/>
              </p:cNvSpPr>
              <p:nvPr/>
            </p:nvSpPr>
            <p:spPr bwMode="auto">
              <a:xfrm>
                <a:off x="4442" y="868"/>
                <a:ext cx="19" cy="99"/>
              </a:xfrm>
              <a:custGeom>
                <a:avLst/>
                <a:gdLst>
                  <a:gd name="T0" fmla="*/ 0 w 56"/>
                  <a:gd name="T1" fmla="*/ 0 h 297"/>
                  <a:gd name="T2" fmla="*/ 0 w 56"/>
                  <a:gd name="T3" fmla="*/ 0 h 297"/>
                  <a:gd name="T4" fmla="*/ 0 w 56"/>
                  <a:gd name="T5" fmla="*/ 0 h 297"/>
                  <a:gd name="T6" fmla="*/ 0 w 56"/>
                  <a:gd name="T7" fmla="*/ 0 h 297"/>
                  <a:gd name="T8" fmla="*/ 0 60000 65536"/>
                  <a:gd name="T9" fmla="*/ 0 60000 65536"/>
                  <a:gd name="T10" fmla="*/ 0 60000 65536"/>
                  <a:gd name="T11" fmla="*/ 0 60000 65536"/>
                  <a:gd name="T12" fmla="*/ 0 w 56"/>
                  <a:gd name="T13" fmla="*/ 0 h 297"/>
                  <a:gd name="T14" fmla="*/ 56 w 56"/>
                  <a:gd name="T15" fmla="*/ 297 h 297"/>
                </a:gdLst>
                <a:ahLst/>
                <a:cxnLst>
                  <a:cxn ang="T8">
                    <a:pos x="T0" y="T1"/>
                  </a:cxn>
                  <a:cxn ang="T9">
                    <a:pos x="T2" y="T3"/>
                  </a:cxn>
                  <a:cxn ang="T10">
                    <a:pos x="T4" y="T5"/>
                  </a:cxn>
                  <a:cxn ang="T11">
                    <a:pos x="T6" y="T7"/>
                  </a:cxn>
                </a:cxnLst>
                <a:rect l="T12" t="T13" r="T14" b="T15"/>
                <a:pathLst>
                  <a:path w="56" h="297">
                    <a:moveTo>
                      <a:pt x="0" y="297"/>
                    </a:moveTo>
                    <a:lnTo>
                      <a:pt x="0" y="0"/>
                    </a:lnTo>
                    <a:lnTo>
                      <a:pt x="56" y="56"/>
                    </a:lnTo>
                    <a:lnTo>
                      <a:pt x="0" y="297"/>
                    </a:lnTo>
                    <a:close/>
                  </a:path>
                </a:pathLst>
              </a:custGeom>
              <a:solidFill>
                <a:srgbClr val="FF0000"/>
              </a:solidFill>
              <a:ln w="15875">
                <a:solidFill>
                  <a:srgbClr val="339966"/>
                </a:solidFill>
                <a:round/>
                <a:headEnd/>
                <a:tailEnd/>
              </a:ln>
            </p:spPr>
            <p:txBody>
              <a:bodyPr/>
              <a:lstStyle/>
              <a:p>
                <a:endParaRPr lang="zh-CN" altLang="en-US"/>
              </a:p>
            </p:txBody>
          </p:sp>
          <p:sp>
            <p:nvSpPr>
              <p:cNvPr id="86085" name="Freeform 28"/>
              <p:cNvSpPr>
                <a:spLocks/>
              </p:cNvSpPr>
              <p:nvPr/>
            </p:nvSpPr>
            <p:spPr bwMode="auto">
              <a:xfrm>
                <a:off x="4442" y="849"/>
                <a:ext cx="99" cy="19"/>
              </a:xfrm>
              <a:custGeom>
                <a:avLst/>
                <a:gdLst>
                  <a:gd name="T0" fmla="*/ 0 w 297"/>
                  <a:gd name="T1" fmla="*/ 0 h 57"/>
                  <a:gd name="T2" fmla="*/ 0 w 297"/>
                  <a:gd name="T3" fmla="*/ 0 h 57"/>
                  <a:gd name="T4" fmla="*/ 0 w 297"/>
                  <a:gd name="T5" fmla="*/ 0 h 57"/>
                  <a:gd name="T6" fmla="*/ 0 w 297"/>
                  <a:gd name="T7" fmla="*/ 0 h 57"/>
                  <a:gd name="T8" fmla="*/ 0 60000 65536"/>
                  <a:gd name="T9" fmla="*/ 0 60000 65536"/>
                  <a:gd name="T10" fmla="*/ 0 60000 65536"/>
                  <a:gd name="T11" fmla="*/ 0 60000 65536"/>
                  <a:gd name="T12" fmla="*/ 0 w 297"/>
                  <a:gd name="T13" fmla="*/ 0 h 57"/>
                  <a:gd name="T14" fmla="*/ 297 w 297"/>
                  <a:gd name="T15" fmla="*/ 57 h 57"/>
                </a:gdLst>
                <a:ahLst/>
                <a:cxnLst>
                  <a:cxn ang="T8">
                    <a:pos x="T0" y="T1"/>
                  </a:cxn>
                  <a:cxn ang="T9">
                    <a:pos x="T2" y="T3"/>
                  </a:cxn>
                  <a:cxn ang="T10">
                    <a:pos x="T4" y="T5"/>
                  </a:cxn>
                  <a:cxn ang="T11">
                    <a:pos x="T6" y="T7"/>
                  </a:cxn>
                </a:cxnLst>
                <a:rect l="T12" t="T13" r="T14" b="T15"/>
                <a:pathLst>
                  <a:path w="297" h="57">
                    <a:moveTo>
                      <a:pt x="297" y="57"/>
                    </a:moveTo>
                    <a:lnTo>
                      <a:pt x="0" y="57"/>
                    </a:lnTo>
                    <a:lnTo>
                      <a:pt x="55" y="0"/>
                    </a:lnTo>
                    <a:lnTo>
                      <a:pt x="297" y="57"/>
                    </a:lnTo>
                    <a:close/>
                  </a:path>
                </a:pathLst>
              </a:custGeom>
              <a:solidFill>
                <a:srgbClr val="FF0000"/>
              </a:solidFill>
              <a:ln w="15875">
                <a:solidFill>
                  <a:srgbClr val="339966"/>
                </a:solidFill>
                <a:round/>
                <a:headEnd/>
                <a:tailEnd/>
              </a:ln>
            </p:spPr>
            <p:txBody>
              <a:bodyPr/>
              <a:lstStyle/>
              <a:p>
                <a:endParaRPr lang="zh-CN" altLang="en-US"/>
              </a:p>
            </p:txBody>
          </p:sp>
          <p:sp>
            <p:nvSpPr>
              <p:cNvPr id="86086" name="Freeform 29"/>
              <p:cNvSpPr>
                <a:spLocks/>
              </p:cNvSpPr>
              <p:nvPr/>
            </p:nvSpPr>
            <p:spPr bwMode="auto">
              <a:xfrm>
                <a:off x="4388" y="814"/>
                <a:ext cx="29" cy="34"/>
              </a:xfrm>
              <a:custGeom>
                <a:avLst/>
                <a:gdLst>
                  <a:gd name="T0" fmla="*/ 0 w 87"/>
                  <a:gd name="T1" fmla="*/ 0 h 102"/>
                  <a:gd name="T2" fmla="*/ 0 w 87"/>
                  <a:gd name="T3" fmla="*/ 0 h 102"/>
                  <a:gd name="T4" fmla="*/ 0 w 87"/>
                  <a:gd name="T5" fmla="*/ 0 h 102"/>
                  <a:gd name="T6" fmla="*/ 0 w 87"/>
                  <a:gd name="T7" fmla="*/ 0 h 102"/>
                  <a:gd name="T8" fmla="*/ 0 60000 65536"/>
                  <a:gd name="T9" fmla="*/ 0 60000 65536"/>
                  <a:gd name="T10" fmla="*/ 0 60000 65536"/>
                  <a:gd name="T11" fmla="*/ 0 60000 65536"/>
                  <a:gd name="T12" fmla="*/ 0 w 87"/>
                  <a:gd name="T13" fmla="*/ 0 h 102"/>
                  <a:gd name="T14" fmla="*/ 87 w 87"/>
                  <a:gd name="T15" fmla="*/ 102 h 102"/>
                </a:gdLst>
                <a:ahLst/>
                <a:cxnLst>
                  <a:cxn ang="T8">
                    <a:pos x="T0" y="T1"/>
                  </a:cxn>
                  <a:cxn ang="T9">
                    <a:pos x="T2" y="T3"/>
                  </a:cxn>
                  <a:cxn ang="T10">
                    <a:pos x="T4" y="T5"/>
                  </a:cxn>
                  <a:cxn ang="T11">
                    <a:pos x="T6" y="T7"/>
                  </a:cxn>
                </a:cxnLst>
                <a:rect l="T12" t="T13" r="T14" b="T15"/>
                <a:pathLst>
                  <a:path w="87" h="102">
                    <a:moveTo>
                      <a:pt x="0" y="0"/>
                    </a:moveTo>
                    <a:lnTo>
                      <a:pt x="87" y="88"/>
                    </a:lnTo>
                    <a:lnTo>
                      <a:pt x="29" y="102"/>
                    </a:lnTo>
                    <a:lnTo>
                      <a:pt x="0" y="0"/>
                    </a:lnTo>
                    <a:close/>
                  </a:path>
                </a:pathLst>
              </a:custGeom>
              <a:solidFill>
                <a:srgbClr val="FF0000"/>
              </a:solidFill>
              <a:ln w="15875">
                <a:solidFill>
                  <a:srgbClr val="339966"/>
                </a:solidFill>
                <a:round/>
                <a:headEnd/>
                <a:tailEnd/>
              </a:ln>
            </p:spPr>
            <p:txBody>
              <a:bodyPr/>
              <a:lstStyle/>
              <a:p>
                <a:endParaRPr lang="zh-CN" altLang="en-US"/>
              </a:p>
            </p:txBody>
          </p:sp>
          <p:sp>
            <p:nvSpPr>
              <p:cNvPr id="86087" name="Freeform 30"/>
              <p:cNvSpPr>
                <a:spLocks/>
              </p:cNvSpPr>
              <p:nvPr/>
            </p:nvSpPr>
            <p:spPr bwMode="auto">
              <a:xfrm>
                <a:off x="4388" y="893"/>
                <a:ext cx="34" cy="28"/>
              </a:xfrm>
              <a:custGeom>
                <a:avLst/>
                <a:gdLst>
                  <a:gd name="T0" fmla="*/ 0 w 103"/>
                  <a:gd name="T1" fmla="*/ 0 h 84"/>
                  <a:gd name="T2" fmla="*/ 0 w 103"/>
                  <a:gd name="T3" fmla="*/ 0 h 84"/>
                  <a:gd name="T4" fmla="*/ 0 w 103"/>
                  <a:gd name="T5" fmla="*/ 0 h 84"/>
                  <a:gd name="T6" fmla="*/ 0 w 103"/>
                  <a:gd name="T7" fmla="*/ 0 h 84"/>
                  <a:gd name="T8" fmla="*/ 0 60000 65536"/>
                  <a:gd name="T9" fmla="*/ 0 60000 65536"/>
                  <a:gd name="T10" fmla="*/ 0 60000 65536"/>
                  <a:gd name="T11" fmla="*/ 0 60000 65536"/>
                  <a:gd name="T12" fmla="*/ 0 w 103"/>
                  <a:gd name="T13" fmla="*/ 0 h 84"/>
                  <a:gd name="T14" fmla="*/ 103 w 103"/>
                  <a:gd name="T15" fmla="*/ 84 h 84"/>
                </a:gdLst>
                <a:ahLst/>
                <a:cxnLst>
                  <a:cxn ang="T8">
                    <a:pos x="T0" y="T1"/>
                  </a:cxn>
                  <a:cxn ang="T9">
                    <a:pos x="T2" y="T3"/>
                  </a:cxn>
                  <a:cxn ang="T10">
                    <a:pos x="T4" y="T5"/>
                  </a:cxn>
                  <a:cxn ang="T11">
                    <a:pos x="T6" y="T7"/>
                  </a:cxn>
                </a:cxnLst>
                <a:rect l="T12" t="T13" r="T14" b="T15"/>
                <a:pathLst>
                  <a:path w="103" h="84">
                    <a:moveTo>
                      <a:pt x="0" y="84"/>
                    </a:moveTo>
                    <a:lnTo>
                      <a:pt x="89" y="0"/>
                    </a:lnTo>
                    <a:lnTo>
                      <a:pt x="103" y="56"/>
                    </a:lnTo>
                    <a:lnTo>
                      <a:pt x="0" y="84"/>
                    </a:lnTo>
                    <a:close/>
                  </a:path>
                </a:pathLst>
              </a:custGeom>
              <a:solidFill>
                <a:srgbClr val="FF0000"/>
              </a:solidFill>
              <a:ln w="15875">
                <a:solidFill>
                  <a:srgbClr val="339966"/>
                </a:solidFill>
                <a:round/>
                <a:headEnd/>
                <a:tailEnd/>
              </a:ln>
            </p:spPr>
            <p:txBody>
              <a:bodyPr/>
              <a:lstStyle/>
              <a:p>
                <a:endParaRPr lang="zh-CN" altLang="en-US"/>
              </a:p>
            </p:txBody>
          </p:sp>
          <p:sp>
            <p:nvSpPr>
              <p:cNvPr id="86088" name="Freeform 31"/>
              <p:cNvSpPr>
                <a:spLocks/>
              </p:cNvSpPr>
              <p:nvPr/>
            </p:nvSpPr>
            <p:spPr bwMode="auto">
              <a:xfrm>
                <a:off x="4466" y="888"/>
                <a:ext cx="29" cy="34"/>
              </a:xfrm>
              <a:custGeom>
                <a:avLst/>
                <a:gdLst>
                  <a:gd name="T0" fmla="*/ 0 w 87"/>
                  <a:gd name="T1" fmla="*/ 0 h 102"/>
                  <a:gd name="T2" fmla="*/ 0 w 87"/>
                  <a:gd name="T3" fmla="*/ 0 h 102"/>
                  <a:gd name="T4" fmla="*/ 0 w 87"/>
                  <a:gd name="T5" fmla="*/ 0 h 102"/>
                  <a:gd name="T6" fmla="*/ 0 w 87"/>
                  <a:gd name="T7" fmla="*/ 0 h 102"/>
                  <a:gd name="T8" fmla="*/ 0 60000 65536"/>
                  <a:gd name="T9" fmla="*/ 0 60000 65536"/>
                  <a:gd name="T10" fmla="*/ 0 60000 65536"/>
                  <a:gd name="T11" fmla="*/ 0 60000 65536"/>
                  <a:gd name="T12" fmla="*/ 0 w 87"/>
                  <a:gd name="T13" fmla="*/ 0 h 102"/>
                  <a:gd name="T14" fmla="*/ 87 w 87"/>
                  <a:gd name="T15" fmla="*/ 102 h 102"/>
                </a:gdLst>
                <a:ahLst/>
                <a:cxnLst>
                  <a:cxn ang="T8">
                    <a:pos x="T0" y="T1"/>
                  </a:cxn>
                  <a:cxn ang="T9">
                    <a:pos x="T2" y="T3"/>
                  </a:cxn>
                  <a:cxn ang="T10">
                    <a:pos x="T4" y="T5"/>
                  </a:cxn>
                  <a:cxn ang="T11">
                    <a:pos x="T6" y="T7"/>
                  </a:cxn>
                </a:cxnLst>
                <a:rect l="T12" t="T13" r="T14" b="T15"/>
                <a:pathLst>
                  <a:path w="87" h="102">
                    <a:moveTo>
                      <a:pt x="87" y="102"/>
                    </a:moveTo>
                    <a:lnTo>
                      <a:pt x="0" y="14"/>
                    </a:lnTo>
                    <a:lnTo>
                      <a:pt x="58" y="0"/>
                    </a:lnTo>
                    <a:lnTo>
                      <a:pt x="87" y="102"/>
                    </a:lnTo>
                    <a:close/>
                  </a:path>
                </a:pathLst>
              </a:custGeom>
              <a:solidFill>
                <a:srgbClr val="FF0000"/>
              </a:solidFill>
              <a:ln w="15875">
                <a:solidFill>
                  <a:srgbClr val="339966"/>
                </a:solidFill>
                <a:round/>
                <a:headEnd/>
                <a:tailEnd/>
              </a:ln>
            </p:spPr>
            <p:txBody>
              <a:bodyPr/>
              <a:lstStyle/>
              <a:p>
                <a:endParaRPr lang="zh-CN" altLang="en-US"/>
              </a:p>
            </p:txBody>
          </p:sp>
          <p:sp>
            <p:nvSpPr>
              <p:cNvPr id="86089" name="Freeform 32"/>
              <p:cNvSpPr>
                <a:spLocks/>
              </p:cNvSpPr>
              <p:nvPr/>
            </p:nvSpPr>
            <p:spPr bwMode="auto">
              <a:xfrm>
                <a:off x="4461" y="814"/>
                <a:ext cx="35" cy="29"/>
              </a:xfrm>
              <a:custGeom>
                <a:avLst/>
                <a:gdLst>
                  <a:gd name="T0" fmla="*/ 0 w 104"/>
                  <a:gd name="T1" fmla="*/ 0 h 87"/>
                  <a:gd name="T2" fmla="*/ 0 w 104"/>
                  <a:gd name="T3" fmla="*/ 0 h 87"/>
                  <a:gd name="T4" fmla="*/ 0 w 104"/>
                  <a:gd name="T5" fmla="*/ 0 h 87"/>
                  <a:gd name="T6" fmla="*/ 0 w 104"/>
                  <a:gd name="T7" fmla="*/ 0 h 87"/>
                  <a:gd name="T8" fmla="*/ 0 60000 65536"/>
                  <a:gd name="T9" fmla="*/ 0 60000 65536"/>
                  <a:gd name="T10" fmla="*/ 0 60000 65536"/>
                  <a:gd name="T11" fmla="*/ 0 60000 65536"/>
                  <a:gd name="T12" fmla="*/ 0 w 104"/>
                  <a:gd name="T13" fmla="*/ 0 h 87"/>
                  <a:gd name="T14" fmla="*/ 104 w 104"/>
                  <a:gd name="T15" fmla="*/ 87 h 87"/>
                </a:gdLst>
                <a:ahLst/>
                <a:cxnLst>
                  <a:cxn ang="T8">
                    <a:pos x="T0" y="T1"/>
                  </a:cxn>
                  <a:cxn ang="T9">
                    <a:pos x="T2" y="T3"/>
                  </a:cxn>
                  <a:cxn ang="T10">
                    <a:pos x="T4" y="T5"/>
                  </a:cxn>
                  <a:cxn ang="T11">
                    <a:pos x="T6" y="T7"/>
                  </a:cxn>
                </a:cxnLst>
                <a:rect l="T12" t="T13" r="T14" b="T15"/>
                <a:pathLst>
                  <a:path w="104" h="87">
                    <a:moveTo>
                      <a:pt x="104" y="0"/>
                    </a:moveTo>
                    <a:lnTo>
                      <a:pt x="14" y="87"/>
                    </a:lnTo>
                    <a:lnTo>
                      <a:pt x="0" y="29"/>
                    </a:lnTo>
                    <a:lnTo>
                      <a:pt x="104" y="0"/>
                    </a:lnTo>
                    <a:close/>
                  </a:path>
                </a:pathLst>
              </a:custGeom>
              <a:solidFill>
                <a:srgbClr val="FF0000"/>
              </a:solidFill>
              <a:ln w="15875">
                <a:solidFill>
                  <a:srgbClr val="339966"/>
                </a:solidFill>
                <a:round/>
                <a:headEnd/>
                <a:tailEnd/>
              </a:ln>
            </p:spPr>
            <p:txBody>
              <a:bodyPr/>
              <a:lstStyle/>
              <a:p>
                <a:endParaRPr lang="zh-CN" altLang="en-US"/>
              </a:p>
            </p:txBody>
          </p:sp>
        </p:grpSp>
      </p:grpSp>
      <p:grpSp>
        <p:nvGrpSpPr>
          <p:cNvPr id="6" name="Group 33"/>
          <p:cNvGrpSpPr>
            <a:grpSpLocks/>
          </p:cNvGrpSpPr>
          <p:nvPr/>
        </p:nvGrpSpPr>
        <p:grpSpPr bwMode="auto">
          <a:xfrm>
            <a:off x="3168824" y="3351980"/>
            <a:ext cx="3829050" cy="503238"/>
            <a:chOff x="1296" y="2016"/>
            <a:chExt cx="2412" cy="317"/>
          </a:xfrm>
        </p:grpSpPr>
        <p:sp>
          <p:nvSpPr>
            <p:cNvPr id="86068" name="Rectangle 34"/>
            <p:cNvSpPr>
              <a:spLocks noChangeArrowheads="1"/>
            </p:cNvSpPr>
            <p:nvPr/>
          </p:nvSpPr>
          <p:spPr bwMode="auto">
            <a:xfrm>
              <a:off x="1500" y="2016"/>
              <a:ext cx="2208" cy="317"/>
            </a:xfrm>
            <a:prstGeom prst="rect">
              <a:avLst/>
            </a:prstGeom>
            <a:noFill/>
            <a:ln w="12700" cap="sq">
              <a:noFill/>
              <a:miter lim="800000"/>
              <a:headEnd type="none" w="sm" len="sm"/>
              <a:tailEnd type="none" w="sm" len="sm"/>
            </a:ln>
          </p:spPr>
          <p:txBody>
            <a:bodyPr>
              <a:spAutoFit/>
            </a:bodyPr>
            <a:lstStyle/>
            <a:p>
              <a:r>
                <a:rPr lang="zh-CN" altLang="en-US" sz="2700" b="1">
                  <a:solidFill>
                    <a:srgbClr val="0033CC"/>
                  </a:solidFill>
                  <a:ea typeface="幼圆" pitchFamily="49" charset="-122"/>
                </a:rPr>
                <a:t>构造原理、特点</a:t>
              </a:r>
            </a:p>
          </p:txBody>
        </p:sp>
        <p:grpSp>
          <p:nvGrpSpPr>
            <p:cNvPr id="7" name="Group 35"/>
            <p:cNvGrpSpPr>
              <a:grpSpLocks/>
            </p:cNvGrpSpPr>
            <p:nvPr/>
          </p:nvGrpSpPr>
          <p:grpSpPr bwMode="auto">
            <a:xfrm>
              <a:off x="1296" y="2112"/>
              <a:ext cx="192" cy="169"/>
              <a:chOff x="4320" y="754"/>
              <a:chExt cx="240" cy="231"/>
            </a:xfrm>
          </p:grpSpPr>
          <p:sp>
            <p:nvSpPr>
              <p:cNvPr id="86070" name="Freeform 36"/>
              <p:cNvSpPr>
                <a:spLocks/>
              </p:cNvSpPr>
              <p:nvPr/>
            </p:nvSpPr>
            <p:spPr bwMode="auto">
              <a:xfrm>
                <a:off x="4320" y="754"/>
                <a:ext cx="240" cy="231"/>
              </a:xfrm>
              <a:custGeom>
                <a:avLst/>
                <a:gdLst>
                  <a:gd name="T0" fmla="*/ 0 w 720"/>
                  <a:gd name="T1" fmla="*/ 0 h 693"/>
                  <a:gd name="T2" fmla="*/ 0 w 720"/>
                  <a:gd name="T3" fmla="*/ 0 h 693"/>
                  <a:gd name="T4" fmla="*/ 0 w 720"/>
                  <a:gd name="T5" fmla="*/ 0 h 693"/>
                  <a:gd name="T6" fmla="*/ 0 w 720"/>
                  <a:gd name="T7" fmla="*/ 0 h 693"/>
                  <a:gd name="T8" fmla="*/ 0 w 720"/>
                  <a:gd name="T9" fmla="*/ 0 h 693"/>
                  <a:gd name="T10" fmla="*/ 0 w 720"/>
                  <a:gd name="T11" fmla="*/ 0 h 693"/>
                  <a:gd name="T12" fmla="*/ 0 w 720"/>
                  <a:gd name="T13" fmla="*/ 0 h 693"/>
                  <a:gd name="T14" fmla="*/ 0 w 720"/>
                  <a:gd name="T15" fmla="*/ 0 h 693"/>
                  <a:gd name="T16" fmla="*/ 0 w 720"/>
                  <a:gd name="T17" fmla="*/ 0 h 693"/>
                  <a:gd name="T18" fmla="*/ 0 w 720"/>
                  <a:gd name="T19" fmla="*/ 0 h 693"/>
                  <a:gd name="T20" fmla="*/ 0 w 720"/>
                  <a:gd name="T21" fmla="*/ 0 h 693"/>
                  <a:gd name="T22" fmla="*/ 0 w 720"/>
                  <a:gd name="T23" fmla="*/ 0 h 693"/>
                  <a:gd name="T24" fmla="*/ 0 w 720"/>
                  <a:gd name="T25" fmla="*/ 0 h 693"/>
                  <a:gd name="T26" fmla="*/ 0 w 720"/>
                  <a:gd name="T27" fmla="*/ 0 h 693"/>
                  <a:gd name="T28" fmla="*/ 0 w 720"/>
                  <a:gd name="T29" fmla="*/ 0 h 693"/>
                  <a:gd name="T30" fmla="*/ 0 w 720"/>
                  <a:gd name="T31" fmla="*/ 0 h 693"/>
                  <a:gd name="T32" fmla="*/ 0 w 720"/>
                  <a:gd name="T33" fmla="*/ 0 h 69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20"/>
                  <a:gd name="T52" fmla="*/ 0 h 693"/>
                  <a:gd name="T53" fmla="*/ 720 w 720"/>
                  <a:gd name="T54" fmla="*/ 693 h 69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20" h="693">
                    <a:moveTo>
                      <a:pt x="366" y="0"/>
                    </a:moveTo>
                    <a:lnTo>
                      <a:pt x="310" y="203"/>
                    </a:lnTo>
                    <a:lnTo>
                      <a:pt x="189" y="162"/>
                    </a:lnTo>
                    <a:lnTo>
                      <a:pt x="218" y="285"/>
                    </a:lnTo>
                    <a:lnTo>
                      <a:pt x="0" y="339"/>
                    </a:lnTo>
                    <a:lnTo>
                      <a:pt x="218" y="395"/>
                    </a:lnTo>
                    <a:lnTo>
                      <a:pt x="184" y="521"/>
                    </a:lnTo>
                    <a:lnTo>
                      <a:pt x="310" y="487"/>
                    </a:lnTo>
                    <a:lnTo>
                      <a:pt x="363" y="693"/>
                    </a:lnTo>
                    <a:lnTo>
                      <a:pt x="415" y="487"/>
                    </a:lnTo>
                    <a:lnTo>
                      <a:pt x="540" y="526"/>
                    </a:lnTo>
                    <a:lnTo>
                      <a:pt x="510" y="399"/>
                    </a:lnTo>
                    <a:lnTo>
                      <a:pt x="720" y="341"/>
                    </a:lnTo>
                    <a:lnTo>
                      <a:pt x="510" y="293"/>
                    </a:lnTo>
                    <a:lnTo>
                      <a:pt x="543" y="163"/>
                    </a:lnTo>
                    <a:lnTo>
                      <a:pt x="414" y="204"/>
                    </a:lnTo>
                    <a:lnTo>
                      <a:pt x="366" y="0"/>
                    </a:lnTo>
                    <a:close/>
                  </a:path>
                </a:pathLst>
              </a:custGeom>
              <a:solidFill>
                <a:srgbClr val="FF0000"/>
              </a:solidFill>
              <a:ln w="15875">
                <a:solidFill>
                  <a:srgbClr val="339966"/>
                </a:solidFill>
                <a:round/>
                <a:headEnd/>
                <a:tailEnd/>
              </a:ln>
            </p:spPr>
            <p:txBody>
              <a:bodyPr/>
              <a:lstStyle/>
              <a:p>
                <a:endParaRPr lang="zh-CN" altLang="en-US"/>
              </a:p>
            </p:txBody>
          </p:sp>
          <p:sp>
            <p:nvSpPr>
              <p:cNvPr id="86071" name="Freeform 37"/>
              <p:cNvSpPr>
                <a:spLocks/>
              </p:cNvSpPr>
              <p:nvPr/>
            </p:nvSpPr>
            <p:spPr bwMode="auto">
              <a:xfrm>
                <a:off x="4423" y="768"/>
                <a:ext cx="19" cy="100"/>
              </a:xfrm>
              <a:custGeom>
                <a:avLst/>
                <a:gdLst>
                  <a:gd name="T0" fmla="*/ 0 w 58"/>
                  <a:gd name="T1" fmla="*/ 0 h 298"/>
                  <a:gd name="T2" fmla="*/ 0 w 58"/>
                  <a:gd name="T3" fmla="*/ 0 h 298"/>
                  <a:gd name="T4" fmla="*/ 0 w 58"/>
                  <a:gd name="T5" fmla="*/ 0 h 298"/>
                  <a:gd name="T6" fmla="*/ 0 w 58"/>
                  <a:gd name="T7" fmla="*/ 0 h 298"/>
                  <a:gd name="T8" fmla="*/ 0 60000 65536"/>
                  <a:gd name="T9" fmla="*/ 0 60000 65536"/>
                  <a:gd name="T10" fmla="*/ 0 60000 65536"/>
                  <a:gd name="T11" fmla="*/ 0 60000 65536"/>
                  <a:gd name="T12" fmla="*/ 0 w 58"/>
                  <a:gd name="T13" fmla="*/ 0 h 298"/>
                  <a:gd name="T14" fmla="*/ 58 w 58"/>
                  <a:gd name="T15" fmla="*/ 298 h 298"/>
                </a:gdLst>
                <a:ahLst/>
                <a:cxnLst>
                  <a:cxn ang="T8">
                    <a:pos x="T0" y="T1"/>
                  </a:cxn>
                  <a:cxn ang="T9">
                    <a:pos x="T2" y="T3"/>
                  </a:cxn>
                  <a:cxn ang="T10">
                    <a:pos x="T4" y="T5"/>
                  </a:cxn>
                  <a:cxn ang="T11">
                    <a:pos x="T6" y="T7"/>
                  </a:cxn>
                </a:cxnLst>
                <a:rect l="T12" t="T13" r="T14" b="T15"/>
                <a:pathLst>
                  <a:path w="58" h="298">
                    <a:moveTo>
                      <a:pt x="58" y="0"/>
                    </a:moveTo>
                    <a:lnTo>
                      <a:pt x="58" y="298"/>
                    </a:lnTo>
                    <a:lnTo>
                      <a:pt x="0" y="244"/>
                    </a:lnTo>
                    <a:lnTo>
                      <a:pt x="58" y="0"/>
                    </a:lnTo>
                    <a:close/>
                  </a:path>
                </a:pathLst>
              </a:custGeom>
              <a:solidFill>
                <a:srgbClr val="FF0000"/>
              </a:solidFill>
              <a:ln w="15875">
                <a:solidFill>
                  <a:srgbClr val="339966"/>
                </a:solidFill>
                <a:round/>
                <a:headEnd/>
                <a:tailEnd/>
              </a:ln>
            </p:spPr>
            <p:txBody>
              <a:bodyPr/>
              <a:lstStyle/>
              <a:p>
                <a:endParaRPr lang="zh-CN" altLang="en-US"/>
              </a:p>
            </p:txBody>
          </p:sp>
          <p:sp>
            <p:nvSpPr>
              <p:cNvPr id="86072" name="Freeform 38"/>
              <p:cNvSpPr>
                <a:spLocks/>
              </p:cNvSpPr>
              <p:nvPr/>
            </p:nvSpPr>
            <p:spPr bwMode="auto">
              <a:xfrm>
                <a:off x="4343" y="868"/>
                <a:ext cx="99" cy="19"/>
              </a:xfrm>
              <a:custGeom>
                <a:avLst/>
                <a:gdLst>
                  <a:gd name="T0" fmla="*/ 0 w 298"/>
                  <a:gd name="T1" fmla="*/ 0 h 59"/>
                  <a:gd name="T2" fmla="*/ 0 w 298"/>
                  <a:gd name="T3" fmla="*/ 0 h 59"/>
                  <a:gd name="T4" fmla="*/ 0 w 298"/>
                  <a:gd name="T5" fmla="*/ 0 h 59"/>
                  <a:gd name="T6" fmla="*/ 0 w 298"/>
                  <a:gd name="T7" fmla="*/ 0 h 59"/>
                  <a:gd name="T8" fmla="*/ 0 60000 65536"/>
                  <a:gd name="T9" fmla="*/ 0 60000 65536"/>
                  <a:gd name="T10" fmla="*/ 0 60000 65536"/>
                  <a:gd name="T11" fmla="*/ 0 60000 65536"/>
                  <a:gd name="T12" fmla="*/ 0 w 298"/>
                  <a:gd name="T13" fmla="*/ 0 h 59"/>
                  <a:gd name="T14" fmla="*/ 298 w 298"/>
                  <a:gd name="T15" fmla="*/ 59 h 59"/>
                </a:gdLst>
                <a:ahLst/>
                <a:cxnLst>
                  <a:cxn ang="T8">
                    <a:pos x="T0" y="T1"/>
                  </a:cxn>
                  <a:cxn ang="T9">
                    <a:pos x="T2" y="T3"/>
                  </a:cxn>
                  <a:cxn ang="T10">
                    <a:pos x="T4" y="T5"/>
                  </a:cxn>
                  <a:cxn ang="T11">
                    <a:pos x="T6" y="T7"/>
                  </a:cxn>
                </a:cxnLst>
                <a:rect l="T12" t="T13" r="T14" b="T15"/>
                <a:pathLst>
                  <a:path w="298" h="59">
                    <a:moveTo>
                      <a:pt x="0" y="0"/>
                    </a:moveTo>
                    <a:lnTo>
                      <a:pt x="298" y="0"/>
                    </a:lnTo>
                    <a:lnTo>
                      <a:pt x="242" y="59"/>
                    </a:lnTo>
                    <a:lnTo>
                      <a:pt x="0" y="0"/>
                    </a:lnTo>
                    <a:close/>
                  </a:path>
                </a:pathLst>
              </a:custGeom>
              <a:solidFill>
                <a:srgbClr val="FF0000"/>
              </a:solidFill>
              <a:ln w="15875">
                <a:solidFill>
                  <a:srgbClr val="339966"/>
                </a:solidFill>
                <a:round/>
                <a:headEnd/>
                <a:tailEnd/>
              </a:ln>
            </p:spPr>
            <p:txBody>
              <a:bodyPr/>
              <a:lstStyle/>
              <a:p>
                <a:endParaRPr lang="zh-CN" altLang="en-US"/>
              </a:p>
            </p:txBody>
          </p:sp>
          <p:sp>
            <p:nvSpPr>
              <p:cNvPr id="86073" name="Freeform 39"/>
              <p:cNvSpPr>
                <a:spLocks/>
              </p:cNvSpPr>
              <p:nvPr/>
            </p:nvSpPr>
            <p:spPr bwMode="auto">
              <a:xfrm>
                <a:off x="4442" y="868"/>
                <a:ext cx="19" cy="99"/>
              </a:xfrm>
              <a:custGeom>
                <a:avLst/>
                <a:gdLst>
                  <a:gd name="T0" fmla="*/ 0 w 56"/>
                  <a:gd name="T1" fmla="*/ 0 h 297"/>
                  <a:gd name="T2" fmla="*/ 0 w 56"/>
                  <a:gd name="T3" fmla="*/ 0 h 297"/>
                  <a:gd name="T4" fmla="*/ 0 w 56"/>
                  <a:gd name="T5" fmla="*/ 0 h 297"/>
                  <a:gd name="T6" fmla="*/ 0 w 56"/>
                  <a:gd name="T7" fmla="*/ 0 h 297"/>
                  <a:gd name="T8" fmla="*/ 0 60000 65536"/>
                  <a:gd name="T9" fmla="*/ 0 60000 65536"/>
                  <a:gd name="T10" fmla="*/ 0 60000 65536"/>
                  <a:gd name="T11" fmla="*/ 0 60000 65536"/>
                  <a:gd name="T12" fmla="*/ 0 w 56"/>
                  <a:gd name="T13" fmla="*/ 0 h 297"/>
                  <a:gd name="T14" fmla="*/ 56 w 56"/>
                  <a:gd name="T15" fmla="*/ 297 h 297"/>
                </a:gdLst>
                <a:ahLst/>
                <a:cxnLst>
                  <a:cxn ang="T8">
                    <a:pos x="T0" y="T1"/>
                  </a:cxn>
                  <a:cxn ang="T9">
                    <a:pos x="T2" y="T3"/>
                  </a:cxn>
                  <a:cxn ang="T10">
                    <a:pos x="T4" y="T5"/>
                  </a:cxn>
                  <a:cxn ang="T11">
                    <a:pos x="T6" y="T7"/>
                  </a:cxn>
                </a:cxnLst>
                <a:rect l="T12" t="T13" r="T14" b="T15"/>
                <a:pathLst>
                  <a:path w="56" h="297">
                    <a:moveTo>
                      <a:pt x="0" y="297"/>
                    </a:moveTo>
                    <a:lnTo>
                      <a:pt x="0" y="0"/>
                    </a:lnTo>
                    <a:lnTo>
                      <a:pt x="56" y="56"/>
                    </a:lnTo>
                    <a:lnTo>
                      <a:pt x="0" y="297"/>
                    </a:lnTo>
                    <a:close/>
                  </a:path>
                </a:pathLst>
              </a:custGeom>
              <a:solidFill>
                <a:srgbClr val="FF0000"/>
              </a:solidFill>
              <a:ln w="15875">
                <a:solidFill>
                  <a:srgbClr val="339966"/>
                </a:solidFill>
                <a:round/>
                <a:headEnd/>
                <a:tailEnd/>
              </a:ln>
            </p:spPr>
            <p:txBody>
              <a:bodyPr/>
              <a:lstStyle/>
              <a:p>
                <a:endParaRPr lang="zh-CN" altLang="en-US"/>
              </a:p>
            </p:txBody>
          </p:sp>
          <p:sp>
            <p:nvSpPr>
              <p:cNvPr id="86074" name="Freeform 40"/>
              <p:cNvSpPr>
                <a:spLocks/>
              </p:cNvSpPr>
              <p:nvPr/>
            </p:nvSpPr>
            <p:spPr bwMode="auto">
              <a:xfrm>
                <a:off x="4442" y="849"/>
                <a:ext cx="99" cy="19"/>
              </a:xfrm>
              <a:custGeom>
                <a:avLst/>
                <a:gdLst>
                  <a:gd name="T0" fmla="*/ 0 w 297"/>
                  <a:gd name="T1" fmla="*/ 0 h 57"/>
                  <a:gd name="T2" fmla="*/ 0 w 297"/>
                  <a:gd name="T3" fmla="*/ 0 h 57"/>
                  <a:gd name="T4" fmla="*/ 0 w 297"/>
                  <a:gd name="T5" fmla="*/ 0 h 57"/>
                  <a:gd name="T6" fmla="*/ 0 w 297"/>
                  <a:gd name="T7" fmla="*/ 0 h 57"/>
                  <a:gd name="T8" fmla="*/ 0 60000 65536"/>
                  <a:gd name="T9" fmla="*/ 0 60000 65536"/>
                  <a:gd name="T10" fmla="*/ 0 60000 65536"/>
                  <a:gd name="T11" fmla="*/ 0 60000 65536"/>
                  <a:gd name="T12" fmla="*/ 0 w 297"/>
                  <a:gd name="T13" fmla="*/ 0 h 57"/>
                  <a:gd name="T14" fmla="*/ 297 w 297"/>
                  <a:gd name="T15" fmla="*/ 57 h 57"/>
                </a:gdLst>
                <a:ahLst/>
                <a:cxnLst>
                  <a:cxn ang="T8">
                    <a:pos x="T0" y="T1"/>
                  </a:cxn>
                  <a:cxn ang="T9">
                    <a:pos x="T2" y="T3"/>
                  </a:cxn>
                  <a:cxn ang="T10">
                    <a:pos x="T4" y="T5"/>
                  </a:cxn>
                  <a:cxn ang="T11">
                    <a:pos x="T6" y="T7"/>
                  </a:cxn>
                </a:cxnLst>
                <a:rect l="T12" t="T13" r="T14" b="T15"/>
                <a:pathLst>
                  <a:path w="297" h="57">
                    <a:moveTo>
                      <a:pt x="297" y="57"/>
                    </a:moveTo>
                    <a:lnTo>
                      <a:pt x="0" y="57"/>
                    </a:lnTo>
                    <a:lnTo>
                      <a:pt x="55" y="0"/>
                    </a:lnTo>
                    <a:lnTo>
                      <a:pt x="297" y="57"/>
                    </a:lnTo>
                    <a:close/>
                  </a:path>
                </a:pathLst>
              </a:custGeom>
              <a:solidFill>
                <a:srgbClr val="FF0000"/>
              </a:solidFill>
              <a:ln w="15875">
                <a:solidFill>
                  <a:srgbClr val="339966"/>
                </a:solidFill>
                <a:round/>
                <a:headEnd/>
                <a:tailEnd/>
              </a:ln>
            </p:spPr>
            <p:txBody>
              <a:bodyPr/>
              <a:lstStyle/>
              <a:p>
                <a:endParaRPr lang="zh-CN" altLang="en-US"/>
              </a:p>
            </p:txBody>
          </p:sp>
          <p:sp>
            <p:nvSpPr>
              <p:cNvPr id="86075" name="Freeform 41"/>
              <p:cNvSpPr>
                <a:spLocks/>
              </p:cNvSpPr>
              <p:nvPr/>
            </p:nvSpPr>
            <p:spPr bwMode="auto">
              <a:xfrm>
                <a:off x="4388" y="814"/>
                <a:ext cx="29" cy="34"/>
              </a:xfrm>
              <a:custGeom>
                <a:avLst/>
                <a:gdLst>
                  <a:gd name="T0" fmla="*/ 0 w 87"/>
                  <a:gd name="T1" fmla="*/ 0 h 102"/>
                  <a:gd name="T2" fmla="*/ 0 w 87"/>
                  <a:gd name="T3" fmla="*/ 0 h 102"/>
                  <a:gd name="T4" fmla="*/ 0 w 87"/>
                  <a:gd name="T5" fmla="*/ 0 h 102"/>
                  <a:gd name="T6" fmla="*/ 0 w 87"/>
                  <a:gd name="T7" fmla="*/ 0 h 102"/>
                  <a:gd name="T8" fmla="*/ 0 60000 65536"/>
                  <a:gd name="T9" fmla="*/ 0 60000 65536"/>
                  <a:gd name="T10" fmla="*/ 0 60000 65536"/>
                  <a:gd name="T11" fmla="*/ 0 60000 65536"/>
                  <a:gd name="T12" fmla="*/ 0 w 87"/>
                  <a:gd name="T13" fmla="*/ 0 h 102"/>
                  <a:gd name="T14" fmla="*/ 87 w 87"/>
                  <a:gd name="T15" fmla="*/ 102 h 102"/>
                </a:gdLst>
                <a:ahLst/>
                <a:cxnLst>
                  <a:cxn ang="T8">
                    <a:pos x="T0" y="T1"/>
                  </a:cxn>
                  <a:cxn ang="T9">
                    <a:pos x="T2" y="T3"/>
                  </a:cxn>
                  <a:cxn ang="T10">
                    <a:pos x="T4" y="T5"/>
                  </a:cxn>
                  <a:cxn ang="T11">
                    <a:pos x="T6" y="T7"/>
                  </a:cxn>
                </a:cxnLst>
                <a:rect l="T12" t="T13" r="T14" b="T15"/>
                <a:pathLst>
                  <a:path w="87" h="102">
                    <a:moveTo>
                      <a:pt x="0" y="0"/>
                    </a:moveTo>
                    <a:lnTo>
                      <a:pt x="87" y="88"/>
                    </a:lnTo>
                    <a:lnTo>
                      <a:pt x="29" y="102"/>
                    </a:lnTo>
                    <a:lnTo>
                      <a:pt x="0" y="0"/>
                    </a:lnTo>
                    <a:close/>
                  </a:path>
                </a:pathLst>
              </a:custGeom>
              <a:solidFill>
                <a:srgbClr val="FF0000"/>
              </a:solidFill>
              <a:ln w="15875">
                <a:solidFill>
                  <a:srgbClr val="339966"/>
                </a:solidFill>
                <a:round/>
                <a:headEnd/>
                <a:tailEnd/>
              </a:ln>
            </p:spPr>
            <p:txBody>
              <a:bodyPr/>
              <a:lstStyle/>
              <a:p>
                <a:endParaRPr lang="zh-CN" altLang="en-US"/>
              </a:p>
            </p:txBody>
          </p:sp>
          <p:sp>
            <p:nvSpPr>
              <p:cNvPr id="86076" name="Freeform 42"/>
              <p:cNvSpPr>
                <a:spLocks/>
              </p:cNvSpPr>
              <p:nvPr/>
            </p:nvSpPr>
            <p:spPr bwMode="auto">
              <a:xfrm>
                <a:off x="4388" y="893"/>
                <a:ext cx="34" cy="28"/>
              </a:xfrm>
              <a:custGeom>
                <a:avLst/>
                <a:gdLst>
                  <a:gd name="T0" fmla="*/ 0 w 103"/>
                  <a:gd name="T1" fmla="*/ 0 h 84"/>
                  <a:gd name="T2" fmla="*/ 0 w 103"/>
                  <a:gd name="T3" fmla="*/ 0 h 84"/>
                  <a:gd name="T4" fmla="*/ 0 w 103"/>
                  <a:gd name="T5" fmla="*/ 0 h 84"/>
                  <a:gd name="T6" fmla="*/ 0 w 103"/>
                  <a:gd name="T7" fmla="*/ 0 h 84"/>
                  <a:gd name="T8" fmla="*/ 0 60000 65536"/>
                  <a:gd name="T9" fmla="*/ 0 60000 65536"/>
                  <a:gd name="T10" fmla="*/ 0 60000 65536"/>
                  <a:gd name="T11" fmla="*/ 0 60000 65536"/>
                  <a:gd name="T12" fmla="*/ 0 w 103"/>
                  <a:gd name="T13" fmla="*/ 0 h 84"/>
                  <a:gd name="T14" fmla="*/ 103 w 103"/>
                  <a:gd name="T15" fmla="*/ 84 h 84"/>
                </a:gdLst>
                <a:ahLst/>
                <a:cxnLst>
                  <a:cxn ang="T8">
                    <a:pos x="T0" y="T1"/>
                  </a:cxn>
                  <a:cxn ang="T9">
                    <a:pos x="T2" y="T3"/>
                  </a:cxn>
                  <a:cxn ang="T10">
                    <a:pos x="T4" y="T5"/>
                  </a:cxn>
                  <a:cxn ang="T11">
                    <a:pos x="T6" y="T7"/>
                  </a:cxn>
                </a:cxnLst>
                <a:rect l="T12" t="T13" r="T14" b="T15"/>
                <a:pathLst>
                  <a:path w="103" h="84">
                    <a:moveTo>
                      <a:pt x="0" y="84"/>
                    </a:moveTo>
                    <a:lnTo>
                      <a:pt x="89" y="0"/>
                    </a:lnTo>
                    <a:lnTo>
                      <a:pt x="103" y="56"/>
                    </a:lnTo>
                    <a:lnTo>
                      <a:pt x="0" y="84"/>
                    </a:lnTo>
                    <a:close/>
                  </a:path>
                </a:pathLst>
              </a:custGeom>
              <a:solidFill>
                <a:srgbClr val="FF0000"/>
              </a:solidFill>
              <a:ln w="15875">
                <a:solidFill>
                  <a:srgbClr val="339966"/>
                </a:solidFill>
                <a:round/>
                <a:headEnd/>
                <a:tailEnd/>
              </a:ln>
            </p:spPr>
            <p:txBody>
              <a:bodyPr/>
              <a:lstStyle/>
              <a:p>
                <a:endParaRPr lang="zh-CN" altLang="en-US"/>
              </a:p>
            </p:txBody>
          </p:sp>
          <p:sp>
            <p:nvSpPr>
              <p:cNvPr id="86077" name="Freeform 43"/>
              <p:cNvSpPr>
                <a:spLocks/>
              </p:cNvSpPr>
              <p:nvPr/>
            </p:nvSpPr>
            <p:spPr bwMode="auto">
              <a:xfrm>
                <a:off x="4466" y="888"/>
                <a:ext cx="29" cy="34"/>
              </a:xfrm>
              <a:custGeom>
                <a:avLst/>
                <a:gdLst>
                  <a:gd name="T0" fmla="*/ 0 w 87"/>
                  <a:gd name="T1" fmla="*/ 0 h 102"/>
                  <a:gd name="T2" fmla="*/ 0 w 87"/>
                  <a:gd name="T3" fmla="*/ 0 h 102"/>
                  <a:gd name="T4" fmla="*/ 0 w 87"/>
                  <a:gd name="T5" fmla="*/ 0 h 102"/>
                  <a:gd name="T6" fmla="*/ 0 w 87"/>
                  <a:gd name="T7" fmla="*/ 0 h 102"/>
                  <a:gd name="T8" fmla="*/ 0 60000 65536"/>
                  <a:gd name="T9" fmla="*/ 0 60000 65536"/>
                  <a:gd name="T10" fmla="*/ 0 60000 65536"/>
                  <a:gd name="T11" fmla="*/ 0 60000 65536"/>
                  <a:gd name="T12" fmla="*/ 0 w 87"/>
                  <a:gd name="T13" fmla="*/ 0 h 102"/>
                  <a:gd name="T14" fmla="*/ 87 w 87"/>
                  <a:gd name="T15" fmla="*/ 102 h 102"/>
                </a:gdLst>
                <a:ahLst/>
                <a:cxnLst>
                  <a:cxn ang="T8">
                    <a:pos x="T0" y="T1"/>
                  </a:cxn>
                  <a:cxn ang="T9">
                    <a:pos x="T2" y="T3"/>
                  </a:cxn>
                  <a:cxn ang="T10">
                    <a:pos x="T4" y="T5"/>
                  </a:cxn>
                  <a:cxn ang="T11">
                    <a:pos x="T6" y="T7"/>
                  </a:cxn>
                </a:cxnLst>
                <a:rect l="T12" t="T13" r="T14" b="T15"/>
                <a:pathLst>
                  <a:path w="87" h="102">
                    <a:moveTo>
                      <a:pt x="87" y="102"/>
                    </a:moveTo>
                    <a:lnTo>
                      <a:pt x="0" y="14"/>
                    </a:lnTo>
                    <a:lnTo>
                      <a:pt x="58" y="0"/>
                    </a:lnTo>
                    <a:lnTo>
                      <a:pt x="87" y="102"/>
                    </a:lnTo>
                    <a:close/>
                  </a:path>
                </a:pathLst>
              </a:custGeom>
              <a:solidFill>
                <a:srgbClr val="FF0000"/>
              </a:solidFill>
              <a:ln w="15875">
                <a:solidFill>
                  <a:srgbClr val="339966"/>
                </a:solidFill>
                <a:round/>
                <a:headEnd/>
                <a:tailEnd/>
              </a:ln>
            </p:spPr>
            <p:txBody>
              <a:bodyPr/>
              <a:lstStyle/>
              <a:p>
                <a:endParaRPr lang="zh-CN" altLang="en-US"/>
              </a:p>
            </p:txBody>
          </p:sp>
          <p:sp>
            <p:nvSpPr>
              <p:cNvPr id="86078" name="Freeform 44"/>
              <p:cNvSpPr>
                <a:spLocks/>
              </p:cNvSpPr>
              <p:nvPr/>
            </p:nvSpPr>
            <p:spPr bwMode="auto">
              <a:xfrm>
                <a:off x="4461" y="814"/>
                <a:ext cx="35" cy="29"/>
              </a:xfrm>
              <a:custGeom>
                <a:avLst/>
                <a:gdLst>
                  <a:gd name="T0" fmla="*/ 0 w 104"/>
                  <a:gd name="T1" fmla="*/ 0 h 87"/>
                  <a:gd name="T2" fmla="*/ 0 w 104"/>
                  <a:gd name="T3" fmla="*/ 0 h 87"/>
                  <a:gd name="T4" fmla="*/ 0 w 104"/>
                  <a:gd name="T5" fmla="*/ 0 h 87"/>
                  <a:gd name="T6" fmla="*/ 0 w 104"/>
                  <a:gd name="T7" fmla="*/ 0 h 87"/>
                  <a:gd name="T8" fmla="*/ 0 60000 65536"/>
                  <a:gd name="T9" fmla="*/ 0 60000 65536"/>
                  <a:gd name="T10" fmla="*/ 0 60000 65536"/>
                  <a:gd name="T11" fmla="*/ 0 60000 65536"/>
                  <a:gd name="T12" fmla="*/ 0 w 104"/>
                  <a:gd name="T13" fmla="*/ 0 h 87"/>
                  <a:gd name="T14" fmla="*/ 104 w 104"/>
                  <a:gd name="T15" fmla="*/ 87 h 87"/>
                </a:gdLst>
                <a:ahLst/>
                <a:cxnLst>
                  <a:cxn ang="T8">
                    <a:pos x="T0" y="T1"/>
                  </a:cxn>
                  <a:cxn ang="T9">
                    <a:pos x="T2" y="T3"/>
                  </a:cxn>
                  <a:cxn ang="T10">
                    <a:pos x="T4" y="T5"/>
                  </a:cxn>
                  <a:cxn ang="T11">
                    <a:pos x="T6" y="T7"/>
                  </a:cxn>
                </a:cxnLst>
                <a:rect l="T12" t="T13" r="T14" b="T15"/>
                <a:pathLst>
                  <a:path w="104" h="87">
                    <a:moveTo>
                      <a:pt x="104" y="0"/>
                    </a:moveTo>
                    <a:lnTo>
                      <a:pt x="14" y="87"/>
                    </a:lnTo>
                    <a:lnTo>
                      <a:pt x="0" y="29"/>
                    </a:lnTo>
                    <a:lnTo>
                      <a:pt x="104" y="0"/>
                    </a:lnTo>
                    <a:close/>
                  </a:path>
                </a:pathLst>
              </a:custGeom>
              <a:solidFill>
                <a:srgbClr val="FF0000"/>
              </a:solidFill>
              <a:ln w="15875">
                <a:solidFill>
                  <a:srgbClr val="339966"/>
                </a:solidFill>
                <a:round/>
                <a:headEnd/>
                <a:tailEnd/>
              </a:ln>
            </p:spPr>
            <p:txBody>
              <a:bodyPr/>
              <a:lstStyle/>
              <a:p>
                <a:endParaRPr lang="zh-CN" altLang="en-US"/>
              </a:p>
            </p:txBody>
          </p:sp>
        </p:grpSp>
      </p:grpSp>
      <p:grpSp>
        <p:nvGrpSpPr>
          <p:cNvPr id="8" name="Group 45"/>
          <p:cNvGrpSpPr>
            <a:grpSpLocks/>
          </p:cNvGrpSpPr>
          <p:nvPr/>
        </p:nvGrpSpPr>
        <p:grpSpPr bwMode="auto">
          <a:xfrm>
            <a:off x="3168824" y="3732980"/>
            <a:ext cx="6248400" cy="503238"/>
            <a:chOff x="1296" y="2304"/>
            <a:chExt cx="3936" cy="317"/>
          </a:xfrm>
        </p:grpSpPr>
        <p:sp>
          <p:nvSpPr>
            <p:cNvPr id="86057" name="Rectangle 46"/>
            <p:cNvSpPr>
              <a:spLocks noChangeArrowheads="1"/>
            </p:cNvSpPr>
            <p:nvPr/>
          </p:nvSpPr>
          <p:spPr bwMode="auto">
            <a:xfrm>
              <a:off x="1488" y="2304"/>
              <a:ext cx="3744" cy="317"/>
            </a:xfrm>
            <a:prstGeom prst="rect">
              <a:avLst/>
            </a:prstGeom>
            <a:noFill/>
            <a:ln w="12700" cap="sq">
              <a:noFill/>
              <a:miter lim="800000"/>
              <a:headEnd type="none" w="sm" len="sm"/>
              <a:tailEnd type="none" w="sm" len="sm"/>
            </a:ln>
          </p:spPr>
          <p:txBody>
            <a:bodyPr>
              <a:spAutoFit/>
            </a:bodyPr>
            <a:lstStyle/>
            <a:p>
              <a:r>
                <a:rPr lang="zh-CN" altLang="en-US" sz="2700" b="1" dirty="0">
                  <a:solidFill>
                    <a:srgbClr val="0033CC"/>
                  </a:solidFill>
                  <a:ea typeface="幼圆" pitchFamily="49" charset="-122"/>
                </a:rPr>
                <a:t>对应的插入、删除操作的算法设计</a:t>
              </a:r>
            </a:p>
          </p:txBody>
        </p:sp>
        <p:grpSp>
          <p:nvGrpSpPr>
            <p:cNvPr id="9" name="Group 47"/>
            <p:cNvGrpSpPr>
              <a:grpSpLocks/>
            </p:cNvGrpSpPr>
            <p:nvPr/>
          </p:nvGrpSpPr>
          <p:grpSpPr bwMode="auto">
            <a:xfrm>
              <a:off x="1296" y="2412"/>
              <a:ext cx="192" cy="169"/>
              <a:chOff x="4320" y="754"/>
              <a:chExt cx="240" cy="231"/>
            </a:xfrm>
          </p:grpSpPr>
          <p:sp>
            <p:nvSpPr>
              <p:cNvPr id="86059" name="Freeform 48"/>
              <p:cNvSpPr>
                <a:spLocks/>
              </p:cNvSpPr>
              <p:nvPr/>
            </p:nvSpPr>
            <p:spPr bwMode="auto">
              <a:xfrm>
                <a:off x="4320" y="754"/>
                <a:ext cx="240" cy="231"/>
              </a:xfrm>
              <a:custGeom>
                <a:avLst/>
                <a:gdLst>
                  <a:gd name="T0" fmla="*/ 0 w 720"/>
                  <a:gd name="T1" fmla="*/ 0 h 693"/>
                  <a:gd name="T2" fmla="*/ 0 w 720"/>
                  <a:gd name="T3" fmla="*/ 0 h 693"/>
                  <a:gd name="T4" fmla="*/ 0 w 720"/>
                  <a:gd name="T5" fmla="*/ 0 h 693"/>
                  <a:gd name="T6" fmla="*/ 0 w 720"/>
                  <a:gd name="T7" fmla="*/ 0 h 693"/>
                  <a:gd name="T8" fmla="*/ 0 w 720"/>
                  <a:gd name="T9" fmla="*/ 0 h 693"/>
                  <a:gd name="T10" fmla="*/ 0 w 720"/>
                  <a:gd name="T11" fmla="*/ 0 h 693"/>
                  <a:gd name="T12" fmla="*/ 0 w 720"/>
                  <a:gd name="T13" fmla="*/ 0 h 693"/>
                  <a:gd name="T14" fmla="*/ 0 w 720"/>
                  <a:gd name="T15" fmla="*/ 0 h 693"/>
                  <a:gd name="T16" fmla="*/ 0 w 720"/>
                  <a:gd name="T17" fmla="*/ 0 h 693"/>
                  <a:gd name="T18" fmla="*/ 0 w 720"/>
                  <a:gd name="T19" fmla="*/ 0 h 693"/>
                  <a:gd name="T20" fmla="*/ 0 w 720"/>
                  <a:gd name="T21" fmla="*/ 0 h 693"/>
                  <a:gd name="T22" fmla="*/ 0 w 720"/>
                  <a:gd name="T23" fmla="*/ 0 h 693"/>
                  <a:gd name="T24" fmla="*/ 0 w 720"/>
                  <a:gd name="T25" fmla="*/ 0 h 693"/>
                  <a:gd name="T26" fmla="*/ 0 w 720"/>
                  <a:gd name="T27" fmla="*/ 0 h 693"/>
                  <a:gd name="T28" fmla="*/ 0 w 720"/>
                  <a:gd name="T29" fmla="*/ 0 h 693"/>
                  <a:gd name="T30" fmla="*/ 0 w 720"/>
                  <a:gd name="T31" fmla="*/ 0 h 693"/>
                  <a:gd name="T32" fmla="*/ 0 w 720"/>
                  <a:gd name="T33" fmla="*/ 0 h 69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20"/>
                  <a:gd name="T52" fmla="*/ 0 h 693"/>
                  <a:gd name="T53" fmla="*/ 720 w 720"/>
                  <a:gd name="T54" fmla="*/ 693 h 69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20" h="693">
                    <a:moveTo>
                      <a:pt x="366" y="0"/>
                    </a:moveTo>
                    <a:lnTo>
                      <a:pt x="310" y="203"/>
                    </a:lnTo>
                    <a:lnTo>
                      <a:pt x="189" y="162"/>
                    </a:lnTo>
                    <a:lnTo>
                      <a:pt x="218" y="285"/>
                    </a:lnTo>
                    <a:lnTo>
                      <a:pt x="0" y="339"/>
                    </a:lnTo>
                    <a:lnTo>
                      <a:pt x="218" y="395"/>
                    </a:lnTo>
                    <a:lnTo>
                      <a:pt x="184" y="521"/>
                    </a:lnTo>
                    <a:lnTo>
                      <a:pt x="310" y="487"/>
                    </a:lnTo>
                    <a:lnTo>
                      <a:pt x="363" y="693"/>
                    </a:lnTo>
                    <a:lnTo>
                      <a:pt x="415" y="487"/>
                    </a:lnTo>
                    <a:lnTo>
                      <a:pt x="540" y="526"/>
                    </a:lnTo>
                    <a:lnTo>
                      <a:pt x="510" y="399"/>
                    </a:lnTo>
                    <a:lnTo>
                      <a:pt x="720" y="341"/>
                    </a:lnTo>
                    <a:lnTo>
                      <a:pt x="510" y="293"/>
                    </a:lnTo>
                    <a:lnTo>
                      <a:pt x="543" y="163"/>
                    </a:lnTo>
                    <a:lnTo>
                      <a:pt x="414" y="204"/>
                    </a:lnTo>
                    <a:lnTo>
                      <a:pt x="366" y="0"/>
                    </a:lnTo>
                    <a:close/>
                  </a:path>
                </a:pathLst>
              </a:custGeom>
              <a:solidFill>
                <a:srgbClr val="FF0000"/>
              </a:solidFill>
              <a:ln w="15875">
                <a:solidFill>
                  <a:srgbClr val="339966"/>
                </a:solidFill>
                <a:round/>
                <a:headEnd/>
                <a:tailEnd/>
              </a:ln>
            </p:spPr>
            <p:txBody>
              <a:bodyPr/>
              <a:lstStyle/>
              <a:p>
                <a:endParaRPr lang="zh-CN" altLang="en-US"/>
              </a:p>
            </p:txBody>
          </p:sp>
          <p:sp>
            <p:nvSpPr>
              <p:cNvPr id="86060" name="Freeform 49"/>
              <p:cNvSpPr>
                <a:spLocks/>
              </p:cNvSpPr>
              <p:nvPr/>
            </p:nvSpPr>
            <p:spPr bwMode="auto">
              <a:xfrm>
                <a:off x="4423" y="768"/>
                <a:ext cx="19" cy="100"/>
              </a:xfrm>
              <a:custGeom>
                <a:avLst/>
                <a:gdLst>
                  <a:gd name="T0" fmla="*/ 0 w 58"/>
                  <a:gd name="T1" fmla="*/ 0 h 298"/>
                  <a:gd name="T2" fmla="*/ 0 w 58"/>
                  <a:gd name="T3" fmla="*/ 0 h 298"/>
                  <a:gd name="T4" fmla="*/ 0 w 58"/>
                  <a:gd name="T5" fmla="*/ 0 h 298"/>
                  <a:gd name="T6" fmla="*/ 0 w 58"/>
                  <a:gd name="T7" fmla="*/ 0 h 298"/>
                  <a:gd name="T8" fmla="*/ 0 60000 65536"/>
                  <a:gd name="T9" fmla="*/ 0 60000 65536"/>
                  <a:gd name="T10" fmla="*/ 0 60000 65536"/>
                  <a:gd name="T11" fmla="*/ 0 60000 65536"/>
                  <a:gd name="T12" fmla="*/ 0 w 58"/>
                  <a:gd name="T13" fmla="*/ 0 h 298"/>
                  <a:gd name="T14" fmla="*/ 58 w 58"/>
                  <a:gd name="T15" fmla="*/ 298 h 298"/>
                </a:gdLst>
                <a:ahLst/>
                <a:cxnLst>
                  <a:cxn ang="T8">
                    <a:pos x="T0" y="T1"/>
                  </a:cxn>
                  <a:cxn ang="T9">
                    <a:pos x="T2" y="T3"/>
                  </a:cxn>
                  <a:cxn ang="T10">
                    <a:pos x="T4" y="T5"/>
                  </a:cxn>
                  <a:cxn ang="T11">
                    <a:pos x="T6" y="T7"/>
                  </a:cxn>
                </a:cxnLst>
                <a:rect l="T12" t="T13" r="T14" b="T15"/>
                <a:pathLst>
                  <a:path w="58" h="298">
                    <a:moveTo>
                      <a:pt x="58" y="0"/>
                    </a:moveTo>
                    <a:lnTo>
                      <a:pt x="58" y="298"/>
                    </a:lnTo>
                    <a:lnTo>
                      <a:pt x="0" y="244"/>
                    </a:lnTo>
                    <a:lnTo>
                      <a:pt x="58" y="0"/>
                    </a:lnTo>
                    <a:close/>
                  </a:path>
                </a:pathLst>
              </a:custGeom>
              <a:solidFill>
                <a:srgbClr val="FF0000"/>
              </a:solidFill>
              <a:ln w="15875">
                <a:solidFill>
                  <a:srgbClr val="339966"/>
                </a:solidFill>
                <a:round/>
                <a:headEnd/>
                <a:tailEnd/>
              </a:ln>
            </p:spPr>
            <p:txBody>
              <a:bodyPr/>
              <a:lstStyle/>
              <a:p>
                <a:endParaRPr lang="zh-CN" altLang="en-US"/>
              </a:p>
            </p:txBody>
          </p:sp>
          <p:sp>
            <p:nvSpPr>
              <p:cNvPr id="86061" name="Freeform 50"/>
              <p:cNvSpPr>
                <a:spLocks/>
              </p:cNvSpPr>
              <p:nvPr/>
            </p:nvSpPr>
            <p:spPr bwMode="auto">
              <a:xfrm>
                <a:off x="4343" y="868"/>
                <a:ext cx="99" cy="19"/>
              </a:xfrm>
              <a:custGeom>
                <a:avLst/>
                <a:gdLst>
                  <a:gd name="T0" fmla="*/ 0 w 298"/>
                  <a:gd name="T1" fmla="*/ 0 h 59"/>
                  <a:gd name="T2" fmla="*/ 0 w 298"/>
                  <a:gd name="T3" fmla="*/ 0 h 59"/>
                  <a:gd name="T4" fmla="*/ 0 w 298"/>
                  <a:gd name="T5" fmla="*/ 0 h 59"/>
                  <a:gd name="T6" fmla="*/ 0 w 298"/>
                  <a:gd name="T7" fmla="*/ 0 h 59"/>
                  <a:gd name="T8" fmla="*/ 0 60000 65536"/>
                  <a:gd name="T9" fmla="*/ 0 60000 65536"/>
                  <a:gd name="T10" fmla="*/ 0 60000 65536"/>
                  <a:gd name="T11" fmla="*/ 0 60000 65536"/>
                  <a:gd name="T12" fmla="*/ 0 w 298"/>
                  <a:gd name="T13" fmla="*/ 0 h 59"/>
                  <a:gd name="T14" fmla="*/ 298 w 298"/>
                  <a:gd name="T15" fmla="*/ 59 h 59"/>
                </a:gdLst>
                <a:ahLst/>
                <a:cxnLst>
                  <a:cxn ang="T8">
                    <a:pos x="T0" y="T1"/>
                  </a:cxn>
                  <a:cxn ang="T9">
                    <a:pos x="T2" y="T3"/>
                  </a:cxn>
                  <a:cxn ang="T10">
                    <a:pos x="T4" y="T5"/>
                  </a:cxn>
                  <a:cxn ang="T11">
                    <a:pos x="T6" y="T7"/>
                  </a:cxn>
                </a:cxnLst>
                <a:rect l="T12" t="T13" r="T14" b="T15"/>
                <a:pathLst>
                  <a:path w="298" h="59">
                    <a:moveTo>
                      <a:pt x="0" y="0"/>
                    </a:moveTo>
                    <a:lnTo>
                      <a:pt x="298" y="0"/>
                    </a:lnTo>
                    <a:lnTo>
                      <a:pt x="242" y="59"/>
                    </a:lnTo>
                    <a:lnTo>
                      <a:pt x="0" y="0"/>
                    </a:lnTo>
                    <a:close/>
                  </a:path>
                </a:pathLst>
              </a:custGeom>
              <a:solidFill>
                <a:srgbClr val="FF0000"/>
              </a:solidFill>
              <a:ln w="15875">
                <a:solidFill>
                  <a:srgbClr val="339966"/>
                </a:solidFill>
                <a:round/>
                <a:headEnd/>
                <a:tailEnd/>
              </a:ln>
            </p:spPr>
            <p:txBody>
              <a:bodyPr/>
              <a:lstStyle/>
              <a:p>
                <a:endParaRPr lang="zh-CN" altLang="en-US"/>
              </a:p>
            </p:txBody>
          </p:sp>
          <p:sp>
            <p:nvSpPr>
              <p:cNvPr id="86062" name="Freeform 51"/>
              <p:cNvSpPr>
                <a:spLocks/>
              </p:cNvSpPr>
              <p:nvPr/>
            </p:nvSpPr>
            <p:spPr bwMode="auto">
              <a:xfrm>
                <a:off x="4442" y="868"/>
                <a:ext cx="19" cy="99"/>
              </a:xfrm>
              <a:custGeom>
                <a:avLst/>
                <a:gdLst>
                  <a:gd name="T0" fmla="*/ 0 w 56"/>
                  <a:gd name="T1" fmla="*/ 0 h 297"/>
                  <a:gd name="T2" fmla="*/ 0 w 56"/>
                  <a:gd name="T3" fmla="*/ 0 h 297"/>
                  <a:gd name="T4" fmla="*/ 0 w 56"/>
                  <a:gd name="T5" fmla="*/ 0 h 297"/>
                  <a:gd name="T6" fmla="*/ 0 w 56"/>
                  <a:gd name="T7" fmla="*/ 0 h 297"/>
                  <a:gd name="T8" fmla="*/ 0 60000 65536"/>
                  <a:gd name="T9" fmla="*/ 0 60000 65536"/>
                  <a:gd name="T10" fmla="*/ 0 60000 65536"/>
                  <a:gd name="T11" fmla="*/ 0 60000 65536"/>
                  <a:gd name="T12" fmla="*/ 0 w 56"/>
                  <a:gd name="T13" fmla="*/ 0 h 297"/>
                  <a:gd name="T14" fmla="*/ 56 w 56"/>
                  <a:gd name="T15" fmla="*/ 297 h 297"/>
                </a:gdLst>
                <a:ahLst/>
                <a:cxnLst>
                  <a:cxn ang="T8">
                    <a:pos x="T0" y="T1"/>
                  </a:cxn>
                  <a:cxn ang="T9">
                    <a:pos x="T2" y="T3"/>
                  </a:cxn>
                  <a:cxn ang="T10">
                    <a:pos x="T4" y="T5"/>
                  </a:cxn>
                  <a:cxn ang="T11">
                    <a:pos x="T6" y="T7"/>
                  </a:cxn>
                </a:cxnLst>
                <a:rect l="T12" t="T13" r="T14" b="T15"/>
                <a:pathLst>
                  <a:path w="56" h="297">
                    <a:moveTo>
                      <a:pt x="0" y="297"/>
                    </a:moveTo>
                    <a:lnTo>
                      <a:pt x="0" y="0"/>
                    </a:lnTo>
                    <a:lnTo>
                      <a:pt x="56" y="56"/>
                    </a:lnTo>
                    <a:lnTo>
                      <a:pt x="0" y="297"/>
                    </a:lnTo>
                    <a:close/>
                  </a:path>
                </a:pathLst>
              </a:custGeom>
              <a:solidFill>
                <a:srgbClr val="FF0000"/>
              </a:solidFill>
              <a:ln w="15875">
                <a:solidFill>
                  <a:srgbClr val="339966"/>
                </a:solidFill>
                <a:round/>
                <a:headEnd/>
                <a:tailEnd/>
              </a:ln>
            </p:spPr>
            <p:txBody>
              <a:bodyPr/>
              <a:lstStyle/>
              <a:p>
                <a:endParaRPr lang="zh-CN" altLang="en-US"/>
              </a:p>
            </p:txBody>
          </p:sp>
          <p:sp>
            <p:nvSpPr>
              <p:cNvPr id="86063" name="Freeform 52"/>
              <p:cNvSpPr>
                <a:spLocks/>
              </p:cNvSpPr>
              <p:nvPr/>
            </p:nvSpPr>
            <p:spPr bwMode="auto">
              <a:xfrm>
                <a:off x="4442" y="849"/>
                <a:ext cx="99" cy="19"/>
              </a:xfrm>
              <a:custGeom>
                <a:avLst/>
                <a:gdLst>
                  <a:gd name="T0" fmla="*/ 0 w 297"/>
                  <a:gd name="T1" fmla="*/ 0 h 57"/>
                  <a:gd name="T2" fmla="*/ 0 w 297"/>
                  <a:gd name="T3" fmla="*/ 0 h 57"/>
                  <a:gd name="T4" fmla="*/ 0 w 297"/>
                  <a:gd name="T5" fmla="*/ 0 h 57"/>
                  <a:gd name="T6" fmla="*/ 0 w 297"/>
                  <a:gd name="T7" fmla="*/ 0 h 57"/>
                  <a:gd name="T8" fmla="*/ 0 60000 65536"/>
                  <a:gd name="T9" fmla="*/ 0 60000 65536"/>
                  <a:gd name="T10" fmla="*/ 0 60000 65536"/>
                  <a:gd name="T11" fmla="*/ 0 60000 65536"/>
                  <a:gd name="T12" fmla="*/ 0 w 297"/>
                  <a:gd name="T13" fmla="*/ 0 h 57"/>
                  <a:gd name="T14" fmla="*/ 297 w 297"/>
                  <a:gd name="T15" fmla="*/ 57 h 57"/>
                </a:gdLst>
                <a:ahLst/>
                <a:cxnLst>
                  <a:cxn ang="T8">
                    <a:pos x="T0" y="T1"/>
                  </a:cxn>
                  <a:cxn ang="T9">
                    <a:pos x="T2" y="T3"/>
                  </a:cxn>
                  <a:cxn ang="T10">
                    <a:pos x="T4" y="T5"/>
                  </a:cxn>
                  <a:cxn ang="T11">
                    <a:pos x="T6" y="T7"/>
                  </a:cxn>
                </a:cxnLst>
                <a:rect l="T12" t="T13" r="T14" b="T15"/>
                <a:pathLst>
                  <a:path w="297" h="57">
                    <a:moveTo>
                      <a:pt x="297" y="57"/>
                    </a:moveTo>
                    <a:lnTo>
                      <a:pt x="0" y="57"/>
                    </a:lnTo>
                    <a:lnTo>
                      <a:pt x="55" y="0"/>
                    </a:lnTo>
                    <a:lnTo>
                      <a:pt x="297" y="57"/>
                    </a:lnTo>
                    <a:close/>
                  </a:path>
                </a:pathLst>
              </a:custGeom>
              <a:solidFill>
                <a:srgbClr val="FF0000"/>
              </a:solidFill>
              <a:ln w="15875">
                <a:solidFill>
                  <a:srgbClr val="339966"/>
                </a:solidFill>
                <a:round/>
                <a:headEnd/>
                <a:tailEnd/>
              </a:ln>
            </p:spPr>
            <p:txBody>
              <a:bodyPr/>
              <a:lstStyle/>
              <a:p>
                <a:endParaRPr lang="zh-CN" altLang="en-US"/>
              </a:p>
            </p:txBody>
          </p:sp>
          <p:sp>
            <p:nvSpPr>
              <p:cNvPr id="86064" name="Freeform 53"/>
              <p:cNvSpPr>
                <a:spLocks/>
              </p:cNvSpPr>
              <p:nvPr/>
            </p:nvSpPr>
            <p:spPr bwMode="auto">
              <a:xfrm>
                <a:off x="4388" y="814"/>
                <a:ext cx="29" cy="34"/>
              </a:xfrm>
              <a:custGeom>
                <a:avLst/>
                <a:gdLst>
                  <a:gd name="T0" fmla="*/ 0 w 87"/>
                  <a:gd name="T1" fmla="*/ 0 h 102"/>
                  <a:gd name="T2" fmla="*/ 0 w 87"/>
                  <a:gd name="T3" fmla="*/ 0 h 102"/>
                  <a:gd name="T4" fmla="*/ 0 w 87"/>
                  <a:gd name="T5" fmla="*/ 0 h 102"/>
                  <a:gd name="T6" fmla="*/ 0 w 87"/>
                  <a:gd name="T7" fmla="*/ 0 h 102"/>
                  <a:gd name="T8" fmla="*/ 0 60000 65536"/>
                  <a:gd name="T9" fmla="*/ 0 60000 65536"/>
                  <a:gd name="T10" fmla="*/ 0 60000 65536"/>
                  <a:gd name="T11" fmla="*/ 0 60000 65536"/>
                  <a:gd name="T12" fmla="*/ 0 w 87"/>
                  <a:gd name="T13" fmla="*/ 0 h 102"/>
                  <a:gd name="T14" fmla="*/ 87 w 87"/>
                  <a:gd name="T15" fmla="*/ 102 h 102"/>
                </a:gdLst>
                <a:ahLst/>
                <a:cxnLst>
                  <a:cxn ang="T8">
                    <a:pos x="T0" y="T1"/>
                  </a:cxn>
                  <a:cxn ang="T9">
                    <a:pos x="T2" y="T3"/>
                  </a:cxn>
                  <a:cxn ang="T10">
                    <a:pos x="T4" y="T5"/>
                  </a:cxn>
                  <a:cxn ang="T11">
                    <a:pos x="T6" y="T7"/>
                  </a:cxn>
                </a:cxnLst>
                <a:rect l="T12" t="T13" r="T14" b="T15"/>
                <a:pathLst>
                  <a:path w="87" h="102">
                    <a:moveTo>
                      <a:pt x="0" y="0"/>
                    </a:moveTo>
                    <a:lnTo>
                      <a:pt x="87" y="88"/>
                    </a:lnTo>
                    <a:lnTo>
                      <a:pt x="29" y="102"/>
                    </a:lnTo>
                    <a:lnTo>
                      <a:pt x="0" y="0"/>
                    </a:lnTo>
                    <a:close/>
                  </a:path>
                </a:pathLst>
              </a:custGeom>
              <a:solidFill>
                <a:srgbClr val="FF0000"/>
              </a:solidFill>
              <a:ln w="15875">
                <a:solidFill>
                  <a:srgbClr val="339966"/>
                </a:solidFill>
                <a:round/>
                <a:headEnd/>
                <a:tailEnd/>
              </a:ln>
            </p:spPr>
            <p:txBody>
              <a:bodyPr/>
              <a:lstStyle/>
              <a:p>
                <a:endParaRPr lang="zh-CN" altLang="en-US"/>
              </a:p>
            </p:txBody>
          </p:sp>
          <p:sp>
            <p:nvSpPr>
              <p:cNvPr id="86065" name="Freeform 54"/>
              <p:cNvSpPr>
                <a:spLocks/>
              </p:cNvSpPr>
              <p:nvPr/>
            </p:nvSpPr>
            <p:spPr bwMode="auto">
              <a:xfrm>
                <a:off x="4388" y="893"/>
                <a:ext cx="34" cy="28"/>
              </a:xfrm>
              <a:custGeom>
                <a:avLst/>
                <a:gdLst>
                  <a:gd name="T0" fmla="*/ 0 w 103"/>
                  <a:gd name="T1" fmla="*/ 0 h 84"/>
                  <a:gd name="T2" fmla="*/ 0 w 103"/>
                  <a:gd name="T3" fmla="*/ 0 h 84"/>
                  <a:gd name="T4" fmla="*/ 0 w 103"/>
                  <a:gd name="T5" fmla="*/ 0 h 84"/>
                  <a:gd name="T6" fmla="*/ 0 w 103"/>
                  <a:gd name="T7" fmla="*/ 0 h 84"/>
                  <a:gd name="T8" fmla="*/ 0 60000 65536"/>
                  <a:gd name="T9" fmla="*/ 0 60000 65536"/>
                  <a:gd name="T10" fmla="*/ 0 60000 65536"/>
                  <a:gd name="T11" fmla="*/ 0 60000 65536"/>
                  <a:gd name="T12" fmla="*/ 0 w 103"/>
                  <a:gd name="T13" fmla="*/ 0 h 84"/>
                  <a:gd name="T14" fmla="*/ 103 w 103"/>
                  <a:gd name="T15" fmla="*/ 84 h 84"/>
                </a:gdLst>
                <a:ahLst/>
                <a:cxnLst>
                  <a:cxn ang="T8">
                    <a:pos x="T0" y="T1"/>
                  </a:cxn>
                  <a:cxn ang="T9">
                    <a:pos x="T2" y="T3"/>
                  </a:cxn>
                  <a:cxn ang="T10">
                    <a:pos x="T4" y="T5"/>
                  </a:cxn>
                  <a:cxn ang="T11">
                    <a:pos x="T6" y="T7"/>
                  </a:cxn>
                </a:cxnLst>
                <a:rect l="T12" t="T13" r="T14" b="T15"/>
                <a:pathLst>
                  <a:path w="103" h="84">
                    <a:moveTo>
                      <a:pt x="0" y="84"/>
                    </a:moveTo>
                    <a:lnTo>
                      <a:pt x="89" y="0"/>
                    </a:lnTo>
                    <a:lnTo>
                      <a:pt x="103" y="56"/>
                    </a:lnTo>
                    <a:lnTo>
                      <a:pt x="0" y="84"/>
                    </a:lnTo>
                    <a:close/>
                  </a:path>
                </a:pathLst>
              </a:custGeom>
              <a:solidFill>
                <a:srgbClr val="FF0000"/>
              </a:solidFill>
              <a:ln w="15875">
                <a:solidFill>
                  <a:srgbClr val="339966"/>
                </a:solidFill>
                <a:round/>
                <a:headEnd/>
                <a:tailEnd/>
              </a:ln>
            </p:spPr>
            <p:txBody>
              <a:bodyPr/>
              <a:lstStyle/>
              <a:p>
                <a:endParaRPr lang="zh-CN" altLang="en-US"/>
              </a:p>
            </p:txBody>
          </p:sp>
          <p:sp>
            <p:nvSpPr>
              <p:cNvPr id="86066" name="Freeform 55"/>
              <p:cNvSpPr>
                <a:spLocks/>
              </p:cNvSpPr>
              <p:nvPr/>
            </p:nvSpPr>
            <p:spPr bwMode="auto">
              <a:xfrm>
                <a:off x="4466" y="888"/>
                <a:ext cx="29" cy="34"/>
              </a:xfrm>
              <a:custGeom>
                <a:avLst/>
                <a:gdLst>
                  <a:gd name="T0" fmla="*/ 0 w 87"/>
                  <a:gd name="T1" fmla="*/ 0 h 102"/>
                  <a:gd name="T2" fmla="*/ 0 w 87"/>
                  <a:gd name="T3" fmla="*/ 0 h 102"/>
                  <a:gd name="T4" fmla="*/ 0 w 87"/>
                  <a:gd name="T5" fmla="*/ 0 h 102"/>
                  <a:gd name="T6" fmla="*/ 0 w 87"/>
                  <a:gd name="T7" fmla="*/ 0 h 102"/>
                  <a:gd name="T8" fmla="*/ 0 60000 65536"/>
                  <a:gd name="T9" fmla="*/ 0 60000 65536"/>
                  <a:gd name="T10" fmla="*/ 0 60000 65536"/>
                  <a:gd name="T11" fmla="*/ 0 60000 65536"/>
                  <a:gd name="T12" fmla="*/ 0 w 87"/>
                  <a:gd name="T13" fmla="*/ 0 h 102"/>
                  <a:gd name="T14" fmla="*/ 87 w 87"/>
                  <a:gd name="T15" fmla="*/ 102 h 102"/>
                </a:gdLst>
                <a:ahLst/>
                <a:cxnLst>
                  <a:cxn ang="T8">
                    <a:pos x="T0" y="T1"/>
                  </a:cxn>
                  <a:cxn ang="T9">
                    <a:pos x="T2" y="T3"/>
                  </a:cxn>
                  <a:cxn ang="T10">
                    <a:pos x="T4" y="T5"/>
                  </a:cxn>
                  <a:cxn ang="T11">
                    <a:pos x="T6" y="T7"/>
                  </a:cxn>
                </a:cxnLst>
                <a:rect l="T12" t="T13" r="T14" b="T15"/>
                <a:pathLst>
                  <a:path w="87" h="102">
                    <a:moveTo>
                      <a:pt x="87" y="102"/>
                    </a:moveTo>
                    <a:lnTo>
                      <a:pt x="0" y="14"/>
                    </a:lnTo>
                    <a:lnTo>
                      <a:pt x="58" y="0"/>
                    </a:lnTo>
                    <a:lnTo>
                      <a:pt x="87" y="102"/>
                    </a:lnTo>
                    <a:close/>
                  </a:path>
                </a:pathLst>
              </a:custGeom>
              <a:solidFill>
                <a:srgbClr val="FF0000"/>
              </a:solidFill>
              <a:ln w="15875">
                <a:solidFill>
                  <a:srgbClr val="339966"/>
                </a:solidFill>
                <a:round/>
                <a:headEnd/>
                <a:tailEnd/>
              </a:ln>
            </p:spPr>
            <p:txBody>
              <a:bodyPr/>
              <a:lstStyle/>
              <a:p>
                <a:endParaRPr lang="zh-CN" altLang="en-US"/>
              </a:p>
            </p:txBody>
          </p:sp>
          <p:sp>
            <p:nvSpPr>
              <p:cNvPr id="86067" name="Freeform 56"/>
              <p:cNvSpPr>
                <a:spLocks/>
              </p:cNvSpPr>
              <p:nvPr/>
            </p:nvSpPr>
            <p:spPr bwMode="auto">
              <a:xfrm>
                <a:off x="4461" y="814"/>
                <a:ext cx="35" cy="29"/>
              </a:xfrm>
              <a:custGeom>
                <a:avLst/>
                <a:gdLst>
                  <a:gd name="T0" fmla="*/ 0 w 104"/>
                  <a:gd name="T1" fmla="*/ 0 h 87"/>
                  <a:gd name="T2" fmla="*/ 0 w 104"/>
                  <a:gd name="T3" fmla="*/ 0 h 87"/>
                  <a:gd name="T4" fmla="*/ 0 w 104"/>
                  <a:gd name="T5" fmla="*/ 0 h 87"/>
                  <a:gd name="T6" fmla="*/ 0 w 104"/>
                  <a:gd name="T7" fmla="*/ 0 h 87"/>
                  <a:gd name="T8" fmla="*/ 0 60000 65536"/>
                  <a:gd name="T9" fmla="*/ 0 60000 65536"/>
                  <a:gd name="T10" fmla="*/ 0 60000 65536"/>
                  <a:gd name="T11" fmla="*/ 0 60000 65536"/>
                  <a:gd name="T12" fmla="*/ 0 w 104"/>
                  <a:gd name="T13" fmla="*/ 0 h 87"/>
                  <a:gd name="T14" fmla="*/ 104 w 104"/>
                  <a:gd name="T15" fmla="*/ 87 h 87"/>
                </a:gdLst>
                <a:ahLst/>
                <a:cxnLst>
                  <a:cxn ang="T8">
                    <a:pos x="T0" y="T1"/>
                  </a:cxn>
                  <a:cxn ang="T9">
                    <a:pos x="T2" y="T3"/>
                  </a:cxn>
                  <a:cxn ang="T10">
                    <a:pos x="T4" y="T5"/>
                  </a:cxn>
                  <a:cxn ang="T11">
                    <a:pos x="T6" y="T7"/>
                  </a:cxn>
                </a:cxnLst>
                <a:rect l="T12" t="T13" r="T14" b="T15"/>
                <a:pathLst>
                  <a:path w="104" h="87">
                    <a:moveTo>
                      <a:pt x="104" y="0"/>
                    </a:moveTo>
                    <a:lnTo>
                      <a:pt x="14" y="87"/>
                    </a:lnTo>
                    <a:lnTo>
                      <a:pt x="0" y="29"/>
                    </a:lnTo>
                    <a:lnTo>
                      <a:pt x="104" y="0"/>
                    </a:lnTo>
                    <a:close/>
                  </a:path>
                </a:pathLst>
              </a:custGeom>
              <a:solidFill>
                <a:srgbClr val="FF0000"/>
              </a:solidFill>
              <a:ln w="15875">
                <a:solidFill>
                  <a:srgbClr val="339966"/>
                </a:solidFill>
                <a:round/>
                <a:headEnd/>
                <a:tailEnd/>
              </a:ln>
            </p:spPr>
            <p:txBody>
              <a:bodyPr/>
              <a:lstStyle/>
              <a:p>
                <a:endParaRPr lang="zh-CN" altLang="en-US"/>
              </a:p>
            </p:txBody>
          </p:sp>
        </p:grpSp>
      </p:grpSp>
      <p:grpSp>
        <p:nvGrpSpPr>
          <p:cNvPr id="10" name="Group 57"/>
          <p:cNvGrpSpPr>
            <a:grpSpLocks/>
          </p:cNvGrpSpPr>
          <p:nvPr/>
        </p:nvGrpSpPr>
        <p:grpSpPr bwMode="auto">
          <a:xfrm>
            <a:off x="3168824" y="5047430"/>
            <a:ext cx="3848100" cy="503238"/>
            <a:chOff x="1308" y="3081"/>
            <a:chExt cx="2424" cy="317"/>
          </a:xfrm>
        </p:grpSpPr>
        <p:sp>
          <p:nvSpPr>
            <p:cNvPr id="86046" name="Rectangle 58"/>
            <p:cNvSpPr>
              <a:spLocks noChangeArrowheads="1"/>
            </p:cNvSpPr>
            <p:nvPr/>
          </p:nvSpPr>
          <p:spPr bwMode="auto">
            <a:xfrm>
              <a:off x="1524" y="3081"/>
              <a:ext cx="2208" cy="317"/>
            </a:xfrm>
            <a:prstGeom prst="rect">
              <a:avLst/>
            </a:prstGeom>
            <a:noFill/>
            <a:ln w="12700" cap="sq">
              <a:noFill/>
              <a:miter lim="800000"/>
              <a:headEnd type="none" w="sm" len="sm"/>
              <a:tailEnd type="none" w="sm" len="sm"/>
            </a:ln>
          </p:spPr>
          <p:txBody>
            <a:bodyPr>
              <a:spAutoFit/>
            </a:bodyPr>
            <a:lstStyle/>
            <a:p>
              <a:r>
                <a:rPr lang="zh-CN" altLang="en-US" sz="2700" b="1">
                  <a:solidFill>
                    <a:srgbClr val="0033CC"/>
                  </a:solidFill>
                  <a:ea typeface="幼圆" pitchFamily="49" charset="-122"/>
                </a:rPr>
                <a:t>构造原理、特点</a:t>
              </a:r>
            </a:p>
          </p:txBody>
        </p:sp>
        <p:grpSp>
          <p:nvGrpSpPr>
            <p:cNvPr id="11" name="Group 59"/>
            <p:cNvGrpSpPr>
              <a:grpSpLocks/>
            </p:cNvGrpSpPr>
            <p:nvPr/>
          </p:nvGrpSpPr>
          <p:grpSpPr bwMode="auto">
            <a:xfrm>
              <a:off x="1308" y="3180"/>
              <a:ext cx="192" cy="169"/>
              <a:chOff x="4320" y="754"/>
              <a:chExt cx="240" cy="231"/>
            </a:xfrm>
          </p:grpSpPr>
          <p:sp>
            <p:nvSpPr>
              <p:cNvPr id="86048" name="Freeform 60"/>
              <p:cNvSpPr>
                <a:spLocks/>
              </p:cNvSpPr>
              <p:nvPr/>
            </p:nvSpPr>
            <p:spPr bwMode="auto">
              <a:xfrm>
                <a:off x="4320" y="754"/>
                <a:ext cx="240" cy="231"/>
              </a:xfrm>
              <a:custGeom>
                <a:avLst/>
                <a:gdLst>
                  <a:gd name="T0" fmla="*/ 0 w 720"/>
                  <a:gd name="T1" fmla="*/ 0 h 693"/>
                  <a:gd name="T2" fmla="*/ 0 w 720"/>
                  <a:gd name="T3" fmla="*/ 0 h 693"/>
                  <a:gd name="T4" fmla="*/ 0 w 720"/>
                  <a:gd name="T5" fmla="*/ 0 h 693"/>
                  <a:gd name="T6" fmla="*/ 0 w 720"/>
                  <a:gd name="T7" fmla="*/ 0 h 693"/>
                  <a:gd name="T8" fmla="*/ 0 w 720"/>
                  <a:gd name="T9" fmla="*/ 0 h 693"/>
                  <a:gd name="T10" fmla="*/ 0 w 720"/>
                  <a:gd name="T11" fmla="*/ 0 h 693"/>
                  <a:gd name="T12" fmla="*/ 0 w 720"/>
                  <a:gd name="T13" fmla="*/ 0 h 693"/>
                  <a:gd name="T14" fmla="*/ 0 w 720"/>
                  <a:gd name="T15" fmla="*/ 0 h 693"/>
                  <a:gd name="T16" fmla="*/ 0 w 720"/>
                  <a:gd name="T17" fmla="*/ 0 h 693"/>
                  <a:gd name="T18" fmla="*/ 0 w 720"/>
                  <a:gd name="T19" fmla="*/ 0 h 693"/>
                  <a:gd name="T20" fmla="*/ 0 w 720"/>
                  <a:gd name="T21" fmla="*/ 0 h 693"/>
                  <a:gd name="T22" fmla="*/ 0 w 720"/>
                  <a:gd name="T23" fmla="*/ 0 h 693"/>
                  <a:gd name="T24" fmla="*/ 0 w 720"/>
                  <a:gd name="T25" fmla="*/ 0 h 693"/>
                  <a:gd name="T26" fmla="*/ 0 w 720"/>
                  <a:gd name="T27" fmla="*/ 0 h 693"/>
                  <a:gd name="T28" fmla="*/ 0 w 720"/>
                  <a:gd name="T29" fmla="*/ 0 h 693"/>
                  <a:gd name="T30" fmla="*/ 0 w 720"/>
                  <a:gd name="T31" fmla="*/ 0 h 693"/>
                  <a:gd name="T32" fmla="*/ 0 w 720"/>
                  <a:gd name="T33" fmla="*/ 0 h 69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20"/>
                  <a:gd name="T52" fmla="*/ 0 h 693"/>
                  <a:gd name="T53" fmla="*/ 720 w 720"/>
                  <a:gd name="T54" fmla="*/ 693 h 69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20" h="693">
                    <a:moveTo>
                      <a:pt x="366" y="0"/>
                    </a:moveTo>
                    <a:lnTo>
                      <a:pt x="310" y="203"/>
                    </a:lnTo>
                    <a:lnTo>
                      <a:pt x="189" y="162"/>
                    </a:lnTo>
                    <a:lnTo>
                      <a:pt x="218" y="285"/>
                    </a:lnTo>
                    <a:lnTo>
                      <a:pt x="0" y="339"/>
                    </a:lnTo>
                    <a:lnTo>
                      <a:pt x="218" y="395"/>
                    </a:lnTo>
                    <a:lnTo>
                      <a:pt x="184" y="521"/>
                    </a:lnTo>
                    <a:lnTo>
                      <a:pt x="310" y="487"/>
                    </a:lnTo>
                    <a:lnTo>
                      <a:pt x="363" y="693"/>
                    </a:lnTo>
                    <a:lnTo>
                      <a:pt x="415" y="487"/>
                    </a:lnTo>
                    <a:lnTo>
                      <a:pt x="540" y="526"/>
                    </a:lnTo>
                    <a:lnTo>
                      <a:pt x="510" y="399"/>
                    </a:lnTo>
                    <a:lnTo>
                      <a:pt x="720" y="341"/>
                    </a:lnTo>
                    <a:lnTo>
                      <a:pt x="510" y="293"/>
                    </a:lnTo>
                    <a:lnTo>
                      <a:pt x="543" y="163"/>
                    </a:lnTo>
                    <a:lnTo>
                      <a:pt x="414" y="204"/>
                    </a:lnTo>
                    <a:lnTo>
                      <a:pt x="366" y="0"/>
                    </a:lnTo>
                    <a:close/>
                  </a:path>
                </a:pathLst>
              </a:custGeom>
              <a:solidFill>
                <a:srgbClr val="FF0000"/>
              </a:solidFill>
              <a:ln w="15875">
                <a:solidFill>
                  <a:srgbClr val="339966"/>
                </a:solidFill>
                <a:round/>
                <a:headEnd/>
                <a:tailEnd/>
              </a:ln>
            </p:spPr>
            <p:txBody>
              <a:bodyPr/>
              <a:lstStyle/>
              <a:p>
                <a:endParaRPr lang="zh-CN" altLang="en-US"/>
              </a:p>
            </p:txBody>
          </p:sp>
          <p:sp>
            <p:nvSpPr>
              <p:cNvPr id="86049" name="Freeform 61"/>
              <p:cNvSpPr>
                <a:spLocks/>
              </p:cNvSpPr>
              <p:nvPr/>
            </p:nvSpPr>
            <p:spPr bwMode="auto">
              <a:xfrm>
                <a:off x="4423" y="768"/>
                <a:ext cx="19" cy="100"/>
              </a:xfrm>
              <a:custGeom>
                <a:avLst/>
                <a:gdLst>
                  <a:gd name="T0" fmla="*/ 0 w 58"/>
                  <a:gd name="T1" fmla="*/ 0 h 298"/>
                  <a:gd name="T2" fmla="*/ 0 w 58"/>
                  <a:gd name="T3" fmla="*/ 0 h 298"/>
                  <a:gd name="T4" fmla="*/ 0 w 58"/>
                  <a:gd name="T5" fmla="*/ 0 h 298"/>
                  <a:gd name="T6" fmla="*/ 0 w 58"/>
                  <a:gd name="T7" fmla="*/ 0 h 298"/>
                  <a:gd name="T8" fmla="*/ 0 60000 65536"/>
                  <a:gd name="T9" fmla="*/ 0 60000 65536"/>
                  <a:gd name="T10" fmla="*/ 0 60000 65536"/>
                  <a:gd name="T11" fmla="*/ 0 60000 65536"/>
                  <a:gd name="T12" fmla="*/ 0 w 58"/>
                  <a:gd name="T13" fmla="*/ 0 h 298"/>
                  <a:gd name="T14" fmla="*/ 58 w 58"/>
                  <a:gd name="T15" fmla="*/ 298 h 298"/>
                </a:gdLst>
                <a:ahLst/>
                <a:cxnLst>
                  <a:cxn ang="T8">
                    <a:pos x="T0" y="T1"/>
                  </a:cxn>
                  <a:cxn ang="T9">
                    <a:pos x="T2" y="T3"/>
                  </a:cxn>
                  <a:cxn ang="T10">
                    <a:pos x="T4" y="T5"/>
                  </a:cxn>
                  <a:cxn ang="T11">
                    <a:pos x="T6" y="T7"/>
                  </a:cxn>
                </a:cxnLst>
                <a:rect l="T12" t="T13" r="T14" b="T15"/>
                <a:pathLst>
                  <a:path w="58" h="298">
                    <a:moveTo>
                      <a:pt x="58" y="0"/>
                    </a:moveTo>
                    <a:lnTo>
                      <a:pt x="58" y="298"/>
                    </a:lnTo>
                    <a:lnTo>
                      <a:pt x="0" y="244"/>
                    </a:lnTo>
                    <a:lnTo>
                      <a:pt x="58" y="0"/>
                    </a:lnTo>
                    <a:close/>
                  </a:path>
                </a:pathLst>
              </a:custGeom>
              <a:solidFill>
                <a:srgbClr val="FF0000"/>
              </a:solidFill>
              <a:ln w="15875">
                <a:solidFill>
                  <a:srgbClr val="339966"/>
                </a:solidFill>
                <a:round/>
                <a:headEnd/>
                <a:tailEnd/>
              </a:ln>
            </p:spPr>
            <p:txBody>
              <a:bodyPr/>
              <a:lstStyle/>
              <a:p>
                <a:endParaRPr lang="zh-CN" altLang="en-US"/>
              </a:p>
            </p:txBody>
          </p:sp>
          <p:sp>
            <p:nvSpPr>
              <p:cNvPr id="86050" name="Freeform 62"/>
              <p:cNvSpPr>
                <a:spLocks/>
              </p:cNvSpPr>
              <p:nvPr/>
            </p:nvSpPr>
            <p:spPr bwMode="auto">
              <a:xfrm>
                <a:off x="4343" y="868"/>
                <a:ext cx="99" cy="19"/>
              </a:xfrm>
              <a:custGeom>
                <a:avLst/>
                <a:gdLst>
                  <a:gd name="T0" fmla="*/ 0 w 298"/>
                  <a:gd name="T1" fmla="*/ 0 h 59"/>
                  <a:gd name="T2" fmla="*/ 0 w 298"/>
                  <a:gd name="T3" fmla="*/ 0 h 59"/>
                  <a:gd name="T4" fmla="*/ 0 w 298"/>
                  <a:gd name="T5" fmla="*/ 0 h 59"/>
                  <a:gd name="T6" fmla="*/ 0 w 298"/>
                  <a:gd name="T7" fmla="*/ 0 h 59"/>
                  <a:gd name="T8" fmla="*/ 0 60000 65536"/>
                  <a:gd name="T9" fmla="*/ 0 60000 65536"/>
                  <a:gd name="T10" fmla="*/ 0 60000 65536"/>
                  <a:gd name="T11" fmla="*/ 0 60000 65536"/>
                  <a:gd name="T12" fmla="*/ 0 w 298"/>
                  <a:gd name="T13" fmla="*/ 0 h 59"/>
                  <a:gd name="T14" fmla="*/ 298 w 298"/>
                  <a:gd name="T15" fmla="*/ 59 h 59"/>
                </a:gdLst>
                <a:ahLst/>
                <a:cxnLst>
                  <a:cxn ang="T8">
                    <a:pos x="T0" y="T1"/>
                  </a:cxn>
                  <a:cxn ang="T9">
                    <a:pos x="T2" y="T3"/>
                  </a:cxn>
                  <a:cxn ang="T10">
                    <a:pos x="T4" y="T5"/>
                  </a:cxn>
                  <a:cxn ang="T11">
                    <a:pos x="T6" y="T7"/>
                  </a:cxn>
                </a:cxnLst>
                <a:rect l="T12" t="T13" r="T14" b="T15"/>
                <a:pathLst>
                  <a:path w="298" h="59">
                    <a:moveTo>
                      <a:pt x="0" y="0"/>
                    </a:moveTo>
                    <a:lnTo>
                      <a:pt x="298" y="0"/>
                    </a:lnTo>
                    <a:lnTo>
                      <a:pt x="242" y="59"/>
                    </a:lnTo>
                    <a:lnTo>
                      <a:pt x="0" y="0"/>
                    </a:lnTo>
                    <a:close/>
                  </a:path>
                </a:pathLst>
              </a:custGeom>
              <a:solidFill>
                <a:srgbClr val="FF0000"/>
              </a:solidFill>
              <a:ln w="15875">
                <a:solidFill>
                  <a:srgbClr val="339966"/>
                </a:solidFill>
                <a:round/>
                <a:headEnd/>
                <a:tailEnd/>
              </a:ln>
            </p:spPr>
            <p:txBody>
              <a:bodyPr/>
              <a:lstStyle/>
              <a:p>
                <a:endParaRPr lang="zh-CN" altLang="en-US"/>
              </a:p>
            </p:txBody>
          </p:sp>
          <p:sp>
            <p:nvSpPr>
              <p:cNvPr id="86051" name="Freeform 63"/>
              <p:cNvSpPr>
                <a:spLocks/>
              </p:cNvSpPr>
              <p:nvPr/>
            </p:nvSpPr>
            <p:spPr bwMode="auto">
              <a:xfrm>
                <a:off x="4442" y="868"/>
                <a:ext cx="19" cy="99"/>
              </a:xfrm>
              <a:custGeom>
                <a:avLst/>
                <a:gdLst>
                  <a:gd name="T0" fmla="*/ 0 w 56"/>
                  <a:gd name="T1" fmla="*/ 0 h 297"/>
                  <a:gd name="T2" fmla="*/ 0 w 56"/>
                  <a:gd name="T3" fmla="*/ 0 h 297"/>
                  <a:gd name="T4" fmla="*/ 0 w 56"/>
                  <a:gd name="T5" fmla="*/ 0 h 297"/>
                  <a:gd name="T6" fmla="*/ 0 w 56"/>
                  <a:gd name="T7" fmla="*/ 0 h 297"/>
                  <a:gd name="T8" fmla="*/ 0 60000 65536"/>
                  <a:gd name="T9" fmla="*/ 0 60000 65536"/>
                  <a:gd name="T10" fmla="*/ 0 60000 65536"/>
                  <a:gd name="T11" fmla="*/ 0 60000 65536"/>
                  <a:gd name="T12" fmla="*/ 0 w 56"/>
                  <a:gd name="T13" fmla="*/ 0 h 297"/>
                  <a:gd name="T14" fmla="*/ 56 w 56"/>
                  <a:gd name="T15" fmla="*/ 297 h 297"/>
                </a:gdLst>
                <a:ahLst/>
                <a:cxnLst>
                  <a:cxn ang="T8">
                    <a:pos x="T0" y="T1"/>
                  </a:cxn>
                  <a:cxn ang="T9">
                    <a:pos x="T2" y="T3"/>
                  </a:cxn>
                  <a:cxn ang="T10">
                    <a:pos x="T4" y="T5"/>
                  </a:cxn>
                  <a:cxn ang="T11">
                    <a:pos x="T6" y="T7"/>
                  </a:cxn>
                </a:cxnLst>
                <a:rect l="T12" t="T13" r="T14" b="T15"/>
                <a:pathLst>
                  <a:path w="56" h="297">
                    <a:moveTo>
                      <a:pt x="0" y="297"/>
                    </a:moveTo>
                    <a:lnTo>
                      <a:pt x="0" y="0"/>
                    </a:lnTo>
                    <a:lnTo>
                      <a:pt x="56" y="56"/>
                    </a:lnTo>
                    <a:lnTo>
                      <a:pt x="0" y="297"/>
                    </a:lnTo>
                    <a:close/>
                  </a:path>
                </a:pathLst>
              </a:custGeom>
              <a:solidFill>
                <a:srgbClr val="FF0000"/>
              </a:solidFill>
              <a:ln w="15875">
                <a:solidFill>
                  <a:srgbClr val="339966"/>
                </a:solidFill>
                <a:round/>
                <a:headEnd/>
                <a:tailEnd/>
              </a:ln>
            </p:spPr>
            <p:txBody>
              <a:bodyPr/>
              <a:lstStyle/>
              <a:p>
                <a:endParaRPr lang="zh-CN" altLang="en-US"/>
              </a:p>
            </p:txBody>
          </p:sp>
          <p:sp>
            <p:nvSpPr>
              <p:cNvPr id="86052" name="Freeform 64"/>
              <p:cNvSpPr>
                <a:spLocks/>
              </p:cNvSpPr>
              <p:nvPr/>
            </p:nvSpPr>
            <p:spPr bwMode="auto">
              <a:xfrm>
                <a:off x="4442" y="849"/>
                <a:ext cx="99" cy="19"/>
              </a:xfrm>
              <a:custGeom>
                <a:avLst/>
                <a:gdLst>
                  <a:gd name="T0" fmla="*/ 0 w 297"/>
                  <a:gd name="T1" fmla="*/ 0 h 57"/>
                  <a:gd name="T2" fmla="*/ 0 w 297"/>
                  <a:gd name="T3" fmla="*/ 0 h 57"/>
                  <a:gd name="T4" fmla="*/ 0 w 297"/>
                  <a:gd name="T5" fmla="*/ 0 h 57"/>
                  <a:gd name="T6" fmla="*/ 0 w 297"/>
                  <a:gd name="T7" fmla="*/ 0 h 57"/>
                  <a:gd name="T8" fmla="*/ 0 60000 65536"/>
                  <a:gd name="T9" fmla="*/ 0 60000 65536"/>
                  <a:gd name="T10" fmla="*/ 0 60000 65536"/>
                  <a:gd name="T11" fmla="*/ 0 60000 65536"/>
                  <a:gd name="T12" fmla="*/ 0 w 297"/>
                  <a:gd name="T13" fmla="*/ 0 h 57"/>
                  <a:gd name="T14" fmla="*/ 297 w 297"/>
                  <a:gd name="T15" fmla="*/ 57 h 57"/>
                </a:gdLst>
                <a:ahLst/>
                <a:cxnLst>
                  <a:cxn ang="T8">
                    <a:pos x="T0" y="T1"/>
                  </a:cxn>
                  <a:cxn ang="T9">
                    <a:pos x="T2" y="T3"/>
                  </a:cxn>
                  <a:cxn ang="T10">
                    <a:pos x="T4" y="T5"/>
                  </a:cxn>
                  <a:cxn ang="T11">
                    <a:pos x="T6" y="T7"/>
                  </a:cxn>
                </a:cxnLst>
                <a:rect l="T12" t="T13" r="T14" b="T15"/>
                <a:pathLst>
                  <a:path w="297" h="57">
                    <a:moveTo>
                      <a:pt x="297" y="57"/>
                    </a:moveTo>
                    <a:lnTo>
                      <a:pt x="0" y="57"/>
                    </a:lnTo>
                    <a:lnTo>
                      <a:pt x="55" y="0"/>
                    </a:lnTo>
                    <a:lnTo>
                      <a:pt x="297" y="57"/>
                    </a:lnTo>
                    <a:close/>
                  </a:path>
                </a:pathLst>
              </a:custGeom>
              <a:solidFill>
                <a:srgbClr val="FF0000"/>
              </a:solidFill>
              <a:ln w="15875">
                <a:solidFill>
                  <a:srgbClr val="339966"/>
                </a:solidFill>
                <a:round/>
                <a:headEnd/>
                <a:tailEnd/>
              </a:ln>
            </p:spPr>
            <p:txBody>
              <a:bodyPr/>
              <a:lstStyle/>
              <a:p>
                <a:endParaRPr lang="zh-CN" altLang="en-US"/>
              </a:p>
            </p:txBody>
          </p:sp>
          <p:sp>
            <p:nvSpPr>
              <p:cNvPr id="86053" name="Freeform 65"/>
              <p:cNvSpPr>
                <a:spLocks/>
              </p:cNvSpPr>
              <p:nvPr/>
            </p:nvSpPr>
            <p:spPr bwMode="auto">
              <a:xfrm>
                <a:off x="4388" y="814"/>
                <a:ext cx="29" cy="34"/>
              </a:xfrm>
              <a:custGeom>
                <a:avLst/>
                <a:gdLst>
                  <a:gd name="T0" fmla="*/ 0 w 87"/>
                  <a:gd name="T1" fmla="*/ 0 h 102"/>
                  <a:gd name="T2" fmla="*/ 0 w 87"/>
                  <a:gd name="T3" fmla="*/ 0 h 102"/>
                  <a:gd name="T4" fmla="*/ 0 w 87"/>
                  <a:gd name="T5" fmla="*/ 0 h 102"/>
                  <a:gd name="T6" fmla="*/ 0 w 87"/>
                  <a:gd name="T7" fmla="*/ 0 h 102"/>
                  <a:gd name="T8" fmla="*/ 0 60000 65536"/>
                  <a:gd name="T9" fmla="*/ 0 60000 65536"/>
                  <a:gd name="T10" fmla="*/ 0 60000 65536"/>
                  <a:gd name="T11" fmla="*/ 0 60000 65536"/>
                  <a:gd name="T12" fmla="*/ 0 w 87"/>
                  <a:gd name="T13" fmla="*/ 0 h 102"/>
                  <a:gd name="T14" fmla="*/ 87 w 87"/>
                  <a:gd name="T15" fmla="*/ 102 h 102"/>
                </a:gdLst>
                <a:ahLst/>
                <a:cxnLst>
                  <a:cxn ang="T8">
                    <a:pos x="T0" y="T1"/>
                  </a:cxn>
                  <a:cxn ang="T9">
                    <a:pos x="T2" y="T3"/>
                  </a:cxn>
                  <a:cxn ang="T10">
                    <a:pos x="T4" y="T5"/>
                  </a:cxn>
                  <a:cxn ang="T11">
                    <a:pos x="T6" y="T7"/>
                  </a:cxn>
                </a:cxnLst>
                <a:rect l="T12" t="T13" r="T14" b="T15"/>
                <a:pathLst>
                  <a:path w="87" h="102">
                    <a:moveTo>
                      <a:pt x="0" y="0"/>
                    </a:moveTo>
                    <a:lnTo>
                      <a:pt x="87" y="88"/>
                    </a:lnTo>
                    <a:lnTo>
                      <a:pt x="29" y="102"/>
                    </a:lnTo>
                    <a:lnTo>
                      <a:pt x="0" y="0"/>
                    </a:lnTo>
                    <a:close/>
                  </a:path>
                </a:pathLst>
              </a:custGeom>
              <a:solidFill>
                <a:srgbClr val="FF0000"/>
              </a:solidFill>
              <a:ln w="15875">
                <a:solidFill>
                  <a:srgbClr val="339966"/>
                </a:solidFill>
                <a:round/>
                <a:headEnd/>
                <a:tailEnd/>
              </a:ln>
            </p:spPr>
            <p:txBody>
              <a:bodyPr/>
              <a:lstStyle/>
              <a:p>
                <a:endParaRPr lang="zh-CN" altLang="en-US"/>
              </a:p>
            </p:txBody>
          </p:sp>
          <p:sp>
            <p:nvSpPr>
              <p:cNvPr id="86054" name="Freeform 66"/>
              <p:cNvSpPr>
                <a:spLocks/>
              </p:cNvSpPr>
              <p:nvPr/>
            </p:nvSpPr>
            <p:spPr bwMode="auto">
              <a:xfrm>
                <a:off x="4388" y="893"/>
                <a:ext cx="34" cy="28"/>
              </a:xfrm>
              <a:custGeom>
                <a:avLst/>
                <a:gdLst>
                  <a:gd name="T0" fmla="*/ 0 w 103"/>
                  <a:gd name="T1" fmla="*/ 0 h 84"/>
                  <a:gd name="T2" fmla="*/ 0 w 103"/>
                  <a:gd name="T3" fmla="*/ 0 h 84"/>
                  <a:gd name="T4" fmla="*/ 0 w 103"/>
                  <a:gd name="T5" fmla="*/ 0 h 84"/>
                  <a:gd name="T6" fmla="*/ 0 w 103"/>
                  <a:gd name="T7" fmla="*/ 0 h 84"/>
                  <a:gd name="T8" fmla="*/ 0 60000 65536"/>
                  <a:gd name="T9" fmla="*/ 0 60000 65536"/>
                  <a:gd name="T10" fmla="*/ 0 60000 65536"/>
                  <a:gd name="T11" fmla="*/ 0 60000 65536"/>
                  <a:gd name="T12" fmla="*/ 0 w 103"/>
                  <a:gd name="T13" fmla="*/ 0 h 84"/>
                  <a:gd name="T14" fmla="*/ 103 w 103"/>
                  <a:gd name="T15" fmla="*/ 84 h 84"/>
                </a:gdLst>
                <a:ahLst/>
                <a:cxnLst>
                  <a:cxn ang="T8">
                    <a:pos x="T0" y="T1"/>
                  </a:cxn>
                  <a:cxn ang="T9">
                    <a:pos x="T2" y="T3"/>
                  </a:cxn>
                  <a:cxn ang="T10">
                    <a:pos x="T4" y="T5"/>
                  </a:cxn>
                  <a:cxn ang="T11">
                    <a:pos x="T6" y="T7"/>
                  </a:cxn>
                </a:cxnLst>
                <a:rect l="T12" t="T13" r="T14" b="T15"/>
                <a:pathLst>
                  <a:path w="103" h="84">
                    <a:moveTo>
                      <a:pt x="0" y="84"/>
                    </a:moveTo>
                    <a:lnTo>
                      <a:pt x="89" y="0"/>
                    </a:lnTo>
                    <a:lnTo>
                      <a:pt x="103" y="56"/>
                    </a:lnTo>
                    <a:lnTo>
                      <a:pt x="0" y="84"/>
                    </a:lnTo>
                    <a:close/>
                  </a:path>
                </a:pathLst>
              </a:custGeom>
              <a:solidFill>
                <a:srgbClr val="FF0000"/>
              </a:solidFill>
              <a:ln w="15875">
                <a:solidFill>
                  <a:srgbClr val="339966"/>
                </a:solidFill>
                <a:round/>
                <a:headEnd/>
                <a:tailEnd/>
              </a:ln>
            </p:spPr>
            <p:txBody>
              <a:bodyPr/>
              <a:lstStyle/>
              <a:p>
                <a:endParaRPr lang="zh-CN" altLang="en-US"/>
              </a:p>
            </p:txBody>
          </p:sp>
          <p:sp>
            <p:nvSpPr>
              <p:cNvPr id="86055" name="Freeform 67"/>
              <p:cNvSpPr>
                <a:spLocks/>
              </p:cNvSpPr>
              <p:nvPr/>
            </p:nvSpPr>
            <p:spPr bwMode="auto">
              <a:xfrm>
                <a:off x="4466" y="888"/>
                <a:ext cx="29" cy="34"/>
              </a:xfrm>
              <a:custGeom>
                <a:avLst/>
                <a:gdLst>
                  <a:gd name="T0" fmla="*/ 0 w 87"/>
                  <a:gd name="T1" fmla="*/ 0 h 102"/>
                  <a:gd name="T2" fmla="*/ 0 w 87"/>
                  <a:gd name="T3" fmla="*/ 0 h 102"/>
                  <a:gd name="T4" fmla="*/ 0 w 87"/>
                  <a:gd name="T5" fmla="*/ 0 h 102"/>
                  <a:gd name="T6" fmla="*/ 0 w 87"/>
                  <a:gd name="T7" fmla="*/ 0 h 102"/>
                  <a:gd name="T8" fmla="*/ 0 60000 65536"/>
                  <a:gd name="T9" fmla="*/ 0 60000 65536"/>
                  <a:gd name="T10" fmla="*/ 0 60000 65536"/>
                  <a:gd name="T11" fmla="*/ 0 60000 65536"/>
                  <a:gd name="T12" fmla="*/ 0 w 87"/>
                  <a:gd name="T13" fmla="*/ 0 h 102"/>
                  <a:gd name="T14" fmla="*/ 87 w 87"/>
                  <a:gd name="T15" fmla="*/ 102 h 102"/>
                </a:gdLst>
                <a:ahLst/>
                <a:cxnLst>
                  <a:cxn ang="T8">
                    <a:pos x="T0" y="T1"/>
                  </a:cxn>
                  <a:cxn ang="T9">
                    <a:pos x="T2" y="T3"/>
                  </a:cxn>
                  <a:cxn ang="T10">
                    <a:pos x="T4" y="T5"/>
                  </a:cxn>
                  <a:cxn ang="T11">
                    <a:pos x="T6" y="T7"/>
                  </a:cxn>
                </a:cxnLst>
                <a:rect l="T12" t="T13" r="T14" b="T15"/>
                <a:pathLst>
                  <a:path w="87" h="102">
                    <a:moveTo>
                      <a:pt x="87" y="102"/>
                    </a:moveTo>
                    <a:lnTo>
                      <a:pt x="0" y="14"/>
                    </a:lnTo>
                    <a:lnTo>
                      <a:pt x="58" y="0"/>
                    </a:lnTo>
                    <a:lnTo>
                      <a:pt x="87" y="102"/>
                    </a:lnTo>
                    <a:close/>
                  </a:path>
                </a:pathLst>
              </a:custGeom>
              <a:solidFill>
                <a:srgbClr val="FF0000"/>
              </a:solidFill>
              <a:ln w="15875">
                <a:solidFill>
                  <a:srgbClr val="339966"/>
                </a:solidFill>
                <a:round/>
                <a:headEnd/>
                <a:tailEnd/>
              </a:ln>
            </p:spPr>
            <p:txBody>
              <a:bodyPr/>
              <a:lstStyle/>
              <a:p>
                <a:endParaRPr lang="zh-CN" altLang="en-US"/>
              </a:p>
            </p:txBody>
          </p:sp>
          <p:sp>
            <p:nvSpPr>
              <p:cNvPr id="86056" name="Freeform 68"/>
              <p:cNvSpPr>
                <a:spLocks/>
              </p:cNvSpPr>
              <p:nvPr/>
            </p:nvSpPr>
            <p:spPr bwMode="auto">
              <a:xfrm>
                <a:off x="4461" y="814"/>
                <a:ext cx="35" cy="29"/>
              </a:xfrm>
              <a:custGeom>
                <a:avLst/>
                <a:gdLst>
                  <a:gd name="T0" fmla="*/ 0 w 104"/>
                  <a:gd name="T1" fmla="*/ 0 h 87"/>
                  <a:gd name="T2" fmla="*/ 0 w 104"/>
                  <a:gd name="T3" fmla="*/ 0 h 87"/>
                  <a:gd name="T4" fmla="*/ 0 w 104"/>
                  <a:gd name="T5" fmla="*/ 0 h 87"/>
                  <a:gd name="T6" fmla="*/ 0 w 104"/>
                  <a:gd name="T7" fmla="*/ 0 h 87"/>
                  <a:gd name="T8" fmla="*/ 0 60000 65536"/>
                  <a:gd name="T9" fmla="*/ 0 60000 65536"/>
                  <a:gd name="T10" fmla="*/ 0 60000 65536"/>
                  <a:gd name="T11" fmla="*/ 0 60000 65536"/>
                  <a:gd name="T12" fmla="*/ 0 w 104"/>
                  <a:gd name="T13" fmla="*/ 0 h 87"/>
                  <a:gd name="T14" fmla="*/ 104 w 104"/>
                  <a:gd name="T15" fmla="*/ 87 h 87"/>
                </a:gdLst>
                <a:ahLst/>
                <a:cxnLst>
                  <a:cxn ang="T8">
                    <a:pos x="T0" y="T1"/>
                  </a:cxn>
                  <a:cxn ang="T9">
                    <a:pos x="T2" y="T3"/>
                  </a:cxn>
                  <a:cxn ang="T10">
                    <a:pos x="T4" y="T5"/>
                  </a:cxn>
                  <a:cxn ang="T11">
                    <a:pos x="T6" y="T7"/>
                  </a:cxn>
                </a:cxnLst>
                <a:rect l="T12" t="T13" r="T14" b="T15"/>
                <a:pathLst>
                  <a:path w="104" h="87">
                    <a:moveTo>
                      <a:pt x="104" y="0"/>
                    </a:moveTo>
                    <a:lnTo>
                      <a:pt x="14" y="87"/>
                    </a:lnTo>
                    <a:lnTo>
                      <a:pt x="0" y="29"/>
                    </a:lnTo>
                    <a:lnTo>
                      <a:pt x="104" y="0"/>
                    </a:lnTo>
                    <a:close/>
                  </a:path>
                </a:pathLst>
              </a:custGeom>
              <a:solidFill>
                <a:srgbClr val="FF0000"/>
              </a:solidFill>
              <a:ln w="15875">
                <a:solidFill>
                  <a:srgbClr val="339966"/>
                </a:solidFill>
                <a:round/>
                <a:headEnd/>
                <a:tailEnd/>
              </a:ln>
            </p:spPr>
            <p:txBody>
              <a:bodyPr/>
              <a:lstStyle/>
              <a:p>
                <a:endParaRPr lang="zh-CN" altLang="en-US"/>
              </a:p>
            </p:txBody>
          </p:sp>
        </p:grpSp>
      </p:grpSp>
      <p:grpSp>
        <p:nvGrpSpPr>
          <p:cNvPr id="12" name="Group 69"/>
          <p:cNvGrpSpPr>
            <a:grpSpLocks/>
          </p:cNvGrpSpPr>
          <p:nvPr/>
        </p:nvGrpSpPr>
        <p:grpSpPr bwMode="auto">
          <a:xfrm>
            <a:off x="3168824" y="5409380"/>
            <a:ext cx="6267450" cy="503238"/>
            <a:chOff x="1320" y="3321"/>
            <a:chExt cx="3948" cy="317"/>
          </a:xfrm>
        </p:grpSpPr>
        <p:sp>
          <p:nvSpPr>
            <p:cNvPr id="86035" name="Rectangle 70"/>
            <p:cNvSpPr>
              <a:spLocks noChangeArrowheads="1"/>
            </p:cNvSpPr>
            <p:nvPr/>
          </p:nvSpPr>
          <p:spPr bwMode="auto">
            <a:xfrm>
              <a:off x="1524" y="3321"/>
              <a:ext cx="3744" cy="317"/>
            </a:xfrm>
            <a:prstGeom prst="rect">
              <a:avLst/>
            </a:prstGeom>
            <a:noFill/>
            <a:ln w="12700" cap="sq">
              <a:noFill/>
              <a:miter lim="800000"/>
              <a:headEnd type="none" w="sm" len="sm"/>
              <a:tailEnd type="none" w="sm" len="sm"/>
            </a:ln>
          </p:spPr>
          <p:txBody>
            <a:bodyPr>
              <a:spAutoFit/>
            </a:bodyPr>
            <a:lstStyle/>
            <a:p>
              <a:r>
                <a:rPr lang="zh-CN" altLang="en-US" sz="2700" b="1">
                  <a:solidFill>
                    <a:srgbClr val="0033CC"/>
                  </a:solidFill>
                  <a:ea typeface="幼圆" pitchFamily="49" charset="-122"/>
                </a:rPr>
                <a:t>对应的插入、删除操作的算法设计</a:t>
              </a:r>
            </a:p>
          </p:txBody>
        </p:sp>
        <p:grpSp>
          <p:nvGrpSpPr>
            <p:cNvPr id="13" name="Group 71"/>
            <p:cNvGrpSpPr>
              <a:grpSpLocks/>
            </p:cNvGrpSpPr>
            <p:nvPr/>
          </p:nvGrpSpPr>
          <p:grpSpPr bwMode="auto">
            <a:xfrm>
              <a:off x="1320" y="3431"/>
              <a:ext cx="192" cy="169"/>
              <a:chOff x="4320" y="754"/>
              <a:chExt cx="240" cy="231"/>
            </a:xfrm>
          </p:grpSpPr>
          <p:sp>
            <p:nvSpPr>
              <p:cNvPr id="86037" name="Freeform 72"/>
              <p:cNvSpPr>
                <a:spLocks/>
              </p:cNvSpPr>
              <p:nvPr/>
            </p:nvSpPr>
            <p:spPr bwMode="auto">
              <a:xfrm>
                <a:off x="4320" y="754"/>
                <a:ext cx="240" cy="231"/>
              </a:xfrm>
              <a:custGeom>
                <a:avLst/>
                <a:gdLst>
                  <a:gd name="T0" fmla="*/ 0 w 720"/>
                  <a:gd name="T1" fmla="*/ 0 h 693"/>
                  <a:gd name="T2" fmla="*/ 0 w 720"/>
                  <a:gd name="T3" fmla="*/ 0 h 693"/>
                  <a:gd name="T4" fmla="*/ 0 w 720"/>
                  <a:gd name="T5" fmla="*/ 0 h 693"/>
                  <a:gd name="T6" fmla="*/ 0 w 720"/>
                  <a:gd name="T7" fmla="*/ 0 h 693"/>
                  <a:gd name="T8" fmla="*/ 0 w 720"/>
                  <a:gd name="T9" fmla="*/ 0 h 693"/>
                  <a:gd name="T10" fmla="*/ 0 w 720"/>
                  <a:gd name="T11" fmla="*/ 0 h 693"/>
                  <a:gd name="T12" fmla="*/ 0 w 720"/>
                  <a:gd name="T13" fmla="*/ 0 h 693"/>
                  <a:gd name="T14" fmla="*/ 0 w 720"/>
                  <a:gd name="T15" fmla="*/ 0 h 693"/>
                  <a:gd name="T16" fmla="*/ 0 w 720"/>
                  <a:gd name="T17" fmla="*/ 0 h 693"/>
                  <a:gd name="T18" fmla="*/ 0 w 720"/>
                  <a:gd name="T19" fmla="*/ 0 h 693"/>
                  <a:gd name="T20" fmla="*/ 0 w 720"/>
                  <a:gd name="T21" fmla="*/ 0 h 693"/>
                  <a:gd name="T22" fmla="*/ 0 w 720"/>
                  <a:gd name="T23" fmla="*/ 0 h 693"/>
                  <a:gd name="T24" fmla="*/ 0 w 720"/>
                  <a:gd name="T25" fmla="*/ 0 h 693"/>
                  <a:gd name="T26" fmla="*/ 0 w 720"/>
                  <a:gd name="T27" fmla="*/ 0 h 693"/>
                  <a:gd name="T28" fmla="*/ 0 w 720"/>
                  <a:gd name="T29" fmla="*/ 0 h 693"/>
                  <a:gd name="T30" fmla="*/ 0 w 720"/>
                  <a:gd name="T31" fmla="*/ 0 h 693"/>
                  <a:gd name="T32" fmla="*/ 0 w 720"/>
                  <a:gd name="T33" fmla="*/ 0 h 69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20"/>
                  <a:gd name="T52" fmla="*/ 0 h 693"/>
                  <a:gd name="T53" fmla="*/ 720 w 720"/>
                  <a:gd name="T54" fmla="*/ 693 h 69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20" h="693">
                    <a:moveTo>
                      <a:pt x="366" y="0"/>
                    </a:moveTo>
                    <a:lnTo>
                      <a:pt x="310" y="203"/>
                    </a:lnTo>
                    <a:lnTo>
                      <a:pt x="189" y="162"/>
                    </a:lnTo>
                    <a:lnTo>
                      <a:pt x="218" y="285"/>
                    </a:lnTo>
                    <a:lnTo>
                      <a:pt x="0" y="339"/>
                    </a:lnTo>
                    <a:lnTo>
                      <a:pt x="218" y="395"/>
                    </a:lnTo>
                    <a:lnTo>
                      <a:pt x="184" y="521"/>
                    </a:lnTo>
                    <a:lnTo>
                      <a:pt x="310" y="487"/>
                    </a:lnTo>
                    <a:lnTo>
                      <a:pt x="363" y="693"/>
                    </a:lnTo>
                    <a:lnTo>
                      <a:pt x="415" y="487"/>
                    </a:lnTo>
                    <a:lnTo>
                      <a:pt x="540" y="526"/>
                    </a:lnTo>
                    <a:lnTo>
                      <a:pt x="510" y="399"/>
                    </a:lnTo>
                    <a:lnTo>
                      <a:pt x="720" y="341"/>
                    </a:lnTo>
                    <a:lnTo>
                      <a:pt x="510" y="293"/>
                    </a:lnTo>
                    <a:lnTo>
                      <a:pt x="543" y="163"/>
                    </a:lnTo>
                    <a:lnTo>
                      <a:pt x="414" y="204"/>
                    </a:lnTo>
                    <a:lnTo>
                      <a:pt x="366" y="0"/>
                    </a:lnTo>
                    <a:close/>
                  </a:path>
                </a:pathLst>
              </a:custGeom>
              <a:solidFill>
                <a:srgbClr val="FF0000"/>
              </a:solidFill>
              <a:ln w="15875">
                <a:solidFill>
                  <a:srgbClr val="339966"/>
                </a:solidFill>
                <a:round/>
                <a:headEnd/>
                <a:tailEnd/>
              </a:ln>
            </p:spPr>
            <p:txBody>
              <a:bodyPr/>
              <a:lstStyle/>
              <a:p>
                <a:endParaRPr lang="zh-CN" altLang="en-US"/>
              </a:p>
            </p:txBody>
          </p:sp>
          <p:sp>
            <p:nvSpPr>
              <p:cNvPr id="86038" name="Freeform 73"/>
              <p:cNvSpPr>
                <a:spLocks/>
              </p:cNvSpPr>
              <p:nvPr/>
            </p:nvSpPr>
            <p:spPr bwMode="auto">
              <a:xfrm>
                <a:off x="4423" y="768"/>
                <a:ext cx="19" cy="100"/>
              </a:xfrm>
              <a:custGeom>
                <a:avLst/>
                <a:gdLst>
                  <a:gd name="T0" fmla="*/ 0 w 58"/>
                  <a:gd name="T1" fmla="*/ 0 h 298"/>
                  <a:gd name="T2" fmla="*/ 0 w 58"/>
                  <a:gd name="T3" fmla="*/ 0 h 298"/>
                  <a:gd name="T4" fmla="*/ 0 w 58"/>
                  <a:gd name="T5" fmla="*/ 0 h 298"/>
                  <a:gd name="T6" fmla="*/ 0 w 58"/>
                  <a:gd name="T7" fmla="*/ 0 h 298"/>
                  <a:gd name="T8" fmla="*/ 0 60000 65536"/>
                  <a:gd name="T9" fmla="*/ 0 60000 65536"/>
                  <a:gd name="T10" fmla="*/ 0 60000 65536"/>
                  <a:gd name="T11" fmla="*/ 0 60000 65536"/>
                  <a:gd name="T12" fmla="*/ 0 w 58"/>
                  <a:gd name="T13" fmla="*/ 0 h 298"/>
                  <a:gd name="T14" fmla="*/ 58 w 58"/>
                  <a:gd name="T15" fmla="*/ 298 h 298"/>
                </a:gdLst>
                <a:ahLst/>
                <a:cxnLst>
                  <a:cxn ang="T8">
                    <a:pos x="T0" y="T1"/>
                  </a:cxn>
                  <a:cxn ang="T9">
                    <a:pos x="T2" y="T3"/>
                  </a:cxn>
                  <a:cxn ang="T10">
                    <a:pos x="T4" y="T5"/>
                  </a:cxn>
                  <a:cxn ang="T11">
                    <a:pos x="T6" y="T7"/>
                  </a:cxn>
                </a:cxnLst>
                <a:rect l="T12" t="T13" r="T14" b="T15"/>
                <a:pathLst>
                  <a:path w="58" h="298">
                    <a:moveTo>
                      <a:pt x="58" y="0"/>
                    </a:moveTo>
                    <a:lnTo>
                      <a:pt x="58" y="298"/>
                    </a:lnTo>
                    <a:lnTo>
                      <a:pt x="0" y="244"/>
                    </a:lnTo>
                    <a:lnTo>
                      <a:pt x="58" y="0"/>
                    </a:lnTo>
                    <a:close/>
                  </a:path>
                </a:pathLst>
              </a:custGeom>
              <a:solidFill>
                <a:srgbClr val="FF0000"/>
              </a:solidFill>
              <a:ln w="15875">
                <a:solidFill>
                  <a:srgbClr val="339966"/>
                </a:solidFill>
                <a:round/>
                <a:headEnd/>
                <a:tailEnd/>
              </a:ln>
            </p:spPr>
            <p:txBody>
              <a:bodyPr/>
              <a:lstStyle/>
              <a:p>
                <a:endParaRPr lang="zh-CN" altLang="en-US"/>
              </a:p>
            </p:txBody>
          </p:sp>
          <p:sp>
            <p:nvSpPr>
              <p:cNvPr id="86039" name="Freeform 74"/>
              <p:cNvSpPr>
                <a:spLocks/>
              </p:cNvSpPr>
              <p:nvPr/>
            </p:nvSpPr>
            <p:spPr bwMode="auto">
              <a:xfrm>
                <a:off x="4343" y="868"/>
                <a:ext cx="99" cy="19"/>
              </a:xfrm>
              <a:custGeom>
                <a:avLst/>
                <a:gdLst>
                  <a:gd name="T0" fmla="*/ 0 w 298"/>
                  <a:gd name="T1" fmla="*/ 0 h 59"/>
                  <a:gd name="T2" fmla="*/ 0 w 298"/>
                  <a:gd name="T3" fmla="*/ 0 h 59"/>
                  <a:gd name="T4" fmla="*/ 0 w 298"/>
                  <a:gd name="T5" fmla="*/ 0 h 59"/>
                  <a:gd name="T6" fmla="*/ 0 w 298"/>
                  <a:gd name="T7" fmla="*/ 0 h 59"/>
                  <a:gd name="T8" fmla="*/ 0 60000 65536"/>
                  <a:gd name="T9" fmla="*/ 0 60000 65536"/>
                  <a:gd name="T10" fmla="*/ 0 60000 65536"/>
                  <a:gd name="T11" fmla="*/ 0 60000 65536"/>
                  <a:gd name="T12" fmla="*/ 0 w 298"/>
                  <a:gd name="T13" fmla="*/ 0 h 59"/>
                  <a:gd name="T14" fmla="*/ 298 w 298"/>
                  <a:gd name="T15" fmla="*/ 59 h 59"/>
                </a:gdLst>
                <a:ahLst/>
                <a:cxnLst>
                  <a:cxn ang="T8">
                    <a:pos x="T0" y="T1"/>
                  </a:cxn>
                  <a:cxn ang="T9">
                    <a:pos x="T2" y="T3"/>
                  </a:cxn>
                  <a:cxn ang="T10">
                    <a:pos x="T4" y="T5"/>
                  </a:cxn>
                  <a:cxn ang="T11">
                    <a:pos x="T6" y="T7"/>
                  </a:cxn>
                </a:cxnLst>
                <a:rect l="T12" t="T13" r="T14" b="T15"/>
                <a:pathLst>
                  <a:path w="298" h="59">
                    <a:moveTo>
                      <a:pt x="0" y="0"/>
                    </a:moveTo>
                    <a:lnTo>
                      <a:pt x="298" y="0"/>
                    </a:lnTo>
                    <a:lnTo>
                      <a:pt x="242" y="59"/>
                    </a:lnTo>
                    <a:lnTo>
                      <a:pt x="0" y="0"/>
                    </a:lnTo>
                    <a:close/>
                  </a:path>
                </a:pathLst>
              </a:custGeom>
              <a:solidFill>
                <a:srgbClr val="FF0000"/>
              </a:solidFill>
              <a:ln w="15875">
                <a:solidFill>
                  <a:srgbClr val="339966"/>
                </a:solidFill>
                <a:round/>
                <a:headEnd/>
                <a:tailEnd/>
              </a:ln>
            </p:spPr>
            <p:txBody>
              <a:bodyPr/>
              <a:lstStyle/>
              <a:p>
                <a:endParaRPr lang="zh-CN" altLang="en-US"/>
              </a:p>
            </p:txBody>
          </p:sp>
          <p:sp>
            <p:nvSpPr>
              <p:cNvPr id="86040" name="Freeform 75"/>
              <p:cNvSpPr>
                <a:spLocks/>
              </p:cNvSpPr>
              <p:nvPr/>
            </p:nvSpPr>
            <p:spPr bwMode="auto">
              <a:xfrm>
                <a:off x="4442" y="868"/>
                <a:ext cx="19" cy="99"/>
              </a:xfrm>
              <a:custGeom>
                <a:avLst/>
                <a:gdLst>
                  <a:gd name="T0" fmla="*/ 0 w 56"/>
                  <a:gd name="T1" fmla="*/ 0 h 297"/>
                  <a:gd name="T2" fmla="*/ 0 w 56"/>
                  <a:gd name="T3" fmla="*/ 0 h 297"/>
                  <a:gd name="T4" fmla="*/ 0 w 56"/>
                  <a:gd name="T5" fmla="*/ 0 h 297"/>
                  <a:gd name="T6" fmla="*/ 0 w 56"/>
                  <a:gd name="T7" fmla="*/ 0 h 297"/>
                  <a:gd name="T8" fmla="*/ 0 60000 65536"/>
                  <a:gd name="T9" fmla="*/ 0 60000 65536"/>
                  <a:gd name="T10" fmla="*/ 0 60000 65536"/>
                  <a:gd name="T11" fmla="*/ 0 60000 65536"/>
                  <a:gd name="T12" fmla="*/ 0 w 56"/>
                  <a:gd name="T13" fmla="*/ 0 h 297"/>
                  <a:gd name="T14" fmla="*/ 56 w 56"/>
                  <a:gd name="T15" fmla="*/ 297 h 297"/>
                </a:gdLst>
                <a:ahLst/>
                <a:cxnLst>
                  <a:cxn ang="T8">
                    <a:pos x="T0" y="T1"/>
                  </a:cxn>
                  <a:cxn ang="T9">
                    <a:pos x="T2" y="T3"/>
                  </a:cxn>
                  <a:cxn ang="T10">
                    <a:pos x="T4" y="T5"/>
                  </a:cxn>
                  <a:cxn ang="T11">
                    <a:pos x="T6" y="T7"/>
                  </a:cxn>
                </a:cxnLst>
                <a:rect l="T12" t="T13" r="T14" b="T15"/>
                <a:pathLst>
                  <a:path w="56" h="297">
                    <a:moveTo>
                      <a:pt x="0" y="297"/>
                    </a:moveTo>
                    <a:lnTo>
                      <a:pt x="0" y="0"/>
                    </a:lnTo>
                    <a:lnTo>
                      <a:pt x="56" y="56"/>
                    </a:lnTo>
                    <a:lnTo>
                      <a:pt x="0" y="297"/>
                    </a:lnTo>
                    <a:close/>
                  </a:path>
                </a:pathLst>
              </a:custGeom>
              <a:solidFill>
                <a:srgbClr val="FF0000"/>
              </a:solidFill>
              <a:ln w="15875">
                <a:solidFill>
                  <a:srgbClr val="339966"/>
                </a:solidFill>
                <a:round/>
                <a:headEnd/>
                <a:tailEnd/>
              </a:ln>
            </p:spPr>
            <p:txBody>
              <a:bodyPr/>
              <a:lstStyle/>
              <a:p>
                <a:endParaRPr lang="zh-CN" altLang="en-US"/>
              </a:p>
            </p:txBody>
          </p:sp>
          <p:sp>
            <p:nvSpPr>
              <p:cNvPr id="86041" name="Freeform 76"/>
              <p:cNvSpPr>
                <a:spLocks/>
              </p:cNvSpPr>
              <p:nvPr/>
            </p:nvSpPr>
            <p:spPr bwMode="auto">
              <a:xfrm>
                <a:off x="4442" y="849"/>
                <a:ext cx="99" cy="19"/>
              </a:xfrm>
              <a:custGeom>
                <a:avLst/>
                <a:gdLst>
                  <a:gd name="T0" fmla="*/ 0 w 297"/>
                  <a:gd name="T1" fmla="*/ 0 h 57"/>
                  <a:gd name="T2" fmla="*/ 0 w 297"/>
                  <a:gd name="T3" fmla="*/ 0 h 57"/>
                  <a:gd name="T4" fmla="*/ 0 w 297"/>
                  <a:gd name="T5" fmla="*/ 0 h 57"/>
                  <a:gd name="T6" fmla="*/ 0 w 297"/>
                  <a:gd name="T7" fmla="*/ 0 h 57"/>
                  <a:gd name="T8" fmla="*/ 0 60000 65536"/>
                  <a:gd name="T9" fmla="*/ 0 60000 65536"/>
                  <a:gd name="T10" fmla="*/ 0 60000 65536"/>
                  <a:gd name="T11" fmla="*/ 0 60000 65536"/>
                  <a:gd name="T12" fmla="*/ 0 w 297"/>
                  <a:gd name="T13" fmla="*/ 0 h 57"/>
                  <a:gd name="T14" fmla="*/ 297 w 297"/>
                  <a:gd name="T15" fmla="*/ 57 h 57"/>
                </a:gdLst>
                <a:ahLst/>
                <a:cxnLst>
                  <a:cxn ang="T8">
                    <a:pos x="T0" y="T1"/>
                  </a:cxn>
                  <a:cxn ang="T9">
                    <a:pos x="T2" y="T3"/>
                  </a:cxn>
                  <a:cxn ang="T10">
                    <a:pos x="T4" y="T5"/>
                  </a:cxn>
                  <a:cxn ang="T11">
                    <a:pos x="T6" y="T7"/>
                  </a:cxn>
                </a:cxnLst>
                <a:rect l="T12" t="T13" r="T14" b="T15"/>
                <a:pathLst>
                  <a:path w="297" h="57">
                    <a:moveTo>
                      <a:pt x="297" y="57"/>
                    </a:moveTo>
                    <a:lnTo>
                      <a:pt x="0" y="57"/>
                    </a:lnTo>
                    <a:lnTo>
                      <a:pt x="55" y="0"/>
                    </a:lnTo>
                    <a:lnTo>
                      <a:pt x="297" y="57"/>
                    </a:lnTo>
                    <a:close/>
                  </a:path>
                </a:pathLst>
              </a:custGeom>
              <a:solidFill>
                <a:srgbClr val="FF0000"/>
              </a:solidFill>
              <a:ln w="15875">
                <a:solidFill>
                  <a:srgbClr val="339966"/>
                </a:solidFill>
                <a:round/>
                <a:headEnd/>
                <a:tailEnd/>
              </a:ln>
            </p:spPr>
            <p:txBody>
              <a:bodyPr/>
              <a:lstStyle/>
              <a:p>
                <a:endParaRPr lang="zh-CN" altLang="en-US"/>
              </a:p>
            </p:txBody>
          </p:sp>
          <p:sp>
            <p:nvSpPr>
              <p:cNvPr id="86042" name="Freeform 77"/>
              <p:cNvSpPr>
                <a:spLocks/>
              </p:cNvSpPr>
              <p:nvPr/>
            </p:nvSpPr>
            <p:spPr bwMode="auto">
              <a:xfrm>
                <a:off x="4388" y="814"/>
                <a:ext cx="29" cy="34"/>
              </a:xfrm>
              <a:custGeom>
                <a:avLst/>
                <a:gdLst>
                  <a:gd name="T0" fmla="*/ 0 w 87"/>
                  <a:gd name="T1" fmla="*/ 0 h 102"/>
                  <a:gd name="T2" fmla="*/ 0 w 87"/>
                  <a:gd name="T3" fmla="*/ 0 h 102"/>
                  <a:gd name="T4" fmla="*/ 0 w 87"/>
                  <a:gd name="T5" fmla="*/ 0 h 102"/>
                  <a:gd name="T6" fmla="*/ 0 w 87"/>
                  <a:gd name="T7" fmla="*/ 0 h 102"/>
                  <a:gd name="T8" fmla="*/ 0 60000 65536"/>
                  <a:gd name="T9" fmla="*/ 0 60000 65536"/>
                  <a:gd name="T10" fmla="*/ 0 60000 65536"/>
                  <a:gd name="T11" fmla="*/ 0 60000 65536"/>
                  <a:gd name="T12" fmla="*/ 0 w 87"/>
                  <a:gd name="T13" fmla="*/ 0 h 102"/>
                  <a:gd name="T14" fmla="*/ 87 w 87"/>
                  <a:gd name="T15" fmla="*/ 102 h 102"/>
                </a:gdLst>
                <a:ahLst/>
                <a:cxnLst>
                  <a:cxn ang="T8">
                    <a:pos x="T0" y="T1"/>
                  </a:cxn>
                  <a:cxn ang="T9">
                    <a:pos x="T2" y="T3"/>
                  </a:cxn>
                  <a:cxn ang="T10">
                    <a:pos x="T4" y="T5"/>
                  </a:cxn>
                  <a:cxn ang="T11">
                    <a:pos x="T6" y="T7"/>
                  </a:cxn>
                </a:cxnLst>
                <a:rect l="T12" t="T13" r="T14" b="T15"/>
                <a:pathLst>
                  <a:path w="87" h="102">
                    <a:moveTo>
                      <a:pt x="0" y="0"/>
                    </a:moveTo>
                    <a:lnTo>
                      <a:pt x="87" y="88"/>
                    </a:lnTo>
                    <a:lnTo>
                      <a:pt x="29" y="102"/>
                    </a:lnTo>
                    <a:lnTo>
                      <a:pt x="0" y="0"/>
                    </a:lnTo>
                    <a:close/>
                  </a:path>
                </a:pathLst>
              </a:custGeom>
              <a:solidFill>
                <a:srgbClr val="FF0000"/>
              </a:solidFill>
              <a:ln w="15875">
                <a:solidFill>
                  <a:srgbClr val="339966"/>
                </a:solidFill>
                <a:round/>
                <a:headEnd/>
                <a:tailEnd/>
              </a:ln>
            </p:spPr>
            <p:txBody>
              <a:bodyPr/>
              <a:lstStyle/>
              <a:p>
                <a:endParaRPr lang="zh-CN" altLang="en-US"/>
              </a:p>
            </p:txBody>
          </p:sp>
          <p:sp>
            <p:nvSpPr>
              <p:cNvPr id="86043" name="Freeform 78"/>
              <p:cNvSpPr>
                <a:spLocks/>
              </p:cNvSpPr>
              <p:nvPr/>
            </p:nvSpPr>
            <p:spPr bwMode="auto">
              <a:xfrm>
                <a:off x="4388" y="893"/>
                <a:ext cx="34" cy="28"/>
              </a:xfrm>
              <a:custGeom>
                <a:avLst/>
                <a:gdLst>
                  <a:gd name="T0" fmla="*/ 0 w 103"/>
                  <a:gd name="T1" fmla="*/ 0 h 84"/>
                  <a:gd name="T2" fmla="*/ 0 w 103"/>
                  <a:gd name="T3" fmla="*/ 0 h 84"/>
                  <a:gd name="T4" fmla="*/ 0 w 103"/>
                  <a:gd name="T5" fmla="*/ 0 h 84"/>
                  <a:gd name="T6" fmla="*/ 0 w 103"/>
                  <a:gd name="T7" fmla="*/ 0 h 84"/>
                  <a:gd name="T8" fmla="*/ 0 60000 65536"/>
                  <a:gd name="T9" fmla="*/ 0 60000 65536"/>
                  <a:gd name="T10" fmla="*/ 0 60000 65536"/>
                  <a:gd name="T11" fmla="*/ 0 60000 65536"/>
                  <a:gd name="T12" fmla="*/ 0 w 103"/>
                  <a:gd name="T13" fmla="*/ 0 h 84"/>
                  <a:gd name="T14" fmla="*/ 103 w 103"/>
                  <a:gd name="T15" fmla="*/ 84 h 84"/>
                </a:gdLst>
                <a:ahLst/>
                <a:cxnLst>
                  <a:cxn ang="T8">
                    <a:pos x="T0" y="T1"/>
                  </a:cxn>
                  <a:cxn ang="T9">
                    <a:pos x="T2" y="T3"/>
                  </a:cxn>
                  <a:cxn ang="T10">
                    <a:pos x="T4" y="T5"/>
                  </a:cxn>
                  <a:cxn ang="T11">
                    <a:pos x="T6" y="T7"/>
                  </a:cxn>
                </a:cxnLst>
                <a:rect l="T12" t="T13" r="T14" b="T15"/>
                <a:pathLst>
                  <a:path w="103" h="84">
                    <a:moveTo>
                      <a:pt x="0" y="84"/>
                    </a:moveTo>
                    <a:lnTo>
                      <a:pt x="89" y="0"/>
                    </a:lnTo>
                    <a:lnTo>
                      <a:pt x="103" y="56"/>
                    </a:lnTo>
                    <a:lnTo>
                      <a:pt x="0" y="84"/>
                    </a:lnTo>
                    <a:close/>
                  </a:path>
                </a:pathLst>
              </a:custGeom>
              <a:solidFill>
                <a:srgbClr val="FF0000"/>
              </a:solidFill>
              <a:ln w="15875">
                <a:solidFill>
                  <a:srgbClr val="339966"/>
                </a:solidFill>
                <a:round/>
                <a:headEnd/>
                <a:tailEnd/>
              </a:ln>
            </p:spPr>
            <p:txBody>
              <a:bodyPr/>
              <a:lstStyle/>
              <a:p>
                <a:endParaRPr lang="zh-CN" altLang="en-US"/>
              </a:p>
            </p:txBody>
          </p:sp>
          <p:sp>
            <p:nvSpPr>
              <p:cNvPr id="86044" name="Freeform 79"/>
              <p:cNvSpPr>
                <a:spLocks/>
              </p:cNvSpPr>
              <p:nvPr/>
            </p:nvSpPr>
            <p:spPr bwMode="auto">
              <a:xfrm>
                <a:off x="4466" y="888"/>
                <a:ext cx="29" cy="34"/>
              </a:xfrm>
              <a:custGeom>
                <a:avLst/>
                <a:gdLst>
                  <a:gd name="T0" fmla="*/ 0 w 87"/>
                  <a:gd name="T1" fmla="*/ 0 h 102"/>
                  <a:gd name="T2" fmla="*/ 0 w 87"/>
                  <a:gd name="T3" fmla="*/ 0 h 102"/>
                  <a:gd name="T4" fmla="*/ 0 w 87"/>
                  <a:gd name="T5" fmla="*/ 0 h 102"/>
                  <a:gd name="T6" fmla="*/ 0 w 87"/>
                  <a:gd name="T7" fmla="*/ 0 h 102"/>
                  <a:gd name="T8" fmla="*/ 0 60000 65536"/>
                  <a:gd name="T9" fmla="*/ 0 60000 65536"/>
                  <a:gd name="T10" fmla="*/ 0 60000 65536"/>
                  <a:gd name="T11" fmla="*/ 0 60000 65536"/>
                  <a:gd name="T12" fmla="*/ 0 w 87"/>
                  <a:gd name="T13" fmla="*/ 0 h 102"/>
                  <a:gd name="T14" fmla="*/ 87 w 87"/>
                  <a:gd name="T15" fmla="*/ 102 h 102"/>
                </a:gdLst>
                <a:ahLst/>
                <a:cxnLst>
                  <a:cxn ang="T8">
                    <a:pos x="T0" y="T1"/>
                  </a:cxn>
                  <a:cxn ang="T9">
                    <a:pos x="T2" y="T3"/>
                  </a:cxn>
                  <a:cxn ang="T10">
                    <a:pos x="T4" y="T5"/>
                  </a:cxn>
                  <a:cxn ang="T11">
                    <a:pos x="T6" y="T7"/>
                  </a:cxn>
                </a:cxnLst>
                <a:rect l="T12" t="T13" r="T14" b="T15"/>
                <a:pathLst>
                  <a:path w="87" h="102">
                    <a:moveTo>
                      <a:pt x="87" y="102"/>
                    </a:moveTo>
                    <a:lnTo>
                      <a:pt x="0" y="14"/>
                    </a:lnTo>
                    <a:lnTo>
                      <a:pt x="58" y="0"/>
                    </a:lnTo>
                    <a:lnTo>
                      <a:pt x="87" y="102"/>
                    </a:lnTo>
                    <a:close/>
                  </a:path>
                </a:pathLst>
              </a:custGeom>
              <a:solidFill>
                <a:srgbClr val="FF0000"/>
              </a:solidFill>
              <a:ln w="15875">
                <a:solidFill>
                  <a:srgbClr val="339966"/>
                </a:solidFill>
                <a:round/>
                <a:headEnd/>
                <a:tailEnd/>
              </a:ln>
            </p:spPr>
            <p:txBody>
              <a:bodyPr/>
              <a:lstStyle/>
              <a:p>
                <a:endParaRPr lang="zh-CN" altLang="en-US"/>
              </a:p>
            </p:txBody>
          </p:sp>
          <p:sp>
            <p:nvSpPr>
              <p:cNvPr id="86045" name="Freeform 80"/>
              <p:cNvSpPr>
                <a:spLocks/>
              </p:cNvSpPr>
              <p:nvPr/>
            </p:nvSpPr>
            <p:spPr bwMode="auto">
              <a:xfrm>
                <a:off x="4461" y="814"/>
                <a:ext cx="35" cy="29"/>
              </a:xfrm>
              <a:custGeom>
                <a:avLst/>
                <a:gdLst>
                  <a:gd name="T0" fmla="*/ 0 w 104"/>
                  <a:gd name="T1" fmla="*/ 0 h 87"/>
                  <a:gd name="T2" fmla="*/ 0 w 104"/>
                  <a:gd name="T3" fmla="*/ 0 h 87"/>
                  <a:gd name="T4" fmla="*/ 0 w 104"/>
                  <a:gd name="T5" fmla="*/ 0 h 87"/>
                  <a:gd name="T6" fmla="*/ 0 w 104"/>
                  <a:gd name="T7" fmla="*/ 0 h 87"/>
                  <a:gd name="T8" fmla="*/ 0 60000 65536"/>
                  <a:gd name="T9" fmla="*/ 0 60000 65536"/>
                  <a:gd name="T10" fmla="*/ 0 60000 65536"/>
                  <a:gd name="T11" fmla="*/ 0 60000 65536"/>
                  <a:gd name="T12" fmla="*/ 0 w 104"/>
                  <a:gd name="T13" fmla="*/ 0 h 87"/>
                  <a:gd name="T14" fmla="*/ 104 w 104"/>
                  <a:gd name="T15" fmla="*/ 87 h 87"/>
                </a:gdLst>
                <a:ahLst/>
                <a:cxnLst>
                  <a:cxn ang="T8">
                    <a:pos x="T0" y="T1"/>
                  </a:cxn>
                  <a:cxn ang="T9">
                    <a:pos x="T2" y="T3"/>
                  </a:cxn>
                  <a:cxn ang="T10">
                    <a:pos x="T4" y="T5"/>
                  </a:cxn>
                  <a:cxn ang="T11">
                    <a:pos x="T6" y="T7"/>
                  </a:cxn>
                </a:cxnLst>
                <a:rect l="T12" t="T13" r="T14" b="T15"/>
                <a:pathLst>
                  <a:path w="104" h="87">
                    <a:moveTo>
                      <a:pt x="104" y="0"/>
                    </a:moveTo>
                    <a:lnTo>
                      <a:pt x="14" y="87"/>
                    </a:lnTo>
                    <a:lnTo>
                      <a:pt x="0" y="29"/>
                    </a:lnTo>
                    <a:lnTo>
                      <a:pt x="104" y="0"/>
                    </a:lnTo>
                    <a:close/>
                  </a:path>
                </a:pathLst>
              </a:custGeom>
              <a:solidFill>
                <a:srgbClr val="FF0000"/>
              </a:solidFill>
              <a:ln w="15875">
                <a:solidFill>
                  <a:srgbClr val="339966"/>
                </a:solidFill>
                <a:round/>
                <a:headEnd/>
                <a:tailEnd/>
              </a:ln>
            </p:spPr>
            <p:txBody>
              <a:bodyPr/>
              <a:lstStyle/>
              <a:p>
                <a:endParaRPr lang="zh-CN" altLang="en-US"/>
              </a:p>
            </p:txBody>
          </p:sp>
        </p:grpSp>
      </p:grpSp>
      <p:sp>
        <p:nvSpPr>
          <p:cNvPr id="272465" name="AutoShape 81"/>
          <p:cNvSpPr>
            <a:spLocks/>
          </p:cNvSpPr>
          <p:nvPr/>
        </p:nvSpPr>
        <p:spPr bwMode="auto">
          <a:xfrm>
            <a:off x="2254424" y="1493018"/>
            <a:ext cx="381000" cy="4724400"/>
          </a:xfrm>
          <a:prstGeom prst="leftBrace">
            <a:avLst>
              <a:gd name="adj1" fmla="val 103333"/>
              <a:gd name="adj2" fmla="val 50352"/>
            </a:avLst>
          </a:prstGeom>
          <a:noFill/>
          <a:ln w="47625" cap="sq">
            <a:solidFill>
              <a:srgbClr val="008000"/>
            </a:solidFill>
            <a:round/>
            <a:headEnd type="none" w="sm" len="sm"/>
            <a:tailEnd type="none" w="sm" len="sm"/>
          </a:ln>
        </p:spPr>
        <p:txBody>
          <a:bodyPr wrap="none" anchor="ctr"/>
          <a:lstStyle/>
          <a:p>
            <a:endParaRPr lang="zh-CN" altLang="en-US"/>
          </a:p>
        </p:txBody>
      </p:sp>
      <p:grpSp>
        <p:nvGrpSpPr>
          <p:cNvPr id="14" name="Group 106"/>
          <p:cNvGrpSpPr>
            <a:grpSpLocks/>
          </p:cNvGrpSpPr>
          <p:nvPr/>
        </p:nvGrpSpPr>
        <p:grpSpPr bwMode="auto">
          <a:xfrm>
            <a:off x="6769100" y="188913"/>
            <a:ext cx="3581400" cy="1828800"/>
            <a:chOff x="3304" y="119"/>
            <a:chExt cx="2256" cy="1152"/>
          </a:xfrm>
        </p:grpSpPr>
        <p:sp>
          <p:nvSpPr>
            <p:cNvPr id="86033" name="AutoShape 93"/>
            <p:cNvSpPr>
              <a:spLocks noChangeArrowheads="1"/>
            </p:cNvSpPr>
            <p:nvPr/>
          </p:nvSpPr>
          <p:spPr bwMode="auto">
            <a:xfrm rot="1540422">
              <a:off x="3304" y="119"/>
              <a:ext cx="2256" cy="1152"/>
            </a:xfrm>
            <a:prstGeom prst="irregularSeal2">
              <a:avLst/>
            </a:prstGeom>
            <a:solidFill>
              <a:srgbClr val="FF0000"/>
            </a:solidFill>
            <a:ln w="63500" cap="sq">
              <a:solidFill>
                <a:srgbClr val="FFFF00"/>
              </a:solidFill>
              <a:miter lim="800000"/>
              <a:headEnd type="none" w="sm" len="sm"/>
              <a:tailEnd type="none" w="sm" len="sm"/>
            </a:ln>
            <a:effectLst>
              <a:outerShdw dist="159131" dir="1716628" algn="ctr" rotWithShape="0">
                <a:srgbClr val="777777"/>
              </a:outerShdw>
            </a:effectLst>
          </p:spPr>
          <p:txBody>
            <a:bodyPr wrap="none" anchor="ctr"/>
            <a:lstStyle/>
            <a:p>
              <a:endParaRPr lang="zh-CN" altLang="en-US"/>
            </a:p>
          </p:txBody>
        </p:sp>
        <p:sp>
          <p:nvSpPr>
            <p:cNvPr id="86034" name="Text Box 94"/>
            <p:cNvSpPr txBox="1">
              <a:spLocks noChangeArrowheads="1"/>
            </p:cNvSpPr>
            <p:nvPr/>
          </p:nvSpPr>
          <p:spPr bwMode="auto">
            <a:xfrm rot="621735">
              <a:off x="3729" y="481"/>
              <a:ext cx="1552" cy="516"/>
            </a:xfrm>
            <a:prstGeom prst="rect">
              <a:avLst/>
            </a:prstGeom>
            <a:noFill/>
            <a:ln w="12700" cap="sq">
              <a:noFill/>
              <a:miter lim="800000"/>
              <a:headEnd type="none" w="sm" len="sm"/>
              <a:tailEnd type="none" w="sm" len="sm"/>
            </a:ln>
            <a:effectLst>
              <a:outerShdw dist="28398" dir="3806097" algn="ctr" rotWithShape="0">
                <a:srgbClr val="000000"/>
              </a:outerShdw>
            </a:effectLst>
          </p:spPr>
          <p:txBody>
            <a:bodyPr>
              <a:spAutoFit/>
            </a:bodyPr>
            <a:lstStyle/>
            <a:p>
              <a:pPr>
                <a:lnSpc>
                  <a:spcPct val="85000"/>
                </a:lnSpc>
              </a:pPr>
              <a:r>
                <a:rPr lang="zh-CN" altLang="en-US" sz="2800" b="1">
                  <a:solidFill>
                    <a:srgbClr val="FFFFFF"/>
                  </a:solidFill>
                  <a:ea typeface="黑体" pitchFamily="2" charset="-122"/>
                </a:rPr>
                <a:t>操作的时间</a:t>
              </a:r>
            </a:p>
            <a:p>
              <a:pPr>
                <a:lnSpc>
                  <a:spcPct val="85000"/>
                </a:lnSpc>
              </a:pPr>
              <a:r>
                <a:rPr lang="zh-CN" altLang="en-US" sz="2800" b="1">
                  <a:solidFill>
                    <a:srgbClr val="FFFFFF"/>
                  </a:solidFill>
                  <a:ea typeface="黑体" pitchFamily="2" charset="-122"/>
                </a:rPr>
                <a:t> 都为</a:t>
              </a:r>
              <a:r>
                <a:rPr lang="en-US" altLang="zh-CN" sz="2800" b="1">
                  <a:solidFill>
                    <a:srgbClr val="FFFFFF"/>
                  </a:solidFill>
                </a:rPr>
                <a:t>O(1)</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 calcmode="lin" valueType="num">
                                      <p:cBhvr>
                                        <p:cTn id="9" dur="500" fill="hold"/>
                                        <p:tgtEl>
                                          <p:spTgt spid="14"/>
                                        </p:tgtEl>
                                        <p:attrNameLst>
                                          <p:attrName>ppt_x</p:attrName>
                                        </p:attrNameLst>
                                      </p:cBhvr>
                                      <p:tavLst>
                                        <p:tav tm="0">
                                          <p:val>
                                            <p:fltVal val="0.5"/>
                                          </p:val>
                                        </p:tav>
                                        <p:tav tm="100000">
                                          <p:val>
                                            <p:strVal val="#ppt_x"/>
                                          </p:val>
                                        </p:tav>
                                      </p:tavLst>
                                    </p:anim>
                                    <p:anim calcmode="lin" valueType="num">
                                      <p:cBhvr>
                                        <p:cTn id="10" dur="500" fill="hold"/>
                                        <p:tgtEl>
                                          <p:spTgt spid="14"/>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8"/>
          <p:cNvGrpSpPr>
            <a:grpSpLocks/>
          </p:cNvGrpSpPr>
          <p:nvPr/>
        </p:nvGrpSpPr>
        <p:grpSpPr bwMode="auto">
          <a:xfrm>
            <a:off x="2057400" y="414338"/>
            <a:ext cx="7772400" cy="6311900"/>
            <a:chOff x="432" y="768"/>
            <a:chExt cx="4896" cy="2256"/>
          </a:xfrm>
        </p:grpSpPr>
        <p:sp>
          <p:nvSpPr>
            <p:cNvPr id="87067" name="AutoShape 3"/>
            <p:cNvSpPr>
              <a:spLocks noChangeArrowheads="1"/>
            </p:cNvSpPr>
            <p:nvPr/>
          </p:nvSpPr>
          <p:spPr bwMode="auto">
            <a:xfrm>
              <a:off x="432" y="768"/>
              <a:ext cx="4896" cy="2256"/>
            </a:xfrm>
            <a:prstGeom prst="roundRect">
              <a:avLst>
                <a:gd name="adj" fmla="val 8500"/>
              </a:avLst>
            </a:prstGeom>
            <a:solidFill>
              <a:srgbClr val="CCFFFF"/>
            </a:solidFill>
            <a:ln w="12700" cap="sq">
              <a:noFill/>
              <a:round/>
              <a:headEnd type="none" w="sm" len="sm"/>
              <a:tailEnd type="none" w="sm" len="sm"/>
            </a:ln>
            <a:effectLst>
              <a:outerShdw dist="224686" dir="2562563" algn="ctr" rotWithShape="0">
                <a:srgbClr val="999999"/>
              </a:outerShdw>
            </a:effectLst>
          </p:spPr>
          <p:txBody>
            <a:bodyPr wrap="none" anchor="ctr"/>
            <a:lstStyle/>
            <a:p>
              <a:endParaRPr lang="zh-CN" altLang="en-US"/>
            </a:p>
          </p:txBody>
        </p:sp>
        <p:sp>
          <p:nvSpPr>
            <p:cNvPr id="87068" name="Text Box 4"/>
            <p:cNvSpPr txBox="1">
              <a:spLocks noChangeArrowheads="1"/>
            </p:cNvSpPr>
            <p:nvPr/>
          </p:nvSpPr>
          <p:spPr bwMode="auto">
            <a:xfrm>
              <a:off x="672" y="1022"/>
              <a:ext cx="4391" cy="1078"/>
            </a:xfrm>
            <a:prstGeom prst="rect">
              <a:avLst/>
            </a:prstGeom>
            <a:noFill/>
            <a:ln w="12700" cap="sq">
              <a:noFill/>
              <a:miter lim="800000"/>
              <a:headEnd type="none" w="sm" len="sm"/>
              <a:tailEnd type="none" w="sm" len="sm"/>
            </a:ln>
          </p:spPr>
          <p:txBody>
            <a:bodyPr>
              <a:spAutoFit/>
            </a:bodyPr>
            <a:lstStyle/>
            <a:p>
              <a:pPr>
                <a:lnSpc>
                  <a:spcPct val="150000"/>
                </a:lnSpc>
              </a:pPr>
              <a:r>
                <a:rPr lang="zh-CN" altLang="en-US" sz="2600" b="1">
                  <a:solidFill>
                    <a:srgbClr val="002D88"/>
                  </a:solidFill>
                </a:rPr>
                <a:t>设有一顺序栈</a:t>
              </a:r>
              <a:r>
                <a:rPr lang="en-US" altLang="zh-CN" sz="2600" b="1">
                  <a:solidFill>
                    <a:srgbClr val="002D88"/>
                  </a:solidFill>
                </a:rPr>
                <a:t>S</a:t>
              </a:r>
              <a:r>
                <a:rPr lang="zh-CN" altLang="en-US" sz="2600" b="1">
                  <a:solidFill>
                    <a:srgbClr val="002D88"/>
                  </a:solidFill>
                </a:rPr>
                <a:t>，</a:t>
              </a:r>
              <a:r>
                <a:rPr lang="en-US" altLang="zh-CN" sz="2600" b="1">
                  <a:solidFill>
                    <a:srgbClr val="002D88"/>
                  </a:solidFill>
                </a:rPr>
                <a:t>n</a:t>
              </a:r>
              <a:r>
                <a:rPr lang="zh-CN" altLang="en-US" sz="2600" b="1">
                  <a:solidFill>
                    <a:srgbClr val="002D88"/>
                  </a:solidFill>
                </a:rPr>
                <a:t>个元素</a:t>
              </a:r>
              <a:r>
                <a:rPr lang="en-US" altLang="zh-CN" sz="2600" b="1">
                  <a:solidFill>
                    <a:srgbClr val="002D88"/>
                  </a:solidFill>
                </a:rPr>
                <a:t> </a:t>
              </a:r>
              <a:r>
                <a:rPr lang="zh-CN" altLang="en-US" sz="2600" b="1">
                  <a:solidFill>
                    <a:srgbClr val="002D88"/>
                  </a:solidFill>
                </a:rPr>
                <a:t>依次进栈，问这</a:t>
              </a:r>
              <a:r>
                <a:rPr lang="en-US" altLang="zh-CN" sz="2600" b="1">
                  <a:solidFill>
                    <a:srgbClr val="002D88"/>
                  </a:solidFill>
                </a:rPr>
                <a:t>n</a:t>
              </a:r>
              <a:r>
                <a:rPr lang="zh-CN" altLang="en-US" sz="2600" b="1">
                  <a:solidFill>
                    <a:srgbClr val="002D88"/>
                  </a:solidFill>
                </a:rPr>
                <a:t>个元素的任意排列都可以对应某一个可能的出栈顺序吗</a:t>
              </a:r>
              <a:r>
                <a:rPr lang="en-US" altLang="zh-CN" sz="2600" b="1">
                  <a:solidFill>
                    <a:srgbClr val="002D88"/>
                  </a:solidFill>
                </a:rPr>
                <a:t>?</a:t>
              </a:r>
            </a:p>
            <a:p>
              <a:pPr>
                <a:lnSpc>
                  <a:spcPct val="150000"/>
                </a:lnSpc>
              </a:pPr>
              <a:endParaRPr lang="en-US" altLang="zh-CN" sz="2600" b="1">
                <a:solidFill>
                  <a:srgbClr val="002D88"/>
                </a:solidFill>
              </a:endParaRPr>
            </a:p>
            <a:p>
              <a:pPr>
                <a:lnSpc>
                  <a:spcPct val="150000"/>
                </a:lnSpc>
              </a:pPr>
              <a:endParaRPr lang="en-US" altLang="zh-CN" sz="2600" b="1">
                <a:solidFill>
                  <a:srgbClr val="002D88"/>
                </a:solidFill>
              </a:endParaRPr>
            </a:p>
          </p:txBody>
        </p:sp>
      </p:grpSp>
      <p:grpSp>
        <p:nvGrpSpPr>
          <p:cNvPr id="5" name="Group 50"/>
          <p:cNvGrpSpPr>
            <a:grpSpLocks/>
          </p:cNvGrpSpPr>
          <p:nvPr/>
        </p:nvGrpSpPr>
        <p:grpSpPr bwMode="auto">
          <a:xfrm>
            <a:off x="2060576" y="115889"/>
            <a:ext cx="2378075" cy="960437"/>
            <a:chOff x="338" y="239"/>
            <a:chExt cx="1498" cy="605"/>
          </a:xfrm>
        </p:grpSpPr>
        <p:sp>
          <p:nvSpPr>
            <p:cNvPr id="87065" name="AutoShape 6"/>
            <p:cNvSpPr>
              <a:spLocks noChangeArrowheads="1"/>
            </p:cNvSpPr>
            <p:nvPr/>
          </p:nvSpPr>
          <p:spPr bwMode="auto">
            <a:xfrm rot="-352797">
              <a:off x="338" y="239"/>
              <a:ext cx="1392" cy="605"/>
            </a:xfrm>
            <a:prstGeom prst="irregularSeal2">
              <a:avLst/>
            </a:prstGeom>
            <a:solidFill>
              <a:srgbClr val="CCFFCC"/>
            </a:solidFill>
            <a:ln w="66675">
              <a:solidFill>
                <a:srgbClr val="FFFF00"/>
              </a:solidFill>
              <a:miter lim="800000"/>
              <a:headEnd type="none" w="sm" len="sm"/>
              <a:tailEnd type="none" w="sm" len="sm"/>
            </a:ln>
            <a:effectLst>
              <a:outerShdw dist="104727" dir="842175" algn="ctr" rotWithShape="0">
                <a:srgbClr val="999999"/>
              </a:outerShdw>
            </a:effectLst>
          </p:spPr>
          <p:txBody>
            <a:bodyPr wrap="none" anchor="ctr"/>
            <a:lstStyle/>
            <a:p>
              <a:endParaRPr lang="zh-CN" altLang="en-US"/>
            </a:p>
          </p:txBody>
        </p:sp>
        <p:sp>
          <p:nvSpPr>
            <p:cNvPr id="87066" name="Text Box 7"/>
            <p:cNvSpPr txBox="1">
              <a:spLocks noChangeArrowheads="1"/>
            </p:cNvSpPr>
            <p:nvPr/>
          </p:nvSpPr>
          <p:spPr bwMode="auto">
            <a:xfrm rot="-74607">
              <a:off x="483" y="259"/>
              <a:ext cx="1353" cy="519"/>
            </a:xfrm>
            <a:prstGeom prst="rect">
              <a:avLst/>
            </a:prstGeom>
            <a:noFill/>
            <a:ln w="12700" cap="sq">
              <a:noFill/>
              <a:miter lim="800000"/>
              <a:headEnd type="none" w="sm" len="sm"/>
              <a:tailEnd type="none" w="sm" len="sm"/>
            </a:ln>
            <a:effectLst>
              <a:outerShdw dist="35921" dir="2700000" algn="ctr" rotWithShape="0">
                <a:srgbClr val="000000"/>
              </a:outerShdw>
            </a:effectLst>
          </p:spPr>
          <p:txBody>
            <a:bodyPr>
              <a:spAutoFit/>
            </a:bodyPr>
            <a:lstStyle/>
            <a:p>
              <a:r>
                <a:rPr lang="zh-CN" altLang="en-US" sz="4800" b="1" i="1">
                  <a:solidFill>
                    <a:srgbClr val="FF3300"/>
                  </a:solidFill>
                  <a:ea typeface="黑体" pitchFamily="2" charset="-122"/>
                </a:rPr>
                <a:t>思考</a:t>
              </a:r>
              <a:r>
                <a:rPr lang="en-US" altLang="zh-CN" sz="4800" b="1" i="1">
                  <a:solidFill>
                    <a:srgbClr val="FF3300"/>
                  </a:solidFill>
                  <a:ea typeface="黑体" pitchFamily="2" charset="-122"/>
                </a:rPr>
                <a:t>1</a:t>
              </a:r>
              <a:endParaRPr lang="zh-CN" altLang="en-US" sz="4800" b="1" i="1">
                <a:solidFill>
                  <a:srgbClr val="FF3300"/>
                </a:solidFill>
                <a:ea typeface="黑体" pitchFamily="2" charset="-122"/>
              </a:endParaRPr>
            </a:p>
          </p:txBody>
        </p:sp>
      </p:grpSp>
      <p:sp>
        <p:nvSpPr>
          <p:cNvPr id="3" name="矩形 2"/>
          <p:cNvSpPr>
            <a:spLocks noChangeArrowheads="1"/>
          </p:cNvSpPr>
          <p:nvPr/>
        </p:nvSpPr>
        <p:spPr bwMode="auto">
          <a:xfrm>
            <a:off x="2424114" y="2701926"/>
            <a:ext cx="6840537" cy="1220847"/>
          </a:xfrm>
          <a:prstGeom prst="rect">
            <a:avLst/>
          </a:prstGeom>
          <a:noFill/>
          <a:ln w="9525">
            <a:noFill/>
            <a:miter lim="800000"/>
            <a:headEnd/>
            <a:tailEnd/>
          </a:ln>
        </p:spPr>
        <p:txBody>
          <a:bodyPr>
            <a:spAutoFit/>
          </a:bodyPr>
          <a:lstStyle/>
          <a:p>
            <a:pPr>
              <a:lnSpc>
                <a:spcPct val="150000"/>
              </a:lnSpc>
            </a:pPr>
            <a:r>
              <a:rPr lang="zh-CN" altLang="en-US" sz="2600" b="1">
                <a:solidFill>
                  <a:srgbClr val="FF0000"/>
                </a:solidFill>
              </a:rPr>
              <a:t>反例：</a:t>
            </a:r>
            <a:r>
              <a:rPr lang="en-US" altLang="zh-CN" sz="2600" b="1">
                <a:solidFill>
                  <a:srgbClr val="FF0000"/>
                </a:solidFill>
              </a:rPr>
              <a:t>a,b,c</a:t>
            </a:r>
            <a:r>
              <a:rPr lang="zh-CN" altLang="en-US" sz="2600" b="1">
                <a:solidFill>
                  <a:srgbClr val="FF0000"/>
                </a:solidFill>
              </a:rPr>
              <a:t>依次入栈，</a:t>
            </a:r>
            <a:r>
              <a:rPr lang="en-US" altLang="zh-CN" sz="2600" b="1">
                <a:solidFill>
                  <a:srgbClr val="FF0000"/>
                </a:solidFill>
              </a:rPr>
              <a:t>c,a,b</a:t>
            </a:r>
            <a:r>
              <a:rPr lang="zh-CN" altLang="en-US" sz="2600" b="1">
                <a:solidFill>
                  <a:srgbClr val="FF0000"/>
                </a:solidFill>
              </a:rPr>
              <a:t>是否是一个可能的出栈顺序？</a:t>
            </a:r>
            <a:endParaRPr lang="en-US" altLang="zh-CN" sz="2600" b="1">
              <a:solidFill>
                <a:srgbClr val="FF0000"/>
              </a:solidFill>
            </a:endParaRPr>
          </a:p>
        </p:txBody>
      </p:sp>
      <p:sp>
        <p:nvSpPr>
          <p:cNvPr id="4" name="矩形 3"/>
          <p:cNvSpPr>
            <a:spLocks noChangeArrowheads="1"/>
          </p:cNvSpPr>
          <p:nvPr/>
        </p:nvSpPr>
        <p:spPr bwMode="auto">
          <a:xfrm>
            <a:off x="2424113" y="3846514"/>
            <a:ext cx="7019870" cy="620683"/>
          </a:xfrm>
          <a:prstGeom prst="rect">
            <a:avLst/>
          </a:prstGeom>
          <a:noFill/>
          <a:ln w="9525">
            <a:noFill/>
            <a:miter lim="800000"/>
            <a:headEnd/>
            <a:tailEnd/>
          </a:ln>
        </p:spPr>
        <p:txBody>
          <a:bodyPr wrap="none">
            <a:spAutoFit/>
          </a:bodyPr>
          <a:lstStyle/>
          <a:p>
            <a:pPr>
              <a:lnSpc>
                <a:spcPct val="150000"/>
              </a:lnSpc>
            </a:pPr>
            <a:r>
              <a:rPr lang="zh-CN" altLang="en-US" sz="2600" b="1">
                <a:solidFill>
                  <a:srgbClr val="002D88"/>
                </a:solidFill>
              </a:rPr>
              <a:t>不同的出栈序列个数总共有多少？（与</a:t>
            </a:r>
            <a:r>
              <a:rPr lang="en-US" altLang="zh-CN" sz="2600" b="1">
                <a:solidFill>
                  <a:srgbClr val="002D88"/>
                </a:solidFill>
              </a:rPr>
              <a:t>n</a:t>
            </a:r>
            <a:r>
              <a:rPr lang="zh-CN" altLang="en-US" sz="2600" b="1">
                <a:solidFill>
                  <a:srgbClr val="002D88"/>
                </a:solidFill>
              </a:rPr>
              <a:t>相关）</a:t>
            </a:r>
            <a:endParaRPr lang="en-US" altLang="zh-CN" sz="2600" b="1">
              <a:solidFill>
                <a:srgbClr val="002D88"/>
              </a:solidFill>
            </a:endParaRPr>
          </a:p>
        </p:txBody>
      </p:sp>
      <p:sp>
        <p:nvSpPr>
          <p:cNvPr id="10" name="矩形 9"/>
          <p:cNvSpPr>
            <a:spLocks noChangeArrowheads="1"/>
          </p:cNvSpPr>
          <p:nvPr/>
        </p:nvSpPr>
        <p:spPr bwMode="auto">
          <a:xfrm>
            <a:off x="2424114" y="4430714"/>
            <a:ext cx="6840537" cy="661987"/>
          </a:xfrm>
          <a:prstGeom prst="rect">
            <a:avLst/>
          </a:prstGeom>
          <a:noFill/>
          <a:ln w="9525">
            <a:noFill/>
            <a:miter lim="800000"/>
            <a:headEnd/>
            <a:tailEnd/>
          </a:ln>
        </p:spPr>
        <p:txBody>
          <a:bodyPr>
            <a:spAutoFit/>
          </a:bodyPr>
          <a:lstStyle/>
          <a:p>
            <a:pPr>
              <a:lnSpc>
                <a:spcPct val="150000"/>
              </a:lnSpc>
            </a:pPr>
            <a:r>
              <a:rPr lang="zh-CN" altLang="en-US" sz="2800" b="1">
                <a:solidFill>
                  <a:srgbClr val="FF0000"/>
                </a:solidFill>
              </a:rPr>
              <a:t>卡特兰数</a:t>
            </a:r>
            <a:endParaRPr lang="en-US" altLang="zh-CN" sz="2800" b="1">
              <a:solidFill>
                <a:srgbClr val="FF0000"/>
              </a:solidFill>
            </a:endParaRPr>
          </a:p>
        </p:txBody>
      </p:sp>
      <p:sp>
        <p:nvSpPr>
          <p:cNvPr id="11" name="矩形 10"/>
          <p:cNvSpPr>
            <a:spLocks noChangeArrowheads="1"/>
          </p:cNvSpPr>
          <p:nvPr/>
        </p:nvSpPr>
        <p:spPr bwMode="auto">
          <a:xfrm>
            <a:off x="2424113" y="5064126"/>
            <a:ext cx="3671198" cy="1821011"/>
          </a:xfrm>
          <a:prstGeom prst="rect">
            <a:avLst/>
          </a:prstGeom>
          <a:noFill/>
          <a:ln w="9525">
            <a:noFill/>
            <a:miter lim="800000"/>
            <a:headEnd/>
            <a:tailEnd/>
          </a:ln>
        </p:spPr>
        <p:txBody>
          <a:bodyPr wrap="none">
            <a:spAutoFit/>
          </a:bodyPr>
          <a:lstStyle/>
          <a:p>
            <a:pPr>
              <a:lnSpc>
                <a:spcPct val="150000"/>
              </a:lnSpc>
            </a:pPr>
            <a:r>
              <a:rPr lang="en-US" altLang="zh-CN" sz="2600" b="1">
                <a:solidFill>
                  <a:srgbClr val="002D88"/>
                </a:solidFill>
              </a:rPr>
              <a:t>2</a:t>
            </a:r>
            <a:r>
              <a:rPr lang="zh-CN" altLang="en-US" sz="2600" b="1">
                <a:solidFill>
                  <a:srgbClr val="002D88"/>
                </a:solidFill>
              </a:rPr>
              <a:t>个堆栈串联的情况呢？</a:t>
            </a:r>
            <a:br>
              <a:rPr lang="en-US" altLang="zh-CN" sz="2600" b="1">
                <a:solidFill>
                  <a:srgbClr val="002D88"/>
                </a:solidFill>
              </a:rPr>
            </a:br>
            <a:r>
              <a:rPr lang="zh-CN" altLang="en-US" sz="2600" b="1">
                <a:solidFill>
                  <a:srgbClr val="002D88"/>
                </a:solidFill>
              </a:rPr>
              <a:t>（元素不能反向运动）</a:t>
            </a:r>
            <a:endParaRPr lang="en-US" altLang="zh-CN" sz="2600" b="1">
              <a:solidFill>
                <a:srgbClr val="002D88"/>
              </a:solidFill>
            </a:endParaRPr>
          </a:p>
          <a:p>
            <a:pPr>
              <a:lnSpc>
                <a:spcPct val="150000"/>
              </a:lnSpc>
            </a:pPr>
            <a:r>
              <a:rPr lang="zh-CN" altLang="en-US" sz="2600" b="1">
                <a:solidFill>
                  <a:srgbClr val="002D88"/>
                </a:solidFill>
              </a:rPr>
              <a:t>多个栈呢？</a:t>
            </a:r>
            <a:endParaRPr lang="en-US" altLang="zh-CN" sz="2600" b="1">
              <a:solidFill>
                <a:srgbClr val="002D88"/>
              </a:solidFill>
            </a:endParaRPr>
          </a:p>
        </p:txBody>
      </p:sp>
      <p:grpSp>
        <p:nvGrpSpPr>
          <p:cNvPr id="6" name="组合 11"/>
          <p:cNvGrpSpPr>
            <a:grpSpLocks/>
          </p:cNvGrpSpPr>
          <p:nvPr/>
        </p:nvGrpSpPr>
        <p:grpSpPr bwMode="auto">
          <a:xfrm>
            <a:off x="6650039" y="5389563"/>
            <a:ext cx="2535237" cy="893762"/>
            <a:chOff x="956915" y="2228054"/>
            <a:chExt cx="6162005" cy="2174085"/>
          </a:xfrm>
        </p:grpSpPr>
        <p:sp>
          <p:nvSpPr>
            <p:cNvPr id="13" name="AutoShape 12"/>
            <p:cNvSpPr>
              <a:spLocks noChangeArrowheads="1"/>
            </p:cNvSpPr>
            <p:nvPr/>
          </p:nvSpPr>
          <p:spPr bwMode="auto">
            <a:xfrm>
              <a:off x="3318310" y="2228054"/>
              <a:ext cx="1373622" cy="976986"/>
            </a:xfrm>
            <a:custGeom>
              <a:avLst/>
              <a:gdLst>
                <a:gd name="G0" fmla="+- -852620 0 0"/>
                <a:gd name="G1" fmla="+- -9846504 0 0"/>
                <a:gd name="G2" fmla="+- -852620 0 -9846504"/>
                <a:gd name="G3" fmla="+- 10800 0 0"/>
                <a:gd name="G4" fmla="+- 0 0 -852620"/>
                <a:gd name="T0" fmla="*/ 360 256 1"/>
                <a:gd name="T1" fmla="*/ 0 256 1"/>
                <a:gd name="G5" fmla="+- G2 T0 T1"/>
                <a:gd name="G6" fmla="?: G2 G2 G5"/>
                <a:gd name="G7" fmla="+- 0 0 G6"/>
                <a:gd name="G8" fmla="+- 7569 0 0"/>
                <a:gd name="G9" fmla="+- 0 0 -9846504"/>
                <a:gd name="G10" fmla="+- 7569 0 2700"/>
                <a:gd name="G11" fmla="cos G10 -852620"/>
                <a:gd name="G12" fmla="sin G10 -852620"/>
                <a:gd name="G13" fmla="cos 13500 -852620"/>
                <a:gd name="G14" fmla="sin 13500 -852620"/>
                <a:gd name="G15" fmla="+- G11 10800 0"/>
                <a:gd name="G16" fmla="+- G12 10800 0"/>
                <a:gd name="G17" fmla="+- G13 10800 0"/>
                <a:gd name="G18" fmla="+- G14 10800 0"/>
                <a:gd name="G19" fmla="*/ 7569 1 2"/>
                <a:gd name="G20" fmla="+- G19 5400 0"/>
                <a:gd name="G21" fmla="cos G20 -852620"/>
                <a:gd name="G22" fmla="sin G20 -852620"/>
                <a:gd name="G23" fmla="+- G21 10800 0"/>
                <a:gd name="G24" fmla="+- G12 G23 G22"/>
                <a:gd name="G25" fmla="+- G22 G23 G11"/>
                <a:gd name="G26" fmla="cos 10800 -852620"/>
                <a:gd name="G27" fmla="sin 10800 -852620"/>
                <a:gd name="G28" fmla="cos 7569 -852620"/>
                <a:gd name="G29" fmla="sin 7569 -852620"/>
                <a:gd name="G30" fmla="+- G26 10800 0"/>
                <a:gd name="G31" fmla="+- G27 10800 0"/>
                <a:gd name="G32" fmla="+- G28 10800 0"/>
                <a:gd name="G33" fmla="+- G29 10800 0"/>
                <a:gd name="G34" fmla="+- G19 5400 0"/>
                <a:gd name="G35" fmla="cos G34 -9846504"/>
                <a:gd name="G36" fmla="sin G34 -9846504"/>
                <a:gd name="G37" fmla="+/ -9846504 -852620 2"/>
                <a:gd name="T2" fmla="*/ 180 256 1"/>
                <a:gd name="T3" fmla="*/ 0 256 1"/>
                <a:gd name="G38" fmla="+- G37 T2 T3"/>
                <a:gd name="G39" fmla="?: G2 G37 G38"/>
                <a:gd name="G40" fmla="cos 10800 G39"/>
                <a:gd name="G41" fmla="sin 10800 G39"/>
                <a:gd name="G42" fmla="cos 7569 G39"/>
                <a:gd name="G43" fmla="sin 7569 G39"/>
                <a:gd name="G44" fmla="+- G40 10800 0"/>
                <a:gd name="G45" fmla="+- G41 10800 0"/>
                <a:gd name="G46" fmla="+- G42 10800 0"/>
                <a:gd name="G47" fmla="+- G43 10800 0"/>
                <a:gd name="G48" fmla="+- G35 10800 0"/>
                <a:gd name="G49" fmla="+- G36 10800 0"/>
                <a:gd name="T4" fmla="*/ 12372 w 21600"/>
                <a:gd name="T5" fmla="*/ 115 h 21600"/>
                <a:gd name="T6" fmla="*/ 2825 w 21600"/>
                <a:gd name="T7" fmla="*/ 6241 h 21600"/>
                <a:gd name="T8" fmla="*/ 11902 w 21600"/>
                <a:gd name="T9" fmla="*/ 3311 h 21600"/>
                <a:gd name="T10" fmla="*/ 23953 w 21600"/>
                <a:gd name="T11" fmla="*/ 7760 h 21600"/>
                <a:gd name="T12" fmla="*/ 20720 w 21600"/>
                <a:gd name="T13" fmla="*/ 12937 h 21600"/>
                <a:gd name="T14" fmla="*/ 15544 w 21600"/>
                <a:gd name="T15" fmla="*/ 9703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8174" y="9096"/>
                  </a:moveTo>
                  <a:cubicBezTo>
                    <a:pt x="17381" y="5662"/>
                    <a:pt x="14323" y="3231"/>
                    <a:pt x="10800" y="3231"/>
                  </a:cubicBezTo>
                  <a:cubicBezTo>
                    <a:pt x="8084" y="3230"/>
                    <a:pt x="5576" y="4685"/>
                    <a:pt x="4228" y="7043"/>
                  </a:cubicBezTo>
                  <a:lnTo>
                    <a:pt x="1423" y="5440"/>
                  </a:lnTo>
                  <a:cubicBezTo>
                    <a:pt x="3346" y="2076"/>
                    <a:pt x="6924" y="-1"/>
                    <a:pt x="10800" y="0"/>
                  </a:cubicBezTo>
                  <a:cubicBezTo>
                    <a:pt x="15828" y="0"/>
                    <a:pt x="20190" y="3469"/>
                    <a:pt x="21322" y="8368"/>
                  </a:cubicBezTo>
                  <a:lnTo>
                    <a:pt x="23953" y="7760"/>
                  </a:lnTo>
                  <a:lnTo>
                    <a:pt x="20720" y="12937"/>
                  </a:lnTo>
                  <a:lnTo>
                    <a:pt x="15544" y="9703"/>
                  </a:lnTo>
                  <a:lnTo>
                    <a:pt x="18174" y="9096"/>
                  </a:lnTo>
                  <a:close/>
                </a:path>
              </a:pathLst>
            </a:custGeom>
            <a:gradFill rotWithShape="0">
              <a:gsLst>
                <a:gs pos="0">
                  <a:schemeClr val="accent1">
                    <a:gamma/>
                    <a:shade val="46275"/>
                    <a:invGamma/>
                  </a:schemeClr>
                </a:gs>
                <a:gs pos="50000">
                  <a:schemeClr val="accent1"/>
                </a:gs>
                <a:gs pos="100000">
                  <a:schemeClr val="accent1">
                    <a:gamma/>
                    <a:shade val="46275"/>
                    <a:invGamma/>
                  </a:schemeClr>
                </a:gs>
              </a:gsLst>
              <a:lin ang="18900000" scaled="1"/>
            </a:gradFill>
            <a:ln w="28575" cap="sq">
              <a:solidFill>
                <a:srgbClr val="FFFF00"/>
              </a:solidFill>
              <a:miter lim="800000"/>
              <a:headEnd type="none" w="sm" len="sm"/>
              <a:tailEnd type="none" w="sm" len="sm"/>
            </a:ln>
            <a:effectLst>
              <a:outerShdw dist="35921" dir="2700000" algn="ctr" rotWithShape="0">
                <a:srgbClr val="B2B2B2"/>
              </a:outerShdw>
            </a:effectLst>
          </p:spPr>
          <p:txBody>
            <a:bodyPr wrap="none" anchor="ctr"/>
            <a:lstStyle/>
            <a:p>
              <a:pPr>
                <a:defRPr/>
              </a:pPr>
              <a:endParaRPr lang="zh-CN" altLang="en-US"/>
            </a:p>
          </p:txBody>
        </p:sp>
        <p:grpSp>
          <p:nvGrpSpPr>
            <p:cNvPr id="7" name="组合 13"/>
            <p:cNvGrpSpPr>
              <a:grpSpLocks/>
            </p:cNvGrpSpPr>
            <p:nvPr/>
          </p:nvGrpSpPr>
          <p:grpSpPr bwMode="auto">
            <a:xfrm>
              <a:off x="1616075" y="2720974"/>
              <a:ext cx="4714205" cy="1681165"/>
              <a:chOff x="1616075" y="2720974"/>
              <a:chExt cx="4714205" cy="1681165"/>
            </a:xfrm>
          </p:grpSpPr>
          <p:sp>
            <p:nvSpPr>
              <p:cNvPr id="87053" name="Line 3"/>
              <p:cNvSpPr>
                <a:spLocks noChangeShapeType="1"/>
              </p:cNvSpPr>
              <p:nvPr/>
            </p:nvSpPr>
            <p:spPr bwMode="auto">
              <a:xfrm>
                <a:off x="1616075" y="2720976"/>
                <a:ext cx="0" cy="1676400"/>
              </a:xfrm>
              <a:prstGeom prst="line">
                <a:avLst/>
              </a:prstGeom>
              <a:noFill/>
              <a:ln w="31750" cap="sq">
                <a:solidFill>
                  <a:srgbClr val="333300"/>
                </a:solidFill>
                <a:round/>
                <a:headEnd type="none" w="sm" len="sm"/>
                <a:tailEnd type="none" w="sm" len="sm"/>
              </a:ln>
            </p:spPr>
            <p:txBody>
              <a:bodyPr/>
              <a:lstStyle/>
              <a:p>
                <a:endParaRPr lang="zh-CN" altLang="en-US"/>
              </a:p>
            </p:txBody>
          </p:sp>
          <p:sp>
            <p:nvSpPr>
              <p:cNvPr id="87054" name="Line 4"/>
              <p:cNvSpPr>
                <a:spLocks noChangeShapeType="1"/>
              </p:cNvSpPr>
              <p:nvPr/>
            </p:nvSpPr>
            <p:spPr bwMode="auto">
              <a:xfrm>
                <a:off x="3902075" y="2720974"/>
                <a:ext cx="0" cy="1676401"/>
              </a:xfrm>
              <a:prstGeom prst="line">
                <a:avLst/>
              </a:prstGeom>
              <a:noFill/>
              <a:ln w="31750" cap="sq">
                <a:solidFill>
                  <a:srgbClr val="003300"/>
                </a:solidFill>
                <a:round/>
                <a:headEnd type="none" w="sm" len="sm"/>
                <a:tailEnd type="none" w="sm" len="sm"/>
              </a:ln>
            </p:spPr>
            <p:txBody>
              <a:bodyPr/>
              <a:lstStyle/>
              <a:p>
                <a:endParaRPr lang="zh-CN" altLang="en-US"/>
              </a:p>
            </p:txBody>
          </p:sp>
          <p:sp>
            <p:nvSpPr>
              <p:cNvPr id="87055" name="Line 5"/>
              <p:cNvSpPr>
                <a:spLocks noChangeShapeType="1"/>
              </p:cNvSpPr>
              <p:nvPr/>
            </p:nvSpPr>
            <p:spPr bwMode="auto">
              <a:xfrm>
                <a:off x="1616075" y="4397376"/>
                <a:ext cx="2286000" cy="0"/>
              </a:xfrm>
              <a:prstGeom prst="line">
                <a:avLst/>
              </a:prstGeom>
              <a:noFill/>
              <a:ln w="31750" cap="sq">
                <a:solidFill>
                  <a:srgbClr val="003300"/>
                </a:solidFill>
                <a:round/>
                <a:headEnd type="none" w="sm" len="sm"/>
                <a:tailEnd type="none" w="sm" len="sm"/>
              </a:ln>
            </p:spPr>
            <p:txBody>
              <a:bodyPr/>
              <a:lstStyle/>
              <a:p>
                <a:endParaRPr lang="zh-CN" altLang="en-US"/>
              </a:p>
            </p:txBody>
          </p:sp>
          <p:sp>
            <p:nvSpPr>
              <p:cNvPr id="87056" name="Line 6"/>
              <p:cNvSpPr>
                <a:spLocks noChangeShapeType="1"/>
              </p:cNvSpPr>
              <p:nvPr/>
            </p:nvSpPr>
            <p:spPr bwMode="auto">
              <a:xfrm>
                <a:off x="1616075" y="3940176"/>
                <a:ext cx="2286000" cy="0"/>
              </a:xfrm>
              <a:prstGeom prst="line">
                <a:avLst/>
              </a:prstGeom>
              <a:noFill/>
              <a:ln w="25400" cap="sq">
                <a:solidFill>
                  <a:srgbClr val="333300"/>
                </a:solidFill>
                <a:round/>
                <a:headEnd type="none" w="sm" len="sm"/>
                <a:tailEnd type="none" w="sm" len="sm"/>
              </a:ln>
            </p:spPr>
            <p:txBody>
              <a:bodyPr/>
              <a:lstStyle/>
              <a:p>
                <a:endParaRPr lang="zh-CN" altLang="en-US"/>
              </a:p>
            </p:txBody>
          </p:sp>
          <p:sp>
            <p:nvSpPr>
              <p:cNvPr id="87057" name="Line 7"/>
              <p:cNvSpPr>
                <a:spLocks noChangeShapeType="1"/>
              </p:cNvSpPr>
              <p:nvPr/>
            </p:nvSpPr>
            <p:spPr bwMode="auto">
              <a:xfrm>
                <a:off x="1616075" y="3482976"/>
                <a:ext cx="2286000" cy="0"/>
              </a:xfrm>
              <a:prstGeom prst="line">
                <a:avLst/>
              </a:prstGeom>
              <a:noFill/>
              <a:ln w="25400" cap="sq">
                <a:solidFill>
                  <a:srgbClr val="003300"/>
                </a:solidFill>
                <a:round/>
                <a:headEnd type="none" w="sm" len="sm"/>
                <a:tailEnd type="none" w="sm" len="sm"/>
              </a:ln>
            </p:spPr>
            <p:txBody>
              <a:bodyPr/>
              <a:lstStyle/>
              <a:p>
                <a:endParaRPr lang="zh-CN" altLang="en-US"/>
              </a:p>
            </p:txBody>
          </p:sp>
          <p:sp>
            <p:nvSpPr>
              <p:cNvPr id="87058" name="Line 8"/>
              <p:cNvSpPr>
                <a:spLocks noChangeShapeType="1"/>
              </p:cNvSpPr>
              <p:nvPr/>
            </p:nvSpPr>
            <p:spPr bwMode="auto">
              <a:xfrm>
                <a:off x="1616075" y="3025776"/>
                <a:ext cx="2286000" cy="0"/>
              </a:xfrm>
              <a:prstGeom prst="line">
                <a:avLst/>
              </a:prstGeom>
              <a:noFill/>
              <a:ln w="25400" cap="sq">
                <a:solidFill>
                  <a:srgbClr val="003300"/>
                </a:solidFill>
                <a:round/>
                <a:headEnd type="none" w="sm" len="sm"/>
                <a:tailEnd type="none" w="sm" len="sm"/>
              </a:ln>
            </p:spPr>
            <p:txBody>
              <a:bodyPr/>
              <a:lstStyle/>
              <a:p>
                <a:endParaRPr lang="zh-CN" altLang="en-US"/>
              </a:p>
            </p:txBody>
          </p:sp>
          <p:sp>
            <p:nvSpPr>
              <p:cNvPr id="87059" name="Line 3"/>
              <p:cNvSpPr>
                <a:spLocks noChangeShapeType="1"/>
              </p:cNvSpPr>
              <p:nvPr/>
            </p:nvSpPr>
            <p:spPr bwMode="auto">
              <a:xfrm>
                <a:off x="4044280" y="2720975"/>
                <a:ext cx="0" cy="1681164"/>
              </a:xfrm>
              <a:prstGeom prst="line">
                <a:avLst/>
              </a:prstGeom>
              <a:noFill/>
              <a:ln w="31750" cap="sq">
                <a:solidFill>
                  <a:srgbClr val="333300"/>
                </a:solidFill>
                <a:round/>
                <a:headEnd type="none" w="sm" len="sm"/>
                <a:tailEnd type="none" w="sm" len="sm"/>
              </a:ln>
            </p:spPr>
            <p:txBody>
              <a:bodyPr/>
              <a:lstStyle/>
              <a:p>
                <a:endParaRPr lang="zh-CN" altLang="en-US"/>
              </a:p>
            </p:txBody>
          </p:sp>
          <p:sp>
            <p:nvSpPr>
              <p:cNvPr id="87060" name="Line 4"/>
              <p:cNvSpPr>
                <a:spLocks noChangeShapeType="1"/>
              </p:cNvSpPr>
              <p:nvPr/>
            </p:nvSpPr>
            <p:spPr bwMode="auto">
              <a:xfrm>
                <a:off x="6330280" y="2720975"/>
                <a:ext cx="0" cy="1681163"/>
              </a:xfrm>
              <a:prstGeom prst="line">
                <a:avLst/>
              </a:prstGeom>
              <a:noFill/>
              <a:ln w="31750" cap="sq">
                <a:solidFill>
                  <a:srgbClr val="003300"/>
                </a:solidFill>
                <a:round/>
                <a:headEnd type="none" w="sm" len="sm"/>
                <a:tailEnd type="none" w="sm" len="sm"/>
              </a:ln>
            </p:spPr>
            <p:txBody>
              <a:bodyPr/>
              <a:lstStyle/>
              <a:p>
                <a:endParaRPr lang="zh-CN" altLang="en-US"/>
              </a:p>
            </p:txBody>
          </p:sp>
          <p:sp>
            <p:nvSpPr>
              <p:cNvPr id="87061" name="Line 5"/>
              <p:cNvSpPr>
                <a:spLocks noChangeShapeType="1"/>
              </p:cNvSpPr>
              <p:nvPr/>
            </p:nvSpPr>
            <p:spPr bwMode="auto">
              <a:xfrm>
                <a:off x="4044280" y="4402139"/>
                <a:ext cx="2286000" cy="0"/>
              </a:xfrm>
              <a:prstGeom prst="line">
                <a:avLst/>
              </a:prstGeom>
              <a:noFill/>
              <a:ln w="31750" cap="sq">
                <a:solidFill>
                  <a:srgbClr val="003300"/>
                </a:solidFill>
                <a:round/>
                <a:headEnd type="none" w="sm" len="sm"/>
                <a:tailEnd type="none" w="sm" len="sm"/>
              </a:ln>
            </p:spPr>
            <p:txBody>
              <a:bodyPr/>
              <a:lstStyle/>
              <a:p>
                <a:endParaRPr lang="zh-CN" altLang="en-US"/>
              </a:p>
            </p:txBody>
          </p:sp>
          <p:sp>
            <p:nvSpPr>
              <p:cNvPr id="87062" name="Line 6"/>
              <p:cNvSpPr>
                <a:spLocks noChangeShapeType="1"/>
              </p:cNvSpPr>
              <p:nvPr/>
            </p:nvSpPr>
            <p:spPr bwMode="auto">
              <a:xfrm>
                <a:off x="4044280" y="3944939"/>
                <a:ext cx="2286000" cy="0"/>
              </a:xfrm>
              <a:prstGeom prst="line">
                <a:avLst/>
              </a:prstGeom>
              <a:noFill/>
              <a:ln w="25400" cap="sq">
                <a:solidFill>
                  <a:srgbClr val="333300"/>
                </a:solidFill>
                <a:round/>
                <a:headEnd type="none" w="sm" len="sm"/>
                <a:tailEnd type="none" w="sm" len="sm"/>
              </a:ln>
            </p:spPr>
            <p:txBody>
              <a:bodyPr/>
              <a:lstStyle/>
              <a:p>
                <a:endParaRPr lang="zh-CN" altLang="en-US"/>
              </a:p>
            </p:txBody>
          </p:sp>
          <p:sp>
            <p:nvSpPr>
              <p:cNvPr id="87063" name="Line 7"/>
              <p:cNvSpPr>
                <a:spLocks noChangeShapeType="1"/>
              </p:cNvSpPr>
              <p:nvPr/>
            </p:nvSpPr>
            <p:spPr bwMode="auto">
              <a:xfrm>
                <a:off x="4044280" y="3487739"/>
                <a:ext cx="2286000" cy="0"/>
              </a:xfrm>
              <a:prstGeom prst="line">
                <a:avLst/>
              </a:prstGeom>
              <a:noFill/>
              <a:ln w="25400" cap="sq">
                <a:solidFill>
                  <a:srgbClr val="003300"/>
                </a:solidFill>
                <a:round/>
                <a:headEnd type="none" w="sm" len="sm"/>
                <a:tailEnd type="none" w="sm" len="sm"/>
              </a:ln>
            </p:spPr>
            <p:txBody>
              <a:bodyPr/>
              <a:lstStyle/>
              <a:p>
                <a:endParaRPr lang="zh-CN" altLang="en-US"/>
              </a:p>
            </p:txBody>
          </p:sp>
          <p:sp>
            <p:nvSpPr>
              <p:cNvPr id="87064" name="Line 8"/>
              <p:cNvSpPr>
                <a:spLocks noChangeShapeType="1"/>
              </p:cNvSpPr>
              <p:nvPr/>
            </p:nvSpPr>
            <p:spPr bwMode="auto">
              <a:xfrm>
                <a:off x="4044280" y="3030539"/>
                <a:ext cx="2286000" cy="0"/>
              </a:xfrm>
              <a:prstGeom prst="line">
                <a:avLst/>
              </a:prstGeom>
              <a:noFill/>
              <a:ln w="25400" cap="sq">
                <a:solidFill>
                  <a:srgbClr val="003300"/>
                </a:solidFill>
                <a:round/>
                <a:headEnd type="none" w="sm" len="sm"/>
                <a:tailEnd type="none" w="sm" len="sm"/>
              </a:ln>
            </p:spPr>
            <p:txBody>
              <a:bodyPr/>
              <a:lstStyle/>
              <a:p>
                <a:endParaRPr lang="zh-CN" altLang="en-US"/>
              </a:p>
            </p:txBody>
          </p:sp>
        </p:grpSp>
        <p:sp>
          <p:nvSpPr>
            <p:cNvPr id="15" name="AutoShape 12"/>
            <p:cNvSpPr>
              <a:spLocks noChangeArrowheads="1"/>
            </p:cNvSpPr>
            <p:nvPr/>
          </p:nvSpPr>
          <p:spPr bwMode="auto">
            <a:xfrm>
              <a:off x="5749158" y="2231914"/>
              <a:ext cx="1369762" cy="976988"/>
            </a:xfrm>
            <a:custGeom>
              <a:avLst/>
              <a:gdLst>
                <a:gd name="G0" fmla="+- -852620 0 0"/>
                <a:gd name="G1" fmla="+- -9846504 0 0"/>
                <a:gd name="G2" fmla="+- -852620 0 -9846504"/>
                <a:gd name="G3" fmla="+- 10800 0 0"/>
                <a:gd name="G4" fmla="+- 0 0 -852620"/>
                <a:gd name="T0" fmla="*/ 360 256 1"/>
                <a:gd name="T1" fmla="*/ 0 256 1"/>
                <a:gd name="G5" fmla="+- G2 T0 T1"/>
                <a:gd name="G6" fmla="?: G2 G2 G5"/>
                <a:gd name="G7" fmla="+- 0 0 G6"/>
                <a:gd name="G8" fmla="+- 7569 0 0"/>
                <a:gd name="G9" fmla="+- 0 0 -9846504"/>
                <a:gd name="G10" fmla="+- 7569 0 2700"/>
                <a:gd name="G11" fmla="cos G10 -852620"/>
                <a:gd name="G12" fmla="sin G10 -852620"/>
                <a:gd name="G13" fmla="cos 13500 -852620"/>
                <a:gd name="G14" fmla="sin 13500 -852620"/>
                <a:gd name="G15" fmla="+- G11 10800 0"/>
                <a:gd name="G16" fmla="+- G12 10800 0"/>
                <a:gd name="G17" fmla="+- G13 10800 0"/>
                <a:gd name="G18" fmla="+- G14 10800 0"/>
                <a:gd name="G19" fmla="*/ 7569 1 2"/>
                <a:gd name="G20" fmla="+- G19 5400 0"/>
                <a:gd name="G21" fmla="cos G20 -852620"/>
                <a:gd name="G22" fmla="sin G20 -852620"/>
                <a:gd name="G23" fmla="+- G21 10800 0"/>
                <a:gd name="G24" fmla="+- G12 G23 G22"/>
                <a:gd name="G25" fmla="+- G22 G23 G11"/>
                <a:gd name="G26" fmla="cos 10800 -852620"/>
                <a:gd name="G27" fmla="sin 10800 -852620"/>
                <a:gd name="G28" fmla="cos 7569 -852620"/>
                <a:gd name="G29" fmla="sin 7569 -852620"/>
                <a:gd name="G30" fmla="+- G26 10800 0"/>
                <a:gd name="G31" fmla="+- G27 10800 0"/>
                <a:gd name="G32" fmla="+- G28 10800 0"/>
                <a:gd name="G33" fmla="+- G29 10800 0"/>
                <a:gd name="G34" fmla="+- G19 5400 0"/>
                <a:gd name="G35" fmla="cos G34 -9846504"/>
                <a:gd name="G36" fmla="sin G34 -9846504"/>
                <a:gd name="G37" fmla="+/ -9846504 -852620 2"/>
                <a:gd name="T2" fmla="*/ 180 256 1"/>
                <a:gd name="T3" fmla="*/ 0 256 1"/>
                <a:gd name="G38" fmla="+- G37 T2 T3"/>
                <a:gd name="G39" fmla="?: G2 G37 G38"/>
                <a:gd name="G40" fmla="cos 10800 G39"/>
                <a:gd name="G41" fmla="sin 10800 G39"/>
                <a:gd name="G42" fmla="cos 7569 G39"/>
                <a:gd name="G43" fmla="sin 7569 G39"/>
                <a:gd name="G44" fmla="+- G40 10800 0"/>
                <a:gd name="G45" fmla="+- G41 10800 0"/>
                <a:gd name="G46" fmla="+- G42 10800 0"/>
                <a:gd name="G47" fmla="+- G43 10800 0"/>
                <a:gd name="G48" fmla="+- G35 10800 0"/>
                <a:gd name="G49" fmla="+- G36 10800 0"/>
                <a:gd name="T4" fmla="*/ 12372 w 21600"/>
                <a:gd name="T5" fmla="*/ 115 h 21600"/>
                <a:gd name="T6" fmla="*/ 2825 w 21600"/>
                <a:gd name="T7" fmla="*/ 6241 h 21600"/>
                <a:gd name="T8" fmla="*/ 11902 w 21600"/>
                <a:gd name="T9" fmla="*/ 3311 h 21600"/>
                <a:gd name="T10" fmla="*/ 23953 w 21600"/>
                <a:gd name="T11" fmla="*/ 7760 h 21600"/>
                <a:gd name="T12" fmla="*/ 20720 w 21600"/>
                <a:gd name="T13" fmla="*/ 12937 h 21600"/>
                <a:gd name="T14" fmla="*/ 15544 w 21600"/>
                <a:gd name="T15" fmla="*/ 9703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8174" y="9096"/>
                  </a:moveTo>
                  <a:cubicBezTo>
                    <a:pt x="17381" y="5662"/>
                    <a:pt x="14323" y="3231"/>
                    <a:pt x="10800" y="3231"/>
                  </a:cubicBezTo>
                  <a:cubicBezTo>
                    <a:pt x="8084" y="3230"/>
                    <a:pt x="5576" y="4685"/>
                    <a:pt x="4228" y="7043"/>
                  </a:cubicBezTo>
                  <a:lnTo>
                    <a:pt x="1423" y="5440"/>
                  </a:lnTo>
                  <a:cubicBezTo>
                    <a:pt x="3346" y="2076"/>
                    <a:pt x="6924" y="-1"/>
                    <a:pt x="10800" y="0"/>
                  </a:cubicBezTo>
                  <a:cubicBezTo>
                    <a:pt x="15828" y="0"/>
                    <a:pt x="20190" y="3469"/>
                    <a:pt x="21322" y="8368"/>
                  </a:cubicBezTo>
                  <a:lnTo>
                    <a:pt x="23953" y="7760"/>
                  </a:lnTo>
                  <a:lnTo>
                    <a:pt x="20720" y="12937"/>
                  </a:lnTo>
                  <a:lnTo>
                    <a:pt x="15544" y="9703"/>
                  </a:lnTo>
                  <a:lnTo>
                    <a:pt x="18174" y="9096"/>
                  </a:lnTo>
                  <a:close/>
                </a:path>
              </a:pathLst>
            </a:custGeom>
            <a:gradFill rotWithShape="0">
              <a:gsLst>
                <a:gs pos="0">
                  <a:schemeClr val="accent1">
                    <a:gamma/>
                    <a:shade val="46275"/>
                    <a:invGamma/>
                  </a:schemeClr>
                </a:gs>
                <a:gs pos="50000">
                  <a:schemeClr val="accent1"/>
                </a:gs>
                <a:gs pos="100000">
                  <a:schemeClr val="accent1">
                    <a:gamma/>
                    <a:shade val="46275"/>
                    <a:invGamma/>
                  </a:schemeClr>
                </a:gs>
              </a:gsLst>
              <a:lin ang="18900000" scaled="1"/>
            </a:gradFill>
            <a:ln w="28575" cap="sq">
              <a:solidFill>
                <a:srgbClr val="FFFF00"/>
              </a:solidFill>
              <a:miter lim="800000"/>
              <a:headEnd type="none" w="sm" len="sm"/>
              <a:tailEnd type="none" w="sm" len="sm"/>
            </a:ln>
            <a:effectLst>
              <a:outerShdw dist="35921" dir="2700000" algn="ctr" rotWithShape="0">
                <a:srgbClr val="B2B2B2"/>
              </a:outerShdw>
            </a:effectLst>
          </p:spPr>
          <p:txBody>
            <a:bodyPr wrap="none" anchor="ctr"/>
            <a:lstStyle/>
            <a:p>
              <a:pPr>
                <a:defRPr/>
              </a:pPr>
              <a:endParaRPr lang="zh-CN" altLang="en-US"/>
            </a:p>
          </p:txBody>
        </p:sp>
        <p:sp>
          <p:nvSpPr>
            <p:cNvPr id="16" name="AutoShape 12"/>
            <p:cNvSpPr>
              <a:spLocks noChangeArrowheads="1"/>
            </p:cNvSpPr>
            <p:nvPr/>
          </p:nvSpPr>
          <p:spPr bwMode="auto">
            <a:xfrm>
              <a:off x="956915" y="2228054"/>
              <a:ext cx="1369762" cy="976986"/>
            </a:xfrm>
            <a:custGeom>
              <a:avLst/>
              <a:gdLst>
                <a:gd name="G0" fmla="+- -852620 0 0"/>
                <a:gd name="G1" fmla="+- -9846504 0 0"/>
                <a:gd name="G2" fmla="+- -852620 0 -9846504"/>
                <a:gd name="G3" fmla="+- 10800 0 0"/>
                <a:gd name="G4" fmla="+- 0 0 -852620"/>
                <a:gd name="T0" fmla="*/ 360 256 1"/>
                <a:gd name="T1" fmla="*/ 0 256 1"/>
                <a:gd name="G5" fmla="+- G2 T0 T1"/>
                <a:gd name="G6" fmla="?: G2 G2 G5"/>
                <a:gd name="G7" fmla="+- 0 0 G6"/>
                <a:gd name="G8" fmla="+- 7569 0 0"/>
                <a:gd name="G9" fmla="+- 0 0 -9846504"/>
                <a:gd name="G10" fmla="+- 7569 0 2700"/>
                <a:gd name="G11" fmla="cos G10 -852620"/>
                <a:gd name="G12" fmla="sin G10 -852620"/>
                <a:gd name="G13" fmla="cos 13500 -852620"/>
                <a:gd name="G14" fmla="sin 13500 -852620"/>
                <a:gd name="G15" fmla="+- G11 10800 0"/>
                <a:gd name="G16" fmla="+- G12 10800 0"/>
                <a:gd name="G17" fmla="+- G13 10800 0"/>
                <a:gd name="G18" fmla="+- G14 10800 0"/>
                <a:gd name="G19" fmla="*/ 7569 1 2"/>
                <a:gd name="G20" fmla="+- G19 5400 0"/>
                <a:gd name="G21" fmla="cos G20 -852620"/>
                <a:gd name="G22" fmla="sin G20 -852620"/>
                <a:gd name="G23" fmla="+- G21 10800 0"/>
                <a:gd name="G24" fmla="+- G12 G23 G22"/>
                <a:gd name="G25" fmla="+- G22 G23 G11"/>
                <a:gd name="G26" fmla="cos 10800 -852620"/>
                <a:gd name="G27" fmla="sin 10800 -852620"/>
                <a:gd name="G28" fmla="cos 7569 -852620"/>
                <a:gd name="G29" fmla="sin 7569 -852620"/>
                <a:gd name="G30" fmla="+- G26 10800 0"/>
                <a:gd name="G31" fmla="+- G27 10800 0"/>
                <a:gd name="G32" fmla="+- G28 10800 0"/>
                <a:gd name="G33" fmla="+- G29 10800 0"/>
                <a:gd name="G34" fmla="+- G19 5400 0"/>
                <a:gd name="G35" fmla="cos G34 -9846504"/>
                <a:gd name="G36" fmla="sin G34 -9846504"/>
                <a:gd name="G37" fmla="+/ -9846504 -852620 2"/>
                <a:gd name="T2" fmla="*/ 180 256 1"/>
                <a:gd name="T3" fmla="*/ 0 256 1"/>
                <a:gd name="G38" fmla="+- G37 T2 T3"/>
                <a:gd name="G39" fmla="?: G2 G37 G38"/>
                <a:gd name="G40" fmla="cos 10800 G39"/>
                <a:gd name="G41" fmla="sin 10800 G39"/>
                <a:gd name="G42" fmla="cos 7569 G39"/>
                <a:gd name="G43" fmla="sin 7569 G39"/>
                <a:gd name="G44" fmla="+- G40 10800 0"/>
                <a:gd name="G45" fmla="+- G41 10800 0"/>
                <a:gd name="G46" fmla="+- G42 10800 0"/>
                <a:gd name="G47" fmla="+- G43 10800 0"/>
                <a:gd name="G48" fmla="+- G35 10800 0"/>
                <a:gd name="G49" fmla="+- G36 10800 0"/>
                <a:gd name="T4" fmla="*/ 12372 w 21600"/>
                <a:gd name="T5" fmla="*/ 115 h 21600"/>
                <a:gd name="T6" fmla="*/ 2825 w 21600"/>
                <a:gd name="T7" fmla="*/ 6241 h 21600"/>
                <a:gd name="T8" fmla="*/ 11902 w 21600"/>
                <a:gd name="T9" fmla="*/ 3311 h 21600"/>
                <a:gd name="T10" fmla="*/ 23953 w 21600"/>
                <a:gd name="T11" fmla="*/ 7760 h 21600"/>
                <a:gd name="T12" fmla="*/ 20720 w 21600"/>
                <a:gd name="T13" fmla="*/ 12937 h 21600"/>
                <a:gd name="T14" fmla="*/ 15544 w 21600"/>
                <a:gd name="T15" fmla="*/ 9703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8174" y="9096"/>
                  </a:moveTo>
                  <a:cubicBezTo>
                    <a:pt x="17381" y="5662"/>
                    <a:pt x="14323" y="3231"/>
                    <a:pt x="10800" y="3231"/>
                  </a:cubicBezTo>
                  <a:cubicBezTo>
                    <a:pt x="8084" y="3230"/>
                    <a:pt x="5576" y="4685"/>
                    <a:pt x="4228" y="7043"/>
                  </a:cubicBezTo>
                  <a:lnTo>
                    <a:pt x="1423" y="5440"/>
                  </a:lnTo>
                  <a:cubicBezTo>
                    <a:pt x="3346" y="2076"/>
                    <a:pt x="6924" y="-1"/>
                    <a:pt x="10800" y="0"/>
                  </a:cubicBezTo>
                  <a:cubicBezTo>
                    <a:pt x="15828" y="0"/>
                    <a:pt x="20190" y="3469"/>
                    <a:pt x="21322" y="8368"/>
                  </a:cubicBezTo>
                  <a:lnTo>
                    <a:pt x="23953" y="7760"/>
                  </a:lnTo>
                  <a:lnTo>
                    <a:pt x="20720" y="12937"/>
                  </a:lnTo>
                  <a:lnTo>
                    <a:pt x="15544" y="9703"/>
                  </a:lnTo>
                  <a:lnTo>
                    <a:pt x="18174" y="9096"/>
                  </a:lnTo>
                  <a:close/>
                </a:path>
              </a:pathLst>
            </a:custGeom>
            <a:gradFill rotWithShape="0">
              <a:gsLst>
                <a:gs pos="0">
                  <a:schemeClr val="accent1">
                    <a:gamma/>
                    <a:shade val="46275"/>
                    <a:invGamma/>
                  </a:schemeClr>
                </a:gs>
                <a:gs pos="50000">
                  <a:schemeClr val="accent1"/>
                </a:gs>
                <a:gs pos="100000">
                  <a:schemeClr val="accent1">
                    <a:gamma/>
                    <a:shade val="46275"/>
                    <a:invGamma/>
                  </a:schemeClr>
                </a:gs>
              </a:gsLst>
              <a:lin ang="18900000" scaled="1"/>
            </a:gradFill>
            <a:ln w="28575" cap="sq">
              <a:solidFill>
                <a:srgbClr val="FFFF00"/>
              </a:solidFill>
              <a:miter lim="800000"/>
              <a:headEnd type="none" w="sm" len="sm"/>
              <a:tailEnd type="none" w="sm" len="sm"/>
            </a:ln>
            <a:effectLst>
              <a:outerShdw dist="35921" dir="2700000" algn="ctr" rotWithShape="0">
                <a:srgbClr val="B2B2B2"/>
              </a:outerShdw>
            </a:effectLst>
          </p:spPr>
          <p:txBody>
            <a:bodyPr wrap="none" anchor="ctr"/>
            <a:lstStyle/>
            <a:p>
              <a:pPr>
                <a:defRPr/>
              </a:pPr>
              <a:endParaRPr lang="zh-CN" altLang="en-US"/>
            </a:p>
          </p:txBody>
        </p:sp>
      </p:grpSp>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par>
                          <p:cTn id="27" fill="hold">
                            <p:stCondLst>
                              <p:cond delay="500"/>
                            </p:stCondLst>
                            <p:childTnLst>
                              <p:par>
                                <p:cTn id="28" presetID="2" presetClass="entr" presetSubtype="4" fill="hold" nodeType="after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additive="base">
                                        <p:cTn id="30" dur="500" fill="hold"/>
                                        <p:tgtEl>
                                          <p:spTgt spid="6"/>
                                        </p:tgtEl>
                                        <p:attrNameLst>
                                          <p:attrName>ppt_x</p:attrName>
                                        </p:attrNameLst>
                                      </p:cBhvr>
                                      <p:tavLst>
                                        <p:tav tm="0">
                                          <p:val>
                                            <p:strVal val="#ppt_x"/>
                                          </p:val>
                                        </p:tav>
                                        <p:tav tm="100000">
                                          <p:val>
                                            <p:strVal val="#ppt_x"/>
                                          </p:val>
                                        </p:tav>
                                      </p:tavLst>
                                    </p:anim>
                                    <p:anim calcmode="lin" valueType="num">
                                      <p:cBhvr additive="base">
                                        <p:cTn id="3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0" grpId="0"/>
      <p:bldP spid="11"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3"/>
          <p:cNvSpPr>
            <a:spLocks noChangeArrowheads="1"/>
          </p:cNvSpPr>
          <p:nvPr/>
        </p:nvSpPr>
        <p:spPr bwMode="auto">
          <a:xfrm>
            <a:off x="2711450" y="1268413"/>
            <a:ext cx="7200900" cy="5256212"/>
          </a:xfrm>
          <a:prstGeom prst="rect">
            <a:avLst/>
          </a:prstGeom>
          <a:gradFill rotWithShape="1">
            <a:gsLst>
              <a:gs pos="0">
                <a:srgbClr val="0000B4"/>
              </a:gs>
              <a:gs pos="50000">
                <a:srgbClr val="000053"/>
              </a:gs>
              <a:gs pos="100000">
                <a:srgbClr val="0000B4"/>
              </a:gs>
            </a:gsLst>
            <a:lin ang="5400000" scaled="1"/>
          </a:gradFill>
          <a:ln w="9525">
            <a:noFill/>
            <a:miter lim="800000"/>
            <a:headEnd/>
            <a:tailEnd/>
          </a:ln>
          <a:effectLst>
            <a:outerShdw dist="135003" dir="2928844" algn="ctr" rotWithShape="0">
              <a:srgbClr val="B2B2B2">
                <a:alpha val="50000"/>
              </a:srgbClr>
            </a:outerShdw>
          </a:effectLst>
        </p:spPr>
        <p:txBody>
          <a:bodyPr wrap="none" anchor="ctr"/>
          <a:lstStyle/>
          <a:p>
            <a:pPr algn="ctr" eaLnBrk="1" hangingPunct="1"/>
            <a:endParaRPr kumimoji="1" lang="zh-CN" altLang="en-US" sz="2400" b="1">
              <a:solidFill>
                <a:srgbClr val="FFFFCC"/>
              </a:solidFill>
              <a:ea typeface="华文行楷" pitchFamily="2" charset="-122"/>
            </a:endParaRPr>
          </a:p>
        </p:txBody>
      </p:sp>
      <p:sp>
        <p:nvSpPr>
          <p:cNvPr id="45060" name="TextBox 1"/>
          <p:cNvSpPr txBox="1">
            <a:spLocks noChangeArrowheads="1"/>
          </p:cNvSpPr>
          <p:nvPr/>
        </p:nvSpPr>
        <p:spPr bwMode="auto">
          <a:xfrm>
            <a:off x="2855913" y="1341438"/>
            <a:ext cx="7029450"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just">
              <a:lnSpc>
                <a:spcPct val="150000"/>
              </a:lnSpc>
              <a:spcBef>
                <a:spcPct val="0"/>
              </a:spcBef>
              <a:buFontTx/>
              <a:buNone/>
              <a:defRPr/>
            </a:pPr>
            <a:r>
              <a:rPr lang="zh-CN" altLang="en-US" sz="2400" dirty="0">
                <a:solidFill>
                  <a:prstClr val="white"/>
                </a:solidFill>
                <a:latin typeface="黑体" pitchFamily="2" charset="-122"/>
                <a:ea typeface="黑体" pitchFamily="2" charset="-122"/>
              </a:rPr>
              <a:t>练习</a:t>
            </a:r>
            <a:r>
              <a:rPr lang="en-US" altLang="zh-CN" sz="2400" dirty="0">
                <a:solidFill>
                  <a:prstClr val="white"/>
                </a:solidFill>
                <a:latin typeface="黑体" pitchFamily="2" charset="-122"/>
                <a:ea typeface="黑体" pitchFamily="2" charset="-122"/>
              </a:rPr>
              <a:t>4</a:t>
            </a:r>
            <a:r>
              <a:rPr lang="zh-CN" altLang="en-US" sz="2400" dirty="0">
                <a:solidFill>
                  <a:prstClr val="white"/>
                </a:solidFill>
                <a:latin typeface="黑体" pitchFamily="2" charset="-122"/>
                <a:ea typeface="黑体" pitchFamily="2" charset="-122"/>
              </a:rPr>
              <a:t>扩展：设有一顺序栈</a:t>
            </a:r>
            <a:r>
              <a:rPr lang="en-US" altLang="zh-CN" sz="2400" dirty="0">
                <a:solidFill>
                  <a:prstClr val="white"/>
                </a:solidFill>
                <a:latin typeface="黑体" pitchFamily="2" charset="-122"/>
                <a:ea typeface="黑体" pitchFamily="2" charset="-122"/>
              </a:rPr>
              <a:t>S</a:t>
            </a:r>
            <a:r>
              <a:rPr lang="zh-CN" altLang="en-US" sz="2400" dirty="0">
                <a:solidFill>
                  <a:prstClr val="white"/>
                </a:solidFill>
                <a:latin typeface="黑体" pitchFamily="2" charset="-122"/>
                <a:ea typeface="黑体" pitchFamily="2" charset="-122"/>
              </a:rPr>
              <a:t>，</a:t>
            </a:r>
            <a:r>
              <a:rPr lang="en-US" altLang="zh-CN" sz="2400" dirty="0">
                <a:solidFill>
                  <a:prstClr val="white"/>
                </a:solidFill>
                <a:latin typeface="黑体" pitchFamily="2" charset="-122"/>
                <a:ea typeface="黑体" pitchFamily="2" charset="-122"/>
              </a:rPr>
              <a:t>n</a:t>
            </a:r>
            <a:r>
              <a:rPr lang="zh-CN" altLang="en-US" sz="2400" dirty="0">
                <a:solidFill>
                  <a:prstClr val="white"/>
                </a:solidFill>
                <a:latin typeface="黑体" pitchFamily="2" charset="-122"/>
                <a:ea typeface="黑体" pitchFamily="2" charset="-122"/>
              </a:rPr>
              <a:t>个不同的元素</a:t>
            </a:r>
            <a:r>
              <a:rPr lang="en-US" altLang="zh-CN" sz="2400" dirty="0">
                <a:solidFill>
                  <a:prstClr val="white"/>
                </a:solidFill>
                <a:latin typeface="黑体" pitchFamily="2" charset="-122"/>
                <a:ea typeface="黑体" pitchFamily="2" charset="-122"/>
              </a:rPr>
              <a:t>a</a:t>
            </a:r>
            <a:r>
              <a:rPr lang="en-US" altLang="zh-CN" sz="2400" baseline="-25000" dirty="0">
                <a:solidFill>
                  <a:prstClr val="white"/>
                </a:solidFill>
                <a:latin typeface="黑体" pitchFamily="2" charset="-122"/>
                <a:ea typeface="黑体" pitchFamily="2" charset="-122"/>
              </a:rPr>
              <a:t>1</a:t>
            </a:r>
            <a:r>
              <a:rPr lang="en-US" altLang="zh-CN" sz="2400" dirty="0">
                <a:solidFill>
                  <a:prstClr val="white"/>
                </a:solidFill>
                <a:latin typeface="黑体" pitchFamily="2" charset="-122"/>
                <a:ea typeface="黑体" pitchFamily="2" charset="-122"/>
              </a:rPr>
              <a:t>,a</a:t>
            </a:r>
            <a:r>
              <a:rPr lang="en-US" altLang="zh-CN" sz="2400" baseline="-25000" dirty="0">
                <a:solidFill>
                  <a:prstClr val="white"/>
                </a:solidFill>
                <a:latin typeface="黑体" pitchFamily="2" charset="-122"/>
                <a:ea typeface="黑体" pitchFamily="2" charset="-122"/>
              </a:rPr>
              <a:t>2</a:t>
            </a:r>
            <a:r>
              <a:rPr lang="en-US" altLang="zh-CN" sz="2400" dirty="0">
                <a:solidFill>
                  <a:prstClr val="white"/>
                </a:solidFill>
                <a:latin typeface="黑体" pitchFamily="2" charset="-122"/>
                <a:ea typeface="黑体" pitchFamily="2" charset="-122"/>
              </a:rPr>
              <a:t>,a</a:t>
            </a:r>
            <a:r>
              <a:rPr lang="en-US" altLang="zh-CN" sz="2400" baseline="-25000" dirty="0">
                <a:solidFill>
                  <a:prstClr val="white"/>
                </a:solidFill>
                <a:latin typeface="黑体" pitchFamily="2" charset="-122"/>
                <a:ea typeface="黑体" pitchFamily="2" charset="-122"/>
              </a:rPr>
              <a:t>3</a:t>
            </a:r>
            <a:r>
              <a:rPr lang="en-US" altLang="zh-CN" sz="2400" dirty="0">
                <a:solidFill>
                  <a:prstClr val="white"/>
                </a:solidFill>
                <a:latin typeface="黑体" pitchFamily="2" charset="-122"/>
                <a:ea typeface="黑体" pitchFamily="2" charset="-122"/>
              </a:rPr>
              <a:t>,…,a</a:t>
            </a:r>
            <a:r>
              <a:rPr lang="en-US" altLang="zh-CN" sz="2400" baseline="-25000" dirty="0">
                <a:solidFill>
                  <a:prstClr val="white"/>
                </a:solidFill>
                <a:latin typeface="黑体" pitchFamily="2" charset="-122"/>
                <a:ea typeface="黑体" pitchFamily="2" charset="-122"/>
              </a:rPr>
              <a:t>n</a:t>
            </a:r>
            <a:r>
              <a:rPr lang="zh-CN" altLang="en-US" sz="2400" dirty="0">
                <a:solidFill>
                  <a:prstClr val="white"/>
                </a:solidFill>
                <a:latin typeface="黑体" pitchFamily="2" charset="-122"/>
                <a:ea typeface="黑体" pitchFamily="2" charset="-122"/>
              </a:rPr>
              <a:t>依次进栈，</a:t>
            </a:r>
            <a:r>
              <a:rPr lang="zh-CN" altLang="en-US" sz="2400" dirty="0">
                <a:solidFill>
                  <a:srgbClr val="FF0000"/>
                </a:solidFill>
                <a:latin typeface="黑体" pitchFamily="2" charset="-122"/>
                <a:ea typeface="黑体" pitchFamily="2" charset="-122"/>
              </a:rPr>
              <a:t>给出一个算法</a:t>
            </a:r>
            <a:r>
              <a:rPr lang="zh-CN" altLang="en-US" sz="2400" dirty="0">
                <a:solidFill>
                  <a:prstClr val="white"/>
                </a:solidFill>
                <a:latin typeface="黑体" pitchFamily="2" charset="-122"/>
                <a:ea typeface="黑体" pitchFamily="2" charset="-122"/>
              </a:rPr>
              <a:t>，判断上述元素的一个排列是否是合法的出栈序列，如果是，给出其出栈过程中所需的栈容量最小值。</a:t>
            </a:r>
            <a:endParaRPr lang="en-US" altLang="zh-CN" sz="2400" dirty="0">
              <a:solidFill>
                <a:prstClr val="white"/>
              </a:solidFill>
              <a:latin typeface="黑体" pitchFamily="2" charset="-122"/>
              <a:ea typeface="黑体" pitchFamily="2" charset="-122"/>
            </a:endParaRPr>
          </a:p>
          <a:p>
            <a:pPr>
              <a:lnSpc>
                <a:spcPct val="150000"/>
              </a:lnSpc>
              <a:spcBef>
                <a:spcPct val="0"/>
              </a:spcBef>
              <a:buFontTx/>
              <a:buNone/>
              <a:defRPr/>
            </a:pPr>
            <a:r>
              <a:rPr lang="zh-CN" altLang="en-US" sz="2400" dirty="0">
                <a:solidFill>
                  <a:prstClr val="white"/>
                </a:solidFill>
                <a:latin typeface="黑体" pitchFamily="2" charset="-122"/>
                <a:ea typeface="黑体" pitchFamily="2" charset="-122"/>
              </a:rPr>
              <a:t>例如：</a:t>
            </a:r>
            <a:endParaRPr lang="en-US" altLang="zh-CN" sz="2400" dirty="0">
              <a:solidFill>
                <a:prstClr val="white"/>
              </a:solidFill>
              <a:latin typeface="黑体" pitchFamily="2" charset="-122"/>
              <a:ea typeface="黑体" pitchFamily="2" charset="-122"/>
            </a:endParaRPr>
          </a:p>
          <a:p>
            <a:pPr marL="342900" indent="-342900">
              <a:lnSpc>
                <a:spcPct val="150000"/>
              </a:lnSpc>
              <a:spcBef>
                <a:spcPct val="0"/>
              </a:spcBef>
              <a:defRPr/>
            </a:pPr>
            <a:r>
              <a:rPr lang="zh-CN" altLang="en-US" sz="2400" dirty="0">
                <a:solidFill>
                  <a:prstClr val="white"/>
                </a:solidFill>
                <a:latin typeface="黑体" pitchFamily="2" charset="-122"/>
                <a:ea typeface="黑体" pitchFamily="2" charset="-122"/>
              </a:rPr>
              <a:t>输入入栈序列</a:t>
            </a:r>
            <a:r>
              <a:rPr lang="en-US" altLang="zh-CN" sz="2400" dirty="0" err="1">
                <a:solidFill>
                  <a:prstClr val="white"/>
                </a:solidFill>
                <a:latin typeface="黑体" pitchFamily="2" charset="-122"/>
                <a:ea typeface="黑体" pitchFamily="2" charset="-122"/>
              </a:rPr>
              <a:t>abc</a:t>
            </a:r>
            <a:r>
              <a:rPr lang="zh-CN" altLang="en-US" sz="2400" dirty="0">
                <a:solidFill>
                  <a:prstClr val="white"/>
                </a:solidFill>
                <a:latin typeface="黑体" pitchFamily="2" charset="-122"/>
                <a:ea typeface="黑体" pitchFamily="2" charset="-122"/>
              </a:rPr>
              <a:t>，出栈序列</a:t>
            </a:r>
            <a:r>
              <a:rPr lang="en-US" altLang="zh-CN" sz="2400" dirty="0" err="1">
                <a:solidFill>
                  <a:prstClr val="white"/>
                </a:solidFill>
                <a:latin typeface="黑体" pitchFamily="2" charset="-122"/>
                <a:ea typeface="黑体" pitchFamily="2" charset="-122"/>
              </a:rPr>
              <a:t>cba</a:t>
            </a:r>
            <a:r>
              <a:rPr lang="zh-CN" altLang="en-US" sz="2400" dirty="0">
                <a:solidFill>
                  <a:prstClr val="white"/>
                </a:solidFill>
                <a:latin typeface="黑体" pitchFamily="2" charset="-122"/>
                <a:ea typeface="黑体" pitchFamily="2" charset="-122"/>
              </a:rPr>
              <a:t>，输出：</a:t>
            </a:r>
            <a:r>
              <a:rPr lang="en-US" altLang="zh-CN" sz="2400" dirty="0">
                <a:solidFill>
                  <a:prstClr val="white"/>
                </a:solidFill>
                <a:latin typeface="黑体" pitchFamily="2" charset="-122"/>
                <a:ea typeface="黑体" pitchFamily="2" charset="-122"/>
              </a:rPr>
              <a:t>3</a:t>
            </a:r>
          </a:p>
          <a:p>
            <a:pPr marL="342900" indent="-342900">
              <a:lnSpc>
                <a:spcPct val="150000"/>
              </a:lnSpc>
              <a:spcBef>
                <a:spcPct val="0"/>
              </a:spcBef>
              <a:defRPr/>
            </a:pPr>
            <a:r>
              <a:rPr lang="zh-CN" altLang="en-US" sz="2400" dirty="0">
                <a:solidFill>
                  <a:prstClr val="white"/>
                </a:solidFill>
                <a:latin typeface="黑体" pitchFamily="2" charset="-122"/>
                <a:ea typeface="黑体" pitchFamily="2" charset="-122"/>
              </a:rPr>
              <a:t>输入入栈序列</a:t>
            </a:r>
            <a:r>
              <a:rPr lang="en-US" altLang="zh-CN" sz="2400" dirty="0" err="1">
                <a:solidFill>
                  <a:prstClr val="white"/>
                </a:solidFill>
                <a:latin typeface="黑体" pitchFamily="2" charset="-122"/>
                <a:ea typeface="黑体" pitchFamily="2" charset="-122"/>
              </a:rPr>
              <a:t>abc</a:t>
            </a:r>
            <a:r>
              <a:rPr lang="zh-CN" altLang="en-US" sz="2400" dirty="0">
                <a:solidFill>
                  <a:prstClr val="white"/>
                </a:solidFill>
                <a:latin typeface="黑体" pitchFamily="2" charset="-122"/>
                <a:ea typeface="黑体" pitchFamily="2" charset="-122"/>
              </a:rPr>
              <a:t>，出栈序列</a:t>
            </a:r>
            <a:r>
              <a:rPr lang="en-US" altLang="zh-CN" sz="2400" dirty="0">
                <a:solidFill>
                  <a:prstClr val="white"/>
                </a:solidFill>
                <a:latin typeface="黑体" pitchFamily="2" charset="-122"/>
                <a:ea typeface="黑体" pitchFamily="2" charset="-122"/>
              </a:rPr>
              <a:t>cab</a:t>
            </a:r>
            <a:r>
              <a:rPr lang="zh-CN" altLang="en-US" sz="2400" dirty="0">
                <a:solidFill>
                  <a:prstClr val="white"/>
                </a:solidFill>
                <a:latin typeface="黑体" pitchFamily="2" charset="-122"/>
                <a:ea typeface="黑体" pitchFamily="2" charset="-122"/>
              </a:rPr>
              <a:t>，输出：不合法</a:t>
            </a:r>
            <a:endParaRPr lang="en-US" altLang="zh-CN" sz="2400" dirty="0">
              <a:solidFill>
                <a:prstClr val="white"/>
              </a:solidFill>
              <a:latin typeface="黑体" pitchFamily="2" charset="-122"/>
              <a:ea typeface="黑体" pitchFamily="2" charset="-122"/>
            </a:endParaRPr>
          </a:p>
          <a:p>
            <a:pPr marL="342900" indent="-342900">
              <a:lnSpc>
                <a:spcPct val="150000"/>
              </a:lnSpc>
              <a:spcBef>
                <a:spcPct val="0"/>
              </a:spcBef>
              <a:defRPr/>
            </a:pPr>
            <a:r>
              <a:rPr lang="zh-CN" altLang="en-US" sz="2400" dirty="0">
                <a:solidFill>
                  <a:prstClr val="white"/>
                </a:solidFill>
                <a:latin typeface="黑体" pitchFamily="2" charset="-122"/>
                <a:ea typeface="黑体" pitchFamily="2" charset="-122"/>
              </a:rPr>
              <a:t>输入入栈序列</a:t>
            </a:r>
            <a:r>
              <a:rPr lang="en-US" altLang="zh-CN" sz="2400" dirty="0" err="1">
                <a:solidFill>
                  <a:schemeClr val="bg1"/>
                </a:solidFill>
                <a:latin typeface="黑体" pitchFamily="2" charset="-122"/>
                <a:ea typeface="黑体" pitchFamily="2" charset="-122"/>
              </a:rPr>
              <a:t>a,b,c,d,e,f</a:t>
            </a:r>
            <a:r>
              <a:rPr lang="zh-CN" altLang="en-US" sz="2400" dirty="0">
                <a:solidFill>
                  <a:schemeClr val="bg1"/>
                </a:solidFill>
                <a:latin typeface="黑体" pitchFamily="2" charset="-122"/>
                <a:ea typeface="黑体" pitchFamily="2" charset="-122"/>
              </a:rPr>
              <a:t>，出栈</a:t>
            </a:r>
            <a:r>
              <a:rPr lang="zh-CN" altLang="en-US" sz="2400" dirty="0">
                <a:solidFill>
                  <a:prstClr val="white"/>
                </a:solidFill>
                <a:latin typeface="黑体" pitchFamily="2" charset="-122"/>
                <a:ea typeface="黑体" pitchFamily="2" charset="-122"/>
              </a:rPr>
              <a:t>序列</a:t>
            </a:r>
            <a:r>
              <a:rPr lang="en-US" altLang="zh-CN" sz="2400" dirty="0" err="1">
                <a:solidFill>
                  <a:schemeClr val="bg1"/>
                </a:solidFill>
                <a:latin typeface="黑体" pitchFamily="2" charset="-122"/>
                <a:ea typeface="黑体" pitchFamily="2" charset="-122"/>
              </a:rPr>
              <a:t>b,d,c,f,e,a</a:t>
            </a:r>
            <a:r>
              <a:rPr lang="zh-CN" altLang="en-US" sz="2400" dirty="0">
                <a:solidFill>
                  <a:schemeClr val="bg1"/>
                </a:solidFill>
                <a:latin typeface="黑体" pitchFamily="2" charset="-122"/>
                <a:ea typeface="黑体" pitchFamily="2" charset="-122"/>
              </a:rPr>
              <a:t>，输出：</a:t>
            </a:r>
            <a:r>
              <a:rPr lang="en-US" altLang="zh-CN" sz="2400" dirty="0">
                <a:solidFill>
                  <a:schemeClr val="bg1"/>
                </a:solidFill>
                <a:latin typeface="黑体" pitchFamily="2" charset="-122"/>
                <a:ea typeface="黑体" pitchFamily="2" charset="-122"/>
              </a:rPr>
              <a:t>3</a:t>
            </a:r>
            <a:endParaRPr lang="en-US" altLang="zh-CN" sz="2400" dirty="0">
              <a:solidFill>
                <a:prstClr val="white"/>
              </a:solidFill>
              <a:latin typeface="黑体" pitchFamily="2" charset="-122"/>
              <a:ea typeface="黑体" pitchFamily="2" charset="-122"/>
            </a:endParaRPr>
          </a:p>
        </p:txBody>
      </p:sp>
      <p:grpSp>
        <p:nvGrpSpPr>
          <p:cNvPr id="2" name="Group 50"/>
          <p:cNvGrpSpPr>
            <a:grpSpLocks/>
          </p:cNvGrpSpPr>
          <p:nvPr/>
        </p:nvGrpSpPr>
        <p:grpSpPr bwMode="auto">
          <a:xfrm>
            <a:off x="1773239" y="333375"/>
            <a:ext cx="2378075" cy="960438"/>
            <a:chOff x="338" y="239"/>
            <a:chExt cx="1498" cy="605"/>
          </a:xfrm>
        </p:grpSpPr>
        <p:sp>
          <p:nvSpPr>
            <p:cNvPr id="88069" name="AutoShape 6"/>
            <p:cNvSpPr>
              <a:spLocks noChangeArrowheads="1"/>
            </p:cNvSpPr>
            <p:nvPr/>
          </p:nvSpPr>
          <p:spPr bwMode="auto">
            <a:xfrm rot="-352797">
              <a:off x="338" y="239"/>
              <a:ext cx="1392" cy="605"/>
            </a:xfrm>
            <a:prstGeom prst="irregularSeal2">
              <a:avLst/>
            </a:prstGeom>
            <a:solidFill>
              <a:srgbClr val="CCFFCC"/>
            </a:solidFill>
            <a:ln w="66675">
              <a:solidFill>
                <a:srgbClr val="FFFF00"/>
              </a:solidFill>
              <a:miter lim="800000"/>
              <a:headEnd type="none" w="sm" len="sm"/>
              <a:tailEnd type="none" w="sm" len="sm"/>
            </a:ln>
            <a:effectLst>
              <a:outerShdw dist="104727" dir="842175" algn="ctr" rotWithShape="0">
                <a:srgbClr val="999999"/>
              </a:outerShdw>
            </a:effectLst>
          </p:spPr>
          <p:txBody>
            <a:bodyPr wrap="none" anchor="ctr"/>
            <a:lstStyle/>
            <a:p>
              <a:endParaRPr lang="zh-CN" altLang="en-US"/>
            </a:p>
          </p:txBody>
        </p:sp>
        <p:sp>
          <p:nvSpPr>
            <p:cNvPr id="88070" name="Text Box 7"/>
            <p:cNvSpPr txBox="1">
              <a:spLocks noChangeArrowheads="1"/>
            </p:cNvSpPr>
            <p:nvPr/>
          </p:nvSpPr>
          <p:spPr bwMode="auto">
            <a:xfrm rot="-74607">
              <a:off x="483" y="259"/>
              <a:ext cx="1353" cy="519"/>
            </a:xfrm>
            <a:prstGeom prst="rect">
              <a:avLst/>
            </a:prstGeom>
            <a:noFill/>
            <a:ln w="12700" cap="sq">
              <a:noFill/>
              <a:miter lim="800000"/>
              <a:headEnd type="none" w="sm" len="sm"/>
              <a:tailEnd type="none" w="sm" len="sm"/>
            </a:ln>
            <a:effectLst>
              <a:outerShdw dist="35921" dir="2700000" algn="ctr" rotWithShape="0">
                <a:srgbClr val="000000"/>
              </a:outerShdw>
            </a:effectLst>
          </p:spPr>
          <p:txBody>
            <a:bodyPr>
              <a:spAutoFit/>
            </a:bodyPr>
            <a:lstStyle/>
            <a:p>
              <a:r>
                <a:rPr lang="zh-CN" altLang="en-US" sz="4800" b="1" i="1">
                  <a:solidFill>
                    <a:srgbClr val="FF3300"/>
                  </a:solidFill>
                  <a:ea typeface="黑体" pitchFamily="2" charset="-122"/>
                </a:rPr>
                <a:t>思考</a:t>
              </a:r>
              <a:r>
                <a:rPr lang="en-US" altLang="zh-CN" sz="4800" b="1" i="1">
                  <a:solidFill>
                    <a:srgbClr val="FF3300"/>
                  </a:solidFill>
                  <a:ea typeface="黑体" pitchFamily="2" charset="-122"/>
                </a:rPr>
                <a:t>2</a:t>
              </a:r>
              <a:endParaRPr lang="zh-CN" altLang="en-US" sz="4800" b="1" i="1">
                <a:solidFill>
                  <a:srgbClr val="FF3300"/>
                </a:solidFill>
                <a:ea typeface="黑体" pitchFamily="2" charset="-122"/>
              </a:endParaRPr>
            </a:p>
          </p:txBody>
        </p:sp>
      </p:grpSp>
    </p:spTree>
  </p:cSld>
  <p:clrMapOvr>
    <a:masterClrMapping/>
  </p:clrMapOvr>
  <p:transition>
    <p:cover dir="ru"/>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86</a:t>
            </a:fld>
            <a:endParaRPr lang="zh-CN" altLang="en-US"/>
          </a:p>
        </p:txBody>
      </p:sp>
      <p:grpSp>
        <p:nvGrpSpPr>
          <p:cNvPr id="3" name="Group 38"/>
          <p:cNvGrpSpPr>
            <a:grpSpLocks/>
          </p:cNvGrpSpPr>
          <p:nvPr/>
        </p:nvGrpSpPr>
        <p:grpSpPr bwMode="auto">
          <a:xfrm>
            <a:off x="3575720" y="2348880"/>
            <a:ext cx="5049316" cy="2629396"/>
            <a:chOff x="289" y="1200"/>
            <a:chExt cx="5136" cy="2352"/>
          </a:xfrm>
        </p:grpSpPr>
        <p:sp>
          <p:nvSpPr>
            <p:cNvPr id="4" name="Freeform 9"/>
            <p:cNvSpPr>
              <a:spLocks/>
            </p:cNvSpPr>
            <p:nvPr/>
          </p:nvSpPr>
          <p:spPr bwMode="auto">
            <a:xfrm>
              <a:off x="289" y="1200"/>
              <a:ext cx="5136" cy="2352"/>
            </a:xfrm>
            <a:custGeom>
              <a:avLst/>
              <a:gdLst>
                <a:gd name="T0" fmla="*/ 517 w 4969"/>
                <a:gd name="T1" fmla="*/ 63 h 2578"/>
                <a:gd name="T2" fmla="*/ 1684 w 4969"/>
                <a:gd name="T3" fmla="*/ 68 h 2578"/>
                <a:gd name="T4" fmla="*/ 2638 w 4969"/>
                <a:gd name="T5" fmla="*/ 39 h 2578"/>
                <a:gd name="T6" fmla="*/ 3377 w 4969"/>
                <a:gd name="T7" fmla="*/ 63 h 2578"/>
                <a:gd name="T8" fmla="*/ 4047 w 4969"/>
                <a:gd name="T9" fmla="*/ 99 h 2578"/>
                <a:gd name="T10" fmla="*/ 5455 w 4969"/>
                <a:gd name="T11" fmla="*/ 93 h 2578"/>
                <a:gd name="T12" fmla="*/ 6011 w 4969"/>
                <a:gd name="T13" fmla="*/ 63 h 2578"/>
                <a:gd name="T14" fmla="*/ 6211 w 4969"/>
                <a:gd name="T15" fmla="*/ 111 h 2578"/>
                <a:gd name="T16" fmla="*/ 6181 w 4969"/>
                <a:gd name="T17" fmla="*/ 129 h 2578"/>
                <a:gd name="T18" fmla="*/ 6154 w 4969"/>
                <a:gd name="T19" fmla="*/ 349 h 2578"/>
                <a:gd name="T20" fmla="*/ 6124 w 4969"/>
                <a:gd name="T21" fmla="*/ 539 h 2578"/>
                <a:gd name="T22" fmla="*/ 6099 w 4969"/>
                <a:gd name="T23" fmla="*/ 884 h 2578"/>
                <a:gd name="T24" fmla="*/ 6111 w 4969"/>
                <a:gd name="T25" fmla="*/ 826 h 2578"/>
                <a:gd name="T26" fmla="*/ 6124 w 4969"/>
                <a:gd name="T27" fmla="*/ 794 h 2578"/>
                <a:gd name="T28" fmla="*/ 6140 w 4969"/>
                <a:gd name="T29" fmla="*/ 826 h 2578"/>
                <a:gd name="T30" fmla="*/ 6169 w 4969"/>
                <a:gd name="T31" fmla="*/ 842 h 2578"/>
                <a:gd name="T32" fmla="*/ 6140 w 4969"/>
                <a:gd name="T33" fmla="*/ 1336 h 2578"/>
                <a:gd name="T34" fmla="*/ 4789 w 4969"/>
                <a:gd name="T35" fmla="*/ 1329 h 2578"/>
                <a:gd name="T36" fmla="*/ 4871 w 4969"/>
                <a:gd name="T37" fmla="*/ 1324 h 2578"/>
                <a:gd name="T38" fmla="*/ 3535 w 4969"/>
                <a:gd name="T39" fmla="*/ 1316 h 2578"/>
                <a:gd name="T40" fmla="*/ 2083 w 4969"/>
                <a:gd name="T41" fmla="*/ 1299 h 2578"/>
                <a:gd name="T42" fmla="*/ 1242 w 4969"/>
                <a:gd name="T43" fmla="*/ 1299 h 2578"/>
                <a:gd name="T44" fmla="*/ 161 w 4969"/>
                <a:gd name="T45" fmla="*/ 1353 h 2578"/>
                <a:gd name="T46" fmla="*/ 90 w 4969"/>
                <a:gd name="T47" fmla="*/ 663 h 2578"/>
                <a:gd name="T48" fmla="*/ 133 w 4969"/>
                <a:gd name="T49" fmla="*/ 82 h 2578"/>
                <a:gd name="T50" fmla="*/ 190 w 4969"/>
                <a:gd name="T51" fmla="*/ 88 h 2578"/>
                <a:gd name="T52" fmla="*/ 275 w 4969"/>
                <a:gd name="T53" fmla="*/ 99 h 2578"/>
                <a:gd name="T54" fmla="*/ 389 w 4969"/>
                <a:gd name="T55" fmla="*/ 52 h 2578"/>
                <a:gd name="T56" fmla="*/ 517 w 4969"/>
                <a:gd name="T57" fmla="*/ 63 h 2578"/>
                <a:gd name="T58" fmla="*/ 517 w 4969"/>
                <a:gd name="T59" fmla="*/ 63 h 257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969" h="2578">
                  <a:moveTo>
                    <a:pt x="410" y="121"/>
                  </a:moveTo>
                  <a:cubicBezTo>
                    <a:pt x="749" y="132"/>
                    <a:pt x="984" y="140"/>
                    <a:pt x="1336" y="132"/>
                  </a:cubicBezTo>
                  <a:cubicBezTo>
                    <a:pt x="1588" y="105"/>
                    <a:pt x="1841" y="98"/>
                    <a:pt x="2093" y="76"/>
                  </a:cubicBezTo>
                  <a:cubicBezTo>
                    <a:pt x="1871" y="226"/>
                    <a:pt x="2499" y="91"/>
                    <a:pt x="2680" y="121"/>
                  </a:cubicBezTo>
                  <a:cubicBezTo>
                    <a:pt x="3241" y="111"/>
                    <a:pt x="3496" y="0"/>
                    <a:pt x="3211" y="189"/>
                  </a:cubicBezTo>
                  <a:cubicBezTo>
                    <a:pt x="2900" y="395"/>
                    <a:pt x="3956" y="182"/>
                    <a:pt x="4329" y="178"/>
                  </a:cubicBezTo>
                  <a:cubicBezTo>
                    <a:pt x="4474" y="140"/>
                    <a:pt x="4621" y="130"/>
                    <a:pt x="4770" y="121"/>
                  </a:cubicBezTo>
                  <a:cubicBezTo>
                    <a:pt x="4910" y="140"/>
                    <a:pt x="4969" y="91"/>
                    <a:pt x="4928" y="212"/>
                  </a:cubicBezTo>
                  <a:cubicBezTo>
                    <a:pt x="4924" y="225"/>
                    <a:pt x="4913" y="234"/>
                    <a:pt x="4905" y="245"/>
                  </a:cubicBezTo>
                  <a:cubicBezTo>
                    <a:pt x="4854" y="402"/>
                    <a:pt x="4898" y="255"/>
                    <a:pt x="4883" y="663"/>
                  </a:cubicBezTo>
                  <a:cubicBezTo>
                    <a:pt x="4875" y="867"/>
                    <a:pt x="4874" y="861"/>
                    <a:pt x="4860" y="1025"/>
                  </a:cubicBezTo>
                  <a:cubicBezTo>
                    <a:pt x="4855" y="1243"/>
                    <a:pt x="4838" y="1462"/>
                    <a:pt x="4838" y="1680"/>
                  </a:cubicBezTo>
                  <a:cubicBezTo>
                    <a:pt x="4838" y="1718"/>
                    <a:pt x="4844" y="1605"/>
                    <a:pt x="4849" y="1567"/>
                  </a:cubicBezTo>
                  <a:cubicBezTo>
                    <a:pt x="4851" y="1548"/>
                    <a:pt x="4856" y="1529"/>
                    <a:pt x="4860" y="1510"/>
                  </a:cubicBezTo>
                  <a:cubicBezTo>
                    <a:pt x="4864" y="1529"/>
                    <a:pt x="4864" y="1549"/>
                    <a:pt x="4871" y="1567"/>
                  </a:cubicBezTo>
                  <a:cubicBezTo>
                    <a:pt x="4876" y="1580"/>
                    <a:pt x="4894" y="1587"/>
                    <a:pt x="4894" y="1601"/>
                  </a:cubicBezTo>
                  <a:cubicBezTo>
                    <a:pt x="4894" y="1913"/>
                    <a:pt x="4879" y="2226"/>
                    <a:pt x="4871" y="2538"/>
                  </a:cubicBezTo>
                  <a:cubicBezTo>
                    <a:pt x="4514" y="2534"/>
                    <a:pt x="4156" y="2535"/>
                    <a:pt x="3799" y="2527"/>
                  </a:cubicBezTo>
                  <a:cubicBezTo>
                    <a:pt x="3776" y="2527"/>
                    <a:pt x="3889" y="2517"/>
                    <a:pt x="3866" y="2516"/>
                  </a:cubicBezTo>
                  <a:cubicBezTo>
                    <a:pt x="3512" y="2508"/>
                    <a:pt x="3159" y="2508"/>
                    <a:pt x="2805" y="2504"/>
                  </a:cubicBezTo>
                  <a:cubicBezTo>
                    <a:pt x="2734" y="2506"/>
                    <a:pt x="1040" y="2578"/>
                    <a:pt x="1653" y="2470"/>
                  </a:cubicBezTo>
                  <a:cubicBezTo>
                    <a:pt x="1450" y="2572"/>
                    <a:pt x="1204" y="2516"/>
                    <a:pt x="986" y="2470"/>
                  </a:cubicBezTo>
                  <a:cubicBezTo>
                    <a:pt x="872" y="2472"/>
                    <a:pt x="318" y="2382"/>
                    <a:pt x="128" y="2572"/>
                  </a:cubicBezTo>
                  <a:cubicBezTo>
                    <a:pt x="0" y="2261"/>
                    <a:pt x="85" y="1659"/>
                    <a:pt x="71" y="1262"/>
                  </a:cubicBezTo>
                  <a:cubicBezTo>
                    <a:pt x="81" y="466"/>
                    <a:pt x="28" y="556"/>
                    <a:pt x="105" y="155"/>
                  </a:cubicBezTo>
                  <a:cubicBezTo>
                    <a:pt x="120" y="159"/>
                    <a:pt x="138" y="157"/>
                    <a:pt x="151" y="166"/>
                  </a:cubicBezTo>
                  <a:cubicBezTo>
                    <a:pt x="211" y="206"/>
                    <a:pt x="126" y="211"/>
                    <a:pt x="218" y="189"/>
                  </a:cubicBezTo>
                  <a:cubicBezTo>
                    <a:pt x="244" y="150"/>
                    <a:pt x="269" y="125"/>
                    <a:pt x="309" y="99"/>
                  </a:cubicBezTo>
                  <a:cubicBezTo>
                    <a:pt x="348" y="107"/>
                    <a:pt x="373" y="111"/>
                    <a:pt x="410" y="121"/>
                  </a:cubicBezTo>
                  <a:cubicBezTo>
                    <a:pt x="410" y="121"/>
                    <a:pt x="501" y="150"/>
                    <a:pt x="410" y="121"/>
                  </a:cubicBezTo>
                  <a:close/>
                </a:path>
              </a:pathLst>
            </a:custGeom>
            <a:solidFill>
              <a:srgbClr val="C9E4FF"/>
            </a:solidFill>
            <a:ln w="31750" cap="sq" cmpd="sng">
              <a:noFill/>
              <a:prstDash val="solid"/>
              <a:round/>
              <a:headEnd/>
              <a:tailEnd/>
            </a:ln>
            <a:effectLst>
              <a:outerShdw dist="224686" dir="2837437" algn="ctr" rotWithShape="0">
                <a:srgbClr val="B9B9B9"/>
              </a:outerShdw>
            </a:effectLst>
          </p:spPr>
          <p:txBody>
            <a:bodyPr wrap="none" anchor="ctr"/>
            <a:lstStyle/>
            <a:p>
              <a:endParaRPr lang="zh-CN" altLang="en-US"/>
            </a:p>
          </p:txBody>
        </p:sp>
        <p:sp>
          <p:nvSpPr>
            <p:cNvPr id="5" name="Text Box 10"/>
            <p:cNvSpPr txBox="1">
              <a:spLocks noChangeArrowheads="1"/>
            </p:cNvSpPr>
            <p:nvPr/>
          </p:nvSpPr>
          <p:spPr bwMode="auto">
            <a:xfrm>
              <a:off x="1388" y="1780"/>
              <a:ext cx="3027" cy="909"/>
            </a:xfrm>
            <a:prstGeom prst="rect">
              <a:avLst/>
            </a:prstGeom>
            <a:noFill/>
            <a:ln w="9525">
              <a:noFill/>
              <a:miter lim="800000"/>
              <a:headEnd/>
              <a:tailEnd/>
            </a:ln>
          </p:spPr>
          <p:txBody>
            <a:bodyPr wrap="square">
              <a:spAutoFit/>
            </a:bodyPr>
            <a:lstStyle/>
            <a:p>
              <a:pPr fontAlgn="base">
                <a:spcBef>
                  <a:spcPct val="0"/>
                </a:spcBef>
              </a:pPr>
              <a:r>
                <a:rPr lang="zh-CN" altLang="en-US" sz="6000" b="1" dirty="0">
                  <a:solidFill>
                    <a:srgbClr val="FF0000"/>
                  </a:solidFill>
                  <a:latin typeface="隶书" pitchFamily="49" charset="-122"/>
                  <a:ea typeface="隶书" pitchFamily="49" charset="-122"/>
                </a:rPr>
                <a:t>结束！</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righ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new" id="{0A8B4580-D5CB-45FC-9E5F-891E6E20F2E1}" vid="{0B02BC6C-B6DE-4DB7-8A9B-695324FB3A5A}"/>
    </a:ext>
  </a:extLst>
</a:theme>
</file>

<file path=ppt/theme/theme2.xml><?xml version="1.0" encoding="utf-8"?>
<a:theme xmlns:a="http://schemas.openxmlformats.org/drawingml/2006/main" name="3_默认设计模板">
  <a:themeElements>
    <a:clrScheme name="3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默认设计模板">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175" cap="flat" cmpd="sng" algn="ctr">
          <a:solidFill>
            <a:schemeClr val="tx1"/>
          </a:solidFill>
          <a:prstDash val="solid"/>
          <a:round/>
          <a:headEnd type="none" w="med" len="med"/>
          <a:tailEnd type="none" w="med" len="med"/>
        </a:ln>
      </a:spPr>
      <a:bodyPr vert="horz" wrap="none" lIns="90000" tIns="46800" rIns="90000" bIns="46800" numCol="1" anchor="t" anchorCtr="1"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sz="2800" b="0" i="0" u="none" strike="noStrike" cap="none" normalizeH="0" baseline="0" smtClean="0">
            <a:ln>
              <a:noFill/>
            </a:ln>
            <a:solidFill>
              <a:schemeClr val="tx1"/>
            </a:solidFill>
            <a:effectLst/>
            <a:latin typeface="Arial" panose="020B0604020202020204" pitchFamily="34" charset="0"/>
            <a:ea typeface="黑体" panose="02010609060101010101" pitchFamily="2" charset="-122"/>
          </a:defRPr>
        </a:defPPr>
      </a:lstStyle>
    </a:spDef>
    <a:lnDef>
      <a:spPr bwMode="auto">
        <a:xfrm>
          <a:off x="0" y="0"/>
          <a:ext cx="1" cy="1"/>
        </a:xfrm>
        <a:custGeom>
          <a:avLst/>
          <a:gdLst/>
          <a:ahLst/>
          <a:cxnLst/>
          <a:rect l="0" t="0" r="0" b="0"/>
          <a:pathLst/>
        </a:custGeom>
        <a:noFill/>
        <a:ln w="3175" cap="flat" cmpd="sng" algn="ctr">
          <a:solidFill>
            <a:schemeClr val="tx1"/>
          </a:solidFill>
          <a:prstDash val="solid"/>
          <a:round/>
          <a:headEnd type="none" w="med" len="med"/>
          <a:tailEnd type="none" w="med" len="med"/>
        </a:ln>
      </a:spPr>
      <a:bodyPr vert="horz" wrap="none" lIns="90000" tIns="46800" rIns="90000" bIns="46800" numCol="1" anchor="t" anchorCtr="1"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sz="2800" b="0" i="0" u="none" strike="noStrike" cap="none" normalizeH="0" baseline="0" smtClean="0">
            <a:ln>
              <a:noFill/>
            </a:ln>
            <a:solidFill>
              <a:schemeClr val="tx1"/>
            </a:solidFill>
            <a:effectLst/>
            <a:latin typeface="Arial" panose="020B0604020202020204" pitchFamily="34" charset="0"/>
            <a:ea typeface="黑体" panose="02010609060101010101" pitchFamily="2" charset="-122"/>
          </a:defRPr>
        </a:defPPr>
      </a:lstStyle>
    </a:lnDef>
  </a:objectDefaults>
  <a:extraClrSchemeLst>
    <a:extraClrScheme>
      <a:clrScheme name="3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演示文稿new" id="{0A8B4580-D5CB-45FC-9E5F-891E6E20F2E1}" vid="{AF3510C8-81F6-4A04-8F6B-62B3A8C6CEDC}"/>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北航模板new</Template>
  <TotalTime>8112</TotalTime>
  <Words>9000</Words>
  <Application>Microsoft Office PowerPoint</Application>
  <PresentationFormat>宽屏</PresentationFormat>
  <Paragraphs>1414</Paragraphs>
  <Slides>86</Slides>
  <Notes>11</Notes>
  <HiddenSlides>0</HiddenSlides>
  <MMClips>0</MMClips>
  <ScaleCrop>false</ScaleCrop>
  <HeadingPairs>
    <vt:vector size="8" baseType="variant">
      <vt:variant>
        <vt:lpstr>已用的字体</vt:lpstr>
      </vt:variant>
      <vt:variant>
        <vt:i4>17</vt:i4>
      </vt:variant>
      <vt:variant>
        <vt:lpstr>主题</vt:lpstr>
      </vt:variant>
      <vt:variant>
        <vt:i4>2</vt:i4>
      </vt:variant>
      <vt:variant>
        <vt:lpstr>嵌入 OLE 服务器</vt:lpstr>
      </vt:variant>
      <vt:variant>
        <vt:i4>3</vt:i4>
      </vt:variant>
      <vt:variant>
        <vt:lpstr>幻灯片标题</vt:lpstr>
      </vt:variant>
      <vt:variant>
        <vt:i4>86</vt:i4>
      </vt:variant>
    </vt:vector>
  </HeadingPairs>
  <TitlesOfParts>
    <vt:vector size="108" baseType="lpstr">
      <vt:lpstr>方正舒体</vt:lpstr>
      <vt:lpstr>黑体</vt:lpstr>
      <vt:lpstr>华文彩云</vt:lpstr>
      <vt:lpstr>华文新魏</vt:lpstr>
      <vt:lpstr>华文行楷</vt:lpstr>
      <vt:lpstr>楷体</vt:lpstr>
      <vt:lpstr>楷体_GB2312</vt:lpstr>
      <vt:lpstr>隶书</vt:lpstr>
      <vt:lpstr>宋体</vt:lpstr>
      <vt:lpstr>微软雅黑</vt:lpstr>
      <vt:lpstr>幼圆</vt:lpstr>
      <vt:lpstr>Arial</vt:lpstr>
      <vt:lpstr>Calibri</vt:lpstr>
      <vt:lpstr>Calibri Light</vt:lpstr>
      <vt:lpstr>Symbol</vt:lpstr>
      <vt:lpstr>Times New Roman</vt:lpstr>
      <vt:lpstr>Wingdings</vt:lpstr>
      <vt:lpstr>Office 主题</vt:lpstr>
      <vt:lpstr>3_默认设计模板</vt:lpstr>
      <vt:lpstr>Image</vt:lpstr>
      <vt:lpstr>公式</vt:lpstr>
      <vt:lpstr>Photo Editor 照片</vt:lpstr>
      <vt:lpstr>数据结构与程序设计 (Data Structure and Programming)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栈的基本操作</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问题3.1：计算器（表达式计算）</vt:lpstr>
      <vt:lpstr>问题3.1：问题分析</vt:lpstr>
      <vt:lpstr>中缀到后缀的转换规则</vt:lpstr>
      <vt:lpstr>后缀表达式计算</vt:lpstr>
      <vt:lpstr>PowerPoint 演示文稿</vt:lpstr>
      <vt:lpstr>问题3.1：算法分析</vt:lpstr>
      <vt:lpstr>问题3.1：算法分析</vt:lpstr>
      <vt:lpstr>枚举类型（enum）</vt:lpstr>
      <vt:lpstr>枚举类型（续）</vt:lpstr>
      <vt:lpstr>枚举类型（续）</vt:lpstr>
      <vt:lpstr>问题3.1：代码实现</vt:lpstr>
      <vt:lpstr>问题3.1：代码实现（续）*</vt:lpstr>
      <vt:lpstr>问题3.1：代码实现（续）</vt:lpstr>
      <vt:lpstr>问题3.1：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静态变量（static）*</vt:lpstr>
      <vt:lpstr>静态变量（static）（续）*</vt:lpstr>
      <vt:lpstr>PowerPoint 演示文稿</vt:lpstr>
      <vt:lpstr>PowerPoint 演示文稿</vt:lpstr>
      <vt:lpstr>PowerPoint 演示文稿</vt:lpstr>
      <vt:lpstr>队列的基本操作</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问题3.2 ：银行排队模拟(Simulation)</vt:lpstr>
      <vt:lpstr>问题3.2 ：问题分析及算法设计</vt:lpstr>
      <vt:lpstr>问题3.2 ：问题分析及算法设计</vt:lpstr>
      <vt:lpstr>问题3.2 ：代码实现</vt:lpstr>
      <vt:lpstr>问题3.2 ：代码实现</vt:lpstr>
      <vt:lpstr>问题3.2 ：思考</vt:lpstr>
      <vt:lpstr>优先队列（Priority queue）*</vt:lpstr>
      <vt:lpstr>优先队列的实现*</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YHH</dc:creator>
  <cp:lastModifiedBy>hehe</cp:lastModifiedBy>
  <cp:revision>121</cp:revision>
  <dcterms:created xsi:type="dcterms:W3CDTF">2015-06-18T09:40:41Z</dcterms:created>
  <dcterms:modified xsi:type="dcterms:W3CDTF">2025-03-27T11:48:47Z</dcterms:modified>
</cp:coreProperties>
</file>